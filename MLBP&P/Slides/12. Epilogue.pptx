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1"/>
  </p:notesMasterIdLst>
  <p:handoutMasterIdLst>
    <p:handoutMasterId r:id="rId22"/>
  </p:handoutMasterIdLst>
  <p:sldIdLst>
    <p:sldId id="286" r:id="rId2"/>
    <p:sldId id="370" r:id="rId3"/>
    <p:sldId id="395" r:id="rId4"/>
    <p:sldId id="397" r:id="rId5"/>
    <p:sldId id="396" r:id="rId6"/>
    <p:sldId id="399" r:id="rId7"/>
    <p:sldId id="398" r:id="rId8"/>
    <p:sldId id="409" r:id="rId9"/>
    <p:sldId id="410" r:id="rId10"/>
    <p:sldId id="400" r:id="rId11"/>
    <p:sldId id="402" r:id="rId12"/>
    <p:sldId id="403" r:id="rId13"/>
    <p:sldId id="404" r:id="rId14"/>
    <p:sldId id="405" r:id="rId15"/>
    <p:sldId id="406" r:id="rId16"/>
    <p:sldId id="411" r:id="rId17"/>
    <p:sldId id="407" r:id="rId18"/>
    <p:sldId id="408" r:id="rId19"/>
    <p:sldId id="353" r:id="rId20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93722" autoAdjust="0"/>
  </p:normalViewPr>
  <p:slideViewPr>
    <p:cSldViewPr>
      <p:cViewPr varScale="1">
        <p:scale>
          <a:sx n="69" d="100"/>
          <a:sy n="69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12. Epilogue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12. </a:t>
            </a:r>
            <a:r>
              <a:rPr lang="zh-CN" altLang="en-US" sz="3600" b="1" kern="0" dirty="0">
                <a:ea typeface="SimSun" panose="02010600030101010101" pitchFamily="2" charset="-122"/>
              </a:rPr>
              <a:t>尾声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We’ve Learned </a:t>
            </a:r>
            <a:br>
              <a:rPr lang="en-US" altLang="zh-CN" dirty="0"/>
            </a:br>
            <a:r>
              <a:rPr lang="zh-CN" altLang="en-US" b="1" dirty="0"/>
              <a:t>我们学了什么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A403B-89CB-4D50-881C-DE8DE24A14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810" y="3124864"/>
            <a:ext cx="4614379" cy="3047336"/>
          </a:xfrm>
          <a:prstGeom prst="rect">
            <a:avLst/>
          </a:prstGeom>
        </p:spPr>
      </p:pic>
      <p:sp>
        <p:nvSpPr>
          <p:cNvPr id="8" name="Text Box 94">
            <a:extLst>
              <a:ext uri="{FF2B5EF4-FFF2-40B4-BE49-F238E27FC236}">
                <a16:creationId xmlns:a16="http://schemas.microsoft.com/office/drawing/2014/main" id="{5AEC17CB-12A6-4A16-BB5D-64D4A76E0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699" y="1616303"/>
            <a:ext cx="557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/>
              <a:t>Popular science course  </a:t>
            </a:r>
            <a:r>
              <a:rPr lang="zh-CN" altLang="en-US" sz="2400" b="0" dirty="0"/>
              <a:t>科普课程</a:t>
            </a:r>
            <a:endParaRPr lang="en-US" altLang="zh-CN" sz="2400" b="0" dirty="0"/>
          </a:p>
        </p:txBody>
      </p:sp>
      <p:sp>
        <p:nvSpPr>
          <p:cNvPr id="9" name="Text Box 94">
            <a:extLst>
              <a:ext uri="{FF2B5EF4-FFF2-40B4-BE49-F238E27FC236}">
                <a16:creationId xmlns:a16="http://schemas.microsoft.com/office/drawing/2014/main" id="{87249596-EC76-4DE5-A3ED-AF783D9C3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006" y="2123442"/>
            <a:ext cx="63759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/>
              <a:t>A cross-section view of machine learning</a:t>
            </a:r>
            <a:br>
              <a:rPr lang="en-US" altLang="zh-CN" sz="2400" b="0" dirty="0"/>
            </a:br>
            <a:r>
              <a:rPr lang="zh-CN" altLang="en-US" sz="2400" b="0" dirty="0"/>
              <a:t>机器学习的一个刨析视角</a:t>
            </a:r>
            <a:endParaRPr lang="en-US" altLang="zh-CN" sz="2400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8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Inductive Learning </a:t>
            </a:r>
            <a:r>
              <a:rPr lang="zh-CN" altLang="en-US" dirty="0"/>
              <a:t> 归纳学习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Nearest Neighbor  </a:t>
            </a:r>
            <a:r>
              <a:rPr lang="zh-CN" altLang="en-US" dirty="0"/>
              <a:t>最近邻</a:t>
            </a:r>
            <a:endParaRPr lang="en-US" altLang="zh-CN" dirty="0"/>
          </a:p>
          <a:p>
            <a:r>
              <a:rPr lang="en-US" altLang="zh-CN" dirty="0"/>
              <a:t>Linear Classifiers  </a:t>
            </a:r>
            <a:r>
              <a:rPr lang="zh-CN" altLang="en-US" dirty="0"/>
              <a:t>线性分类器</a:t>
            </a:r>
            <a:endParaRPr lang="en-US" altLang="zh-CN" dirty="0"/>
          </a:p>
          <a:p>
            <a:r>
              <a:rPr lang="en-US" altLang="zh-CN" dirty="0"/>
              <a:t>Learning w/ Margin  </a:t>
            </a:r>
            <a:r>
              <a:rPr lang="zh-CN" altLang="en-US" dirty="0"/>
              <a:t>带间距的学习</a:t>
            </a:r>
            <a:endParaRPr lang="en-US" altLang="zh-CN" dirty="0"/>
          </a:p>
          <a:p>
            <a:r>
              <a:rPr lang="en-US" altLang="zh-CN" dirty="0"/>
              <a:t>Ensemble Learning  </a:t>
            </a:r>
            <a:r>
              <a:rPr lang="zh-CN" altLang="en-US" dirty="0"/>
              <a:t>合奏学习</a:t>
            </a:r>
            <a:endParaRPr lang="en-US" altLang="zh-CN" dirty="0"/>
          </a:p>
          <a:p>
            <a:r>
              <a:rPr lang="en-US" altLang="zh-CN" dirty="0"/>
              <a:t>Complex Networks 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930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Real World Problems  </a:t>
            </a:r>
            <a:r>
              <a:rPr lang="zh-CN" altLang="en-US" dirty="0"/>
              <a:t>真实问题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Handwritten ZIP Code Recognition</a:t>
            </a:r>
            <a:br>
              <a:rPr lang="en-US" altLang="zh-CN" dirty="0"/>
            </a:br>
            <a:r>
              <a:rPr lang="zh-CN" altLang="en-US" dirty="0"/>
              <a:t>手写邮政编码识别</a:t>
            </a:r>
            <a:endParaRPr lang="en-US" altLang="zh-CN" dirty="0"/>
          </a:p>
          <a:p>
            <a:r>
              <a:rPr lang="en-US" altLang="zh-CN" dirty="0"/>
              <a:t>Word Sense Disambiguation</a:t>
            </a:r>
            <a:br>
              <a:rPr lang="en-US" altLang="zh-CN" dirty="0"/>
            </a:br>
            <a:r>
              <a:rPr lang="zh-CN" altLang="en-US" dirty="0"/>
              <a:t>词义消歧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16013-2497-439B-9A1C-B555C0F273E1}"/>
              </a:ext>
            </a:extLst>
          </p:cNvPr>
          <p:cNvSpPr txBox="1"/>
          <p:nvPr/>
        </p:nvSpPr>
        <p:spPr>
          <a:xfrm>
            <a:off x="228600" y="41910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We see performance improvement w/ multiple enhancements</a:t>
            </a:r>
          </a:p>
          <a:p>
            <a:pPr algn="ctr"/>
            <a:r>
              <a:rPr lang="zh-CN" altLang="en-US" sz="3200" dirty="0"/>
              <a:t>随着各种改进，我们看到性能的提升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89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Principle </a:t>
            </a:r>
            <a:r>
              <a:rPr lang="zh-CN" altLang="en-US" dirty="0"/>
              <a:t> 原理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1638300" y="1676400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No</a:t>
            </a:r>
            <a:r>
              <a:rPr lang="zh-CN" altLang="en-US" sz="3200" dirty="0">
                <a:solidFill>
                  <a:srgbClr val="C00000"/>
                </a:solidFill>
              </a:rPr>
              <a:t> </a:t>
            </a:r>
            <a:r>
              <a:rPr lang="en-US" altLang="zh-CN" sz="3200" dirty="0">
                <a:solidFill>
                  <a:srgbClr val="C00000"/>
                </a:solidFill>
              </a:rPr>
              <a:t>assumption, no learning!</a:t>
            </a:r>
            <a:br>
              <a:rPr lang="en-US" altLang="zh-CN" sz="3200" dirty="0">
                <a:solidFill>
                  <a:srgbClr val="C00000"/>
                </a:solidFill>
              </a:rPr>
            </a:br>
            <a:r>
              <a:rPr lang="zh-CN" altLang="en-US" sz="3200" dirty="0">
                <a:solidFill>
                  <a:srgbClr val="C00000"/>
                </a:solidFill>
              </a:rPr>
              <a:t>无假设，不学习！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1638300" y="3058418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Nearest neighbor  </a:t>
            </a:r>
            <a:r>
              <a:rPr lang="zh-CN" altLang="en-US" sz="3200" dirty="0"/>
              <a:t>最近邻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3866197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Close neighbors come from the same class</a:t>
            </a:r>
          </a:p>
          <a:p>
            <a:pPr algn="ctr"/>
            <a:r>
              <a:rPr lang="zh-CN" altLang="en-US" sz="3200" dirty="0"/>
              <a:t>相似的数据来自于同一类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947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Principle </a:t>
            </a:r>
            <a:r>
              <a:rPr lang="zh-CN" altLang="en-US" dirty="0"/>
              <a:t> 原理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1638300" y="1676400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No</a:t>
            </a:r>
            <a:r>
              <a:rPr lang="zh-CN" altLang="en-US" sz="3200" dirty="0">
                <a:solidFill>
                  <a:srgbClr val="C00000"/>
                </a:solidFill>
              </a:rPr>
              <a:t> </a:t>
            </a:r>
            <a:r>
              <a:rPr lang="en-US" altLang="zh-CN" sz="3200" dirty="0">
                <a:solidFill>
                  <a:srgbClr val="C00000"/>
                </a:solidFill>
              </a:rPr>
              <a:t>assumption, no learning!</a:t>
            </a:r>
            <a:br>
              <a:rPr lang="en-US" altLang="zh-CN" sz="3200" dirty="0">
                <a:solidFill>
                  <a:srgbClr val="C00000"/>
                </a:solidFill>
              </a:rPr>
            </a:br>
            <a:r>
              <a:rPr lang="zh-CN" altLang="en-US" sz="3200" dirty="0">
                <a:solidFill>
                  <a:srgbClr val="C00000"/>
                </a:solidFill>
              </a:rPr>
              <a:t>无假设，不学习！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1208881" y="3060000"/>
            <a:ext cx="67262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Perceptron or logistic regression  </a:t>
            </a:r>
            <a:r>
              <a:rPr lang="zh-CN" altLang="en-US" sz="3200" dirty="0"/>
              <a:t>感知器或对数几率回归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18768" y="4321429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Data are separable by a hyperplane </a:t>
            </a:r>
          </a:p>
          <a:p>
            <a:pPr algn="ctr"/>
            <a:r>
              <a:rPr lang="zh-CN" altLang="en-US" sz="3200" dirty="0"/>
              <a:t>数据能被超平面分割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049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Principle </a:t>
            </a:r>
            <a:r>
              <a:rPr lang="zh-CN" altLang="en-US" dirty="0"/>
              <a:t> 原理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1638300" y="1676400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No</a:t>
            </a:r>
            <a:r>
              <a:rPr lang="zh-CN" altLang="en-US" sz="3200" dirty="0">
                <a:solidFill>
                  <a:srgbClr val="C00000"/>
                </a:solidFill>
              </a:rPr>
              <a:t> </a:t>
            </a:r>
            <a:r>
              <a:rPr lang="en-US" altLang="zh-CN" sz="3200" dirty="0">
                <a:solidFill>
                  <a:srgbClr val="C00000"/>
                </a:solidFill>
              </a:rPr>
              <a:t>assumption, no learning!</a:t>
            </a:r>
            <a:br>
              <a:rPr lang="en-US" altLang="zh-CN" sz="3200" dirty="0">
                <a:solidFill>
                  <a:srgbClr val="C00000"/>
                </a:solidFill>
              </a:rPr>
            </a:br>
            <a:r>
              <a:rPr lang="zh-CN" altLang="en-US" sz="3200" dirty="0">
                <a:solidFill>
                  <a:srgbClr val="C00000"/>
                </a:solidFill>
              </a:rPr>
              <a:t>无假设，不学习！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1208881" y="3060000"/>
            <a:ext cx="67262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Convolutional neural network</a:t>
            </a:r>
            <a:br>
              <a:rPr lang="en-US" altLang="zh-CN" sz="3200" dirty="0"/>
            </a:br>
            <a:r>
              <a:rPr lang="zh-CN" altLang="en-US" sz="3200" dirty="0"/>
              <a:t>卷积神经网络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304799" y="4321429"/>
            <a:ext cx="853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Local &amp; high-level patterns are indicative</a:t>
            </a:r>
            <a:br>
              <a:rPr lang="en-US" altLang="zh-CN" sz="3200" dirty="0"/>
            </a:br>
            <a:r>
              <a:rPr lang="zh-CN" altLang="en-US" sz="3200" dirty="0"/>
              <a:t>局部模式和高层次模式具有指示意义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939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Principle </a:t>
            </a:r>
            <a:r>
              <a:rPr lang="zh-CN" altLang="en-US" dirty="0"/>
              <a:t> 原理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1638300" y="1676400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Occam’s razor</a:t>
            </a:r>
            <a:br>
              <a:rPr lang="en-US" altLang="zh-CN" sz="3200" dirty="0">
                <a:solidFill>
                  <a:srgbClr val="C00000"/>
                </a:solidFill>
              </a:rPr>
            </a:br>
            <a:r>
              <a:rPr lang="zh-CN" altLang="en-US" sz="3200" dirty="0">
                <a:solidFill>
                  <a:srgbClr val="C00000"/>
                </a:solidFill>
              </a:rPr>
              <a:t>奥卡姆剃刀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304800" y="3058418"/>
            <a:ext cx="8458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Make as fewer assumptions as possible</a:t>
            </a:r>
          </a:p>
          <a:p>
            <a:pPr algn="ctr"/>
            <a:r>
              <a:rPr lang="zh-CN" altLang="en-US" sz="3200" dirty="0"/>
              <a:t>尽量少做假设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44196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Simple models w/ good training performance can be powerful  </a:t>
            </a:r>
            <a:br>
              <a:rPr lang="en-US" altLang="zh-CN" sz="3200" dirty="0"/>
            </a:br>
            <a:r>
              <a:rPr lang="zh-CN" altLang="en-US" sz="3200" dirty="0"/>
              <a:t>在训练中表现出色的简单模型会很强大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729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Principle </a:t>
            </a:r>
            <a:r>
              <a:rPr lang="zh-CN" altLang="en-US" dirty="0"/>
              <a:t> 原理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1638300" y="1676400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Occam’s razor</a:t>
            </a:r>
            <a:br>
              <a:rPr lang="en-US" altLang="zh-CN" sz="3200" dirty="0">
                <a:solidFill>
                  <a:srgbClr val="C00000"/>
                </a:solidFill>
              </a:rPr>
            </a:br>
            <a:r>
              <a:rPr lang="zh-CN" altLang="en-US" sz="3200" dirty="0">
                <a:solidFill>
                  <a:srgbClr val="C00000"/>
                </a:solidFill>
              </a:rPr>
              <a:t>奥卡姆剃刀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304800" y="3058418"/>
            <a:ext cx="8458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Not sure about assumption validity: use margins or improve training confidence</a:t>
            </a:r>
          </a:p>
          <a:p>
            <a:pPr algn="ctr"/>
            <a:r>
              <a:rPr lang="zh-CN" altLang="en-US" sz="3200" dirty="0"/>
              <a:t>对于假设的合理程度无法确信时：</a:t>
            </a:r>
            <a:endParaRPr lang="en-US" altLang="zh-CN" sz="3200" dirty="0"/>
          </a:p>
          <a:p>
            <a:pPr algn="ctr"/>
            <a:r>
              <a:rPr lang="zh-CN" altLang="en-US" sz="3200" dirty="0"/>
              <a:t>使用间距或改善训练的置信度</a:t>
            </a:r>
          </a:p>
        </p:txBody>
      </p:sp>
    </p:spTree>
    <p:extLst>
      <p:ext uri="{BB962C8B-B14F-4D97-AF65-F5344CB8AC3E}">
        <p14:creationId xmlns:p14="http://schemas.microsoft.com/office/powerpoint/2010/main" val="191094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There’s Another </a:t>
            </a:r>
            <a:r>
              <a:rPr lang="zh-CN" altLang="en-US" dirty="0"/>
              <a:t>但还有一个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228600" y="16764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No free lunch: Everything comes at a cost!</a:t>
            </a:r>
            <a:br>
              <a:rPr lang="en-US" altLang="zh-CN" sz="3200" dirty="0">
                <a:solidFill>
                  <a:srgbClr val="C00000"/>
                </a:solidFill>
              </a:rPr>
            </a:br>
            <a:r>
              <a:rPr lang="zh-CN" altLang="en-US" sz="3200" dirty="0">
                <a:solidFill>
                  <a:srgbClr val="C00000"/>
                </a:solidFill>
              </a:rPr>
              <a:t>没有免费的午餐：凡事皆有代价！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1638300" y="3058418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Nearest neighbor  </a:t>
            </a:r>
            <a:r>
              <a:rPr lang="zh-CN" altLang="en-US" sz="3200" dirty="0"/>
              <a:t>最近邻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3866197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You need to define the distance</a:t>
            </a:r>
          </a:p>
          <a:p>
            <a:pPr algn="ctr"/>
            <a:r>
              <a:rPr lang="zh-CN" altLang="en-US" sz="3200" dirty="0"/>
              <a:t>你必须确定距离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678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There’s Another </a:t>
            </a:r>
            <a:r>
              <a:rPr lang="zh-CN" altLang="en-US" dirty="0"/>
              <a:t>但还有一个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228600" y="16764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No free lunch: Everything comes at a cost!</a:t>
            </a:r>
            <a:br>
              <a:rPr lang="en-US" altLang="zh-CN" sz="3200" dirty="0">
                <a:solidFill>
                  <a:srgbClr val="C00000"/>
                </a:solidFill>
              </a:rPr>
            </a:br>
            <a:r>
              <a:rPr lang="zh-CN" altLang="en-US" sz="3200" dirty="0">
                <a:solidFill>
                  <a:srgbClr val="C00000"/>
                </a:solidFill>
              </a:rPr>
              <a:t>没有免费的午餐：凡事皆有代价！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1638300" y="3058418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Eager learning  </a:t>
            </a:r>
            <a:r>
              <a:rPr lang="zh-CN" altLang="en-US" sz="3200" dirty="0"/>
              <a:t>积极学习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3866197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What classifier to choose? A linear one?</a:t>
            </a:r>
          </a:p>
          <a:p>
            <a:pPr algn="ctr"/>
            <a:r>
              <a:rPr lang="zh-CN" altLang="en-US" sz="3200" dirty="0"/>
              <a:t>选什么分类器？线性分类器吗？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085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There’s Another </a:t>
            </a:r>
            <a:r>
              <a:rPr lang="zh-CN" altLang="en-US" dirty="0"/>
              <a:t>但还有一个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Machine Learning – Basic Principles &amp; Practice: 12. Epilogue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机器学习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–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基础原理与实践：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12.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尾声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228600" y="16764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No free lunch: Everything comes at a cost!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没有免费的午餐：凡事皆有代价！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990600" y="3058418"/>
            <a:ext cx="716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Learning w/ margins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带间距的学习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3866197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How to determine the margin parameter?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怎么确定间距参数？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312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There’s Another </a:t>
            </a:r>
            <a:r>
              <a:rPr lang="zh-CN" altLang="en-US" dirty="0"/>
              <a:t>但还有一个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Machine Learning – Basic Principles &amp; Practice: 12. Epilogue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机器学习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–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基础原理与实践：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12.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尾声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228600" y="16764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No free lunch: Everything comes at a cost!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没有免费的午餐：凡事皆有代价！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990600" y="3058418"/>
            <a:ext cx="716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Ensemble learning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合奏学习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3866197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How to construct different classifiers?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怎么</a:t>
            </a:r>
            <a:r>
              <a:rPr lang="zh-CN" altLang="en-US" sz="3200" dirty="0">
                <a:solidFill>
                  <a:srgbClr val="000000"/>
                </a:solidFill>
              </a:rPr>
              <a:t>构建不同的分类器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87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There’s Another </a:t>
            </a:r>
            <a:r>
              <a:rPr lang="zh-CN" altLang="en-US" dirty="0"/>
              <a:t>但还有一个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Machine Learning – Basic Principles &amp; Practice: 12. Epilogue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机器学习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–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基础原理与实践：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12.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尾声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228600" y="16764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No free lunch: Everything comes at a cost!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没有免费的午餐：凡事皆有代价！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990600" y="3058418"/>
            <a:ext cx="716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Kernel methods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核计算方法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3866197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What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is the kernel? What is its parameter?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哪个核计算？参数选什么？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97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There’s Another </a:t>
            </a:r>
            <a:r>
              <a:rPr lang="zh-CN" altLang="en-US" dirty="0"/>
              <a:t>但还有一个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Machine Learning – Basic Principles &amp; Practice: 12. Epilogue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机器学习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–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基础原理与实践：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12.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尾声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228600" y="16764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No free lunch: Everything comes at a cost!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没有免费的午餐：凡事皆有代价！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990600" y="3058418"/>
            <a:ext cx="716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Complex networks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复杂网络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E8AAC-DA85-484B-9911-4360300B6B8C}"/>
              </a:ext>
            </a:extLst>
          </p:cNvPr>
          <p:cNvSpPr txBox="1"/>
          <p:nvPr/>
        </p:nvSpPr>
        <p:spPr>
          <a:xfrm>
            <a:off x="228600" y="3866197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What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is the network structure? How to determine the dropout rate?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lang="zh-CN" altLang="en-US" sz="3200" dirty="0">
                <a:solidFill>
                  <a:srgbClr val="000000"/>
                </a:solidFill>
              </a:rPr>
              <a:t>网络结构是什么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？信息遗失率取多少？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938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There’s Another </a:t>
            </a:r>
            <a:r>
              <a:rPr lang="zh-CN" altLang="en-US" dirty="0"/>
              <a:t>但还有一个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Machine Learning – Basic Principles &amp; Practice: 12. Epilogue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机器学习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–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基础原理与实践：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12.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SimSun" panose="02010600030101010101" pitchFamily="2" charset="-122"/>
                <a:cs typeface="+mn-cs"/>
              </a:rPr>
              <a:t>尾声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B70FC-9986-406E-98F2-94F650F6AA9F}"/>
              </a:ext>
            </a:extLst>
          </p:cNvPr>
          <p:cNvSpPr txBox="1"/>
          <p:nvPr/>
        </p:nvSpPr>
        <p:spPr>
          <a:xfrm>
            <a:off x="228600" y="16764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No free lunch: Everything comes at a cost!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</a:b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没有免费的午餐：凡事皆有代价！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8C87-3BE7-4763-938B-BC89BD8BC440}"/>
              </a:ext>
            </a:extLst>
          </p:cNvPr>
          <p:cNvSpPr txBox="1"/>
          <p:nvPr/>
        </p:nvSpPr>
        <p:spPr>
          <a:xfrm>
            <a:off x="135575" y="3037397"/>
            <a:ext cx="88728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Making the right choice rewards you,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e.g</a:t>
            </a:r>
            <a:r>
              <a:rPr lang="en-US" altLang="zh-CN" sz="3200" dirty="0">
                <a:solidFill>
                  <a:srgbClr val="000000"/>
                </a:solidFill>
              </a:rPr>
              <a:t>, CNN for USPS dataset: 3.29% error rate  </a:t>
            </a:r>
          </a:p>
          <a:p>
            <a:pPr lvl="0" algn="ctr">
              <a:defRPr/>
            </a:pPr>
            <a:r>
              <a:rPr lang="zh-CN" altLang="en-US" sz="3200" dirty="0">
                <a:solidFill>
                  <a:srgbClr val="000000"/>
                </a:solidFill>
              </a:rPr>
              <a:t>正确的选择让你得到好的回报，例如卷积神经网络用于</a:t>
            </a:r>
            <a:r>
              <a:rPr lang="en-US" altLang="zh-CN" sz="3200" dirty="0">
                <a:solidFill>
                  <a:srgbClr val="000000"/>
                </a:solidFill>
              </a:rPr>
              <a:t>USPS</a:t>
            </a:r>
            <a:r>
              <a:rPr lang="zh-CN" altLang="en-US" sz="3200" dirty="0">
                <a:solidFill>
                  <a:srgbClr val="000000"/>
                </a:solidFill>
              </a:rPr>
              <a:t>数据集：</a:t>
            </a:r>
            <a:r>
              <a:rPr lang="en-US" altLang="zh-CN" sz="3200">
                <a:solidFill>
                  <a:srgbClr val="000000"/>
                </a:solidFill>
              </a:rPr>
              <a:t>3.29%</a:t>
            </a:r>
            <a:r>
              <a:rPr lang="zh-CN" altLang="en-US" sz="3200" dirty="0">
                <a:solidFill>
                  <a:srgbClr val="000000"/>
                </a:solidFill>
              </a:rPr>
              <a:t>的错误率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D01B3-9214-46D4-897D-D36D94F26B1F}"/>
              </a:ext>
            </a:extLst>
          </p:cNvPr>
          <p:cNvSpPr txBox="1"/>
          <p:nvPr/>
        </p:nvSpPr>
        <p:spPr>
          <a:xfrm>
            <a:off x="-7374" y="51816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Nearest neighbor</a:t>
            </a:r>
            <a:r>
              <a:rPr kumimoji="0" lang="en-US" altLang="zh-CN" sz="3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w/ tangent distance: </a:t>
            </a:r>
            <a:r>
              <a:rPr lang="en-US" altLang="zh-CN" sz="3200" b="1" dirty="0">
                <a:solidFill>
                  <a:srgbClr val="00B050"/>
                </a:solidFill>
              </a:rPr>
              <a:t>2.6%</a:t>
            </a:r>
            <a:r>
              <a:rPr lang="en-US" altLang="zh-CN" sz="3200" dirty="0">
                <a:solidFill>
                  <a:srgbClr val="000000"/>
                </a:solidFill>
              </a:rPr>
              <a:t>!!!</a:t>
            </a:r>
          </a:p>
          <a:p>
            <a:pPr lvl="0" algn="ctr"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使用正切距离的最近邻：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2.6%</a:t>
            </a:r>
            <a:r>
              <a:rPr lang="en-US" altLang="zh-CN" sz="3200" dirty="0">
                <a:solidFill>
                  <a:srgbClr val="000000"/>
                </a:solidFill>
              </a:rPr>
              <a:t>!!!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SimSun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912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Popular Science Course </a:t>
            </a:r>
            <a:r>
              <a:rPr lang="zh-CN" altLang="en-US" dirty="0"/>
              <a:t>科普课程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Demonstrate Power of Methods</a:t>
            </a:r>
            <a:br>
              <a:rPr lang="en-US" altLang="zh-CN" dirty="0"/>
            </a:br>
            <a:r>
              <a:rPr lang="zh-CN" altLang="en-US" dirty="0"/>
              <a:t>展示各种方法的威力</a:t>
            </a:r>
            <a:endParaRPr lang="en-US" altLang="zh-CN" dirty="0"/>
          </a:p>
          <a:p>
            <a:r>
              <a:rPr lang="en-US" altLang="zh-CN" dirty="0"/>
              <a:t>Not Tell How Choices Are Made </a:t>
            </a:r>
            <a:br>
              <a:rPr lang="en-US" altLang="zh-CN" dirty="0"/>
            </a:br>
            <a:r>
              <a:rPr lang="zh-CN" altLang="en-US" dirty="0"/>
              <a:t>没告诉你这些选择是怎么作出的</a:t>
            </a:r>
            <a:endParaRPr lang="en-US" altLang="zh-CN" dirty="0"/>
          </a:p>
          <a:p>
            <a:pPr lvl="1"/>
            <a:r>
              <a:rPr lang="en-US" altLang="zh-CN" dirty="0"/>
              <a:t>This is a much more complex but important topic  </a:t>
            </a:r>
            <a:r>
              <a:rPr lang="zh-CN" altLang="en-US" dirty="0"/>
              <a:t>这是一个复杂得多但也重要得多的课题</a:t>
            </a:r>
            <a:endParaRPr lang="en-US" altLang="zh-CN" dirty="0"/>
          </a:p>
          <a:p>
            <a:pPr lvl="1"/>
            <a:r>
              <a:rPr lang="en-US" altLang="zh-CN" dirty="0"/>
              <a:t>There is a line between scientific exploration &amp; cheating  </a:t>
            </a:r>
            <a:r>
              <a:rPr lang="zh-CN" altLang="en-US" dirty="0"/>
              <a:t>在科学探索和投机作弊间存在着一道界限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256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Machine Learning </a:t>
            </a:r>
            <a:r>
              <a:rPr lang="zh-CN" altLang="en-US" dirty="0"/>
              <a:t> 机器学习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A Hot Area Today  </a:t>
            </a:r>
            <a:r>
              <a:rPr lang="zh-CN" altLang="en-US" dirty="0"/>
              <a:t>当下的热点</a:t>
            </a:r>
            <a:endParaRPr lang="en-US" altLang="zh-CN" dirty="0"/>
          </a:p>
          <a:p>
            <a:r>
              <a:rPr lang="en-US" altLang="zh-CN" dirty="0"/>
              <a:t>If You’re Interested  </a:t>
            </a:r>
            <a:r>
              <a:rPr lang="zh-CN" altLang="en-US" dirty="0"/>
              <a:t>如果你感兴趣</a:t>
            </a:r>
            <a:endParaRPr lang="en-US" altLang="zh-CN" dirty="0"/>
          </a:p>
          <a:p>
            <a:pPr lvl="1"/>
            <a:r>
              <a:rPr lang="en-US" altLang="zh-CN" dirty="0"/>
              <a:t>You may learn much more  </a:t>
            </a:r>
            <a:br>
              <a:rPr lang="en-US" altLang="zh-CN" dirty="0"/>
            </a:br>
            <a:r>
              <a:rPr lang="zh-CN" altLang="en-US" dirty="0"/>
              <a:t>你有很多很多可学</a:t>
            </a:r>
            <a:endParaRPr lang="en-US" altLang="zh-CN" dirty="0"/>
          </a:p>
          <a:p>
            <a:pPr lvl="1"/>
            <a:r>
              <a:rPr lang="en-US" altLang="zh-CN" dirty="0"/>
              <a:t>You need to follow scientific methodology &amp; engineering practice  </a:t>
            </a:r>
            <a:br>
              <a:rPr lang="en-US" altLang="zh-CN" dirty="0"/>
            </a:br>
            <a:r>
              <a:rPr lang="zh-CN" altLang="en-US" dirty="0"/>
              <a:t>你需要遵循科学方法论和工程规范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12. Epilogue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12. </a:t>
            </a:r>
            <a:r>
              <a:rPr lang="zh-CN" altLang="en-US" dirty="0"/>
              <a:t>尾声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05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57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2|2.1|4.6|2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4.3|6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19.3|2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9.7|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14|5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19.1|55.4|7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24.6|3.2|18.3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12010</TotalTime>
  <Words>1533</Words>
  <Application>Microsoft Office PowerPoint</Application>
  <PresentationFormat>On-screen Show (4:3)</PresentationFormat>
  <Paragraphs>121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Machine Learning -  Basic Principles &amp; Practice 12. Epilogue</vt:lpstr>
      <vt:lpstr>What We’ve Learned  我们学了什么</vt:lpstr>
      <vt:lpstr>Inductive Learning  归纳学习</vt:lpstr>
      <vt:lpstr>Real World Problems  真实问题</vt:lpstr>
      <vt:lpstr>Principle  原理 (1)</vt:lpstr>
      <vt:lpstr>Principle  原理 (1)</vt:lpstr>
      <vt:lpstr>Principle  原理 (1)</vt:lpstr>
      <vt:lpstr>Principle  原理 (2)</vt:lpstr>
      <vt:lpstr>Principle  原理 (2)</vt:lpstr>
      <vt:lpstr>But There’s Another 但还有一个</vt:lpstr>
      <vt:lpstr>But There’s Another 但还有一个</vt:lpstr>
      <vt:lpstr>But There’s Another 但还有一个</vt:lpstr>
      <vt:lpstr>But There’s Another 但还有一个</vt:lpstr>
      <vt:lpstr>But There’s Another 但还有一个</vt:lpstr>
      <vt:lpstr>But There’s Another 但还有一个</vt:lpstr>
      <vt:lpstr>But There’s Another 但还有一个</vt:lpstr>
      <vt:lpstr>Popular Science Course 科普课程</vt:lpstr>
      <vt:lpstr>Machine Learning  机器学习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1059</cp:revision>
  <dcterms:created xsi:type="dcterms:W3CDTF">2003-03-13T01:36:43Z</dcterms:created>
  <dcterms:modified xsi:type="dcterms:W3CDTF">2025-03-15T09:16:29Z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