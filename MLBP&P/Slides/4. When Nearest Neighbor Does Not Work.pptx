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6.xml" ContentType="application/vnd.openxmlformats-officedocument.presentationml.notesSlide+xml"/>
  <Override PartName="/ppt/tags/tag9.xml" ContentType="application/vnd.openxmlformats-officedocument.presentationml.tags+xml"/>
  <Override PartName="/ppt/notesSlides/notesSlide7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10.xml" ContentType="application/vnd.openxmlformats-officedocument.presentationml.notesSlide+xml"/>
  <Override PartName="/ppt/tags/tag18.xml" ContentType="application/vnd.openxmlformats-officedocument.presentationml.tags+xml"/>
  <Override PartName="/ppt/notesSlides/notesSlide11.xml" ContentType="application/vnd.openxmlformats-officedocument.presentationml.notesSlide+xml"/>
  <Override PartName="/ppt/tags/tag19.xml" ContentType="application/vnd.openxmlformats-officedocument.presentationml.tags+xml"/>
  <Override PartName="/ppt/notesSlides/notesSlide12.xml" ContentType="application/vnd.openxmlformats-officedocument.presentationml.notesSlide+xml"/>
  <Override PartName="/ppt/tags/tag20.xml" ContentType="application/vnd.openxmlformats-officedocument.presentationml.tags+xml"/>
  <Override PartName="/ppt/notesSlides/notesSlide13.xml" ContentType="application/vnd.openxmlformats-officedocument.presentationml.notesSlide+xml"/>
  <Override PartName="/ppt/tags/tag21.xml" ContentType="application/vnd.openxmlformats-officedocument.presentationml.tags+xml"/>
  <Override PartName="/ppt/notesSlides/notesSlide14.xml" ContentType="application/vnd.openxmlformats-officedocument.presentationml.notesSlide+xml"/>
  <Override PartName="/ppt/tags/tag22.xml" ContentType="application/vnd.openxmlformats-officedocument.presentationml.tags+xml"/>
  <Override PartName="/ppt/notesSlides/notesSlide15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16.xml" ContentType="application/vnd.openxmlformats-officedocument.presentationml.notesSlide+xml"/>
  <Override PartName="/ppt/tags/tag27.xml" ContentType="application/vnd.openxmlformats-officedocument.presentationml.tags+xml"/>
  <Override PartName="/ppt/notesSlides/notesSlide17.xml" ContentType="application/vnd.openxmlformats-officedocument.presentationml.notesSlide+xml"/>
  <Override PartName="/ppt/tags/tag28.xml" ContentType="application/vnd.openxmlformats-officedocument.presentationml.tags+xml"/>
  <Override PartName="/ppt/notesSlides/notesSlide18.xml" ContentType="application/vnd.openxmlformats-officedocument.presentationml.notesSlide+xml"/>
  <Override PartName="/ppt/tags/tag29.xml" ContentType="application/vnd.openxmlformats-officedocument.presentationml.tags+xml"/>
  <Override PartName="/ppt/notesSlides/notesSlide19.xml" ContentType="application/vnd.openxmlformats-officedocument.presentationml.notesSlide+xml"/>
  <Override PartName="/ppt/tags/tag30.xml" ContentType="application/vnd.openxmlformats-officedocument.presentationml.tags+xml"/>
  <Override PartName="/ppt/notesSlides/notesSlide20.xml" ContentType="application/vnd.openxmlformats-officedocument.presentationml.notesSlide+xml"/>
  <Override PartName="/ppt/tags/tag31.xml" ContentType="application/vnd.openxmlformats-officedocument.presentationml.tags+xml"/>
  <Override PartName="/ppt/notesSlides/notesSlide21.xml" ContentType="application/vnd.openxmlformats-officedocument.presentationml.notesSlide+xml"/>
  <Override PartName="/ppt/tags/tag32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33.xml" ContentType="application/vnd.openxmlformats-officedocument.presentationml.tags+xml"/>
  <Override PartName="/ppt/notesSlides/notesSlide24.xml" ContentType="application/vnd.openxmlformats-officedocument.presentationml.notesSlide+xml"/>
  <Override PartName="/ppt/tags/tag34.xml" ContentType="application/vnd.openxmlformats-officedocument.presentationml.tags+xml"/>
  <Override PartName="/ppt/notesSlides/notesSlide25.xml" ContentType="application/vnd.openxmlformats-officedocument.presentationml.notesSlide+xml"/>
  <Override PartName="/ppt/tags/tag35.xml" ContentType="application/vnd.openxmlformats-officedocument.presentationml.tags+xml"/>
  <Override PartName="/ppt/notesSlides/notesSlide26.xml" ContentType="application/vnd.openxmlformats-officedocument.presentationml.notesSlide+xml"/>
  <Override PartName="/ppt/tags/tag36.xml" ContentType="application/vnd.openxmlformats-officedocument.presentationml.tags+xml"/>
  <Override PartName="/ppt/notesSlides/notesSlide27.xml" ContentType="application/vnd.openxmlformats-officedocument.presentationml.notesSlide+xml"/>
  <Override PartName="/ppt/tags/tag37.xml" ContentType="application/vnd.openxmlformats-officedocument.presentationml.tags+xml"/>
  <Override PartName="/ppt/notesSlides/notesSlide28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45"/>
  </p:notesMasterIdLst>
  <p:handoutMasterIdLst>
    <p:handoutMasterId r:id="rId46"/>
  </p:handoutMasterIdLst>
  <p:sldIdLst>
    <p:sldId id="286" r:id="rId2"/>
    <p:sldId id="431" r:id="rId3"/>
    <p:sldId id="415" r:id="rId4"/>
    <p:sldId id="432" r:id="rId5"/>
    <p:sldId id="433" r:id="rId6"/>
    <p:sldId id="434" r:id="rId7"/>
    <p:sldId id="436" r:id="rId8"/>
    <p:sldId id="435" r:id="rId9"/>
    <p:sldId id="437" r:id="rId10"/>
    <p:sldId id="438" r:id="rId11"/>
    <p:sldId id="469" r:id="rId12"/>
    <p:sldId id="439" r:id="rId13"/>
    <p:sldId id="440" r:id="rId14"/>
    <p:sldId id="441" r:id="rId15"/>
    <p:sldId id="442" r:id="rId16"/>
    <p:sldId id="443" r:id="rId17"/>
    <p:sldId id="444" r:id="rId18"/>
    <p:sldId id="445" r:id="rId19"/>
    <p:sldId id="446" r:id="rId20"/>
    <p:sldId id="447" r:id="rId21"/>
    <p:sldId id="448" r:id="rId22"/>
    <p:sldId id="449" r:id="rId23"/>
    <p:sldId id="450" r:id="rId24"/>
    <p:sldId id="451" r:id="rId25"/>
    <p:sldId id="452" r:id="rId26"/>
    <p:sldId id="453" r:id="rId27"/>
    <p:sldId id="428" r:id="rId28"/>
    <p:sldId id="455" r:id="rId29"/>
    <p:sldId id="454" r:id="rId30"/>
    <p:sldId id="456" r:id="rId31"/>
    <p:sldId id="457" r:id="rId32"/>
    <p:sldId id="458" r:id="rId33"/>
    <p:sldId id="459" r:id="rId34"/>
    <p:sldId id="460" r:id="rId35"/>
    <p:sldId id="461" r:id="rId36"/>
    <p:sldId id="462" r:id="rId37"/>
    <p:sldId id="464" r:id="rId38"/>
    <p:sldId id="465" r:id="rId39"/>
    <p:sldId id="463" r:id="rId40"/>
    <p:sldId id="466" r:id="rId41"/>
    <p:sldId id="468" r:id="rId42"/>
    <p:sldId id="467" r:id="rId43"/>
    <p:sldId id="353" r:id="rId44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333399"/>
    <a:srgbClr val="B2B2B2"/>
    <a:srgbClr val="993366"/>
    <a:srgbClr val="339933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46" autoAdjust="0"/>
    <p:restoredTop sz="94370" autoAdjust="0"/>
  </p:normalViewPr>
  <p:slideViewPr>
    <p:cSldViewPr>
      <p:cViewPr varScale="1">
        <p:scale>
          <a:sx n="73" d="100"/>
          <a:sy n="73" d="100"/>
        </p:scale>
        <p:origin x="797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90D3538-6648-43D2-9CA0-7580FCA6962A}" type="slidenum">
              <a:rPr lang="en-US" altLang="zh-CN" smtClean="0">
                <a:latin typeface="Arial" panose="020B0604020202020204" pitchFamily="34" charset="0"/>
              </a:rPr>
              <a:pPr/>
              <a:t>3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35141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90D3538-6648-43D2-9CA0-7580FCA6962A}" type="slidenum">
              <a:rPr lang="en-US" altLang="zh-CN" smtClean="0">
                <a:latin typeface="Arial" panose="020B0604020202020204" pitchFamily="34" charset="0"/>
              </a:rPr>
              <a:pPr/>
              <a:t>4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7633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90D3538-6648-43D2-9CA0-7580FCA6962A}" type="slidenum">
              <a:rPr lang="en-US" altLang="zh-CN" smtClean="0">
                <a:latin typeface="Arial" panose="020B0604020202020204" pitchFamily="34" charset="0"/>
              </a:rPr>
              <a:pPr/>
              <a:t>6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62939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90D3538-6648-43D2-9CA0-7580FCA6962A}" type="slidenum">
              <a:rPr lang="en-US" altLang="zh-CN" smtClean="0">
                <a:latin typeface="Arial" panose="020B0604020202020204" pitchFamily="34" charset="0"/>
              </a:rPr>
              <a:pPr/>
              <a:t>7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05823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90D3538-6648-43D2-9CA0-7580FCA6962A}" type="slidenum">
              <a:rPr lang="en-US" altLang="zh-CN" smtClean="0">
                <a:latin typeface="Arial" panose="020B0604020202020204" pitchFamily="34" charset="0"/>
              </a:rPr>
              <a:pPr/>
              <a:t>9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8770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90D3538-6648-43D2-9CA0-7580FCA6962A}" type="slidenum">
              <a:rPr lang="en-US" altLang="zh-CN" smtClean="0">
                <a:latin typeface="Arial" panose="020B0604020202020204" pitchFamily="34" charset="0"/>
              </a:rPr>
              <a:pPr/>
              <a:t>10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7473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989992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090503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30927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261723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97460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13532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8779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622801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28406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59975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251867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83236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09470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61654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3879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0937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028084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333232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492639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01975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483799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43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2. Rote Learning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2. </a:t>
            </a:r>
            <a:r>
              <a:rPr lang="zh-CN" altLang="en-US" dirty="0"/>
              <a:t>死记硬背的学习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8.emf"/><Relationship Id="rId5" Type="http://schemas.openxmlformats.org/officeDocument/2006/relationships/image" Target="../media/image7.emf"/><Relationship Id="rId4" Type="http://schemas.openxmlformats.org/officeDocument/2006/relationships/image" Target="../media/image5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6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6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6.png"/><Relationship Id="rId1" Type="http://schemas.openxmlformats.org/officeDocument/2006/relationships/tags" Target="../tags/tag30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3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10" Type="http://schemas.openxmlformats.org/officeDocument/2006/relationships/image" Target="../media/image34.png"/><Relationship Id="rId9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3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Relationship Id="rId6" Type="http://schemas.openxmlformats.org/officeDocument/2006/relationships/image" Target="../media/image30.png"/><Relationship Id="rId11" Type="http://schemas.openxmlformats.org/officeDocument/2006/relationships/image" Target="../media/image36.png"/><Relationship Id="rId10" Type="http://schemas.openxmlformats.org/officeDocument/2006/relationships/image" Target="../media/image34.png"/><Relationship Id="rId9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7" Type="http://schemas.openxmlformats.org/officeDocument/2006/relationships/image" Target="../media/image4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Relationship Id="rId6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4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Relationship Id="rId6" Type="http://schemas.openxmlformats.org/officeDocument/2006/relationships/image" Target="../media/image4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7" Type="http://schemas.openxmlformats.org/officeDocument/2006/relationships/image" Target="../media/image4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Relationship Id="rId6" Type="http://schemas.openxmlformats.org/officeDocument/2006/relationships/image" Target="../media/image4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Machine Learning - </a:t>
            </a:r>
            <a:br>
              <a:rPr lang="en-US" altLang="zh-CN" sz="3600" b="1" dirty="0">
                <a:ea typeface="SimSun" panose="02010600030101010101" pitchFamily="2" charset="-122"/>
              </a:rPr>
            </a:br>
            <a:r>
              <a:rPr lang="en-US" altLang="zh-CN" sz="3600" b="1" dirty="0">
                <a:ea typeface="SimSun" panose="02010600030101010101" pitchFamily="2" charset="-122"/>
              </a:rPr>
              <a:t>Basic Principles &amp; Practice</a:t>
            </a:r>
            <a:br>
              <a:rPr lang="en-US" altLang="zh-CN" sz="3600" b="1" dirty="0">
                <a:ea typeface="SimSun" panose="02010600030101010101" pitchFamily="2" charset="-122"/>
              </a:rPr>
            </a:br>
            <a:r>
              <a:rPr lang="en-US" altLang="zh-CN" sz="3600" b="1" dirty="0">
                <a:ea typeface="SimSun" panose="02010600030101010101" pitchFamily="2" charset="-122"/>
              </a:rPr>
              <a:t>4. When Nearest Neighbor Does Not Work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192739"/>
            <a:ext cx="77724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机器学习 </a:t>
            </a:r>
            <a:r>
              <a:rPr lang="en-US" altLang="zh-CN" sz="3600" b="1" kern="0" dirty="0">
                <a:ea typeface="SimSun" panose="02010600030101010101" pitchFamily="2" charset="-122"/>
              </a:rPr>
              <a:t>- </a:t>
            </a:r>
            <a:r>
              <a:rPr lang="zh-CN" altLang="en-US" sz="3600" b="1" kern="0" dirty="0">
                <a:ea typeface="SimSun" panose="02010600030101010101" pitchFamily="2" charset="-122"/>
              </a:rPr>
              <a:t>基础原理与实践</a:t>
            </a:r>
            <a:endParaRPr lang="en-US" altLang="zh-CN" sz="3600" b="1" kern="0" dirty="0">
              <a:ea typeface="SimSun" panose="02010600030101010101" pitchFamily="2" charset="-122"/>
            </a:endParaRPr>
          </a:p>
          <a:p>
            <a:pPr algn="ctr" eaLnBrk="1" hangingPunct="1"/>
            <a:r>
              <a:rPr lang="en-US" altLang="zh-CN" sz="3600" b="1" kern="0" dirty="0">
                <a:ea typeface="SimSun" panose="02010600030101010101" pitchFamily="2" charset="-122"/>
              </a:rPr>
              <a:t>4. </a:t>
            </a:r>
            <a:r>
              <a:rPr lang="zh-CN" altLang="en-US" sz="3600" b="1" kern="0" dirty="0">
                <a:ea typeface="SimSun" panose="02010600030101010101" pitchFamily="2" charset="-122"/>
              </a:rPr>
              <a:t>最近邻无效之时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Assumption in Nearest Neighbor </a:t>
            </a:r>
            <a:r>
              <a:rPr lang="zh-CN" altLang="en-US" dirty="0">
                <a:ea typeface="ＭＳ Ｐゴシック" panose="020B0600070205080204" pitchFamily="34" charset="-128"/>
              </a:rPr>
              <a:t>最近邻的假设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Close Neighbors Come from the Same Class  </a:t>
            </a:r>
            <a:r>
              <a:rPr lang="zh-CN" altLang="en-US" dirty="0"/>
              <a:t>邻近的数据来自同一个类</a:t>
            </a:r>
            <a:endParaRPr lang="en-US" altLang="zh-CN" dirty="0"/>
          </a:p>
          <a:p>
            <a:r>
              <a:rPr lang="en-US" altLang="zh-CN" dirty="0"/>
              <a:t>Is the Assumption Valid                 </a:t>
            </a:r>
            <a:r>
              <a:rPr lang="zh-CN" altLang="en-US" dirty="0"/>
              <a:t>这个假设有效吗？</a:t>
            </a:r>
            <a:endParaRPr lang="en-US" altLang="zh-CN" dirty="0"/>
          </a:p>
          <a:p>
            <a:pPr lvl="1"/>
            <a:r>
              <a:rPr lang="en-US" altLang="zh-CN" dirty="0"/>
              <a:t>Distance definition is the key                </a:t>
            </a:r>
            <a:r>
              <a:rPr lang="zh-CN" altLang="en-US" dirty="0"/>
              <a:t>距离的定义很关键？</a:t>
            </a:r>
            <a:endParaRPr lang="en-US" altLang="zh-CN" dirty="0"/>
          </a:p>
          <a:p>
            <a:pPr lvl="2"/>
            <a:r>
              <a:rPr lang="en-US" altLang="zh-CN" dirty="0"/>
              <a:t>Let’s start from a synthetic problem            </a:t>
            </a:r>
            <a:r>
              <a:rPr lang="zh-CN" altLang="en-US" dirty="0"/>
              <a:t>让我们从一个人造问题开始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4. When Nearest Neighbor Does Not Work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 </a:t>
            </a:r>
            <a:r>
              <a:rPr lang="en-US" altLang="zh-CN" dirty="0"/>
              <a:t>4. </a:t>
            </a:r>
            <a:r>
              <a:rPr lang="zh-CN" altLang="en-US" dirty="0"/>
              <a:t>最近邻无效之时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0892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Why Looking at Synthetic Problems? </a:t>
            </a:r>
            <a:r>
              <a:rPr lang="zh-CN" altLang="en-US" dirty="0">
                <a:ea typeface="SimSun" panose="02010600030101010101" pitchFamily="2" charset="-122"/>
              </a:rPr>
              <a:t>为什么要看人造问题？</a:t>
            </a:r>
            <a:endParaRPr lang="en-US" altLang="zh-CN" dirty="0">
              <a:ea typeface="SimSun" panose="02010600030101010101" pitchFamily="2" charset="-122"/>
            </a:endParaRP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CFE00CC6-FCC6-463F-8A63-720BDAF70B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4. When Nearest Neighbor Does Not Work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 </a:t>
            </a:r>
            <a:r>
              <a:rPr lang="en-US" altLang="zh-CN" dirty="0"/>
              <a:t>4. </a:t>
            </a:r>
            <a:r>
              <a:rPr lang="zh-CN" altLang="en-US" dirty="0"/>
              <a:t>最近邻无效之时</a:t>
            </a:r>
            <a:endParaRPr lang="en-US" altLang="zh-C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118DAB-F8FC-4220-88DA-1EA366FF60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747838"/>
            <a:ext cx="4572000" cy="25755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B795174-97D0-495E-98FE-FA22C17C46EA}"/>
              </a:ext>
            </a:extLst>
          </p:cNvPr>
          <p:cNvSpPr txBox="1"/>
          <p:nvPr/>
        </p:nvSpPr>
        <p:spPr>
          <a:xfrm>
            <a:off x="266700" y="4514076"/>
            <a:ext cx="8610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Simple &amp; well controlled </a:t>
            </a:r>
            <a:r>
              <a:rPr lang="zh-CN" altLang="en-US" sz="2200" dirty="0"/>
              <a:t>简单可控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24F46B-B580-4402-AA2A-01B9FCE506ED}"/>
              </a:ext>
            </a:extLst>
          </p:cNvPr>
          <p:cNvSpPr txBox="1"/>
          <p:nvPr/>
        </p:nvSpPr>
        <p:spPr>
          <a:xfrm>
            <a:off x="244046" y="4947970"/>
            <a:ext cx="8610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Easy to analyze </a:t>
            </a:r>
            <a:r>
              <a:rPr lang="zh-CN" altLang="en-US" sz="2200" dirty="0"/>
              <a:t>易于分析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F0AE8A-EA16-4A52-ABCF-740EDAE5A817}"/>
              </a:ext>
            </a:extLst>
          </p:cNvPr>
          <p:cNvSpPr txBox="1"/>
          <p:nvPr/>
        </p:nvSpPr>
        <p:spPr>
          <a:xfrm>
            <a:off x="239927" y="5402759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solidFill>
                  <a:srgbClr val="FF0000"/>
                </a:solidFill>
              </a:rPr>
              <a:t>Cons: maybe not realistic </a:t>
            </a:r>
          </a:p>
          <a:p>
            <a:pPr algn="ctr"/>
            <a:r>
              <a:rPr lang="zh-CN" altLang="en-US" sz="2200" dirty="0">
                <a:solidFill>
                  <a:srgbClr val="FF0000"/>
                </a:solidFill>
              </a:rPr>
              <a:t>缺点：可能不够实际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652756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Simple Synthetic Problem           </a:t>
            </a:r>
            <a:r>
              <a:rPr lang="zh-CN" altLang="en-US" dirty="0">
                <a:ea typeface="SimSun" panose="02010600030101010101" pitchFamily="2" charset="-122"/>
              </a:rPr>
              <a:t>简单的人造问题</a:t>
            </a:r>
            <a:endParaRPr lang="en-US" altLang="zh-CN" dirty="0">
              <a:ea typeface="SimSun" panose="02010600030101010101" pitchFamily="2" charset="-122"/>
            </a:endParaRP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CFE00CC6-FCC6-463F-8A63-720BDAF70B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4. When Nearest Neighbor Does Not Work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 </a:t>
            </a:r>
            <a:r>
              <a:rPr lang="en-US" altLang="zh-CN" dirty="0"/>
              <a:t>4. </a:t>
            </a:r>
            <a:r>
              <a:rPr lang="zh-CN" altLang="en-US" dirty="0"/>
              <a:t>最近邻无效之时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B795174-97D0-495E-98FE-FA22C17C46EA}"/>
                  </a:ext>
                </a:extLst>
              </p:cNvPr>
              <p:cNvSpPr txBox="1"/>
              <p:nvPr/>
            </p:nvSpPr>
            <p:spPr>
              <a:xfrm>
                <a:off x="266700" y="1745159"/>
                <a:ext cx="8610600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Simple 1-attribute classification problem w/ the input uniformly distributed  </a:t>
                </a:r>
                <a:r>
                  <a:rPr lang="zh-CN" altLang="en-US" sz="2200" dirty="0"/>
                  <a:t>简单的单属性分类问题，输入为均匀分布的</a:t>
                </a:r>
                <a:endParaRPr lang="en-US" altLang="zh-CN" sz="22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−3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≤3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B795174-97D0-495E-98FE-FA22C17C4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" y="1745159"/>
                <a:ext cx="8610600" cy="1107996"/>
              </a:xfrm>
              <a:prstGeom prst="rect">
                <a:avLst/>
              </a:prstGeom>
              <a:blipFill>
                <a:blip r:embed="rId6"/>
                <a:stretch>
                  <a:fillRect l="-496" t="-3846" r="-4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6B24F46B-B580-4402-AA2A-01B9FCE506ED}"/>
              </a:ext>
            </a:extLst>
          </p:cNvPr>
          <p:cNvSpPr txBox="1"/>
          <p:nvPr/>
        </p:nvSpPr>
        <p:spPr>
          <a:xfrm>
            <a:off x="342900" y="3606114"/>
            <a:ext cx="8610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20 random training samples  20</a:t>
            </a:r>
            <a:r>
              <a:rPr lang="zh-CN" altLang="en-US" sz="2200" dirty="0"/>
              <a:t>个随机训练数据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1DAB2FE-1EE1-4E20-9FA9-6107A1A5B024}"/>
                  </a:ext>
                </a:extLst>
              </p:cNvPr>
              <p:cNvSpPr txBox="1"/>
              <p:nvPr/>
            </p:nvSpPr>
            <p:spPr>
              <a:xfrm>
                <a:off x="266700" y="2835719"/>
                <a:ext cx="861060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Ground truth  </a:t>
                </a:r>
                <a:r>
                  <a:rPr lang="zh-CN" altLang="en-US" sz="2200" dirty="0"/>
                  <a:t>真实分类</a:t>
                </a:r>
                <a:endParaRPr lang="en-US" altLang="zh-CN" sz="2200" b="0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−1→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=1,</m:t>
                      </m:r>
                      <m:sSub>
                        <m:sSubPr>
                          <m:ctrlPr>
                            <a:rPr lang="en-US" altLang="zh-CN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−1→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1DAB2FE-1EE1-4E20-9FA9-6107A1A5B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" y="2835719"/>
                <a:ext cx="8610600" cy="769441"/>
              </a:xfrm>
              <a:prstGeom prst="rect">
                <a:avLst/>
              </a:prstGeom>
              <a:blipFill>
                <a:blip r:embed="rId7"/>
                <a:stretch>
                  <a:fillRect t="-8730" b="-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F7BF4ECA-26C4-4CF7-9400-7B314789F6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4023" y="4121914"/>
            <a:ext cx="5495953" cy="20344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125653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4.1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4.1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4. When Nearest Neighbor Does Not Work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 </a:t>
            </a:r>
            <a:r>
              <a:rPr lang="en-US" altLang="zh-CN" dirty="0"/>
              <a:t>4. </a:t>
            </a:r>
            <a:r>
              <a:rPr lang="zh-CN" altLang="en-US" dirty="0"/>
              <a:t>最近邻无效之时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EC9E0C-6C7D-40EB-B411-BA56B8DA5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5BA708-DA7C-4A96-9103-C216FD58879C}"/>
              </a:ext>
            </a:extLst>
          </p:cNvPr>
          <p:cNvSpPr txBox="1"/>
          <p:nvPr/>
        </p:nvSpPr>
        <p:spPr>
          <a:xfrm>
            <a:off x="266700" y="1600200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Practice time: perform nearest neighbor classification on the problem </a:t>
            </a:r>
            <a:r>
              <a:rPr lang="zh-CN" altLang="en-US" sz="2200" dirty="0"/>
              <a:t>实践时刻：用最近邻分类处理该问题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BF6605-906F-4F39-BD56-58FE01C9CDA6}"/>
              </a:ext>
            </a:extLst>
          </p:cNvPr>
          <p:cNvSpPr txBox="1"/>
          <p:nvPr/>
        </p:nvSpPr>
        <p:spPr>
          <a:xfrm>
            <a:off x="266700" y="5013971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How the accuracy changes w/ more training samples? </a:t>
            </a:r>
          </a:p>
          <a:p>
            <a:pPr algn="ctr"/>
            <a:r>
              <a:rPr lang="zh-CN" altLang="en-US" sz="2200" dirty="0"/>
              <a:t>当有更多的训练数据时，准确率如何变化？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80938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Simple Analysis </a:t>
            </a:r>
            <a:r>
              <a:rPr lang="zh-CN" altLang="en-US" dirty="0">
                <a:ea typeface="SimSun" panose="02010600030101010101" pitchFamily="2" charset="-122"/>
              </a:rPr>
              <a:t>简单分析</a:t>
            </a:r>
            <a:endParaRPr lang="en-US" altLang="zh-CN" dirty="0">
              <a:ea typeface="SimSun" panose="02010600030101010101" pitchFamily="2" charset="-122"/>
            </a:endParaRP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CFE00CC6-FCC6-463F-8A63-720BDAF70B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4. When Nearest Neighbor Does Not Work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 </a:t>
            </a:r>
            <a:r>
              <a:rPr lang="en-US" altLang="zh-CN" dirty="0"/>
              <a:t>4. </a:t>
            </a:r>
            <a:r>
              <a:rPr lang="zh-CN" altLang="en-US" dirty="0"/>
              <a:t>最近邻无效之时</a:t>
            </a:r>
            <a:endParaRPr lang="en-US" altLang="zh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795174-97D0-495E-98FE-FA22C17C46EA}"/>
              </a:ext>
            </a:extLst>
          </p:cNvPr>
          <p:cNvSpPr txBox="1"/>
          <p:nvPr/>
        </p:nvSpPr>
        <p:spPr>
          <a:xfrm>
            <a:off x="266700" y="1745159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Accuracy determined by the training samples close to the classification boundary  </a:t>
            </a:r>
            <a:r>
              <a:rPr lang="zh-CN" altLang="en-US" sz="2200" dirty="0"/>
              <a:t>准确率由邻近分类边界的训练数据决定</a:t>
            </a:r>
            <a:r>
              <a:rPr lang="en-US" altLang="zh-CN" sz="2200" dirty="0"/>
              <a:t> </a:t>
            </a:r>
            <a:endParaRPr lang="zh-CN" altLang="en-US" sz="2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BF4ECA-26C4-4CF7-9400-7B314789F6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4023" y="2667000"/>
            <a:ext cx="5495953" cy="2034481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5C0CFF73-7921-493C-BBA0-391082721129}"/>
              </a:ext>
            </a:extLst>
          </p:cNvPr>
          <p:cNvGrpSpPr/>
          <p:nvPr/>
        </p:nvGrpSpPr>
        <p:grpSpPr>
          <a:xfrm>
            <a:off x="1850467" y="2667000"/>
            <a:ext cx="1982393" cy="3342408"/>
            <a:chOff x="1850467" y="2667000"/>
            <a:chExt cx="1982393" cy="3342408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1F23A3C-09C0-45B4-A27B-AA996FD4CAEC}"/>
                </a:ext>
              </a:extLst>
            </p:cNvPr>
            <p:cNvCxnSpPr/>
            <p:nvPr/>
          </p:nvCxnSpPr>
          <p:spPr bwMode="auto">
            <a:xfrm>
              <a:off x="3741420" y="2667000"/>
              <a:ext cx="0" cy="203448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13383F2-74E4-4DFE-92D8-4E4BD7718A28}"/>
                </a:ext>
              </a:extLst>
            </p:cNvPr>
            <p:cNvSpPr txBox="1"/>
            <p:nvPr/>
          </p:nvSpPr>
          <p:spPr>
            <a:xfrm>
              <a:off x="1850467" y="4562858"/>
              <a:ext cx="1982393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True classification boundary  </a:t>
              </a:r>
            </a:p>
            <a:p>
              <a:pPr algn="ctr"/>
              <a:r>
                <a:rPr lang="zh-CN" altLang="en-US" sz="2200" dirty="0"/>
                <a:t>真实分类边界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AC2808C-B897-40E1-97AD-BFF7307CB12B}"/>
              </a:ext>
            </a:extLst>
          </p:cNvPr>
          <p:cNvGrpSpPr/>
          <p:nvPr/>
        </p:nvGrpSpPr>
        <p:grpSpPr>
          <a:xfrm>
            <a:off x="3688082" y="3716530"/>
            <a:ext cx="3195409" cy="2310826"/>
            <a:chOff x="3688082" y="3716530"/>
            <a:chExt cx="3195409" cy="231082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0C38EB9-5E07-4353-9F16-03C8EC8B6F55}"/>
                </a:ext>
              </a:extLst>
            </p:cNvPr>
            <p:cNvSpPr txBox="1"/>
            <p:nvPr/>
          </p:nvSpPr>
          <p:spPr>
            <a:xfrm>
              <a:off x="3779520" y="4580806"/>
              <a:ext cx="3103971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Training samples close to the classification boundary</a:t>
              </a:r>
            </a:p>
            <a:p>
              <a:pPr algn="ctr"/>
              <a:r>
                <a:rPr lang="zh-CN" altLang="en-US" sz="2200" dirty="0"/>
                <a:t>邻近分类边界的数据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4D859E4-88B9-4EA8-B01A-CC1257EC593D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3688082" y="3734986"/>
              <a:ext cx="458876" cy="88273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E876810-15F0-4382-B6D0-4716357B32A0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4074570" y="3716530"/>
              <a:ext cx="167865" cy="86427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21882128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Simple Analysis </a:t>
            </a:r>
            <a:r>
              <a:rPr lang="zh-CN" altLang="en-US" dirty="0">
                <a:ea typeface="SimSun" panose="02010600030101010101" pitchFamily="2" charset="-122"/>
              </a:rPr>
              <a:t>简单分析</a:t>
            </a:r>
            <a:endParaRPr lang="en-US" altLang="zh-CN" dirty="0">
              <a:ea typeface="SimSun" panose="02010600030101010101" pitchFamily="2" charset="-122"/>
            </a:endParaRP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CFE00CC6-FCC6-463F-8A63-720BDAF70B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4. When Nearest Neighbor Does Not Work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 </a:t>
            </a:r>
            <a:r>
              <a:rPr lang="en-US" altLang="zh-CN" dirty="0"/>
              <a:t>4. </a:t>
            </a:r>
            <a:r>
              <a:rPr lang="zh-CN" altLang="en-US" dirty="0"/>
              <a:t>最近邻无效之时</a:t>
            </a:r>
            <a:endParaRPr lang="en-US" altLang="zh-C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795174-97D0-495E-98FE-FA22C17C46EA}"/>
              </a:ext>
            </a:extLst>
          </p:cNvPr>
          <p:cNvSpPr txBox="1"/>
          <p:nvPr/>
        </p:nvSpPr>
        <p:spPr>
          <a:xfrm>
            <a:off x="266700" y="1745159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Accuracy determined by the training samples close to the classification boundary  </a:t>
            </a:r>
            <a:r>
              <a:rPr lang="zh-CN" altLang="en-US" sz="2200" dirty="0"/>
              <a:t>准确率由邻近分类边界的训练数据决定</a:t>
            </a:r>
            <a:r>
              <a:rPr lang="en-US" altLang="zh-CN" sz="2200" dirty="0"/>
              <a:t> </a:t>
            </a:r>
            <a:endParaRPr lang="zh-CN" altLang="en-US" sz="2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BF4ECA-26C4-4CF7-9400-7B314789F6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4023" y="2667000"/>
            <a:ext cx="5495953" cy="2034481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5C0CFF73-7921-493C-BBA0-391082721129}"/>
              </a:ext>
            </a:extLst>
          </p:cNvPr>
          <p:cNvGrpSpPr/>
          <p:nvPr/>
        </p:nvGrpSpPr>
        <p:grpSpPr>
          <a:xfrm>
            <a:off x="1850467" y="2667000"/>
            <a:ext cx="1982393" cy="3342408"/>
            <a:chOff x="1850467" y="2667000"/>
            <a:chExt cx="1982393" cy="3342408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1F23A3C-09C0-45B4-A27B-AA996FD4CAEC}"/>
                </a:ext>
              </a:extLst>
            </p:cNvPr>
            <p:cNvCxnSpPr/>
            <p:nvPr/>
          </p:nvCxnSpPr>
          <p:spPr bwMode="auto">
            <a:xfrm>
              <a:off x="3733800" y="2667000"/>
              <a:ext cx="0" cy="203448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13383F2-74E4-4DFE-92D8-4E4BD7718A28}"/>
                </a:ext>
              </a:extLst>
            </p:cNvPr>
            <p:cNvSpPr txBox="1"/>
            <p:nvPr/>
          </p:nvSpPr>
          <p:spPr>
            <a:xfrm>
              <a:off x="1850467" y="4562858"/>
              <a:ext cx="1982393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True classification boundary  </a:t>
              </a:r>
            </a:p>
            <a:p>
              <a:pPr algn="ctr"/>
              <a:r>
                <a:rPr lang="zh-CN" altLang="en-US" sz="2200" dirty="0"/>
                <a:t>真实分类边界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C642E0FC-3CFC-41CA-939C-BA5FDFF1A127}"/>
              </a:ext>
            </a:extLst>
          </p:cNvPr>
          <p:cNvSpPr/>
          <p:nvPr/>
        </p:nvSpPr>
        <p:spPr bwMode="auto">
          <a:xfrm>
            <a:off x="3733801" y="2857500"/>
            <a:ext cx="99059" cy="1645920"/>
          </a:xfrm>
          <a:prstGeom prst="rect">
            <a:avLst/>
          </a:prstGeom>
          <a:solidFill>
            <a:srgbClr val="FF0000">
              <a:alpha val="22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595D0C5-97F0-4790-9891-CBEFBAEFF86B}"/>
              </a:ext>
            </a:extLst>
          </p:cNvPr>
          <p:cNvGrpSpPr/>
          <p:nvPr/>
        </p:nvGrpSpPr>
        <p:grpSpPr>
          <a:xfrm>
            <a:off x="3779520" y="2503438"/>
            <a:ext cx="3226357" cy="1154162"/>
            <a:chOff x="3779520" y="2503438"/>
            <a:chExt cx="3226357" cy="1154162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0AE5AF4E-5412-4B2C-B1F0-5AD6C2B84301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3779520" y="2971800"/>
              <a:ext cx="1097280" cy="68580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B0FC47F-C9AD-4E1D-8E6A-620803B4C2B2}"/>
                </a:ext>
              </a:extLst>
            </p:cNvPr>
            <p:cNvSpPr txBox="1"/>
            <p:nvPr/>
          </p:nvSpPr>
          <p:spPr>
            <a:xfrm>
              <a:off x="4146958" y="2503438"/>
              <a:ext cx="2858919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Classification errors  </a:t>
              </a:r>
            </a:p>
            <a:p>
              <a:pPr algn="ctr"/>
              <a:r>
                <a:rPr lang="zh-CN" altLang="en-US" sz="2200" dirty="0"/>
                <a:t>分类错误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19C73CF-53A8-4818-97D1-7739AA547C08}"/>
              </a:ext>
            </a:extLst>
          </p:cNvPr>
          <p:cNvGrpSpPr/>
          <p:nvPr/>
        </p:nvGrpSpPr>
        <p:grpSpPr>
          <a:xfrm>
            <a:off x="3657600" y="2663219"/>
            <a:ext cx="2164098" cy="3039586"/>
            <a:chOff x="3657600" y="2663219"/>
            <a:chExt cx="2164098" cy="3039586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D074C05-6581-41FA-9C78-B2CF38330C19}"/>
                </a:ext>
              </a:extLst>
            </p:cNvPr>
            <p:cNvCxnSpPr/>
            <p:nvPr/>
          </p:nvCxnSpPr>
          <p:spPr bwMode="auto">
            <a:xfrm>
              <a:off x="3832860" y="2663219"/>
              <a:ext cx="0" cy="203448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0C38EB9-5E07-4353-9F16-03C8EC8B6F55}"/>
                </a:ext>
              </a:extLst>
            </p:cNvPr>
            <p:cNvSpPr txBox="1"/>
            <p:nvPr/>
          </p:nvSpPr>
          <p:spPr>
            <a:xfrm>
              <a:off x="3657600" y="4594809"/>
              <a:ext cx="2164098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Boundary learned</a:t>
              </a:r>
            </a:p>
            <a:p>
              <a:pPr algn="ctr"/>
              <a:r>
                <a:rPr lang="zh-CN" altLang="en-US" sz="2200" dirty="0"/>
                <a:t>学习到的边界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6924808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4.2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4.2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4. When Nearest Neighbor Does Not Work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 </a:t>
            </a:r>
            <a:r>
              <a:rPr lang="en-US" altLang="zh-CN" dirty="0"/>
              <a:t>4. </a:t>
            </a:r>
            <a:r>
              <a:rPr lang="zh-CN" altLang="en-US" dirty="0"/>
              <a:t>最近邻无效之时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EC9E0C-6C7D-40EB-B411-BA56B8DA5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25BA708-DA7C-4A96-9103-C216FD58879C}"/>
                  </a:ext>
                </a:extLst>
              </p:cNvPr>
              <p:cNvSpPr txBox="1"/>
              <p:nvPr/>
            </p:nvSpPr>
            <p:spPr>
              <a:xfrm>
                <a:off x="266700" y="1600200"/>
                <a:ext cx="861060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What if we add a second irrelevant attribute: </a:t>
                </a:r>
                <a:r>
                  <a:rPr lang="zh-CN" altLang="en-US" sz="2200" dirty="0"/>
                  <a:t>如果我们加入一个新的不相关属性：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−15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≤15</m:t>
                    </m:r>
                  </m:oMath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25BA708-DA7C-4A96-9103-C216FD588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" y="1600200"/>
                <a:ext cx="8610600" cy="769441"/>
              </a:xfrm>
              <a:prstGeom prst="rect">
                <a:avLst/>
              </a:prstGeom>
              <a:blipFill>
                <a:blip r:embed="rId6"/>
                <a:stretch>
                  <a:fillRect l="-142" t="-8730" r="-142" b="-119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0ABF6605-906F-4F39-BD56-58FE01C9CDA6}"/>
              </a:ext>
            </a:extLst>
          </p:cNvPr>
          <p:cNvSpPr txBox="1"/>
          <p:nvPr/>
        </p:nvSpPr>
        <p:spPr>
          <a:xfrm>
            <a:off x="266700" y="5013971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Compare the accuracy to that in the previous case</a:t>
            </a:r>
          </a:p>
          <a:p>
            <a:pPr algn="ctr"/>
            <a:r>
              <a:rPr lang="zh-CN" altLang="en-US" sz="2200" dirty="0"/>
              <a:t>和前一个问题比较准确率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43769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What Happened? </a:t>
            </a:r>
            <a:r>
              <a:rPr lang="zh-CN" altLang="en-US" dirty="0">
                <a:ea typeface="SimSun" panose="02010600030101010101" pitchFamily="2" charset="-122"/>
              </a:rPr>
              <a:t>怎么回事？</a:t>
            </a:r>
            <a:endParaRPr lang="en-US" altLang="zh-CN" dirty="0">
              <a:ea typeface="SimSun" panose="02010600030101010101" pitchFamily="2" charset="-122"/>
            </a:endParaRP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CFE00CC6-FCC6-463F-8A63-720BDAF70B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4. When Nearest Neighbor Does Not Work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 </a:t>
            </a:r>
            <a:r>
              <a:rPr lang="en-US" altLang="zh-CN" dirty="0"/>
              <a:t>4. </a:t>
            </a:r>
            <a:r>
              <a:rPr lang="zh-CN" altLang="en-US" dirty="0"/>
              <a:t>最近邻无效之时</a:t>
            </a:r>
            <a:endParaRPr lang="en-US" altLang="zh-C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8678F3-1DE2-44A0-B842-DD91641F0D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72470"/>
            <a:ext cx="2117615" cy="449973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11587CC-DBBA-4230-8B4F-D7F72B840704}"/>
              </a:ext>
            </a:extLst>
          </p:cNvPr>
          <p:cNvSpPr txBox="1"/>
          <p:nvPr/>
        </p:nvSpPr>
        <p:spPr>
          <a:xfrm>
            <a:off x="2721429" y="1672470"/>
            <a:ext cx="5791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The irrelevant attribute obscures the distance, that is, obscures the similarity  </a:t>
            </a:r>
            <a:r>
              <a:rPr lang="zh-CN" altLang="en-US" sz="2200" dirty="0"/>
              <a:t>不相关的属性把距离（也把相似度）给弄乱了</a:t>
            </a:r>
            <a:r>
              <a:rPr lang="en-US" altLang="zh-CN" sz="2200" dirty="0"/>
              <a:t> </a:t>
            </a:r>
            <a:endParaRPr lang="zh-CN" altLang="en-US" sz="2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519369-6D2B-44F2-ABC8-6F37CD3A75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672470"/>
            <a:ext cx="2117615" cy="4499730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DDDEBC0C-3B06-4C7D-BD11-0DDDF9A97211}"/>
              </a:ext>
            </a:extLst>
          </p:cNvPr>
          <p:cNvGrpSpPr/>
          <p:nvPr/>
        </p:nvGrpSpPr>
        <p:grpSpPr>
          <a:xfrm>
            <a:off x="1083733" y="3171184"/>
            <a:ext cx="304800" cy="626532"/>
            <a:chOff x="6951133" y="3056468"/>
            <a:chExt cx="304800" cy="6265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0418109-0B7B-42FD-852C-A5592C622990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976533" y="3056468"/>
              <a:ext cx="279400" cy="16932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384CD98-8ABD-47F8-8D16-5D0E49F97D1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951133" y="3115733"/>
              <a:ext cx="67734" cy="56726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triangle" w="med" len="med"/>
              <a:tailEnd type="triangle"/>
            </a:ln>
            <a:effectLst/>
          </p:spPr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24257559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ea typeface="SimSun" panose="02010600030101010101" pitchFamily="2" charset="-122"/>
              </a:rPr>
              <a:t>What Happened? </a:t>
            </a:r>
            <a:r>
              <a:rPr lang="zh-CN" altLang="en-US" dirty="0">
                <a:ea typeface="SimSun" panose="02010600030101010101" pitchFamily="2" charset="-122"/>
              </a:rPr>
              <a:t>怎么回事？</a:t>
            </a:r>
            <a:endParaRPr lang="en-US" altLang="zh-CN" dirty="0">
              <a:ea typeface="SimSun" panose="02010600030101010101" pitchFamily="2" charset="-122"/>
            </a:endParaRP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CFE00CC6-FCC6-463F-8A63-720BDAF70B3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62000" y="6243638"/>
            <a:ext cx="7772400" cy="457200"/>
          </a:xfrm>
        </p:spPr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4. When Nearest Neighbor Does Not Work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 </a:t>
            </a:r>
            <a:r>
              <a:rPr lang="en-US" altLang="zh-CN" dirty="0"/>
              <a:t>4. </a:t>
            </a:r>
            <a:r>
              <a:rPr lang="zh-CN" altLang="en-US" dirty="0"/>
              <a:t>最近邻无效之时</a:t>
            </a:r>
            <a:endParaRPr lang="en-US" altLang="zh-C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8678F3-1DE2-44A0-B842-DD91641F0D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72470"/>
            <a:ext cx="2117615" cy="449973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11587CC-DBBA-4230-8B4F-D7F72B840704}"/>
              </a:ext>
            </a:extLst>
          </p:cNvPr>
          <p:cNvSpPr txBox="1"/>
          <p:nvPr/>
        </p:nvSpPr>
        <p:spPr>
          <a:xfrm>
            <a:off x="2721429" y="1672470"/>
            <a:ext cx="5791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The irrelevant attribute obscures the distance, that is, obscures the similarity  </a:t>
            </a:r>
            <a:r>
              <a:rPr lang="zh-CN" altLang="en-US" sz="2200" dirty="0"/>
              <a:t>不相关的属性把距离（也把相似度）给弄乱了</a:t>
            </a:r>
            <a:r>
              <a:rPr lang="en-US" altLang="zh-CN" sz="2200" dirty="0"/>
              <a:t> </a:t>
            </a:r>
            <a:endParaRPr lang="zh-CN" altLang="en-US" sz="22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A80E35-236F-433B-BC04-E98D83C550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672470"/>
            <a:ext cx="2117615" cy="449973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02F0D06-255B-4032-8CCA-F3E92CA40872}"/>
              </a:ext>
            </a:extLst>
          </p:cNvPr>
          <p:cNvSpPr txBox="1"/>
          <p:nvPr/>
        </p:nvSpPr>
        <p:spPr>
          <a:xfrm>
            <a:off x="2710542" y="2718465"/>
            <a:ext cx="5791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More data helps</a:t>
            </a:r>
          </a:p>
          <a:p>
            <a:pPr algn="ctr"/>
            <a:r>
              <a:rPr lang="zh-CN" altLang="en-US" sz="2200" dirty="0"/>
              <a:t>更多的数据能帮助改善问题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6A27A2-6C4E-454A-9F66-86F6F55182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3700" y="3509119"/>
            <a:ext cx="4526657" cy="2698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1632148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Issue in Nearest Neighbor      </a:t>
            </a:r>
            <a:r>
              <a:rPr lang="zh-CN" altLang="en-US" dirty="0">
                <a:ea typeface="ＭＳ Ｐゴシック" panose="020B0600070205080204" pitchFamily="34" charset="-128"/>
              </a:rPr>
              <a:t>最近邻的问题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Sparse Data Cases </a:t>
            </a:r>
            <a:r>
              <a:rPr lang="zh-CN" altLang="en-US" dirty="0"/>
              <a:t>数据稀疏之时</a:t>
            </a:r>
            <a:endParaRPr lang="en-US" altLang="zh-CN" dirty="0"/>
          </a:p>
          <a:p>
            <a:pPr lvl="1"/>
            <a:r>
              <a:rPr lang="en-US" altLang="zh-CN" dirty="0"/>
              <a:t>Similarity sensitive to attributes which are less relevant</a:t>
            </a:r>
            <a:br>
              <a:rPr lang="en-US" altLang="zh-CN" dirty="0"/>
            </a:br>
            <a:r>
              <a:rPr lang="zh-CN" altLang="en-US" dirty="0"/>
              <a:t>相似度对于不那么相关的属性太敏感</a:t>
            </a:r>
            <a:endParaRPr lang="en-US" altLang="zh-CN" dirty="0"/>
          </a:p>
          <a:p>
            <a:r>
              <a:rPr lang="en-US" altLang="zh-CN" dirty="0"/>
              <a:t>Breaking the Assumption  </a:t>
            </a:r>
            <a:r>
              <a:rPr lang="zh-CN" altLang="en-US" dirty="0"/>
              <a:t>破坏了假设</a:t>
            </a:r>
            <a:endParaRPr lang="en-US" altLang="zh-CN" dirty="0"/>
          </a:p>
          <a:p>
            <a:pPr lvl="1"/>
            <a:r>
              <a:rPr lang="en-US" altLang="zh-CN" dirty="0"/>
              <a:t>‘Similar’ samples now do not come from the same class  </a:t>
            </a:r>
            <a:br>
              <a:rPr lang="en-US" altLang="zh-CN" dirty="0"/>
            </a:br>
            <a:r>
              <a:rPr lang="zh-CN" altLang="en-US" dirty="0"/>
              <a:t>“相似”的数据并非来自于同一类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4. When Nearest Neighbor Does Not Work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 </a:t>
            </a:r>
            <a:r>
              <a:rPr lang="en-US" altLang="zh-CN" dirty="0"/>
              <a:t>4. </a:t>
            </a:r>
            <a:r>
              <a:rPr lang="zh-CN" altLang="en-US" dirty="0"/>
              <a:t>最近邻无效之时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1542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Potential Solutions </a:t>
            </a:r>
            <a:r>
              <a:rPr lang="zh-CN" altLang="en-US" dirty="0"/>
              <a:t>潜在的方案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More Data  </a:t>
            </a:r>
            <a:r>
              <a:rPr lang="zh-CN" altLang="en-US" dirty="0"/>
              <a:t>更多的数据</a:t>
            </a:r>
            <a:endParaRPr lang="en-US" altLang="zh-CN" dirty="0"/>
          </a:p>
          <a:p>
            <a:pPr lvl="1"/>
            <a:r>
              <a:rPr lang="en-US" altLang="zh-CN" dirty="0"/>
              <a:t>Data is expensive  </a:t>
            </a:r>
            <a:r>
              <a:rPr lang="zh-CN" altLang="en-US" dirty="0"/>
              <a:t>数据的代价高昂</a:t>
            </a:r>
            <a:endParaRPr lang="en-US" altLang="zh-CN" dirty="0"/>
          </a:p>
          <a:p>
            <a:r>
              <a:rPr lang="en-US" altLang="zh-CN" dirty="0"/>
              <a:t>Better Feature Engineering                   </a:t>
            </a:r>
            <a:r>
              <a:rPr lang="zh-CN" altLang="en-US" dirty="0"/>
              <a:t>更好地处理特征属性</a:t>
            </a:r>
            <a:endParaRPr lang="en-US" altLang="zh-CN" dirty="0"/>
          </a:p>
          <a:p>
            <a:pPr lvl="1"/>
            <a:r>
              <a:rPr lang="en-US" altLang="zh-CN" dirty="0"/>
              <a:t>Need additional skills &amp; effort  </a:t>
            </a:r>
            <a:br>
              <a:rPr lang="en-US" altLang="zh-CN" dirty="0"/>
            </a:br>
            <a:r>
              <a:rPr lang="zh-CN" altLang="en-US" dirty="0"/>
              <a:t>需要额外的技能和投入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4. When Nearest Neighbor Does Not Work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 </a:t>
            </a:r>
            <a:r>
              <a:rPr lang="en-US" altLang="zh-CN" dirty="0"/>
              <a:t>4. </a:t>
            </a:r>
            <a:r>
              <a:rPr lang="zh-CN" altLang="en-US" dirty="0"/>
              <a:t>最近邻无效之时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00353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A Real World Problem              </a:t>
            </a:r>
            <a:r>
              <a:rPr lang="zh-CN" altLang="en-US" dirty="0">
                <a:ea typeface="ＭＳ Ｐゴシック" panose="020B0600070205080204" pitchFamily="34" charset="-128"/>
              </a:rPr>
              <a:t>一个真实的问题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4. When Nearest Neighbor Does Not Work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 </a:t>
            </a:r>
            <a:r>
              <a:rPr lang="en-US" altLang="zh-CN" dirty="0"/>
              <a:t>4. </a:t>
            </a:r>
            <a:r>
              <a:rPr lang="zh-CN" altLang="en-US" dirty="0"/>
              <a:t>最近邻无效之时</a:t>
            </a:r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2CD429-892F-424E-9181-D325E9D29204}"/>
              </a:ext>
            </a:extLst>
          </p:cNvPr>
          <p:cNvSpPr txBox="1"/>
          <p:nvPr/>
        </p:nvSpPr>
        <p:spPr>
          <a:xfrm>
            <a:off x="1676400" y="1600200"/>
            <a:ext cx="5791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Word ‘interest(s)’ as a noun</a:t>
            </a:r>
          </a:p>
          <a:p>
            <a:pPr algn="ctr"/>
            <a:r>
              <a:rPr lang="zh-CN" altLang="en-US" sz="2200" dirty="0"/>
              <a:t>作为名词的单词“</a:t>
            </a:r>
            <a:r>
              <a:rPr lang="en-US" altLang="zh-CN" sz="2200" dirty="0"/>
              <a:t>interest(s)</a:t>
            </a:r>
            <a:r>
              <a:rPr lang="zh-CN" altLang="en-US" sz="2200" dirty="0"/>
              <a:t>”</a:t>
            </a:r>
            <a:r>
              <a:rPr lang="en-US" altLang="zh-CN" sz="2200" dirty="0"/>
              <a:t> </a:t>
            </a:r>
            <a:endParaRPr lang="zh-CN" altLang="en-US" sz="22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7B2D6CE-6B44-47C6-BEFB-1301C354C0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2164276"/>
              </p:ext>
            </p:extLst>
          </p:nvPr>
        </p:nvGraphicFramePr>
        <p:xfrm>
          <a:off x="1295400" y="2452439"/>
          <a:ext cx="6629400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339754549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3455972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Sense </a:t>
                      </a:r>
                      <a:r>
                        <a:rPr lang="zh-CN" altLang="en-US" dirty="0"/>
                        <a:t>词义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Example </a:t>
                      </a:r>
                      <a:r>
                        <a:rPr lang="zh-CN" altLang="en-US" dirty="0"/>
                        <a:t>例句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7641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兴趣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Reading is one of my interests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24110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D4CC569-F2D5-468B-AD0E-4228FCD58553}"/>
              </a:ext>
            </a:extLst>
          </p:cNvPr>
          <p:cNvSpPr txBox="1"/>
          <p:nvPr/>
        </p:nvSpPr>
        <p:spPr>
          <a:xfrm>
            <a:off x="304800" y="4415457"/>
            <a:ext cx="8534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Problem: determine the word sense based on the context</a:t>
            </a:r>
          </a:p>
          <a:p>
            <a:pPr algn="ctr"/>
            <a:r>
              <a:rPr lang="zh-CN" altLang="en-US" sz="2200" dirty="0"/>
              <a:t>问题：根据上下文确定词义</a:t>
            </a:r>
            <a:r>
              <a:rPr lang="en-US" altLang="zh-CN" sz="2200" dirty="0"/>
              <a:t> </a:t>
            </a:r>
            <a:endParaRPr lang="zh-CN" altLang="en-US" sz="22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6B5CB25-DD92-467E-9C70-3EA988991C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1793925"/>
              </p:ext>
            </p:extLst>
          </p:nvPr>
        </p:nvGraphicFramePr>
        <p:xfrm>
          <a:off x="1296000" y="2451600"/>
          <a:ext cx="6629400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339754549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3455972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Sense </a:t>
                      </a:r>
                      <a:r>
                        <a:rPr lang="zh-CN" altLang="en-US" dirty="0"/>
                        <a:t>词义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Example </a:t>
                      </a:r>
                      <a:r>
                        <a:rPr lang="zh-CN" altLang="en-US" dirty="0"/>
                        <a:t>例句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7641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兴趣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Reading is one of my interests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241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利益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In this case, my interests conflict with yours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8355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利息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The Fed cut interest rates again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403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3052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E38A031-F31A-4436-8F82-115F664151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505711"/>
              </p:ext>
            </p:extLst>
          </p:nvPr>
        </p:nvGraphicFramePr>
        <p:xfrm>
          <a:off x="1296000" y="2451600"/>
          <a:ext cx="662940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339754549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3455972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Sense </a:t>
                      </a:r>
                      <a:r>
                        <a:rPr lang="zh-CN" altLang="en-US" dirty="0"/>
                        <a:t>词义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Example </a:t>
                      </a:r>
                      <a:r>
                        <a:rPr lang="zh-CN" altLang="en-US" dirty="0"/>
                        <a:t>例句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7641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兴趣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Reading is one of my interests</a:t>
                      </a:r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0241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利益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In this case, my interests conflict with yours</a:t>
                      </a:r>
                      <a:endParaRPr lang="zh-CN" alt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355194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799627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Data </a:t>
            </a:r>
            <a:r>
              <a:rPr lang="zh-CN" altLang="en-US" dirty="0">
                <a:ea typeface="ＭＳ Ｐゴシック" panose="020B0600070205080204" pitchFamily="34" charset="-128"/>
              </a:rPr>
              <a:t>数据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4. When Nearest Neighbor Does Not Work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 </a:t>
            </a:r>
            <a:r>
              <a:rPr lang="en-US" altLang="zh-CN" dirty="0"/>
              <a:t>4. </a:t>
            </a:r>
            <a:r>
              <a:rPr lang="zh-CN" altLang="en-US" dirty="0"/>
              <a:t>最近邻无效之时</a:t>
            </a:r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2CD429-892F-424E-9181-D325E9D29204}"/>
              </a:ext>
            </a:extLst>
          </p:cNvPr>
          <p:cNvSpPr txBox="1"/>
          <p:nvPr/>
        </p:nvSpPr>
        <p:spPr>
          <a:xfrm>
            <a:off x="876671" y="1602438"/>
            <a:ext cx="73906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From Wall Street Journal 1989  </a:t>
            </a:r>
            <a:r>
              <a:rPr lang="zh-CN" altLang="en-US" sz="2200" dirty="0"/>
              <a:t>来自</a:t>
            </a:r>
            <a:r>
              <a:rPr lang="en-US" altLang="zh-CN" sz="2200"/>
              <a:t>1989</a:t>
            </a:r>
            <a:r>
              <a:rPr lang="zh-CN" altLang="en-US" sz="2200"/>
              <a:t>年</a:t>
            </a:r>
            <a:r>
              <a:rPr lang="zh-CN" altLang="en-US" sz="2200" dirty="0"/>
              <a:t>华尔街日报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C661E0-AC3C-4FDA-853D-57CE7635B1D3}"/>
              </a:ext>
            </a:extLst>
          </p:cNvPr>
          <p:cNvSpPr txBox="1"/>
          <p:nvPr/>
        </p:nvSpPr>
        <p:spPr>
          <a:xfrm>
            <a:off x="914398" y="2211513"/>
            <a:ext cx="731520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Example </a:t>
            </a:r>
            <a:r>
              <a:rPr lang="zh-CN" altLang="en-US" sz="2200" dirty="0"/>
              <a:t>示例</a:t>
            </a:r>
            <a:endParaRPr lang="en-US" altLang="zh-CN" sz="2200" dirty="0"/>
          </a:p>
          <a:p>
            <a:pPr algn="ctr"/>
            <a:r>
              <a:rPr lang="en-US" altLang="zh-CN" sz="2200" dirty="0"/>
              <a:t>last/JJ month/NN ,/, judge/NP curry/NP set/VBD the/DT </a:t>
            </a:r>
            <a:r>
              <a:rPr lang="en-US" altLang="zh-CN" sz="2200" dirty="0">
                <a:highlight>
                  <a:srgbClr val="FFFF00"/>
                </a:highlight>
              </a:rPr>
              <a:t>interest/NN</a:t>
            </a:r>
            <a:r>
              <a:rPr lang="en-US" altLang="zh-CN" sz="2200" dirty="0"/>
              <a:t> rate/NN on/IN the/DT refund/NN at/IN 9/AB %/NN ./. </a:t>
            </a:r>
            <a:endParaRPr lang="zh-CN" altLang="en-US" sz="2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223C34-8F84-41D3-B86C-38C119EEB624}"/>
              </a:ext>
            </a:extLst>
          </p:cNvPr>
          <p:cNvSpPr txBox="1"/>
          <p:nvPr/>
        </p:nvSpPr>
        <p:spPr>
          <a:xfrm>
            <a:off x="876668" y="3836251"/>
            <a:ext cx="73906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Six categories (senses)  </a:t>
            </a:r>
            <a:r>
              <a:rPr lang="zh-CN" altLang="en-US" sz="2200" dirty="0"/>
              <a:t>六种词义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349927-8306-45D6-BA56-3B5D996F7200}"/>
              </a:ext>
            </a:extLst>
          </p:cNvPr>
          <p:cNvSpPr txBox="1"/>
          <p:nvPr/>
        </p:nvSpPr>
        <p:spPr>
          <a:xfrm>
            <a:off x="876668" y="4365214"/>
            <a:ext cx="73906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Part-of-speech tagged  </a:t>
            </a:r>
            <a:r>
              <a:rPr lang="zh-CN" altLang="en-US" sz="2200" dirty="0"/>
              <a:t>词性已被标注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94676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To Deal with the Problem              </a:t>
            </a:r>
            <a:r>
              <a:rPr lang="zh-CN" altLang="en-US" dirty="0">
                <a:ea typeface="ＭＳ Ｐゴシック" panose="020B0600070205080204" pitchFamily="34" charset="-128"/>
              </a:rPr>
              <a:t>处理这个问题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Common Questions </a:t>
            </a:r>
            <a:r>
              <a:rPr lang="zh-CN" altLang="en-US" dirty="0"/>
              <a:t>常规问题</a:t>
            </a:r>
            <a:endParaRPr lang="en-US" altLang="zh-CN" dirty="0"/>
          </a:p>
          <a:p>
            <a:pPr lvl="1"/>
            <a:r>
              <a:rPr lang="en-US" altLang="zh-CN" dirty="0"/>
              <a:t>What’s the input?  </a:t>
            </a:r>
            <a:r>
              <a:rPr lang="zh-CN" altLang="en-US" dirty="0"/>
              <a:t>输入是什么？</a:t>
            </a:r>
            <a:endParaRPr lang="en-US" altLang="zh-CN" dirty="0"/>
          </a:p>
          <a:p>
            <a:pPr lvl="1"/>
            <a:r>
              <a:rPr lang="en-US" altLang="zh-CN" dirty="0"/>
              <a:t>What’s the output?  </a:t>
            </a:r>
            <a:r>
              <a:rPr lang="zh-CN" altLang="en-US" dirty="0"/>
              <a:t>输出是什么？</a:t>
            </a:r>
            <a:endParaRPr lang="en-US" altLang="zh-CN" dirty="0"/>
          </a:p>
          <a:p>
            <a:pPr lvl="1"/>
            <a:r>
              <a:rPr lang="en-US" altLang="zh-CN" dirty="0"/>
              <a:t>What’s the program?  </a:t>
            </a:r>
            <a:r>
              <a:rPr lang="zh-CN" altLang="en-US" dirty="0"/>
              <a:t>程序是什么？</a:t>
            </a:r>
            <a:endParaRPr lang="en-US" altLang="zh-CN" dirty="0"/>
          </a:p>
          <a:p>
            <a:r>
              <a:rPr lang="en-US" altLang="zh-CN" dirty="0"/>
              <a:t>What’s the Output? </a:t>
            </a:r>
            <a:r>
              <a:rPr lang="zh-CN" altLang="en-US" dirty="0"/>
              <a:t>输出是什么？</a:t>
            </a:r>
            <a:endParaRPr lang="en-US" altLang="zh-CN" dirty="0"/>
          </a:p>
          <a:p>
            <a:pPr lvl="1"/>
            <a:r>
              <a:rPr lang="en-US" altLang="zh-CN" dirty="0"/>
              <a:t>Easiest to answer  </a:t>
            </a:r>
            <a:r>
              <a:rPr lang="zh-CN" altLang="en-US" dirty="0"/>
              <a:t>最容易回答</a:t>
            </a:r>
            <a:endParaRPr lang="en-US" altLang="zh-CN" dirty="0"/>
          </a:p>
          <a:p>
            <a:pPr lvl="2"/>
            <a:r>
              <a:rPr lang="en-US" altLang="zh-CN" dirty="0"/>
              <a:t>6 categories: 1~6                                           6</a:t>
            </a:r>
            <a:r>
              <a:rPr lang="zh-CN" altLang="en-US" dirty="0"/>
              <a:t>个类别：</a:t>
            </a:r>
            <a:r>
              <a:rPr lang="en-US" altLang="zh-CN" dirty="0"/>
              <a:t>1~6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4. When Nearest Neighbor Does Not Work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 </a:t>
            </a:r>
            <a:r>
              <a:rPr lang="en-US" altLang="zh-CN" dirty="0"/>
              <a:t>4. </a:t>
            </a:r>
            <a:r>
              <a:rPr lang="zh-CN" altLang="en-US" dirty="0"/>
              <a:t>最近邻无效之时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52916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To Deal with the Problem              </a:t>
            </a:r>
            <a:r>
              <a:rPr lang="zh-CN" altLang="en-US" dirty="0">
                <a:ea typeface="ＭＳ Ｐゴシック" panose="020B0600070205080204" pitchFamily="34" charset="-128"/>
              </a:rPr>
              <a:t>处理这个问题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What’s the Program? </a:t>
            </a:r>
            <a:r>
              <a:rPr lang="zh-CN" altLang="en-US" dirty="0"/>
              <a:t>程序是什么？</a:t>
            </a:r>
            <a:endParaRPr lang="en-US" altLang="zh-CN" dirty="0"/>
          </a:p>
          <a:p>
            <a:pPr lvl="1"/>
            <a:r>
              <a:rPr lang="en-US" altLang="zh-CN" dirty="0"/>
              <a:t>Supposed to be nearest neighbor              </a:t>
            </a:r>
            <a:r>
              <a:rPr lang="zh-CN" altLang="en-US" dirty="0"/>
              <a:t>假定是最近邻吧</a:t>
            </a:r>
            <a:endParaRPr lang="en-US" altLang="zh-CN" dirty="0"/>
          </a:p>
          <a:p>
            <a:pPr lvl="2"/>
            <a:r>
              <a:rPr lang="en-US" altLang="zh-CN" dirty="0"/>
              <a:t>Do we have any other choices?                    </a:t>
            </a:r>
            <a:r>
              <a:rPr lang="zh-CN" altLang="en-US" dirty="0"/>
              <a:t>我们学过别吗？</a:t>
            </a:r>
            <a:endParaRPr lang="en-US" altLang="zh-CN" dirty="0"/>
          </a:p>
          <a:p>
            <a:r>
              <a:rPr lang="en-US" altLang="zh-CN" dirty="0"/>
              <a:t>What’s the Input? </a:t>
            </a:r>
            <a:r>
              <a:rPr lang="zh-CN" altLang="en-US" dirty="0"/>
              <a:t>输入是什么？</a:t>
            </a:r>
            <a:endParaRPr lang="en-US" altLang="zh-CN" dirty="0"/>
          </a:p>
          <a:p>
            <a:pPr lvl="1"/>
            <a:r>
              <a:rPr lang="en-US" altLang="zh-CN" dirty="0"/>
              <a:t>A sentence w/ variable length?                   </a:t>
            </a:r>
            <a:r>
              <a:rPr lang="zh-CN" altLang="en-US" dirty="0"/>
              <a:t>一个不定长度的句子？</a:t>
            </a:r>
            <a:endParaRPr lang="en-US" altLang="zh-CN" dirty="0"/>
          </a:p>
          <a:p>
            <a:pPr lvl="2"/>
            <a:r>
              <a:rPr lang="en-US" altLang="zh-CN" dirty="0"/>
              <a:t>How to deal w/ that using nearest neighbor?     </a:t>
            </a:r>
            <a:r>
              <a:rPr lang="zh-CN" altLang="en-US" dirty="0"/>
              <a:t>最近邻能处理这样的输入吗？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4. When Nearest Neighbor Does Not Work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 </a:t>
            </a:r>
            <a:r>
              <a:rPr lang="en-US" altLang="zh-CN" dirty="0"/>
              <a:t>4. </a:t>
            </a:r>
            <a:r>
              <a:rPr lang="zh-CN" altLang="en-US" dirty="0"/>
              <a:t>最近邻无效之时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78672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Convert the Input  </a:t>
            </a:r>
            <a:r>
              <a:rPr lang="zh-CN" altLang="en-US" dirty="0">
                <a:ea typeface="ＭＳ Ｐゴシック" panose="020B0600070205080204" pitchFamily="34" charset="-128"/>
              </a:rPr>
              <a:t>变换输入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4. When Nearest Neighbor Does Not Work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 </a:t>
            </a:r>
            <a:r>
              <a:rPr lang="en-US" altLang="zh-CN" dirty="0"/>
              <a:t>4. </a:t>
            </a:r>
            <a:r>
              <a:rPr lang="zh-CN" altLang="en-US" dirty="0"/>
              <a:t>最近邻无效之时</a:t>
            </a:r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B84A7A-6C5F-4EAC-B042-07935771EEA9}"/>
              </a:ext>
            </a:extLst>
          </p:cNvPr>
          <p:cNvSpPr txBox="1"/>
          <p:nvPr/>
        </p:nvSpPr>
        <p:spPr>
          <a:xfrm>
            <a:off x="685798" y="1582798"/>
            <a:ext cx="77723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Create a ‘dictionary’ giving each unique ‘word’ an index          </a:t>
            </a:r>
            <a:r>
              <a:rPr lang="zh-CN" altLang="en-US" sz="2200" dirty="0"/>
              <a:t>创建一本“字典”，为每个独一无二的“词”赋予一个下标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25F7E3-6188-440D-90A4-AABA9FFD5CA9}"/>
              </a:ext>
            </a:extLst>
          </p:cNvPr>
          <p:cNvSpPr txBox="1"/>
          <p:nvPr/>
        </p:nvSpPr>
        <p:spPr>
          <a:xfrm>
            <a:off x="876670" y="2438400"/>
            <a:ext cx="739065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yields/NNS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 →</a:t>
            </a:r>
            <a:r>
              <a:rPr lang="en-US" altLang="zh-CN" sz="2000" dirty="0"/>
              <a:t> 0,</a:t>
            </a:r>
          </a:p>
          <a:p>
            <a:pPr algn="ctr"/>
            <a:r>
              <a:rPr lang="en-US" altLang="zh-CN" sz="2000" dirty="0"/>
              <a:t>on/IN 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en-US" altLang="zh-CN" sz="2000" dirty="0"/>
              <a:t> 1,</a:t>
            </a:r>
          </a:p>
          <a:p>
            <a:pPr algn="ctr"/>
            <a:r>
              <a:rPr lang="en-US" altLang="zh-CN" sz="2000" dirty="0"/>
              <a:t>money-market/JJ 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en-US" altLang="zh-CN" sz="2000" dirty="0"/>
              <a:t> 2,</a:t>
            </a:r>
          </a:p>
          <a:p>
            <a:pPr algn="ctr"/>
            <a:r>
              <a:rPr lang="en-US" altLang="zh-CN" sz="2000" dirty="0"/>
              <a:t>…</a:t>
            </a:r>
          </a:p>
          <a:p>
            <a:pPr algn="ctr"/>
            <a:r>
              <a:rPr lang="en-US" altLang="zh-CN" sz="2000" dirty="0"/>
              <a:t>,/, 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en-US" altLang="zh-CN" sz="2000" dirty="0"/>
              <a:t> 8</a:t>
            </a:r>
          </a:p>
          <a:p>
            <a:pPr algn="ctr"/>
            <a:r>
              <a:rPr lang="en-US" altLang="zh-CN" sz="2000" dirty="0"/>
              <a:t>…</a:t>
            </a:r>
          </a:p>
          <a:p>
            <a:pPr algn="ctr"/>
            <a:r>
              <a:rPr lang="en-US" altLang="zh-CN" sz="2000" dirty="0"/>
              <a:t>last/JJ 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en-US" altLang="zh-CN" sz="2000" dirty="0"/>
              <a:t> 104,</a:t>
            </a:r>
            <a:r>
              <a:rPr lang="zh-CN" altLang="en-US" sz="2000" dirty="0"/>
              <a:t> </a:t>
            </a:r>
            <a:endParaRPr lang="en-US" altLang="zh-CN" sz="2000" dirty="0"/>
          </a:p>
          <a:p>
            <a:pPr algn="ctr"/>
            <a:r>
              <a:rPr lang="en-US" altLang="zh-CN" sz="2000" dirty="0"/>
              <a:t>month/NN 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en-US" altLang="zh-CN" sz="2000" dirty="0"/>
              <a:t> 105, </a:t>
            </a:r>
          </a:p>
          <a:p>
            <a:pPr algn="ctr"/>
            <a:r>
              <a:rPr lang="en-US" altLang="zh-CN" sz="2000" dirty="0"/>
              <a:t>judge/NP 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en-US" altLang="zh-CN" sz="2000" dirty="0"/>
              <a:t> 106,</a:t>
            </a:r>
          </a:p>
          <a:p>
            <a:pPr algn="ctr"/>
            <a:r>
              <a:rPr lang="en-US" altLang="zh-CN" sz="2000" dirty="0"/>
              <a:t>curry/NP 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en-US" altLang="zh-CN" sz="2000" dirty="0"/>
              <a:t> 107,</a:t>
            </a:r>
          </a:p>
          <a:p>
            <a:pPr algn="ctr"/>
            <a:r>
              <a:rPr lang="en-US" altLang="zh-CN" sz="2000" dirty="0"/>
              <a:t>…</a:t>
            </a:r>
          </a:p>
          <a:p>
            <a:pPr algn="ctr"/>
            <a:r>
              <a:rPr lang="en-US" altLang="zh-CN" sz="2000" dirty="0">
                <a:latin typeface="+mn-lt"/>
                <a:ea typeface="等线" panose="02010600030101010101" pitchFamily="2" charset="-122"/>
              </a:rPr>
              <a:t>cent/NN 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en-US" altLang="zh-CN" sz="2000" dirty="0"/>
              <a:t> 9019</a:t>
            </a:r>
            <a:endParaRPr lang="zh-CN" altLang="en-US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58339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Convert the Input  </a:t>
            </a:r>
            <a:r>
              <a:rPr lang="zh-CN" altLang="en-US" dirty="0">
                <a:ea typeface="ＭＳ Ｐゴシック" panose="020B0600070205080204" pitchFamily="34" charset="-128"/>
              </a:rPr>
              <a:t>变换输入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4. When Nearest Neighbor Does Not Work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 </a:t>
            </a:r>
            <a:r>
              <a:rPr lang="en-US" altLang="zh-CN" dirty="0"/>
              <a:t>4. </a:t>
            </a:r>
            <a:r>
              <a:rPr lang="zh-CN" altLang="en-US" dirty="0"/>
              <a:t>最近邻无效之时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25F7E3-6188-440D-90A4-AABA9FFD5CA9}"/>
              </a:ext>
            </a:extLst>
          </p:cNvPr>
          <p:cNvSpPr txBox="1"/>
          <p:nvPr/>
        </p:nvSpPr>
        <p:spPr>
          <a:xfrm>
            <a:off x="0" y="1802548"/>
            <a:ext cx="270473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b="1" dirty="0"/>
              <a:t>Dictionary</a:t>
            </a:r>
          </a:p>
          <a:p>
            <a:pPr algn="ctr"/>
            <a:r>
              <a:rPr lang="en-US" altLang="zh-CN" sz="2200" dirty="0"/>
              <a:t>…</a:t>
            </a:r>
          </a:p>
          <a:p>
            <a:pPr algn="ctr"/>
            <a:r>
              <a:rPr lang="en-US" altLang="zh-CN" sz="2200" dirty="0"/>
              <a:t>,/,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en-US" altLang="zh-CN" sz="2200" dirty="0"/>
              <a:t> 8</a:t>
            </a:r>
          </a:p>
          <a:p>
            <a:pPr algn="ctr"/>
            <a:r>
              <a:rPr lang="en-US" altLang="zh-CN" sz="2200" dirty="0"/>
              <a:t>…</a:t>
            </a:r>
          </a:p>
          <a:p>
            <a:pPr algn="ctr"/>
            <a:r>
              <a:rPr lang="en-US" altLang="zh-CN" sz="2200" dirty="0"/>
              <a:t>last/JJ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en-US" altLang="zh-CN" sz="2200" dirty="0"/>
              <a:t> 104,</a:t>
            </a:r>
            <a:r>
              <a:rPr lang="zh-CN" altLang="en-US" sz="2200" dirty="0"/>
              <a:t> </a:t>
            </a:r>
            <a:endParaRPr lang="en-US" altLang="zh-CN" sz="2200" dirty="0"/>
          </a:p>
          <a:p>
            <a:pPr algn="ctr"/>
            <a:r>
              <a:rPr lang="en-US" altLang="zh-CN" sz="2200" dirty="0"/>
              <a:t>month/NN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en-US" altLang="zh-CN" sz="2200" dirty="0"/>
              <a:t> 105, </a:t>
            </a:r>
          </a:p>
          <a:p>
            <a:pPr algn="ctr"/>
            <a:r>
              <a:rPr lang="en-US" altLang="zh-CN" sz="2200" dirty="0"/>
              <a:t>judge/NP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en-US" altLang="zh-CN" sz="2200" dirty="0"/>
              <a:t> 106,</a:t>
            </a:r>
          </a:p>
          <a:p>
            <a:pPr algn="ctr"/>
            <a:r>
              <a:rPr lang="en-US" altLang="zh-CN" sz="2200" dirty="0"/>
              <a:t>curry/NP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en-US" altLang="zh-CN" sz="2200" dirty="0"/>
              <a:t> 107,</a:t>
            </a:r>
          </a:p>
          <a:p>
            <a:pPr algn="ctr"/>
            <a:r>
              <a:rPr lang="en-US" altLang="zh-CN" sz="2200" dirty="0"/>
              <a:t>…</a:t>
            </a:r>
          </a:p>
          <a:p>
            <a:pPr algn="ctr"/>
            <a:r>
              <a:rPr lang="en-US" altLang="zh-CN" sz="2200" dirty="0"/>
              <a:t>cent/NN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 →</a:t>
            </a:r>
            <a:r>
              <a:rPr lang="en-US" altLang="zh-CN" sz="2200" dirty="0"/>
              <a:t> 9019</a:t>
            </a:r>
            <a:endParaRPr lang="zh-CN" altLang="en-US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23D727-2455-4C31-991C-6A7DE0FFC49D}"/>
              </a:ext>
            </a:extLst>
          </p:cNvPr>
          <p:cNvSpPr txBox="1"/>
          <p:nvPr/>
        </p:nvSpPr>
        <p:spPr>
          <a:xfrm>
            <a:off x="2438400" y="1924883"/>
            <a:ext cx="6324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last/JJ month/NN ,/, judge/NP curry/NP … </a:t>
            </a:r>
            <a:endParaRPr lang="zh-CN" altLang="en-US" sz="2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A0A3C5-83BD-4B4B-B273-9564E1BDFDA6}"/>
              </a:ext>
            </a:extLst>
          </p:cNvPr>
          <p:cNvSpPr txBox="1"/>
          <p:nvPr/>
        </p:nvSpPr>
        <p:spPr>
          <a:xfrm>
            <a:off x="2971800" y="4772263"/>
            <a:ext cx="10925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Index</a:t>
            </a:r>
          </a:p>
          <a:p>
            <a:pPr algn="ctr"/>
            <a:r>
              <a:rPr lang="zh-CN" altLang="en-US" sz="2200" dirty="0"/>
              <a:t>下标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FCD0B53-1B05-4146-9F01-1F8ED1AD07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279404"/>
              </p:ext>
            </p:extLst>
          </p:nvPr>
        </p:nvGraphicFramePr>
        <p:xfrm>
          <a:off x="4064372" y="4114800"/>
          <a:ext cx="4457328" cy="60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7166">
                  <a:extLst>
                    <a:ext uri="{9D8B030D-6E8A-4147-A177-3AD203B41FA5}">
                      <a16:colId xmlns:a16="http://schemas.microsoft.com/office/drawing/2014/main" val="2884683681"/>
                    </a:ext>
                  </a:extLst>
                </a:gridCol>
                <a:gridCol w="557166">
                  <a:extLst>
                    <a:ext uri="{9D8B030D-6E8A-4147-A177-3AD203B41FA5}">
                      <a16:colId xmlns:a16="http://schemas.microsoft.com/office/drawing/2014/main" val="3657632391"/>
                    </a:ext>
                  </a:extLst>
                </a:gridCol>
                <a:gridCol w="557166">
                  <a:extLst>
                    <a:ext uri="{9D8B030D-6E8A-4147-A177-3AD203B41FA5}">
                      <a16:colId xmlns:a16="http://schemas.microsoft.com/office/drawing/2014/main" val="7069473"/>
                    </a:ext>
                  </a:extLst>
                </a:gridCol>
                <a:gridCol w="557166">
                  <a:extLst>
                    <a:ext uri="{9D8B030D-6E8A-4147-A177-3AD203B41FA5}">
                      <a16:colId xmlns:a16="http://schemas.microsoft.com/office/drawing/2014/main" val="2681662511"/>
                    </a:ext>
                  </a:extLst>
                </a:gridCol>
                <a:gridCol w="557166">
                  <a:extLst>
                    <a:ext uri="{9D8B030D-6E8A-4147-A177-3AD203B41FA5}">
                      <a16:colId xmlns:a16="http://schemas.microsoft.com/office/drawing/2014/main" val="4204260062"/>
                    </a:ext>
                  </a:extLst>
                </a:gridCol>
                <a:gridCol w="557166">
                  <a:extLst>
                    <a:ext uri="{9D8B030D-6E8A-4147-A177-3AD203B41FA5}">
                      <a16:colId xmlns:a16="http://schemas.microsoft.com/office/drawing/2014/main" val="3318160584"/>
                    </a:ext>
                  </a:extLst>
                </a:gridCol>
                <a:gridCol w="557166">
                  <a:extLst>
                    <a:ext uri="{9D8B030D-6E8A-4147-A177-3AD203B41FA5}">
                      <a16:colId xmlns:a16="http://schemas.microsoft.com/office/drawing/2014/main" val="2431958249"/>
                    </a:ext>
                  </a:extLst>
                </a:gridCol>
                <a:gridCol w="557166">
                  <a:extLst>
                    <a:ext uri="{9D8B030D-6E8A-4147-A177-3AD203B41FA5}">
                      <a16:colId xmlns:a16="http://schemas.microsoft.com/office/drawing/2014/main" val="321776371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662855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81CF2EA-CC61-49AA-871F-5F24F9E9E3C4}"/>
              </a:ext>
            </a:extLst>
          </p:cNvPr>
          <p:cNvSpPr txBox="1"/>
          <p:nvPr/>
        </p:nvSpPr>
        <p:spPr>
          <a:xfrm>
            <a:off x="5715000" y="4877436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104</a:t>
            </a:r>
            <a:endParaRPr lang="zh-CN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C9A254-648F-4354-8447-ACF99ABEA271}"/>
              </a:ext>
            </a:extLst>
          </p:cNvPr>
          <p:cNvSpPr txBox="1"/>
          <p:nvPr/>
        </p:nvSpPr>
        <p:spPr>
          <a:xfrm>
            <a:off x="6286500" y="4877436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105</a:t>
            </a:r>
            <a:endParaRPr lang="zh-CN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68EE06-C291-48A8-A02D-82305DF2F2AF}"/>
              </a:ext>
            </a:extLst>
          </p:cNvPr>
          <p:cNvSpPr txBox="1"/>
          <p:nvPr/>
        </p:nvSpPr>
        <p:spPr>
          <a:xfrm>
            <a:off x="6832600" y="4877436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106</a:t>
            </a:r>
            <a:endParaRPr lang="zh-CN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59045A-3272-42AA-81AF-20B949013BD8}"/>
              </a:ext>
            </a:extLst>
          </p:cNvPr>
          <p:cNvSpPr txBox="1"/>
          <p:nvPr/>
        </p:nvSpPr>
        <p:spPr>
          <a:xfrm>
            <a:off x="7365628" y="4877436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107</a:t>
            </a:r>
            <a:endParaRPr lang="zh-CN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B04BB9-69D7-420F-AC10-263A658BF756}"/>
              </a:ext>
            </a:extLst>
          </p:cNvPr>
          <p:cNvSpPr txBox="1"/>
          <p:nvPr/>
        </p:nvSpPr>
        <p:spPr>
          <a:xfrm>
            <a:off x="4597030" y="4898391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65DA1D-CEE4-42C4-B7BB-6056EF7B0847}"/>
              </a:ext>
            </a:extLst>
          </p:cNvPr>
          <p:cNvSpPr txBox="1"/>
          <p:nvPr/>
        </p:nvSpPr>
        <p:spPr>
          <a:xfrm>
            <a:off x="3276042" y="2404814"/>
            <a:ext cx="555008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Convert to fixed length array w/ 9020 elements (0~9019): default values are 0</a:t>
            </a:r>
          </a:p>
          <a:p>
            <a:pPr algn="ctr"/>
            <a:r>
              <a:rPr lang="zh-CN" altLang="en-US" sz="2200" dirty="0"/>
              <a:t>变换成一个固定长度为</a:t>
            </a:r>
            <a:r>
              <a:rPr lang="en-US" altLang="zh-CN" sz="2200" dirty="0"/>
              <a:t>9020</a:t>
            </a:r>
            <a:r>
              <a:rPr lang="zh-CN" altLang="en-US" sz="2200" dirty="0"/>
              <a:t>的数组，每一个元素缺省值填</a:t>
            </a:r>
            <a:r>
              <a:rPr lang="en-US" altLang="zh-CN" sz="2200" dirty="0"/>
              <a:t>0</a:t>
            </a:r>
            <a:endParaRPr lang="zh-CN" altLang="en-US" sz="2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BA1501-4DAE-4150-BD9B-20FBF68759AB}"/>
              </a:ext>
            </a:extLst>
          </p:cNvPr>
          <p:cNvSpPr txBox="1"/>
          <p:nvPr/>
        </p:nvSpPr>
        <p:spPr>
          <a:xfrm>
            <a:off x="4038600" y="4876800"/>
            <a:ext cx="57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748A39-3774-495B-B9D2-48C936D8D67C}"/>
              </a:ext>
            </a:extLst>
          </p:cNvPr>
          <p:cNvSpPr txBox="1"/>
          <p:nvPr/>
        </p:nvSpPr>
        <p:spPr>
          <a:xfrm>
            <a:off x="5194302" y="4876800"/>
            <a:ext cx="57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8B498E-71F9-4F22-A56D-0089ECFEEFFD}"/>
              </a:ext>
            </a:extLst>
          </p:cNvPr>
          <p:cNvSpPr txBox="1"/>
          <p:nvPr/>
        </p:nvSpPr>
        <p:spPr>
          <a:xfrm>
            <a:off x="7962900" y="4898391"/>
            <a:ext cx="57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73170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Convert the Input  </a:t>
            </a:r>
            <a:r>
              <a:rPr lang="zh-CN" altLang="en-US" dirty="0">
                <a:ea typeface="ＭＳ Ｐゴシック" panose="020B0600070205080204" pitchFamily="34" charset="-128"/>
              </a:rPr>
              <a:t>变换输入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4. When Nearest Neighbor Does Not Work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 </a:t>
            </a:r>
            <a:r>
              <a:rPr lang="en-US" altLang="zh-CN" dirty="0"/>
              <a:t>4. </a:t>
            </a:r>
            <a:r>
              <a:rPr lang="zh-CN" altLang="en-US" dirty="0"/>
              <a:t>最近邻无效之时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25F7E3-6188-440D-90A4-AABA9FFD5CA9}"/>
              </a:ext>
            </a:extLst>
          </p:cNvPr>
          <p:cNvSpPr txBox="1"/>
          <p:nvPr/>
        </p:nvSpPr>
        <p:spPr>
          <a:xfrm>
            <a:off x="0" y="1802548"/>
            <a:ext cx="270473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b="1" dirty="0"/>
              <a:t>Dictionary</a:t>
            </a:r>
          </a:p>
          <a:p>
            <a:pPr algn="ctr"/>
            <a:r>
              <a:rPr lang="en-US" altLang="zh-CN" sz="2200" dirty="0"/>
              <a:t>…</a:t>
            </a:r>
          </a:p>
          <a:p>
            <a:pPr algn="ctr"/>
            <a:r>
              <a:rPr lang="en-US" altLang="zh-CN" sz="2200" dirty="0"/>
              <a:t>,/,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en-US" altLang="zh-CN" sz="2200" dirty="0"/>
              <a:t> 8</a:t>
            </a:r>
          </a:p>
          <a:p>
            <a:pPr algn="ctr"/>
            <a:r>
              <a:rPr lang="en-US" altLang="zh-CN" sz="2200" dirty="0"/>
              <a:t>…</a:t>
            </a:r>
          </a:p>
          <a:p>
            <a:pPr algn="ctr"/>
            <a:r>
              <a:rPr lang="en-US" altLang="zh-CN" sz="2200" dirty="0"/>
              <a:t>last/JJ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en-US" altLang="zh-CN" sz="2200" dirty="0"/>
              <a:t> 104,</a:t>
            </a:r>
            <a:r>
              <a:rPr lang="zh-CN" altLang="en-US" sz="2200" dirty="0"/>
              <a:t> </a:t>
            </a:r>
            <a:endParaRPr lang="en-US" altLang="zh-CN" sz="2200" dirty="0"/>
          </a:p>
          <a:p>
            <a:pPr algn="ctr"/>
            <a:r>
              <a:rPr lang="en-US" altLang="zh-CN" sz="2200" dirty="0"/>
              <a:t>month/NN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en-US" altLang="zh-CN" sz="2200" dirty="0"/>
              <a:t> 105, </a:t>
            </a:r>
          </a:p>
          <a:p>
            <a:pPr algn="ctr"/>
            <a:r>
              <a:rPr lang="en-US" altLang="zh-CN" sz="2200" dirty="0"/>
              <a:t>judge/NP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en-US" altLang="zh-CN" sz="2200" dirty="0"/>
              <a:t> 106,</a:t>
            </a:r>
          </a:p>
          <a:p>
            <a:pPr algn="ctr"/>
            <a:r>
              <a:rPr lang="en-US" altLang="zh-CN" sz="2200" dirty="0"/>
              <a:t>curry/NP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en-US" altLang="zh-CN" sz="2200" dirty="0"/>
              <a:t> 107,</a:t>
            </a:r>
          </a:p>
          <a:p>
            <a:pPr algn="ctr"/>
            <a:r>
              <a:rPr lang="en-US" altLang="zh-CN" sz="2200" dirty="0"/>
              <a:t>…</a:t>
            </a:r>
          </a:p>
          <a:p>
            <a:pPr algn="ctr"/>
            <a:r>
              <a:rPr lang="en-US" altLang="zh-CN" sz="2200" dirty="0"/>
              <a:t>cent/NN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 →</a:t>
            </a:r>
            <a:r>
              <a:rPr lang="en-US" altLang="zh-CN" sz="2200" dirty="0"/>
              <a:t> 9019</a:t>
            </a:r>
            <a:endParaRPr lang="zh-CN" altLang="en-US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23D727-2455-4C31-991C-6A7DE0FFC49D}"/>
              </a:ext>
            </a:extLst>
          </p:cNvPr>
          <p:cNvSpPr txBox="1"/>
          <p:nvPr/>
        </p:nvSpPr>
        <p:spPr>
          <a:xfrm>
            <a:off x="2438400" y="1924883"/>
            <a:ext cx="6324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last/JJ month/NN ,/, judge/NP curry/NP … </a:t>
            </a:r>
            <a:endParaRPr lang="zh-CN" altLang="en-US" sz="2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A0A3C5-83BD-4B4B-B273-9564E1BDFDA6}"/>
              </a:ext>
            </a:extLst>
          </p:cNvPr>
          <p:cNvSpPr txBox="1"/>
          <p:nvPr/>
        </p:nvSpPr>
        <p:spPr>
          <a:xfrm>
            <a:off x="2971800" y="4772263"/>
            <a:ext cx="10925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Index</a:t>
            </a:r>
          </a:p>
          <a:p>
            <a:pPr algn="ctr"/>
            <a:r>
              <a:rPr lang="zh-CN" altLang="en-US" sz="2200" dirty="0"/>
              <a:t>下标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FCD0B53-1B05-4146-9F01-1F8ED1AD0745}"/>
              </a:ext>
            </a:extLst>
          </p:cNvPr>
          <p:cNvGraphicFramePr>
            <a:graphicFrameLocks noGrp="1"/>
          </p:cNvGraphicFramePr>
          <p:nvPr/>
        </p:nvGraphicFramePr>
        <p:xfrm>
          <a:off x="4064372" y="4114800"/>
          <a:ext cx="4457328" cy="60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7166">
                  <a:extLst>
                    <a:ext uri="{9D8B030D-6E8A-4147-A177-3AD203B41FA5}">
                      <a16:colId xmlns:a16="http://schemas.microsoft.com/office/drawing/2014/main" val="2884683681"/>
                    </a:ext>
                  </a:extLst>
                </a:gridCol>
                <a:gridCol w="557166">
                  <a:extLst>
                    <a:ext uri="{9D8B030D-6E8A-4147-A177-3AD203B41FA5}">
                      <a16:colId xmlns:a16="http://schemas.microsoft.com/office/drawing/2014/main" val="3657632391"/>
                    </a:ext>
                  </a:extLst>
                </a:gridCol>
                <a:gridCol w="557166">
                  <a:extLst>
                    <a:ext uri="{9D8B030D-6E8A-4147-A177-3AD203B41FA5}">
                      <a16:colId xmlns:a16="http://schemas.microsoft.com/office/drawing/2014/main" val="7069473"/>
                    </a:ext>
                  </a:extLst>
                </a:gridCol>
                <a:gridCol w="557166">
                  <a:extLst>
                    <a:ext uri="{9D8B030D-6E8A-4147-A177-3AD203B41FA5}">
                      <a16:colId xmlns:a16="http://schemas.microsoft.com/office/drawing/2014/main" val="2681662511"/>
                    </a:ext>
                  </a:extLst>
                </a:gridCol>
                <a:gridCol w="557166">
                  <a:extLst>
                    <a:ext uri="{9D8B030D-6E8A-4147-A177-3AD203B41FA5}">
                      <a16:colId xmlns:a16="http://schemas.microsoft.com/office/drawing/2014/main" val="4204260062"/>
                    </a:ext>
                  </a:extLst>
                </a:gridCol>
                <a:gridCol w="557166">
                  <a:extLst>
                    <a:ext uri="{9D8B030D-6E8A-4147-A177-3AD203B41FA5}">
                      <a16:colId xmlns:a16="http://schemas.microsoft.com/office/drawing/2014/main" val="3318160584"/>
                    </a:ext>
                  </a:extLst>
                </a:gridCol>
                <a:gridCol w="557166">
                  <a:extLst>
                    <a:ext uri="{9D8B030D-6E8A-4147-A177-3AD203B41FA5}">
                      <a16:colId xmlns:a16="http://schemas.microsoft.com/office/drawing/2014/main" val="2431958249"/>
                    </a:ext>
                  </a:extLst>
                </a:gridCol>
                <a:gridCol w="557166">
                  <a:extLst>
                    <a:ext uri="{9D8B030D-6E8A-4147-A177-3AD203B41FA5}">
                      <a16:colId xmlns:a16="http://schemas.microsoft.com/office/drawing/2014/main" val="321776371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662855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81CF2EA-CC61-49AA-871F-5F24F9E9E3C4}"/>
              </a:ext>
            </a:extLst>
          </p:cNvPr>
          <p:cNvSpPr txBox="1"/>
          <p:nvPr/>
        </p:nvSpPr>
        <p:spPr>
          <a:xfrm>
            <a:off x="5715000" y="4877436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104</a:t>
            </a:r>
            <a:endParaRPr lang="zh-CN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C9A254-648F-4354-8447-ACF99ABEA271}"/>
              </a:ext>
            </a:extLst>
          </p:cNvPr>
          <p:cNvSpPr txBox="1"/>
          <p:nvPr/>
        </p:nvSpPr>
        <p:spPr>
          <a:xfrm>
            <a:off x="6286500" y="4877436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105</a:t>
            </a:r>
            <a:endParaRPr lang="zh-CN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68EE06-C291-48A8-A02D-82305DF2F2AF}"/>
              </a:ext>
            </a:extLst>
          </p:cNvPr>
          <p:cNvSpPr txBox="1"/>
          <p:nvPr/>
        </p:nvSpPr>
        <p:spPr>
          <a:xfrm>
            <a:off x="6832600" y="4877436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106</a:t>
            </a:r>
            <a:endParaRPr lang="zh-CN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59045A-3272-42AA-81AF-20B949013BD8}"/>
              </a:ext>
            </a:extLst>
          </p:cNvPr>
          <p:cNvSpPr txBox="1"/>
          <p:nvPr/>
        </p:nvSpPr>
        <p:spPr>
          <a:xfrm>
            <a:off x="7365628" y="4877436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107</a:t>
            </a:r>
            <a:endParaRPr lang="zh-CN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B04BB9-69D7-420F-AC10-263A658BF756}"/>
              </a:ext>
            </a:extLst>
          </p:cNvPr>
          <p:cNvSpPr txBox="1"/>
          <p:nvPr/>
        </p:nvSpPr>
        <p:spPr>
          <a:xfrm>
            <a:off x="4597030" y="4898391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BA1501-4DAE-4150-BD9B-20FBF68759AB}"/>
              </a:ext>
            </a:extLst>
          </p:cNvPr>
          <p:cNvSpPr txBox="1"/>
          <p:nvPr/>
        </p:nvSpPr>
        <p:spPr>
          <a:xfrm>
            <a:off x="4038600" y="4876800"/>
            <a:ext cx="57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748A39-3774-495B-B9D2-48C936D8D67C}"/>
              </a:ext>
            </a:extLst>
          </p:cNvPr>
          <p:cNvSpPr txBox="1"/>
          <p:nvPr/>
        </p:nvSpPr>
        <p:spPr>
          <a:xfrm>
            <a:off x="5194302" y="4876800"/>
            <a:ext cx="57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8B498E-71F9-4F22-A56D-0089ECFEEFFD}"/>
              </a:ext>
            </a:extLst>
          </p:cNvPr>
          <p:cNvSpPr txBox="1"/>
          <p:nvPr/>
        </p:nvSpPr>
        <p:spPr>
          <a:xfrm>
            <a:off x="7962900" y="4898391"/>
            <a:ext cx="57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2149BA7-6A6E-46F1-B281-19199196458E}"/>
              </a:ext>
            </a:extLst>
          </p:cNvPr>
          <p:cNvCxnSpPr/>
          <p:nvPr/>
        </p:nvCxnSpPr>
        <p:spPr bwMode="auto">
          <a:xfrm flipH="1">
            <a:off x="1122363" y="2355770"/>
            <a:ext cx="2078037" cy="84463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21B8A07-0D50-46D6-8FC9-40EE90F563E3}"/>
              </a:ext>
            </a:extLst>
          </p:cNvPr>
          <p:cNvCxnSpPr>
            <a:cxnSpLocks/>
          </p:cNvCxnSpPr>
          <p:nvPr/>
        </p:nvCxnSpPr>
        <p:spPr bwMode="auto">
          <a:xfrm>
            <a:off x="2362200" y="3352800"/>
            <a:ext cx="3505200" cy="9144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E3FFEE1-F9D3-48C7-89CA-29AA853C4120}"/>
              </a:ext>
            </a:extLst>
          </p:cNvPr>
          <p:cNvSpPr txBox="1"/>
          <p:nvPr/>
        </p:nvSpPr>
        <p:spPr>
          <a:xfrm>
            <a:off x="5715000" y="4267200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1031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Convert the Input  </a:t>
            </a:r>
            <a:r>
              <a:rPr lang="zh-CN" altLang="en-US" dirty="0">
                <a:ea typeface="ＭＳ Ｐゴシック" panose="020B0600070205080204" pitchFamily="34" charset="-128"/>
              </a:rPr>
              <a:t>变换输入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4. When Nearest Neighbor Does Not Work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 </a:t>
            </a:r>
            <a:r>
              <a:rPr lang="en-US" altLang="zh-CN" dirty="0"/>
              <a:t>4. </a:t>
            </a:r>
            <a:r>
              <a:rPr lang="zh-CN" altLang="en-US" dirty="0"/>
              <a:t>最近邻无效之时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25F7E3-6188-440D-90A4-AABA9FFD5CA9}"/>
              </a:ext>
            </a:extLst>
          </p:cNvPr>
          <p:cNvSpPr txBox="1"/>
          <p:nvPr/>
        </p:nvSpPr>
        <p:spPr>
          <a:xfrm>
            <a:off x="0" y="1802548"/>
            <a:ext cx="270473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b="1" dirty="0"/>
              <a:t>Dictionary</a:t>
            </a:r>
          </a:p>
          <a:p>
            <a:pPr algn="ctr"/>
            <a:r>
              <a:rPr lang="en-US" altLang="zh-CN" sz="2200" dirty="0"/>
              <a:t>…</a:t>
            </a:r>
          </a:p>
          <a:p>
            <a:pPr algn="ctr"/>
            <a:r>
              <a:rPr lang="en-US" altLang="zh-CN" sz="2200" dirty="0"/>
              <a:t>,/,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en-US" altLang="zh-CN" sz="2200" dirty="0"/>
              <a:t> 8</a:t>
            </a:r>
          </a:p>
          <a:p>
            <a:pPr algn="ctr"/>
            <a:r>
              <a:rPr lang="en-US" altLang="zh-CN" sz="2200" dirty="0"/>
              <a:t>…</a:t>
            </a:r>
          </a:p>
          <a:p>
            <a:pPr algn="ctr"/>
            <a:r>
              <a:rPr lang="en-US" altLang="zh-CN" sz="2200" dirty="0"/>
              <a:t>last/JJ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en-US" altLang="zh-CN" sz="2200" dirty="0"/>
              <a:t> 104,</a:t>
            </a:r>
            <a:r>
              <a:rPr lang="zh-CN" altLang="en-US" sz="2200" dirty="0"/>
              <a:t> </a:t>
            </a:r>
            <a:endParaRPr lang="en-US" altLang="zh-CN" sz="2200" dirty="0"/>
          </a:p>
          <a:p>
            <a:pPr algn="ctr"/>
            <a:r>
              <a:rPr lang="en-US" altLang="zh-CN" sz="2200" dirty="0"/>
              <a:t>month/NN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en-US" altLang="zh-CN" sz="2200" dirty="0"/>
              <a:t> 105, </a:t>
            </a:r>
          </a:p>
          <a:p>
            <a:pPr algn="ctr"/>
            <a:r>
              <a:rPr lang="en-US" altLang="zh-CN" sz="2200" dirty="0"/>
              <a:t>judge/NP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en-US" altLang="zh-CN" sz="2200" dirty="0"/>
              <a:t> 106,</a:t>
            </a:r>
          </a:p>
          <a:p>
            <a:pPr algn="ctr"/>
            <a:r>
              <a:rPr lang="en-US" altLang="zh-CN" sz="2200" dirty="0"/>
              <a:t>curry/NP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en-US" altLang="zh-CN" sz="2200" dirty="0"/>
              <a:t> 107,</a:t>
            </a:r>
          </a:p>
          <a:p>
            <a:pPr algn="ctr"/>
            <a:r>
              <a:rPr lang="en-US" altLang="zh-CN" sz="2200" dirty="0"/>
              <a:t>…</a:t>
            </a:r>
          </a:p>
          <a:p>
            <a:pPr algn="ctr"/>
            <a:r>
              <a:rPr lang="en-US" altLang="zh-CN" sz="2200" dirty="0"/>
              <a:t>cent/NN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 →</a:t>
            </a:r>
            <a:r>
              <a:rPr lang="en-US" altLang="zh-CN" sz="2200" dirty="0"/>
              <a:t> 9019</a:t>
            </a:r>
            <a:endParaRPr lang="zh-CN" altLang="en-US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23D727-2455-4C31-991C-6A7DE0FFC49D}"/>
              </a:ext>
            </a:extLst>
          </p:cNvPr>
          <p:cNvSpPr txBox="1"/>
          <p:nvPr/>
        </p:nvSpPr>
        <p:spPr>
          <a:xfrm>
            <a:off x="2438400" y="1924883"/>
            <a:ext cx="6324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last/JJ month/NN ,/, judge/NP curry/NP … </a:t>
            </a:r>
            <a:endParaRPr lang="zh-CN" altLang="en-US" sz="2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A0A3C5-83BD-4B4B-B273-9564E1BDFDA6}"/>
              </a:ext>
            </a:extLst>
          </p:cNvPr>
          <p:cNvSpPr txBox="1"/>
          <p:nvPr/>
        </p:nvSpPr>
        <p:spPr>
          <a:xfrm>
            <a:off x="2971800" y="4772263"/>
            <a:ext cx="10925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Index</a:t>
            </a:r>
          </a:p>
          <a:p>
            <a:pPr algn="ctr"/>
            <a:r>
              <a:rPr lang="zh-CN" altLang="en-US" sz="2200" dirty="0"/>
              <a:t>下标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FCD0B53-1B05-4146-9F01-1F8ED1AD0745}"/>
              </a:ext>
            </a:extLst>
          </p:cNvPr>
          <p:cNvGraphicFramePr>
            <a:graphicFrameLocks noGrp="1"/>
          </p:cNvGraphicFramePr>
          <p:nvPr/>
        </p:nvGraphicFramePr>
        <p:xfrm>
          <a:off x="4064372" y="4114800"/>
          <a:ext cx="4457328" cy="60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7166">
                  <a:extLst>
                    <a:ext uri="{9D8B030D-6E8A-4147-A177-3AD203B41FA5}">
                      <a16:colId xmlns:a16="http://schemas.microsoft.com/office/drawing/2014/main" val="2884683681"/>
                    </a:ext>
                  </a:extLst>
                </a:gridCol>
                <a:gridCol w="557166">
                  <a:extLst>
                    <a:ext uri="{9D8B030D-6E8A-4147-A177-3AD203B41FA5}">
                      <a16:colId xmlns:a16="http://schemas.microsoft.com/office/drawing/2014/main" val="3657632391"/>
                    </a:ext>
                  </a:extLst>
                </a:gridCol>
                <a:gridCol w="557166">
                  <a:extLst>
                    <a:ext uri="{9D8B030D-6E8A-4147-A177-3AD203B41FA5}">
                      <a16:colId xmlns:a16="http://schemas.microsoft.com/office/drawing/2014/main" val="7069473"/>
                    </a:ext>
                  </a:extLst>
                </a:gridCol>
                <a:gridCol w="557166">
                  <a:extLst>
                    <a:ext uri="{9D8B030D-6E8A-4147-A177-3AD203B41FA5}">
                      <a16:colId xmlns:a16="http://schemas.microsoft.com/office/drawing/2014/main" val="2681662511"/>
                    </a:ext>
                  </a:extLst>
                </a:gridCol>
                <a:gridCol w="557166">
                  <a:extLst>
                    <a:ext uri="{9D8B030D-6E8A-4147-A177-3AD203B41FA5}">
                      <a16:colId xmlns:a16="http://schemas.microsoft.com/office/drawing/2014/main" val="4204260062"/>
                    </a:ext>
                  </a:extLst>
                </a:gridCol>
                <a:gridCol w="557166">
                  <a:extLst>
                    <a:ext uri="{9D8B030D-6E8A-4147-A177-3AD203B41FA5}">
                      <a16:colId xmlns:a16="http://schemas.microsoft.com/office/drawing/2014/main" val="3318160584"/>
                    </a:ext>
                  </a:extLst>
                </a:gridCol>
                <a:gridCol w="557166">
                  <a:extLst>
                    <a:ext uri="{9D8B030D-6E8A-4147-A177-3AD203B41FA5}">
                      <a16:colId xmlns:a16="http://schemas.microsoft.com/office/drawing/2014/main" val="2431958249"/>
                    </a:ext>
                  </a:extLst>
                </a:gridCol>
                <a:gridCol w="557166">
                  <a:extLst>
                    <a:ext uri="{9D8B030D-6E8A-4147-A177-3AD203B41FA5}">
                      <a16:colId xmlns:a16="http://schemas.microsoft.com/office/drawing/2014/main" val="321776371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662855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81CF2EA-CC61-49AA-871F-5F24F9E9E3C4}"/>
              </a:ext>
            </a:extLst>
          </p:cNvPr>
          <p:cNvSpPr txBox="1"/>
          <p:nvPr/>
        </p:nvSpPr>
        <p:spPr>
          <a:xfrm>
            <a:off x="5715000" y="4877436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104</a:t>
            </a:r>
            <a:endParaRPr lang="zh-CN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C9A254-648F-4354-8447-ACF99ABEA271}"/>
              </a:ext>
            </a:extLst>
          </p:cNvPr>
          <p:cNvSpPr txBox="1"/>
          <p:nvPr/>
        </p:nvSpPr>
        <p:spPr>
          <a:xfrm>
            <a:off x="6286500" y="4877436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105</a:t>
            </a:r>
            <a:endParaRPr lang="zh-CN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68EE06-C291-48A8-A02D-82305DF2F2AF}"/>
              </a:ext>
            </a:extLst>
          </p:cNvPr>
          <p:cNvSpPr txBox="1"/>
          <p:nvPr/>
        </p:nvSpPr>
        <p:spPr>
          <a:xfrm>
            <a:off x="6832600" y="4877436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106</a:t>
            </a:r>
            <a:endParaRPr lang="zh-CN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59045A-3272-42AA-81AF-20B949013BD8}"/>
              </a:ext>
            </a:extLst>
          </p:cNvPr>
          <p:cNvSpPr txBox="1"/>
          <p:nvPr/>
        </p:nvSpPr>
        <p:spPr>
          <a:xfrm>
            <a:off x="7365628" y="4877436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107</a:t>
            </a:r>
            <a:endParaRPr lang="zh-CN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B04BB9-69D7-420F-AC10-263A658BF756}"/>
              </a:ext>
            </a:extLst>
          </p:cNvPr>
          <p:cNvSpPr txBox="1"/>
          <p:nvPr/>
        </p:nvSpPr>
        <p:spPr>
          <a:xfrm>
            <a:off x="4597030" y="4898391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BA1501-4DAE-4150-BD9B-20FBF68759AB}"/>
              </a:ext>
            </a:extLst>
          </p:cNvPr>
          <p:cNvSpPr txBox="1"/>
          <p:nvPr/>
        </p:nvSpPr>
        <p:spPr>
          <a:xfrm>
            <a:off x="4038600" y="4876800"/>
            <a:ext cx="57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748A39-3774-495B-B9D2-48C936D8D67C}"/>
              </a:ext>
            </a:extLst>
          </p:cNvPr>
          <p:cNvSpPr txBox="1"/>
          <p:nvPr/>
        </p:nvSpPr>
        <p:spPr>
          <a:xfrm>
            <a:off x="5194302" y="4876800"/>
            <a:ext cx="57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8B498E-71F9-4F22-A56D-0089ECFEEFFD}"/>
              </a:ext>
            </a:extLst>
          </p:cNvPr>
          <p:cNvSpPr txBox="1"/>
          <p:nvPr/>
        </p:nvSpPr>
        <p:spPr>
          <a:xfrm>
            <a:off x="7962900" y="4898391"/>
            <a:ext cx="57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2149BA7-6A6E-46F1-B281-19199196458E}"/>
              </a:ext>
            </a:extLst>
          </p:cNvPr>
          <p:cNvCxnSpPr>
            <a:cxnSpLocks/>
          </p:cNvCxnSpPr>
          <p:nvPr/>
        </p:nvCxnSpPr>
        <p:spPr bwMode="auto">
          <a:xfrm flipH="1">
            <a:off x="1122363" y="2355770"/>
            <a:ext cx="3144837" cy="122563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21B8A07-0D50-46D6-8FC9-40EE90F563E3}"/>
              </a:ext>
            </a:extLst>
          </p:cNvPr>
          <p:cNvCxnSpPr>
            <a:cxnSpLocks/>
          </p:cNvCxnSpPr>
          <p:nvPr/>
        </p:nvCxnSpPr>
        <p:spPr bwMode="auto">
          <a:xfrm>
            <a:off x="2438400" y="3657600"/>
            <a:ext cx="4000872" cy="57530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E3FFEE1-F9D3-48C7-89CA-29AA853C4120}"/>
              </a:ext>
            </a:extLst>
          </p:cNvPr>
          <p:cNvSpPr txBox="1"/>
          <p:nvPr/>
        </p:nvSpPr>
        <p:spPr>
          <a:xfrm>
            <a:off x="5715000" y="4267200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B12A23-0216-46F7-9CF6-48B8F2E0B61B}"/>
              </a:ext>
            </a:extLst>
          </p:cNvPr>
          <p:cNvSpPr txBox="1"/>
          <p:nvPr/>
        </p:nvSpPr>
        <p:spPr>
          <a:xfrm>
            <a:off x="6286500" y="4251048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7663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Convert the Input  </a:t>
            </a:r>
            <a:r>
              <a:rPr lang="zh-CN" altLang="en-US" dirty="0">
                <a:ea typeface="ＭＳ Ｐゴシック" panose="020B0600070205080204" pitchFamily="34" charset="-128"/>
              </a:rPr>
              <a:t>变换输入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4. When Nearest Neighbor Does Not Work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 </a:t>
            </a:r>
            <a:r>
              <a:rPr lang="en-US" altLang="zh-CN" dirty="0"/>
              <a:t>4. </a:t>
            </a:r>
            <a:r>
              <a:rPr lang="zh-CN" altLang="en-US" dirty="0"/>
              <a:t>最近邻无效之时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25F7E3-6188-440D-90A4-AABA9FFD5CA9}"/>
              </a:ext>
            </a:extLst>
          </p:cNvPr>
          <p:cNvSpPr txBox="1"/>
          <p:nvPr/>
        </p:nvSpPr>
        <p:spPr>
          <a:xfrm>
            <a:off x="0" y="1802548"/>
            <a:ext cx="270473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b="1" dirty="0"/>
              <a:t>Dictionary</a:t>
            </a:r>
          </a:p>
          <a:p>
            <a:pPr algn="ctr"/>
            <a:r>
              <a:rPr lang="en-US" altLang="zh-CN" sz="2200" dirty="0"/>
              <a:t>…</a:t>
            </a:r>
          </a:p>
          <a:p>
            <a:pPr algn="ctr"/>
            <a:r>
              <a:rPr lang="en-US" altLang="zh-CN" sz="2200" dirty="0"/>
              <a:t>,/,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en-US" altLang="zh-CN" sz="2200" dirty="0"/>
              <a:t> 8</a:t>
            </a:r>
          </a:p>
          <a:p>
            <a:pPr algn="ctr"/>
            <a:r>
              <a:rPr lang="en-US" altLang="zh-CN" sz="2200" dirty="0"/>
              <a:t>…</a:t>
            </a:r>
          </a:p>
          <a:p>
            <a:pPr algn="ctr"/>
            <a:r>
              <a:rPr lang="en-US" altLang="zh-CN" sz="2200" dirty="0"/>
              <a:t>last/JJ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en-US" altLang="zh-CN" sz="2200" dirty="0"/>
              <a:t> 104,</a:t>
            </a:r>
            <a:r>
              <a:rPr lang="zh-CN" altLang="en-US" sz="2200" dirty="0"/>
              <a:t> </a:t>
            </a:r>
            <a:endParaRPr lang="en-US" altLang="zh-CN" sz="2200" dirty="0"/>
          </a:p>
          <a:p>
            <a:pPr algn="ctr"/>
            <a:r>
              <a:rPr lang="en-US" altLang="zh-CN" sz="2200" dirty="0"/>
              <a:t>month/NN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en-US" altLang="zh-CN" sz="2200" dirty="0"/>
              <a:t> 105, </a:t>
            </a:r>
          </a:p>
          <a:p>
            <a:pPr algn="ctr"/>
            <a:r>
              <a:rPr lang="en-US" altLang="zh-CN" sz="2200" dirty="0"/>
              <a:t>judge/NP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en-US" altLang="zh-CN" sz="2200" dirty="0"/>
              <a:t> 106,</a:t>
            </a:r>
          </a:p>
          <a:p>
            <a:pPr algn="ctr"/>
            <a:r>
              <a:rPr lang="en-US" altLang="zh-CN" sz="2200" dirty="0"/>
              <a:t>curry/NP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en-US" altLang="zh-CN" sz="2200" dirty="0"/>
              <a:t> 107,</a:t>
            </a:r>
          </a:p>
          <a:p>
            <a:pPr algn="ctr"/>
            <a:r>
              <a:rPr lang="en-US" altLang="zh-CN" sz="2200" dirty="0"/>
              <a:t>…</a:t>
            </a:r>
          </a:p>
          <a:p>
            <a:pPr algn="ctr"/>
            <a:r>
              <a:rPr lang="en-US" altLang="zh-CN" sz="2200" dirty="0"/>
              <a:t>cent/NN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 →</a:t>
            </a:r>
            <a:r>
              <a:rPr lang="en-US" altLang="zh-CN" sz="2200" dirty="0"/>
              <a:t> 9019</a:t>
            </a:r>
            <a:endParaRPr lang="zh-CN" altLang="en-US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23D727-2455-4C31-991C-6A7DE0FFC49D}"/>
              </a:ext>
            </a:extLst>
          </p:cNvPr>
          <p:cNvSpPr txBox="1"/>
          <p:nvPr/>
        </p:nvSpPr>
        <p:spPr>
          <a:xfrm>
            <a:off x="2438400" y="1924883"/>
            <a:ext cx="6324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last/JJ month/NN ,/, judge/NP curry/NP … </a:t>
            </a:r>
            <a:endParaRPr lang="zh-CN" altLang="en-US" sz="2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A0A3C5-83BD-4B4B-B273-9564E1BDFDA6}"/>
              </a:ext>
            </a:extLst>
          </p:cNvPr>
          <p:cNvSpPr txBox="1"/>
          <p:nvPr/>
        </p:nvSpPr>
        <p:spPr>
          <a:xfrm>
            <a:off x="2971800" y="4772263"/>
            <a:ext cx="10925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Index</a:t>
            </a:r>
          </a:p>
          <a:p>
            <a:pPr algn="ctr"/>
            <a:r>
              <a:rPr lang="zh-CN" altLang="en-US" sz="2200" dirty="0"/>
              <a:t>下标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FCD0B53-1B05-4146-9F01-1F8ED1AD0745}"/>
              </a:ext>
            </a:extLst>
          </p:cNvPr>
          <p:cNvGraphicFramePr>
            <a:graphicFrameLocks noGrp="1"/>
          </p:cNvGraphicFramePr>
          <p:nvPr/>
        </p:nvGraphicFramePr>
        <p:xfrm>
          <a:off x="4064372" y="4114800"/>
          <a:ext cx="4457328" cy="60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7166">
                  <a:extLst>
                    <a:ext uri="{9D8B030D-6E8A-4147-A177-3AD203B41FA5}">
                      <a16:colId xmlns:a16="http://schemas.microsoft.com/office/drawing/2014/main" val="2884683681"/>
                    </a:ext>
                  </a:extLst>
                </a:gridCol>
                <a:gridCol w="557166">
                  <a:extLst>
                    <a:ext uri="{9D8B030D-6E8A-4147-A177-3AD203B41FA5}">
                      <a16:colId xmlns:a16="http://schemas.microsoft.com/office/drawing/2014/main" val="3657632391"/>
                    </a:ext>
                  </a:extLst>
                </a:gridCol>
                <a:gridCol w="557166">
                  <a:extLst>
                    <a:ext uri="{9D8B030D-6E8A-4147-A177-3AD203B41FA5}">
                      <a16:colId xmlns:a16="http://schemas.microsoft.com/office/drawing/2014/main" val="7069473"/>
                    </a:ext>
                  </a:extLst>
                </a:gridCol>
                <a:gridCol w="557166">
                  <a:extLst>
                    <a:ext uri="{9D8B030D-6E8A-4147-A177-3AD203B41FA5}">
                      <a16:colId xmlns:a16="http://schemas.microsoft.com/office/drawing/2014/main" val="2681662511"/>
                    </a:ext>
                  </a:extLst>
                </a:gridCol>
                <a:gridCol w="557166">
                  <a:extLst>
                    <a:ext uri="{9D8B030D-6E8A-4147-A177-3AD203B41FA5}">
                      <a16:colId xmlns:a16="http://schemas.microsoft.com/office/drawing/2014/main" val="4204260062"/>
                    </a:ext>
                  </a:extLst>
                </a:gridCol>
                <a:gridCol w="557166">
                  <a:extLst>
                    <a:ext uri="{9D8B030D-6E8A-4147-A177-3AD203B41FA5}">
                      <a16:colId xmlns:a16="http://schemas.microsoft.com/office/drawing/2014/main" val="3318160584"/>
                    </a:ext>
                  </a:extLst>
                </a:gridCol>
                <a:gridCol w="557166">
                  <a:extLst>
                    <a:ext uri="{9D8B030D-6E8A-4147-A177-3AD203B41FA5}">
                      <a16:colId xmlns:a16="http://schemas.microsoft.com/office/drawing/2014/main" val="2431958249"/>
                    </a:ext>
                  </a:extLst>
                </a:gridCol>
                <a:gridCol w="557166">
                  <a:extLst>
                    <a:ext uri="{9D8B030D-6E8A-4147-A177-3AD203B41FA5}">
                      <a16:colId xmlns:a16="http://schemas.microsoft.com/office/drawing/2014/main" val="321776371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662855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81CF2EA-CC61-49AA-871F-5F24F9E9E3C4}"/>
              </a:ext>
            </a:extLst>
          </p:cNvPr>
          <p:cNvSpPr txBox="1"/>
          <p:nvPr/>
        </p:nvSpPr>
        <p:spPr>
          <a:xfrm>
            <a:off x="5715000" y="4877436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104</a:t>
            </a:r>
            <a:endParaRPr lang="zh-CN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C9A254-648F-4354-8447-ACF99ABEA271}"/>
              </a:ext>
            </a:extLst>
          </p:cNvPr>
          <p:cNvSpPr txBox="1"/>
          <p:nvPr/>
        </p:nvSpPr>
        <p:spPr>
          <a:xfrm>
            <a:off x="6286500" y="4877436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105</a:t>
            </a:r>
            <a:endParaRPr lang="zh-CN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68EE06-C291-48A8-A02D-82305DF2F2AF}"/>
              </a:ext>
            </a:extLst>
          </p:cNvPr>
          <p:cNvSpPr txBox="1"/>
          <p:nvPr/>
        </p:nvSpPr>
        <p:spPr>
          <a:xfrm>
            <a:off x="6832600" y="4877436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106</a:t>
            </a:r>
            <a:endParaRPr lang="zh-CN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59045A-3272-42AA-81AF-20B949013BD8}"/>
              </a:ext>
            </a:extLst>
          </p:cNvPr>
          <p:cNvSpPr txBox="1"/>
          <p:nvPr/>
        </p:nvSpPr>
        <p:spPr>
          <a:xfrm>
            <a:off x="7365628" y="4877436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107</a:t>
            </a:r>
            <a:endParaRPr lang="zh-CN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B04BB9-69D7-420F-AC10-263A658BF756}"/>
              </a:ext>
            </a:extLst>
          </p:cNvPr>
          <p:cNvSpPr txBox="1"/>
          <p:nvPr/>
        </p:nvSpPr>
        <p:spPr>
          <a:xfrm>
            <a:off x="4597030" y="4898391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BA1501-4DAE-4150-BD9B-20FBF68759AB}"/>
              </a:ext>
            </a:extLst>
          </p:cNvPr>
          <p:cNvSpPr txBox="1"/>
          <p:nvPr/>
        </p:nvSpPr>
        <p:spPr>
          <a:xfrm>
            <a:off x="4038600" y="4876800"/>
            <a:ext cx="57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748A39-3774-495B-B9D2-48C936D8D67C}"/>
              </a:ext>
            </a:extLst>
          </p:cNvPr>
          <p:cNvSpPr txBox="1"/>
          <p:nvPr/>
        </p:nvSpPr>
        <p:spPr>
          <a:xfrm>
            <a:off x="5194302" y="4876800"/>
            <a:ext cx="57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8B498E-71F9-4F22-A56D-0089ECFEEFFD}"/>
              </a:ext>
            </a:extLst>
          </p:cNvPr>
          <p:cNvSpPr txBox="1"/>
          <p:nvPr/>
        </p:nvSpPr>
        <p:spPr>
          <a:xfrm>
            <a:off x="7962900" y="4898391"/>
            <a:ext cx="57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2149BA7-6A6E-46F1-B281-19199196458E}"/>
              </a:ext>
            </a:extLst>
          </p:cNvPr>
          <p:cNvCxnSpPr>
            <a:cxnSpLocks/>
          </p:cNvCxnSpPr>
          <p:nvPr/>
        </p:nvCxnSpPr>
        <p:spPr bwMode="auto">
          <a:xfrm flipH="1">
            <a:off x="1122363" y="2312074"/>
            <a:ext cx="4357689" cy="2176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21B8A07-0D50-46D6-8FC9-40EE90F563E3}"/>
              </a:ext>
            </a:extLst>
          </p:cNvPr>
          <p:cNvCxnSpPr>
            <a:cxnSpLocks/>
          </p:cNvCxnSpPr>
          <p:nvPr/>
        </p:nvCxnSpPr>
        <p:spPr bwMode="auto">
          <a:xfrm>
            <a:off x="1905000" y="2722581"/>
            <a:ext cx="2952380" cy="150370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E3FFEE1-F9D3-48C7-89CA-29AA853C4120}"/>
              </a:ext>
            </a:extLst>
          </p:cNvPr>
          <p:cNvSpPr txBox="1"/>
          <p:nvPr/>
        </p:nvSpPr>
        <p:spPr>
          <a:xfrm>
            <a:off x="5715000" y="4267200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B12A23-0216-46F7-9CF6-48B8F2E0B61B}"/>
              </a:ext>
            </a:extLst>
          </p:cNvPr>
          <p:cNvSpPr txBox="1"/>
          <p:nvPr/>
        </p:nvSpPr>
        <p:spPr>
          <a:xfrm>
            <a:off x="6286500" y="4251048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9823A3-A3DE-47CB-84D1-B8F800912298}"/>
              </a:ext>
            </a:extLst>
          </p:cNvPr>
          <p:cNvSpPr txBox="1"/>
          <p:nvPr/>
        </p:nvSpPr>
        <p:spPr>
          <a:xfrm>
            <a:off x="4571630" y="4267200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3847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Convert the Input  </a:t>
            </a:r>
            <a:r>
              <a:rPr lang="zh-CN" altLang="en-US" dirty="0">
                <a:ea typeface="ＭＳ Ｐゴシック" panose="020B0600070205080204" pitchFamily="34" charset="-128"/>
              </a:rPr>
              <a:t>变换输入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4. When Nearest Neighbor Does Not Work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 </a:t>
            </a:r>
            <a:r>
              <a:rPr lang="en-US" altLang="zh-CN" dirty="0"/>
              <a:t>4. </a:t>
            </a:r>
            <a:r>
              <a:rPr lang="zh-CN" altLang="en-US" dirty="0"/>
              <a:t>最近邻无效之时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25F7E3-6188-440D-90A4-AABA9FFD5CA9}"/>
              </a:ext>
            </a:extLst>
          </p:cNvPr>
          <p:cNvSpPr txBox="1"/>
          <p:nvPr/>
        </p:nvSpPr>
        <p:spPr>
          <a:xfrm>
            <a:off x="0" y="1802548"/>
            <a:ext cx="270473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b="1" dirty="0"/>
              <a:t>Dictionary</a:t>
            </a:r>
          </a:p>
          <a:p>
            <a:pPr algn="ctr"/>
            <a:r>
              <a:rPr lang="en-US" altLang="zh-CN" sz="2200" dirty="0"/>
              <a:t>…</a:t>
            </a:r>
          </a:p>
          <a:p>
            <a:pPr algn="ctr"/>
            <a:r>
              <a:rPr lang="en-US" altLang="zh-CN" sz="2200" dirty="0"/>
              <a:t>,/,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en-US" altLang="zh-CN" sz="2200" dirty="0"/>
              <a:t> 8</a:t>
            </a:r>
          </a:p>
          <a:p>
            <a:pPr algn="ctr"/>
            <a:r>
              <a:rPr lang="en-US" altLang="zh-CN" sz="2200" dirty="0"/>
              <a:t>…</a:t>
            </a:r>
          </a:p>
          <a:p>
            <a:pPr algn="ctr"/>
            <a:r>
              <a:rPr lang="en-US" altLang="zh-CN" sz="2200" dirty="0"/>
              <a:t>last/JJ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en-US" altLang="zh-CN" sz="2200" dirty="0"/>
              <a:t> 104,</a:t>
            </a:r>
            <a:r>
              <a:rPr lang="zh-CN" altLang="en-US" sz="2200" dirty="0"/>
              <a:t> </a:t>
            </a:r>
            <a:endParaRPr lang="en-US" altLang="zh-CN" sz="2200" dirty="0"/>
          </a:p>
          <a:p>
            <a:pPr algn="ctr"/>
            <a:r>
              <a:rPr lang="en-US" altLang="zh-CN" sz="2200" dirty="0"/>
              <a:t>month/NN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en-US" altLang="zh-CN" sz="2200" dirty="0"/>
              <a:t> 105, </a:t>
            </a:r>
          </a:p>
          <a:p>
            <a:pPr algn="ctr"/>
            <a:r>
              <a:rPr lang="en-US" altLang="zh-CN" sz="2200" dirty="0"/>
              <a:t>judge/NP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en-US" altLang="zh-CN" sz="2200" dirty="0"/>
              <a:t> 106,</a:t>
            </a:r>
          </a:p>
          <a:p>
            <a:pPr algn="ctr"/>
            <a:r>
              <a:rPr lang="en-US" altLang="zh-CN" sz="2200" dirty="0"/>
              <a:t>curry/NP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en-US" altLang="zh-CN" sz="2200" dirty="0"/>
              <a:t> 107,</a:t>
            </a:r>
          </a:p>
          <a:p>
            <a:pPr algn="ctr"/>
            <a:r>
              <a:rPr lang="en-US" altLang="zh-CN" sz="2200" dirty="0"/>
              <a:t>…</a:t>
            </a:r>
          </a:p>
          <a:p>
            <a:pPr algn="ctr"/>
            <a:r>
              <a:rPr lang="en-US" altLang="zh-CN" sz="2200" dirty="0"/>
              <a:t>cent/NN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 →</a:t>
            </a:r>
            <a:r>
              <a:rPr lang="en-US" altLang="zh-CN" sz="2200" dirty="0"/>
              <a:t> 9019</a:t>
            </a:r>
            <a:endParaRPr lang="zh-CN" altLang="en-US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23D727-2455-4C31-991C-6A7DE0FFC49D}"/>
              </a:ext>
            </a:extLst>
          </p:cNvPr>
          <p:cNvSpPr txBox="1"/>
          <p:nvPr/>
        </p:nvSpPr>
        <p:spPr>
          <a:xfrm>
            <a:off x="2438400" y="1924883"/>
            <a:ext cx="6324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last/JJ month/NN ,/, judge/NP curry/NP … </a:t>
            </a:r>
            <a:endParaRPr lang="zh-CN" altLang="en-US" sz="2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A0A3C5-83BD-4B4B-B273-9564E1BDFDA6}"/>
              </a:ext>
            </a:extLst>
          </p:cNvPr>
          <p:cNvSpPr txBox="1"/>
          <p:nvPr/>
        </p:nvSpPr>
        <p:spPr>
          <a:xfrm>
            <a:off x="2971800" y="4772263"/>
            <a:ext cx="10925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Index</a:t>
            </a:r>
          </a:p>
          <a:p>
            <a:pPr algn="ctr"/>
            <a:r>
              <a:rPr lang="zh-CN" altLang="en-US" sz="2200" dirty="0"/>
              <a:t>下标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FCD0B53-1B05-4146-9F01-1F8ED1AD0745}"/>
              </a:ext>
            </a:extLst>
          </p:cNvPr>
          <p:cNvGraphicFramePr>
            <a:graphicFrameLocks noGrp="1"/>
          </p:cNvGraphicFramePr>
          <p:nvPr/>
        </p:nvGraphicFramePr>
        <p:xfrm>
          <a:off x="4064372" y="4114800"/>
          <a:ext cx="4457328" cy="60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7166">
                  <a:extLst>
                    <a:ext uri="{9D8B030D-6E8A-4147-A177-3AD203B41FA5}">
                      <a16:colId xmlns:a16="http://schemas.microsoft.com/office/drawing/2014/main" val="2884683681"/>
                    </a:ext>
                  </a:extLst>
                </a:gridCol>
                <a:gridCol w="557166">
                  <a:extLst>
                    <a:ext uri="{9D8B030D-6E8A-4147-A177-3AD203B41FA5}">
                      <a16:colId xmlns:a16="http://schemas.microsoft.com/office/drawing/2014/main" val="3657632391"/>
                    </a:ext>
                  </a:extLst>
                </a:gridCol>
                <a:gridCol w="557166">
                  <a:extLst>
                    <a:ext uri="{9D8B030D-6E8A-4147-A177-3AD203B41FA5}">
                      <a16:colId xmlns:a16="http://schemas.microsoft.com/office/drawing/2014/main" val="7069473"/>
                    </a:ext>
                  </a:extLst>
                </a:gridCol>
                <a:gridCol w="557166">
                  <a:extLst>
                    <a:ext uri="{9D8B030D-6E8A-4147-A177-3AD203B41FA5}">
                      <a16:colId xmlns:a16="http://schemas.microsoft.com/office/drawing/2014/main" val="2681662511"/>
                    </a:ext>
                  </a:extLst>
                </a:gridCol>
                <a:gridCol w="557166">
                  <a:extLst>
                    <a:ext uri="{9D8B030D-6E8A-4147-A177-3AD203B41FA5}">
                      <a16:colId xmlns:a16="http://schemas.microsoft.com/office/drawing/2014/main" val="4204260062"/>
                    </a:ext>
                  </a:extLst>
                </a:gridCol>
                <a:gridCol w="557166">
                  <a:extLst>
                    <a:ext uri="{9D8B030D-6E8A-4147-A177-3AD203B41FA5}">
                      <a16:colId xmlns:a16="http://schemas.microsoft.com/office/drawing/2014/main" val="3318160584"/>
                    </a:ext>
                  </a:extLst>
                </a:gridCol>
                <a:gridCol w="557166">
                  <a:extLst>
                    <a:ext uri="{9D8B030D-6E8A-4147-A177-3AD203B41FA5}">
                      <a16:colId xmlns:a16="http://schemas.microsoft.com/office/drawing/2014/main" val="2431958249"/>
                    </a:ext>
                  </a:extLst>
                </a:gridCol>
                <a:gridCol w="557166">
                  <a:extLst>
                    <a:ext uri="{9D8B030D-6E8A-4147-A177-3AD203B41FA5}">
                      <a16:colId xmlns:a16="http://schemas.microsoft.com/office/drawing/2014/main" val="321776371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662855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81CF2EA-CC61-49AA-871F-5F24F9E9E3C4}"/>
              </a:ext>
            </a:extLst>
          </p:cNvPr>
          <p:cNvSpPr txBox="1"/>
          <p:nvPr/>
        </p:nvSpPr>
        <p:spPr>
          <a:xfrm>
            <a:off x="5715000" y="4877436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104</a:t>
            </a:r>
            <a:endParaRPr lang="zh-CN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C9A254-648F-4354-8447-ACF99ABEA271}"/>
              </a:ext>
            </a:extLst>
          </p:cNvPr>
          <p:cNvSpPr txBox="1"/>
          <p:nvPr/>
        </p:nvSpPr>
        <p:spPr>
          <a:xfrm>
            <a:off x="6286500" y="4877436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105</a:t>
            </a:r>
            <a:endParaRPr lang="zh-CN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68EE06-C291-48A8-A02D-82305DF2F2AF}"/>
              </a:ext>
            </a:extLst>
          </p:cNvPr>
          <p:cNvSpPr txBox="1"/>
          <p:nvPr/>
        </p:nvSpPr>
        <p:spPr>
          <a:xfrm>
            <a:off x="6832600" y="4877436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106</a:t>
            </a:r>
            <a:endParaRPr lang="zh-CN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59045A-3272-42AA-81AF-20B949013BD8}"/>
              </a:ext>
            </a:extLst>
          </p:cNvPr>
          <p:cNvSpPr txBox="1"/>
          <p:nvPr/>
        </p:nvSpPr>
        <p:spPr>
          <a:xfrm>
            <a:off x="7365628" y="4877436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107</a:t>
            </a:r>
            <a:endParaRPr lang="zh-CN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B04BB9-69D7-420F-AC10-263A658BF756}"/>
              </a:ext>
            </a:extLst>
          </p:cNvPr>
          <p:cNvSpPr txBox="1"/>
          <p:nvPr/>
        </p:nvSpPr>
        <p:spPr>
          <a:xfrm>
            <a:off x="4597030" y="4898391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BA1501-4DAE-4150-BD9B-20FBF68759AB}"/>
              </a:ext>
            </a:extLst>
          </p:cNvPr>
          <p:cNvSpPr txBox="1"/>
          <p:nvPr/>
        </p:nvSpPr>
        <p:spPr>
          <a:xfrm>
            <a:off x="4038600" y="4876800"/>
            <a:ext cx="57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748A39-3774-495B-B9D2-48C936D8D67C}"/>
              </a:ext>
            </a:extLst>
          </p:cNvPr>
          <p:cNvSpPr txBox="1"/>
          <p:nvPr/>
        </p:nvSpPr>
        <p:spPr>
          <a:xfrm>
            <a:off x="5194302" y="4876800"/>
            <a:ext cx="57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8B498E-71F9-4F22-A56D-0089ECFEEFFD}"/>
              </a:ext>
            </a:extLst>
          </p:cNvPr>
          <p:cNvSpPr txBox="1"/>
          <p:nvPr/>
        </p:nvSpPr>
        <p:spPr>
          <a:xfrm>
            <a:off x="7962900" y="4898391"/>
            <a:ext cx="57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2149BA7-6A6E-46F1-B281-19199196458E}"/>
              </a:ext>
            </a:extLst>
          </p:cNvPr>
          <p:cNvCxnSpPr>
            <a:cxnSpLocks/>
          </p:cNvCxnSpPr>
          <p:nvPr/>
        </p:nvCxnSpPr>
        <p:spPr bwMode="auto">
          <a:xfrm flipH="1">
            <a:off x="990600" y="2355770"/>
            <a:ext cx="5029200" cy="160663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21B8A07-0D50-46D6-8FC9-40EE90F563E3}"/>
              </a:ext>
            </a:extLst>
          </p:cNvPr>
          <p:cNvCxnSpPr>
            <a:cxnSpLocks/>
          </p:cNvCxnSpPr>
          <p:nvPr/>
        </p:nvCxnSpPr>
        <p:spPr bwMode="auto">
          <a:xfrm>
            <a:off x="2438400" y="3962400"/>
            <a:ext cx="4679950" cy="25693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E3FFEE1-F9D3-48C7-89CA-29AA853C4120}"/>
              </a:ext>
            </a:extLst>
          </p:cNvPr>
          <p:cNvSpPr txBox="1"/>
          <p:nvPr/>
        </p:nvSpPr>
        <p:spPr>
          <a:xfrm>
            <a:off x="5715000" y="4267200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B12A23-0216-46F7-9CF6-48B8F2E0B61B}"/>
              </a:ext>
            </a:extLst>
          </p:cNvPr>
          <p:cNvSpPr txBox="1"/>
          <p:nvPr/>
        </p:nvSpPr>
        <p:spPr>
          <a:xfrm>
            <a:off x="6286500" y="4251048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9823A3-A3DE-47CB-84D1-B8F800912298}"/>
              </a:ext>
            </a:extLst>
          </p:cNvPr>
          <p:cNvSpPr txBox="1"/>
          <p:nvPr/>
        </p:nvSpPr>
        <p:spPr>
          <a:xfrm>
            <a:off x="4571630" y="4267200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61B760-1913-48D4-B155-08A70F204B7B}"/>
              </a:ext>
            </a:extLst>
          </p:cNvPr>
          <p:cNvSpPr txBox="1"/>
          <p:nvPr/>
        </p:nvSpPr>
        <p:spPr>
          <a:xfrm>
            <a:off x="6858000" y="4251048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63297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Convert the Input  </a:t>
            </a:r>
            <a:r>
              <a:rPr lang="zh-CN" altLang="en-US" dirty="0">
                <a:ea typeface="ＭＳ Ｐゴシック" panose="020B0600070205080204" pitchFamily="34" charset="-128"/>
              </a:rPr>
              <a:t>变换输入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4. When Nearest Neighbor Does Not Work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 </a:t>
            </a:r>
            <a:r>
              <a:rPr lang="en-US" altLang="zh-CN" dirty="0"/>
              <a:t>4. </a:t>
            </a:r>
            <a:r>
              <a:rPr lang="zh-CN" altLang="en-US" dirty="0"/>
              <a:t>最近邻无效之时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25F7E3-6188-440D-90A4-AABA9FFD5CA9}"/>
              </a:ext>
            </a:extLst>
          </p:cNvPr>
          <p:cNvSpPr txBox="1"/>
          <p:nvPr/>
        </p:nvSpPr>
        <p:spPr>
          <a:xfrm>
            <a:off x="0" y="1802548"/>
            <a:ext cx="270473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b="1" dirty="0"/>
              <a:t>Dictionary</a:t>
            </a:r>
          </a:p>
          <a:p>
            <a:pPr algn="ctr"/>
            <a:r>
              <a:rPr lang="en-US" altLang="zh-CN" sz="2200" dirty="0"/>
              <a:t>…</a:t>
            </a:r>
          </a:p>
          <a:p>
            <a:pPr algn="ctr"/>
            <a:r>
              <a:rPr lang="en-US" altLang="zh-CN" sz="2200" dirty="0"/>
              <a:t>,/,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en-US" altLang="zh-CN" sz="2200" dirty="0"/>
              <a:t> 8</a:t>
            </a:r>
          </a:p>
          <a:p>
            <a:pPr algn="ctr"/>
            <a:r>
              <a:rPr lang="en-US" altLang="zh-CN" sz="2200" dirty="0"/>
              <a:t>…</a:t>
            </a:r>
          </a:p>
          <a:p>
            <a:pPr algn="ctr"/>
            <a:r>
              <a:rPr lang="en-US" altLang="zh-CN" sz="2200" dirty="0"/>
              <a:t>last/JJ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en-US" altLang="zh-CN" sz="2200" dirty="0"/>
              <a:t> 104,</a:t>
            </a:r>
            <a:r>
              <a:rPr lang="zh-CN" altLang="en-US" sz="2200" dirty="0"/>
              <a:t> </a:t>
            </a:r>
            <a:endParaRPr lang="en-US" altLang="zh-CN" sz="2200" dirty="0"/>
          </a:p>
          <a:p>
            <a:pPr algn="ctr"/>
            <a:r>
              <a:rPr lang="en-US" altLang="zh-CN" sz="2200" dirty="0"/>
              <a:t>month/NN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en-US" altLang="zh-CN" sz="2200" dirty="0"/>
              <a:t> 105, </a:t>
            </a:r>
          </a:p>
          <a:p>
            <a:pPr algn="ctr"/>
            <a:r>
              <a:rPr lang="en-US" altLang="zh-CN" sz="2200" dirty="0"/>
              <a:t>judge/NP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en-US" altLang="zh-CN" sz="2200" dirty="0"/>
              <a:t> 106,</a:t>
            </a:r>
          </a:p>
          <a:p>
            <a:pPr algn="ctr"/>
            <a:r>
              <a:rPr lang="en-US" altLang="zh-CN" sz="2200" dirty="0"/>
              <a:t>curry/NP 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en-US" altLang="zh-CN" sz="2200" dirty="0"/>
              <a:t> 107,</a:t>
            </a:r>
          </a:p>
          <a:p>
            <a:pPr algn="ctr"/>
            <a:r>
              <a:rPr lang="en-US" altLang="zh-CN" sz="2200" dirty="0"/>
              <a:t>…</a:t>
            </a:r>
          </a:p>
          <a:p>
            <a:pPr algn="ctr"/>
            <a:r>
              <a:rPr lang="en-US" altLang="zh-CN" sz="2200" dirty="0"/>
              <a:t>cent/NN</a:t>
            </a:r>
            <a:r>
              <a:rPr lang="en-US" altLang="zh-CN" sz="2200" dirty="0">
                <a:latin typeface="等线" panose="02010600030101010101" pitchFamily="2" charset="-122"/>
                <a:ea typeface="等线" panose="02010600030101010101" pitchFamily="2" charset="-122"/>
              </a:rPr>
              <a:t> →</a:t>
            </a:r>
            <a:r>
              <a:rPr lang="en-US" altLang="zh-CN" sz="2200" dirty="0"/>
              <a:t> 9019</a:t>
            </a:r>
            <a:endParaRPr lang="zh-CN" altLang="en-US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23D727-2455-4C31-991C-6A7DE0FFC49D}"/>
              </a:ext>
            </a:extLst>
          </p:cNvPr>
          <p:cNvSpPr txBox="1"/>
          <p:nvPr/>
        </p:nvSpPr>
        <p:spPr>
          <a:xfrm>
            <a:off x="2438400" y="1924883"/>
            <a:ext cx="6324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last/JJ month/NN ,/, judge/NP curry/NP … </a:t>
            </a:r>
            <a:endParaRPr lang="zh-CN" altLang="en-US" sz="2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A0A3C5-83BD-4B4B-B273-9564E1BDFDA6}"/>
              </a:ext>
            </a:extLst>
          </p:cNvPr>
          <p:cNvSpPr txBox="1"/>
          <p:nvPr/>
        </p:nvSpPr>
        <p:spPr>
          <a:xfrm>
            <a:off x="2971800" y="4772263"/>
            <a:ext cx="10925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Index</a:t>
            </a:r>
          </a:p>
          <a:p>
            <a:pPr algn="ctr"/>
            <a:r>
              <a:rPr lang="zh-CN" altLang="en-US" sz="2200" dirty="0"/>
              <a:t>下标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FCD0B53-1B05-4146-9F01-1F8ED1AD0745}"/>
              </a:ext>
            </a:extLst>
          </p:cNvPr>
          <p:cNvGraphicFramePr>
            <a:graphicFrameLocks noGrp="1"/>
          </p:cNvGraphicFramePr>
          <p:nvPr/>
        </p:nvGraphicFramePr>
        <p:xfrm>
          <a:off x="4064372" y="4114800"/>
          <a:ext cx="4457328" cy="60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7166">
                  <a:extLst>
                    <a:ext uri="{9D8B030D-6E8A-4147-A177-3AD203B41FA5}">
                      <a16:colId xmlns:a16="http://schemas.microsoft.com/office/drawing/2014/main" val="2884683681"/>
                    </a:ext>
                  </a:extLst>
                </a:gridCol>
                <a:gridCol w="557166">
                  <a:extLst>
                    <a:ext uri="{9D8B030D-6E8A-4147-A177-3AD203B41FA5}">
                      <a16:colId xmlns:a16="http://schemas.microsoft.com/office/drawing/2014/main" val="3657632391"/>
                    </a:ext>
                  </a:extLst>
                </a:gridCol>
                <a:gridCol w="557166">
                  <a:extLst>
                    <a:ext uri="{9D8B030D-6E8A-4147-A177-3AD203B41FA5}">
                      <a16:colId xmlns:a16="http://schemas.microsoft.com/office/drawing/2014/main" val="7069473"/>
                    </a:ext>
                  </a:extLst>
                </a:gridCol>
                <a:gridCol w="557166">
                  <a:extLst>
                    <a:ext uri="{9D8B030D-6E8A-4147-A177-3AD203B41FA5}">
                      <a16:colId xmlns:a16="http://schemas.microsoft.com/office/drawing/2014/main" val="2681662511"/>
                    </a:ext>
                  </a:extLst>
                </a:gridCol>
                <a:gridCol w="557166">
                  <a:extLst>
                    <a:ext uri="{9D8B030D-6E8A-4147-A177-3AD203B41FA5}">
                      <a16:colId xmlns:a16="http://schemas.microsoft.com/office/drawing/2014/main" val="4204260062"/>
                    </a:ext>
                  </a:extLst>
                </a:gridCol>
                <a:gridCol w="557166">
                  <a:extLst>
                    <a:ext uri="{9D8B030D-6E8A-4147-A177-3AD203B41FA5}">
                      <a16:colId xmlns:a16="http://schemas.microsoft.com/office/drawing/2014/main" val="3318160584"/>
                    </a:ext>
                  </a:extLst>
                </a:gridCol>
                <a:gridCol w="557166">
                  <a:extLst>
                    <a:ext uri="{9D8B030D-6E8A-4147-A177-3AD203B41FA5}">
                      <a16:colId xmlns:a16="http://schemas.microsoft.com/office/drawing/2014/main" val="2431958249"/>
                    </a:ext>
                  </a:extLst>
                </a:gridCol>
                <a:gridCol w="557166">
                  <a:extLst>
                    <a:ext uri="{9D8B030D-6E8A-4147-A177-3AD203B41FA5}">
                      <a16:colId xmlns:a16="http://schemas.microsoft.com/office/drawing/2014/main" val="3217763711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…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662855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881CF2EA-CC61-49AA-871F-5F24F9E9E3C4}"/>
              </a:ext>
            </a:extLst>
          </p:cNvPr>
          <p:cNvSpPr txBox="1"/>
          <p:nvPr/>
        </p:nvSpPr>
        <p:spPr>
          <a:xfrm>
            <a:off x="5715000" y="4877436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104</a:t>
            </a:r>
            <a:endParaRPr lang="zh-CN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C9A254-648F-4354-8447-ACF99ABEA271}"/>
              </a:ext>
            </a:extLst>
          </p:cNvPr>
          <p:cNvSpPr txBox="1"/>
          <p:nvPr/>
        </p:nvSpPr>
        <p:spPr>
          <a:xfrm>
            <a:off x="6286500" y="4877436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105</a:t>
            </a:r>
            <a:endParaRPr lang="zh-CN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68EE06-C291-48A8-A02D-82305DF2F2AF}"/>
              </a:ext>
            </a:extLst>
          </p:cNvPr>
          <p:cNvSpPr txBox="1"/>
          <p:nvPr/>
        </p:nvSpPr>
        <p:spPr>
          <a:xfrm>
            <a:off x="6832600" y="4877436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106</a:t>
            </a:r>
            <a:endParaRPr lang="zh-CN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59045A-3272-42AA-81AF-20B949013BD8}"/>
              </a:ext>
            </a:extLst>
          </p:cNvPr>
          <p:cNvSpPr txBox="1"/>
          <p:nvPr/>
        </p:nvSpPr>
        <p:spPr>
          <a:xfrm>
            <a:off x="7365628" y="4877436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107</a:t>
            </a:r>
            <a:endParaRPr lang="zh-CN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B04BB9-69D7-420F-AC10-263A658BF756}"/>
              </a:ext>
            </a:extLst>
          </p:cNvPr>
          <p:cNvSpPr txBox="1"/>
          <p:nvPr/>
        </p:nvSpPr>
        <p:spPr>
          <a:xfrm>
            <a:off x="4597030" y="4898391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8</a:t>
            </a:r>
            <a:endParaRPr lang="zh-CN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BA1501-4DAE-4150-BD9B-20FBF68759AB}"/>
              </a:ext>
            </a:extLst>
          </p:cNvPr>
          <p:cNvSpPr txBox="1"/>
          <p:nvPr/>
        </p:nvSpPr>
        <p:spPr>
          <a:xfrm>
            <a:off x="4038600" y="4876800"/>
            <a:ext cx="57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748A39-3774-495B-B9D2-48C936D8D67C}"/>
              </a:ext>
            </a:extLst>
          </p:cNvPr>
          <p:cNvSpPr txBox="1"/>
          <p:nvPr/>
        </p:nvSpPr>
        <p:spPr>
          <a:xfrm>
            <a:off x="5194302" y="4876800"/>
            <a:ext cx="57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8B498E-71F9-4F22-A56D-0089ECFEEFFD}"/>
              </a:ext>
            </a:extLst>
          </p:cNvPr>
          <p:cNvSpPr txBox="1"/>
          <p:nvPr/>
        </p:nvSpPr>
        <p:spPr>
          <a:xfrm>
            <a:off x="7962900" y="4898391"/>
            <a:ext cx="57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2149BA7-6A6E-46F1-B281-19199196458E}"/>
              </a:ext>
            </a:extLst>
          </p:cNvPr>
          <p:cNvCxnSpPr>
            <a:cxnSpLocks/>
          </p:cNvCxnSpPr>
          <p:nvPr/>
        </p:nvCxnSpPr>
        <p:spPr bwMode="auto">
          <a:xfrm flipH="1">
            <a:off x="990600" y="2286000"/>
            <a:ext cx="6438900" cy="19812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21B8A07-0D50-46D6-8FC9-40EE90F563E3}"/>
              </a:ext>
            </a:extLst>
          </p:cNvPr>
          <p:cNvCxnSpPr>
            <a:cxnSpLocks/>
          </p:cNvCxnSpPr>
          <p:nvPr/>
        </p:nvCxnSpPr>
        <p:spPr bwMode="auto">
          <a:xfrm>
            <a:off x="2438400" y="4343400"/>
            <a:ext cx="51054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E3FFEE1-F9D3-48C7-89CA-29AA853C4120}"/>
              </a:ext>
            </a:extLst>
          </p:cNvPr>
          <p:cNvSpPr txBox="1"/>
          <p:nvPr/>
        </p:nvSpPr>
        <p:spPr>
          <a:xfrm>
            <a:off x="5715000" y="4267200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BB12A23-0216-46F7-9CF6-48B8F2E0B61B}"/>
              </a:ext>
            </a:extLst>
          </p:cNvPr>
          <p:cNvSpPr txBox="1"/>
          <p:nvPr/>
        </p:nvSpPr>
        <p:spPr>
          <a:xfrm>
            <a:off x="6286500" y="4251048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9823A3-A3DE-47CB-84D1-B8F800912298}"/>
              </a:ext>
            </a:extLst>
          </p:cNvPr>
          <p:cNvSpPr txBox="1"/>
          <p:nvPr/>
        </p:nvSpPr>
        <p:spPr>
          <a:xfrm>
            <a:off x="4571630" y="4267200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61B760-1913-48D4-B155-08A70F204B7B}"/>
              </a:ext>
            </a:extLst>
          </p:cNvPr>
          <p:cNvSpPr txBox="1"/>
          <p:nvPr/>
        </p:nvSpPr>
        <p:spPr>
          <a:xfrm>
            <a:off x="6858000" y="4251048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C86168-DAA8-4F19-B172-6A89A0F3E30F}"/>
              </a:ext>
            </a:extLst>
          </p:cNvPr>
          <p:cNvSpPr txBox="1"/>
          <p:nvPr/>
        </p:nvSpPr>
        <p:spPr>
          <a:xfrm>
            <a:off x="7404100" y="4228068"/>
            <a:ext cx="571500" cy="38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1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65970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4.3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 dirty="0">
                <a:ea typeface="ＭＳ Ｐゴシック" panose="020B0600070205080204" pitchFamily="34" charset="-128"/>
              </a:rPr>
              <a:t>4.3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4. When Nearest Neighbor Does Not Work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 </a:t>
            </a:r>
            <a:r>
              <a:rPr lang="en-US" altLang="zh-CN" dirty="0"/>
              <a:t>4. </a:t>
            </a:r>
            <a:r>
              <a:rPr lang="zh-CN" altLang="en-US" dirty="0"/>
              <a:t>最近邻无效之时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EC9E0C-6C7D-40EB-B411-BA56B8DA5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5BA708-DA7C-4A96-9103-C216FD58879C}"/>
              </a:ext>
            </a:extLst>
          </p:cNvPr>
          <p:cNvSpPr txBox="1"/>
          <p:nvPr/>
        </p:nvSpPr>
        <p:spPr>
          <a:xfrm>
            <a:off x="266700" y="1536700"/>
            <a:ext cx="86106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Try word sense disambiguation: randomly choose 50% data for training &amp; remaining for testing  </a:t>
            </a:r>
          </a:p>
          <a:p>
            <a:pPr algn="ctr"/>
            <a:r>
              <a:rPr lang="zh-CN" altLang="en-US" sz="2200" dirty="0"/>
              <a:t>尝试词义消歧：随机选</a:t>
            </a:r>
            <a:r>
              <a:rPr lang="en-US" altLang="zh-CN" sz="2200" dirty="0"/>
              <a:t>50%</a:t>
            </a:r>
            <a:r>
              <a:rPr lang="zh-CN" altLang="en-US" sz="2200" dirty="0"/>
              <a:t>的数据用作训练，剩余用作测试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BF6605-906F-4F39-BD56-58FE01C9CDA6}"/>
              </a:ext>
            </a:extLst>
          </p:cNvPr>
          <p:cNvSpPr txBox="1"/>
          <p:nvPr/>
        </p:nvSpPr>
        <p:spPr>
          <a:xfrm>
            <a:off x="266700" y="5013971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Does it perform well?  </a:t>
            </a:r>
          </a:p>
          <a:p>
            <a:pPr algn="ctr"/>
            <a:r>
              <a:rPr lang="zh-CN" altLang="en-US" sz="2200" dirty="0"/>
              <a:t>表现好吗？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8749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How Does It Perform?            </a:t>
            </a:r>
            <a:r>
              <a:rPr lang="zh-CN" altLang="en-US" dirty="0">
                <a:ea typeface="ＭＳ Ｐゴシック" panose="020B0600070205080204" pitchFamily="34" charset="-128"/>
              </a:rPr>
              <a:t>表现如何？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5100638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Does It Perform Well? </a:t>
            </a:r>
            <a:r>
              <a:rPr lang="zh-CN" altLang="en-US" dirty="0"/>
              <a:t>表现好吗？</a:t>
            </a:r>
            <a:endParaRPr lang="en-US" altLang="zh-CN" dirty="0"/>
          </a:p>
          <a:p>
            <a:pPr lvl="1"/>
            <a:r>
              <a:rPr lang="en-US" altLang="zh-CN" dirty="0"/>
              <a:t>Even worse than always choosing the majority  </a:t>
            </a:r>
            <a:r>
              <a:rPr lang="zh-CN" altLang="en-US" dirty="0"/>
              <a:t>比永远选择最多数类别还差</a:t>
            </a:r>
            <a:endParaRPr lang="en-US" altLang="zh-CN" dirty="0"/>
          </a:p>
          <a:p>
            <a:r>
              <a:rPr lang="en-US" altLang="zh-CN" dirty="0"/>
              <a:t>Why? </a:t>
            </a:r>
            <a:r>
              <a:rPr lang="zh-CN" altLang="en-US" dirty="0"/>
              <a:t>为什么？</a:t>
            </a:r>
            <a:endParaRPr lang="en-US" altLang="zh-CN" dirty="0"/>
          </a:p>
          <a:p>
            <a:pPr lvl="1"/>
            <a:r>
              <a:rPr lang="en-US" altLang="zh-CN" dirty="0"/>
              <a:t>Too many attributes (9000+) vs low training samples (1000+)  </a:t>
            </a:r>
            <a:r>
              <a:rPr lang="zh-CN" altLang="en-US" dirty="0"/>
              <a:t>属性太多（</a:t>
            </a:r>
            <a:r>
              <a:rPr lang="en-US" altLang="zh-CN" dirty="0"/>
              <a:t>9000+</a:t>
            </a:r>
            <a:r>
              <a:rPr lang="zh-CN" altLang="en-US" dirty="0"/>
              <a:t>），训练数据太少（</a:t>
            </a:r>
            <a:r>
              <a:rPr lang="en-US" altLang="zh-CN" dirty="0"/>
              <a:t>1000+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en-US" altLang="zh-CN" dirty="0"/>
              <a:t>Sparse vector: many 0s </a:t>
            </a:r>
            <a:r>
              <a:rPr lang="zh-CN" altLang="en-US" dirty="0"/>
              <a:t>稀疏向量：很多</a:t>
            </a:r>
            <a:r>
              <a:rPr lang="en-US" altLang="zh-CN" dirty="0"/>
              <a:t>0</a:t>
            </a:r>
          </a:p>
          <a:p>
            <a:pPr lvl="2"/>
            <a:r>
              <a:rPr lang="en-US" altLang="zh-CN" dirty="0"/>
              <a:t>Not easy to calculate similarity                   </a:t>
            </a:r>
            <a:r>
              <a:rPr lang="zh-CN" altLang="en-US" dirty="0"/>
              <a:t>计算相似度不容易</a:t>
            </a:r>
            <a:endParaRPr lang="en-US" altLang="zh-CN" dirty="0"/>
          </a:p>
          <a:p>
            <a:pPr lvl="2"/>
            <a:r>
              <a:rPr lang="en-US" altLang="zh-CN" dirty="0"/>
              <a:t>Any potential improvement? </a:t>
            </a:r>
            <a:r>
              <a:rPr lang="zh-CN" altLang="en-US"/>
              <a:t>能改进吗？</a:t>
            </a:r>
            <a:r>
              <a:rPr lang="en-US" altLang="zh-CN"/>
              <a:t>  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4. When Nearest Neighbor Does Not Work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 </a:t>
            </a:r>
            <a:r>
              <a:rPr lang="en-US" altLang="zh-CN" dirty="0"/>
              <a:t>4. </a:t>
            </a:r>
            <a:r>
              <a:rPr lang="zh-CN" altLang="en-US" dirty="0"/>
              <a:t>最近邻无效之时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1857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Different Similarity Definition  </a:t>
            </a:r>
            <a:r>
              <a:rPr lang="zh-CN" altLang="en-US" dirty="0">
                <a:ea typeface="ＭＳ Ｐゴシック" panose="020B0600070205080204" pitchFamily="34" charset="-128"/>
              </a:rPr>
              <a:t>另一种相似度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4. When Nearest Neighbor Does Not Work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 </a:t>
            </a:r>
            <a:r>
              <a:rPr lang="en-US" altLang="zh-CN" dirty="0"/>
              <a:t>4. </a:t>
            </a:r>
            <a:r>
              <a:rPr lang="zh-CN" altLang="en-US" dirty="0"/>
              <a:t>最近邻无效之时</a:t>
            </a:r>
            <a:endParaRPr lang="en-US" altLang="zh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B84A7A-6C5F-4EAC-B042-07935771EEA9}"/>
              </a:ext>
            </a:extLst>
          </p:cNvPr>
          <p:cNvSpPr txBox="1"/>
          <p:nvPr/>
        </p:nvSpPr>
        <p:spPr>
          <a:xfrm>
            <a:off x="683935" y="1567409"/>
            <a:ext cx="77723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Illustrative example </a:t>
            </a:r>
            <a:r>
              <a:rPr lang="zh-CN" altLang="en-US" sz="2200" dirty="0"/>
              <a:t>说明用例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E1EEC9-0426-44AB-8307-5ED796CFB430}"/>
              </a:ext>
            </a:extLst>
          </p:cNvPr>
          <p:cNvSpPr txBox="1"/>
          <p:nvPr/>
        </p:nvSpPr>
        <p:spPr>
          <a:xfrm>
            <a:off x="683936" y="2057400"/>
            <a:ext cx="77723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3-word dictionary  </a:t>
            </a:r>
            <a:r>
              <a:rPr lang="zh-CN" altLang="en-US" sz="2200" dirty="0"/>
              <a:t>仅包含三个单词的字典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6031BF-9C95-499F-9479-C03DF89F2904}"/>
              </a:ext>
            </a:extLst>
          </p:cNvPr>
          <p:cNvSpPr txBox="1"/>
          <p:nvPr/>
        </p:nvSpPr>
        <p:spPr>
          <a:xfrm>
            <a:off x="683937" y="2438400"/>
            <a:ext cx="77723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rate</a:t>
            </a:r>
            <a:r>
              <a:rPr lang="zh-CN" altLang="en-US" sz="2200" dirty="0"/>
              <a:t> 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en-US" altLang="zh-CN" sz="2200" dirty="0"/>
              <a:t> 0, my 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en-US" altLang="zh-CN" sz="2200" dirty="0"/>
              <a:t> 1, saving </a:t>
            </a:r>
            <a:r>
              <a:rPr lang="en-US" altLang="zh-CN" sz="2400" dirty="0">
                <a:latin typeface="等线" panose="02010600030101010101" pitchFamily="2" charset="-122"/>
                <a:ea typeface="等线" panose="02010600030101010101" pitchFamily="2" charset="-122"/>
              </a:rPr>
              <a:t>→</a:t>
            </a:r>
            <a:r>
              <a:rPr lang="en-US" altLang="zh-CN" sz="2200" dirty="0"/>
              <a:t> 2  </a:t>
            </a:r>
            <a:endParaRPr lang="zh-CN" altLang="en-US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25E924C-DA4B-4C6F-A6C8-35B36CC7F845}"/>
                  </a:ext>
                </a:extLst>
              </p:cNvPr>
              <p:cNvSpPr txBox="1"/>
              <p:nvPr/>
            </p:nvSpPr>
            <p:spPr>
              <a:xfrm>
                <a:off x="-58085" y="2973565"/>
                <a:ext cx="925643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b="1" dirty="0"/>
                  <a:t>Data item 1 </a:t>
                </a:r>
                <a:r>
                  <a:rPr lang="zh-CN" altLang="en-US" sz="2200" b="1" dirty="0"/>
                  <a:t>数据</a:t>
                </a:r>
                <a:r>
                  <a:rPr lang="en-US" altLang="zh-CN" sz="2200" b="1" dirty="0"/>
                  <a:t>1</a:t>
                </a:r>
                <a:r>
                  <a:rPr lang="en-US" altLang="zh-CN" sz="2200" dirty="0"/>
                  <a:t>: my saving </a:t>
                </a:r>
                <a:r>
                  <a:rPr lang="en-US" altLang="zh-CN" sz="2200" dirty="0">
                    <a:solidFill>
                      <a:srgbClr val="C00000"/>
                    </a:solidFill>
                  </a:rPr>
                  <a:t>interest</a:t>
                </a:r>
                <a:r>
                  <a:rPr lang="en-US" altLang="zh-CN" sz="2200" dirty="0"/>
                  <a:t> rate (</a:t>
                </a:r>
                <a:r>
                  <a:rPr lang="zh-CN" altLang="en-US" sz="2200" dirty="0"/>
                  <a:t>我的存款</a:t>
                </a:r>
                <a:r>
                  <a:rPr lang="zh-CN" altLang="en-US" sz="2200" dirty="0">
                    <a:solidFill>
                      <a:srgbClr val="C00000"/>
                    </a:solidFill>
                  </a:rPr>
                  <a:t>利息</a:t>
                </a:r>
                <a:r>
                  <a:rPr lang="zh-CN" altLang="en-US" sz="2200" dirty="0"/>
                  <a:t>率</a:t>
                </a:r>
                <a:r>
                  <a:rPr lang="en-US" altLang="zh-CN" sz="2200" dirty="0"/>
                  <a:t>)</a:t>
                </a:r>
                <a:r>
                  <a:rPr lang="en-US" altLang="zh-CN" sz="2000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 →</a:t>
                </a:r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(1,1,1)</m:t>
                    </m:r>
                  </m:oMath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25E924C-DA4B-4C6F-A6C8-35B36CC7F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8085" y="2973565"/>
                <a:ext cx="9256434" cy="430887"/>
              </a:xfrm>
              <a:prstGeom prst="rect">
                <a:avLst/>
              </a:prstGeom>
              <a:blipFill>
                <a:blip r:embed="rId5"/>
                <a:stretch>
                  <a:fillRect l="-790" t="-15714" r="-395" b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03AE206-90B0-43CD-A013-D1E12B217F3F}"/>
                  </a:ext>
                </a:extLst>
              </p:cNvPr>
              <p:cNvSpPr txBox="1"/>
              <p:nvPr/>
            </p:nvSpPr>
            <p:spPr>
              <a:xfrm>
                <a:off x="683935" y="3429000"/>
                <a:ext cx="7772399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b="1" dirty="0"/>
                  <a:t>Data item 2 </a:t>
                </a:r>
                <a:r>
                  <a:rPr lang="zh-CN" altLang="en-US" sz="2200" b="1" dirty="0"/>
                  <a:t>数据</a:t>
                </a:r>
                <a:r>
                  <a:rPr lang="en-US" altLang="zh-CN" sz="2200" b="1" dirty="0"/>
                  <a:t>2</a:t>
                </a:r>
                <a:r>
                  <a:rPr lang="en-US" altLang="zh-CN" sz="2200" dirty="0"/>
                  <a:t>: my </a:t>
                </a:r>
                <a:r>
                  <a:rPr lang="en-US" altLang="zh-CN" sz="2200" dirty="0">
                    <a:solidFill>
                      <a:srgbClr val="C00000"/>
                    </a:solidFill>
                  </a:rPr>
                  <a:t>interest</a:t>
                </a:r>
                <a:r>
                  <a:rPr lang="en-US" altLang="zh-CN" sz="2200" dirty="0"/>
                  <a:t> (</a:t>
                </a:r>
                <a:r>
                  <a:rPr lang="zh-CN" altLang="en-US" sz="2200" dirty="0"/>
                  <a:t>我的</a:t>
                </a:r>
                <a:r>
                  <a:rPr lang="zh-CN" altLang="en-US" sz="2200" dirty="0">
                    <a:solidFill>
                      <a:srgbClr val="C00000"/>
                    </a:solidFill>
                  </a:rPr>
                  <a:t>兴趣</a:t>
                </a:r>
                <a:r>
                  <a:rPr lang="en-US" altLang="zh-CN" sz="2200" dirty="0"/>
                  <a:t>)</a:t>
                </a:r>
                <a:r>
                  <a:rPr lang="en-US" altLang="zh-CN" sz="2000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 →</a:t>
                </a:r>
                <a:r>
                  <a:rPr lang="en-US" altLang="zh-CN" sz="2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20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,1,</m:t>
                    </m:r>
                    <m:r>
                      <a:rPr lang="en-US" altLang="zh-CN" sz="220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03AE206-90B0-43CD-A013-D1E12B217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935" y="3429000"/>
                <a:ext cx="7772399" cy="430887"/>
              </a:xfrm>
              <a:prstGeom prst="rect">
                <a:avLst/>
              </a:prstGeom>
              <a:blipFill>
                <a:blip r:embed="rId6"/>
                <a:stretch>
                  <a:fillRect t="-15714" b="-2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74663B0-3581-40EF-B4B3-F6DD46EBAE4D}"/>
                  </a:ext>
                </a:extLst>
              </p:cNvPr>
              <p:cNvSpPr txBox="1"/>
              <p:nvPr/>
            </p:nvSpPr>
            <p:spPr>
              <a:xfrm>
                <a:off x="683935" y="3928350"/>
                <a:ext cx="7772399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b="1" dirty="0"/>
                  <a:t>New data item </a:t>
                </a:r>
                <a:r>
                  <a:rPr lang="zh-CN" altLang="en-US" sz="2200" b="1" dirty="0"/>
                  <a:t>新的数据</a:t>
                </a:r>
                <a:r>
                  <a:rPr lang="en-US" altLang="zh-CN" sz="2200" dirty="0"/>
                  <a:t>: </a:t>
                </a:r>
                <a:r>
                  <a:rPr lang="en-US" altLang="zh-CN" sz="2200" dirty="0">
                    <a:solidFill>
                      <a:srgbClr val="C00000"/>
                    </a:solidFill>
                  </a:rPr>
                  <a:t>interest</a:t>
                </a:r>
                <a:r>
                  <a:rPr lang="en-US" altLang="zh-CN" sz="2200" dirty="0"/>
                  <a:t> rate (</a:t>
                </a:r>
                <a:r>
                  <a:rPr lang="zh-CN" altLang="en-US" sz="2200" dirty="0">
                    <a:solidFill>
                      <a:srgbClr val="C00000"/>
                    </a:solidFill>
                  </a:rPr>
                  <a:t>利息</a:t>
                </a:r>
                <a:r>
                  <a:rPr lang="zh-CN" altLang="en-US" sz="2200" dirty="0"/>
                  <a:t>率</a:t>
                </a:r>
                <a:r>
                  <a:rPr lang="en-US" altLang="zh-CN" sz="2200" dirty="0"/>
                  <a:t>)</a:t>
                </a:r>
                <a:r>
                  <a:rPr lang="en-US" altLang="zh-CN" sz="2000" dirty="0">
                    <a:latin typeface="等线" panose="02010600030101010101" pitchFamily="2" charset="-122"/>
                    <a:ea typeface="等线" panose="02010600030101010101" pitchFamily="2" charset="-122"/>
                  </a:rPr>
                  <a:t> →</a:t>
                </a:r>
                <a:r>
                  <a:rPr lang="en-US" altLang="zh-CN" sz="2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20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20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20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74663B0-3581-40EF-B4B3-F6DD46EBAE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935" y="3928350"/>
                <a:ext cx="7772399" cy="430887"/>
              </a:xfrm>
              <a:prstGeom prst="rect">
                <a:avLst/>
              </a:prstGeom>
              <a:blipFill>
                <a:blip r:embed="rId7"/>
                <a:stretch>
                  <a:fillRect l="-235" t="-14085" b="-28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D7AF6C12-5C5B-4768-BE12-BD705F32FC43}"/>
              </a:ext>
            </a:extLst>
          </p:cNvPr>
          <p:cNvSpPr txBox="1"/>
          <p:nvPr/>
        </p:nvSpPr>
        <p:spPr>
          <a:xfrm>
            <a:off x="379133" y="4495800"/>
            <a:ext cx="838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Which one is more similar to the new item? Data item 1 or 2?</a:t>
            </a:r>
          </a:p>
          <a:p>
            <a:pPr algn="ctr"/>
            <a:r>
              <a:rPr lang="zh-CN" altLang="en-US" sz="2200" dirty="0"/>
              <a:t>那个数据和新数据更相似？</a:t>
            </a:r>
            <a:r>
              <a:rPr lang="en-US" altLang="zh-CN" sz="2200" dirty="0"/>
              <a:t>1</a:t>
            </a:r>
            <a:r>
              <a:rPr lang="zh-CN" altLang="en-US" sz="2200" dirty="0"/>
              <a:t>还是</a:t>
            </a:r>
            <a:r>
              <a:rPr lang="en-US" altLang="zh-CN" sz="2200" dirty="0"/>
              <a:t>2</a:t>
            </a:r>
            <a:r>
              <a:rPr lang="zh-CN" altLang="en-US" sz="2200" dirty="0"/>
              <a:t>？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BCFD34-B5BC-4A8B-BBEB-66D28C01E45D}"/>
              </a:ext>
            </a:extLst>
          </p:cNvPr>
          <p:cNvSpPr txBox="1"/>
          <p:nvPr/>
        </p:nvSpPr>
        <p:spPr>
          <a:xfrm>
            <a:off x="379133" y="5326559"/>
            <a:ext cx="838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Equally similar in Euclidean distance or Hamming distance</a:t>
            </a:r>
          </a:p>
          <a:p>
            <a:pPr algn="ctr"/>
            <a:r>
              <a:rPr lang="zh-CN" altLang="en-US" sz="2200" dirty="0"/>
              <a:t>在欧氏距离或海明距离中，同等相似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71975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0" grpId="0"/>
      <p:bldP spid="11" grpId="0"/>
      <p:bldP spid="13" grpId="0"/>
      <p:bldP spid="14" grpId="0"/>
      <p:bldP spid="1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Different Similarity Definition  </a:t>
            </a:r>
            <a:r>
              <a:rPr lang="zh-CN" altLang="en-US" dirty="0">
                <a:ea typeface="ＭＳ Ｐゴシック" panose="020B0600070205080204" pitchFamily="34" charset="-128"/>
              </a:rPr>
              <a:t>另一种相似度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4. When Nearest Neighbor Does Not Work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 </a:t>
            </a:r>
            <a:r>
              <a:rPr lang="en-US" altLang="zh-CN" dirty="0"/>
              <a:t>4. </a:t>
            </a:r>
            <a:r>
              <a:rPr lang="zh-CN" altLang="en-US" dirty="0"/>
              <a:t>最近邻无效之时</a:t>
            </a:r>
            <a:endParaRPr lang="en-US" altLang="zh-CN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F3C93CA-14ED-4897-B617-3BF2205C77DD}"/>
              </a:ext>
            </a:extLst>
          </p:cNvPr>
          <p:cNvCxnSpPr/>
          <p:nvPr/>
        </p:nvCxnSpPr>
        <p:spPr bwMode="auto">
          <a:xfrm>
            <a:off x="2019300" y="5159909"/>
            <a:ext cx="52578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1013AFB-C190-4B3F-8B42-34E8A2E53CFF}"/>
              </a:ext>
            </a:extLst>
          </p:cNvPr>
          <p:cNvCxnSpPr>
            <a:cxnSpLocks/>
          </p:cNvCxnSpPr>
          <p:nvPr/>
        </p:nvCxnSpPr>
        <p:spPr bwMode="auto">
          <a:xfrm flipV="1">
            <a:off x="2727680" y="1561480"/>
            <a:ext cx="0" cy="44958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30DB23B3-084D-4028-974E-75C8DDCD2A1D}"/>
              </a:ext>
            </a:extLst>
          </p:cNvPr>
          <p:cNvSpPr/>
          <p:nvPr/>
        </p:nvSpPr>
        <p:spPr>
          <a:xfrm>
            <a:off x="2042746" y="1760614"/>
            <a:ext cx="838198" cy="397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my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4E1CAEF-52B1-4A59-8E77-2D0DF2ACC996}"/>
              </a:ext>
            </a:extLst>
          </p:cNvPr>
          <p:cNvCxnSpPr>
            <a:cxnSpLocks/>
          </p:cNvCxnSpPr>
          <p:nvPr/>
        </p:nvCxnSpPr>
        <p:spPr bwMode="auto">
          <a:xfrm flipV="1">
            <a:off x="2121746" y="2404151"/>
            <a:ext cx="4587520" cy="318457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858D0F80-41DC-42AC-B7BF-07896B74BB99}"/>
              </a:ext>
            </a:extLst>
          </p:cNvPr>
          <p:cNvSpPr/>
          <p:nvPr/>
        </p:nvSpPr>
        <p:spPr>
          <a:xfrm>
            <a:off x="6248400" y="2405440"/>
            <a:ext cx="1752595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saving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A4750CE-D34F-46BF-8114-F872512301EE}"/>
              </a:ext>
            </a:extLst>
          </p:cNvPr>
          <p:cNvSpPr/>
          <p:nvPr/>
        </p:nvSpPr>
        <p:spPr>
          <a:xfrm>
            <a:off x="6103331" y="5178677"/>
            <a:ext cx="1752595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ja-JP" sz="2200" dirty="0">
                <a:ea typeface="ＭＳ Ｐゴシック" panose="020B0600070205080204" pitchFamily="34" charset="-128"/>
              </a:rPr>
              <a:t>rate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938257F-7340-4219-9052-5A65FFED8B69}"/>
              </a:ext>
            </a:extLst>
          </p:cNvPr>
          <p:cNvGrpSpPr/>
          <p:nvPr/>
        </p:nvGrpSpPr>
        <p:grpSpPr>
          <a:xfrm>
            <a:off x="2830127" y="3052907"/>
            <a:ext cx="2278807" cy="1755301"/>
            <a:chOff x="2807329" y="3096683"/>
            <a:chExt cx="2278807" cy="17553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4DD8E18-F858-4612-9BB5-C3CC5F5A440A}"/>
                </a:ext>
              </a:extLst>
            </p:cNvPr>
            <p:cNvSpPr/>
            <p:nvPr/>
          </p:nvSpPr>
          <p:spPr bwMode="auto">
            <a:xfrm>
              <a:off x="3744876" y="3096683"/>
              <a:ext cx="1341260" cy="1401252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F69C57B4-1F9A-4831-9709-9038A4FF5910}"/>
                </a:ext>
              </a:extLst>
            </p:cNvPr>
            <p:cNvSpPr/>
            <p:nvPr/>
          </p:nvSpPr>
          <p:spPr>
            <a:xfrm>
              <a:off x="3120109" y="3540983"/>
              <a:ext cx="838198" cy="3970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1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A293FD3E-5508-4855-A2A3-8DA327124601}"/>
                </a:ext>
              </a:extLst>
            </p:cNvPr>
            <p:cNvSpPr/>
            <p:nvPr/>
          </p:nvSpPr>
          <p:spPr>
            <a:xfrm>
              <a:off x="3958307" y="3155073"/>
              <a:ext cx="838198" cy="3970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1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FED01F53-527D-4123-B6C3-65A428321E7F}"/>
                </a:ext>
              </a:extLst>
            </p:cNvPr>
            <p:cNvSpPr/>
            <p:nvPr/>
          </p:nvSpPr>
          <p:spPr>
            <a:xfrm>
              <a:off x="2807329" y="4454976"/>
              <a:ext cx="838198" cy="3970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1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115FA8C-696D-43DD-9D9E-BE20B08218F7}"/>
              </a:ext>
            </a:extLst>
          </p:cNvPr>
          <p:cNvGrpSpPr/>
          <p:nvPr/>
        </p:nvGrpSpPr>
        <p:grpSpPr>
          <a:xfrm>
            <a:off x="4182354" y="2316753"/>
            <a:ext cx="1927998" cy="858010"/>
            <a:chOff x="4367300" y="2206405"/>
            <a:chExt cx="1927998" cy="858010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B6335097-29AE-45A8-905F-80AE5983273D}"/>
                </a:ext>
              </a:extLst>
            </p:cNvPr>
            <p:cNvSpPr/>
            <p:nvPr/>
          </p:nvSpPr>
          <p:spPr>
            <a:xfrm>
              <a:off x="4367300" y="2206405"/>
              <a:ext cx="1927998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my saving </a:t>
              </a:r>
              <a:r>
                <a:rPr lang="en-US" altLang="zh-CN" sz="2200" dirty="0">
                  <a:solidFill>
                    <a:srgbClr val="C00000"/>
                  </a:solidFill>
                  <a:ea typeface="ＭＳ Ｐゴシック" panose="020B0600070205080204" pitchFamily="34" charset="-128"/>
                </a:rPr>
                <a:t>interest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 rate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28080BA-E02B-4B59-8E95-B6C877F7E2A5}"/>
                </a:ext>
              </a:extLst>
            </p:cNvPr>
            <p:cNvSpPr/>
            <p:nvPr/>
          </p:nvSpPr>
          <p:spPr bwMode="auto">
            <a:xfrm>
              <a:off x="5181606" y="2860354"/>
              <a:ext cx="208970" cy="204061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sp>
        <p:nvSpPr>
          <p:cNvPr id="63" name="Rectangle 62">
            <a:extLst>
              <a:ext uri="{FF2B5EF4-FFF2-40B4-BE49-F238E27FC236}">
                <a16:creationId xmlns:a16="http://schemas.microsoft.com/office/drawing/2014/main" id="{81FFF58A-F019-4D1E-B4AC-E7A26D3711AE}"/>
              </a:ext>
            </a:extLst>
          </p:cNvPr>
          <p:cNvSpPr/>
          <p:nvPr/>
        </p:nvSpPr>
        <p:spPr>
          <a:xfrm>
            <a:off x="2121746" y="4324551"/>
            <a:ext cx="838198" cy="397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1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478BF5F-4236-4DF1-969A-4EB1F2E624C4}"/>
              </a:ext>
            </a:extLst>
          </p:cNvPr>
          <p:cNvGrpSpPr/>
          <p:nvPr/>
        </p:nvGrpSpPr>
        <p:grpSpPr>
          <a:xfrm>
            <a:off x="1484721" y="3565449"/>
            <a:ext cx="1340276" cy="701731"/>
            <a:chOff x="1484721" y="3565449"/>
            <a:chExt cx="1340276" cy="701731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BEEA87F2-5C24-4E19-A654-34D611A67EDD}"/>
                </a:ext>
              </a:extLst>
            </p:cNvPr>
            <p:cNvSpPr/>
            <p:nvPr/>
          </p:nvSpPr>
          <p:spPr bwMode="auto">
            <a:xfrm>
              <a:off x="2616027" y="3675099"/>
              <a:ext cx="208970" cy="204061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4040E3F-3108-41EB-91DD-E5BF9B35391E}"/>
                </a:ext>
              </a:extLst>
            </p:cNvPr>
            <p:cNvSpPr/>
            <p:nvPr/>
          </p:nvSpPr>
          <p:spPr>
            <a:xfrm>
              <a:off x="1484721" y="3565449"/>
              <a:ext cx="1302351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my </a:t>
              </a:r>
              <a:r>
                <a:rPr lang="en-US" altLang="zh-CN" sz="2200" dirty="0">
                  <a:solidFill>
                    <a:srgbClr val="C00000"/>
                  </a:solidFill>
                  <a:ea typeface="ＭＳ Ｐゴシック" panose="020B0600070205080204" pitchFamily="34" charset="-128"/>
                </a:rPr>
                <a:t>interest</a:t>
              </a:r>
              <a:endParaRPr lang="en-US" altLang="ja-JP" sz="2200" dirty="0">
                <a:solidFill>
                  <a:srgbClr val="C00000"/>
                </a:solidFill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C8CCCE6-3979-4370-BFB6-9F64C67EDA16}"/>
              </a:ext>
            </a:extLst>
          </p:cNvPr>
          <p:cNvGrpSpPr/>
          <p:nvPr/>
        </p:nvGrpSpPr>
        <p:grpSpPr>
          <a:xfrm>
            <a:off x="3412615" y="5057878"/>
            <a:ext cx="1302351" cy="916754"/>
            <a:chOff x="3412615" y="5057878"/>
            <a:chExt cx="1302351" cy="916754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664184A6-A2AA-4E2E-81DF-0AD46E38BB1D}"/>
                </a:ext>
              </a:extLst>
            </p:cNvPr>
            <p:cNvSpPr/>
            <p:nvPr/>
          </p:nvSpPr>
          <p:spPr bwMode="auto">
            <a:xfrm>
              <a:off x="3964456" y="5057878"/>
              <a:ext cx="208970" cy="204061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3E598042-7FC5-41B7-A980-F05793D4C53A}"/>
                </a:ext>
              </a:extLst>
            </p:cNvPr>
            <p:cNvSpPr/>
            <p:nvPr/>
          </p:nvSpPr>
          <p:spPr>
            <a:xfrm>
              <a:off x="3412615" y="5272901"/>
              <a:ext cx="1302351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solidFill>
                    <a:srgbClr val="C00000"/>
                  </a:solidFill>
                  <a:ea typeface="ＭＳ Ｐゴシック" panose="020B0600070205080204" pitchFamily="34" charset="-128"/>
                </a:rPr>
                <a:t>interest 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rate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sp>
        <p:nvSpPr>
          <p:cNvPr id="72" name="Rectangle 71">
            <a:extLst>
              <a:ext uri="{FF2B5EF4-FFF2-40B4-BE49-F238E27FC236}">
                <a16:creationId xmlns:a16="http://schemas.microsoft.com/office/drawing/2014/main" id="{0411EBD8-07E7-407B-BEFA-A9D123D1ED24}"/>
              </a:ext>
            </a:extLst>
          </p:cNvPr>
          <p:cNvSpPr/>
          <p:nvPr/>
        </p:nvSpPr>
        <p:spPr>
          <a:xfrm>
            <a:off x="2807329" y="5273225"/>
            <a:ext cx="838198" cy="397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1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81546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28" grpId="0"/>
      <p:bldP spid="42" grpId="0"/>
      <p:bldP spid="63" grpId="0"/>
      <p:bldP spid="63" grpId="1"/>
      <p:bldP spid="7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Different Similarity Definition  </a:t>
            </a:r>
            <a:r>
              <a:rPr lang="zh-CN" altLang="en-US" dirty="0">
                <a:ea typeface="ＭＳ Ｐゴシック" panose="020B0600070205080204" pitchFamily="34" charset="-128"/>
              </a:rPr>
              <a:t>另一种相似度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4. When Nearest Neighbor Does Not Work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 </a:t>
            </a:r>
            <a:r>
              <a:rPr lang="en-US" altLang="zh-CN" dirty="0"/>
              <a:t>4. </a:t>
            </a:r>
            <a:r>
              <a:rPr lang="zh-CN" altLang="en-US" dirty="0"/>
              <a:t>最近邻无效之时</a:t>
            </a:r>
            <a:endParaRPr lang="en-US" altLang="zh-CN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F3C93CA-14ED-4897-B617-3BF2205C77DD}"/>
              </a:ext>
            </a:extLst>
          </p:cNvPr>
          <p:cNvCxnSpPr/>
          <p:nvPr/>
        </p:nvCxnSpPr>
        <p:spPr bwMode="auto">
          <a:xfrm>
            <a:off x="2019300" y="5159909"/>
            <a:ext cx="52578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1013AFB-C190-4B3F-8B42-34E8A2E53CFF}"/>
              </a:ext>
            </a:extLst>
          </p:cNvPr>
          <p:cNvCxnSpPr>
            <a:cxnSpLocks/>
          </p:cNvCxnSpPr>
          <p:nvPr/>
        </p:nvCxnSpPr>
        <p:spPr bwMode="auto">
          <a:xfrm flipV="1">
            <a:off x="2727680" y="1561480"/>
            <a:ext cx="0" cy="44958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30DB23B3-084D-4028-974E-75C8DDCD2A1D}"/>
              </a:ext>
            </a:extLst>
          </p:cNvPr>
          <p:cNvSpPr/>
          <p:nvPr/>
        </p:nvSpPr>
        <p:spPr>
          <a:xfrm>
            <a:off x="2042746" y="1760614"/>
            <a:ext cx="838198" cy="397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my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4E1CAEF-52B1-4A59-8E77-2D0DF2ACC996}"/>
              </a:ext>
            </a:extLst>
          </p:cNvPr>
          <p:cNvCxnSpPr>
            <a:cxnSpLocks/>
          </p:cNvCxnSpPr>
          <p:nvPr/>
        </p:nvCxnSpPr>
        <p:spPr bwMode="auto">
          <a:xfrm flipV="1">
            <a:off x="2121746" y="2404151"/>
            <a:ext cx="4587520" cy="318457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858D0F80-41DC-42AC-B7BF-07896B74BB99}"/>
              </a:ext>
            </a:extLst>
          </p:cNvPr>
          <p:cNvSpPr/>
          <p:nvPr/>
        </p:nvSpPr>
        <p:spPr>
          <a:xfrm>
            <a:off x="6248400" y="2405440"/>
            <a:ext cx="1752595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saving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A4750CE-D34F-46BF-8114-F872512301EE}"/>
              </a:ext>
            </a:extLst>
          </p:cNvPr>
          <p:cNvSpPr/>
          <p:nvPr/>
        </p:nvSpPr>
        <p:spPr>
          <a:xfrm>
            <a:off x="6103331" y="5178677"/>
            <a:ext cx="1752595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ja-JP" sz="2200" dirty="0">
                <a:ea typeface="ＭＳ Ｐゴシック" panose="020B0600070205080204" pitchFamily="34" charset="-128"/>
              </a:rPr>
              <a:t>rate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478BF5F-4236-4DF1-969A-4EB1F2E624C4}"/>
              </a:ext>
            </a:extLst>
          </p:cNvPr>
          <p:cNvGrpSpPr/>
          <p:nvPr/>
        </p:nvGrpSpPr>
        <p:grpSpPr>
          <a:xfrm>
            <a:off x="1484721" y="3565449"/>
            <a:ext cx="1340276" cy="701731"/>
            <a:chOff x="1484721" y="3565449"/>
            <a:chExt cx="1340276" cy="701731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BEEA87F2-5C24-4E19-A654-34D611A67EDD}"/>
                </a:ext>
              </a:extLst>
            </p:cNvPr>
            <p:cNvSpPr/>
            <p:nvPr/>
          </p:nvSpPr>
          <p:spPr bwMode="auto">
            <a:xfrm>
              <a:off x="2616027" y="3675099"/>
              <a:ext cx="208970" cy="204061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4040E3F-3108-41EB-91DD-E5BF9B35391E}"/>
                </a:ext>
              </a:extLst>
            </p:cNvPr>
            <p:cNvSpPr/>
            <p:nvPr/>
          </p:nvSpPr>
          <p:spPr>
            <a:xfrm>
              <a:off x="1484721" y="3565449"/>
              <a:ext cx="1302351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my </a:t>
              </a:r>
              <a:r>
                <a:rPr lang="en-US" altLang="zh-CN" sz="2200" dirty="0">
                  <a:solidFill>
                    <a:srgbClr val="C00000"/>
                  </a:solidFill>
                  <a:ea typeface="ＭＳ Ｐゴシック" panose="020B0600070205080204" pitchFamily="34" charset="-128"/>
                </a:rPr>
                <a:t>interest</a:t>
              </a:r>
              <a:endParaRPr lang="en-US" altLang="ja-JP" sz="2200" dirty="0">
                <a:solidFill>
                  <a:srgbClr val="C00000"/>
                </a:solidFill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C8CCCE6-3979-4370-BFB6-9F64C67EDA16}"/>
              </a:ext>
            </a:extLst>
          </p:cNvPr>
          <p:cNvGrpSpPr/>
          <p:nvPr/>
        </p:nvGrpSpPr>
        <p:grpSpPr>
          <a:xfrm>
            <a:off x="3412615" y="5057878"/>
            <a:ext cx="1302351" cy="916754"/>
            <a:chOff x="3412615" y="5057878"/>
            <a:chExt cx="1302351" cy="916754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664184A6-A2AA-4E2E-81DF-0AD46E38BB1D}"/>
                </a:ext>
              </a:extLst>
            </p:cNvPr>
            <p:cNvSpPr/>
            <p:nvPr/>
          </p:nvSpPr>
          <p:spPr bwMode="auto">
            <a:xfrm>
              <a:off x="3964456" y="5057878"/>
              <a:ext cx="208970" cy="204061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3E598042-7FC5-41B7-A980-F05793D4C53A}"/>
                </a:ext>
              </a:extLst>
            </p:cNvPr>
            <p:cNvSpPr/>
            <p:nvPr/>
          </p:nvSpPr>
          <p:spPr>
            <a:xfrm>
              <a:off x="3412615" y="5272901"/>
              <a:ext cx="1302351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solidFill>
                    <a:srgbClr val="C00000"/>
                  </a:solidFill>
                  <a:ea typeface="ＭＳ Ｐゴシック" panose="020B0600070205080204" pitchFamily="34" charset="-128"/>
                </a:rPr>
                <a:t>interest 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rate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0B3808F-6F66-4265-B2FF-28B881E6C887}"/>
              </a:ext>
            </a:extLst>
          </p:cNvPr>
          <p:cNvCxnSpPr>
            <a:cxnSpLocks/>
            <a:stCxn id="65" idx="5"/>
            <a:endCxn id="68" idx="1"/>
          </p:cNvCxnSpPr>
          <p:nvPr/>
        </p:nvCxnSpPr>
        <p:spPr bwMode="auto">
          <a:xfrm>
            <a:off x="2794394" y="3849276"/>
            <a:ext cx="1200665" cy="123848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58CADEF0-A988-41BB-A587-91840CB19429}"/>
              </a:ext>
            </a:extLst>
          </p:cNvPr>
          <p:cNvCxnSpPr>
            <a:cxnSpLocks/>
            <a:stCxn id="68" idx="7"/>
            <a:endCxn id="36" idx="3"/>
          </p:cNvCxnSpPr>
          <p:nvPr/>
        </p:nvCxnSpPr>
        <p:spPr bwMode="auto">
          <a:xfrm flipV="1">
            <a:off x="4142823" y="3144879"/>
            <a:ext cx="884440" cy="194288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triangle"/>
          </a:ln>
          <a:effectLst/>
        </p:spPr>
      </p:cxnSp>
      <p:sp>
        <p:nvSpPr>
          <p:cNvPr id="74" name="Rectangle 73">
            <a:extLst>
              <a:ext uri="{FF2B5EF4-FFF2-40B4-BE49-F238E27FC236}">
                <a16:creationId xmlns:a16="http://schemas.microsoft.com/office/drawing/2014/main" id="{F12B202D-0938-4939-8439-9202651A98E5}"/>
              </a:ext>
            </a:extLst>
          </p:cNvPr>
          <p:cNvSpPr/>
          <p:nvPr/>
        </p:nvSpPr>
        <p:spPr>
          <a:xfrm>
            <a:off x="5335177" y="3608947"/>
            <a:ext cx="2816781" cy="100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Euclidean distances are the same </a:t>
            </a:r>
          </a:p>
          <a:p>
            <a:pPr marL="0" lvl="1" algn="ctr" eaLnBrk="1" hangingPunct="1">
              <a:lnSpc>
                <a:spcPct val="90000"/>
              </a:lnSpc>
            </a:pPr>
            <a:r>
              <a:rPr lang="zh-CN" altLang="en-US" sz="2200" dirty="0">
                <a:ea typeface="ＭＳ Ｐゴシック" panose="020B0600070205080204" pitchFamily="34" charset="-128"/>
              </a:rPr>
              <a:t>欧氏距离相同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BEE14B9-4BED-446F-8EAF-E333FF4CC659}"/>
              </a:ext>
            </a:extLst>
          </p:cNvPr>
          <p:cNvSpPr/>
          <p:nvPr/>
        </p:nvSpPr>
        <p:spPr bwMode="auto">
          <a:xfrm>
            <a:off x="2729345" y="3767158"/>
            <a:ext cx="1343313" cy="1393659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05B7968-DA2E-431D-8341-B6F9D0D39892}"/>
              </a:ext>
            </a:extLst>
          </p:cNvPr>
          <p:cNvGrpSpPr/>
          <p:nvPr/>
        </p:nvGrpSpPr>
        <p:grpSpPr>
          <a:xfrm>
            <a:off x="4182354" y="2316753"/>
            <a:ext cx="1927998" cy="858010"/>
            <a:chOff x="4367300" y="2206405"/>
            <a:chExt cx="1927998" cy="85801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FF4F0CA-8CF5-4DC5-BCFC-D656F6BAF484}"/>
                </a:ext>
              </a:extLst>
            </p:cNvPr>
            <p:cNvSpPr/>
            <p:nvPr/>
          </p:nvSpPr>
          <p:spPr>
            <a:xfrm>
              <a:off x="4367300" y="2206405"/>
              <a:ext cx="1927998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my saving </a:t>
              </a:r>
              <a:r>
                <a:rPr lang="en-US" altLang="zh-CN" sz="2200" dirty="0">
                  <a:solidFill>
                    <a:srgbClr val="C00000"/>
                  </a:solidFill>
                  <a:ea typeface="ＭＳ Ｐゴシック" panose="020B0600070205080204" pitchFamily="34" charset="-128"/>
                </a:rPr>
                <a:t>interest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 rate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3B78BEC-ED98-44CD-A32C-86C5FE034FA1}"/>
                </a:ext>
              </a:extLst>
            </p:cNvPr>
            <p:cNvSpPr/>
            <p:nvPr/>
          </p:nvSpPr>
          <p:spPr bwMode="auto">
            <a:xfrm>
              <a:off x="5181606" y="2860354"/>
              <a:ext cx="208970" cy="204061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5A88D03-28B5-47C9-B91F-147F3BE5F3EE}"/>
                  </a:ext>
                </a:extLst>
              </p:cNvPr>
              <p:cNvSpPr/>
              <p:nvPr/>
            </p:nvSpPr>
            <p:spPr>
              <a:xfrm>
                <a:off x="2911741" y="3859679"/>
                <a:ext cx="796588" cy="4330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 algn="ctr" eaLnBrk="1" hangingPunct="1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altLang="ja-JP" sz="220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</m:ctrlPr>
                        </m:radPr>
                        <m:deg/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US" altLang="ja-JP" sz="2200" dirty="0">
                  <a:ea typeface="ＭＳ Ｐゴシック" panose="020B0600070205080204" pitchFamily="34" charset="-128"/>
                </a:endParaRPr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5A88D03-28B5-47C9-B91F-147F3BE5F3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1741" y="3859679"/>
                <a:ext cx="796588" cy="4330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Parallelogram 14">
            <a:extLst>
              <a:ext uri="{FF2B5EF4-FFF2-40B4-BE49-F238E27FC236}">
                <a16:creationId xmlns:a16="http://schemas.microsoft.com/office/drawing/2014/main" id="{FC6A3DC1-100C-4E2E-8B85-7A087D00C3BE}"/>
              </a:ext>
            </a:extLst>
          </p:cNvPr>
          <p:cNvSpPr/>
          <p:nvPr/>
        </p:nvSpPr>
        <p:spPr bwMode="auto">
          <a:xfrm rot="16200000" flipV="1">
            <a:off x="3514879" y="3591176"/>
            <a:ext cx="2122119" cy="1013995"/>
          </a:xfrm>
          <a:prstGeom prst="parallelogram">
            <a:avLst>
              <a:gd name="adj" fmla="val 71781"/>
            </a:avLst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5C0CCD54-F87A-4854-9067-0F46F80A28CB}"/>
                  </a:ext>
                </a:extLst>
              </p:cNvPr>
              <p:cNvSpPr/>
              <p:nvPr/>
            </p:nvSpPr>
            <p:spPr>
              <a:xfrm>
                <a:off x="4417015" y="4093680"/>
                <a:ext cx="796588" cy="4330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 algn="ctr" eaLnBrk="1" hangingPunct="1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altLang="ja-JP" sz="2200" i="1" smtClean="0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</m:ctrlPr>
                        </m:radPr>
                        <m:deg/>
                        <m:e>
                          <m:r>
                            <a:rPr lang="en-US" altLang="zh-CN" sz="2200" i="1">
                              <a:latin typeface="Cambria Math" panose="02040503050406030204" pitchFamily="18" charset="0"/>
                              <a:ea typeface="ＭＳ Ｐゴシック" panose="020B0600070205080204" pitchFamily="34" charset="-128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US" altLang="ja-JP" sz="2200" dirty="0">
                  <a:ea typeface="ＭＳ Ｐゴシック" panose="020B0600070205080204" pitchFamily="34" charset="-128"/>
                </a:endParaRPr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5C0CCD54-F87A-4854-9067-0F46F80A28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7015" y="4093680"/>
                <a:ext cx="796588" cy="4330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517607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29" grpId="0" animBg="1"/>
      <p:bldP spid="15" grpId="0" animBg="1"/>
      <p:bldP spid="15" grpId="1" animBg="1"/>
      <p:bldP spid="4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Different Similarity Definition  </a:t>
            </a:r>
            <a:r>
              <a:rPr lang="zh-CN" altLang="en-US" dirty="0">
                <a:ea typeface="ＭＳ Ｐゴシック" panose="020B0600070205080204" pitchFamily="34" charset="-128"/>
              </a:rPr>
              <a:t>另一种相似度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4. When Nearest Neighbor Does Not Work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 </a:t>
            </a:r>
            <a:r>
              <a:rPr lang="en-US" altLang="zh-CN" dirty="0"/>
              <a:t>4. </a:t>
            </a:r>
            <a:r>
              <a:rPr lang="zh-CN" altLang="en-US" dirty="0"/>
              <a:t>最近邻无效之时</a:t>
            </a:r>
            <a:endParaRPr lang="en-US" altLang="zh-CN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F3C93CA-14ED-4897-B617-3BF2205C77DD}"/>
              </a:ext>
            </a:extLst>
          </p:cNvPr>
          <p:cNvCxnSpPr/>
          <p:nvPr/>
        </p:nvCxnSpPr>
        <p:spPr bwMode="auto">
          <a:xfrm>
            <a:off x="2019300" y="5159909"/>
            <a:ext cx="52578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1013AFB-C190-4B3F-8B42-34E8A2E53CFF}"/>
              </a:ext>
            </a:extLst>
          </p:cNvPr>
          <p:cNvCxnSpPr>
            <a:cxnSpLocks/>
          </p:cNvCxnSpPr>
          <p:nvPr/>
        </p:nvCxnSpPr>
        <p:spPr bwMode="auto">
          <a:xfrm flipV="1">
            <a:off x="2727680" y="1561480"/>
            <a:ext cx="0" cy="44958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30DB23B3-084D-4028-974E-75C8DDCD2A1D}"/>
              </a:ext>
            </a:extLst>
          </p:cNvPr>
          <p:cNvSpPr/>
          <p:nvPr/>
        </p:nvSpPr>
        <p:spPr>
          <a:xfrm>
            <a:off x="2042746" y="1760614"/>
            <a:ext cx="838198" cy="397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my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4E1CAEF-52B1-4A59-8E77-2D0DF2ACC996}"/>
              </a:ext>
            </a:extLst>
          </p:cNvPr>
          <p:cNvCxnSpPr>
            <a:cxnSpLocks/>
          </p:cNvCxnSpPr>
          <p:nvPr/>
        </p:nvCxnSpPr>
        <p:spPr bwMode="auto">
          <a:xfrm flipV="1">
            <a:off x="2121746" y="2404151"/>
            <a:ext cx="4587520" cy="318457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858D0F80-41DC-42AC-B7BF-07896B74BB99}"/>
              </a:ext>
            </a:extLst>
          </p:cNvPr>
          <p:cNvSpPr/>
          <p:nvPr/>
        </p:nvSpPr>
        <p:spPr>
          <a:xfrm>
            <a:off x="6248400" y="2405440"/>
            <a:ext cx="1752595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saving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A4750CE-D34F-46BF-8114-F872512301EE}"/>
              </a:ext>
            </a:extLst>
          </p:cNvPr>
          <p:cNvSpPr/>
          <p:nvPr/>
        </p:nvSpPr>
        <p:spPr>
          <a:xfrm>
            <a:off x="6103331" y="5178677"/>
            <a:ext cx="1752595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ja-JP" sz="2200" dirty="0">
                <a:ea typeface="ＭＳ Ｐゴシック" panose="020B0600070205080204" pitchFamily="34" charset="-128"/>
              </a:rPr>
              <a:t>rate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478BF5F-4236-4DF1-969A-4EB1F2E624C4}"/>
              </a:ext>
            </a:extLst>
          </p:cNvPr>
          <p:cNvGrpSpPr/>
          <p:nvPr/>
        </p:nvGrpSpPr>
        <p:grpSpPr>
          <a:xfrm>
            <a:off x="1484721" y="3565449"/>
            <a:ext cx="1340276" cy="701731"/>
            <a:chOff x="1484721" y="3565449"/>
            <a:chExt cx="1340276" cy="701731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BEEA87F2-5C24-4E19-A654-34D611A67EDD}"/>
                </a:ext>
              </a:extLst>
            </p:cNvPr>
            <p:cNvSpPr/>
            <p:nvPr/>
          </p:nvSpPr>
          <p:spPr bwMode="auto">
            <a:xfrm>
              <a:off x="2616027" y="3675099"/>
              <a:ext cx="208970" cy="204061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4040E3F-3108-41EB-91DD-E5BF9B35391E}"/>
                </a:ext>
              </a:extLst>
            </p:cNvPr>
            <p:cNvSpPr/>
            <p:nvPr/>
          </p:nvSpPr>
          <p:spPr>
            <a:xfrm>
              <a:off x="1484721" y="3565449"/>
              <a:ext cx="1302351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my </a:t>
              </a:r>
              <a:r>
                <a:rPr lang="en-US" altLang="zh-CN" sz="2200" dirty="0">
                  <a:solidFill>
                    <a:srgbClr val="C00000"/>
                  </a:solidFill>
                  <a:ea typeface="ＭＳ Ｐゴシック" panose="020B0600070205080204" pitchFamily="34" charset="-128"/>
                </a:rPr>
                <a:t>interest</a:t>
              </a:r>
              <a:endParaRPr lang="en-US" altLang="ja-JP" sz="2200" dirty="0">
                <a:solidFill>
                  <a:srgbClr val="C00000"/>
                </a:solidFill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C8CCCE6-3979-4370-BFB6-9F64C67EDA16}"/>
              </a:ext>
            </a:extLst>
          </p:cNvPr>
          <p:cNvGrpSpPr/>
          <p:nvPr/>
        </p:nvGrpSpPr>
        <p:grpSpPr>
          <a:xfrm>
            <a:off x="3412615" y="5057878"/>
            <a:ext cx="1302351" cy="916754"/>
            <a:chOff x="3412615" y="5057878"/>
            <a:chExt cx="1302351" cy="916754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664184A6-A2AA-4E2E-81DF-0AD46E38BB1D}"/>
                </a:ext>
              </a:extLst>
            </p:cNvPr>
            <p:cNvSpPr/>
            <p:nvPr/>
          </p:nvSpPr>
          <p:spPr bwMode="auto">
            <a:xfrm>
              <a:off x="3964456" y="5057878"/>
              <a:ext cx="208970" cy="204061"/>
            </a:xfrm>
            <a:prstGeom prst="ellipse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3E598042-7FC5-41B7-A980-F05793D4C53A}"/>
                </a:ext>
              </a:extLst>
            </p:cNvPr>
            <p:cNvSpPr/>
            <p:nvPr/>
          </p:nvSpPr>
          <p:spPr>
            <a:xfrm>
              <a:off x="3412615" y="5272901"/>
              <a:ext cx="1302351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solidFill>
                    <a:srgbClr val="C00000"/>
                  </a:solidFill>
                  <a:ea typeface="ＭＳ Ｐゴシック" panose="020B0600070205080204" pitchFamily="34" charset="-128"/>
                </a:rPr>
                <a:t>interest 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rate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</p:grp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CAECD72-E012-4763-993E-9BE75B5723C4}"/>
              </a:ext>
            </a:extLst>
          </p:cNvPr>
          <p:cNvCxnSpPr>
            <a:cxnSpLocks/>
            <a:endCxn id="46" idx="3"/>
          </p:cNvCxnSpPr>
          <p:nvPr/>
        </p:nvCxnSpPr>
        <p:spPr bwMode="auto">
          <a:xfrm flipV="1">
            <a:off x="2727680" y="3144879"/>
            <a:ext cx="2299583" cy="2015030"/>
          </a:xfrm>
          <a:prstGeom prst="straightConnector1">
            <a:avLst/>
          </a:prstGeom>
          <a:solidFill>
            <a:schemeClr val="accent1"/>
          </a:solidFill>
          <a:ln w="5397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2907904-62A2-4490-B03F-986FD12D628D}"/>
              </a:ext>
            </a:extLst>
          </p:cNvPr>
          <p:cNvCxnSpPr>
            <a:cxnSpLocks/>
            <a:endCxn id="68" idx="2"/>
          </p:cNvCxnSpPr>
          <p:nvPr/>
        </p:nvCxnSpPr>
        <p:spPr bwMode="auto">
          <a:xfrm flipV="1">
            <a:off x="2720512" y="5159909"/>
            <a:ext cx="1243944" cy="2"/>
          </a:xfrm>
          <a:prstGeom prst="straightConnector1">
            <a:avLst/>
          </a:prstGeom>
          <a:solidFill>
            <a:schemeClr val="accent1"/>
          </a:solidFill>
          <a:ln w="539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9" name="Arc 18">
            <a:extLst>
              <a:ext uri="{FF2B5EF4-FFF2-40B4-BE49-F238E27FC236}">
                <a16:creationId xmlns:a16="http://schemas.microsoft.com/office/drawing/2014/main" id="{A99F1B08-AE80-4A1A-9583-DC77ED0C08A4}"/>
              </a:ext>
            </a:extLst>
          </p:cNvPr>
          <p:cNvSpPr/>
          <p:nvPr/>
        </p:nvSpPr>
        <p:spPr bwMode="auto">
          <a:xfrm>
            <a:off x="3235604" y="4641273"/>
            <a:ext cx="228600" cy="951484"/>
          </a:xfrm>
          <a:prstGeom prst="arc">
            <a:avLst>
              <a:gd name="adj1" fmla="val 16318936"/>
              <a:gd name="adj2" fmla="val 868250"/>
            </a:avLst>
          </a:prstGeom>
          <a:noFill/>
          <a:ln w="254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B2C6617-2C2F-4161-935C-7D509FD6DCE7}"/>
              </a:ext>
            </a:extLst>
          </p:cNvPr>
          <p:cNvCxnSpPr>
            <a:cxnSpLocks/>
            <a:endCxn id="65" idx="4"/>
          </p:cNvCxnSpPr>
          <p:nvPr/>
        </p:nvCxnSpPr>
        <p:spPr bwMode="auto">
          <a:xfrm flipH="1" flipV="1">
            <a:off x="2720512" y="3879160"/>
            <a:ext cx="7167" cy="1280748"/>
          </a:xfrm>
          <a:prstGeom prst="straightConnector1">
            <a:avLst/>
          </a:prstGeom>
          <a:solidFill>
            <a:schemeClr val="accent1"/>
          </a:solidFill>
          <a:ln w="539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2" name="Arc 21">
            <a:extLst>
              <a:ext uri="{FF2B5EF4-FFF2-40B4-BE49-F238E27FC236}">
                <a16:creationId xmlns:a16="http://schemas.microsoft.com/office/drawing/2014/main" id="{F81FCC9C-893A-45B9-9DE1-9DEAAD489DE8}"/>
              </a:ext>
            </a:extLst>
          </p:cNvPr>
          <p:cNvSpPr/>
          <p:nvPr/>
        </p:nvSpPr>
        <p:spPr bwMode="auto">
          <a:xfrm>
            <a:off x="2262307" y="4680858"/>
            <a:ext cx="990543" cy="938779"/>
          </a:xfrm>
          <a:prstGeom prst="arc">
            <a:avLst>
              <a:gd name="adj1" fmla="val 16108417"/>
              <a:gd name="adj2" fmla="val 0"/>
            </a:avLst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triangl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5DEC103-BC4B-4420-B2D0-247723C07FB3}"/>
              </a:ext>
            </a:extLst>
          </p:cNvPr>
          <p:cNvSpPr/>
          <p:nvPr/>
        </p:nvSpPr>
        <p:spPr>
          <a:xfrm>
            <a:off x="4339804" y="3977724"/>
            <a:ext cx="2816781" cy="100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Cosine similarity discriminates</a:t>
            </a:r>
          </a:p>
          <a:p>
            <a:pPr marL="0" lvl="1" algn="ctr" eaLnBrk="1" hangingPunct="1">
              <a:lnSpc>
                <a:spcPct val="90000"/>
              </a:lnSpc>
            </a:pPr>
            <a:r>
              <a:rPr lang="zh-CN" altLang="en-US" sz="2200" dirty="0">
                <a:latin typeface="+mn-lt"/>
                <a:ea typeface="ＭＳ Ｐゴシック" panose="020B0600070205080204" pitchFamily="34" charset="-128"/>
              </a:rPr>
              <a:t>余弦相似度得以区分</a:t>
            </a:r>
            <a:endParaRPr lang="en-US" altLang="ja-JP" sz="2200" dirty="0">
              <a:latin typeface="+mn-lt"/>
              <a:ea typeface="ＭＳ Ｐゴシック" panose="020B0600070205080204" pitchFamily="34" charset="-128"/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4F99F0B-8782-449B-A70D-CBB1C5121614}"/>
              </a:ext>
            </a:extLst>
          </p:cNvPr>
          <p:cNvGrpSpPr/>
          <p:nvPr/>
        </p:nvGrpSpPr>
        <p:grpSpPr>
          <a:xfrm>
            <a:off x="4182354" y="2316753"/>
            <a:ext cx="1927998" cy="858010"/>
            <a:chOff x="4367300" y="2206405"/>
            <a:chExt cx="1927998" cy="858010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E2DE901-A457-4D22-82C1-D49D7A0F830B}"/>
                </a:ext>
              </a:extLst>
            </p:cNvPr>
            <p:cNvSpPr/>
            <p:nvPr/>
          </p:nvSpPr>
          <p:spPr>
            <a:xfrm>
              <a:off x="4367300" y="2206405"/>
              <a:ext cx="1927998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my saving </a:t>
              </a:r>
              <a:r>
                <a:rPr lang="en-US" altLang="zh-CN" sz="2200" dirty="0">
                  <a:solidFill>
                    <a:srgbClr val="C00000"/>
                  </a:solidFill>
                  <a:ea typeface="ＭＳ Ｐゴシック" panose="020B0600070205080204" pitchFamily="34" charset="-128"/>
                </a:rPr>
                <a:t>interest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 rate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8FD8163A-47B2-4780-BB60-265312E569B9}"/>
                </a:ext>
              </a:extLst>
            </p:cNvPr>
            <p:cNvSpPr/>
            <p:nvPr/>
          </p:nvSpPr>
          <p:spPr bwMode="auto">
            <a:xfrm>
              <a:off x="5181606" y="2860354"/>
              <a:ext cx="208970" cy="204061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912331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2" grpId="0" animBg="1"/>
      <p:bldP spid="4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How to Calculate </a:t>
            </a:r>
            <a:r>
              <a:rPr lang="zh-CN" altLang="en-US" dirty="0">
                <a:ea typeface="ＭＳ Ｐゴシック" panose="020B0600070205080204" pitchFamily="34" charset="-128"/>
              </a:rPr>
              <a:t>如何计算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4. When Nearest Neighbor Does Not Work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 </a:t>
            </a:r>
            <a:r>
              <a:rPr lang="en-US" altLang="zh-CN" dirty="0"/>
              <a:t>4. </a:t>
            </a:r>
            <a:r>
              <a:rPr lang="zh-CN" altLang="en-US" dirty="0"/>
              <a:t>最近邻无效之时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85639E-5723-4BF8-A691-0AB2BDB4FA95}"/>
                  </a:ext>
                </a:extLst>
              </p:cNvPr>
              <p:cNvSpPr txBox="1"/>
              <p:nvPr/>
            </p:nvSpPr>
            <p:spPr>
              <a:xfrm>
                <a:off x="493432" y="2306798"/>
                <a:ext cx="8153400" cy="4364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vs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A85639E-5723-4BF8-A691-0AB2BDB4F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432" y="2306798"/>
                <a:ext cx="8153400" cy="436402"/>
              </a:xfrm>
              <a:prstGeom prst="rect">
                <a:avLst/>
              </a:prstGeom>
              <a:blipFill>
                <a:blip r:embed="rId6"/>
                <a:stretch>
                  <a:fillRect b="-19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252F962-2DF2-4B75-A973-D9523186D431}"/>
                  </a:ext>
                </a:extLst>
              </p:cNvPr>
              <p:cNvSpPr txBox="1"/>
              <p:nvPr/>
            </p:nvSpPr>
            <p:spPr>
              <a:xfrm>
                <a:off x="493432" y="3204365"/>
                <a:ext cx="8153400" cy="8927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Sup>
                                <m:sSub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d>
                                </m:sup>
                              </m:sSub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252F962-2DF2-4B75-A973-D9523186D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432" y="3204365"/>
                <a:ext cx="8153400" cy="89274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30437E37-C29B-4CCC-B29F-7AC14352A5C2}"/>
              </a:ext>
            </a:extLst>
          </p:cNvPr>
          <p:cNvGrpSpPr/>
          <p:nvPr/>
        </p:nvGrpSpPr>
        <p:grpSpPr>
          <a:xfrm>
            <a:off x="2895601" y="2514600"/>
            <a:ext cx="6019799" cy="1785104"/>
            <a:chOff x="1975805" y="3108984"/>
            <a:chExt cx="5871365" cy="1785104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E5D7269-5C8E-427F-A670-8A6B98EC314E}"/>
                </a:ext>
              </a:extLst>
            </p:cNvPr>
            <p:cNvSpPr txBox="1"/>
            <p:nvPr/>
          </p:nvSpPr>
          <p:spPr>
            <a:xfrm>
              <a:off x="5722963" y="3108984"/>
              <a:ext cx="2124207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Dot product of the 2 vectors (1D arrays)</a:t>
              </a:r>
            </a:p>
            <a:p>
              <a:pPr algn="ctr"/>
              <a:r>
                <a:rPr lang="zh-CN" altLang="en-US" sz="2200" dirty="0"/>
                <a:t>两个向量（一维数组）的点乘</a:t>
              </a:r>
              <a:endParaRPr lang="en-US" altLang="zh-CN" sz="220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2F5182B-6C7F-4167-8544-F8C98969BA8E}"/>
                </a:ext>
              </a:extLst>
            </p:cNvPr>
            <p:cNvSpPr/>
            <p:nvPr/>
          </p:nvSpPr>
          <p:spPr bwMode="auto">
            <a:xfrm>
              <a:off x="1975805" y="3809900"/>
              <a:ext cx="3168617" cy="367990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A1BFC78-6437-4D51-B851-B788E361F3C3}"/>
                </a:ext>
              </a:extLst>
            </p:cNvPr>
            <p:cNvCxnSpPr>
              <a:cxnSpLocks/>
              <a:stCxn id="18" idx="1"/>
              <a:endCxn id="19" idx="3"/>
            </p:cNvCxnSpPr>
            <p:nvPr/>
          </p:nvCxnSpPr>
          <p:spPr bwMode="auto">
            <a:xfrm flipH="1" flipV="1">
              <a:off x="5144422" y="3993895"/>
              <a:ext cx="578541" cy="764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11A9BBC-6DC0-47CD-AECD-509DD450CEEE}"/>
              </a:ext>
            </a:extLst>
          </p:cNvPr>
          <p:cNvGrpSpPr/>
          <p:nvPr/>
        </p:nvGrpSpPr>
        <p:grpSpPr>
          <a:xfrm>
            <a:off x="2644844" y="3649133"/>
            <a:ext cx="1977956" cy="2009208"/>
            <a:chOff x="1968404" y="3786317"/>
            <a:chExt cx="1929184" cy="2009208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AEB3A293-3655-4CC1-A072-9781978ABA39}"/>
                </a:ext>
              </a:extLst>
            </p:cNvPr>
            <p:cNvSpPr txBox="1"/>
            <p:nvPr/>
          </p:nvSpPr>
          <p:spPr>
            <a:xfrm>
              <a:off x="1968404" y="4687529"/>
              <a:ext cx="1929184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Length of the vector </a:t>
              </a:r>
            </a:p>
            <a:p>
              <a:pPr algn="ctr"/>
              <a:r>
                <a:rPr lang="zh-CN" altLang="en-US" sz="2200" dirty="0"/>
                <a:t>向量的长度</a:t>
              </a:r>
              <a:endParaRPr lang="en-US" altLang="zh-CN" sz="2200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12795AE-ED72-40AB-9F61-BDBBD8B6EE51}"/>
                </a:ext>
              </a:extLst>
            </p:cNvPr>
            <p:cNvSpPr/>
            <p:nvPr/>
          </p:nvSpPr>
          <p:spPr bwMode="auto">
            <a:xfrm>
              <a:off x="2064334" y="3786317"/>
              <a:ext cx="1734159" cy="423334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C21619E2-4DE7-45A1-B59B-4F5271EFA4BD}"/>
                </a:ext>
              </a:extLst>
            </p:cNvPr>
            <p:cNvCxnSpPr>
              <a:cxnSpLocks/>
              <a:stCxn id="31" idx="0"/>
              <a:endCxn id="32" idx="2"/>
            </p:cNvCxnSpPr>
            <p:nvPr/>
          </p:nvCxnSpPr>
          <p:spPr bwMode="auto">
            <a:xfrm flipH="1" flipV="1">
              <a:off x="2931414" y="4209651"/>
              <a:ext cx="1582" cy="47787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2DCBB8A-5830-47EA-8781-B404EDD95F82}"/>
              </a:ext>
            </a:extLst>
          </p:cNvPr>
          <p:cNvGrpSpPr/>
          <p:nvPr/>
        </p:nvGrpSpPr>
        <p:grpSpPr>
          <a:xfrm>
            <a:off x="4457700" y="3654992"/>
            <a:ext cx="1977956" cy="2009208"/>
            <a:chOff x="1968404" y="3786317"/>
            <a:chExt cx="1929184" cy="2009208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5292C22-7849-4E92-9714-A9902DC11898}"/>
                </a:ext>
              </a:extLst>
            </p:cNvPr>
            <p:cNvSpPr txBox="1"/>
            <p:nvPr/>
          </p:nvSpPr>
          <p:spPr>
            <a:xfrm>
              <a:off x="1968404" y="4687529"/>
              <a:ext cx="1929184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200" dirty="0"/>
                <a:t>Length of the vector </a:t>
              </a:r>
            </a:p>
            <a:p>
              <a:pPr algn="ctr"/>
              <a:r>
                <a:rPr lang="zh-CN" altLang="en-US" sz="2200" dirty="0"/>
                <a:t>向量的长度</a:t>
              </a:r>
              <a:endParaRPr lang="en-US" altLang="zh-CN" sz="2200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0CA518F-76D2-4153-95E1-B6B557C4F8D4}"/>
                </a:ext>
              </a:extLst>
            </p:cNvPr>
            <p:cNvSpPr/>
            <p:nvPr/>
          </p:nvSpPr>
          <p:spPr bwMode="auto">
            <a:xfrm>
              <a:off x="2064334" y="3786317"/>
              <a:ext cx="1734159" cy="423334"/>
            </a:xfrm>
            <a:prstGeom prst="rect">
              <a:avLst/>
            </a:prstGeom>
            <a:noFill/>
            <a:ln w="9525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8BF287F9-8E3F-4D4B-A519-F99DB580338A}"/>
                </a:ext>
              </a:extLst>
            </p:cNvPr>
            <p:cNvCxnSpPr>
              <a:cxnSpLocks/>
              <a:stCxn id="46" idx="0"/>
              <a:endCxn id="47" idx="2"/>
            </p:cNvCxnSpPr>
            <p:nvPr/>
          </p:nvCxnSpPr>
          <p:spPr bwMode="auto">
            <a:xfrm flipH="1" flipV="1">
              <a:off x="2931414" y="4209651"/>
              <a:ext cx="1582" cy="47787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49" name="Rectangle 48">
            <a:extLst>
              <a:ext uri="{FF2B5EF4-FFF2-40B4-BE49-F238E27FC236}">
                <a16:creationId xmlns:a16="http://schemas.microsoft.com/office/drawing/2014/main" id="{0CFAE437-5F9A-47A1-B3E8-15C0BC83921E}"/>
              </a:ext>
            </a:extLst>
          </p:cNvPr>
          <p:cNvSpPr/>
          <p:nvPr/>
        </p:nvSpPr>
        <p:spPr>
          <a:xfrm>
            <a:off x="3161741" y="1563541"/>
            <a:ext cx="2816781" cy="701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Cosine </a:t>
            </a:r>
            <a:r>
              <a:rPr lang="en-US" altLang="zh-CN" sz="22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similarity</a:t>
            </a:r>
          </a:p>
          <a:p>
            <a:pPr marL="0" lvl="1" algn="ctr" eaLnBrk="1" hangingPunct="1">
              <a:lnSpc>
                <a:spcPct val="90000"/>
              </a:lnSpc>
            </a:pPr>
            <a:r>
              <a:rPr lang="zh-CN" altLang="en-US" sz="2200" dirty="0">
                <a:ea typeface="ＭＳ Ｐゴシック" panose="020B0600070205080204" pitchFamily="34" charset="-128"/>
              </a:rPr>
              <a:t>余弦</a:t>
            </a:r>
            <a:r>
              <a:rPr lang="zh-CN" altLang="en-US" sz="2200" dirty="0">
                <a:solidFill>
                  <a:srgbClr val="FF0000"/>
                </a:solidFill>
                <a:ea typeface="ＭＳ Ｐゴシック" panose="020B0600070205080204" pitchFamily="34" charset="-128"/>
              </a:rPr>
              <a:t>相似度</a:t>
            </a:r>
            <a:endParaRPr lang="en-US" altLang="ja-JP" sz="2200" dirty="0">
              <a:solidFill>
                <a:srgbClr val="FF0000"/>
              </a:solidFill>
              <a:ea typeface="ＭＳ Ｐゴシック" panose="020B0600070205080204" pitchFamily="34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925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Dot Product </a:t>
            </a:r>
            <a:r>
              <a:rPr lang="zh-CN" altLang="en-US" dirty="0">
                <a:ea typeface="ＭＳ Ｐゴシック" panose="020B0600070205080204" pitchFamily="34" charset="-128"/>
              </a:rPr>
              <a:t>点乘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4. When Nearest Neighbor Does Not Work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 </a:t>
            </a:r>
            <a:r>
              <a:rPr lang="en-US" altLang="zh-CN" dirty="0"/>
              <a:t>4. </a:t>
            </a:r>
            <a:r>
              <a:rPr lang="zh-CN" altLang="en-US" dirty="0"/>
              <a:t>最近邻无效之时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5C69433-3AD8-453C-9987-40DD0D40974C}"/>
                  </a:ext>
                </a:extLst>
              </p:cNvPr>
              <p:cNvSpPr/>
              <p:nvPr/>
            </p:nvSpPr>
            <p:spPr>
              <a:xfrm>
                <a:off x="2829040" y="2058460"/>
                <a:ext cx="636905" cy="4346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B5C69433-3AD8-453C-9987-40DD0D4097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9040" y="2058460"/>
                <a:ext cx="636905" cy="434671"/>
              </a:xfrm>
              <a:prstGeom prst="rect">
                <a:avLst/>
              </a:prstGeom>
              <a:blipFill>
                <a:blip r:embed="rId6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A749334-8CD0-4789-BE4D-CBBAA1AFE8BA}"/>
                  </a:ext>
                </a:extLst>
              </p:cNvPr>
              <p:cNvSpPr/>
              <p:nvPr/>
            </p:nvSpPr>
            <p:spPr>
              <a:xfrm>
                <a:off x="4232609" y="2057400"/>
                <a:ext cx="636905" cy="4349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9A749334-8CD0-4789-BE4D-CBBAA1AFE8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2609" y="2057400"/>
                <a:ext cx="636905" cy="434991"/>
              </a:xfrm>
              <a:prstGeom prst="rect">
                <a:avLst/>
              </a:prstGeom>
              <a:blipFill>
                <a:blip r:embed="rId7"/>
                <a:stretch>
                  <a:fillRect b="-14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1C4854E-820D-4B92-AA56-1C707FB7BEE6}"/>
                  </a:ext>
                </a:extLst>
              </p:cNvPr>
              <p:cNvSpPr/>
              <p:nvPr/>
            </p:nvSpPr>
            <p:spPr>
              <a:xfrm>
                <a:off x="5551613" y="2064471"/>
                <a:ext cx="636905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1C4854E-820D-4B92-AA56-1C707FB7BE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1613" y="2064471"/>
                <a:ext cx="636905" cy="436402"/>
              </a:xfrm>
              <a:prstGeom prst="rect">
                <a:avLst/>
              </a:prstGeom>
              <a:blipFill>
                <a:blip r:embed="rId8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84A7708-B2C0-4FE2-AD43-78977AC275FB}"/>
                  </a:ext>
                </a:extLst>
              </p:cNvPr>
              <p:cNvSpPr/>
              <p:nvPr/>
            </p:nvSpPr>
            <p:spPr>
              <a:xfrm>
                <a:off x="2829040" y="2880409"/>
                <a:ext cx="636905" cy="4346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384A7708-B2C0-4FE2-AD43-78977AC275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9040" y="2880409"/>
                <a:ext cx="636905" cy="434671"/>
              </a:xfrm>
              <a:prstGeom prst="rect">
                <a:avLst/>
              </a:prstGeom>
              <a:blipFill>
                <a:blip r:embed="rId9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A1356B0-ABDE-4FD2-987E-02F691CABF78}"/>
                  </a:ext>
                </a:extLst>
              </p:cNvPr>
              <p:cNvSpPr/>
              <p:nvPr/>
            </p:nvSpPr>
            <p:spPr>
              <a:xfrm>
                <a:off x="4232608" y="2878609"/>
                <a:ext cx="636905" cy="4349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A1356B0-ABDE-4FD2-987E-02F691CABF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2608" y="2878609"/>
                <a:ext cx="636905" cy="434991"/>
              </a:xfrm>
              <a:prstGeom prst="rect">
                <a:avLst/>
              </a:prstGeom>
              <a:blipFill>
                <a:blip r:embed="rId10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8F54FA7-F874-4C3A-9423-FDDD13222F95}"/>
                  </a:ext>
                </a:extLst>
              </p:cNvPr>
              <p:cNvSpPr/>
              <p:nvPr/>
            </p:nvSpPr>
            <p:spPr>
              <a:xfrm>
                <a:off x="5551613" y="2894162"/>
                <a:ext cx="636905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8F54FA7-F874-4C3A-9423-FDDD13222F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1613" y="2894162"/>
                <a:ext cx="636905" cy="436402"/>
              </a:xfrm>
              <a:prstGeom prst="rect">
                <a:avLst/>
              </a:prstGeom>
              <a:blipFill>
                <a:blip r:embed="rId11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7DEB0D6B-A436-41F4-928E-AAB506A1BE60}"/>
                  </a:ext>
                </a:extLst>
              </p:cNvPr>
              <p:cNvSpPr/>
              <p:nvPr/>
            </p:nvSpPr>
            <p:spPr>
              <a:xfrm>
                <a:off x="2887340" y="2512130"/>
                <a:ext cx="4187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7DEB0D6B-A436-41F4-928E-AAB506A1BE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340" y="2512130"/>
                <a:ext cx="418704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D08B0380-32D6-49C0-B8F1-456045DBC852}"/>
                  </a:ext>
                </a:extLst>
              </p:cNvPr>
              <p:cNvSpPr/>
              <p:nvPr/>
            </p:nvSpPr>
            <p:spPr>
              <a:xfrm>
                <a:off x="4267200" y="2509382"/>
                <a:ext cx="4187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D08B0380-32D6-49C0-B8F1-456045DBC8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2509382"/>
                <a:ext cx="418704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615D3EA-A62D-402E-9D3F-78790A9BDF7E}"/>
                  </a:ext>
                </a:extLst>
              </p:cNvPr>
              <p:cNvSpPr/>
              <p:nvPr/>
            </p:nvSpPr>
            <p:spPr>
              <a:xfrm>
                <a:off x="5617018" y="2495650"/>
                <a:ext cx="4187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D615D3EA-A62D-402E-9D3F-78790A9BDF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7018" y="2495650"/>
                <a:ext cx="418704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982D4DE-291D-473E-8BEE-24D6536B08DA}"/>
                  </a:ext>
                </a:extLst>
              </p:cNvPr>
              <p:cNvSpPr/>
              <p:nvPr/>
            </p:nvSpPr>
            <p:spPr>
              <a:xfrm>
                <a:off x="2637384" y="3446311"/>
                <a:ext cx="1020216" cy="4346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b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8982D4DE-291D-473E-8BEE-24D6536B08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7384" y="3446311"/>
                <a:ext cx="1020216" cy="434671"/>
              </a:xfrm>
              <a:prstGeom prst="rect">
                <a:avLst/>
              </a:prstGeom>
              <a:blipFill>
                <a:blip r:embed="rId15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9A8789AE-C2A2-4D98-ADFB-97D42BAFF6AA}"/>
                  </a:ext>
                </a:extLst>
              </p:cNvPr>
              <p:cNvSpPr/>
              <p:nvPr/>
            </p:nvSpPr>
            <p:spPr>
              <a:xfrm>
                <a:off x="4040952" y="3449005"/>
                <a:ext cx="1020216" cy="4346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b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9A8789AE-C2A2-4D98-ADFB-97D42BAFF6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0952" y="3449005"/>
                <a:ext cx="1020216" cy="434671"/>
              </a:xfrm>
              <a:prstGeom prst="rect">
                <a:avLst/>
              </a:prstGeom>
              <a:blipFill>
                <a:blip r:embed="rId16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01EFFB73-58A2-4127-8833-71A868FBB362}"/>
                  </a:ext>
                </a:extLst>
              </p:cNvPr>
              <p:cNvSpPr/>
              <p:nvPr/>
            </p:nvSpPr>
            <p:spPr>
              <a:xfrm>
                <a:off x="5380584" y="3439176"/>
                <a:ext cx="1020216" cy="4346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</m:oMath>
                </a14:m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b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01EFFB73-58A2-4127-8833-71A868FBB3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584" y="3439176"/>
                <a:ext cx="1020216" cy="434671"/>
              </a:xfrm>
              <a:prstGeom prst="rect">
                <a:avLst/>
              </a:prstGeom>
              <a:blipFill>
                <a:blip r:embed="rId17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B47B416-5CAF-4517-BE9A-055763D44BC8}"/>
                  </a:ext>
                </a:extLst>
              </p:cNvPr>
              <p:cNvSpPr/>
              <p:nvPr/>
            </p:nvSpPr>
            <p:spPr>
              <a:xfrm>
                <a:off x="3622248" y="3497649"/>
                <a:ext cx="41870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B47B416-5CAF-4517-BE9A-055763D44B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2248" y="3497649"/>
                <a:ext cx="418704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4D78C8EC-A895-4C19-A27F-8A74C75FB711}"/>
                  </a:ext>
                </a:extLst>
              </p:cNvPr>
              <p:cNvSpPr/>
              <p:nvPr/>
            </p:nvSpPr>
            <p:spPr>
              <a:xfrm>
                <a:off x="5018881" y="3511650"/>
                <a:ext cx="41870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4D78C8EC-A895-4C19-A27F-8A74C75FB7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8881" y="3511650"/>
                <a:ext cx="418704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685935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24" grpId="0"/>
      <p:bldP spid="25" grpId="0"/>
      <p:bldP spid="26" grpId="0"/>
      <p:bldP spid="27" grpId="0"/>
      <p:bldP spid="28" grpId="0"/>
      <p:bldP spid="29" grpId="0"/>
      <p:bldP spid="34" grpId="0"/>
      <p:bldP spid="3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Dot Product </a:t>
            </a:r>
            <a:r>
              <a:rPr lang="zh-CN" altLang="en-US" dirty="0">
                <a:ea typeface="ＭＳ Ｐゴシック" panose="020B0600070205080204" pitchFamily="34" charset="-128"/>
              </a:rPr>
              <a:t>点乘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4. When Nearest Neighbor Does Not Work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 </a:t>
            </a:r>
            <a:r>
              <a:rPr lang="en-US" altLang="zh-CN" dirty="0"/>
              <a:t>4. </a:t>
            </a:r>
            <a:r>
              <a:rPr lang="zh-CN" altLang="en-US" dirty="0"/>
              <a:t>最近邻无效之时</a:t>
            </a:r>
            <a:endParaRPr lang="en-US" altLang="zh-C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DA911F-BB8D-4DD5-A76F-06F093447676}"/>
              </a:ext>
            </a:extLst>
          </p:cNvPr>
          <p:cNvSpPr txBox="1"/>
          <p:nvPr/>
        </p:nvSpPr>
        <p:spPr>
          <a:xfrm>
            <a:off x="100922" y="3022598"/>
            <a:ext cx="34290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my saving </a:t>
            </a:r>
            <a:r>
              <a:rPr lang="en-US" altLang="zh-CN" sz="2200" dirty="0">
                <a:solidFill>
                  <a:srgbClr val="C00000"/>
                </a:solidFill>
              </a:rPr>
              <a:t>interest</a:t>
            </a:r>
            <a:r>
              <a:rPr lang="en-US" altLang="zh-CN" sz="2200" dirty="0"/>
              <a:t> rate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ADD10C-126B-4EA9-9F67-592D5EF315AC}"/>
              </a:ext>
            </a:extLst>
          </p:cNvPr>
          <p:cNvSpPr txBox="1"/>
          <p:nvPr/>
        </p:nvSpPr>
        <p:spPr>
          <a:xfrm>
            <a:off x="3596481" y="1766212"/>
            <a:ext cx="1219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rate</a:t>
            </a:r>
            <a:endParaRPr lang="zh-CN" altLang="en-US" sz="2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166C99-F862-484B-9F46-091AB62967D8}"/>
              </a:ext>
            </a:extLst>
          </p:cNvPr>
          <p:cNvSpPr txBox="1"/>
          <p:nvPr/>
        </p:nvSpPr>
        <p:spPr>
          <a:xfrm>
            <a:off x="5048250" y="1740355"/>
            <a:ext cx="1219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my</a:t>
            </a:r>
            <a:endParaRPr lang="zh-CN" altLang="en-US" sz="2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A3464C-1E38-4252-88B6-B5FE45710C44}"/>
              </a:ext>
            </a:extLst>
          </p:cNvPr>
          <p:cNvSpPr txBox="1"/>
          <p:nvPr/>
        </p:nvSpPr>
        <p:spPr>
          <a:xfrm>
            <a:off x="6553200" y="1759406"/>
            <a:ext cx="1219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saving</a:t>
            </a:r>
            <a:endParaRPr lang="zh-CN" altLang="en-US" sz="2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7535D1-416F-4A66-BB69-134DD7FF5C4B}"/>
              </a:ext>
            </a:extLst>
          </p:cNvPr>
          <p:cNvSpPr txBox="1"/>
          <p:nvPr/>
        </p:nvSpPr>
        <p:spPr>
          <a:xfrm>
            <a:off x="633391" y="2197099"/>
            <a:ext cx="23640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solidFill>
                  <a:srgbClr val="C00000"/>
                </a:solidFill>
              </a:rPr>
              <a:t>interest</a:t>
            </a:r>
            <a:r>
              <a:rPr lang="en-US" altLang="zh-CN" sz="2200" dirty="0"/>
              <a:t> rate</a:t>
            </a:r>
            <a:endParaRPr lang="zh-CN" altLang="en-US" sz="2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C271A6-4690-40ED-B553-50601757C213}"/>
              </a:ext>
            </a:extLst>
          </p:cNvPr>
          <p:cNvSpPr txBox="1"/>
          <p:nvPr/>
        </p:nvSpPr>
        <p:spPr>
          <a:xfrm>
            <a:off x="3786048" y="2197099"/>
            <a:ext cx="8621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</a:t>
            </a:r>
            <a:endParaRPr lang="zh-CN" altLang="en-US" sz="2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5C7EE4-759A-49E0-81FD-B1EBAAD2476F}"/>
              </a:ext>
            </a:extLst>
          </p:cNvPr>
          <p:cNvSpPr txBox="1"/>
          <p:nvPr/>
        </p:nvSpPr>
        <p:spPr>
          <a:xfrm>
            <a:off x="5240664" y="2197552"/>
            <a:ext cx="8621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0</a:t>
            </a:r>
            <a:endParaRPr lang="zh-CN" altLang="en-US" sz="2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ABAF26-02B4-4986-A50A-8002DD19C679}"/>
              </a:ext>
            </a:extLst>
          </p:cNvPr>
          <p:cNvSpPr txBox="1"/>
          <p:nvPr/>
        </p:nvSpPr>
        <p:spPr>
          <a:xfrm>
            <a:off x="6731724" y="2171242"/>
            <a:ext cx="8621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0</a:t>
            </a:r>
            <a:endParaRPr lang="zh-CN" altLang="en-US" sz="2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D460A2C-D922-4CAE-BC68-4D01A8744FEC}"/>
              </a:ext>
            </a:extLst>
          </p:cNvPr>
          <p:cNvSpPr txBox="1"/>
          <p:nvPr/>
        </p:nvSpPr>
        <p:spPr>
          <a:xfrm>
            <a:off x="3775005" y="3022598"/>
            <a:ext cx="8621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</a:t>
            </a:r>
            <a:endParaRPr lang="zh-CN" altLang="en-US" sz="2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8441668-C567-447D-BDE6-DA5D37CFC645}"/>
              </a:ext>
            </a:extLst>
          </p:cNvPr>
          <p:cNvSpPr txBox="1"/>
          <p:nvPr/>
        </p:nvSpPr>
        <p:spPr>
          <a:xfrm>
            <a:off x="5240664" y="3009897"/>
            <a:ext cx="8621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</a:t>
            </a:r>
            <a:endParaRPr lang="zh-CN" altLang="en-US" sz="2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3FFD93-ADDA-4FC2-90F9-69A655107C3A}"/>
              </a:ext>
            </a:extLst>
          </p:cNvPr>
          <p:cNvSpPr txBox="1"/>
          <p:nvPr/>
        </p:nvSpPr>
        <p:spPr>
          <a:xfrm>
            <a:off x="6712836" y="2998113"/>
            <a:ext cx="8621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</a:t>
            </a:r>
            <a:endParaRPr lang="zh-CN" altLang="en-US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E1C54C6-C473-4590-87DA-ABAB465F1C45}"/>
                  </a:ext>
                </a:extLst>
              </p:cNvPr>
              <p:cNvSpPr/>
              <p:nvPr/>
            </p:nvSpPr>
            <p:spPr>
              <a:xfrm>
                <a:off x="4007772" y="2591711"/>
                <a:ext cx="4187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E1C54C6-C473-4590-87DA-ABAB465F1C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7772" y="2591711"/>
                <a:ext cx="41870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4008B1F8-57D6-4EE0-9C00-2CA5248CD18A}"/>
              </a:ext>
            </a:extLst>
          </p:cNvPr>
          <p:cNvSpPr txBox="1"/>
          <p:nvPr/>
        </p:nvSpPr>
        <p:spPr>
          <a:xfrm>
            <a:off x="3775005" y="3530330"/>
            <a:ext cx="8621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</a:t>
            </a:r>
            <a:endParaRPr lang="zh-CN" altLang="en-US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35D97FEB-9FF5-4863-B8BA-DD2A85DE12D5}"/>
                  </a:ext>
                </a:extLst>
              </p:cNvPr>
              <p:cNvSpPr/>
              <p:nvPr/>
            </p:nvSpPr>
            <p:spPr>
              <a:xfrm>
                <a:off x="5462388" y="2608930"/>
                <a:ext cx="4187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35D97FEB-9FF5-4863-B8BA-DD2A85DE12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388" y="2608930"/>
                <a:ext cx="41870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7FB6F4A3-D602-4CA7-9827-083B879FBFF2}"/>
              </a:ext>
            </a:extLst>
          </p:cNvPr>
          <p:cNvSpPr txBox="1"/>
          <p:nvPr/>
        </p:nvSpPr>
        <p:spPr>
          <a:xfrm>
            <a:off x="5240664" y="3561109"/>
            <a:ext cx="8621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0</a:t>
            </a:r>
            <a:endParaRPr lang="zh-CN" altLang="en-US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6D251040-B46C-4153-8599-43E82835B886}"/>
                  </a:ext>
                </a:extLst>
              </p:cNvPr>
              <p:cNvSpPr/>
              <p:nvPr/>
            </p:nvSpPr>
            <p:spPr>
              <a:xfrm>
                <a:off x="6953448" y="2600122"/>
                <a:ext cx="4187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6D251040-B46C-4153-8599-43E82835B8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3448" y="2600122"/>
                <a:ext cx="41870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DC49F9FD-1D47-4501-B4DF-D5137347B34B}"/>
              </a:ext>
            </a:extLst>
          </p:cNvPr>
          <p:cNvSpPr txBox="1"/>
          <p:nvPr/>
        </p:nvSpPr>
        <p:spPr>
          <a:xfrm>
            <a:off x="6731724" y="3561108"/>
            <a:ext cx="8621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0</a:t>
            </a:r>
            <a:endParaRPr lang="zh-CN" altLang="en-US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D671B6CE-351D-44D2-B8C9-09A132309B20}"/>
                  </a:ext>
                </a:extLst>
              </p:cNvPr>
              <p:cNvSpPr/>
              <p:nvPr/>
            </p:nvSpPr>
            <p:spPr>
              <a:xfrm>
                <a:off x="4742259" y="3546483"/>
                <a:ext cx="41870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D671B6CE-351D-44D2-B8C9-09A132309B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2259" y="3546483"/>
                <a:ext cx="41870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AEDD13C-DEB6-4099-A8D0-50C3F4616696}"/>
                  </a:ext>
                </a:extLst>
              </p:cNvPr>
              <p:cNvSpPr/>
              <p:nvPr/>
            </p:nvSpPr>
            <p:spPr>
              <a:xfrm>
                <a:off x="6287619" y="3561108"/>
                <a:ext cx="41870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AEDD13C-DEB6-4099-A8D0-50C3F46166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7619" y="3561108"/>
                <a:ext cx="41870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E577977-8FE0-4431-8383-5CB9D09D7712}"/>
                  </a:ext>
                </a:extLst>
              </p:cNvPr>
              <p:cNvSpPr txBox="1"/>
              <p:nvPr/>
            </p:nvSpPr>
            <p:spPr>
              <a:xfrm>
                <a:off x="7401903" y="3549666"/>
                <a:ext cx="86215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200" dirty="0"/>
                  <a:t> 1</a:t>
                </a:r>
                <a:endParaRPr lang="zh-CN" altLang="en-US" sz="22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E577977-8FE0-4431-8383-5CB9D09D77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1903" y="3549666"/>
                <a:ext cx="862152" cy="430887"/>
              </a:xfrm>
              <a:prstGeom prst="rect">
                <a:avLst/>
              </a:prstGeom>
              <a:blipFill>
                <a:blip r:embed="rId11"/>
                <a:stretch>
                  <a:fillRect t="-8451" b="-28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3767841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2" grpId="0"/>
      <p:bldP spid="23" grpId="0"/>
      <p:bldP spid="30" grpId="0"/>
      <p:bldP spid="31" grpId="0"/>
      <p:bldP spid="32" grpId="0"/>
      <p:bldP spid="33" grpId="0"/>
      <p:bldP spid="35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Dot Product </a:t>
            </a:r>
            <a:r>
              <a:rPr lang="zh-CN" altLang="en-US" dirty="0">
                <a:ea typeface="ＭＳ Ｐゴシック" panose="020B0600070205080204" pitchFamily="34" charset="-128"/>
              </a:rPr>
              <a:t>点乘 </a:t>
            </a:r>
            <a:r>
              <a:rPr lang="en-US" altLang="zh-CN" dirty="0">
                <a:ea typeface="ＭＳ Ｐゴシック" panose="020B0600070205080204" pitchFamily="34" charset="-128"/>
              </a:rPr>
              <a:t>(3)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4. When Nearest Neighbor Does Not Work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 </a:t>
            </a:r>
            <a:r>
              <a:rPr lang="en-US" altLang="zh-CN" dirty="0"/>
              <a:t>4. </a:t>
            </a:r>
            <a:r>
              <a:rPr lang="zh-CN" altLang="en-US" dirty="0"/>
              <a:t>最近邻无效之时</a:t>
            </a:r>
            <a:endParaRPr lang="en-US" altLang="zh-C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DA911F-BB8D-4DD5-A76F-06F093447676}"/>
              </a:ext>
            </a:extLst>
          </p:cNvPr>
          <p:cNvSpPr txBox="1"/>
          <p:nvPr/>
        </p:nvSpPr>
        <p:spPr>
          <a:xfrm>
            <a:off x="100922" y="3022598"/>
            <a:ext cx="34290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my </a:t>
            </a:r>
            <a:r>
              <a:rPr lang="en-US" altLang="zh-CN" sz="2200" dirty="0">
                <a:solidFill>
                  <a:srgbClr val="C00000"/>
                </a:solidFill>
              </a:rPr>
              <a:t>interest</a:t>
            </a:r>
            <a:r>
              <a:rPr lang="en-US" altLang="zh-CN" sz="2200" dirty="0"/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ADD10C-126B-4EA9-9F67-592D5EF315AC}"/>
              </a:ext>
            </a:extLst>
          </p:cNvPr>
          <p:cNvSpPr txBox="1"/>
          <p:nvPr/>
        </p:nvSpPr>
        <p:spPr>
          <a:xfrm>
            <a:off x="3596481" y="1766212"/>
            <a:ext cx="1219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rate</a:t>
            </a:r>
            <a:endParaRPr lang="zh-CN" altLang="en-US" sz="2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166C99-F862-484B-9F46-091AB62967D8}"/>
              </a:ext>
            </a:extLst>
          </p:cNvPr>
          <p:cNvSpPr txBox="1"/>
          <p:nvPr/>
        </p:nvSpPr>
        <p:spPr>
          <a:xfrm>
            <a:off x="5048250" y="1740355"/>
            <a:ext cx="1219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my</a:t>
            </a:r>
            <a:endParaRPr lang="zh-CN" altLang="en-US" sz="2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A3464C-1E38-4252-88B6-B5FE45710C44}"/>
              </a:ext>
            </a:extLst>
          </p:cNvPr>
          <p:cNvSpPr txBox="1"/>
          <p:nvPr/>
        </p:nvSpPr>
        <p:spPr>
          <a:xfrm>
            <a:off x="6553200" y="1759406"/>
            <a:ext cx="1219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saving</a:t>
            </a:r>
            <a:endParaRPr lang="zh-CN" altLang="en-US" sz="2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7535D1-416F-4A66-BB69-134DD7FF5C4B}"/>
              </a:ext>
            </a:extLst>
          </p:cNvPr>
          <p:cNvSpPr txBox="1"/>
          <p:nvPr/>
        </p:nvSpPr>
        <p:spPr>
          <a:xfrm>
            <a:off x="633391" y="2197099"/>
            <a:ext cx="23640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>
                <a:solidFill>
                  <a:srgbClr val="C00000"/>
                </a:solidFill>
              </a:rPr>
              <a:t>interest</a:t>
            </a:r>
            <a:r>
              <a:rPr lang="en-US" altLang="zh-CN" sz="2200" dirty="0"/>
              <a:t> rate</a:t>
            </a:r>
            <a:endParaRPr lang="zh-CN" altLang="en-US" sz="2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C271A6-4690-40ED-B553-50601757C213}"/>
              </a:ext>
            </a:extLst>
          </p:cNvPr>
          <p:cNvSpPr txBox="1"/>
          <p:nvPr/>
        </p:nvSpPr>
        <p:spPr>
          <a:xfrm>
            <a:off x="3786048" y="2197099"/>
            <a:ext cx="8621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</a:t>
            </a:r>
            <a:endParaRPr lang="zh-CN" altLang="en-US" sz="2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5C7EE4-759A-49E0-81FD-B1EBAAD2476F}"/>
              </a:ext>
            </a:extLst>
          </p:cNvPr>
          <p:cNvSpPr txBox="1"/>
          <p:nvPr/>
        </p:nvSpPr>
        <p:spPr>
          <a:xfrm>
            <a:off x="5240664" y="2197552"/>
            <a:ext cx="8621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0</a:t>
            </a:r>
            <a:endParaRPr lang="zh-CN" altLang="en-US" sz="2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2ABAF26-02B4-4986-A50A-8002DD19C679}"/>
              </a:ext>
            </a:extLst>
          </p:cNvPr>
          <p:cNvSpPr txBox="1"/>
          <p:nvPr/>
        </p:nvSpPr>
        <p:spPr>
          <a:xfrm>
            <a:off x="6731724" y="2171242"/>
            <a:ext cx="8621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0</a:t>
            </a:r>
            <a:endParaRPr lang="zh-CN" altLang="en-US" sz="2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D460A2C-D922-4CAE-BC68-4D01A8744FEC}"/>
              </a:ext>
            </a:extLst>
          </p:cNvPr>
          <p:cNvSpPr txBox="1"/>
          <p:nvPr/>
        </p:nvSpPr>
        <p:spPr>
          <a:xfrm>
            <a:off x="3775005" y="3022598"/>
            <a:ext cx="8621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0</a:t>
            </a:r>
            <a:endParaRPr lang="zh-CN" altLang="en-US" sz="2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8441668-C567-447D-BDE6-DA5D37CFC645}"/>
              </a:ext>
            </a:extLst>
          </p:cNvPr>
          <p:cNvSpPr txBox="1"/>
          <p:nvPr/>
        </p:nvSpPr>
        <p:spPr>
          <a:xfrm>
            <a:off x="5240664" y="3009897"/>
            <a:ext cx="8621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1</a:t>
            </a:r>
            <a:endParaRPr lang="zh-CN" altLang="en-US" sz="2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3FFD93-ADDA-4FC2-90F9-69A655107C3A}"/>
              </a:ext>
            </a:extLst>
          </p:cNvPr>
          <p:cNvSpPr txBox="1"/>
          <p:nvPr/>
        </p:nvSpPr>
        <p:spPr>
          <a:xfrm>
            <a:off x="6712836" y="2998113"/>
            <a:ext cx="8621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0</a:t>
            </a:r>
            <a:endParaRPr lang="zh-CN" altLang="en-US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E1C54C6-C473-4590-87DA-ABAB465F1C45}"/>
                  </a:ext>
                </a:extLst>
              </p:cNvPr>
              <p:cNvSpPr/>
              <p:nvPr/>
            </p:nvSpPr>
            <p:spPr>
              <a:xfrm>
                <a:off x="4007772" y="2591711"/>
                <a:ext cx="4187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DE1C54C6-C473-4590-87DA-ABAB465F1C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7772" y="2591711"/>
                <a:ext cx="41870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4008B1F8-57D6-4EE0-9C00-2CA5248CD18A}"/>
              </a:ext>
            </a:extLst>
          </p:cNvPr>
          <p:cNvSpPr txBox="1"/>
          <p:nvPr/>
        </p:nvSpPr>
        <p:spPr>
          <a:xfrm>
            <a:off x="3775005" y="3530330"/>
            <a:ext cx="8621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0</a:t>
            </a:r>
            <a:endParaRPr lang="zh-CN" altLang="en-US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35D97FEB-9FF5-4863-B8BA-DD2A85DE12D5}"/>
                  </a:ext>
                </a:extLst>
              </p:cNvPr>
              <p:cNvSpPr/>
              <p:nvPr/>
            </p:nvSpPr>
            <p:spPr>
              <a:xfrm>
                <a:off x="5462388" y="2608930"/>
                <a:ext cx="4187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9" name="Rectangle 38">
                <a:extLst>
                  <a:ext uri="{FF2B5EF4-FFF2-40B4-BE49-F238E27FC236}">
                    <a16:creationId xmlns:a16="http://schemas.microsoft.com/office/drawing/2014/main" id="{35D97FEB-9FF5-4863-B8BA-DD2A85DE12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2388" y="2608930"/>
                <a:ext cx="41870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7FB6F4A3-D602-4CA7-9827-083B879FBFF2}"/>
              </a:ext>
            </a:extLst>
          </p:cNvPr>
          <p:cNvSpPr txBox="1"/>
          <p:nvPr/>
        </p:nvSpPr>
        <p:spPr>
          <a:xfrm>
            <a:off x="5240664" y="3561109"/>
            <a:ext cx="8621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0</a:t>
            </a:r>
            <a:endParaRPr lang="zh-CN" altLang="en-US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6D251040-B46C-4153-8599-43E82835B886}"/>
                  </a:ext>
                </a:extLst>
              </p:cNvPr>
              <p:cNvSpPr/>
              <p:nvPr/>
            </p:nvSpPr>
            <p:spPr>
              <a:xfrm>
                <a:off x="6953448" y="2600122"/>
                <a:ext cx="41870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6D251040-B46C-4153-8599-43E82835B8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3448" y="2600122"/>
                <a:ext cx="41870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DC49F9FD-1D47-4501-B4DF-D5137347B34B}"/>
              </a:ext>
            </a:extLst>
          </p:cNvPr>
          <p:cNvSpPr txBox="1"/>
          <p:nvPr/>
        </p:nvSpPr>
        <p:spPr>
          <a:xfrm>
            <a:off x="6731724" y="3561108"/>
            <a:ext cx="8621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0</a:t>
            </a:r>
            <a:endParaRPr lang="zh-CN" altLang="en-US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D671B6CE-351D-44D2-B8C9-09A132309B20}"/>
                  </a:ext>
                </a:extLst>
              </p:cNvPr>
              <p:cNvSpPr/>
              <p:nvPr/>
            </p:nvSpPr>
            <p:spPr>
              <a:xfrm>
                <a:off x="4742259" y="3546483"/>
                <a:ext cx="41870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D671B6CE-351D-44D2-B8C9-09A132309B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2259" y="3546483"/>
                <a:ext cx="41870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AEDD13C-DEB6-4099-A8D0-50C3F4616696}"/>
                  </a:ext>
                </a:extLst>
              </p:cNvPr>
              <p:cNvSpPr/>
              <p:nvPr/>
            </p:nvSpPr>
            <p:spPr>
              <a:xfrm>
                <a:off x="6287619" y="3561108"/>
                <a:ext cx="41870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AEDD13C-DEB6-4099-A8D0-50C3F46166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7619" y="3561108"/>
                <a:ext cx="41870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E577977-8FE0-4431-8383-5CB9D09D7712}"/>
                  </a:ext>
                </a:extLst>
              </p:cNvPr>
              <p:cNvSpPr txBox="1"/>
              <p:nvPr/>
            </p:nvSpPr>
            <p:spPr>
              <a:xfrm>
                <a:off x="7401903" y="3549666"/>
                <a:ext cx="862152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2200" dirty="0"/>
                  <a:t> 0</a:t>
                </a:r>
                <a:endParaRPr lang="zh-CN" altLang="en-US" sz="22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CE577977-8FE0-4431-8383-5CB9D09D77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01903" y="3549666"/>
                <a:ext cx="862152" cy="430887"/>
              </a:xfrm>
              <a:prstGeom prst="rect">
                <a:avLst/>
              </a:prstGeom>
              <a:blipFill>
                <a:blip r:embed="rId11"/>
                <a:stretch>
                  <a:fillRect t="-8451" b="-281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C3F8A188-9370-47C8-8E3D-83D9C10FFD93}"/>
              </a:ext>
            </a:extLst>
          </p:cNvPr>
          <p:cNvSpPr/>
          <p:nvPr/>
        </p:nvSpPr>
        <p:spPr>
          <a:xfrm>
            <a:off x="190500" y="4412112"/>
            <a:ext cx="8763000" cy="100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In the illustrative example, the dot product extracts the extent  of overlapping in the context</a:t>
            </a:r>
          </a:p>
          <a:p>
            <a:pPr marL="0" lvl="1" algn="ctr" eaLnBrk="1" hangingPunct="1">
              <a:lnSpc>
                <a:spcPct val="90000"/>
              </a:lnSpc>
            </a:pPr>
            <a:r>
              <a:rPr lang="zh-CN" altLang="en-US" sz="2200" dirty="0">
                <a:latin typeface="+mn-lt"/>
                <a:ea typeface="宋体" panose="02010600030101010101" pitchFamily="2" charset="-122"/>
              </a:rPr>
              <a:t>在这个说明用例中，点乘抽取出了上下文的重合度</a:t>
            </a:r>
            <a:endParaRPr lang="en-US" altLang="ja-JP" sz="2200" dirty="0">
              <a:solidFill>
                <a:srgbClr val="FF0000"/>
              </a:solidFill>
              <a:latin typeface="+mn-lt"/>
              <a:ea typeface="宋体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882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3" grpId="0"/>
      <p:bldP spid="35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2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Dot Product </a:t>
            </a:r>
            <a:r>
              <a:rPr lang="zh-CN" altLang="en-US" dirty="0">
                <a:ea typeface="ＭＳ Ｐゴシック" panose="020B0600070205080204" pitchFamily="34" charset="-128"/>
              </a:rPr>
              <a:t>点乘 </a:t>
            </a:r>
            <a:r>
              <a:rPr lang="en-US" altLang="zh-CN" dirty="0">
                <a:ea typeface="ＭＳ Ｐゴシック" panose="020B0600070205080204" pitchFamily="34" charset="-128"/>
              </a:rPr>
              <a:t>(4)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4. When Nearest Neighbor Does Not Work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 </a:t>
            </a:r>
            <a:r>
              <a:rPr lang="en-US" altLang="zh-CN" dirty="0"/>
              <a:t>4. </a:t>
            </a:r>
            <a:r>
              <a:rPr lang="zh-CN" altLang="en-US" dirty="0"/>
              <a:t>最近邻无效之时</a:t>
            </a:r>
            <a:endParaRPr lang="en-US" altLang="zh-C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B7938EA-EE71-4332-8EE0-F95024CA66A2}"/>
              </a:ext>
            </a:extLst>
          </p:cNvPr>
          <p:cNvSpPr/>
          <p:nvPr/>
        </p:nvSpPr>
        <p:spPr>
          <a:xfrm>
            <a:off x="800100" y="1828800"/>
            <a:ext cx="7543800" cy="701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Dot product in a higher dimensional case is similar  </a:t>
            </a:r>
          </a:p>
          <a:p>
            <a:pPr marL="0" lvl="1" algn="ctr" eaLnBrk="1" hangingPunct="1">
              <a:lnSpc>
                <a:spcPct val="90000"/>
              </a:lnSpc>
            </a:pPr>
            <a:r>
              <a:rPr lang="zh-CN" altLang="en-US" sz="2200" dirty="0">
                <a:latin typeface="+mn-lt"/>
                <a:ea typeface="宋体" panose="02010600030101010101" pitchFamily="2" charset="-122"/>
              </a:rPr>
              <a:t>更高维度的点乘也是类似的</a:t>
            </a:r>
            <a:endParaRPr lang="en-US" altLang="ja-JP" sz="2200" dirty="0">
              <a:solidFill>
                <a:srgbClr val="FF0000"/>
              </a:solidFill>
              <a:latin typeface="+mn-lt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44E0BB5-08E5-4C7B-940F-6286CA723622}"/>
                  </a:ext>
                </a:extLst>
              </p:cNvPr>
              <p:cNvSpPr/>
              <p:nvPr/>
            </p:nvSpPr>
            <p:spPr>
              <a:xfrm>
                <a:off x="2590752" y="2769530"/>
                <a:ext cx="3962495" cy="4364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…,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…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44E0BB5-08E5-4C7B-940F-6286CA7236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752" y="2769530"/>
                <a:ext cx="3962495" cy="436402"/>
              </a:xfrm>
              <a:prstGeom prst="rect">
                <a:avLst/>
              </a:prstGeom>
              <a:blipFill>
                <a:blip r:embed="rId5"/>
                <a:stretch>
                  <a:fillRect b="-97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12FC450-8C08-41A5-B82F-6FEEC0892BD9}"/>
                  </a:ext>
                </a:extLst>
              </p:cNvPr>
              <p:cNvSpPr/>
              <p:nvPr/>
            </p:nvSpPr>
            <p:spPr>
              <a:xfrm>
                <a:off x="2735022" y="3371217"/>
                <a:ext cx="3802195" cy="4349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12FC450-8C08-41A5-B82F-6FEEC0892B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5022" y="3371217"/>
                <a:ext cx="3802195" cy="434991"/>
              </a:xfrm>
              <a:prstGeom prst="rect">
                <a:avLst/>
              </a:prstGeom>
              <a:blipFill>
                <a:blip r:embed="rId6"/>
                <a:stretch>
                  <a:fillRect b="-28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3877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Vector Length </a:t>
            </a:r>
            <a:r>
              <a:rPr lang="zh-CN" altLang="en-US" dirty="0">
                <a:ea typeface="ＭＳ Ｐゴシック" panose="020B0600070205080204" pitchFamily="34" charset="-128"/>
              </a:rPr>
              <a:t>向量长度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4. When Nearest Neighbor Does Not Work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 </a:t>
            </a:r>
            <a:r>
              <a:rPr lang="en-US" altLang="zh-CN" dirty="0"/>
              <a:t>4. </a:t>
            </a:r>
            <a:r>
              <a:rPr lang="zh-CN" altLang="en-US" dirty="0"/>
              <a:t>最近邻无效之时</a:t>
            </a:r>
            <a:endParaRPr lang="en-US" altLang="zh-C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F8A188-9370-47C8-8E3D-83D9C10FFD93}"/>
              </a:ext>
            </a:extLst>
          </p:cNvPr>
          <p:cNvSpPr/>
          <p:nvPr/>
        </p:nvSpPr>
        <p:spPr>
          <a:xfrm>
            <a:off x="57150" y="1752600"/>
            <a:ext cx="9182100" cy="100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The dot product has extracted the extent  of overlapping in the context. Why do we need vector lengths in denominator?</a:t>
            </a:r>
          </a:p>
          <a:p>
            <a:pPr marL="0" lvl="1" algn="ctr" eaLnBrk="1" hangingPunct="1">
              <a:lnSpc>
                <a:spcPct val="90000"/>
              </a:lnSpc>
            </a:pPr>
            <a:r>
              <a:rPr lang="zh-CN" altLang="en-US" sz="2200" dirty="0">
                <a:latin typeface="+mn-lt"/>
                <a:ea typeface="宋体" panose="02010600030101010101" pitchFamily="2" charset="-122"/>
              </a:rPr>
              <a:t>点乘已经抽取出了上下文的重合度，为什么我们还要在分母里的向量长度？</a:t>
            </a:r>
            <a:endParaRPr lang="en-US" altLang="ja-JP" sz="2200" dirty="0">
              <a:solidFill>
                <a:srgbClr val="FF0000"/>
              </a:solidFill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F88B700-0BD1-4F90-AE46-E091B258B55D}"/>
              </a:ext>
            </a:extLst>
          </p:cNvPr>
          <p:cNvSpPr/>
          <p:nvPr/>
        </p:nvSpPr>
        <p:spPr>
          <a:xfrm>
            <a:off x="1219200" y="2831717"/>
            <a:ext cx="6705600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Consider the case below  </a:t>
            </a:r>
            <a:r>
              <a:rPr lang="zh-CN" altLang="en-US" sz="2200" dirty="0">
                <a:latin typeface="+mn-lt"/>
                <a:ea typeface="宋体" panose="02010600030101010101" pitchFamily="2" charset="-122"/>
              </a:rPr>
              <a:t>看看下面的例子</a:t>
            </a:r>
            <a:endParaRPr lang="en-US" altLang="ja-JP" sz="2200" dirty="0">
              <a:solidFill>
                <a:srgbClr val="FF0000"/>
              </a:solidFill>
              <a:latin typeface="+mn-lt"/>
              <a:ea typeface="宋体" panose="02010600030101010101" pitchFamily="2" charset="-122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D7BE5E-81AF-4CDA-8B65-FC97A9CC949C}"/>
              </a:ext>
            </a:extLst>
          </p:cNvPr>
          <p:cNvSpPr txBox="1"/>
          <p:nvPr/>
        </p:nvSpPr>
        <p:spPr>
          <a:xfrm>
            <a:off x="495300" y="3338018"/>
            <a:ext cx="81534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Which one of the two is more similar to ‘</a:t>
            </a:r>
            <a:r>
              <a:rPr lang="en-US" altLang="zh-CN" sz="2200" dirty="0">
                <a:solidFill>
                  <a:srgbClr val="C00000"/>
                </a:solidFill>
              </a:rPr>
              <a:t>interest</a:t>
            </a:r>
            <a:r>
              <a:rPr lang="en-US" altLang="zh-CN" sz="2200" dirty="0"/>
              <a:t> rate’? ‘my saving </a:t>
            </a:r>
            <a:r>
              <a:rPr lang="en-US" altLang="zh-CN" sz="2200" dirty="0">
                <a:solidFill>
                  <a:srgbClr val="C00000"/>
                </a:solidFill>
              </a:rPr>
              <a:t>interest</a:t>
            </a:r>
            <a:r>
              <a:rPr lang="en-US" altLang="zh-CN" sz="2200" dirty="0"/>
              <a:t> rate’ or ‘</a:t>
            </a:r>
            <a:r>
              <a:rPr lang="en-US" altLang="zh-CN" sz="2200" dirty="0">
                <a:solidFill>
                  <a:srgbClr val="C00000"/>
                </a:solidFill>
              </a:rPr>
              <a:t>interest</a:t>
            </a:r>
            <a:r>
              <a:rPr lang="en-US" altLang="zh-CN" sz="2200" dirty="0"/>
              <a:t> rate’?</a:t>
            </a:r>
          </a:p>
          <a:p>
            <a:pPr algn="ctr"/>
            <a:r>
              <a:rPr lang="zh-CN" altLang="en-US" sz="2200" dirty="0"/>
              <a:t>两者中的哪个和“</a:t>
            </a:r>
            <a:r>
              <a:rPr lang="en-US" altLang="zh-CN" sz="2200" dirty="0">
                <a:solidFill>
                  <a:srgbClr val="C00000"/>
                </a:solidFill>
              </a:rPr>
              <a:t>interest</a:t>
            </a:r>
            <a:r>
              <a:rPr lang="en-US" altLang="zh-CN" sz="2200" dirty="0"/>
              <a:t> rate</a:t>
            </a:r>
            <a:r>
              <a:rPr lang="zh-CN" altLang="en-US" sz="2200" dirty="0"/>
              <a:t>”比更相似？“</a:t>
            </a:r>
            <a:r>
              <a:rPr lang="en-US" altLang="zh-CN" sz="2200" dirty="0"/>
              <a:t>my saving </a:t>
            </a:r>
            <a:r>
              <a:rPr lang="en-US" altLang="zh-CN" sz="2200" dirty="0">
                <a:solidFill>
                  <a:srgbClr val="C00000"/>
                </a:solidFill>
              </a:rPr>
              <a:t>interest</a:t>
            </a:r>
            <a:r>
              <a:rPr lang="en-US" altLang="zh-CN" sz="2200" dirty="0"/>
              <a:t> rate</a:t>
            </a:r>
            <a:r>
              <a:rPr lang="zh-CN" altLang="en-US" sz="2200" dirty="0"/>
              <a:t>”还是“</a:t>
            </a:r>
            <a:r>
              <a:rPr lang="en-US" altLang="zh-CN" sz="2200" dirty="0">
                <a:solidFill>
                  <a:srgbClr val="C00000"/>
                </a:solidFill>
              </a:rPr>
              <a:t>interest</a:t>
            </a:r>
            <a:r>
              <a:rPr lang="en-US" altLang="zh-CN" sz="2200" dirty="0"/>
              <a:t> rate</a:t>
            </a:r>
            <a:r>
              <a:rPr lang="zh-CN" altLang="en-US" sz="2200" dirty="0"/>
              <a:t>”</a:t>
            </a:r>
            <a:endParaRPr lang="en-US" altLang="zh-CN" sz="2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A8CF37-D6F8-4562-9514-0D7779AE4968}"/>
              </a:ext>
            </a:extLst>
          </p:cNvPr>
          <p:cNvSpPr txBox="1"/>
          <p:nvPr/>
        </p:nvSpPr>
        <p:spPr>
          <a:xfrm>
            <a:off x="371475" y="4893837"/>
            <a:ext cx="840105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Intuitively, ‘</a:t>
            </a:r>
            <a:r>
              <a:rPr lang="en-US" altLang="zh-CN" sz="2200" dirty="0">
                <a:solidFill>
                  <a:srgbClr val="C00000"/>
                </a:solidFill>
              </a:rPr>
              <a:t>interest</a:t>
            </a:r>
            <a:r>
              <a:rPr lang="en-US" altLang="zh-CN" sz="2200" dirty="0"/>
              <a:t> rate’ is more similar to ‘</a:t>
            </a:r>
            <a:r>
              <a:rPr lang="en-US" altLang="zh-CN" sz="2200" dirty="0">
                <a:solidFill>
                  <a:srgbClr val="C00000"/>
                </a:solidFill>
              </a:rPr>
              <a:t>interest</a:t>
            </a:r>
            <a:r>
              <a:rPr lang="en-US" altLang="zh-CN" sz="2200" dirty="0"/>
              <a:t> rate’, since they are identical  </a:t>
            </a:r>
            <a:r>
              <a:rPr lang="zh-CN" altLang="en-US" sz="2200" dirty="0"/>
              <a:t>直观而言，“</a:t>
            </a:r>
            <a:r>
              <a:rPr lang="en-US" altLang="zh-CN" sz="2200" dirty="0">
                <a:solidFill>
                  <a:srgbClr val="C00000"/>
                </a:solidFill>
              </a:rPr>
              <a:t>interest</a:t>
            </a:r>
            <a:r>
              <a:rPr lang="en-US" altLang="zh-CN" sz="2200" dirty="0"/>
              <a:t> rate</a:t>
            </a:r>
            <a:r>
              <a:rPr lang="zh-CN" altLang="en-US" sz="2200" dirty="0"/>
              <a:t>”和“</a:t>
            </a:r>
            <a:r>
              <a:rPr lang="en-US" altLang="zh-CN" sz="2200" dirty="0">
                <a:solidFill>
                  <a:srgbClr val="C00000"/>
                </a:solidFill>
              </a:rPr>
              <a:t>interest</a:t>
            </a:r>
            <a:r>
              <a:rPr lang="en-US" altLang="zh-CN" sz="2200" dirty="0"/>
              <a:t> rate</a:t>
            </a:r>
            <a:r>
              <a:rPr lang="zh-CN" altLang="en-US" sz="2200" dirty="0"/>
              <a:t>”更相似，因为他们完全相同</a:t>
            </a:r>
            <a:endParaRPr lang="en-US" altLang="zh-CN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04851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Vector Length </a:t>
            </a:r>
            <a:r>
              <a:rPr lang="zh-CN" altLang="en-US" dirty="0">
                <a:ea typeface="ＭＳ Ｐゴシック" panose="020B0600070205080204" pitchFamily="34" charset="-128"/>
              </a:rPr>
              <a:t>向量长度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4. When Nearest Neighbor Does Not Work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 </a:t>
            </a:r>
            <a:r>
              <a:rPr lang="en-US" altLang="zh-CN" dirty="0"/>
              <a:t>4. </a:t>
            </a:r>
            <a:r>
              <a:rPr lang="zh-CN" altLang="en-US" dirty="0"/>
              <a:t>最近邻无效之时</a:t>
            </a:r>
            <a:endParaRPr lang="en-US" altLang="zh-C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F8A188-9370-47C8-8E3D-83D9C10FFD93}"/>
              </a:ext>
            </a:extLst>
          </p:cNvPr>
          <p:cNvSpPr/>
          <p:nvPr/>
        </p:nvSpPr>
        <p:spPr>
          <a:xfrm>
            <a:off x="1781175" y="1658218"/>
            <a:ext cx="5581650" cy="701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If we only have dot product</a:t>
            </a:r>
          </a:p>
          <a:p>
            <a:pPr marL="0" lvl="1" algn="ctr" eaLnBrk="1" hangingPunct="1">
              <a:lnSpc>
                <a:spcPct val="90000"/>
              </a:lnSpc>
            </a:pPr>
            <a:r>
              <a:rPr lang="zh-CN" altLang="en-US" sz="2200" dirty="0">
                <a:latin typeface="+mn-lt"/>
                <a:ea typeface="宋体" panose="02010600030101010101" pitchFamily="2" charset="-122"/>
              </a:rPr>
              <a:t>如果我们只有点乘</a:t>
            </a:r>
            <a:endParaRPr lang="en-US" altLang="ja-JP" sz="2200" dirty="0">
              <a:solidFill>
                <a:srgbClr val="FF0000"/>
              </a:solidFill>
              <a:latin typeface="+mn-lt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6D7BE5E-81AF-4CDA-8B65-FC97A9CC949C}"/>
                  </a:ext>
                </a:extLst>
              </p:cNvPr>
              <p:cNvSpPr txBox="1"/>
              <p:nvPr/>
            </p:nvSpPr>
            <p:spPr>
              <a:xfrm>
                <a:off x="495300" y="2398204"/>
                <a:ext cx="815340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‘</a:t>
                </a:r>
                <a:r>
                  <a:rPr lang="en-US" altLang="zh-CN" sz="2200" dirty="0">
                    <a:solidFill>
                      <a:srgbClr val="C00000"/>
                    </a:solidFill>
                  </a:rPr>
                  <a:t>interest</a:t>
                </a:r>
                <a:r>
                  <a:rPr lang="en-US" altLang="zh-CN" sz="2200" dirty="0"/>
                  <a:t> rate’ vs ‘my saving </a:t>
                </a:r>
                <a:r>
                  <a:rPr lang="en-US" altLang="zh-CN" sz="2200" dirty="0">
                    <a:solidFill>
                      <a:srgbClr val="C00000"/>
                    </a:solidFill>
                  </a:rPr>
                  <a:t>interest</a:t>
                </a:r>
                <a:r>
                  <a:rPr lang="en-US" altLang="zh-CN" sz="2200" dirty="0"/>
                  <a:t> rate’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1,0,0</m:t>
                          </m:r>
                        </m:e>
                      </m:d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1,1,1</m:t>
                          </m:r>
                        </m:e>
                      </m:d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6D7BE5E-81AF-4CDA-8B65-FC97A9CC9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" y="2398204"/>
                <a:ext cx="8153400" cy="769441"/>
              </a:xfrm>
              <a:prstGeom prst="rect">
                <a:avLst/>
              </a:prstGeom>
              <a:blipFill>
                <a:blip r:embed="rId6"/>
                <a:stretch>
                  <a:fillRect t="-55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48A8CF37-D6F8-4562-9514-0D7779AE4968}"/>
              </a:ext>
            </a:extLst>
          </p:cNvPr>
          <p:cNvSpPr txBox="1"/>
          <p:nvPr/>
        </p:nvSpPr>
        <p:spPr>
          <a:xfrm>
            <a:off x="495300" y="4010180"/>
            <a:ext cx="8153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By nature, longer context is more likely to yield overlapping</a:t>
            </a:r>
          </a:p>
          <a:p>
            <a:pPr algn="ctr"/>
            <a:r>
              <a:rPr lang="zh-CN" altLang="en-US" sz="2200" dirty="0"/>
              <a:t>自然，更长的上下文更容易产生重合</a:t>
            </a:r>
            <a:endParaRPr lang="en-US" altLang="zh-CN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03EB290-6520-44C3-BF79-365DD5CD7A25}"/>
                  </a:ext>
                </a:extLst>
              </p:cNvPr>
              <p:cNvSpPr txBox="1"/>
              <p:nvPr/>
            </p:nvSpPr>
            <p:spPr>
              <a:xfrm>
                <a:off x="571500" y="3200400"/>
                <a:ext cx="8153400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200" dirty="0"/>
                  <a:t>‘</a:t>
                </a:r>
                <a:r>
                  <a:rPr lang="en-US" altLang="zh-CN" sz="2200" dirty="0">
                    <a:solidFill>
                      <a:srgbClr val="C00000"/>
                    </a:solidFill>
                  </a:rPr>
                  <a:t>interest</a:t>
                </a:r>
                <a:r>
                  <a:rPr lang="en-US" altLang="zh-CN" sz="2200" dirty="0"/>
                  <a:t> rate’ vs ‘</a:t>
                </a:r>
                <a:r>
                  <a:rPr lang="en-US" altLang="zh-CN" sz="2200" dirty="0">
                    <a:solidFill>
                      <a:srgbClr val="C00000"/>
                    </a:solidFill>
                  </a:rPr>
                  <a:t>interest</a:t>
                </a:r>
                <a:r>
                  <a:rPr lang="en-US" altLang="zh-CN" sz="2200" dirty="0"/>
                  <a:t> rate’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</a:rPr>
                            <m:t>1,0,0</m:t>
                          </m:r>
                        </m:e>
                      </m:d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1,0,0</m:t>
                          </m:r>
                        </m:e>
                      </m:d>
                      <m:r>
                        <a:rPr lang="en-US" altLang="zh-CN" sz="2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CN" sz="2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03EB290-6520-44C3-BF79-365DD5CD7A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3200400"/>
                <a:ext cx="8153400" cy="769441"/>
              </a:xfrm>
              <a:prstGeom prst="rect">
                <a:avLst/>
              </a:prstGeom>
              <a:blipFill>
                <a:blip r:embed="rId7"/>
                <a:stretch>
                  <a:fillRect t="-63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E741F6A3-A921-4E7E-99EA-4E0B5BA0BBEF}"/>
              </a:ext>
            </a:extLst>
          </p:cNvPr>
          <p:cNvSpPr txBox="1"/>
          <p:nvPr/>
        </p:nvSpPr>
        <p:spPr>
          <a:xfrm>
            <a:off x="495300" y="4835604"/>
            <a:ext cx="8153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We need to penalize the context length by introducing the vector lengths in the denominator</a:t>
            </a:r>
          </a:p>
          <a:p>
            <a:pPr algn="ctr"/>
            <a:r>
              <a:rPr lang="zh-CN" altLang="en-US" sz="2200" dirty="0"/>
              <a:t>我们需要在分母中引入向量长度，削弱长的上下文的优势</a:t>
            </a:r>
            <a:endParaRPr lang="en-US" altLang="zh-CN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69045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8" grpId="0"/>
      <p:bldP spid="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Vector Length </a:t>
            </a:r>
            <a:r>
              <a:rPr lang="zh-CN" altLang="en-US" dirty="0">
                <a:ea typeface="ＭＳ Ｐゴシック" panose="020B0600070205080204" pitchFamily="34" charset="-128"/>
              </a:rPr>
              <a:t>向量长度 </a:t>
            </a:r>
            <a:r>
              <a:rPr lang="en-US" altLang="zh-CN" dirty="0">
                <a:ea typeface="ＭＳ Ｐゴシック" panose="020B0600070205080204" pitchFamily="34" charset="-128"/>
              </a:rPr>
              <a:t>(3)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4. When Nearest Neighbor Does Not Work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 </a:t>
            </a:r>
            <a:r>
              <a:rPr lang="en-US" altLang="zh-CN" dirty="0"/>
              <a:t>4. </a:t>
            </a:r>
            <a:r>
              <a:rPr lang="zh-CN" altLang="en-US" dirty="0"/>
              <a:t>最近邻无效之时</a:t>
            </a:r>
            <a:endParaRPr lang="en-US" altLang="zh-CN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F3C93CA-14ED-4897-B617-3BF2205C77DD}"/>
              </a:ext>
            </a:extLst>
          </p:cNvPr>
          <p:cNvCxnSpPr/>
          <p:nvPr/>
        </p:nvCxnSpPr>
        <p:spPr bwMode="auto">
          <a:xfrm>
            <a:off x="2019300" y="5159909"/>
            <a:ext cx="52578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1013AFB-C190-4B3F-8B42-34E8A2E53CFF}"/>
              </a:ext>
            </a:extLst>
          </p:cNvPr>
          <p:cNvCxnSpPr>
            <a:cxnSpLocks/>
          </p:cNvCxnSpPr>
          <p:nvPr/>
        </p:nvCxnSpPr>
        <p:spPr bwMode="auto">
          <a:xfrm flipV="1">
            <a:off x="2727680" y="1561480"/>
            <a:ext cx="0" cy="44958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30DB23B3-084D-4028-974E-75C8DDCD2A1D}"/>
              </a:ext>
            </a:extLst>
          </p:cNvPr>
          <p:cNvSpPr/>
          <p:nvPr/>
        </p:nvSpPr>
        <p:spPr>
          <a:xfrm>
            <a:off x="2042746" y="1760614"/>
            <a:ext cx="838198" cy="397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my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4E1CAEF-52B1-4A59-8E77-2D0DF2ACC996}"/>
              </a:ext>
            </a:extLst>
          </p:cNvPr>
          <p:cNvCxnSpPr>
            <a:cxnSpLocks/>
          </p:cNvCxnSpPr>
          <p:nvPr/>
        </p:nvCxnSpPr>
        <p:spPr bwMode="auto">
          <a:xfrm flipV="1">
            <a:off x="2121746" y="2404151"/>
            <a:ext cx="4587520" cy="318457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858D0F80-41DC-42AC-B7BF-07896B74BB99}"/>
              </a:ext>
            </a:extLst>
          </p:cNvPr>
          <p:cNvSpPr/>
          <p:nvPr/>
        </p:nvSpPr>
        <p:spPr>
          <a:xfrm>
            <a:off x="6248400" y="2405440"/>
            <a:ext cx="1752595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saving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A4750CE-D34F-46BF-8114-F872512301EE}"/>
              </a:ext>
            </a:extLst>
          </p:cNvPr>
          <p:cNvSpPr/>
          <p:nvPr/>
        </p:nvSpPr>
        <p:spPr>
          <a:xfrm>
            <a:off x="6103331" y="5178677"/>
            <a:ext cx="1752595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ja-JP" sz="2200" dirty="0">
                <a:ea typeface="ＭＳ Ｐゴシック" panose="020B0600070205080204" pitchFamily="34" charset="-128"/>
              </a:rPr>
              <a:t>rate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CAECD72-E012-4763-993E-9BE75B5723C4}"/>
              </a:ext>
            </a:extLst>
          </p:cNvPr>
          <p:cNvCxnSpPr>
            <a:cxnSpLocks/>
            <a:endCxn id="46" idx="3"/>
          </p:cNvCxnSpPr>
          <p:nvPr/>
        </p:nvCxnSpPr>
        <p:spPr bwMode="auto">
          <a:xfrm flipV="1">
            <a:off x="2727680" y="3144879"/>
            <a:ext cx="2299583" cy="2015030"/>
          </a:xfrm>
          <a:prstGeom prst="straightConnector1">
            <a:avLst/>
          </a:prstGeom>
          <a:solidFill>
            <a:schemeClr val="accent1"/>
          </a:solidFill>
          <a:ln w="5397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4F99F0B-8782-449B-A70D-CBB1C5121614}"/>
              </a:ext>
            </a:extLst>
          </p:cNvPr>
          <p:cNvGrpSpPr/>
          <p:nvPr/>
        </p:nvGrpSpPr>
        <p:grpSpPr>
          <a:xfrm>
            <a:off x="4182354" y="2316753"/>
            <a:ext cx="1927998" cy="858010"/>
            <a:chOff x="4367300" y="2206405"/>
            <a:chExt cx="1927998" cy="858010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E2DE901-A457-4D22-82C1-D49D7A0F830B}"/>
                </a:ext>
              </a:extLst>
            </p:cNvPr>
            <p:cNvSpPr/>
            <p:nvPr/>
          </p:nvSpPr>
          <p:spPr>
            <a:xfrm>
              <a:off x="4367300" y="2206405"/>
              <a:ext cx="1927998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my saving </a:t>
              </a:r>
              <a:r>
                <a:rPr lang="en-US" altLang="zh-CN" sz="2200" dirty="0">
                  <a:solidFill>
                    <a:srgbClr val="C00000"/>
                  </a:solidFill>
                  <a:ea typeface="ＭＳ Ｐゴシック" panose="020B0600070205080204" pitchFamily="34" charset="-128"/>
                </a:rPr>
                <a:t>interest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 rate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8FD8163A-47B2-4780-BB60-265312E569B9}"/>
                </a:ext>
              </a:extLst>
            </p:cNvPr>
            <p:cNvSpPr/>
            <p:nvPr/>
          </p:nvSpPr>
          <p:spPr bwMode="auto">
            <a:xfrm>
              <a:off x="5181606" y="2860354"/>
              <a:ext cx="208970" cy="204061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EBCED166-5F9D-4B3D-9972-38335B1870EF}"/>
              </a:ext>
            </a:extLst>
          </p:cNvPr>
          <p:cNvSpPr/>
          <p:nvPr/>
        </p:nvSpPr>
        <p:spPr>
          <a:xfrm>
            <a:off x="4039845" y="4032275"/>
            <a:ext cx="3396758" cy="10064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Vector length: distance from the origin</a:t>
            </a:r>
          </a:p>
          <a:p>
            <a:pPr marL="0" lvl="1" algn="ctr" eaLnBrk="1" hangingPunct="1">
              <a:lnSpc>
                <a:spcPct val="90000"/>
              </a:lnSpc>
            </a:pPr>
            <a:r>
              <a:rPr lang="zh-CN" altLang="en-US" sz="2200" dirty="0">
                <a:latin typeface="+mn-lt"/>
                <a:ea typeface="宋体" panose="02010600030101010101" pitchFamily="2" charset="-122"/>
              </a:rPr>
              <a:t>向量长度：离原点的距离</a:t>
            </a:r>
            <a:endParaRPr lang="en-US" altLang="ja-JP" sz="2200" dirty="0">
              <a:solidFill>
                <a:srgbClr val="FF0000"/>
              </a:solidFill>
              <a:latin typeface="+mn-lt"/>
              <a:ea typeface="宋体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7195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Vector Length </a:t>
            </a:r>
            <a:r>
              <a:rPr lang="zh-CN" altLang="en-US" dirty="0">
                <a:ea typeface="ＭＳ Ｐゴシック" panose="020B0600070205080204" pitchFamily="34" charset="-128"/>
              </a:rPr>
              <a:t>向量长度 </a:t>
            </a:r>
            <a:r>
              <a:rPr lang="en-US" altLang="zh-CN" dirty="0">
                <a:ea typeface="ＭＳ Ｐゴシック" panose="020B0600070205080204" pitchFamily="34" charset="-128"/>
              </a:rPr>
              <a:t>(3)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4. When Nearest Neighbor Does Not Work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 </a:t>
            </a:r>
            <a:r>
              <a:rPr lang="en-US" altLang="zh-CN" dirty="0"/>
              <a:t>4. </a:t>
            </a:r>
            <a:r>
              <a:rPr lang="zh-CN" altLang="en-US" dirty="0"/>
              <a:t>最近邻无效之时</a:t>
            </a:r>
            <a:endParaRPr lang="en-US" altLang="zh-CN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F3C93CA-14ED-4897-B617-3BF2205C77DD}"/>
              </a:ext>
            </a:extLst>
          </p:cNvPr>
          <p:cNvCxnSpPr/>
          <p:nvPr/>
        </p:nvCxnSpPr>
        <p:spPr bwMode="auto">
          <a:xfrm>
            <a:off x="2019300" y="5159909"/>
            <a:ext cx="52578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1013AFB-C190-4B3F-8B42-34E8A2E53CFF}"/>
              </a:ext>
            </a:extLst>
          </p:cNvPr>
          <p:cNvCxnSpPr>
            <a:cxnSpLocks/>
          </p:cNvCxnSpPr>
          <p:nvPr/>
        </p:nvCxnSpPr>
        <p:spPr bwMode="auto">
          <a:xfrm flipV="1">
            <a:off x="2727680" y="1561480"/>
            <a:ext cx="0" cy="44958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30DB23B3-084D-4028-974E-75C8DDCD2A1D}"/>
              </a:ext>
            </a:extLst>
          </p:cNvPr>
          <p:cNvSpPr/>
          <p:nvPr/>
        </p:nvSpPr>
        <p:spPr>
          <a:xfrm>
            <a:off x="2042746" y="1760614"/>
            <a:ext cx="838198" cy="397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my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4E1CAEF-52B1-4A59-8E77-2D0DF2ACC996}"/>
              </a:ext>
            </a:extLst>
          </p:cNvPr>
          <p:cNvCxnSpPr>
            <a:cxnSpLocks/>
          </p:cNvCxnSpPr>
          <p:nvPr/>
        </p:nvCxnSpPr>
        <p:spPr bwMode="auto">
          <a:xfrm flipV="1">
            <a:off x="2121746" y="2404151"/>
            <a:ext cx="4587520" cy="318457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858D0F80-41DC-42AC-B7BF-07896B74BB99}"/>
              </a:ext>
            </a:extLst>
          </p:cNvPr>
          <p:cNvSpPr/>
          <p:nvPr/>
        </p:nvSpPr>
        <p:spPr>
          <a:xfrm>
            <a:off x="6248400" y="2405440"/>
            <a:ext cx="1752595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saving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A4750CE-D34F-46BF-8114-F872512301EE}"/>
              </a:ext>
            </a:extLst>
          </p:cNvPr>
          <p:cNvSpPr/>
          <p:nvPr/>
        </p:nvSpPr>
        <p:spPr>
          <a:xfrm>
            <a:off x="6103331" y="5178677"/>
            <a:ext cx="1752595" cy="3970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ja-JP" sz="2200" dirty="0">
                <a:ea typeface="ＭＳ Ｐゴシック" panose="020B0600070205080204" pitchFamily="34" charset="-128"/>
              </a:rPr>
              <a:t>rate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CAECD72-E012-4763-993E-9BE75B5723C4}"/>
              </a:ext>
            </a:extLst>
          </p:cNvPr>
          <p:cNvCxnSpPr>
            <a:cxnSpLocks/>
            <a:endCxn id="46" idx="3"/>
          </p:cNvCxnSpPr>
          <p:nvPr/>
        </p:nvCxnSpPr>
        <p:spPr bwMode="auto">
          <a:xfrm flipV="1">
            <a:off x="2727680" y="3144879"/>
            <a:ext cx="2299583" cy="2015030"/>
          </a:xfrm>
          <a:prstGeom prst="straightConnector1">
            <a:avLst/>
          </a:prstGeom>
          <a:solidFill>
            <a:schemeClr val="accent1"/>
          </a:solidFill>
          <a:ln w="53975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4F99F0B-8782-449B-A70D-CBB1C5121614}"/>
              </a:ext>
            </a:extLst>
          </p:cNvPr>
          <p:cNvGrpSpPr/>
          <p:nvPr/>
        </p:nvGrpSpPr>
        <p:grpSpPr>
          <a:xfrm>
            <a:off x="4182354" y="2316753"/>
            <a:ext cx="1927998" cy="858010"/>
            <a:chOff x="4367300" y="2206405"/>
            <a:chExt cx="1927998" cy="858010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3E2DE901-A457-4D22-82C1-D49D7A0F830B}"/>
                </a:ext>
              </a:extLst>
            </p:cNvPr>
            <p:cNvSpPr/>
            <p:nvPr/>
          </p:nvSpPr>
          <p:spPr>
            <a:xfrm>
              <a:off x="4367300" y="2206405"/>
              <a:ext cx="1927998" cy="7017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lvl="1" algn="ctr" eaLnBrk="1" hangingPunct="1">
                <a:lnSpc>
                  <a:spcPct val="90000"/>
                </a:lnSpc>
              </a:pPr>
              <a:r>
                <a:rPr lang="en-US" altLang="zh-CN" sz="2200" dirty="0">
                  <a:ea typeface="ＭＳ Ｐゴシック" panose="020B0600070205080204" pitchFamily="34" charset="-128"/>
                </a:rPr>
                <a:t>my saving </a:t>
              </a:r>
              <a:r>
                <a:rPr lang="en-US" altLang="zh-CN" sz="2200" dirty="0">
                  <a:solidFill>
                    <a:srgbClr val="C00000"/>
                  </a:solidFill>
                  <a:ea typeface="ＭＳ Ｐゴシック" panose="020B0600070205080204" pitchFamily="34" charset="-128"/>
                </a:rPr>
                <a:t>interest</a:t>
              </a:r>
              <a:r>
                <a:rPr lang="en-US" altLang="zh-CN" sz="2200" dirty="0">
                  <a:ea typeface="ＭＳ Ｐゴシック" panose="020B0600070205080204" pitchFamily="34" charset="-128"/>
                </a:rPr>
                <a:t> rate</a:t>
              </a:r>
              <a:endParaRPr lang="en-US" altLang="ja-JP" sz="2200" dirty="0">
                <a:ea typeface="ＭＳ Ｐゴシック" panose="020B0600070205080204" pitchFamily="34" charset="-128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8FD8163A-47B2-4780-BB60-265312E569B9}"/>
                </a:ext>
              </a:extLst>
            </p:cNvPr>
            <p:cNvSpPr/>
            <p:nvPr/>
          </p:nvSpPr>
          <p:spPr bwMode="auto">
            <a:xfrm>
              <a:off x="5181606" y="2860354"/>
              <a:ext cx="208970" cy="204061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endParaRPr>
            </a:p>
          </p:txBody>
        </p:sp>
      </p:grpSp>
      <p:sp>
        <p:nvSpPr>
          <p:cNvPr id="3" name="Parallelogram 2">
            <a:extLst>
              <a:ext uri="{FF2B5EF4-FFF2-40B4-BE49-F238E27FC236}">
                <a16:creationId xmlns:a16="http://schemas.microsoft.com/office/drawing/2014/main" id="{79ADD3C3-560B-434A-8983-35EF44B0275E}"/>
              </a:ext>
            </a:extLst>
          </p:cNvPr>
          <p:cNvSpPr/>
          <p:nvPr/>
        </p:nvSpPr>
        <p:spPr bwMode="auto">
          <a:xfrm>
            <a:off x="2719170" y="4504993"/>
            <a:ext cx="2360829" cy="654916"/>
          </a:xfrm>
          <a:prstGeom prst="parallelogram">
            <a:avLst>
              <a:gd name="adj" fmla="val 146674"/>
            </a:avLst>
          </a:prstGeom>
          <a:noFill/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84ACC65-C92C-4D64-A4E6-35377FA7DB80}"/>
              </a:ext>
            </a:extLst>
          </p:cNvPr>
          <p:cNvCxnSpPr>
            <a:cxnSpLocks/>
          </p:cNvCxnSpPr>
          <p:nvPr/>
        </p:nvCxnSpPr>
        <p:spPr bwMode="auto">
          <a:xfrm flipV="1">
            <a:off x="2727680" y="4513405"/>
            <a:ext cx="2352319" cy="6371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98C5C22A-A78E-40F0-9764-175AB944BC38}"/>
              </a:ext>
            </a:extLst>
          </p:cNvPr>
          <p:cNvSpPr/>
          <p:nvPr/>
        </p:nvSpPr>
        <p:spPr>
          <a:xfrm>
            <a:off x="3132809" y="5201098"/>
            <a:ext cx="838198" cy="397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1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D4590D8-E566-483D-8CB7-CF2F8CEEADB8}"/>
              </a:ext>
            </a:extLst>
          </p:cNvPr>
          <p:cNvSpPr/>
          <p:nvPr/>
        </p:nvSpPr>
        <p:spPr>
          <a:xfrm>
            <a:off x="4437221" y="4781669"/>
            <a:ext cx="838198" cy="397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1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8B3B0F9-EA70-4EA2-AD6D-9497CA8F7D2E}"/>
                  </a:ext>
                </a:extLst>
              </p:cNvPr>
              <p:cNvSpPr txBox="1"/>
              <p:nvPr/>
            </p:nvSpPr>
            <p:spPr>
              <a:xfrm>
                <a:off x="2300945" y="4482837"/>
                <a:ext cx="1568442" cy="3431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8B3B0F9-EA70-4EA2-AD6D-9497CA8F7D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0945" y="4482837"/>
                <a:ext cx="1568442" cy="343107"/>
              </a:xfrm>
              <a:prstGeom prst="rect">
                <a:avLst/>
              </a:prstGeom>
              <a:blipFill>
                <a:blip r:embed="rId6"/>
                <a:stretch>
                  <a:fillRect r="-2713" b="-70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FB09F9C-6451-4F12-A145-3CE0C06B24E4}"/>
              </a:ext>
            </a:extLst>
          </p:cNvPr>
          <p:cNvCxnSpPr>
            <a:cxnSpLocks/>
          </p:cNvCxnSpPr>
          <p:nvPr/>
        </p:nvCxnSpPr>
        <p:spPr bwMode="auto">
          <a:xfrm>
            <a:off x="5079999" y="3072733"/>
            <a:ext cx="0" cy="146214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FB12E563-108A-4D21-97B2-DB44841E5BBC}"/>
              </a:ext>
            </a:extLst>
          </p:cNvPr>
          <p:cNvSpPr/>
          <p:nvPr/>
        </p:nvSpPr>
        <p:spPr>
          <a:xfrm>
            <a:off x="4834929" y="3651573"/>
            <a:ext cx="838198" cy="3970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1</a:t>
            </a:r>
            <a:endParaRPr lang="en-US" altLang="ja-JP" sz="2200" dirty="0">
              <a:ea typeface="ＭＳ Ｐゴシック" panose="020B0600070205080204" pitchFamily="34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AB4E3FC-8996-4334-9934-EA1294EA1DFD}"/>
                  </a:ext>
                </a:extLst>
              </p:cNvPr>
              <p:cNvSpPr txBox="1"/>
              <p:nvPr/>
            </p:nvSpPr>
            <p:spPr>
              <a:xfrm>
                <a:off x="2107153" y="3493312"/>
                <a:ext cx="1811586" cy="5636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AB4E3FC-8996-4334-9934-EA1294EA1D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7153" y="3493312"/>
                <a:ext cx="1811586" cy="5636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016050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12" grpId="0"/>
      <p:bldP spid="27" grpId="0"/>
      <p:bldP spid="2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Vector Length </a:t>
            </a:r>
            <a:r>
              <a:rPr lang="zh-CN" altLang="en-US" dirty="0">
                <a:ea typeface="ＭＳ Ｐゴシック" panose="020B0600070205080204" pitchFamily="34" charset="-128"/>
              </a:rPr>
              <a:t>向量长度 </a:t>
            </a:r>
            <a:r>
              <a:rPr lang="en-US" altLang="zh-CN" dirty="0">
                <a:ea typeface="ＭＳ Ｐゴシック" panose="020B0600070205080204" pitchFamily="34" charset="-128"/>
              </a:rPr>
              <a:t>(4)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4. When Nearest Neighbor Does Not Work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 </a:t>
            </a:r>
            <a:r>
              <a:rPr lang="en-US" altLang="zh-CN" dirty="0"/>
              <a:t>4. </a:t>
            </a:r>
            <a:r>
              <a:rPr lang="zh-CN" altLang="en-US" dirty="0"/>
              <a:t>最近邻无效之时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3F8A188-9370-47C8-8E3D-83D9C10FFD93}"/>
                  </a:ext>
                </a:extLst>
              </p:cNvPr>
              <p:cNvSpPr/>
              <p:nvPr/>
            </p:nvSpPr>
            <p:spPr>
              <a:xfrm>
                <a:off x="1781175" y="1658218"/>
                <a:ext cx="5581650" cy="712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 algn="ctr" eaLnBrk="1" hangingPunct="1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altLang="ja-JP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altLang="ja-JP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ja-JP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ja-JP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ja-JP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ja-JP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ja-JP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ja-JP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)</m:t>
                          </m:r>
                        </m:e>
                      </m:d>
                      <m:r>
                        <a:rPr lang="en-US" altLang="ja-JP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ja-JP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US" altLang="ja-JP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altLang="ja-JP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ja-JP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ja-JP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ja-JP" sz="22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altLang="ja-JP" sz="22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200" b="0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ja-JP" sz="22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ja-JP" sz="22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ja-JP" sz="22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altLang="ja-JP" sz="22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200" b="0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3</m:t>
                              </m:r>
                            </m:sub>
                            <m:sup>
                              <m:r>
                                <a:rPr lang="en-US" altLang="ja-JP" sz="22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n-US" altLang="ja-JP" sz="2200" dirty="0">
                  <a:solidFill>
                    <a:srgbClr val="FF0000"/>
                  </a:solidFill>
                  <a:latin typeface="+mn-lt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3F8A188-9370-47C8-8E3D-83D9C10FFD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175" y="1658218"/>
                <a:ext cx="5581650" cy="71243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00B2184F-FE9C-4028-BE61-3462B6FE8EC2}"/>
              </a:ext>
            </a:extLst>
          </p:cNvPr>
          <p:cNvSpPr/>
          <p:nvPr/>
        </p:nvSpPr>
        <p:spPr>
          <a:xfrm>
            <a:off x="1028700" y="2514600"/>
            <a:ext cx="7086600" cy="701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eaLnBrk="1" hangingPunct="1">
              <a:lnSpc>
                <a:spcPct val="90000"/>
              </a:lnSpc>
            </a:pPr>
            <a:r>
              <a:rPr lang="en-US" altLang="zh-CN" sz="2200" dirty="0">
                <a:ea typeface="ＭＳ Ｐゴシック" panose="020B0600070205080204" pitchFamily="34" charset="-128"/>
              </a:rPr>
              <a:t>Vector length in a higher dimensional case is similar  </a:t>
            </a:r>
          </a:p>
          <a:p>
            <a:pPr marL="0" lvl="1" algn="ctr" eaLnBrk="1" hangingPunct="1">
              <a:lnSpc>
                <a:spcPct val="90000"/>
              </a:lnSpc>
            </a:pPr>
            <a:r>
              <a:rPr lang="zh-CN" altLang="en-US" sz="2200" dirty="0">
                <a:ea typeface="宋体" panose="02010600030101010101" pitchFamily="2" charset="-122"/>
              </a:rPr>
              <a:t>更高维度的向量长度也是类似的</a:t>
            </a:r>
            <a:endParaRPr lang="en-US" altLang="ja-JP" sz="2200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F1F1DCE-7386-4E78-8E04-591FD83EC655}"/>
                  </a:ext>
                </a:extLst>
              </p:cNvPr>
              <p:cNvSpPr/>
              <p:nvPr/>
            </p:nvSpPr>
            <p:spPr>
              <a:xfrm>
                <a:off x="1781175" y="3227217"/>
                <a:ext cx="5581650" cy="712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 algn="ctr" eaLnBrk="1" hangingPunct="1"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altLang="ja-JP" sz="2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dPr>
                        <m:e>
                          <m:r>
                            <a:rPr lang="en-US" altLang="ja-JP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ja-JP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ja-JP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ja-JP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ja-JP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ja-JP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ja-JP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ja-JP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ja-JP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altLang="ja-JP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)</m:t>
                          </m:r>
                        </m:e>
                      </m:d>
                      <m:r>
                        <a:rPr lang="en-US" altLang="ja-JP" sz="2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ja-JP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radPr>
                        <m:deg/>
                        <m:e>
                          <m:sSubSup>
                            <m:sSubSupPr>
                              <m:ctrlPr>
                                <a:rPr lang="en-US" altLang="ja-JP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altLang="ja-JP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ja-JP" sz="2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ja-JP" sz="2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ja-JP" sz="22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altLang="ja-JP" sz="22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200" b="0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n-US" altLang="ja-JP" sz="22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ja-JP" sz="2200" b="0" i="1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+…+</m:t>
                          </m:r>
                          <m:sSubSup>
                            <m:sSubSupPr>
                              <m:ctrlPr>
                                <a:rPr lang="en-US" altLang="ja-JP" sz="22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</m:ctrlPr>
                            </m:sSubSupPr>
                            <m:e>
                              <m:r>
                                <a:rPr lang="en-US" altLang="ja-JP" sz="22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ja-JP" sz="2200" b="0" i="1" smtClean="0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altLang="ja-JP" sz="2200" i="1"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</a:rPr>
                                <m:t>2</m:t>
                              </m:r>
                            </m:sup>
                          </m:sSubSup>
                        </m:e>
                      </m:rad>
                    </m:oMath>
                  </m:oMathPara>
                </a14:m>
                <a:endParaRPr lang="en-US" altLang="ja-JP" sz="2200" dirty="0">
                  <a:solidFill>
                    <a:srgbClr val="FF0000"/>
                  </a:solidFill>
                  <a:latin typeface="+mn-lt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F1F1DCE-7386-4E78-8E04-591FD83EC6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175" y="3227217"/>
                <a:ext cx="5581650" cy="71243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72244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Practice 4.4 </a:t>
            </a:r>
            <a:r>
              <a:rPr lang="zh-CN" altLang="en-US" dirty="0">
                <a:ea typeface="ＭＳ Ｐゴシック" panose="020B0600070205080204" pitchFamily="34" charset="-128"/>
              </a:rPr>
              <a:t>实践</a:t>
            </a:r>
            <a:r>
              <a:rPr lang="en-US" altLang="zh-CN">
                <a:ea typeface="ＭＳ Ｐゴシック" panose="020B0600070205080204" pitchFamily="34" charset="-128"/>
              </a:rPr>
              <a:t>4.4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4. When Nearest Neighbor Does Not Work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 </a:t>
            </a:r>
            <a:r>
              <a:rPr lang="en-US" altLang="zh-CN" dirty="0"/>
              <a:t>4. </a:t>
            </a:r>
            <a:r>
              <a:rPr lang="zh-CN" altLang="en-US" dirty="0"/>
              <a:t>最近邻无效之时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EC9E0C-6C7D-40EB-B411-BA56B8DA55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403" y="2598241"/>
            <a:ext cx="3391194" cy="21871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5BA708-DA7C-4A96-9103-C216FD58879C}"/>
              </a:ext>
            </a:extLst>
          </p:cNvPr>
          <p:cNvSpPr txBox="1"/>
          <p:nvPr/>
        </p:nvSpPr>
        <p:spPr>
          <a:xfrm>
            <a:off x="266700" y="1536700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Try word sense disambiguation using cosine similarity</a:t>
            </a:r>
          </a:p>
          <a:p>
            <a:pPr algn="ctr"/>
            <a:r>
              <a:rPr lang="zh-CN" altLang="en-US" sz="2200" dirty="0"/>
              <a:t>用余弦相似度尝试词义消歧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BF6605-906F-4F39-BD56-58FE01C9CDA6}"/>
              </a:ext>
            </a:extLst>
          </p:cNvPr>
          <p:cNvSpPr txBox="1"/>
          <p:nvPr/>
        </p:nvSpPr>
        <p:spPr>
          <a:xfrm>
            <a:off x="266700" y="5013971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Does it perform better?  </a:t>
            </a:r>
          </a:p>
          <a:p>
            <a:pPr algn="ctr"/>
            <a:r>
              <a:rPr lang="zh-CN" altLang="en-US" sz="2200" dirty="0"/>
              <a:t>表现好点了吗？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07764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Result  </a:t>
            </a:r>
            <a:r>
              <a:rPr lang="zh-CN" altLang="en-US" dirty="0">
                <a:ea typeface="ＭＳ Ｐゴシック" panose="020B0600070205080204" pitchFamily="34" charset="-128"/>
              </a:rPr>
              <a:t>结果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4. When Nearest Neighbor Does Not Work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 </a:t>
            </a:r>
            <a:r>
              <a:rPr lang="en-US" altLang="zh-CN" dirty="0"/>
              <a:t>4. </a:t>
            </a:r>
            <a:r>
              <a:rPr lang="zh-CN" altLang="en-US" dirty="0"/>
              <a:t>最近邻无效之时</a:t>
            </a:r>
            <a:endParaRPr lang="en-US" altLang="zh-C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97D0E8-6CED-4840-9825-718C38879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352" y="1828800"/>
            <a:ext cx="6952500" cy="427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931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Still Not Satisfied?  </a:t>
            </a:r>
            <a:r>
              <a:rPr lang="zh-CN" altLang="en-US" dirty="0">
                <a:ea typeface="ＭＳ Ｐゴシック" panose="020B0600070205080204" pitchFamily="34" charset="-128"/>
              </a:rPr>
              <a:t>仍不满意？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Better but Not Satisfactory          </a:t>
            </a:r>
            <a:r>
              <a:rPr lang="zh-CN" altLang="en-US" dirty="0"/>
              <a:t>好一点，但</a:t>
            </a:r>
            <a:r>
              <a:rPr lang="zh-CN" altLang="en-US"/>
              <a:t>仍不够令人满</a:t>
            </a:r>
            <a:r>
              <a:rPr lang="zh-CN" altLang="en-US" dirty="0"/>
              <a:t>意</a:t>
            </a:r>
            <a:endParaRPr lang="en-US" altLang="zh-CN" dirty="0"/>
          </a:p>
          <a:p>
            <a:pPr lvl="1"/>
            <a:r>
              <a:rPr lang="en-US" altLang="zh-CN" dirty="0"/>
              <a:t>Too many attributes vs low training samples  </a:t>
            </a:r>
            <a:r>
              <a:rPr lang="zh-CN" altLang="en-US" dirty="0"/>
              <a:t>属性太多，训练数据太少</a:t>
            </a:r>
            <a:endParaRPr lang="en-US" altLang="zh-CN" dirty="0"/>
          </a:p>
          <a:p>
            <a:r>
              <a:rPr lang="en-US" altLang="zh-CN" dirty="0"/>
              <a:t>To Do Better </a:t>
            </a:r>
            <a:r>
              <a:rPr lang="zh-CN" altLang="en-US" dirty="0"/>
              <a:t>想要做得更好</a:t>
            </a:r>
            <a:endParaRPr lang="en-US" altLang="zh-CN" dirty="0"/>
          </a:p>
          <a:p>
            <a:pPr lvl="1"/>
            <a:r>
              <a:rPr lang="en-US" altLang="zh-CN" dirty="0"/>
              <a:t>Carefully select relevant attributes      </a:t>
            </a:r>
            <a:r>
              <a:rPr lang="zh-CN" altLang="en-US" dirty="0"/>
              <a:t>仔细地选择合适的属性</a:t>
            </a:r>
            <a:r>
              <a:rPr lang="en-US" altLang="zh-CN" dirty="0"/>
              <a:t> </a:t>
            </a:r>
          </a:p>
          <a:p>
            <a:pPr lvl="1"/>
            <a:r>
              <a:rPr lang="en-US" altLang="zh-CN" dirty="0"/>
              <a:t>Switch to something radically different    </a:t>
            </a:r>
            <a:r>
              <a:rPr lang="zh-CN" altLang="en-US" dirty="0"/>
              <a:t>换上全然不同的手段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4. When Nearest Neighbor Does Not Work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 </a:t>
            </a:r>
            <a:r>
              <a:rPr lang="en-US" altLang="zh-CN" dirty="0"/>
              <a:t>4. </a:t>
            </a:r>
            <a:r>
              <a:rPr lang="zh-CN" altLang="en-US" dirty="0"/>
              <a:t>最近邻无效之时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76770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0.6|10.4|6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|0.3|0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9|0.4|0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0.7|11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8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6|0.7|10.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0.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0.3|0.2|0.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|0.4|43.6|11.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9|24.5|0.3|0.4|0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8.2|10.1|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5.5|0.4|6.3|0.5|0.3|0.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8|9.2|53.8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2|0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8|0.6|0.5|0.4|123.8|13.9|16.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|0.4|0.4|0.4|0.3|0.3|0.2|0.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4|0.3|0.3|0.5|0.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4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5|0.4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3|0.2|0.3|0.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0.3|0.3|0.2|0.1|0.1|0.1|0.1|0.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|0.1|0.2|0.2|0.1|0.1|0.1|0.1|0.1|0.1|0.1|0.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3|0.2|0.2|0.1|0.1|0.1|0.1|0.1|0.1|0.1|0.1|0.1|0.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1.9|0.2|0.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3|0.2|0.2|0.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8|0.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|2.5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0.5|0.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0.6|9.5|4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18928</TotalTime>
  <Words>4457</Words>
  <Application>Microsoft Office PowerPoint</Application>
  <PresentationFormat>On-screen Show (4:3)</PresentationFormat>
  <Paragraphs>580</Paragraphs>
  <Slides>43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4" baseType="lpstr">
      <vt:lpstr>ＭＳ Ｐゴシック</vt:lpstr>
      <vt:lpstr>宋体</vt:lpstr>
      <vt:lpstr>宋体</vt:lpstr>
      <vt:lpstr>等线</vt:lpstr>
      <vt:lpstr>Arial</vt:lpstr>
      <vt:lpstr>Cambria Math</vt:lpstr>
      <vt:lpstr>Comic Sans MS</vt:lpstr>
      <vt:lpstr>Tahoma</vt:lpstr>
      <vt:lpstr>Times New Roman</vt:lpstr>
      <vt:lpstr>Wingdings</vt:lpstr>
      <vt:lpstr>Blends</vt:lpstr>
      <vt:lpstr>Machine Learning -  Basic Principles &amp; Practice 4. When Nearest Neighbor Does Not Work</vt:lpstr>
      <vt:lpstr>Assumption in Nearest Neighbor 最近邻的假设</vt:lpstr>
      <vt:lpstr>Why Looking at Synthetic Problems? 为什么要看人造问题？</vt:lpstr>
      <vt:lpstr>Simple Synthetic Problem           简单的人造问题</vt:lpstr>
      <vt:lpstr>Practice 4.1 实践4.1</vt:lpstr>
      <vt:lpstr>Simple Analysis 简单分析</vt:lpstr>
      <vt:lpstr>Simple Analysis 简单分析</vt:lpstr>
      <vt:lpstr>Practice 4.2 实践4.2</vt:lpstr>
      <vt:lpstr>What Happened? 怎么回事？</vt:lpstr>
      <vt:lpstr>What Happened? 怎么回事？</vt:lpstr>
      <vt:lpstr>Issue in Nearest Neighbor      最近邻的问题</vt:lpstr>
      <vt:lpstr>Potential Solutions 潜在的方案</vt:lpstr>
      <vt:lpstr>A Real World Problem              一个真实的问题</vt:lpstr>
      <vt:lpstr>Data 数据</vt:lpstr>
      <vt:lpstr>To Deal with the Problem              处理这个问题 (1)</vt:lpstr>
      <vt:lpstr>To Deal with the Problem              处理这个问题 (2)</vt:lpstr>
      <vt:lpstr>Convert the Input  变换输入 (1)</vt:lpstr>
      <vt:lpstr>Convert the Input  变换输入 (2)</vt:lpstr>
      <vt:lpstr>Convert the Input  变换输入 (2)</vt:lpstr>
      <vt:lpstr>Convert the Input  变换输入 (2)</vt:lpstr>
      <vt:lpstr>Convert the Input  变换输入 (2)</vt:lpstr>
      <vt:lpstr>Convert the Input  变换输入 (2)</vt:lpstr>
      <vt:lpstr>Convert the Input  变换输入 (2)</vt:lpstr>
      <vt:lpstr>Practice 4.3 实践4.3</vt:lpstr>
      <vt:lpstr>How Does It Perform?            表现如何？</vt:lpstr>
      <vt:lpstr>Different Similarity Definition  另一种相似度 (1)</vt:lpstr>
      <vt:lpstr>Different Similarity Definition  另一种相似度 (2)</vt:lpstr>
      <vt:lpstr>Different Similarity Definition  另一种相似度 (2)</vt:lpstr>
      <vt:lpstr>Different Similarity Definition  另一种相似度 (2)</vt:lpstr>
      <vt:lpstr>How to Calculate 如何计算</vt:lpstr>
      <vt:lpstr>Dot Product 点乘 (1)</vt:lpstr>
      <vt:lpstr>Dot Product 点乘 (2)</vt:lpstr>
      <vt:lpstr>Dot Product 点乘 (3)</vt:lpstr>
      <vt:lpstr>Dot Product 点乘 (4)</vt:lpstr>
      <vt:lpstr>Vector Length 向量长度 (1)</vt:lpstr>
      <vt:lpstr>Vector Length 向量长度 (2)</vt:lpstr>
      <vt:lpstr>Vector Length 向量长度 (3)</vt:lpstr>
      <vt:lpstr>Vector Length 向量长度 (3)</vt:lpstr>
      <vt:lpstr>Vector Length 向量长度 (4)</vt:lpstr>
      <vt:lpstr>Practice 4.4 实践4.4</vt:lpstr>
      <vt:lpstr>Result  结果</vt:lpstr>
      <vt:lpstr>Still Not Satisfied?  仍不满意？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1249</cp:revision>
  <dcterms:created xsi:type="dcterms:W3CDTF">2003-03-13T01:36:43Z</dcterms:created>
  <dcterms:modified xsi:type="dcterms:W3CDTF">2024-11-29T23:54:27Z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691ed31c-0765-4ef9-9788-1555ed60a8b2</vt:lpwstr>
  </property>
  <property fmtid="{D5CDD505-2E9C-101B-9397-08002B2CF9AE}" pid="3" name="CTP_TimeStamp">
    <vt:lpwstr>2019-12-29 10:58:59Z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