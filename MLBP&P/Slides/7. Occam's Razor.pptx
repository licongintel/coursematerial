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notesSlides/notesSlide6.xml" ContentType="application/vnd.openxmlformats-officedocument.presentationml.notesSlide+xml"/>
  <Override PartName="/ppt/tags/tag9.xml" ContentType="application/vnd.openxmlformats-officedocument.presentationml.tags+xml"/>
  <Override PartName="/ppt/notesSlides/notesSlide7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2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13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14.xml" ContentType="application/vnd.openxmlformats-officedocument.presentationml.notesSlide+xml"/>
  <Override PartName="/ppt/tags/tag31.xml" ContentType="application/vnd.openxmlformats-officedocument.presentationml.tags+xml"/>
  <Override PartName="/ppt/notesSlides/notesSlide15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40"/>
  </p:notesMasterIdLst>
  <p:handoutMasterIdLst>
    <p:handoutMasterId r:id="rId41"/>
  </p:handoutMasterIdLst>
  <p:sldIdLst>
    <p:sldId id="286" r:id="rId2"/>
    <p:sldId id="431" r:id="rId3"/>
    <p:sldId id="468" r:id="rId4"/>
    <p:sldId id="510" r:id="rId5"/>
    <p:sldId id="511" r:id="rId6"/>
    <p:sldId id="512" r:id="rId7"/>
    <p:sldId id="513" r:id="rId8"/>
    <p:sldId id="516" r:id="rId9"/>
    <p:sldId id="514" r:id="rId10"/>
    <p:sldId id="515" r:id="rId11"/>
    <p:sldId id="517" r:id="rId12"/>
    <p:sldId id="518" r:id="rId13"/>
    <p:sldId id="519" r:id="rId14"/>
    <p:sldId id="520" r:id="rId15"/>
    <p:sldId id="521" r:id="rId16"/>
    <p:sldId id="523" r:id="rId17"/>
    <p:sldId id="522" r:id="rId18"/>
    <p:sldId id="525" r:id="rId19"/>
    <p:sldId id="524" r:id="rId20"/>
    <p:sldId id="475" r:id="rId21"/>
    <p:sldId id="489" r:id="rId22"/>
    <p:sldId id="415" r:id="rId23"/>
    <p:sldId id="526" r:id="rId24"/>
    <p:sldId id="496" r:id="rId25"/>
    <p:sldId id="528" r:id="rId26"/>
    <p:sldId id="529" r:id="rId27"/>
    <p:sldId id="530" r:id="rId28"/>
    <p:sldId id="531" r:id="rId29"/>
    <p:sldId id="532" r:id="rId30"/>
    <p:sldId id="534" r:id="rId31"/>
    <p:sldId id="533" r:id="rId32"/>
    <p:sldId id="535" r:id="rId33"/>
    <p:sldId id="536" r:id="rId34"/>
    <p:sldId id="537" r:id="rId35"/>
    <p:sldId id="538" r:id="rId36"/>
    <p:sldId id="501" r:id="rId37"/>
    <p:sldId id="615" r:id="rId38"/>
    <p:sldId id="353" r:id="rId39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33"/>
    <a:srgbClr val="FF7C80"/>
    <a:srgbClr val="FF0000"/>
    <a:srgbClr val="7DDDFF"/>
    <a:srgbClr val="333399"/>
    <a:srgbClr val="B2B2B2"/>
    <a:srgbClr val="993366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E18CE5-7F40-454A-BA37-4C5E723DB074}" v="2" dt="2026-03-21T02:18:56.8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46" autoAdjust="0"/>
    <p:restoredTop sz="94370" autoAdjust="0"/>
  </p:normalViewPr>
  <p:slideViewPr>
    <p:cSldViewPr>
      <p:cViewPr varScale="1">
        <p:scale>
          <a:sx n="75" d="100"/>
          <a:sy n="75" d="100"/>
        </p:scale>
        <p:origin x="922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Cong" userId="025630f4-267e-4cb3-8cd5-8795177f99f4" providerId="ADAL" clId="{929A2CC8-B112-421C-81E2-D5D63B23E300}"/>
    <pc:docChg chg="modSld">
      <pc:chgData name="Li, Cong" userId="025630f4-267e-4cb3-8cd5-8795177f99f4" providerId="ADAL" clId="{929A2CC8-B112-421C-81E2-D5D63B23E300}" dt="2026-03-21T02:18:56.894" v="1" actId="20577"/>
      <pc:docMkLst>
        <pc:docMk/>
      </pc:docMkLst>
      <pc:sldChg chg="modSp">
        <pc:chgData name="Li, Cong" userId="025630f4-267e-4cb3-8cd5-8795177f99f4" providerId="ADAL" clId="{929A2CC8-B112-421C-81E2-D5D63B23E300}" dt="2026-03-21T02:18:56.894" v="1" actId="20577"/>
        <pc:sldMkLst>
          <pc:docMk/>
          <pc:sldMk cId="1601705192" sldId="526"/>
        </pc:sldMkLst>
        <pc:spChg chg="mod">
          <ac:chgData name="Li, Cong" userId="025630f4-267e-4cb3-8cd5-8795177f99f4" providerId="ADAL" clId="{929A2CC8-B112-421C-81E2-D5D63B23E300}" dt="2026-03-21T02:18:56.894" v="1" actId="20577"/>
          <ac:spMkLst>
            <pc:docMk/>
            <pc:sldMk cId="1601705192" sldId="526"/>
            <ac:spMk id="8" creationId="{7CFD8022-996E-42DD-84AE-2620C9B6060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74125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76508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47547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9821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71301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4268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57287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81087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74088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58765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90D3538-6648-43D2-9CA0-7580FCA6962A}" type="slidenum">
              <a:rPr lang="en-US" altLang="zh-CN" smtClean="0">
                <a:latin typeface="Arial" panose="020B0604020202020204" pitchFamily="34" charset="0"/>
              </a:rPr>
              <a:pPr/>
              <a:t>22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35141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27295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20927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0410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1954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38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3.emf"/><Relationship Id="rId5" Type="http://schemas.openxmlformats.org/officeDocument/2006/relationships/image" Target="../media/image2.emf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5" Type="http://schemas.openxmlformats.org/officeDocument/2006/relationships/image" Target="../media/image6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4" Type="http://schemas.openxmlformats.org/officeDocument/2006/relationships/image" Target="../media/image7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6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6" Type="http://schemas.openxmlformats.org/officeDocument/2006/relationships/image" Target="../media/image21.png"/><Relationship Id="rId5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6" Type="http://schemas.openxmlformats.org/officeDocument/2006/relationships/image" Target="../media/image22.png"/><Relationship Id="rId5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Relationship Id="rId5" Type="http://schemas.openxmlformats.org/officeDocument/2006/relationships/image" Target="../media/image2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Machine Learning - </a:t>
            </a:r>
            <a:br>
              <a:rPr lang="en-US" altLang="zh-CN" sz="3600" b="1" dirty="0">
                <a:ea typeface="SimSun" panose="02010600030101010101" pitchFamily="2" charset="-122"/>
              </a:rPr>
            </a:br>
            <a:r>
              <a:rPr lang="en-US" altLang="zh-CN" sz="3600" b="1" dirty="0">
                <a:ea typeface="SimSun" panose="02010600030101010101" pitchFamily="2" charset="-122"/>
              </a:rPr>
              <a:t>Basic Principles &amp; Practice</a:t>
            </a:r>
            <a:br>
              <a:rPr lang="en-US" altLang="zh-CN" sz="3600" b="1" dirty="0">
                <a:ea typeface="SimSun" panose="02010600030101010101" pitchFamily="2" charset="-122"/>
              </a:rPr>
            </a:br>
            <a:r>
              <a:rPr lang="en-US" altLang="zh-CN" sz="3600" b="1" dirty="0">
                <a:ea typeface="SimSun" panose="02010600030101010101" pitchFamily="2" charset="-122"/>
              </a:rPr>
              <a:t>7. Occam’s Razor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192739"/>
            <a:ext cx="77724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机器学习 </a:t>
            </a:r>
            <a:r>
              <a:rPr lang="en-US" altLang="zh-CN" sz="3600" b="1" kern="0" dirty="0">
                <a:ea typeface="SimSun" panose="02010600030101010101" pitchFamily="2" charset="-122"/>
              </a:rPr>
              <a:t>- </a:t>
            </a:r>
            <a:r>
              <a:rPr lang="zh-CN" altLang="en-US" sz="3600" b="1" kern="0" dirty="0">
                <a:ea typeface="SimSun" panose="02010600030101010101" pitchFamily="2" charset="-122"/>
              </a:rPr>
              <a:t>基础原理与实践</a:t>
            </a:r>
            <a:endParaRPr lang="en-US" altLang="zh-CN" sz="3600" b="1" kern="0" dirty="0">
              <a:ea typeface="SimSun" panose="02010600030101010101" pitchFamily="2" charset="-122"/>
            </a:endParaRPr>
          </a:p>
          <a:p>
            <a:pPr algn="ctr" eaLnBrk="1" hangingPunct="1"/>
            <a:r>
              <a:rPr lang="en-US" altLang="zh-CN" sz="3600" b="1" kern="0" dirty="0">
                <a:ea typeface="SimSun" panose="02010600030101010101" pitchFamily="2" charset="-122"/>
              </a:rPr>
              <a:t>7. </a:t>
            </a:r>
            <a:r>
              <a:rPr lang="zh-CN" altLang="en-US" sz="3600" b="1" kern="0" dirty="0">
                <a:ea typeface="SimSun" panose="02010600030101010101" pitchFamily="2" charset="-122"/>
              </a:rPr>
              <a:t>奥卡姆剃刀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Should You Still Remember …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倘若你依然记得</a:t>
            </a:r>
            <a:r>
              <a:rPr lang="en-US" altLang="zh-CN" dirty="0">
                <a:ea typeface="ＭＳ Ｐゴシック" panose="020B0600070205080204" pitchFamily="34" charset="-128"/>
              </a:rPr>
              <a:t>……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7. Occam’s Razor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7. </a:t>
            </a:r>
            <a:r>
              <a:rPr lang="zh-CN" altLang="en-US" dirty="0"/>
              <a:t>奥卡姆剃刀</a:t>
            </a:r>
            <a:endParaRPr lang="en-US" altLang="zh-C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758694-D72B-4B19-B83D-F614D9AB98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817671"/>
            <a:ext cx="2667000" cy="150241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1A2DA65-34EB-4A26-B7CD-66D9E36325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004749"/>
              </p:ext>
            </p:extLst>
          </p:nvPr>
        </p:nvGraphicFramePr>
        <p:xfrm>
          <a:off x="4191000" y="1852118"/>
          <a:ext cx="45720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3397545499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3345597284"/>
                    </a:ext>
                  </a:extLst>
                </a:gridCol>
              </a:tblGrid>
              <a:tr h="261540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Sense </a:t>
                      </a:r>
                      <a:r>
                        <a:rPr lang="zh-CN" altLang="en-US" sz="1200" dirty="0"/>
                        <a:t>词义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Example </a:t>
                      </a:r>
                      <a:r>
                        <a:rPr lang="zh-CN" altLang="en-US" sz="1200" dirty="0"/>
                        <a:t>例句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7641297"/>
                  </a:ext>
                </a:extLst>
              </a:tr>
              <a:tr h="261540"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兴趣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Reading is one of my interests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0241105"/>
                  </a:ext>
                </a:extLst>
              </a:tr>
              <a:tr h="261540"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利益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In this case, my interests conflict with yours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8355194"/>
                  </a:ext>
                </a:extLst>
              </a:tr>
              <a:tr h="261540"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利息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The Fed cut interest rates again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403356"/>
                  </a:ext>
                </a:extLst>
              </a:tr>
              <a:tr h="267540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…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…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305240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54803BB5-C154-484E-ADBD-98B528C8A8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320" y="4132890"/>
            <a:ext cx="3476250" cy="2076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AFA944-2DF5-452D-96B5-C6A6BE013B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8881" y="4132890"/>
            <a:ext cx="3476250" cy="20760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F9948F06-7550-4078-B08E-DBCACAD020AF}"/>
              </a:ext>
            </a:extLst>
          </p:cNvPr>
          <p:cNvSpPr/>
          <p:nvPr/>
        </p:nvSpPr>
        <p:spPr bwMode="auto">
          <a:xfrm>
            <a:off x="7032979" y="4350066"/>
            <a:ext cx="337092" cy="170490"/>
          </a:xfrm>
          <a:prstGeom prst="ellipse">
            <a:avLst/>
          </a:prstGeom>
          <a:noFill/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ADE25EF-BDC7-4E5C-800B-E9F9A2581EFE}"/>
              </a:ext>
            </a:extLst>
          </p:cNvPr>
          <p:cNvSpPr/>
          <p:nvPr/>
        </p:nvSpPr>
        <p:spPr bwMode="auto">
          <a:xfrm>
            <a:off x="1785219" y="4246799"/>
            <a:ext cx="403578" cy="251179"/>
          </a:xfrm>
          <a:prstGeom prst="ellipse">
            <a:avLst/>
          </a:prstGeom>
          <a:noFill/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656D49-EE10-4A35-942D-AFF2A89C5882}"/>
              </a:ext>
            </a:extLst>
          </p:cNvPr>
          <p:cNvSpPr txBox="1"/>
          <p:nvPr/>
        </p:nvSpPr>
        <p:spPr>
          <a:xfrm>
            <a:off x="514350" y="3309940"/>
            <a:ext cx="8115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Best performance achieved using a selected set of most useful attributes </a:t>
            </a:r>
            <a:br>
              <a:rPr lang="en-US" altLang="zh-CN" dirty="0"/>
            </a:br>
            <a:r>
              <a:rPr lang="zh-CN" altLang="en-US" dirty="0"/>
              <a:t>选择一部分最有用的属性时取得了最佳效果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9264373-E8F5-4A1B-96EA-D8D070D25492}"/>
              </a:ext>
            </a:extLst>
          </p:cNvPr>
          <p:cNvCxnSpPr>
            <a:cxnSpLocks/>
            <a:stCxn id="14" idx="2"/>
            <a:endCxn id="13" idx="7"/>
          </p:cNvCxnSpPr>
          <p:nvPr/>
        </p:nvCxnSpPr>
        <p:spPr bwMode="auto">
          <a:xfrm flipH="1">
            <a:off x="2129694" y="3956271"/>
            <a:ext cx="2442306" cy="32731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D4D022B-5726-449F-8861-1D59D5C8E381}"/>
              </a:ext>
            </a:extLst>
          </p:cNvPr>
          <p:cNvCxnSpPr>
            <a:cxnSpLocks/>
            <a:stCxn id="14" idx="2"/>
            <a:endCxn id="12" idx="1"/>
          </p:cNvCxnSpPr>
          <p:nvPr/>
        </p:nvCxnSpPr>
        <p:spPr bwMode="auto">
          <a:xfrm>
            <a:off x="4572000" y="3956271"/>
            <a:ext cx="2510345" cy="4187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470892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Reality  </a:t>
            </a:r>
            <a:r>
              <a:rPr lang="zh-CN" altLang="en-US" dirty="0">
                <a:ea typeface="ＭＳ Ｐゴシック" panose="020B0600070205080204" pitchFamily="34" charset="-128"/>
              </a:rPr>
              <a:t>现实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4800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/>
              <a:t>The ‘Best’ Performance </a:t>
            </a:r>
            <a:r>
              <a:rPr lang="zh-CN" altLang="en-US" dirty="0"/>
              <a:t>该“最佳”效果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Typically not achievable in practice  </a:t>
            </a:r>
            <a:br>
              <a:rPr lang="en-US" altLang="zh-CN" dirty="0"/>
            </a:br>
            <a:r>
              <a:rPr lang="zh-CN" altLang="en-US" dirty="0"/>
              <a:t>实践中往往很难实现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en-US" altLang="zh-CN" dirty="0"/>
              <a:t>Reasons </a:t>
            </a:r>
            <a:r>
              <a:rPr lang="zh-CN" altLang="en-US" dirty="0"/>
              <a:t>原因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Difficult to rate attribute importance </a:t>
            </a:r>
            <a:br>
              <a:rPr lang="en-US" altLang="zh-CN" dirty="0"/>
            </a:br>
            <a:r>
              <a:rPr lang="zh-CN" altLang="en-US" dirty="0"/>
              <a:t>难以衡量属性的重要性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Difficult to determine attribute number </a:t>
            </a:r>
            <a:r>
              <a:rPr lang="zh-CN" altLang="en-US" dirty="0"/>
              <a:t>难以确定属性数量</a:t>
            </a:r>
            <a:endParaRPr lang="en-US" altLang="zh-CN" dirty="0"/>
          </a:p>
          <a:p>
            <a:pPr lvl="2">
              <a:lnSpc>
                <a:spcPct val="90000"/>
              </a:lnSpc>
            </a:pPr>
            <a:r>
              <a:rPr lang="en-US" altLang="zh-CN" dirty="0"/>
              <a:t>Too few attributes 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→ </a:t>
            </a:r>
            <a:r>
              <a:rPr lang="en-US" altLang="zh-CN" dirty="0"/>
              <a:t>bad performance even w/ large amount of data  </a:t>
            </a:r>
            <a:r>
              <a:rPr lang="zh-CN" altLang="en-US" dirty="0"/>
              <a:t>属性太少 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→ </a:t>
            </a:r>
            <a:r>
              <a:rPr lang="zh-CN" altLang="en-US" dirty="0"/>
              <a:t>即便训练数据再多也难以取得好的效果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7. Occam’s Razor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7. </a:t>
            </a:r>
            <a:r>
              <a:rPr lang="zh-CN" altLang="en-US" dirty="0"/>
              <a:t>奥卡姆剃刀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90631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Can We Do Better?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我们能做得更好吗？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4800600"/>
          </a:xfrm>
        </p:spPr>
        <p:txBody>
          <a:bodyPr>
            <a:normAutofit/>
          </a:bodyPr>
          <a:lstStyle/>
          <a:p>
            <a:r>
              <a:rPr lang="en-US" altLang="zh-CN" dirty="0"/>
              <a:t>It’s Not Easy </a:t>
            </a:r>
            <a:r>
              <a:rPr lang="zh-CN" altLang="en-US" dirty="0"/>
              <a:t>这并不简单</a:t>
            </a:r>
            <a:endParaRPr lang="en-US" altLang="zh-CN" dirty="0"/>
          </a:p>
          <a:p>
            <a:r>
              <a:rPr lang="en-US" altLang="zh-CN" dirty="0"/>
              <a:t>Introduce a New Principle</a:t>
            </a:r>
            <a:br>
              <a:rPr lang="en-US" altLang="zh-CN" dirty="0"/>
            </a:br>
            <a:r>
              <a:rPr lang="zh-CN" altLang="en-US" dirty="0"/>
              <a:t>引入一个新原则</a:t>
            </a:r>
            <a:endParaRPr lang="en-US" altLang="zh-CN" dirty="0"/>
          </a:p>
          <a:p>
            <a:pPr lvl="1"/>
            <a:r>
              <a:rPr lang="en-US" altLang="zh-CN" dirty="0"/>
              <a:t>Occam’s Razor by Philosopher William of Ockham </a:t>
            </a:r>
            <a:r>
              <a:rPr lang="zh-CN" altLang="en-US" dirty="0"/>
              <a:t>哲学家奥卡姆的威廉的奥卡姆剃刀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7. Occam’s Razor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7. </a:t>
            </a:r>
            <a:r>
              <a:rPr lang="zh-CN" altLang="en-US" dirty="0"/>
              <a:t>奥卡姆剃刀</a:t>
            </a:r>
            <a:endParaRPr lang="en-US" altLang="zh-C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B26BFB-245A-451F-9241-3CD8184375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0562" y="4226240"/>
            <a:ext cx="1920240" cy="19202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8C9A16-CEC0-4574-B2C2-F861B6D6AC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8440" y="4154803"/>
            <a:ext cx="1548765" cy="20631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06083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Different Formulations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不同的表述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7. Occam’s Razor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7. </a:t>
            </a:r>
            <a:r>
              <a:rPr lang="zh-CN" altLang="en-US" dirty="0"/>
              <a:t>奥卡姆剃刀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1DEBBC-A9E4-45FF-B53A-AF91F13C2C8F}"/>
              </a:ext>
            </a:extLst>
          </p:cNvPr>
          <p:cNvSpPr txBox="1"/>
          <p:nvPr/>
        </p:nvSpPr>
        <p:spPr>
          <a:xfrm>
            <a:off x="675481" y="1745159"/>
            <a:ext cx="77930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Entities should not be multiplied without necessity.</a:t>
            </a:r>
          </a:p>
          <a:p>
            <a:pPr algn="ctr"/>
            <a:r>
              <a:rPr lang="zh-CN" altLang="en-US" sz="2200" dirty="0"/>
              <a:t>若无必要，勿增实体。</a:t>
            </a:r>
            <a:endParaRPr lang="en-US" altLang="zh-CN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E8EF92-15A2-432F-8B1D-16B9C850C714}"/>
              </a:ext>
            </a:extLst>
          </p:cNvPr>
          <p:cNvSpPr txBox="1"/>
          <p:nvPr/>
        </p:nvSpPr>
        <p:spPr>
          <a:xfrm>
            <a:off x="665163" y="2888159"/>
            <a:ext cx="77930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The simplest solution is most likely the right one.</a:t>
            </a:r>
          </a:p>
          <a:p>
            <a:pPr algn="ctr"/>
            <a:r>
              <a:rPr lang="zh-CN" altLang="en-US" sz="2200" dirty="0"/>
              <a:t>最简单的方案极可能是恰当的方案。</a:t>
            </a:r>
            <a:endParaRPr lang="en-US" altLang="zh-CN" sz="2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559935-FEAB-4C08-AA93-C396C6831BEA}"/>
              </a:ext>
            </a:extLst>
          </p:cNvPr>
          <p:cNvSpPr txBox="1"/>
          <p:nvPr/>
        </p:nvSpPr>
        <p:spPr>
          <a:xfrm>
            <a:off x="675480" y="4006096"/>
            <a:ext cx="779303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When presented with competing hypotheses that </a:t>
            </a:r>
            <a:r>
              <a:rPr lang="en-US" altLang="zh-CN" sz="2200" dirty="0">
                <a:solidFill>
                  <a:srgbClr val="FF0000"/>
                </a:solidFill>
              </a:rPr>
              <a:t>make the same predictions</a:t>
            </a:r>
            <a:r>
              <a:rPr lang="en-US" altLang="zh-CN" sz="2200" dirty="0"/>
              <a:t>, one should select the solution with </a:t>
            </a:r>
            <a:r>
              <a:rPr lang="en-US" altLang="zh-CN" sz="2200" dirty="0">
                <a:solidFill>
                  <a:srgbClr val="FF0000"/>
                </a:solidFill>
              </a:rPr>
              <a:t>the fewest assumptions</a:t>
            </a:r>
            <a:r>
              <a:rPr lang="en-US" altLang="zh-CN" sz="2200" dirty="0"/>
              <a:t>.</a:t>
            </a:r>
          </a:p>
          <a:p>
            <a:pPr algn="ctr"/>
            <a:r>
              <a:rPr lang="zh-CN" altLang="en-US" sz="2200" dirty="0"/>
              <a:t>当面对多种能作出</a:t>
            </a:r>
            <a:r>
              <a:rPr lang="zh-CN" altLang="en-US" sz="2200" dirty="0">
                <a:solidFill>
                  <a:srgbClr val="FF0000"/>
                </a:solidFill>
              </a:rPr>
              <a:t>同样准确的预言</a:t>
            </a:r>
            <a:r>
              <a:rPr lang="zh-CN" altLang="en-US" sz="2200" dirty="0"/>
              <a:t>的论断时，那么应该挑选其中使用</a:t>
            </a:r>
            <a:r>
              <a:rPr lang="zh-CN" altLang="en-US" sz="2200" dirty="0">
                <a:solidFill>
                  <a:srgbClr val="FF0000"/>
                </a:solidFill>
              </a:rPr>
              <a:t>假设最少</a:t>
            </a:r>
            <a:r>
              <a:rPr lang="zh-CN" altLang="en-US" sz="2200" dirty="0"/>
              <a:t>的。</a:t>
            </a:r>
            <a:endParaRPr lang="en-US" altLang="zh-CN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31015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In Machine Learning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在机器学习中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5257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/>
              <a:t>Make the Same Predictions</a:t>
            </a:r>
            <a:br>
              <a:rPr lang="en-US" altLang="zh-CN" dirty="0"/>
            </a:br>
            <a:r>
              <a:rPr lang="zh-CN" altLang="en-US" dirty="0"/>
              <a:t>作出同样准确的预言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Perform similarly on training data  </a:t>
            </a:r>
            <a:br>
              <a:rPr lang="en-US" altLang="zh-CN" dirty="0"/>
            </a:br>
            <a:r>
              <a:rPr lang="zh-CN" altLang="en-US" dirty="0"/>
              <a:t>在训练数据上表现类似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en-US" altLang="zh-CN" dirty="0"/>
              <a:t>The Fewest Assumptions  </a:t>
            </a:r>
            <a:r>
              <a:rPr lang="zh-CN" altLang="en-US" dirty="0"/>
              <a:t>假设最少的</a:t>
            </a:r>
            <a:r>
              <a:rPr lang="en-US" altLang="zh-CN" dirty="0"/>
              <a:t> 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Assumption to make classifiers ‘simple’, e.g.,  </a:t>
            </a:r>
            <a:r>
              <a:rPr lang="zh-CN" altLang="en-US" dirty="0"/>
              <a:t>使候选分类器“简单”的假设，例如</a:t>
            </a:r>
            <a:endParaRPr lang="en-US" altLang="zh-CN" dirty="0"/>
          </a:p>
          <a:p>
            <a:pPr lvl="2">
              <a:lnSpc>
                <a:spcPct val="90000"/>
              </a:lnSpc>
            </a:pPr>
            <a:r>
              <a:rPr lang="en-US" altLang="zh-CN" dirty="0"/>
              <a:t>Use fewest attributes  </a:t>
            </a:r>
            <a:r>
              <a:rPr lang="zh-CN" altLang="en-US" dirty="0"/>
              <a:t>用最少的属性</a:t>
            </a:r>
            <a:endParaRPr lang="en-US" altLang="zh-CN" dirty="0"/>
          </a:p>
          <a:p>
            <a:pPr lvl="2">
              <a:lnSpc>
                <a:spcPct val="90000"/>
              </a:lnSpc>
            </a:pPr>
            <a:r>
              <a:rPr lang="zh-CN" altLang="en-US" dirty="0"/>
              <a:t>‘</a:t>
            </a:r>
            <a:r>
              <a:rPr lang="en-US" altLang="zh-CN" dirty="0"/>
              <a:t>Classification capability</a:t>
            </a:r>
            <a:r>
              <a:rPr lang="zh-CN" altLang="en-US" dirty="0"/>
              <a:t>’</a:t>
            </a:r>
            <a:r>
              <a:rPr lang="en-US" altLang="zh-CN" dirty="0"/>
              <a:t> of the candidate classifier set is weak  </a:t>
            </a:r>
            <a:br>
              <a:rPr lang="en-US" altLang="zh-CN" dirty="0"/>
            </a:br>
            <a:r>
              <a:rPr lang="zh-CN" altLang="en-US" dirty="0"/>
              <a:t>候选分类器集合的“分类能力”弱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7. Occam’s Razor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7. </a:t>
            </a:r>
            <a:r>
              <a:rPr lang="zh-CN" altLang="en-US" dirty="0"/>
              <a:t>奥卡姆剃刀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758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Illustration: Fewer Attributes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说明：更少的属性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7. Occam’s Razor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7. </a:t>
            </a:r>
            <a:r>
              <a:rPr lang="zh-CN" altLang="en-US" dirty="0"/>
              <a:t>奥卡姆剃刀</a:t>
            </a:r>
            <a:endParaRPr lang="en-US" altLang="zh-CN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53FDF1A-867B-4172-9801-3F796A481DE3}"/>
              </a:ext>
            </a:extLst>
          </p:cNvPr>
          <p:cNvGrpSpPr/>
          <p:nvPr/>
        </p:nvGrpSpPr>
        <p:grpSpPr>
          <a:xfrm>
            <a:off x="1905000" y="3429000"/>
            <a:ext cx="6256020" cy="1006429"/>
            <a:chOff x="1905000" y="3429000"/>
            <a:chExt cx="6256020" cy="1006429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0368463-BD47-4799-8356-E5457A3A5B30}"/>
                </a:ext>
              </a:extLst>
            </p:cNvPr>
            <p:cNvCxnSpPr/>
            <p:nvPr/>
          </p:nvCxnSpPr>
          <p:spPr bwMode="auto">
            <a:xfrm>
              <a:off x="1905000" y="3886200"/>
              <a:ext cx="52578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15C39BD-1EC1-432C-8E44-3DF9C44D1590}"/>
                </a:ext>
              </a:extLst>
            </p:cNvPr>
            <p:cNvSpPr/>
            <p:nvPr/>
          </p:nvSpPr>
          <p:spPr>
            <a:xfrm>
              <a:off x="6256022" y="3429000"/>
              <a:ext cx="1904998" cy="10064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1</a:t>
              </a:r>
            </a:p>
            <a:p>
              <a:pPr marL="0" lvl="1" algn="ctr" eaLnBrk="1" hangingPunct="1">
                <a:lnSpc>
                  <a:spcPct val="90000"/>
                </a:lnSpc>
              </a:pPr>
              <a:endParaRPr lang="en-US" altLang="ja-JP" sz="2200" dirty="0">
                <a:ea typeface="ＭＳ Ｐゴシック" panose="020B0600070205080204" pitchFamily="34" charset="-128"/>
              </a:endParaRP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1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7100069-E1E0-491E-B248-81EC87F98ED3}"/>
              </a:ext>
            </a:extLst>
          </p:cNvPr>
          <p:cNvGrpSpPr/>
          <p:nvPr/>
        </p:nvGrpSpPr>
        <p:grpSpPr>
          <a:xfrm>
            <a:off x="2819400" y="1524000"/>
            <a:ext cx="2697478" cy="4495800"/>
            <a:chOff x="2819400" y="1524000"/>
            <a:chExt cx="2697478" cy="4495800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30AFF1F-1AB6-465B-9BFE-C122E49A191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556760" y="1524000"/>
              <a:ext cx="0" cy="44958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F4C961A-66AA-459F-88B6-E38796145CE9}"/>
                </a:ext>
              </a:extLst>
            </p:cNvPr>
            <p:cNvSpPr/>
            <p:nvPr/>
          </p:nvSpPr>
          <p:spPr>
            <a:xfrm>
              <a:off x="2819400" y="1584192"/>
              <a:ext cx="2697478" cy="3970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2 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2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F109CA1-5A5B-4512-A901-46BAF13C5F7F}"/>
              </a:ext>
            </a:extLst>
          </p:cNvPr>
          <p:cNvCxnSpPr>
            <a:cxnSpLocks/>
          </p:cNvCxnSpPr>
          <p:nvPr/>
        </p:nvCxnSpPr>
        <p:spPr bwMode="auto">
          <a:xfrm>
            <a:off x="3048000" y="2971800"/>
            <a:ext cx="3429000" cy="27432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4043B9B9-6306-49C3-B81B-2668F26B8CEB}"/>
              </a:ext>
            </a:extLst>
          </p:cNvPr>
          <p:cNvSpPr txBox="1"/>
          <p:nvPr/>
        </p:nvSpPr>
        <p:spPr>
          <a:xfrm>
            <a:off x="411052" y="2031101"/>
            <a:ext cx="298789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Use both attributes</a:t>
            </a:r>
            <a:br>
              <a:rPr lang="en-US" altLang="zh-CN" sz="2200" dirty="0"/>
            </a:br>
            <a:r>
              <a:rPr lang="zh-CN" altLang="en-US" sz="2200" dirty="0"/>
              <a:t>用两个属性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40E16B3-ED21-45C6-9A3E-4DD1CAA49675}"/>
              </a:ext>
            </a:extLst>
          </p:cNvPr>
          <p:cNvCxnSpPr>
            <a:cxnSpLocks/>
          </p:cNvCxnSpPr>
          <p:nvPr/>
        </p:nvCxnSpPr>
        <p:spPr bwMode="auto">
          <a:xfrm flipH="1">
            <a:off x="3886200" y="2209800"/>
            <a:ext cx="2369822" cy="38100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E06E3E1-959D-4464-AB31-62879E69A43C}"/>
              </a:ext>
            </a:extLst>
          </p:cNvPr>
          <p:cNvCxnSpPr>
            <a:cxnSpLocks/>
            <a:stCxn id="18" idx="2"/>
          </p:cNvCxnSpPr>
          <p:nvPr/>
        </p:nvCxnSpPr>
        <p:spPr bwMode="auto">
          <a:xfrm flipH="1">
            <a:off x="3398949" y="1981200"/>
            <a:ext cx="769190" cy="4038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EA7D1DA7-B33E-48C0-99C7-8E3D924C2E66}"/>
              </a:ext>
            </a:extLst>
          </p:cNvPr>
          <p:cNvCxnSpPr>
            <a:cxnSpLocks/>
          </p:cNvCxnSpPr>
          <p:nvPr/>
        </p:nvCxnSpPr>
        <p:spPr bwMode="auto">
          <a:xfrm>
            <a:off x="2590800" y="4338637"/>
            <a:ext cx="4114800" cy="72390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0D9AEA8-8FCB-4778-852E-E618097D1FB1}"/>
              </a:ext>
            </a:extLst>
          </p:cNvPr>
          <p:cNvCxnSpPr>
            <a:cxnSpLocks/>
          </p:cNvCxnSpPr>
          <p:nvPr/>
        </p:nvCxnSpPr>
        <p:spPr bwMode="auto">
          <a:xfrm flipV="1">
            <a:off x="2667000" y="2971800"/>
            <a:ext cx="4541521" cy="10287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1221E57-269A-4373-B6F0-86A79DE3723B}"/>
              </a:ext>
            </a:extLst>
          </p:cNvPr>
          <p:cNvCxnSpPr>
            <a:cxnSpLocks/>
          </p:cNvCxnSpPr>
          <p:nvPr/>
        </p:nvCxnSpPr>
        <p:spPr bwMode="auto">
          <a:xfrm>
            <a:off x="5029200" y="1981200"/>
            <a:ext cx="0" cy="386124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3112166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Illustration: Fewer Attributes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说明：更少的属性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7. Occam’s Razor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7. </a:t>
            </a:r>
            <a:r>
              <a:rPr lang="zh-CN" altLang="en-US" dirty="0"/>
              <a:t>奥卡姆剃刀</a:t>
            </a:r>
            <a:endParaRPr lang="en-US" altLang="zh-CN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53FDF1A-867B-4172-9801-3F796A481DE3}"/>
              </a:ext>
            </a:extLst>
          </p:cNvPr>
          <p:cNvGrpSpPr/>
          <p:nvPr/>
        </p:nvGrpSpPr>
        <p:grpSpPr>
          <a:xfrm>
            <a:off x="1905000" y="3429000"/>
            <a:ext cx="6256020" cy="1006429"/>
            <a:chOff x="1905000" y="3429000"/>
            <a:chExt cx="6256020" cy="1006429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0368463-BD47-4799-8356-E5457A3A5B30}"/>
                </a:ext>
              </a:extLst>
            </p:cNvPr>
            <p:cNvCxnSpPr/>
            <p:nvPr/>
          </p:nvCxnSpPr>
          <p:spPr bwMode="auto">
            <a:xfrm>
              <a:off x="1905000" y="3886200"/>
              <a:ext cx="52578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15C39BD-1EC1-432C-8E44-3DF9C44D1590}"/>
                </a:ext>
              </a:extLst>
            </p:cNvPr>
            <p:cNvSpPr/>
            <p:nvPr/>
          </p:nvSpPr>
          <p:spPr>
            <a:xfrm>
              <a:off x="6256022" y="3429000"/>
              <a:ext cx="1904998" cy="10064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1</a:t>
              </a:r>
            </a:p>
            <a:p>
              <a:pPr marL="0" lvl="1" algn="ctr" eaLnBrk="1" hangingPunct="1">
                <a:lnSpc>
                  <a:spcPct val="90000"/>
                </a:lnSpc>
              </a:pPr>
              <a:endParaRPr lang="en-US" altLang="ja-JP" sz="2200" dirty="0">
                <a:ea typeface="ＭＳ Ｐゴシック" panose="020B0600070205080204" pitchFamily="34" charset="-128"/>
              </a:endParaRP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1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7100069-E1E0-491E-B248-81EC87F98ED3}"/>
              </a:ext>
            </a:extLst>
          </p:cNvPr>
          <p:cNvGrpSpPr/>
          <p:nvPr/>
        </p:nvGrpSpPr>
        <p:grpSpPr>
          <a:xfrm>
            <a:off x="2819400" y="1524000"/>
            <a:ext cx="2697478" cy="4495800"/>
            <a:chOff x="2819400" y="1524000"/>
            <a:chExt cx="2697478" cy="4495800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30AFF1F-1AB6-465B-9BFE-C122E49A191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556760" y="1524000"/>
              <a:ext cx="0" cy="44958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F4C961A-66AA-459F-88B6-E38796145CE9}"/>
                </a:ext>
              </a:extLst>
            </p:cNvPr>
            <p:cNvSpPr/>
            <p:nvPr/>
          </p:nvSpPr>
          <p:spPr>
            <a:xfrm>
              <a:off x="2819400" y="1584192"/>
              <a:ext cx="2697478" cy="3970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2 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2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4043B9B9-6306-49C3-B81B-2668F26B8CEB}"/>
              </a:ext>
            </a:extLst>
          </p:cNvPr>
          <p:cNvSpPr txBox="1"/>
          <p:nvPr/>
        </p:nvSpPr>
        <p:spPr>
          <a:xfrm>
            <a:off x="411052" y="2031101"/>
            <a:ext cx="298789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Use only 1 attribute</a:t>
            </a:r>
            <a:br>
              <a:rPr lang="en-US" altLang="zh-CN" sz="2200" dirty="0"/>
            </a:br>
            <a:r>
              <a:rPr lang="zh-CN" altLang="en-US" sz="2200" dirty="0"/>
              <a:t>只用一个属性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E06E3E1-959D-4464-AB31-62879E69A43C}"/>
              </a:ext>
            </a:extLst>
          </p:cNvPr>
          <p:cNvCxnSpPr>
            <a:cxnSpLocks/>
          </p:cNvCxnSpPr>
          <p:nvPr/>
        </p:nvCxnSpPr>
        <p:spPr bwMode="auto">
          <a:xfrm>
            <a:off x="5867400" y="1866900"/>
            <a:ext cx="0" cy="4038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EA7D1DA7-B33E-48C0-99C7-8E3D924C2E66}"/>
              </a:ext>
            </a:extLst>
          </p:cNvPr>
          <p:cNvCxnSpPr>
            <a:cxnSpLocks/>
          </p:cNvCxnSpPr>
          <p:nvPr/>
        </p:nvCxnSpPr>
        <p:spPr bwMode="auto">
          <a:xfrm>
            <a:off x="2552700" y="4435429"/>
            <a:ext cx="40386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F1FE452-F1F3-4A2F-ACA9-96570AD0BE12}"/>
              </a:ext>
            </a:extLst>
          </p:cNvPr>
          <p:cNvCxnSpPr>
            <a:cxnSpLocks/>
          </p:cNvCxnSpPr>
          <p:nvPr/>
        </p:nvCxnSpPr>
        <p:spPr bwMode="auto">
          <a:xfrm>
            <a:off x="2552700" y="2971800"/>
            <a:ext cx="40386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D9AC303-1006-476E-9473-04D98C5EC44B}"/>
              </a:ext>
            </a:extLst>
          </p:cNvPr>
          <p:cNvCxnSpPr>
            <a:cxnSpLocks/>
          </p:cNvCxnSpPr>
          <p:nvPr/>
        </p:nvCxnSpPr>
        <p:spPr bwMode="auto">
          <a:xfrm>
            <a:off x="3886200" y="1866900"/>
            <a:ext cx="0" cy="4038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628852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Illustration: Fewer Attributes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说明：更少的属性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7. Occam’s Razor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7. </a:t>
            </a:r>
            <a:r>
              <a:rPr lang="zh-CN" altLang="en-US" dirty="0"/>
              <a:t>奥卡姆剃刀</a:t>
            </a:r>
            <a:endParaRPr lang="en-US" altLang="zh-CN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53FDF1A-867B-4172-9801-3F796A481DE3}"/>
              </a:ext>
            </a:extLst>
          </p:cNvPr>
          <p:cNvGrpSpPr/>
          <p:nvPr/>
        </p:nvGrpSpPr>
        <p:grpSpPr>
          <a:xfrm>
            <a:off x="1905000" y="3429000"/>
            <a:ext cx="6256020" cy="1006429"/>
            <a:chOff x="1905000" y="3429000"/>
            <a:chExt cx="6256020" cy="1006429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0368463-BD47-4799-8356-E5457A3A5B30}"/>
                </a:ext>
              </a:extLst>
            </p:cNvPr>
            <p:cNvCxnSpPr/>
            <p:nvPr/>
          </p:nvCxnSpPr>
          <p:spPr bwMode="auto">
            <a:xfrm>
              <a:off x="1905000" y="3886200"/>
              <a:ext cx="52578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15C39BD-1EC1-432C-8E44-3DF9C44D1590}"/>
                </a:ext>
              </a:extLst>
            </p:cNvPr>
            <p:cNvSpPr/>
            <p:nvPr/>
          </p:nvSpPr>
          <p:spPr>
            <a:xfrm>
              <a:off x="6256022" y="3429000"/>
              <a:ext cx="1904998" cy="10064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1</a:t>
              </a:r>
            </a:p>
            <a:p>
              <a:pPr marL="0" lvl="1" algn="ctr" eaLnBrk="1" hangingPunct="1">
                <a:lnSpc>
                  <a:spcPct val="90000"/>
                </a:lnSpc>
              </a:pPr>
              <a:endParaRPr lang="en-US" altLang="ja-JP" sz="2200" dirty="0">
                <a:ea typeface="ＭＳ Ｐゴシック" panose="020B0600070205080204" pitchFamily="34" charset="-128"/>
              </a:endParaRP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1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7100069-E1E0-491E-B248-81EC87F98ED3}"/>
              </a:ext>
            </a:extLst>
          </p:cNvPr>
          <p:cNvGrpSpPr/>
          <p:nvPr/>
        </p:nvGrpSpPr>
        <p:grpSpPr>
          <a:xfrm>
            <a:off x="2819400" y="1524000"/>
            <a:ext cx="2697478" cy="4495800"/>
            <a:chOff x="2819400" y="1524000"/>
            <a:chExt cx="2697478" cy="4495800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30AFF1F-1AB6-465B-9BFE-C122E49A191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556760" y="1524000"/>
              <a:ext cx="0" cy="44958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F4C961A-66AA-459F-88B6-E38796145CE9}"/>
                </a:ext>
              </a:extLst>
            </p:cNvPr>
            <p:cNvSpPr/>
            <p:nvPr/>
          </p:nvSpPr>
          <p:spPr>
            <a:xfrm>
              <a:off x="2819400" y="1584192"/>
              <a:ext cx="2697478" cy="3970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2 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2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E06E3E1-959D-4464-AB31-62879E69A43C}"/>
              </a:ext>
            </a:extLst>
          </p:cNvPr>
          <p:cNvCxnSpPr>
            <a:cxnSpLocks/>
          </p:cNvCxnSpPr>
          <p:nvPr/>
        </p:nvCxnSpPr>
        <p:spPr bwMode="auto">
          <a:xfrm>
            <a:off x="5867400" y="1866900"/>
            <a:ext cx="0" cy="4038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EA7D1DA7-B33E-48C0-99C7-8E3D924C2E66}"/>
              </a:ext>
            </a:extLst>
          </p:cNvPr>
          <p:cNvCxnSpPr>
            <a:cxnSpLocks/>
          </p:cNvCxnSpPr>
          <p:nvPr/>
        </p:nvCxnSpPr>
        <p:spPr bwMode="auto">
          <a:xfrm>
            <a:off x="2552700" y="4435429"/>
            <a:ext cx="40386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F1FE452-F1F3-4A2F-ACA9-96570AD0BE12}"/>
              </a:ext>
            </a:extLst>
          </p:cNvPr>
          <p:cNvCxnSpPr>
            <a:cxnSpLocks/>
          </p:cNvCxnSpPr>
          <p:nvPr/>
        </p:nvCxnSpPr>
        <p:spPr bwMode="auto">
          <a:xfrm>
            <a:off x="2552700" y="2971800"/>
            <a:ext cx="40386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D9AC303-1006-476E-9473-04D98C5EC44B}"/>
              </a:ext>
            </a:extLst>
          </p:cNvPr>
          <p:cNvCxnSpPr>
            <a:cxnSpLocks/>
          </p:cNvCxnSpPr>
          <p:nvPr/>
        </p:nvCxnSpPr>
        <p:spPr bwMode="auto">
          <a:xfrm>
            <a:off x="3886200" y="1866900"/>
            <a:ext cx="0" cy="4038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E5838A1-B3ED-4776-BC3B-8E29DD219000}"/>
              </a:ext>
            </a:extLst>
          </p:cNvPr>
          <p:cNvCxnSpPr>
            <a:cxnSpLocks/>
          </p:cNvCxnSpPr>
          <p:nvPr/>
        </p:nvCxnSpPr>
        <p:spPr bwMode="auto">
          <a:xfrm>
            <a:off x="3048000" y="2971800"/>
            <a:ext cx="3429000" cy="27432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9CC4446-FACB-4846-9173-A84B54899C7C}"/>
              </a:ext>
            </a:extLst>
          </p:cNvPr>
          <p:cNvCxnSpPr>
            <a:cxnSpLocks/>
          </p:cNvCxnSpPr>
          <p:nvPr/>
        </p:nvCxnSpPr>
        <p:spPr bwMode="auto">
          <a:xfrm flipH="1">
            <a:off x="3886200" y="2209800"/>
            <a:ext cx="2369822" cy="38100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A5B6767-D671-47ED-9D03-A2142E3BF900}"/>
              </a:ext>
            </a:extLst>
          </p:cNvPr>
          <p:cNvCxnSpPr>
            <a:cxnSpLocks/>
          </p:cNvCxnSpPr>
          <p:nvPr/>
        </p:nvCxnSpPr>
        <p:spPr bwMode="auto">
          <a:xfrm flipH="1">
            <a:off x="3398949" y="1981200"/>
            <a:ext cx="769190" cy="4038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0AFB66D-91C1-4A79-B499-4A50B71309BE}"/>
              </a:ext>
            </a:extLst>
          </p:cNvPr>
          <p:cNvCxnSpPr>
            <a:cxnSpLocks/>
          </p:cNvCxnSpPr>
          <p:nvPr/>
        </p:nvCxnSpPr>
        <p:spPr bwMode="auto">
          <a:xfrm>
            <a:off x="2590800" y="4338637"/>
            <a:ext cx="4114800" cy="72390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C4C5804-70E9-44E8-BFED-CCDC53816BFE}"/>
              </a:ext>
            </a:extLst>
          </p:cNvPr>
          <p:cNvCxnSpPr>
            <a:cxnSpLocks/>
          </p:cNvCxnSpPr>
          <p:nvPr/>
        </p:nvCxnSpPr>
        <p:spPr bwMode="auto">
          <a:xfrm flipV="1">
            <a:off x="2667000" y="2971800"/>
            <a:ext cx="4541521" cy="10287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E404968-7AF5-4532-901E-5BA4B5275EE5}"/>
              </a:ext>
            </a:extLst>
          </p:cNvPr>
          <p:cNvSpPr txBox="1"/>
          <p:nvPr/>
        </p:nvSpPr>
        <p:spPr>
          <a:xfrm>
            <a:off x="120151" y="1900238"/>
            <a:ext cx="35600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Which category of classifiers is simpler?</a:t>
            </a:r>
            <a:br>
              <a:rPr lang="en-US" altLang="zh-CN" sz="2200" dirty="0"/>
            </a:br>
            <a:r>
              <a:rPr lang="zh-CN" altLang="en-US" sz="2200" dirty="0"/>
              <a:t>哪种类型的分类器更简单？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9078183-362B-4744-BAB6-45007B900FCC}"/>
              </a:ext>
            </a:extLst>
          </p:cNvPr>
          <p:cNvCxnSpPr>
            <a:cxnSpLocks/>
          </p:cNvCxnSpPr>
          <p:nvPr/>
        </p:nvCxnSpPr>
        <p:spPr bwMode="auto">
          <a:xfrm>
            <a:off x="5029200" y="1981200"/>
            <a:ext cx="0" cy="386124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1D6E5EE-9A8E-4859-BCA3-0073D16B53BC}"/>
              </a:ext>
            </a:extLst>
          </p:cNvPr>
          <p:cNvSpPr txBox="1"/>
          <p:nvPr/>
        </p:nvSpPr>
        <p:spPr>
          <a:xfrm>
            <a:off x="209427" y="4473119"/>
            <a:ext cx="294525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Which category’s classification capability is weaker?</a:t>
            </a:r>
            <a:br>
              <a:rPr lang="en-US" altLang="zh-CN" sz="2200" dirty="0"/>
            </a:br>
            <a:r>
              <a:rPr lang="zh-CN" altLang="en-US" sz="2200" dirty="0"/>
              <a:t>哪种类型的分类能力更弱？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93478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Illustration: Fewer Attributes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说明：更少的属性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7. Occam’s Razor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7. </a:t>
            </a:r>
            <a:r>
              <a:rPr lang="zh-CN" altLang="en-US" dirty="0"/>
              <a:t>奥卡姆剃刀</a:t>
            </a:r>
            <a:endParaRPr lang="en-US" altLang="zh-CN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53FDF1A-867B-4172-9801-3F796A481DE3}"/>
              </a:ext>
            </a:extLst>
          </p:cNvPr>
          <p:cNvGrpSpPr/>
          <p:nvPr/>
        </p:nvGrpSpPr>
        <p:grpSpPr>
          <a:xfrm>
            <a:off x="1905000" y="3429000"/>
            <a:ext cx="6256020" cy="1006429"/>
            <a:chOff x="1905000" y="3429000"/>
            <a:chExt cx="6256020" cy="1006429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0368463-BD47-4799-8356-E5457A3A5B30}"/>
                </a:ext>
              </a:extLst>
            </p:cNvPr>
            <p:cNvCxnSpPr/>
            <p:nvPr/>
          </p:nvCxnSpPr>
          <p:spPr bwMode="auto">
            <a:xfrm>
              <a:off x="1905000" y="3886200"/>
              <a:ext cx="52578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15C39BD-1EC1-432C-8E44-3DF9C44D1590}"/>
                </a:ext>
              </a:extLst>
            </p:cNvPr>
            <p:cNvSpPr/>
            <p:nvPr/>
          </p:nvSpPr>
          <p:spPr>
            <a:xfrm>
              <a:off x="6256022" y="3429000"/>
              <a:ext cx="1904998" cy="10064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1</a:t>
              </a:r>
            </a:p>
            <a:p>
              <a:pPr marL="0" lvl="1" algn="ctr" eaLnBrk="1" hangingPunct="1">
                <a:lnSpc>
                  <a:spcPct val="90000"/>
                </a:lnSpc>
              </a:pPr>
              <a:endParaRPr lang="en-US" altLang="ja-JP" sz="2200" dirty="0">
                <a:ea typeface="ＭＳ Ｐゴシック" panose="020B0600070205080204" pitchFamily="34" charset="-128"/>
              </a:endParaRP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1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7100069-E1E0-491E-B248-81EC87F98ED3}"/>
              </a:ext>
            </a:extLst>
          </p:cNvPr>
          <p:cNvGrpSpPr/>
          <p:nvPr/>
        </p:nvGrpSpPr>
        <p:grpSpPr>
          <a:xfrm>
            <a:off x="2819400" y="1524000"/>
            <a:ext cx="2697478" cy="4495800"/>
            <a:chOff x="2819400" y="1524000"/>
            <a:chExt cx="2697478" cy="4495800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30AFF1F-1AB6-465B-9BFE-C122E49A191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556760" y="1524000"/>
              <a:ext cx="0" cy="44958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F4C961A-66AA-459F-88B6-E38796145CE9}"/>
                </a:ext>
              </a:extLst>
            </p:cNvPr>
            <p:cNvSpPr/>
            <p:nvPr/>
          </p:nvSpPr>
          <p:spPr>
            <a:xfrm>
              <a:off x="2819400" y="1584192"/>
              <a:ext cx="2697478" cy="3970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2 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2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5C1480F-E8E8-4E58-B652-0423D11C337C}"/>
              </a:ext>
            </a:extLst>
          </p:cNvPr>
          <p:cNvGrpSpPr/>
          <p:nvPr/>
        </p:nvGrpSpPr>
        <p:grpSpPr>
          <a:xfrm>
            <a:off x="304800" y="4516227"/>
            <a:ext cx="2290219" cy="701731"/>
            <a:chOff x="304800" y="4516227"/>
            <a:chExt cx="2290219" cy="701731"/>
          </a:xfrm>
        </p:grpSpPr>
        <p:sp>
          <p:nvSpPr>
            <p:cNvPr id="30" name="Oval 3">
              <a:extLst>
                <a:ext uri="{FF2B5EF4-FFF2-40B4-BE49-F238E27FC236}">
                  <a16:creationId xmlns:a16="http://schemas.microsoft.com/office/drawing/2014/main" id="{5BE621AB-780D-44BD-AAFD-9675581F2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4813126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1" name="Oval 46">
              <a:extLst>
                <a:ext uri="{FF2B5EF4-FFF2-40B4-BE49-F238E27FC236}">
                  <a16:creationId xmlns:a16="http://schemas.microsoft.com/office/drawing/2014/main" id="{AF00F22E-9DB3-4BAA-A0F5-775DBF20C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750" y="4813126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20C6900-2669-4F78-A153-FF63C7108573}"/>
                </a:ext>
              </a:extLst>
            </p:cNvPr>
            <p:cNvSpPr/>
            <p:nvPr/>
          </p:nvSpPr>
          <p:spPr>
            <a:xfrm>
              <a:off x="613821" y="4516227"/>
              <a:ext cx="1981198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Training data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训练数据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F109CA1-5A5B-4512-A901-46BAF13C5F7F}"/>
              </a:ext>
            </a:extLst>
          </p:cNvPr>
          <p:cNvCxnSpPr>
            <a:cxnSpLocks/>
          </p:cNvCxnSpPr>
          <p:nvPr/>
        </p:nvCxnSpPr>
        <p:spPr bwMode="auto">
          <a:xfrm flipH="1">
            <a:off x="3048002" y="1960602"/>
            <a:ext cx="1447798" cy="383059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DF0F7B57-F8DE-4A50-8968-1F9DA0460EB4}"/>
              </a:ext>
            </a:extLst>
          </p:cNvPr>
          <p:cNvSpPr txBox="1"/>
          <p:nvPr/>
        </p:nvSpPr>
        <p:spPr>
          <a:xfrm>
            <a:off x="5507355" y="1535404"/>
            <a:ext cx="349376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Both lines separate the training data correctly. Which one do we choose?</a:t>
            </a:r>
          </a:p>
          <a:p>
            <a:pPr algn="ctr"/>
            <a:r>
              <a:rPr lang="zh-CN" altLang="en-US" sz="2200" dirty="0"/>
              <a:t>两条线都正确地划分了训练数据。那我们选哪个？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3D87120-7EED-4BE8-B384-8B95C6DCB43B}"/>
              </a:ext>
            </a:extLst>
          </p:cNvPr>
          <p:cNvGrpSpPr/>
          <p:nvPr/>
        </p:nvGrpSpPr>
        <p:grpSpPr>
          <a:xfrm>
            <a:off x="2514600" y="2362200"/>
            <a:ext cx="2819400" cy="2819400"/>
            <a:chOff x="2514600" y="2362200"/>
            <a:chExt cx="2819400" cy="2819400"/>
          </a:xfrm>
        </p:grpSpPr>
        <p:sp>
          <p:nvSpPr>
            <p:cNvPr id="65" name="Oval 3">
              <a:extLst>
                <a:ext uri="{FF2B5EF4-FFF2-40B4-BE49-F238E27FC236}">
                  <a16:creationId xmlns:a16="http://schemas.microsoft.com/office/drawing/2014/main" id="{ACAD7D70-029C-4B52-A28E-C100C2EC37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7855" y="294541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6" name="Oval 46">
              <a:extLst>
                <a:ext uri="{FF2B5EF4-FFF2-40B4-BE49-F238E27FC236}">
                  <a16:creationId xmlns:a16="http://schemas.microsoft.com/office/drawing/2014/main" id="{8C6C1536-6B27-429E-9330-C3BDE3EBF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5114" y="4229034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7" name="Oval 46">
              <a:extLst>
                <a:ext uri="{FF2B5EF4-FFF2-40B4-BE49-F238E27FC236}">
                  <a16:creationId xmlns:a16="http://schemas.microsoft.com/office/drawing/2014/main" id="{500E6A0F-9663-4D20-8F17-FDC67C069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00" y="28956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8" name="Oval 46">
              <a:extLst>
                <a:ext uri="{FF2B5EF4-FFF2-40B4-BE49-F238E27FC236}">
                  <a16:creationId xmlns:a16="http://schemas.microsoft.com/office/drawing/2014/main" id="{44724A3A-7B69-42A3-9311-CA99D0CDF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7950" y="42672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9" name="Oval 3">
              <a:extLst>
                <a:ext uri="{FF2B5EF4-FFF2-40B4-BE49-F238E27FC236}">
                  <a16:creationId xmlns:a16="http://schemas.microsoft.com/office/drawing/2014/main" id="{43A057D9-7FA1-46EA-ADE8-A9B58B2AF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34290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0" name="Oval 3">
              <a:extLst>
                <a:ext uri="{FF2B5EF4-FFF2-40B4-BE49-F238E27FC236}">
                  <a16:creationId xmlns:a16="http://schemas.microsoft.com/office/drawing/2014/main" id="{254ED41A-26B2-4260-A3E7-A33208838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1950" y="42672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1" name="Oval 3">
              <a:extLst>
                <a:ext uri="{FF2B5EF4-FFF2-40B4-BE49-F238E27FC236}">
                  <a16:creationId xmlns:a16="http://schemas.microsoft.com/office/drawing/2014/main" id="{63729696-0DB6-4D1F-9436-0DBA2C7A47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7150" y="23622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2" name="Oval 46">
              <a:extLst>
                <a:ext uri="{FF2B5EF4-FFF2-40B4-BE49-F238E27FC236}">
                  <a16:creationId xmlns:a16="http://schemas.microsoft.com/office/drawing/2014/main" id="{AB11E4FA-81D2-4A8F-977E-9EFE0F6DF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800" y="50292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C9A054A-C905-476C-B52A-2EBC71B22788}"/>
              </a:ext>
            </a:extLst>
          </p:cNvPr>
          <p:cNvCxnSpPr>
            <a:cxnSpLocks/>
          </p:cNvCxnSpPr>
          <p:nvPr/>
        </p:nvCxnSpPr>
        <p:spPr bwMode="auto">
          <a:xfrm>
            <a:off x="3634103" y="1960602"/>
            <a:ext cx="0" cy="383059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1978234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Illustration: Fewer Attributes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说明：更少的属性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6. The Curse of Dimensionality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6. </a:t>
            </a:r>
            <a:r>
              <a:rPr lang="zh-CN" altLang="en-US" dirty="0"/>
              <a:t>维度的诅咒</a:t>
            </a:r>
            <a:endParaRPr lang="en-US" altLang="zh-CN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53FDF1A-867B-4172-9801-3F796A481DE3}"/>
              </a:ext>
            </a:extLst>
          </p:cNvPr>
          <p:cNvGrpSpPr/>
          <p:nvPr/>
        </p:nvGrpSpPr>
        <p:grpSpPr>
          <a:xfrm>
            <a:off x="1905000" y="3429000"/>
            <a:ext cx="6256020" cy="1006429"/>
            <a:chOff x="1905000" y="3429000"/>
            <a:chExt cx="6256020" cy="1006429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0368463-BD47-4799-8356-E5457A3A5B30}"/>
                </a:ext>
              </a:extLst>
            </p:cNvPr>
            <p:cNvCxnSpPr/>
            <p:nvPr/>
          </p:nvCxnSpPr>
          <p:spPr bwMode="auto">
            <a:xfrm>
              <a:off x="1905000" y="3886200"/>
              <a:ext cx="52578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15C39BD-1EC1-432C-8E44-3DF9C44D1590}"/>
                </a:ext>
              </a:extLst>
            </p:cNvPr>
            <p:cNvSpPr/>
            <p:nvPr/>
          </p:nvSpPr>
          <p:spPr>
            <a:xfrm>
              <a:off x="6256022" y="3429000"/>
              <a:ext cx="1904998" cy="10064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1</a:t>
              </a:r>
            </a:p>
            <a:p>
              <a:pPr marL="0" lvl="1" algn="ctr" eaLnBrk="1" hangingPunct="1">
                <a:lnSpc>
                  <a:spcPct val="90000"/>
                </a:lnSpc>
              </a:pPr>
              <a:endParaRPr lang="en-US" altLang="ja-JP" sz="2200" dirty="0">
                <a:ea typeface="ＭＳ Ｐゴシック" panose="020B0600070205080204" pitchFamily="34" charset="-128"/>
              </a:endParaRP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1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7100069-E1E0-491E-B248-81EC87F98ED3}"/>
              </a:ext>
            </a:extLst>
          </p:cNvPr>
          <p:cNvGrpSpPr/>
          <p:nvPr/>
        </p:nvGrpSpPr>
        <p:grpSpPr>
          <a:xfrm>
            <a:off x="2819400" y="1524000"/>
            <a:ext cx="2697478" cy="4495800"/>
            <a:chOff x="2819400" y="1524000"/>
            <a:chExt cx="2697478" cy="4495800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30AFF1F-1AB6-465B-9BFE-C122E49A191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556760" y="1524000"/>
              <a:ext cx="0" cy="44958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F4C961A-66AA-459F-88B6-E38796145CE9}"/>
                </a:ext>
              </a:extLst>
            </p:cNvPr>
            <p:cNvSpPr/>
            <p:nvPr/>
          </p:nvSpPr>
          <p:spPr>
            <a:xfrm>
              <a:off x="2819400" y="1584192"/>
              <a:ext cx="2697478" cy="3970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2 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2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5C1480F-E8E8-4E58-B652-0423D11C337C}"/>
              </a:ext>
            </a:extLst>
          </p:cNvPr>
          <p:cNvGrpSpPr/>
          <p:nvPr/>
        </p:nvGrpSpPr>
        <p:grpSpPr>
          <a:xfrm>
            <a:off x="304800" y="4516227"/>
            <a:ext cx="2290219" cy="701731"/>
            <a:chOff x="304800" y="4516227"/>
            <a:chExt cx="2290219" cy="701731"/>
          </a:xfrm>
        </p:grpSpPr>
        <p:sp>
          <p:nvSpPr>
            <p:cNvPr id="30" name="Oval 3">
              <a:extLst>
                <a:ext uri="{FF2B5EF4-FFF2-40B4-BE49-F238E27FC236}">
                  <a16:creationId xmlns:a16="http://schemas.microsoft.com/office/drawing/2014/main" id="{5BE621AB-780D-44BD-AAFD-9675581F2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4813126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1" name="Oval 46">
              <a:extLst>
                <a:ext uri="{FF2B5EF4-FFF2-40B4-BE49-F238E27FC236}">
                  <a16:creationId xmlns:a16="http://schemas.microsoft.com/office/drawing/2014/main" id="{AF00F22E-9DB3-4BAA-A0F5-775DBF20C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750" y="4813126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20C6900-2669-4F78-A153-FF63C7108573}"/>
                </a:ext>
              </a:extLst>
            </p:cNvPr>
            <p:cNvSpPr/>
            <p:nvPr/>
          </p:nvSpPr>
          <p:spPr>
            <a:xfrm>
              <a:off x="613821" y="4516227"/>
              <a:ext cx="1981198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Training data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训练数据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3D87120-7EED-4BE8-B384-8B95C6DCB43B}"/>
              </a:ext>
            </a:extLst>
          </p:cNvPr>
          <p:cNvGrpSpPr/>
          <p:nvPr/>
        </p:nvGrpSpPr>
        <p:grpSpPr>
          <a:xfrm>
            <a:off x="2514600" y="2362200"/>
            <a:ext cx="2819400" cy="2819400"/>
            <a:chOff x="2514600" y="2362200"/>
            <a:chExt cx="2819400" cy="2819400"/>
          </a:xfrm>
        </p:grpSpPr>
        <p:sp>
          <p:nvSpPr>
            <p:cNvPr id="65" name="Oval 3">
              <a:extLst>
                <a:ext uri="{FF2B5EF4-FFF2-40B4-BE49-F238E27FC236}">
                  <a16:creationId xmlns:a16="http://schemas.microsoft.com/office/drawing/2014/main" id="{ACAD7D70-029C-4B52-A28E-C100C2EC37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7855" y="294541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6" name="Oval 46">
              <a:extLst>
                <a:ext uri="{FF2B5EF4-FFF2-40B4-BE49-F238E27FC236}">
                  <a16:creationId xmlns:a16="http://schemas.microsoft.com/office/drawing/2014/main" id="{8C6C1536-6B27-429E-9330-C3BDE3EBF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5114" y="4229034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7" name="Oval 46">
              <a:extLst>
                <a:ext uri="{FF2B5EF4-FFF2-40B4-BE49-F238E27FC236}">
                  <a16:creationId xmlns:a16="http://schemas.microsoft.com/office/drawing/2014/main" id="{500E6A0F-9663-4D20-8F17-FDC67C069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00" y="28956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8" name="Oval 46">
              <a:extLst>
                <a:ext uri="{FF2B5EF4-FFF2-40B4-BE49-F238E27FC236}">
                  <a16:creationId xmlns:a16="http://schemas.microsoft.com/office/drawing/2014/main" id="{44724A3A-7B69-42A3-9311-CA99D0CDF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7950" y="42672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9" name="Oval 3">
              <a:extLst>
                <a:ext uri="{FF2B5EF4-FFF2-40B4-BE49-F238E27FC236}">
                  <a16:creationId xmlns:a16="http://schemas.microsoft.com/office/drawing/2014/main" id="{43A057D9-7FA1-46EA-ADE8-A9B58B2AF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34290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0" name="Oval 3">
              <a:extLst>
                <a:ext uri="{FF2B5EF4-FFF2-40B4-BE49-F238E27FC236}">
                  <a16:creationId xmlns:a16="http://schemas.microsoft.com/office/drawing/2014/main" id="{254ED41A-26B2-4260-A3E7-A33208838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1950" y="42672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1" name="Oval 3">
              <a:extLst>
                <a:ext uri="{FF2B5EF4-FFF2-40B4-BE49-F238E27FC236}">
                  <a16:creationId xmlns:a16="http://schemas.microsoft.com/office/drawing/2014/main" id="{63729696-0DB6-4D1F-9436-0DBA2C7A47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7150" y="23622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2" name="Oval 46">
              <a:extLst>
                <a:ext uri="{FF2B5EF4-FFF2-40B4-BE49-F238E27FC236}">
                  <a16:creationId xmlns:a16="http://schemas.microsoft.com/office/drawing/2014/main" id="{AB11E4FA-81D2-4A8F-977E-9EFE0F6DF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800" y="50292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174A1E4B-1294-4606-91B2-AC442AA52E83}"/>
              </a:ext>
            </a:extLst>
          </p:cNvPr>
          <p:cNvSpPr txBox="1"/>
          <p:nvPr/>
        </p:nvSpPr>
        <p:spPr>
          <a:xfrm>
            <a:off x="5418456" y="2277517"/>
            <a:ext cx="36271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More data tells the result</a:t>
            </a:r>
          </a:p>
          <a:p>
            <a:pPr algn="ctr"/>
            <a:r>
              <a:rPr lang="zh-CN" altLang="en-US" sz="2200" dirty="0"/>
              <a:t>更多的数据阐明了结果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219EA65-4681-487E-99B2-51A5382BF188}"/>
              </a:ext>
            </a:extLst>
          </p:cNvPr>
          <p:cNvGrpSpPr/>
          <p:nvPr/>
        </p:nvGrpSpPr>
        <p:grpSpPr>
          <a:xfrm>
            <a:off x="311150" y="5334000"/>
            <a:ext cx="2279648" cy="701731"/>
            <a:chOff x="311150" y="5334000"/>
            <a:chExt cx="2279648" cy="701731"/>
          </a:xfrm>
        </p:grpSpPr>
        <p:sp>
          <p:nvSpPr>
            <p:cNvPr id="55" name="Oval 32" descr="50%">
              <a:extLst>
                <a:ext uri="{FF2B5EF4-FFF2-40B4-BE49-F238E27FC236}">
                  <a16:creationId xmlns:a16="http://schemas.microsoft.com/office/drawing/2014/main" id="{CCD5806C-DAC7-429A-A33D-F074E20FE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150" y="5550074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83358FC-10F8-48DB-89A2-9EFA869E3FE1}"/>
                </a:ext>
              </a:extLst>
            </p:cNvPr>
            <p:cNvSpPr/>
            <p:nvPr/>
          </p:nvSpPr>
          <p:spPr>
            <a:xfrm>
              <a:off x="609600" y="5334000"/>
              <a:ext cx="1981198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More data </a:t>
              </a: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更多数据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  <p:sp>
          <p:nvSpPr>
            <p:cNvPr id="58" name="Oval 20" descr="50%">
              <a:extLst>
                <a:ext uri="{FF2B5EF4-FFF2-40B4-BE49-F238E27FC236}">
                  <a16:creationId xmlns:a16="http://schemas.microsoft.com/office/drawing/2014/main" id="{8205F63E-9F7E-43E8-B7CA-899ACFB1B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224" y="5550074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31F9134-D644-4C54-B040-CC7EFFE16A10}"/>
              </a:ext>
            </a:extLst>
          </p:cNvPr>
          <p:cNvGrpSpPr/>
          <p:nvPr/>
        </p:nvGrpSpPr>
        <p:grpSpPr>
          <a:xfrm>
            <a:off x="2292350" y="2133600"/>
            <a:ext cx="3111500" cy="3657600"/>
            <a:chOff x="2292350" y="2133600"/>
            <a:chExt cx="3111500" cy="3657600"/>
          </a:xfrm>
        </p:grpSpPr>
        <p:sp>
          <p:nvSpPr>
            <p:cNvPr id="61" name="Oval 32" descr="50%">
              <a:extLst>
                <a:ext uri="{FF2B5EF4-FFF2-40B4-BE49-F238E27FC236}">
                  <a16:creationId xmlns:a16="http://schemas.microsoft.com/office/drawing/2014/main" id="{BD9C45B5-44C2-4817-A57C-C00D020D7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6750" y="24384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2" name="Oval 32" descr="50%">
              <a:extLst>
                <a:ext uri="{FF2B5EF4-FFF2-40B4-BE49-F238E27FC236}">
                  <a16:creationId xmlns:a16="http://schemas.microsoft.com/office/drawing/2014/main" id="{AABE2CC4-B284-44CF-8F97-ECCA3BA40D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9150" y="35814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3" name="Oval 32" descr="50%">
              <a:extLst>
                <a:ext uri="{FF2B5EF4-FFF2-40B4-BE49-F238E27FC236}">
                  <a16:creationId xmlns:a16="http://schemas.microsoft.com/office/drawing/2014/main" id="{526507EF-7C22-41A7-985A-72192710A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353" y="284132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3" name="Oval 32" descr="50%">
              <a:extLst>
                <a:ext uri="{FF2B5EF4-FFF2-40B4-BE49-F238E27FC236}">
                  <a16:creationId xmlns:a16="http://schemas.microsoft.com/office/drawing/2014/main" id="{FEC1D777-EA90-4F0A-9E2B-777560235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6750" y="46482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4" name="Oval 32" descr="50%">
              <a:extLst>
                <a:ext uri="{FF2B5EF4-FFF2-40B4-BE49-F238E27FC236}">
                  <a16:creationId xmlns:a16="http://schemas.microsoft.com/office/drawing/2014/main" id="{EFDA9874-DE1F-4781-863D-76BF26A75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7000" y="46482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6" name="Oval 32" descr="50%">
              <a:extLst>
                <a:ext uri="{FF2B5EF4-FFF2-40B4-BE49-F238E27FC236}">
                  <a16:creationId xmlns:a16="http://schemas.microsoft.com/office/drawing/2014/main" id="{F3443CD2-FBFC-47DD-BE63-71F862552C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53340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7" name="Oval 32" descr="50%">
              <a:extLst>
                <a:ext uri="{FF2B5EF4-FFF2-40B4-BE49-F238E27FC236}">
                  <a16:creationId xmlns:a16="http://schemas.microsoft.com/office/drawing/2014/main" id="{128A6D87-7D63-49E7-92E0-A0AC017695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600" y="56388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8" name="Oval 32" descr="50%">
              <a:extLst>
                <a:ext uri="{FF2B5EF4-FFF2-40B4-BE49-F238E27FC236}">
                  <a16:creationId xmlns:a16="http://schemas.microsoft.com/office/drawing/2014/main" id="{92A6D773-B755-4A0D-BDC8-68B40743F1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2350" y="41148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9" name="Oval 20" descr="50%">
              <a:extLst>
                <a:ext uri="{FF2B5EF4-FFF2-40B4-BE49-F238E27FC236}">
                  <a16:creationId xmlns:a16="http://schemas.microsoft.com/office/drawing/2014/main" id="{A444A855-7997-46B2-B3DD-24EC216531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0" y="2362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0" name="Oval 20" descr="50%">
              <a:extLst>
                <a:ext uri="{FF2B5EF4-FFF2-40B4-BE49-F238E27FC236}">
                  <a16:creationId xmlns:a16="http://schemas.microsoft.com/office/drawing/2014/main" id="{9BE0CCCA-C085-4F01-B8DD-E6FE5B3993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400" y="4648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1" name="Oval 20" descr="50%">
              <a:extLst>
                <a:ext uri="{FF2B5EF4-FFF2-40B4-BE49-F238E27FC236}">
                  <a16:creationId xmlns:a16="http://schemas.microsoft.com/office/drawing/2014/main" id="{08E4981D-D36D-48BC-8120-D44A3F1C1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4648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2" name="Oval 20" descr="50%">
              <a:extLst>
                <a:ext uri="{FF2B5EF4-FFF2-40B4-BE49-F238E27FC236}">
                  <a16:creationId xmlns:a16="http://schemas.microsoft.com/office/drawing/2014/main" id="{72B24E92-42BB-4E8E-B3BC-347140ACD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8750" y="33528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3" name="Oval 20" descr="50%">
              <a:extLst>
                <a:ext uri="{FF2B5EF4-FFF2-40B4-BE49-F238E27FC236}">
                  <a16:creationId xmlns:a16="http://schemas.microsoft.com/office/drawing/2014/main" id="{BCE0EF68-886E-430B-B952-23F42C58C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400" y="3124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4" name="Oval 20" descr="50%">
              <a:extLst>
                <a:ext uri="{FF2B5EF4-FFF2-40B4-BE49-F238E27FC236}">
                  <a16:creationId xmlns:a16="http://schemas.microsoft.com/office/drawing/2014/main" id="{5F527E90-FB9B-4699-B117-C4540105F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41910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5" name="Oval 20" descr="50%">
              <a:extLst>
                <a:ext uri="{FF2B5EF4-FFF2-40B4-BE49-F238E27FC236}">
                  <a16:creationId xmlns:a16="http://schemas.microsoft.com/office/drawing/2014/main" id="{3C10E1E1-53E3-4C56-AA4E-AE780B16C3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30480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6" name="Oval 20" descr="50%">
              <a:extLst>
                <a:ext uri="{FF2B5EF4-FFF2-40B4-BE49-F238E27FC236}">
                  <a16:creationId xmlns:a16="http://schemas.microsoft.com/office/drawing/2014/main" id="{2A7FCB0E-C843-4674-B7E4-D0DF31E97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7950" y="48006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7" name="Oval 20" descr="50%">
              <a:extLst>
                <a:ext uri="{FF2B5EF4-FFF2-40B4-BE49-F238E27FC236}">
                  <a16:creationId xmlns:a16="http://schemas.microsoft.com/office/drawing/2014/main" id="{D05ACB80-E774-4F15-823E-6D49A46D2B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7350" y="55626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8" name="Oval 20" descr="50%">
              <a:extLst>
                <a:ext uri="{FF2B5EF4-FFF2-40B4-BE49-F238E27FC236}">
                  <a16:creationId xmlns:a16="http://schemas.microsoft.com/office/drawing/2014/main" id="{ABB3F88B-A2C5-4F62-BFF1-D64BCA902D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21336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D8E9E1E-E70F-4155-A359-4FBCCC723E21}"/>
              </a:ext>
            </a:extLst>
          </p:cNvPr>
          <p:cNvCxnSpPr>
            <a:cxnSpLocks/>
          </p:cNvCxnSpPr>
          <p:nvPr/>
        </p:nvCxnSpPr>
        <p:spPr bwMode="auto">
          <a:xfrm flipH="1">
            <a:off x="3048002" y="1960602"/>
            <a:ext cx="1447798" cy="383059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8611D46-16A4-4A37-9CE1-42F474C08343}"/>
              </a:ext>
            </a:extLst>
          </p:cNvPr>
          <p:cNvCxnSpPr>
            <a:cxnSpLocks/>
          </p:cNvCxnSpPr>
          <p:nvPr/>
        </p:nvCxnSpPr>
        <p:spPr bwMode="auto">
          <a:xfrm>
            <a:off x="3634103" y="1960602"/>
            <a:ext cx="0" cy="383059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4175524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Unfortunately  </a:t>
            </a:r>
            <a:r>
              <a:rPr lang="zh-CN" altLang="en-US" dirty="0">
                <a:ea typeface="ＭＳ Ｐゴシック" panose="020B0600070205080204" pitchFamily="34" charset="-128"/>
              </a:rPr>
              <a:t>不幸的是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48006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zh-CN" dirty="0"/>
              <a:t>Given More Attributes  </a:t>
            </a:r>
            <a:br>
              <a:rPr lang="en-US" altLang="zh-CN" dirty="0"/>
            </a:br>
            <a:r>
              <a:rPr lang="zh-CN" altLang="en-US" dirty="0"/>
              <a:t>当存在更多的属性之时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Intractable to exhaust the combinations of a certain number of attributes  </a:t>
            </a:r>
            <a:br>
              <a:rPr lang="en-US" altLang="zh-CN" dirty="0"/>
            </a:br>
            <a:r>
              <a:rPr lang="zh-CN" altLang="en-US" dirty="0"/>
              <a:t>遍历一定数量的属性组合是难于处理的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en-US" altLang="zh-CN" dirty="0"/>
              <a:t>The Alternative  </a:t>
            </a:r>
            <a:r>
              <a:rPr lang="zh-CN" altLang="en-US" dirty="0"/>
              <a:t>别的办法</a:t>
            </a:r>
            <a:r>
              <a:rPr lang="en-US" altLang="zh-CN" dirty="0"/>
              <a:t> 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Broader concept on </a:t>
            </a:r>
            <a:r>
              <a:rPr lang="zh-CN" altLang="en-US" dirty="0"/>
              <a:t>‘</a:t>
            </a:r>
            <a:r>
              <a:rPr lang="en-US" altLang="zh-CN" dirty="0"/>
              <a:t>classification capability</a:t>
            </a:r>
            <a:r>
              <a:rPr lang="zh-CN" altLang="en-US" dirty="0"/>
              <a:t>’</a:t>
            </a:r>
            <a:r>
              <a:rPr lang="en-US" altLang="zh-CN" dirty="0"/>
              <a:t> of the candidate classifier set </a:t>
            </a:r>
            <a:r>
              <a:rPr lang="zh-CN" altLang="en-US" dirty="0"/>
              <a:t>为候选分类器集合的“分类能力”指定一个更宽泛的定义</a:t>
            </a:r>
            <a:endParaRPr lang="en-US" altLang="zh-CN" dirty="0"/>
          </a:p>
          <a:p>
            <a:pPr lvl="2">
              <a:lnSpc>
                <a:spcPct val="90000"/>
              </a:lnSpc>
            </a:pPr>
            <a:r>
              <a:rPr lang="en-US" altLang="zh-CN" dirty="0"/>
              <a:t>Starting from something intuitive: </a:t>
            </a:r>
            <a:r>
              <a:rPr lang="en-US" altLang="zh-CN" dirty="0">
                <a:solidFill>
                  <a:srgbClr val="FF0000"/>
                </a:solidFill>
              </a:rPr>
              <a:t>margin</a:t>
            </a:r>
            <a:r>
              <a:rPr lang="en-US" altLang="zh-CN" dirty="0"/>
              <a:t> </a:t>
            </a:r>
            <a:br>
              <a:rPr lang="en-US" altLang="zh-CN" dirty="0"/>
            </a:br>
            <a:r>
              <a:rPr lang="zh-CN" altLang="en-US" dirty="0"/>
              <a:t>从直观的事物开始：</a:t>
            </a:r>
            <a:r>
              <a:rPr lang="zh-CN" altLang="en-US" dirty="0">
                <a:solidFill>
                  <a:srgbClr val="FF0000"/>
                </a:solidFill>
              </a:rPr>
              <a:t>间距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7. Occam’s Razor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7. </a:t>
            </a:r>
            <a:r>
              <a:rPr lang="zh-CN" altLang="en-US" dirty="0"/>
              <a:t>奥卡姆剃刀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70598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Margin to a Data Sample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距离某个数据点的间距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7. Occam’s Razor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7. </a:t>
            </a:r>
            <a:r>
              <a:rPr lang="zh-CN" altLang="en-US" dirty="0"/>
              <a:t>奥卡姆剃刀</a:t>
            </a:r>
            <a:endParaRPr lang="en-US" altLang="zh-CN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084B63D-AF3E-4B5F-8049-A56F33775246}"/>
              </a:ext>
            </a:extLst>
          </p:cNvPr>
          <p:cNvGrpSpPr/>
          <p:nvPr/>
        </p:nvGrpSpPr>
        <p:grpSpPr>
          <a:xfrm>
            <a:off x="1905000" y="3429000"/>
            <a:ext cx="6256020" cy="1006429"/>
            <a:chOff x="1905000" y="3429000"/>
            <a:chExt cx="6256020" cy="1006429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D1A79F6-9B49-45E9-B807-ED2B85EAD0A8}"/>
                </a:ext>
              </a:extLst>
            </p:cNvPr>
            <p:cNvCxnSpPr/>
            <p:nvPr/>
          </p:nvCxnSpPr>
          <p:spPr bwMode="auto">
            <a:xfrm>
              <a:off x="1905000" y="3886200"/>
              <a:ext cx="52578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D6AE9A8-9ECF-4D2C-BDC4-760D14361438}"/>
                </a:ext>
              </a:extLst>
            </p:cNvPr>
            <p:cNvSpPr/>
            <p:nvPr/>
          </p:nvSpPr>
          <p:spPr>
            <a:xfrm>
              <a:off x="6256022" y="3429000"/>
              <a:ext cx="1904998" cy="10064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1</a:t>
              </a:r>
            </a:p>
            <a:p>
              <a:pPr marL="0" lvl="1" algn="ctr" eaLnBrk="1" hangingPunct="1">
                <a:lnSpc>
                  <a:spcPct val="90000"/>
                </a:lnSpc>
              </a:pPr>
              <a:endParaRPr lang="en-US" altLang="ja-JP" sz="2200" dirty="0">
                <a:ea typeface="ＭＳ Ｐゴシック" panose="020B0600070205080204" pitchFamily="34" charset="-128"/>
              </a:endParaRP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1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4E3B5A0-422C-4536-98F4-0097015A5D18}"/>
              </a:ext>
            </a:extLst>
          </p:cNvPr>
          <p:cNvGrpSpPr/>
          <p:nvPr/>
        </p:nvGrpSpPr>
        <p:grpSpPr>
          <a:xfrm>
            <a:off x="2819400" y="1524000"/>
            <a:ext cx="2697478" cy="4495800"/>
            <a:chOff x="2819400" y="1524000"/>
            <a:chExt cx="2697478" cy="4495800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09A1A75-64A0-40F7-BA8A-282251F9E493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556760" y="1524000"/>
              <a:ext cx="0" cy="44958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1E33582-1C7C-4C21-A30F-CA6406EC30AD}"/>
                </a:ext>
              </a:extLst>
            </p:cNvPr>
            <p:cNvSpPr/>
            <p:nvPr/>
          </p:nvSpPr>
          <p:spPr>
            <a:xfrm>
              <a:off x="2819400" y="1584192"/>
              <a:ext cx="2697478" cy="3970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2 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2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3CF5B1-3CDE-4C68-9ED6-C4B1CB7DD396}"/>
              </a:ext>
            </a:extLst>
          </p:cNvPr>
          <p:cNvCxnSpPr>
            <a:cxnSpLocks/>
          </p:cNvCxnSpPr>
          <p:nvPr/>
        </p:nvCxnSpPr>
        <p:spPr bwMode="auto">
          <a:xfrm flipH="1">
            <a:off x="2362200" y="2705100"/>
            <a:ext cx="4724401" cy="256870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Oval 46">
            <a:extLst>
              <a:ext uri="{FF2B5EF4-FFF2-40B4-BE49-F238E27FC236}">
                <a16:creationId xmlns:a16="http://schemas.microsoft.com/office/drawing/2014/main" id="{3D8C7516-7384-40D8-9793-7BF31F4F1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552700"/>
            <a:ext cx="146050" cy="152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E60AD8C-F891-4362-837B-8246F0B433D7}"/>
              </a:ext>
            </a:extLst>
          </p:cNvPr>
          <p:cNvCxnSpPr>
            <a:cxnSpLocks/>
            <a:endCxn id="15" idx="5"/>
          </p:cNvCxnSpPr>
          <p:nvPr/>
        </p:nvCxnSpPr>
        <p:spPr bwMode="auto">
          <a:xfrm flipH="1" flipV="1">
            <a:off x="5230061" y="2682782"/>
            <a:ext cx="405566" cy="81937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68DE1DB-0269-46AA-B1E9-332077B8CA34}"/>
              </a:ext>
            </a:extLst>
          </p:cNvPr>
          <p:cNvSpPr txBox="1"/>
          <p:nvPr/>
        </p:nvSpPr>
        <p:spPr>
          <a:xfrm>
            <a:off x="472124" y="4110039"/>
            <a:ext cx="36271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 linear classifier</a:t>
            </a:r>
          </a:p>
          <a:p>
            <a:pPr algn="ctr"/>
            <a:r>
              <a:rPr lang="zh-CN" altLang="en-US" sz="2200" dirty="0"/>
              <a:t>一个线性分类器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49FE53-BA61-4BF3-BCDE-9079005BBBA5}"/>
              </a:ext>
            </a:extLst>
          </p:cNvPr>
          <p:cNvSpPr txBox="1"/>
          <p:nvPr/>
        </p:nvSpPr>
        <p:spPr>
          <a:xfrm>
            <a:off x="4724400" y="1882230"/>
            <a:ext cx="26369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 data sample</a:t>
            </a:r>
          </a:p>
          <a:p>
            <a:pPr algn="ctr"/>
            <a:r>
              <a:rPr lang="zh-CN" altLang="en-US" sz="2200" dirty="0"/>
              <a:t>一个数据点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FB3A75-D943-4EBC-8920-76C4A220BF68}"/>
              </a:ext>
            </a:extLst>
          </p:cNvPr>
          <p:cNvSpPr txBox="1"/>
          <p:nvPr/>
        </p:nvSpPr>
        <p:spPr>
          <a:xfrm>
            <a:off x="4168139" y="2905489"/>
            <a:ext cx="15550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Margin</a:t>
            </a:r>
          </a:p>
          <a:p>
            <a:pPr algn="ctr"/>
            <a:r>
              <a:rPr lang="zh-CN" altLang="en-US" sz="2200" dirty="0"/>
              <a:t>间距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52830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2" grpId="0"/>
      <p:bldP spid="23" grpId="0"/>
      <p:bldP spid="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Large Margin Classification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大间距分类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7. Occam’s Razor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7. </a:t>
            </a:r>
            <a:r>
              <a:rPr lang="zh-CN" altLang="en-US" dirty="0"/>
              <a:t>奥卡姆剃刀</a:t>
            </a:r>
            <a:endParaRPr lang="en-US" altLang="zh-CN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53FDF1A-867B-4172-9801-3F796A481DE3}"/>
              </a:ext>
            </a:extLst>
          </p:cNvPr>
          <p:cNvGrpSpPr/>
          <p:nvPr/>
        </p:nvGrpSpPr>
        <p:grpSpPr>
          <a:xfrm>
            <a:off x="1905000" y="3429000"/>
            <a:ext cx="6256020" cy="1006429"/>
            <a:chOff x="1905000" y="3429000"/>
            <a:chExt cx="6256020" cy="1006429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0368463-BD47-4799-8356-E5457A3A5B30}"/>
                </a:ext>
              </a:extLst>
            </p:cNvPr>
            <p:cNvCxnSpPr/>
            <p:nvPr/>
          </p:nvCxnSpPr>
          <p:spPr bwMode="auto">
            <a:xfrm>
              <a:off x="1905000" y="3886200"/>
              <a:ext cx="52578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15C39BD-1EC1-432C-8E44-3DF9C44D1590}"/>
                </a:ext>
              </a:extLst>
            </p:cNvPr>
            <p:cNvSpPr/>
            <p:nvPr/>
          </p:nvSpPr>
          <p:spPr>
            <a:xfrm>
              <a:off x="6256022" y="3429000"/>
              <a:ext cx="1904998" cy="10064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1</a:t>
              </a:r>
            </a:p>
            <a:p>
              <a:pPr marL="0" lvl="1" algn="ctr" eaLnBrk="1" hangingPunct="1">
                <a:lnSpc>
                  <a:spcPct val="90000"/>
                </a:lnSpc>
              </a:pPr>
              <a:endParaRPr lang="en-US" altLang="ja-JP" sz="2200" dirty="0">
                <a:ea typeface="ＭＳ Ｐゴシック" panose="020B0600070205080204" pitchFamily="34" charset="-128"/>
              </a:endParaRP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1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7100069-E1E0-491E-B248-81EC87F98ED3}"/>
              </a:ext>
            </a:extLst>
          </p:cNvPr>
          <p:cNvGrpSpPr/>
          <p:nvPr/>
        </p:nvGrpSpPr>
        <p:grpSpPr>
          <a:xfrm>
            <a:off x="2819400" y="1524000"/>
            <a:ext cx="2697478" cy="4495800"/>
            <a:chOff x="2819400" y="1524000"/>
            <a:chExt cx="2697478" cy="4495800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30AFF1F-1AB6-465B-9BFE-C122E49A191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556760" y="1524000"/>
              <a:ext cx="0" cy="44958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F4C961A-66AA-459F-88B6-E38796145CE9}"/>
                </a:ext>
              </a:extLst>
            </p:cNvPr>
            <p:cNvSpPr/>
            <p:nvPr/>
          </p:nvSpPr>
          <p:spPr>
            <a:xfrm>
              <a:off x="2819400" y="1584192"/>
              <a:ext cx="2697478" cy="3970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2 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2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0D52462-AE57-40B0-9994-E97AB5F0483C}"/>
              </a:ext>
            </a:extLst>
          </p:cNvPr>
          <p:cNvGrpSpPr/>
          <p:nvPr/>
        </p:nvGrpSpPr>
        <p:grpSpPr>
          <a:xfrm>
            <a:off x="3394537" y="2438400"/>
            <a:ext cx="2819400" cy="2743200"/>
            <a:chOff x="2514600" y="2328862"/>
            <a:chExt cx="2819400" cy="2743200"/>
          </a:xfrm>
        </p:grpSpPr>
        <p:sp>
          <p:nvSpPr>
            <p:cNvPr id="13" name="Oval 3">
              <a:extLst>
                <a:ext uri="{FF2B5EF4-FFF2-40B4-BE49-F238E27FC236}">
                  <a16:creationId xmlns:a16="http://schemas.microsoft.com/office/drawing/2014/main" id="{3C2E1F6A-8E93-46D8-A79A-5555E85251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1063" y="3014662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14" name="Oval 46">
              <a:extLst>
                <a:ext uri="{FF2B5EF4-FFF2-40B4-BE49-F238E27FC236}">
                  <a16:creationId xmlns:a16="http://schemas.microsoft.com/office/drawing/2014/main" id="{B870CCAA-3DE3-46D3-B6C0-34525B0E2B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3742" y="3980548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23" name="Oval 46">
              <a:extLst>
                <a:ext uri="{FF2B5EF4-FFF2-40B4-BE49-F238E27FC236}">
                  <a16:creationId xmlns:a16="http://schemas.microsoft.com/office/drawing/2014/main" id="{5245E6C7-CA5D-4314-843B-DD43EA79A8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4213" y="3471862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24" name="Oval 46">
              <a:extLst>
                <a:ext uri="{FF2B5EF4-FFF2-40B4-BE49-F238E27FC236}">
                  <a16:creationId xmlns:a16="http://schemas.microsoft.com/office/drawing/2014/main" id="{248278B6-ECED-43DB-8715-F6CBFF9CD3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7950" y="42672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25" name="Oval 3">
              <a:extLst>
                <a:ext uri="{FF2B5EF4-FFF2-40B4-BE49-F238E27FC236}">
                  <a16:creationId xmlns:a16="http://schemas.microsoft.com/office/drawing/2014/main" id="{8CA897F5-60EE-4DDA-9ED5-0DBA3C02E4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34290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26" name="Oval 3">
              <a:extLst>
                <a:ext uri="{FF2B5EF4-FFF2-40B4-BE49-F238E27FC236}">
                  <a16:creationId xmlns:a16="http://schemas.microsoft.com/office/drawing/2014/main" id="{2AFD46D6-34FA-4020-AA4C-0338371A66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6413" y="4310062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27" name="Oval 3">
              <a:extLst>
                <a:ext uri="{FF2B5EF4-FFF2-40B4-BE49-F238E27FC236}">
                  <a16:creationId xmlns:a16="http://schemas.microsoft.com/office/drawing/2014/main" id="{1701CE54-038B-4BB4-8E2E-D3FC367A5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0663" y="2328862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29" name="Oval 46">
              <a:extLst>
                <a:ext uri="{FF2B5EF4-FFF2-40B4-BE49-F238E27FC236}">
                  <a16:creationId xmlns:a16="http://schemas.microsoft.com/office/drawing/2014/main" id="{AB6034EB-5BF0-4878-8BE3-4BF761EBF3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3613" y="4919662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5C1480F-E8E8-4E58-B652-0423D11C337C}"/>
              </a:ext>
            </a:extLst>
          </p:cNvPr>
          <p:cNvGrpSpPr/>
          <p:nvPr/>
        </p:nvGrpSpPr>
        <p:grpSpPr>
          <a:xfrm>
            <a:off x="304800" y="4516227"/>
            <a:ext cx="2290219" cy="701731"/>
            <a:chOff x="304800" y="4516227"/>
            <a:chExt cx="2290219" cy="701731"/>
          </a:xfrm>
        </p:grpSpPr>
        <p:sp>
          <p:nvSpPr>
            <p:cNvPr id="30" name="Oval 3">
              <a:extLst>
                <a:ext uri="{FF2B5EF4-FFF2-40B4-BE49-F238E27FC236}">
                  <a16:creationId xmlns:a16="http://schemas.microsoft.com/office/drawing/2014/main" id="{5BE621AB-780D-44BD-AAFD-9675581F2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4813126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1" name="Oval 46">
              <a:extLst>
                <a:ext uri="{FF2B5EF4-FFF2-40B4-BE49-F238E27FC236}">
                  <a16:creationId xmlns:a16="http://schemas.microsoft.com/office/drawing/2014/main" id="{AF00F22E-9DB3-4BAA-A0F5-775DBF20C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750" y="4813126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20C6900-2669-4F78-A153-FF63C7108573}"/>
                </a:ext>
              </a:extLst>
            </p:cNvPr>
            <p:cNvSpPr/>
            <p:nvPr/>
          </p:nvSpPr>
          <p:spPr>
            <a:xfrm>
              <a:off x="613821" y="4516227"/>
              <a:ext cx="1981198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Training data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训练数据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F109CA1-5A5B-4512-A901-46BAF13C5F7F}"/>
              </a:ext>
            </a:extLst>
          </p:cNvPr>
          <p:cNvCxnSpPr>
            <a:cxnSpLocks/>
          </p:cNvCxnSpPr>
          <p:nvPr/>
        </p:nvCxnSpPr>
        <p:spPr bwMode="auto">
          <a:xfrm flipH="1">
            <a:off x="3540588" y="1447800"/>
            <a:ext cx="2189826" cy="45720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DF0F7B57-F8DE-4A50-8968-1F9DA0460EB4}"/>
              </a:ext>
            </a:extLst>
          </p:cNvPr>
          <p:cNvSpPr txBox="1"/>
          <p:nvPr/>
        </p:nvSpPr>
        <p:spPr>
          <a:xfrm>
            <a:off x="5516878" y="1777308"/>
            <a:ext cx="357033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Not only separate training data correctly  </a:t>
            </a:r>
            <a:r>
              <a:rPr lang="zh-CN" altLang="en-US" sz="2200" dirty="0"/>
              <a:t>不仅正确地划分了训练数据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23165FF-5366-44A1-BC00-656C35A4254F}"/>
              </a:ext>
            </a:extLst>
          </p:cNvPr>
          <p:cNvCxnSpPr>
            <a:cxnSpLocks/>
          </p:cNvCxnSpPr>
          <p:nvPr/>
        </p:nvCxnSpPr>
        <p:spPr bwMode="auto">
          <a:xfrm flipH="1">
            <a:off x="3730059" y="1550772"/>
            <a:ext cx="2189826" cy="45720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8E9F0945-446C-436D-8DF6-A3F72A10834F}"/>
              </a:ext>
            </a:extLst>
          </p:cNvPr>
          <p:cNvCxnSpPr>
            <a:cxnSpLocks/>
          </p:cNvCxnSpPr>
          <p:nvPr/>
        </p:nvCxnSpPr>
        <p:spPr bwMode="auto">
          <a:xfrm flipH="1">
            <a:off x="3365157" y="1309815"/>
            <a:ext cx="2189826" cy="45720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94A5504-D7C6-4AB0-85B7-5AADBE432BDE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4766706" y="2957382"/>
            <a:ext cx="397045" cy="2224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6FF0A70A-26E9-4323-9040-27AA77A13BDC}"/>
              </a:ext>
            </a:extLst>
          </p:cNvPr>
          <p:cNvSpPr txBox="1"/>
          <p:nvPr/>
        </p:nvSpPr>
        <p:spPr>
          <a:xfrm>
            <a:off x="5696163" y="4550279"/>
            <a:ext cx="290445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But also maintain a certain margin to all the data samples </a:t>
            </a:r>
            <a:br>
              <a:rPr lang="en-US" altLang="zh-CN" sz="2200" dirty="0"/>
            </a:br>
            <a:r>
              <a:rPr lang="zh-CN" altLang="en-US" sz="2200" dirty="0"/>
              <a:t>而且离所有的数据都有一定的间距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7838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Large Margin Classification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大间距分类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7. Occam’s Razor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7. </a:t>
            </a:r>
            <a:r>
              <a:rPr lang="zh-CN" altLang="en-US" dirty="0"/>
              <a:t>奥卡姆剃刀</a:t>
            </a:r>
            <a:endParaRPr lang="en-US" altLang="zh-CN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53FDF1A-867B-4172-9801-3F796A481DE3}"/>
              </a:ext>
            </a:extLst>
          </p:cNvPr>
          <p:cNvGrpSpPr/>
          <p:nvPr/>
        </p:nvGrpSpPr>
        <p:grpSpPr>
          <a:xfrm>
            <a:off x="1905000" y="3429000"/>
            <a:ext cx="6256020" cy="1006429"/>
            <a:chOff x="1905000" y="3429000"/>
            <a:chExt cx="6256020" cy="1006429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0368463-BD47-4799-8356-E5457A3A5B30}"/>
                </a:ext>
              </a:extLst>
            </p:cNvPr>
            <p:cNvCxnSpPr/>
            <p:nvPr/>
          </p:nvCxnSpPr>
          <p:spPr bwMode="auto">
            <a:xfrm>
              <a:off x="1905000" y="3886200"/>
              <a:ext cx="52578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15C39BD-1EC1-432C-8E44-3DF9C44D1590}"/>
                </a:ext>
              </a:extLst>
            </p:cNvPr>
            <p:cNvSpPr/>
            <p:nvPr/>
          </p:nvSpPr>
          <p:spPr>
            <a:xfrm>
              <a:off x="6256022" y="3429000"/>
              <a:ext cx="1904998" cy="10064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1</a:t>
              </a:r>
            </a:p>
            <a:p>
              <a:pPr marL="0" lvl="1" algn="ctr" eaLnBrk="1" hangingPunct="1">
                <a:lnSpc>
                  <a:spcPct val="90000"/>
                </a:lnSpc>
              </a:pPr>
              <a:endParaRPr lang="en-US" altLang="ja-JP" sz="2200" dirty="0">
                <a:ea typeface="ＭＳ Ｐゴシック" panose="020B0600070205080204" pitchFamily="34" charset="-128"/>
              </a:endParaRP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1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7100069-E1E0-491E-B248-81EC87F98ED3}"/>
              </a:ext>
            </a:extLst>
          </p:cNvPr>
          <p:cNvGrpSpPr/>
          <p:nvPr/>
        </p:nvGrpSpPr>
        <p:grpSpPr>
          <a:xfrm>
            <a:off x="2819400" y="1524000"/>
            <a:ext cx="2697478" cy="4495800"/>
            <a:chOff x="2819400" y="1524000"/>
            <a:chExt cx="2697478" cy="4495800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30AFF1F-1AB6-465B-9BFE-C122E49A191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556760" y="1524000"/>
              <a:ext cx="0" cy="44958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F4C961A-66AA-459F-88B6-E38796145CE9}"/>
                </a:ext>
              </a:extLst>
            </p:cNvPr>
            <p:cNvSpPr/>
            <p:nvPr/>
          </p:nvSpPr>
          <p:spPr>
            <a:xfrm>
              <a:off x="2819400" y="1584192"/>
              <a:ext cx="2697478" cy="3970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2 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2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5C1480F-E8E8-4E58-B652-0423D11C337C}"/>
              </a:ext>
            </a:extLst>
          </p:cNvPr>
          <p:cNvGrpSpPr/>
          <p:nvPr/>
        </p:nvGrpSpPr>
        <p:grpSpPr>
          <a:xfrm>
            <a:off x="304800" y="4516227"/>
            <a:ext cx="2290219" cy="701731"/>
            <a:chOff x="304800" y="4516227"/>
            <a:chExt cx="2290219" cy="701731"/>
          </a:xfrm>
        </p:grpSpPr>
        <p:sp>
          <p:nvSpPr>
            <p:cNvPr id="30" name="Oval 3">
              <a:extLst>
                <a:ext uri="{FF2B5EF4-FFF2-40B4-BE49-F238E27FC236}">
                  <a16:creationId xmlns:a16="http://schemas.microsoft.com/office/drawing/2014/main" id="{5BE621AB-780D-44BD-AAFD-9675581F2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4813126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1" name="Oval 46">
              <a:extLst>
                <a:ext uri="{FF2B5EF4-FFF2-40B4-BE49-F238E27FC236}">
                  <a16:creationId xmlns:a16="http://schemas.microsoft.com/office/drawing/2014/main" id="{AF00F22E-9DB3-4BAA-A0F5-775DBF20C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750" y="4813126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20C6900-2669-4F78-A153-FF63C7108573}"/>
                </a:ext>
              </a:extLst>
            </p:cNvPr>
            <p:cNvSpPr/>
            <p:nvPr/>
          </p:nvSpPr>
          <p:spPr>
            <a:xfrm>
              <a:off x="613821" y="4516227"/>
              <a:ext cx="1981198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Training data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训练数据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F109CA1-5A5B-4512-A901-46BAF13C5F7F}"/>
              </a:ext>
            </a:extLst>
          </p:cNvPr>
          <p:cNvCxnSpPr>
            <a:cxnSpLocks/>
          </p:cNvCxnSpPr>
          <p:nvPr/>
        </p:nvCxnSpPr>
        <p:spPr bwMode="auto">
          <a:xfrm flipH="1">
            <a:off x="2690843" y="1617132"/>
            <a:ext cx="4776757" cy="405460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DF0F7B57-F8DE-4A50-8968-1F9DA0460EB4}"/>
              </a:ext>
            </a:extLst>
          </p:cNvPr>
          <p:cNvSpPr txBox="1"/>
          <p:nvPr/>
        </p:nvSpPr>
        <p:spPr>
          <a:xfrm>
            <a:off x="330200" y="2181304"/>
            <a:ext cx="357033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Only separate training data correctly  </a:t>
            </a:r>
          </a:p>
          <a:p>
            <a:pPr algn="ctr"/>
            <a:r>
              <a:rPr lang="zh-CN" altLang="en-US" sz="2200" dirty="0"/>
              <a:t>仅正确地划分了训练数据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8E9F0945-446C-436D-8DF6-A3F72A10834F}"/>
              </a:ext>
            </a:extLst>
          </p:cNvPr>
          <p:cNvCxnSpPr>
            <a:cxnSpLocks/>
          </p:cNvCxnSpPr>
          <p:nvPr/>
        </p:nvCxnSpPr>
        <p:spPr bwMode="auto">
          <a:xfrm flipH="1">
            <a:off x="2637104" y="1535246"/>
            <a:ext cx="4830496" cy="410355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6FF0A70A-26E9-4323-9040-27AA77A13BDC}"/>
              </a:ext>
            </a:extLst>
          </p:cNvPr>
          <p:cNvSpPr txBox="1"/>
          <p:nvPr/>
        </p:nvSpPr>
        <p:spPr>
          <a:xfrm>
            <a:off x="5089239" y="4971996"/>
            <a:ext cx="340036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Very small margin for a certain sample</a:t>
            </a:r>
            <a:br>
              <a:rPr lang="en-US" altLang="zh-CN" sz="2200" dirty="0"/>
            </a:br>
            <a:r>
              <a:rPr lang="zh-CN" altLang="en-US" sz="2200" dirty="0"/>
              <a:t>离某个数据点间距非常小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5EC235B-0F66-4F50-A658-3DA313D2F898}"/>
              </a:ext>
            </a:extLst>
          </p:cNvPr>
          <p:cNvGrpSpPr/>
          <p:nvPr/>
        </p:nvGrpSpPr>
        <p:grpSpPr>
          <a:xfrm>
            <a:off x="3394537" y="2438400"/>
            <a:ext cx="2819400" cy="2743200"/>
            <a:chOff x="2514600" y="2328862"/>
            <a:chExt cx="2819400" cy="2743200"/>
          </a:xfrm>
        </p:grpSpPr>
        <p:sp>
          <p:nvSpPr>
            <p:cNvPr id="37" name="Oval 3">
              <a:extLst>
                <a:ext uri="{FF2B5EF4-FFF2-40B4-BE49-F238E27FC236}">
                  <a16:creationId xmlns:a16="http://schemas.microsoft.com/office/drawing/2014/main" id="{AF432D72-1FF3-41BB-ADAC-D65293DF0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1063" y="3014662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8" name="Oval 46">
              <a:extLst>
                <a:ext uri="{FF2B5EF4-FFF2-40B4-BE49-F238E27FC236}">
                  <a16:creationId xmlns:a16="http://schemas.microsoft.com/office/drawing/2014/main" id="{7536A70F-B396-4A7A-8CC9-0A0DEAD903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3742" y="3980548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9" name="Oval 46">
              <a:extLst>
                <a:ext uri="{FF2B5EF4-FFF2-40B4-BE49-F238E27FC236}">
                  <a16:creationId xmlns:a16="http://schemas.microsoft.com/office/drawing/2014/main" id="{DB4A1181-3078-497F-B4E6-E51C387B0C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4213" y="3471862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40" name="Oval 46">
              <a:extLst>
                <a:ext uri="{FF2B5EF4-FFF2-40B4-BE49-F238E27FC236}">
                  <a16:creationId xmlns:a16="http://schemas.microsoft.com/office/drawing/2014/main" id="{7461FCB6-5E1D-4781-A9C5-142B08037E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7950" y="42672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41" name="Oval 3">
              <a:extLst>
                <a:ext uri="{FF2B5EF4-FFF2-40B4-BE49-F238E27FC236}">
                  <a16:creationId xmlns:a16="http://schemas.microsoft.com/office/drawing/2014/main" id="{2643DBAE-298B-45F1-902D-4C217D517C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34290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42" name="Oval 3">
              <a:extLst>
                <a:ext uri="{FF2B5EF4-FFF2-40B4-BE49-F238E27FC236}">
                  <a16:creationId xmlns:a16="http://schemas.microsoft.com/office/drawing/2014/main" id="{1FCD1B6A-CEE1-48B0-9B09-262EF888D4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6413" y="4310062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43" name="Oval 3">
              <a:extLst>
                <a:ext uri="{FF2B5EF4-FFF2-40B4-BE49-F238E27FC236}">
                  <a16:creationId xmlns:a16="http://schemas.microsoft.com/office/drawing/2014/main" id="{F9031F65-9830-44AA-AB64-B4EEDD5C6C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0663" y="2328862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44" name="Oval 46">
              <a:extLst>
                <a:ext uri="{FF2B5EF4-FFF2-40B4-BE49-F238E27FC236}">
                  <a16:creationId xmlns:a16="http://schemas.microsoft.com/office/drawing/2014/main" id="{3CD2C0F6-7D46-4619-8E52-FAD367F63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3613" y="4919662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DDA0477-26FF-42B1-8090-C57CB6022326}"/>
              </a:ext>
            </a:extLst>
          </p:cNvPr>
          <p:cNvCxnSpPr>
            <a:stCxn id="63" idx="1"/>
            <a:endCxn id="42" idx="5"/>
          </p:cNvCxnSpPr>
          <p:nvPr/>
        </p:nvCxnSpPr>
        <p:spPr bwMode="auto">
          <a:xfrm flipH="1" flipV="1">
            <a:off x="3941011" y="4549682"/>
            <a:ext cx="1148228" cy="97631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4069592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Large Margin Classification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大间距分类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7. Occam’s Razor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7. </a:t>
            </a:r>
            <a:r>
              <a:rPr lang="zh-CN" altLang="en-US" dirty="0"/>
              <a:t>奥卡姆剃刀</a:t>
            </a:r>
            <a:endParaRPr lang="en-US" altLang="zh-CN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53FDF1A-867B-4172-9801-3F796A481DE3}"/>
              </a:ext>
            </a:extLst>
          </p:cNvPr>
          <p:cNvGrpSpPr/>
          <p:nvPr/>
        </p:nvGrpSpPr>
        <p:grpSpPr>
          <a:xfrm>
            <a:off x="1905000" y="3429000"/>
            <a:ext cx="6256020" cy="1006429"/>
            <a:chOff x="1905000" y="3429000"/>
            <a:chExt cx="6256020" cy="1006429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0368463-BD47-4799-8356-E5457A3A5B30}"/>
                </a:ext>
              </a:extLst>
            </p:cNvPr>
            <p:cNvCxnSpPr/>
            <p:nvPr/>
          </p:nvCxnSpPr>
          <p:spPr bwMode="auto">
            <a:xfrm>
              <a:off x="1905000" y="3886200"/>
              <a:ext cx="52578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15C39BD-1EC1-432C-8E44-3DF9C44D1590}"/>
                </a:ext>
              </a:extLst>
            </p:cNvPr>
            <p:cNvSpPr/>
            <p:nvPr/>
          </p:nvSpPr>
          <p:spPr>
            <a:xfrm>
              <a:off x="6256022" y="3429000"/>
              <a:ext cx="1904998" cy="10064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1</a:t>
              </a:r>
            </a:p>
            <a:p>
              <a:pPr marL="0" lvl="1" algn="ctr" eaLnBrk="1" hangingPunct="1">
                <a:lnSpc>
                  <a:spcPct val="90000"/>
                </a:lnSpc>
              </a:pPr>
              <a:endParaRPr lang="en-US" altLang="ja-JP" sz="2200" dirty="0">
                <a:ea typeface="ＭＳ Ｐゴシック" panose="020B0600070205080204" pitchFamily="34" charset="-128"/>
              </a:endParaRP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1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7100069-E1E0-491E-B248-81EC87F98ED3}"/>
              </a:ext>
            </a:extLst>
          </p:cNvPr>
          <p:cNvGrpSpPr/>
          <p:nvPr/>
        </p:nvGrpSpPr>
        <p:grpSpPr>
          <a:xfrm>
            <a:off x="2819400" y="1524000"/>
            <a:ext cx="2697478" cy="4495800"/>
            <a:chOff x="2819400" y="1524000"/>
            <a:chExt cx="2697478" cy="4495800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30AFF1F-1AB6-465B-9BFE-C122E49A191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556760" y="1524000"/>
              <a:ext cx="0" cy="44958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F4C961A-66AA-459F-88B6-E38796145CE9}"/>
                </a:ext>
              </a:extLst>
            </p:cNvPr>
            <p:cNvSpPr/>
            <p:nvPr/>
          </p:nvSpPr>
          <p:spPr>
            <a:xfrm>
              <a:off x="2819400" y="1584192"/>
              <a:ext cx="2697478" cy="3970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2 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2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5C1480F-E8E8-4E58-B652-0423D11C337C}"/>
              </a:ext>
            </a:extLst>
          </p:cNvPr>
          <p:cNvGrpSpPr/>
          <p:nvPr/>
        </p:nvGrpSpPr>
        <p:grpSpPr>
          <a:xfrm>
            <a:off x="304800" y="4516227"/>
            <a:ext cx="2290219" cy="701731"/>
            <a:chOff x="304800" y="4516227"/>
            <a:chExt cx="2290219" cy="701731"/>
          </a:xfrm>
        </p:grpSpPr>
        <p:sp>
          <p:nvSpPr>
            <p:cNvPr id="30" name="Oval 3">
              <a:extLst>
                <a:ext uri="{FF2B5EF4-FFF2-40B4-BE49-F238E27FC236}">
                  <a16:creationId xmlns:a16="http://schemas.microsoft.com/office/drawing/2014/main" id="{5BE621AB-780D-44BD-AAFD-9675581F2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4813126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1" name="Oval 46">
              <a:extLst>
                <a:ext uri="{FF2B5EF4-FFF2-40B4-BE49-F238E27FC236}">
                  <a16:creationId xmlns:a16="http://schemas.microsoft.com/office/drawing/2014/main" id="{AF00F22E-9DB3-4BAA-A0F5-775DBF20C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750" y="4813126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20C6900-2669-4F78-A153-FF63C7108573}"/>
                </a:ext>
              </a:extLst>
            </p:cNvPr>
            <p:cNvSpPr/>
            <p:nvPr/>
          </p:nvSpPr>
          <p:spPr>
            <a:xfrm>
              <a:off x="613821" y="4516227"/>
              <a:ext cx="1981198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Training data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训练数据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DF0F7B57-F8DE-4A50-8968-1F9DA0460EB4}"/>
              </a:ext>
            </a:extLst>
          </p:cNvPr>
          <p:cNvSpPr txBox="1"/>
          <p:nvPr/>
        </p:nvSpPr>
        <p:spPr>
          <a:xfrm>
            <a:off x="40440" y="2168604"/>
            <a:ext cx="261732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Which one performs better?</a:t>
            </a:r>
          </a:p>
          <a:p>
            <a:pPr algn="ctr"/>
            <a:r>
              <a:rPr lang="zh-CN" altLang="en-US" sz="2200" dirty="0"/>
              <a:t>哪个更好？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5EC235B-0F66-4F50-A658-3DA313D2F898}"/>
              </a:ext>
            </a:extLst>
          </p:cNvPr>
          <p:cNvGrpSpPr/>
          <p:nvPr/>
        </p:nvGrpSpPr>
        <p:grpSpPr>
          <a:xfrm>
            <a:off x="3394537" y="2438400"/>
            <a:ext cx="2819400" cy="2743200"/>
            <a:chOff x="2514600" y="2328862"/>
            <a:chExt cx="2819400" cy="2743200"/>
          </a:xfrm>
        </p:grpSpPr>
        <p:sp>
          <p:nvSpPr>
            <p:cNvPr id="37" name="Oval 3">
              <a:extLst>
                <a:ext uri="{FF2B5EF4-FFF2-40B4-BE49-F238E27FC236}">
                  <a16:creationId xmlns:a16="http://schemas.microsoft.com/office/drawing/2014/main" id="{AF432D72-1FF3-41BB-ADAC-D65293DF0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1063" y="3014662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8" name="Oval 46">
              <a:extLst>
                <a:ext uri="{FF2B5EF4-FFF2-40B4-BE49-F238E27FC236}">
                  <a16:creationId xmlns:a16="http://schemas.microsoft.com/office/drawing/2014/main" id="{7536A70F-B396-4A7A-8CC9-0A0DEAD903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3742" y="3980548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9" name="Oval 46">
              <a:extLst>
                <a:ext uri="{FF2B5EF4-FFF2-40B4-BE49-F238E27FC236}">
                  <a16:creationId xmlns:a16="http://schemas.microsoft.com/office/drawing/2014/main" id="{DB4A1181-3078-497F-B4E6-E51C387B0C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4213" y="3471862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40" name="Oval 46">
              <a:extLst>
                <a:ext uri="{FF2B5EF4-FFF2-40B4-BE49-F238E27FC236}">
                  <a16:creationId xmlns:a16="http://schemas.microsoft.com/office/drawing/2014/main" id="{7461FCB6-5E1D-4781-A9C5-142B08037E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7950" y="42672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41" name="Oval 3">
              <a:extLst>
                <a:ext uri="{FF2B5EF4-FFF2-40B4-BE49-F238E27FC236}">
                  <a16:creationId xmlns:a16="http://schemas.microsoft.com/office/drawing/2014/main" id="{2643DBAE-298B-45F1-902D-4C217D517C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34290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42" name="Oval 3">
              <a:extLst>
                <a:ext uri="{FF2B5EF4-FFF2-40B4-BE49-F238E27FC236}">
                  <a16:creationId xmlns:a16="http://schemas.microsoft.com/office/drawing/2014/main" id="{1FCD1B6A-CEE1-48B0-9B09-262EF888D4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6413" y="4310062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43" name="Oval 3">
              <a:extLst>
                <a:ext uri="{FF2B5EF4-FFF2-40B4-BE49-F238E27FC236}">
                  <a16:creationId xmlns:a16="http://schemas.microsoft.com/office/drawing/2014/main" id="{F9031F65-9830-44AA-AB64-B4EEDD5C6C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0663" y="2328862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44" name="Oval 46">
              <a:extLst>
                <a:ext uri="{FF2B5EF4-FFF2-40B4-BE49-F238E27FC236}">
                  <a16:creationId xmlns:a16="http://schemas.microsoft.com/office/drawing/2014/main" id="{3CD2C0F6-7D46-4619-8E52-FAD367F63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3613" y="4919662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B9C00F3-193A-410A-BC35-19A8B462F61E}"/>
              </a:ext>
            </a:extLst>
          </p:cNvPr>
          <p:cNvGrpSpPr/>
          <p:nvPr/>
        </p:nvGrpSpPr>
        <p:grpSpPr>
          <a:xfrm>
            <a:off x="3076114" y="2209800"/>
            <a:ext cx="3111500" cy="3352800"/>
            <a:chOff x="2292350" y="2197100"/>
            <a:chExt cx="3111500" cy="3352800"/>
          </a:xfrm>
        </p:grpSpPr>
        <p:sp>
          <p:nvSpPr>
            <p:cNvPr id="29" name="Oval 32" descr="50%">
              <a:extLst>
                <a:ext uri="{FF2B5EF4-FFF2-40B4-BE49-F238E27FC236}">
                  <a16:creationId xmlns:a16="http://schemas.microsoft.com/office/drawing/2014/main" id="{FB96952B-826A-49C1-A054-C464ECFBBC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586" y="21971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45" name="Oval 32" descr="50%">
              <a:extLst>
                <a:ext uri="{FF2B5EF4-FFF2-40B4-BE49-F238E27FC236}">
                  <a16:creationId xmlns:a16="http://schemas.microsoft.com/office/drawing/2014/main" id="{6A6AAB86-33D4-4A70-94B1-8077F1818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9150" y="35814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46" name="Oval 32" descr="50%">
              <a:extLst>
                <a:ext uri="{FF2B5EF4-FFF2-40B4-BE49-F238E27FC236}">
                  <a16:creationId xmlns:a16="http://schemas.microsoft.com/office/drawing/2014/main" id="{E5D997E0-B66B-42C0-8FC6-D33F891793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353" y="284132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47" name="Oval 32" descr="50%">
              <a:extLst>
                <a:ext uri="{FF2B5EF4-FFF2-40B4-BE49-F238E27FC236}">
                  <a16:creationId xmlns:a16="http://schemas.microsoft.com/office/drawing/2014/main" id="{9DF3E8DF-D712-4EC4-B9C9-5E1C9FEC58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6236" y="31877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48" name="Oval 32" descr="50%">
              <a:extLst>
                <a:ext uri="{FF2B5EF4-FFF2-40B4-BE49-F238E27FC236}">
                  <a16:creationId xmlns:a16="http://schemas.microsoft.com/office/drawing/2014/main" id="{AF1A8B10-CA48-48AB-A222-D62438720B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7786" y="47879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49" name="Oval 32" descr="50%">
              <a:extLst>
                <a:ext uri="{FF2B5EF4-FFF2-40B4-BE49-F238E27FC236}">
                  <a16:creationId xmlns:a16="http://schemas.microsoft.com/office/drawing/2014/main" id="{F8C87199-284E-4703-954C-7DE0DFCE0E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7786" y="53975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 dirty="0"/>
            </a:p>
          </p:txBody>
        </p:sp>
        <p:sp>
          <p:nvSpPr>
            <p:cNvPr id="50" name="Oval 32" descr="50%">
              <a:extLst>
                <a:ext uri="{FF2B5EF4-FFF2-40B4-BE49-F238E27FC236}">
                  <a16:creationId xmlns:a16="http://schemas.microsoft.com/office/drawing/2014/main" id="{70A103F5-91CF-45B2-9505-F7ED6878A4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0436" y="48641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51" name="Oval 32" descr="50%">
              <a:extLst>
                <a:ext uri="{FF2B5EF4-FFF2-40B4-BE49-F238E27FC236}">
                  <a16:creationId xmlns:a16="http://schemas.microsoft.com/office/drawing/2014/main" id="{8DB49E91-7DBA-47F4-8140-ABA03C98D8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2350" y="41148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52" name="Oval 20" descr="50%">
              <a:extLst>
                <a:ext uri="{FF2B5EF4-FFF2-40B4-BE49-F238E27FC236}">
                  <a16:creationId xmlns:a16="http://schemas.microsoft.com/office/drawing/2014/main" id="{B0F25C90-7B6D-4A71-95B0-87D251E62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3550" y="31115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53" name="Oval 20" descr="50%">
              <a:extLst>
                <a:ext uri="{FF2B5EF4-FFF2-40B4-BE49-F238E27FC236}">
                  <a16:creationId xmlns:a16="http://schemas.microsoft.com/office/drawing/2014/main" id="{C3BDB817-7025-43F8-86B0-0955BBD576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400" y="4648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54" name="Oval 20" descr="50%">
              <a:extLst>
                <a:ext uri="{FF2B5EF4-FFF2-40B4-BE49-F238E27FC236}">
                  <a16:creationId xmlns:a16="http://schemas.microsoft.com/office/drawing/2014/main" id="{414269D7-9285-4432-B53C-77CDF669F5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4648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55" name="Oval 20" descr="50%">
              <a:extLst>
                <a:ext uri="{FF2B5EF4-FFF2-40B4-BE49-F238E27FC236}">
                  <a16:creationId xmlns:a16="http://schemas.microsoft.com/office/drawing/2014/main" id="{447464F9-13BD-4543-9845-05D099779A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1786" y="42545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57" name="Oval 20" descr="50%">
              <a:extLst>
                <a:ext uri="{FF2B5EF4-FFF2-40B4-BE49-F238E27FC236}">
                  <a16:creationId xmlns:a16="http://schemas.microsoft.com/office/drawing/2014/main" id="{B2790526-698B-4E83-84E2-A6DF20A8B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400" y="3124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58" name="Oval 20" descr="50%">
              <a:extLst>
                <a:ext uri="{FF2B5EF4-FFF2-40B4-BE49-F238E27FC236}">
                  <a16:creationId xmlns:a16="http://schemas.microsoft.com/office/drawing/2014/main" id="{D03C1918-8481-4F81-9C6A-C3264CE5CE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41910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0" name="Oval 20" descr="50%">
              <a:extLst>
                <a:ext uri="{FF2B5EF4-FFF2-40B4-BE49-F238E27FC236}">
                  <a16:creationId xmlns:a16="http://schemas.microsoft.com/office/drawing/2014/main" id="{8BE4443E-D967-4CE9-8998-73D5FB53DE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32639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2" name="Oval 20" descr="50%">
              <a:extLst>
                <a:ext uri="{FF2B5EF4-FFF2-40B4-BE49-F238E27FC236}">
                  <a16:creationId xmlns:a16="http://schemas.microsoft.com/office/drawing/2014/main" id="{0D288F60-2E4B-461F-ABE7-8DC40085E0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7836" y="50927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4" name="Oval 20" descr="50%">
              <a:extLst>
                <a:ext uri="{FF2B5EF4-FFF2-40B4-BE49-F238E27FC236}">
                  <a16:creationId xmlns:a16="http://schemas.microsoft.com/office/drawing/2014/main" id="{E08ADAE3-B7D5-43DB-BCD4-2284E54C81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4836" y="53975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5E5CD20-DD15-44B2-9EC8-B1EF5D9EE301}"/>
              </a:ext>
            </a:extLst>
          </p:cNvPr>
          <p:cNvCxnSpPr>
            <a:cxnSpLocks/>
          </p:cNvCxnSpPr>
          <p:nvPr/>
        </p:nvCxnSpPr>
        <p:spPr bwMode="auto">
          <a:xfrm flipH="1">
            <a:off x="3540588" y="1447800"/>
            <a:ext cx="2189826" cy="45720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8691FA8-A56C-487B-A0E6-4E29E9EDDB49}"/>
              </a:ext>
            </a:extLst>
          </p:cNvPr>
          <p:cNvGrpSpPr/>
          <p:nvPr/>
        </p:nvGrpSpPr>
        <p:grpSpPr>
          <a:xfrm>
            <a:off x="311150" y="5334000"/>
            <a:ext cx="2279648" cy="701731"/>
            <a:chOff x="311150" y="5334000"/>
            <a:chExt cx="2279648" cy="701731"/>
          </a:xfrm>
        </p:grpSpPr>
        <p:sp>
          <p:nvSpPr>
            <p:cNvPr id="68" name="Oval 32" descr="50%">
              <a:extLst>
                <a:ext uri="{FF2B5EF4-FFF2-40B4-BE49-F238E27FC236}">
                  <a16:creationId xmlns:a16="http://schemas.microsoft.com/office/drawing/2014/main" id="{569C2853-B7F8-4F94-AFC2-4A5C5D823D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150" y="5550074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9DC25DFC-B7FB-4136-9BC6-4401E9F8AD4A}"/>
                </a:ext>
              </a:extLst>
            </p:cNvPr>
            <p:cNvSpPr/>
            <p:nvPr/>
          </p:nvSpPr>
          <p:spPr>
            <a:xfrm>
              <a:off x="609600" y="5334000"/>
              <a:ext cx="1981198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Unseen data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未见数据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  <p:sp>
          <p:nvSpPr>
            <p:cNvPr id="70" name="Oval 20" descr="50%">
              <a:extLst>
                <a:ext uri="{FF2B5EF4-FFF2-40B4-BE49-F238E27FC236}">
                  <a16:creationId xmlns:a16="http://schemas.microsoft.com/office/drawing/2014/main" id="{F69FA8C2-F422-428E-9FA9-11E491A991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224" y="5550074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23BC4F5-A3E5-4ECC-9641-E4A369CC1501}"/>
              </a:ext>
            </a:extLst>
          </p:cNvPr>
          <p:cNvCxnSpPr>
            <a:cxnSpLocks/>
          </p:cNvCxnSpPr>
          <p:nvPr/>
        </p:nvCxnSpPr>
        <p:spPr bwMode="auto">
          <a:xfrm flipH="1">
            <a:off x="3730059" y="1550772"/>
            <a:ext cx="2189826" cy="45720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83E133BD-94CB-40F5-A692-492EBC1E7514}"/>
              </a:ext>
            </a:extLst>
          </p:cNvPr>
          <p:cNvCxnSpPr>
            <a:cxnSpLocks/>
          </p:cNvCxnSpPr>
          <p:nvPr/>
        </p:nvCxnSpPr>
        <p:spPr bwMode="auto">
          <a:xfrm flipH="1">
            <a:off x="3365157" y="1309815"/>
            <a:ext cx="2189826" cy="45720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B9E82D88-60D8-4BB2-96AB-8E6F1E443FC0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4766706" y="2957382"/>
            <a:ext cx="397045" cy="2224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7E6B0517-09EE-43B6-9740-D0FDACD73F77}"/>
              </a:ext>
            </a:extLst>
          </p:cNvPr>
          <p:cNvSpPr txBox="1"/>
          <p:nvPr/>
        </p:nvSpPr>
        <p:spPr>
          <a:xfrm>
            <a:off x="5888988" y="1919406"/>
            <a:ext cx="314163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Assuming an ‘even’ data distribution</a:t>
            </a:r>
          </a:p>
          <a:p>
            <a:pPr algn="ctr"/>
            <a:r>
              <a:rPr lang="zh-CN" altLang="en-US" sz="2200" dirty="0"/>
              <a:t>假设数据分布“均匀”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CEB011F-316A-45C5-86DE-6259B32EF4F1}"/>
              </a:ext>
            </a:extLst>
          </p:cNvPr>
          <p:cNvSpPr txBox="1"/>
          <p:nvPr/>
        </p:nvSpPr>
        <p:spPr>
          <a:xfrm>
            <a:off x="5675976" y="4877021"/>
            <a:ext cx="314163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Large margin provides a ‘safe’ buffer area</a:t>
            </a:r>
          </a:p>
          <a:p>
            <a:pPr algn="ctr"/>
            <a:r>
              <a:rPr lang="zh-CN" altLang="en-US" sz="2200" dirty="0"/>
              <a:t>大间距提供了一个“安全”的缓冲区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744E5FA-EB45-4A06-BC31-0E63768A3D27}"/>
              </a:ext>
            </a:extLst>
          </p:cNvPr>
          <p:cNvCxnSpPr>
            <a:cxnSpLocks/>
            <a:stCxn id="75" idx="0"/>
            <a:endCxn id="52" idx="5"/>
          </p:cNvCxnSpPr>
          <p:nvPr/>
        </p:nvCxnSpPr>
        <p:spPr bwMode="auto">
          <a:xfrm flipH="1" flipV="1">
            <a:off x="5181975" y="3254282"/>
            <a:ext cx="2064818" cy="162273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20AF09C-BBC0-47ED-8ADD-62EB055602A9}"/>
              </a:ext>
            </a:extLst>
          </p:cNvPr>
          <p:cNvCxnSpPr>
            <a:cxnSpLocks/>
            <a:stCxn id="75" idx="1"/>
            <a:endCxn id="49" idx="6"/>
          </p:cNvCxnSpPr>
          <p:nvPr/>
        </p:nvCxnSpPr>
        <p:spPr bwMode="auto">
          <a:xfrm flipH="1" flipV="1">
            <a:off x="3657600" y="5486400"/>
            <a:ext cx="2018376" cy="11389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4288559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7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Large Margin Classification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大间距分类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7. Occam’s Razor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7. </a:t>
            </a:r>
            <a:r>
              <a:rPr lang="zh-CN" altLang="en-US" dirty="0"/>
              <a:t>奥卡姆剃刀</a:t>
            </a:r>
            <a:endParaRPr lang="en-US" altLang="zh-CN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53FDF1A-867B-4172-9801-3F796A481DE3}"/>
              </a:ext>
            </a:extLst>
          </p:cNvPr>
          <p:cNvGrpSpPr/>
          <p:nvPr/>
        </p:nvGrpSpPr>
        <p:grpSpPr>
          <a:xfrm>
            <a:off x="1905000" y="3429000"/>
            <a:ext cx="6256020" cy="1006429"/>
            <a:chOff x="1905000" y="3429000"/>
            <a:chExt cx="6256020" cy="1006429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0368463-BD47-4799-8356-E5457A3A5B30}"/>
                </a:ext>
              </a:extLst>
            </p:cNvPr>
            <p:cNvCxnSpPr/>
            <p:nvPr/>
          </p:nvCxnSpPr>
          <p:spPr bwMode="auto">
            <a:xfrm>
              <a:off x="1905000" y="3886200"/>
              <a:ext cx="52578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15C39BD-1EC1-432C-8E44-3DF9C44D1590}"/>
                </a:ext>
              </a:extLst>
            </p:cNvPr>
            <p:cNvSpPr/>
            <p:nvPr/>
          </p:nvSpPr>
          <p:spPr>
            <a:xfrm>
              <a:off x="6256022" y="3429000"/>
              <a:ext cx="1904998" cy="10064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1</a:t>
              </a:r>
            </a:p>
            <a:p>
              <a:pPr marL="0" lvl="1" algn="ctr" eaLnBrk="1" hangingPunct="1">
                <a:lnSpc>
                  <a:spcPct val="90000"/>
                </a:lnSpc>
              </a:pPr>
              <a:endParaRPr lang="en-US" altLang="ja-JP" sz="2200" dirty="0">
                <a:ea typeface="ＭＳ Ｐゴシック" panose="020B0600070205080204" pitchFamily="34" charset="-128"/>
              </a:endParaRP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1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7100069-E1E0-491E-B248-81EC87F98ED3}"/>
              </a:ext>
            </a:extLst>
          </p:cNvPr>
          <p:cNvGrpSpPr/>
          <p:nvPr/>
        </p:nvGrpSpPr>
        <p:grpSpPr>
          <a:xfrm>
            <a:off x="2819400" y="1524000"/>
            <a:ext cx="2697478" cy="4495800"/>
            <a:chOff x="2819400" y="1524000"/>
            <a:chExt cx="2697478" cy="4495800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30AFF1F-1AB6-465B-9BFE-C122E49A191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556760" y="1524000"/>
              <a:ext cx="0" cy="44958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F4C961A-66AA-459F-88B6-E38796145CE9}"/>
                </a:ext>
              </a:extLst>
            </p:cNvPr>
            <p:cNvSpPr/>
            <p:nvPr/>
          </p:nvSpPr>
          <p:spPr>
            <a:xfrm>
              <a:off x="2819400" y="1584192"/>
              <a:ext cx="2697478" cy="3970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2 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2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5C1480F-E8E8-4E58-B652-0423D11C337C}"/>
              </a:ext>
            </a:extLst>
          </p:cNvPr>
          <p:cNvGrpSpPr/>
          <p:nvPr/>
        </p:nvGrpSpPr>
        <p:grpSpPr>
          <a:xfrm>
            <a:off x="304800" y="4516227"/>
            <a:ext cx="2290219" cy="701731"/>
            <a:chOff x="304800" y="4516227"/>
            <a:chExt cx="2290219" cy="701731"/>
          </a:xfrm>
        </p:grpSpPr>
        <p:sp>
          <p:nvSpPr>
            <p:cNvPr id="30" name="Oval 3">
              <a:extLst>
                <a:ext uri="{FF2B5EF4-FFF2-40B4-BE49-F238E27FC236}">
                  <a16:creationId xmlns:a16="http://schemas.microsoft.com/office/drawing/2014/main" id="{5BE621AB-780D-44BD-AAFD-9675581F2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4813126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1" name="Oval 46">
              <a:extLst>
                <a:ext uri="{FF2B5EF4-FFF2-40B4-BE49-F238E27FC236}">
                  <a16:creationId xmlns:a16="http://schemas.microsoft.com/office/drawing/2014/main" id="{AF00F22E-9DB3-4BAA-A0F5-775DBF20C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750" y="4813126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20C6900-2669-4F78-A153-FF63C7108573}"/>
                </a:ext>
              </a:extLst>
            </p:cNvPr>
            <p:cNvSpPr/>
            <p:nvPr/>
          </p:nvSpPr>
          <p:spPr>
            <a:xfrm>
              <a:off x="613821" y="4516227"/>
              <a:ext cx="1981198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Training data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训练数据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5EC235B-0F66-4F50-A658-3DA313D2F898}"/>
              </a:ext>
            </a:extLst>
          </p:cNvPr>
          <p:cNvGrpSpPr/>
          <p:nvPr/>
        </p:nvGrpSpPr>
        <p:grpSpPr>
          <a:xfrm>
            <a:off x="3394537" y="2438400"/>
            <a:ext cx="2819400" cy="2743200"/>
            <a:chOff x="2514600" y="2328862"/>
            <a:chExt cx="2819400" cy="2743200"/>
          </a:xfrm>
        </p:grpSpPr>
        <p:sp>
          <p:nvSpPr>
            <p:cNvPr id="37" name="Oval 3">
              <a:extLst>
                <a:ext uri="{FF2B5EF4-FFF2-40B4-BE49-F238E27FC236}">
                  <a16:creationId xmlns:a16="http://schemas.microsoft.com/office/drawing/2014/main" id="{AF432D72-1FF3-41BB-ADAC-D65293DF0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1063" y="3014662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8" name="Oval 46">
              <a:extLst>
                <a:ext uri="{FF2B5EF4-FFF2-40B4-BE49-F238E27FC236}">
                  <a16:creationId xmlns:a16="http://schemas.microsoft.com/office/drawing/2014/main" id="{7536A70F-B396-4A7A-8CC9-0A0DEAD903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3742" y="3980548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9" name="Oval 46">
              <a:extLst>
                <a:ext uri="{FF2B5EF4-FFF2-40B4-BE49-F238E27FC236}">
                  <a16:creationId xmlns:a16="http://schemas.microsoft.com/office/drawing/2014/main" id="{DB4A1181-3078-497F-B4E6-E51C387B0C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4213" y="3471862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40" name="Oval 46">
              <a:extLst>
                <a:ext uri="{FF2B5EF4-FFF2-40B4-BE49-F238E27FC236}">
                  <a16:creationId xmlns:a16="http://schemas.microsoft.com/office/drawing/2014/main" id="{7461FCB6-5E1D-4781-A9C5-142B08037E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7950" y="42672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41" name="Oval 3">
              <a:extLst>
                <a:ext uri="{FF2B5EF4-FFF2-40B4-BE49-F238E27FC236}">
                  <a16:creationId xmlns:a16="http://schemas.microsoft.com/office/drawing/2014/main" id="{2643DBAE-298B-45F1-902D-4C217D517C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34290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42" name="Oval 3">
              <a:extLst>
                <a:ext uri="{FF2B5EF4-FFF2-40B4-BE49-F238E27FC236}">
                  <a16:creationId xmlns:a16="http://schemas.microsoft.com/office/drawing/2014/main" id="{1FCD1B6A-CEE1-48B0-9B09-262EF888D4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6413" y="4310062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43" name="Oval 3">
              <a:extLst>
                <a:ext uri="{FF2B5EF4-FFF2-40B4-BE49-F238E27FC236}">
                  <a16:creationId xmlns:a16="http://schemas.microsoft.com/office/drawing/2014/main" id="{F9031F65-9830-44AA-AB64-B4EEDD5C6C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0663" y="2328862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44" name="Oval 46">
              <a:extLst>
                <a:ext uri="{FF2B5EF4-FFF2-40B4-BE49-F238E27FC236}">
                  <a16:creationId xmlns:a16="http://schemas.microsoft.com/office/drawing/2014/main" id="{3CD2C0F6-7D46-4619-8E52-FAD367F63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3613" y="4919662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8691FA8-A56C-487B-A0E6-4E29E9EDDB49}"/>
              </a:ext>
            </a:extLst>
          </p:cNvPr>
          <p:cNvGrpSpPr/>
          <p:nvPr/>
        </p:nvGrpSpPr>
        <p:grpSpPr>
          <a:xfrm>
            <a:off x="311150" y="5334000"/>
            <a:ext cx="2279648" cy="701731"/>
            <a:chOff x="311150" y="5334000"/>
            <a:chExt cx="2279648" cy="701731"/>
          </a:xfrm>
        </p:grpSpPr>
        <p:sp>
          <p:nvSpPr>
            <p:cNvPr id="68" name="Oval 32" descr="50%">
              <a:extLst>
                <a:ext uri="{FF2B5EF4-FFF2-40B4-BE49-F238E27FC236}">
                  <a16:creationId xmlns:a16="http://schemas.microsoft.com/office/drawing/2014/main" id="{569C2853-B7F8-4F94-AFC2-4A5C5D823D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150" y="5550074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9DC25DFC-B7FB-4136-9BC6-4401E9F8AD4A}"/>
                </a:ext>
              </a:extLst>
            </p:cNvPr>
            <p:cNvSpPr/>
            <p:nvPr/>
          </p:nvSpPr>
          <p:spPr>
            <a:xfrm>
              <a:off x="609600" y="5334000"/>
              <a:ext cx="1981198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Unseen data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未见数据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  <p:sp>
          <p:nvSpPr>
            <p:cNvPr id="70" name="Oval 20" descr="50%">
              <a:extLst>
                <a:ext uri="{FF2B5EF4-FFF2-40B4-BE49-F238E27FC236}">
                  <a16:creationId xmlns:a16="http://schemas.microsoft.com/office/drawing/2014/main" id="{F69FA8C2-F422-428E-9FA9-11E491A991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224" y="5550074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8347883E-EF29-4A9E-9170-10EAE10C973A}"/>
              </a:ext>
            </a:extLst>
          </p:cNvPr>
          <p:cNvSpPr txBox="1"/>
          <p:nvPr/>
        </p:nvSpPr>
        <p:spPr>
          <a:xfrm>
            <a:off x="40440" y="2168604"/>
            <a:ext cx="261732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Which one performs better?</a:t>
            </a:r>
          </a:p>
          <a:p>
            <a:pPr algn="ctr"/>
            <a:r>
              <a:rPr lang="zh-CN" altLang="en-US" sz="2200" dirty="0"/>
              <a:t>哪个更好？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DCA1D36-78A9-4D5F-B471-7F4122DA1ECF}"/>
              </a:ext>
            </a:extLst>
          </p:cNvPr>
          <p:cNvSpPr txBox="1"/>
          <p:nvPr/>
        </p:nvSpPr>
        <p:spPr>
          <a:xfrm>
            <a:off x="6099899" y="4789151"/>
            <a:ext cx="239140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‘Safe’ buffer area lost here</a:t>
            </a:r>
          </a:p>
          <a:p>
            <a:pPr algn="ctr"/>
            <a:r>
              <a:rPr lang="zh-CN" altLang="en-US" sz="2200" dirty="0"/>
              <a:t>这里不存在“安全”的缓冲区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0969D726-A168-487A-98CE-8068ED027F0F}"/>
              </a:ext>
            </a:extLst>
          </p:cNvPr>
          <p:cNvGrpSpPr/>
          <p:nvPr/>
        </p:nvGrpSpPr>
        <p:grpSpPr>
          <a:xfrm>
            <a:off x="3076114" y="2209800"/>
            <a:ext cx="3111500" cy="3352800"/>
            <a:chOff x="2292350" y="2197100"/>
            <a:chExt cx="3111500" cy="3352800"/>
          </a:xfrm>
        </p:grpSpPr>
        <p:sp>
          <p:nvSpPr>
            <p:cNvPr id="75" name="Oval 32" descr="50%">
              <a:extLst>
                <a:ext uri="{FF2B5EF4-FFF2-40B4-BE49-F238E27FC236}">
                  <a16:creationId xmlns:a16="http://schemas.microsoft.com/office/drawing/2014/main" id="{DB46DF3C-B886-4646-9FB3-A7522E8895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586" y="21971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6" name="Oval 32" descr="50%">
              <a:extLst>
                <a:ext uri="{FF2B5EF4-FFF2-40B4-BE49-F238E27FC236}">
                  <a16:creationId xmlns:a16="http://schemas.microsoft.com/office/drawing/2014/main" id="{BBB08EC5-EDD1-48A5-A5BF-12E5BBB58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9150" y="35814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7" name="Oval 32" descr="50%">
              <a:extLst>
                <a:ext uri="{FF2B5EF4-FFF2-40B4-BE49-F238E27FC236}">
                  <a16:creationId xmlns:a16="http://schemas.microsoft.com/office/drawing/2014/main" id="{967ED894-938B-4C8B-AD53-F70E0A02A7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353" y="284132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8" name="Oval 32" descr="50%">
              <a:extLst>
                <a:ext uri="{FF2B5EF4-FFF2-40B4-BE49-F238E27FC236}">
                  <a16:creationId xmlns:a16="http://schemas.microsoft.com/office/drawing/2014/main" id="{CABA3E14-3DDD-4512-BBA3-5BA150819C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6236" y="31877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9" name="Oval 32" descr="50%">
              <a:extLst>
                <a:ext uri="{FF2B5EF4-FFF2-40B4-BE49-F238E27FC236}">
                  <a16:creationId xmlns:a16="http://schemas.microsoft.com/office/drawing/2014/main" id="{A386DCED-B7D0-4EC2-B19C-6FC70DBAD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7786" y="47879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0" name="Oval 32" descr="50%">
              <a:extLst>
                <a:ext uri="{FF2B5EF4-FFF2-40B4-BE49-F238E27FC236}">
                  <a16:creationId xmlns:a16="http://schemas.microsoft.com/office/drawing/2014/main" id="{DC90F7A9-0384-40BF-86E8-7C6713D5A3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7786" y="53975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1" name="Oval 32" descr="50%">
              <a:extLst>
                <a:ext uri="{FF2B5EF4-FFF2-40B4-BE49-F238E27FC236}">
                  <a16:creationId xmlns:a16="http://schemas.microsoft.com/office/drawing/2014/main" id="{0E76D1AC-23F7-4CC7-8BA1-387326739B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0436" y="48641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2" name="Oval 32" descr="50%">
              <a:extLst>
                <a:ext uri="{FF2B5EF4-FFF2-40B4-BE49-F238E27FC236}">
                  <a16:creationId xmlns:a16="http://schemas.microsoft.com/office/drawing/2014/main" id="{01C3D45A-366D-4B9B-B43D-1973694128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2350" y="41148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3" name="Oval 20" descr="50%">
              <a:extLst>
                <a:ext uri="{FF2B5EF4-FFF2-40B4-BE49-F238E27FC236}">
                  <a16:creationId xmlns:a16="http://schemas.microsoft.com/office/drawing/2014/main" id="{748C9604-7A5C-4467-873E-5CC89A8D42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3550" y="31115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4" name="Oval 20" descr="50%">
              <a:extLst>
                <a:ext uri="{FF2B5EF4-FFF2-40B4-BE49-F238E27FC236}">
                  <a16:creationId xmlns:a16="http://schemas.microsoft.com/office/drawing/2014/main" id="{4E71670A-B628-4263-BCD6-D1CD70AFD3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400" y="4648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5" name="Oval 20" descr="50%">
              <a:extLst>
                <a:ext uri="{FF2B5EF4-FFF2-40B4-BE49-F238E27FC236}">
                  <a16:creationId xmlns:a16="http://schemas.microsoft.com/office/drawing/2014/main" id="{ED8D42F0-5716-41A5-918D-55DE57E636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4648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6" name="Oval 20" descr="50%">
              <a:extLst>
                <a:ext uri="{FF2B5EF4-FFF2-40B4-BE49-F238E27FC236}">
                  <a16:creationId xmlns:a16="http://schemas.microsoft.com/office/drawing/2014/main" id="{F8D778D2-D78C-4A15-82C3-A5FC6BFFBC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1786" y="42545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7" name="Oval 20" descr="50%">
              <a:extLst>
                <a:ext uri="{FF2B5EF4-FFF2-40B4-BE49-F238E27FC236}">
                  <a16:creationId xmlns:a16="http://schemas.microsoft.com/office/drawing/2014/main" id="{08AC6F07-EE52-4FC2-8948-DC3006FA42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400" y="3124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8" name="Oval 20" descr="50%">
              <a:extLst>
                <a:ext uri="{FF2B5EF4-FFF2-40B4-BE49-F238E27FC236}">
                  <a16:creationId xmlns:a16="http://schemas.microsoft.com/office/drawing/2014/main" id="{645CFB22-278B-4002-923D-7CA98D994E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41910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9" name="Oval 20" descr="50%">
              <a:extLst>
                <a:ext uri="{FF2B5EF4-FFF2-40B4-BE49-F238E27FC236}">
                  <a16:creationId xmlns:a16="http://schemas.microsoft.com/office/drawing/2014/main" id="{A48A882E-6E64-4031-840F-FE77557119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32639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90" name="Oval 20" descr="50%">
              <a:extLst>
                <a:ext uri="{FF2B5EF4-FFF2-40B4-BE49-F238E27FC236}">
                  <a16:creationId xmlns:a16="http://schemas.microsoft.com/office/drawing/2014/main" id="{177408FB-F0E7-4B27-A12D-0374E29A6B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7836" y="50927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91" name="Oval 20" descr="50%">
              <a:extLst>
                <a:ext uri="{FF2B5EF4-FFF2-40B4-BE49-F238E27FC236}">
                  <a16:creationId xmlns:a16="http://schemas.microsoft.com/office/drawing/2014/main" id="{AE291DD1-892E-4E04-92E4-C85FE796EC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4836" y="53975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C5B4440B-EB37-4D30-94E4-948F7E66125A}"/>
              </a:ext>
            </a:extLst>
          </p:cNvPr>
          <p:cNvCxnSpPr>
            <a:cxnSpLocks/>
            <a:stCxn id="73" idx="0"/>
            <a:endCxn id="83" idx="5"/>
          </p:cNvCxnSpPr>
          <p:nvPr/>
        </p:nvCxnSpPr>
        <p:spPr bwMode="auto">
          <a:xfrm flipH="1" flipV="1">
            <a:off x="5181975" y="3254282"/>
            <a:ext cx="2113627" cy="153486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E67EAFF2-0B4F-4DB8-97E7-08BA6F36A903}"/>
              </a:ext>
            </a:extLst>
          </p:cNvPr>
          <p:cNvCxnSpPr>
            <a:cxnSpLocks/>
            <a:stCxn id="73" idx="1"/>
            <a:endCxn id="80" idx="6"/>
          </p:cNvCxnSpPr>
          <p:nvPr/>
        </p:nvCxnSpPr>
        <p:spPr bwMode="auto">
          <a:xfrm flipH="1" flipV="1">
            <a:off x="3657600" y="5486400"/>
            <a:ext cx="2442299" cy="2602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3E9DCED-FFFC-166A-FDD3-982DCC8DAA6B}"/>
              </a:ext>
            </a:extLst>
          </p:cNvPr>
          <p:cNvCxnSpPr>
            <a:cxnSpLocks/>
          </p:cNvCxnSpPr>
          <p:nvPr/>
        </p:nvCxnSpPr>
        <p:spPr bwMode="auto">
          <a:xfrm flipH="1">
            <a:off x="2690843" y="1617132"/>
            <a:ext cx="4776757" cy="405460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BB491A5-ABB6-7A98-4B47-1DB83160EFD8}"/>
              </a:ext>
            </a:extLst>
          </p:cNvPr>
          <p:cNvCxnSpPr>
            <a:cxnSpLocks/>
          </p:cNvCxnSpPr>
          <p:nvPr/>
        </p:nvCxnSpPr>
        <p:spPr bwMode="auto">
          <a:xfrm flipH="1">
            <a:off x="2637104" y="1535246"/>
            <a:ext cx="4830496" cy="410355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2358752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Learning Linear Classifiers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学习线性分类器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4800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/>
              <a:t>Classifier Learned  </a:t>
            </a:r>
            <a:r>
              <a:rPr lang="zh-CN" altLang="en-US"/>
              <a:t>学习到的分类器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Usually depend on training samples around classification boundary  </a:t>
            </a:r>
            <a:br>
              <a:rPr lang="en-US" altLang="zh-CN" dirty="0"/>
            </a:br>
            <a:r>
              <a:rPr lang="zh-CN" altLang="en-US" dirty="0"/>
              <a:t>取决于分类边界附近的训练数据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7. Occam’s Razor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7. </a:t>
            </a:r>
            <a:r>
              <a:rPr lang="zh-CN" altLang="en-US" dirty="0"/>
              <a:t>奥卡姆剃刀</a:t>
            </a:r>
            <a:endParaRPr lang="en-US" altLang="zh-CN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F677FA1-3EAD-4A4D-99FF-429C0B1ADD66}"/>
              </a:ext>
            </a:extLst>
          </p:cNvPr>
          <p:cNvGrpSpPr/>
          <p:nvPr/>
        </p:nvGrpSpPr>
        <p:grpSpPr>
          <a:xfrm>
            <a:off x="762000" y="3429000"/>
            <a:ext cx="3066664" cy="2514600"/>
            <a:chOff x="685800" y="3429000"/>
            <a:chExt cx="3012612" cy="25146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87F25A2-1290-4A0A-A5FE-1B95962229AB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38200" y="3886200"/>
              <a:ext cx="2860212" cy="19812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" name="Oval 3">
              <a:extLst>
                <a:ext uri="{FF2B5EF4-FFF2-40B4-BE49-F238E27FC236}">
                  <a16:creationId xmlns:a16="http://schemas.microsoft.com/office/drawing/2014/main" id="{62B7F4BC-D367-45C6-9006-E9905B454F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40386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" name="Oval 3">
              <a:extLst>
                <a:ext uri="{FF2B5EF4-FFF2-40B4-BE49-F238E27FC236}">
                  <a16:creationId xmlns:a16="http://schemas.microsoft.com/office/drawing/2014/main" id="{367884C8-5E38-46F0-98D3-81B1071791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6400" y="40386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9" name="Oval 3">
              <a:extLst>
                <a:ext uri="{FF2B5EF4-FFF2-40B4-BE49-F238E27FC236}">
                  <a16:creationId xmlns:a16="http://schemas.microsoft.com/office/drawing/2014/main" id="{A6354AC0-4BA2-4019-B691-07DBF58915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7950" y="48768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10" name="Oval 3">
              <a:extLst>
                <a:ext uri="{FF2B5EF4-FFF2-40B4-BE49-F238E27FC236}">
                  <a16:creationId xmlns:a16="http://schemas.microsoft.com/office/drawing/2014/main" id="{3BE2CD11-D8FB-4675-8131-1381A785B7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9200" y="35814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11" name="Oval 3">
              <a:extLst>
                <a:ext uri="{FF2B5EF4-FFF2-40B4-BE49-F238E27FC236}">
                  <a16:creationId xmlns:a16="http://schemas.microsoft.com/office/drawing/2014/main" id="{FEBD14B5-DE41-4195-97C5-FC4888FEDD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4450" y="34290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12" name="Oval 3">
              <a:extLst>
                <a:ext uri="{FF2B5EF4-FFF2-40B4-BE49-F238E27FC236}">
                  <a16:creationId xmlns:a16="http://schemas.microsoft.com/office/drawing/2014/main" id="{70D21B59-D5C3-4D14-A9C1-0420D6F2D2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46482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13" name="Oval 46">
              <a:extLst>
                <a:ext uri="{FF2B5EF4-FFF2-40B4-BE49-F238E27FC236}">
                  <a16:creationId xmlns:a16="http://schemas.microsoft.com/office/drawing/2014/main" id="{7766C7C7-5EE4-49A1-9DB2-29432F99C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50292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14" name="Oval 46">
              <a:extLst>
                <a:ext uri="{FF2B5EF4-FFF2-40B4-BE49-F238E27FC236}">
                  <a16:creationId xmlns:a16="http://schemas.microsoft.com/office/drawing/2014/main" id="{438F7D7A-052E-4828-9EC4-40158D70C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5350" y="45720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15" name="Oval 46">
              <a:extLst>
                <a:ext uri="{FF2B5EF4-FFF2-40B4-BE49-F238E27FC236}">
                  <a16:creationId xmlns:a16="http://schemas.microsoft.com/office/drawing/2014/main" id="{C735CCAC-2821-41E5-BB92-B9D7C181D2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2950" y="52578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16" name="Oval 46">
              <a:extLst>
                <a:ext uri="{FF2B5EF4-FFF2-40B4-BE49-F238E27FC236}">
                  <a16:creationId xmlns:a16="http://schemas.microsoft.com/office/drawing/2014/main" id="{435ACEA7-F4F8-45C6-A31B-9609A1D68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8800" y="56388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17" name="Oval 46">
              <a:extLst>
                <a:ext uri="{FF2B5EF4-FFF2-40B4-BE49-F238E27FC236}">
                  <a16:creationId xmlns:a16="http://schemas.microsoft.com/office/drawing/2014/main" id="{EAA30A5E-FE4F-45D7-8DBF-B01F300B14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850" y="57912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18" name="Oval 46">
              <a:extLst>
                <a:ext uri="{FF2B5EF4-FFF2-40B4-BE49-F238E27FC236}">
                  <a16:creationId xmlns:a16="http://schemas.microsoft.com/office/drawing/2014/main" id="{69379769-58EE-4011-A894-1CB4F16A1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9000" y="57150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3B11D9C-64D5-42D6-913A-ADB6EE01F758}"/>
              </a:ext>
            </a:extLst>
          </p:cNvPr>
          <p:cNvGrpSpPr/>
          <p:nvPr/>
        </p:nvGrpSpPr>
        <p:grpSpPr>
          <a:xfrm>
            <a:off x="1615238" y="3752671"/>
            <a:ext cx="6862559" cy="1908447"/>
            <a:chOff x="1627827" y="3752671"/>
            <a:chExt cx="6726457" cy="1908447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D6FF2F5-C0DC-42B0-ABE3-7EF3715D30B8}"/>
                </a:ext>
              </a:extLst>
            </p:cNvPr>
            <p:cNvSpPr txBox="1"/>
            <p:nvPr/>
          </p:nvSpPr>
          <p:spPr>
            <a:xfrm>
              <a:off x="4740587" y="3752671"/>
              <a:ext cx="361369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Training samples around classification boundary</a:t>
              </a:r>
              <a:br>
                <a:rPr lang="en-US" altLang="zh-CN" sz="2400" dirty="0"/>
              </a:br>
              <a:r>
                <a:rPr lang="zh-CN" altLang="en-US" sz="2400" dirty="0"/>
                <a:t>分类边界附近的训练数据</a:t>
              </a:r>
              <a:endParaRPr lang="zh-CN" altLang="en-US" sz="2200" dirty="0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9209F26-3098-450C-BB10-266E09DD90F9}"/>
                </a:ext>
              </a:extLst>
            </p:cNvPr>
            <p:cNvCxnSpPr>
              <a:cxnSpLocks/>
              <a:stCxn id="19" idx="1"/>
              <a:endCxn id="7" idx="6"/>
            </p:cNvCxnSpPr>
            <p:nvPr/>
          </p:nvCxnSpPr>
          <p:spPr bwMode="auto">
            <a:xfrm flipH="1" flipV="1">
              <a:off x="2761924" y="4114800"/>
              <a:ext cx="1978663" cy="23803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513D050D-0F00-400C-B2B6-DE14CA1E2205}"/>
                </a:ext>
              </a:extLst>
            </p:cNvPr>
            <p:cNvCxnSpPr>
              <a:cxnSpLocks/>
              <a:stCxn id="19" idx="1"/>
              <a:endCxn id="9" idx="6"/>
            </p:cNvCxnSpPr>
            <p:nvPr/>
          </p:nvCxnSpPr>
          <p:spPr bwMode="auto">
            <a:xfrm flipH="1">
              <a:off x="1627827" y="4352836"/>
              <a:ext cx="3112760" cy="60016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ABF2FC7D-2578-43FF-94DF-F699702FC78D}"/>
                </a:ext>
              </a:extLst>
            </p:cNvPr>
            <p:cNvCxnSpPr>
              <a:cxnSpLocks/>
              <a:stCxn id="19" idx="1"/>
              <a:endCxn id="14" idx="6"/>
            </p:cNvCxnSpPr>
            <p:nvPr/>
          </p:nvCxnSpPr>
          <p:spPr bwMode="auto">
            <a:xfrm flipH="1">
              <a:off x="3680605" y="4352836"/>
              <a:ext cx="1059982" cy="29536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5DD5A2C-3BD8-411C-9BCC-9A3F14A90E43}"/>
                </a:ext>
              </a:extLst>
            </p:cNvPr>
            <p:cNvCxnSpPr>
              <a:cxnSpLocks/>
              <a:stCxn id="19" idx="1"/>
              <a:endCxn id="13" idx="6"/>
            </p:cNvCxnSpPr>
            <p:nvPr/>
          </p:nvCxnSpPr>
          <p:spPr bwMode="auto">
            <a:xfrm flipH="1">
              <a:off x="2761924" y="4352836"/>
              <a:ext cx="1978663" cy="75256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6F245F9-52D3-4003-A78D-8F192493E711}"/>
                </a:ext>
              </a:extLst>
            </p:cNvPr>
            <p:cNvCxnSpPr>
              <a:cxnSpLocks/>
              <a:stCxn id="19" idx="1"/>
              <a:endCxn id="16" idx="7"/>
            </p:cNvCxnSpPr>
            <p:nvPr/>
          </p:nvCxnSpPr>
          <p:spPr bwMode="auto">
            <a:xfrm flipH="1">
              <a:off x="2056325" y="4352836"/>
              <a:ext cx="2684262" cy="130828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1767194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Learning Linear Classifiers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学习线性分类器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4800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/>
              <a:t>Learning </a:t>
            </a:r>
            <a:r>
              <a:rPr lang="zh-CN" altLang="en-US" dirty="0"/>
              <a:t>学习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Separate training data correctly  </a:t>
            </a:r>
            <a:br>
              <a:rPr lang="en-US" altLang="zh-CN" dirty="0"/>
            </a:br>
            <a:r>
              <a:rPr lang="zh-CN" altLang="en-US" dirty="0"/>
              <a:t>正确划分训练数据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Leave a certain margin  </a:t>
            </a:r>
            <a:r>
              <a:rPr lang="zh-CN" altLang="en-US" dirty="0"/>
              <a:t>预留一些间距</a:t>
            </a:r>
            <a:endParaRPr lang="en-US" altLang="zh-CN" dirty="0"/>
          </a:p>
          <a:p>
            <a:pPr lvl="2">
              <a:lnSpc>
                <a:spcPct val="90000"/>
              </a:lnSpc>
            </a:pPr>
            <a:r>
              <a:rPr lang="en-US" altLang="zh-CN" dirty="0"/>
              <a:t>Classify training data ‘confidently’</a:t>
            </a:r>
            <a:br>
              <a:rPr lang="en-US" altLang="zh-CN" dirty="0"/>
            </a:br>
            <a:r>
              <a:rPr lang="zh-CN" altLang="en-US" dirty="0"/>
              <a:t>对训练数据进行“更有置信度”的分类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en-US" altLang="zh-CN" dirty="0"/>
              <a:t>Intuitive Explanation  </a:t>
            </a:r>
            <a:r>
              <a:rPr lang="zh-CN" altLang="en-US" dirty="0"/>
              <a:t>直观解释</a:t>
            </a:r>
            <a:r>
              <a:rPr lang="en-US" altLang="zh-CN" dirty="0"/>
              <a:t> 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More likely</a:t>
            </a:r>
            <a:r>
              <a:rPr lang="en-US" altLang="zh-CN" dirty="0"/>
              <a:t> to tolerate unseen samples close to </a:t>
            </a:r>
            <a:r>
              <a:rPr lang="en-US" altLang="zh-CN" dirty="0">
                <a:solidFill>
                  <a:srgbClr val="FF0000"/>
                </a:solidFill>
              </a:rPr>
              <a:t>those training samples around classification boundary</a:t>
            </a:r>
            <a:r>
              <a:rPr lang="en-US" altLang="zh-CN" dirty="0"/>
              <a:t>      </a:t>
            </a:r>
            <a:r>
              <a:rPr lang="zh-CN" altLang="en-US" dirty="0">
                <a:solidFill>
                  <a:srgbClr val="FF0000"/>
                </a:solidFill>
              </a:rPr>
              <a:t>更有可能</a:t>
            </a:r>
            <a:r>
              <a:rPr lang="zh-CN" altLang="en-US" dirty="0"/>
              <a:t>容忍靠近</a:t>
            </a:r>
            <a:r>
              <a:rPr lang="zh-CN" altLang="en-US" dirty="0">
                <a:solidFill>
                  <a:srgbClr val="FF0000"/>
                </a:solidFill>
              </a:rPr>
              <a:t>分类边界附近的训练数据</a:t>
            </a:r>
            <a:r>
              <a:rPr lang="zh-CN" altLang="en-US" dirty="0"/>
              <a:t>的未见数据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7. Occam’s Razor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7. </a:t>
            </a:r>
            <a:r>
              <a:rPr lang="zh-CN" altLang="en-US" dirty="0"/>
              <a:t>奥卡姆剃刀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53149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Perceptron Algorithm w/ Margins  </a:t>
            </a:r>
            <a:r>
              <a:rPr lang="zh-CN" altLang="en-US" dirty="0"/>
              <a:t>带间距的感知器算法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A0F165-8941-4D6C-BAE4-F52C9F12FF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600200"/>
                <a:ext cx="7772400" cy="4800600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Initialization  </a:t>
                </a:r>
                <a:r>
                  <a:rPr lang="zh-CN" altLang="en-US" dirty="0"/>
                  <a:t>初始化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𝐰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⟵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func>
                      <m:func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CN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𝐱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func>
                  </m:oMath>
                </a14:m>
                <a:endParaRPr lang="en-US" altLang="zh-CN" dirty="0"/>
              </a:p>
              <a:p>
                <a:r>
                  <a:rPr lang="en-US" altLang="zh-CN" dirty="0"/>
                  <a:t>Repeat over Time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altLang="zh-CN" dirty="0"/>
                  <a:t>  </a:t>
                </a:r>
                <a:r>
                  <a:rPr lang="zh-CN" altLang="en-US" dirty="0"/>
                  <a:t>对时间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zh-CN" altLang="en-US" dirty="0"/>
                  <a:t>循环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Get  </a:t>
                </a:r>
                <a:r>
                  <a:rPr lang="zh-CN" altLang="en-US" dirty="0"/>
                  <a:t>获得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</m:oMath>
                </a14:m>
                <a:endParaRPr lang="en-US" altLang="zh-CN" dirty="0"/>
              </a:p>
              <a:p>
                <a:pPr lvl="1"/>
                <a:r>
                  <a:rPr lang="en-US" altLang="zh-CN" dirty="0"/>
                  <a:t>If  </a:t>
                </a:r>
                <a:r>
                  <a:rPr lang="zh-CN" altLang="en-US" dirty="0"/>
                  <a:t>如果 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𝐰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>
                  <a:ea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𝐰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𝐰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altLang="zh-CN" b="0" dirty="0">
                  <a:ea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altLang="zh-CN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A0F165-8941-4D6C-BAE4-F52C9F12FF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600200"/>
                <a:ext cx="7772400" cy="4800600"/>
              </a:xfrm>
              <a:blipFill>
                <a:blip r:embed="rId5"/>
                <a:stretch>
                  <a:fillRect l="-549" t="-22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7. Occam’s Razor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7. </a:t>
            </a:r>
            <a:r>
              <a:rPr lang="zh-CN" altLang="en-US" dirty="0"/>
              <a:t>奥卡姆剃刀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24300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7.1 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7.1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7. Occam’s Razor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7. </a:t>
            </a:r>
            <a:r>
              <a:rPr lang="zh-CN" altLang="en-US"/>
              <a:t>奥卡姆剃刀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EC9E0C-6C7D-40EB-B411-BA56B8DA5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5BA708-DA7C-4A96-9103-C216FD58879C}"/>
              </a:ext>
            </a:extLst>
          </p:cNvPr>
          <p:cNvSpPr txBox="1"/>
          <p:nvPr/>
        </p:nvSpPr>
        <p:spPr>
          <a:xfrm>
            <a:off x="1638300" y="1505391"/>
            <a:ext cx="5867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Practice time: use perceptron w/ margins on the</a:t>
            </a:r>
            <a:r>
              <a:rPr lang="zh-CN" altLang="en-US" sz="2200" dirty="0"/>
              <a:t> </a:t>
            </a:r>
            <a:r>
              <a:rPr lang="en-US" altLang="zh-CN" sz="2200" dirty="0"/>
              <a:t>synthetic problem  </a:t>
            </a:r>
            <a:br>
              <a:rPr lang="en-US" altLang="zh-CN" sz="2200" dirty="0"/>
            </a:br>
            <a:r>
              <a:rPr lang="zh-CN" altLang="en-US" sz="2200" dirty="0"/>
              <a:t>实践时刻：在人造问题上使用带间距的感知器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BF6605-906F-4F39-BD56-58FE01C9CDA6}"/>
              </a:ext>
            </a:extLst>
          </p:cNvPr>
          <p:cNvSpPr txBox="1"/>
          <p:nvPr/>
        </p:nvSpPr>
        <p:spPr>
          <a:xfrm>
            <a:off x="266700" y="5013971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How does it perform comparing w/ simple perceptron?</a:t>
            </a:r>
          </a:p>
          <a:p>
            <a:pPr algn="ctr"/>
            <a:r>
              <a:rPr lang="zh-CN" altLang="en-US" sz="2200" dirty="0"/>
              <a:t>和简单的感知器相比，它的表现如何？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6464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Result  </a:t>
            </a:r>
            <a:r>
              <a:rPr lang="zh-CN" altLang="en-US" dirty="0">
                <a:ea typeface="SimSun" panose="02010600030101010101" pitchFamily="2" charset="-122"/>
              </a:rPr>
              <a:t>结果</a:t>
            </a:r>
            <a:endParaRPr lang="en-US" altLang="zh-CN" dirty="0">
              <a:ea typeface="SimSun" panose="02010600030101010101" pitchFamily="2" charset="-122"/>
            </a:endParaRP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CFE00CC6-FCC6-463F-8A63-720BDAF70B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7. Occam’s Razor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7. </a:t>
            </a:r>
            <a:r>
              <a:rPr lang="zh-CN" altLang="en-US" dirty="0"/>
              <a:t>奥卡姆剃刀</a:t>
            </a:r>
            <a:endParaRPr lang="en-US" altLang="zh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795174-97D0-495E-98FE-FA22C17C46EA}"/>
              </a:ext>
            </a:extLst>
          </p:cNvPr>
          <p:cNvSpPr txBox="1"/>
          <p:nvPr/>
        </p:nvSpPr>
        <p:spPr>
          <a:xfrm>
            <a:off x="266700" y="5258727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Perceptron w/ margins performs better</a:t>
            </a:r>
          </a:p>
          <a:p>
            <a:pPr algn="ctr"/>
            <a:r>
              <a:rPr lang="zh-CN" altLang="en-US" sz="2200" dirty="0"/>
              <a:t>带间隔的感知器表现更好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88A30B-7C41-44AE-B3B0-E25297E541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1000" y="1768200"/>
            <a:ext cx="5562000" cy="3321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652756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Example  </a:t>
            </a:r>
            <a:r>
              <a:rPr lang="zh-CN" altLang="en-US" dirty="0">
                <a:ea typeface="ＭＳ Ｐゴシック" panose="020B0600070205080204" pitchFamily="34" charset="-128"/>
              </a:rPr>
              <a:t>实例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7. Occam’s Razor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7. </a:t>
            </a:r>
            <a:r>
              <a:rPr lang="zh-CN" altLang="en-US" dirty="0"/>
              <a:t>奥卡姆剃刀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8AAE19-F2C6-45A4-9FA3-07B560210C65}"/>
              </a:ext>
            </a:extLst>
          </p:cNvPr>
          <p:cNvSpPr txBox="1"/>
          <p:nvPr/>
        </p:nvSpPr>
        <p:spPr>
          <a:xfrm>
            <a:off x="540634" y="1626513"/>
            <a:ext cx="80627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Ground truth classification boundary  </a:t>
            </a:r>
            <a:r>
              <a:rPr lang="zh-CN" altLang="en-US" sz="2200" dirty="0"/>
              <a:t>真实分类边界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CFD8022-996E-42DD-84AE-2620C9B60609}"/>
                  </a:ext>
                </a:extLst>
              </p:cNvPr>
              <p:cNvSpPr/>
              <p:nvPr/>
            </p:nvSpPr>
            <p:spPr>
              <a:xfrm>
                <a:off x="833377" y="2057400"/>
                <a:ext cx="7391400" cy="7616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1.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02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93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−0.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86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−0.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46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−0.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33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30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26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176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04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0.0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+1.00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CFD8022-996E-42DD-84AE-2620C9B606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377" y="2057400"/>
                <a:ext cx="7391400" cy="7616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268CDA2-9C92-4E3C-A497-6E2AC4092CBD}"/>
              </a:ext>
            </a:extLst>
          </p:cNvPr>
          <p:cNvSpPr txBox="1"/>
          <p:nvPr/>
        </p:nvSpPr>
        <p:spPr>
          <a:xfrm>
            <a:off x="215900" y="2819019"/>
            <a:ext cx="8712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Learned w/ 7 attributes w/o margins  </a:t>
            </a:r>
            <a:r>
              <a:rPr lang="zh-CN" altLang="en-US" sz="2200" dirty="0"/>
              <a:t>不带间距用</a:t>
            </a:r>
            <a:r>
              <a:rPr lang="en-US" altLang="zh-CN" sz="2200" dirty="0"/>
              <a:t>7</a:t>
            </a:r>
            <a:r>
              <a:rPr lang="zh-CN" altLang="en-US" sz="2200" dirty="0"/>
              <a:t>个属性学习到的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3F6A77A-CAA4-4B9C-AD2C-989D5ABFBF12}"/>
                  </a:ext>
                </a:extLst>
              </p:cNvPr>
              <p:cNvSpPr/>
              <p:nvPr/>
            </p:nvSpPr>
            <p:spPr>
              <a:xfrm>
                <a:off x="864725" y="3238881"/>
                <a:ext cx="7391400" cy="7616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.47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17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−0.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48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51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36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12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12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i="1" smtClean="0">
                          <a:latin typeface="Cambria Math" panose="02040503050406030204" pitchFamily="18" charset="0"/>
                        </a:rPr>
                        <m:t>0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.00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.00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0.0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0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00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3F6A77A-CAA4-4B9C-AD2C-989D5ABFBF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725" y="3238881"/>
                <a:ext cx="7391400" cy="76161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9DCBF51E-D0E9-4E34-B741-E9BB4D500906}"/>
              </a:ext>
            </a:extLst>
          </p:cNvPr>
          <p:cNvSpPr txBox="1"/>
          <p:nvPr/>
        </p:nvSpPr>
        <p:spPr>
          <a:xfrm>
            <a:off x="-38100" y="4004362"/>
            <a:ext cx="9220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Learned w/ 11 attributes w/o margins  </a:t>
            </a:r>
            <a:r>
              <a:rPr lang="zh-CN" altLang="en-US" sz="2200" dirty="0"/>
              <a:t>不带间距用</a:t>
            </a:r>
            <a:r>
              <a:rPr lang="en-US" altLang="zh-CN" sz="2200" dirty="0"/>
              <a:t>11</a:t>
            </a:r>
            <a:r>
              <a:rPr lang="zh-CN" altLang="en-US" sz="2200" dirty="0"/>
              <a:t>个属性学习到的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ECBE507-429C-428E-BCC3-B161FF4B962C}"/>
                  </a:ext>
                </a:extLst>
              </p:cNvPr>
              <p:cNvSpPr/>
              <p:nvPr/>
            </p:nvSpPr>
            <p:spPr>
              <a:xfrm>
                <a:off x="864725" y="4343400"/>
                <a:ext cx="7391400" cy="7616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.44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99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−0.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32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70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sz="22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0.55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29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55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20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.76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36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CN" sz="22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5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09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00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ECBE507-429C-428E-BCC3-B161FF4B96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725" y="4343400"/>
                <a:ext cx="7391400" cy="76161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D9C17662-5C55-4D6C-A03F-97EE19267853}"/>
              </a:ext>
            </a:extLst>
          </p:cNvPr>
          <p:cNvSpPr txBox="1"/>
          <p:nvPr/>
        </p:nvSpPr>
        <p:spPr>
          <a:xfrm>
            <a:off x="-38100" y="5058295"/>
            <a:ext cx="9220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Learned w/ 11 attributes w margins  </a:t>
            </a:r>
            <a:r>
              <a:rPr lang="zh-CN" altLang="en-US" sz="2200" dirty="0"/>
              <a:t>带间距用</a:t>
            </a:r>
            <a:r>
              <a:rPr lang="en-US" altLang="zh-CN" sz="2200" dirty="0"/>
              <a:t>11</a:t>
            </a:r>
            <a:r>
              <a:rPr lang="zh-CN" altLang="en-US" sz="2200" dirty="0"/>
              <a:t>个属性学习到的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062A68C-1C54-455E-AE3F-7867269EB95A}"/>
                  </a:ext>
                </a:extLst>
              </p:cNvPr>
              <p:cNvSpPr/>
              <p:nvPr/>
            </p:nvSpPr>
            <p:spPr>
              <a:xfrm>
                <a:off x="838200" y="5410581"/>
                <a:ext cx="7391400" cy="7616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.40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69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−0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.69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62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sz="22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0.58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19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+0.56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20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.65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12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CN" sz="22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0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0.72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00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062A68C-1C54-455E-AE3F-7867269EB9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410581"/>
                <a:ext cx="7391400" cy="76161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601705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Example  </a:t>
            </a:r>
            <a:r>
              <a:rPr lang="zh-CN" altLang="en-US" dirty="0">
                <a:ea typeface="ＭＳ Ｐゴシック" panose="020B0600070205080204" pitchFamily="34" charset="-128"/>
              </a:rPr>
              <a:t>实例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7. Occam’s Razor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7. </a:t>
            </a:r>
            <a:r>
              <a:rPr lang="zh-CN" altLang="en-US" dirty="0"/>
              <a:t>奥卡姆剃刀</a:t>
            </a:r>
            <a:endParaRPr lang="en-US" altLang="zh-C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7027434-AC7A-4E9D-B3F7-6B96A88CE9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740381"/>
              </p:ext>
            </p:extLst>
          </p:nvPr>
        </p:nvGraphicFramePr>
        <p:xfrm>
          <a:off x="152399" y="1978301"/>
          <a:ext cx="8763001" cy="185420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674077">
                  <a:extLst>
                    <a:ext uri="{9D8B030D-6E8A-4147-A177-3AD203B41FA5}">
                      <a16:colId xmlns:a16="http://schemas.microsoft.com/office/drawing/2014/main" val="1200889519"/>
                    </a:ext>
                  </a:extLst>
                </a:gridCol>
                <a:gridCol w="674077">
                  <a:extLst>
                    <a:ext uri="{9D8B030D-6E8A-4147-A177-3AD203B41FA5}">
                      <a16:colId xmlns:a16="http://schemas.microsoft.com/office/drawing/2014/main" val="2938067114"/>
                    </a:ext>
                  </a:extLst>
                </a:gridCol>
                <a:gridCol w="674077">
                  <a:extLst>
                    <a:ext uri="{9D8B030D-6E8A-4147-A177-3AD203B41FA5}">
                      <a16:colId xmlns:a16="http://schemas.microsoft.com/office/drawing/2014/main" val="634952323"/>
                    </a:ext>
                  </a:extLst>
                </a:gridCol>
                <a:gridCol w="674077">
                  <a:extLst>
                    <a:ext uri="{9D8B030D-6E8A-4147-A177-3AD203B41FA5}">
                      <a16:colId xmlns:a16="http://schemas.microsoft.com/office/drawing/2014/main" val="1636844679"/>
                    </a:ext>
                  </a:extLst>
                </a:gridCol>
                <a:gridCol w="674077">
                  <a:extLst>
                    <a:ext uri="{9D8B030D-6E8A-4147-A177-3AD203B41FA5}">
                      <a16:colId xmlns:a16="http://schemas.microsoft.com/office/drawing/2014/main" val="3479981593"/>
                    </a:ext>
                  </a:extLst>
                </a:gridCol>
                <a:gridCol w="674077">
                  <a:extLst>
                    <a:ext uri="{9D8B030D-6E8A-4147-A177-3AD203B41FA5}">
                      <a16:colId xmlns:a16="http://schemas.microsoft.com/office/drawing/2014/main" val="239722630"/>
                    </a:ext>
                  </a:extLst>
                </a:gridCol>
                <a:gridCol w="674077">
                  <a:extLst>
                    <a:ext uri="{9D8B030D-6E8A-4147-A177-3AD203B41FA5}">
                      <a16:colId xmlns:a16="http://schemas.microsoft.com/office/drawing/2014/main" val="1488878174"/>
                    </a:ext>
                  </a:extLst>
                </a:gridCol>
                <a:gridCol w="674077">
                  <a:extLst>
                    <a:ext uri="{9D8B030D-6E8A-4147-A177-3AD203B41FA5}">
                      <a16:colId xmlns:a16="http://schemas.microsoft.com/office/drawing/2014/main" val="317854268"/>
                    </a:ext>
                  </a:extLst>
                </a:gridCol>
                <a:gridCol w="674077">
                  <a:extLst>
                    <a:ext uri="{9D8B030D-6E8A-4147-A177-3AD203B41FA5}">
                      <a16:colId xmlns:a16="http://schemas.microsoft.com/office/drawing/2014/main" val="2807019351"/>
                    </a:ext>
                  </a:extLst>
                </a:gridCol>
                <a:gridCol w="674077">
                  <a:extLst>
                    <a:ext uri="{9D8B030D-6E8A-4147-A177-3AD203B41FA5}">
                      <a16:colId xmlns:a16="http://schemas.microsoft.com/office/drawing/2014/main" val="134501554"/>
                    </a:ext>
                  </a:extLst>
                </a:gridCol>
                <a:gridCol w="674077">
                  <a:extLst>
                    <a:ext uri="{9D8B030D-6E8A-4147-A177-3AD203B41FA5}">
                      <a16:colId xmlns:a16="http://schemas.microsoft.com/office/drawing/2014/main" val="3212840994"/>
                    </a:ext>
                  </a:extLst>
                </a:gridCol>
                <a:gridCol w="674077">
                  <a:extLst>
                    <a:ext uri="{9D8B030D-6E8A-4147-A177-3AD203B41FA5}">
                      <a16:colId xmlns:a16="http://schemas.microsoft.com/office/drawing/2014/main" val="4260227649"/>
                    </a:ext>
                  </a:extLst>
                </a:gridCol>
                <a:gridCol w="674077">
                  <a:extLst>
                    <a:ext uri="{9D8B030D-6E8A-4147-A177-3AD203B41FA5}">
                      <a16:colId xmlns:a16="http://schemas.microsoft.com/office/drawing/2014/main" val="436447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w</a:t>
                      </a:r>
                      <a:r>
                        <a:rPr lang="en-US" altLang="zh-CN" sz="20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w</a:t>
                      </a:r>
                      <a:r>
                        <a:rPr lang="en-US" altLang="zh-CN" sz="20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w</a:t>
                      </a:r>
                      <a:r>
                        <a:rPr lang="en-US" altLang="zh-CN" sz="20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w</a:t>
                      </a:r>
                      <a:r>
                        <a:rPr lang="en-US" altLang="zh-CN" sz="20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w</a:t>
                      </a:r>
                      <a:r>
                        <a:rPr lang="en-US" altLang="zh-CN" sz="20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w</a:t>
                      </a:r>
                      <a:r>
                        <a:rPr lang="en-US" altLang="zh-CN" sz="20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6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w</a:t>
                      </a:r>
                      <a:r>
                        <a:rPr lang="en-US" altLang="zh-CN" sz="20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7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w</a:t>
                      </a:r>
                      <a:r>
                        <a:rPr lang="en-US" altLang="zh-CN" sz="20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8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w</a:t>
                      </a:r>
                      <a:r>
                        <a:rPr lang="en-US" altLang="zh-CN" sz="20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9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w</a:t>
                      </a:r>
                      <a:r>
                        <a:rPr lang="en-US" altLang="zh-CN" sz="20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10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1" u="none" strike="noStrike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w</a:t>
                      </a:r>
                      <a:r>
                        <a:rPr lang="en-US" altLang="zh-CN" sz="20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11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1" u="none" strike="noStrike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b</a:t>
                      </a:r>
                      <a:endParaRPr lang="en-US" altLang="zh-CN" sz="2000" b="0" i="1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35878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1.02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0.93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-0.86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0.46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0.33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0.30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0.26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0.16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0.04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0.03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0.00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1.00 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69460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0.47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FF7C8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1.17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FF7C8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-0.48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0.51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0.36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FF7C8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-0.12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1.12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0.00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0.00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0.00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0.00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1.00 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8002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0.44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0.99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-0.32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FF505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0.70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FF505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0.55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0.29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 dirty="0">
                          <a:solidFill>
                            <a:srgbClr val="990033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1.55</a:t>
                      </a:r>
                      <a:r>
                        <a:rPr lang="en-US" altLang="zh-CN" sz="1800" b="0" i="0" u="none" strike="noStrike" dirty="0">
                          <a:solidFill>
                            <a:srgbClr val="990033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-0.76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FF7C8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0.36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FF7C8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0.35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 dirty="0">
                          <a:solidFill>
                            <a:srgbClr val="990033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1.09</a:t>
                      </a:r>
                      <a:r>
                        <a:rPr lang="en-US" altLang="zh-CN" sz="18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1.00 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83785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11-M</a:t>
                      </a:r>
                      <a:endParaRPr lang="zh-CN" altLang="en-US" dirty="0"/>
                    </a:p>
                  </a:txBody>
                  <a:tcPr marR="3600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0.40</a:t>
                      </a:r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FF7C8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0.69</a:t>
                      </a:r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-0.69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0.62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FF7C8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0.58</a:t>
                      </a:r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FF7C8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-0.19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FF7C8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0.56</a:t>
                      </a:r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-0.65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0.12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-0.10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0.72</a:t>
                      </a:r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1.00 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072693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DD42DCC-F7E9-4FCE-A302-B6E22C6909ED}"/>
              </a:ext>
            </a:extLst>
          </p:cNvPr>
          <p:cNvSpPr txBox="1"/>
          <p:nvPr/>
        </p:nvSpPr>
        <p:spPr>
          <a:xfrm>
            <a:off x="1600200" y="4114800"/>
            <a:ext cx="62960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learning w/ 11 attributes, the overrating or incorrect rating issue gets alleviated</a:t>
            </a:r>
          </a:p>
          <a:p>
            <a:pPr algn="ctr"/>
            <a:r>
              <a:rPr lang="zh-CN" altLang="en-US" sz="2200" dirty="0"/>
              <a:t>用</a:t>
            </a:r>
            <a:r>
              <a:rPr lang="en-US" altLang="zh-CN" sz="2200" dirty="0"/>
              <a:t>11</a:t>
            </a:r>
            <a:r>
              <a:rPr lang="zh-CN" altLang="en-US" sz="2200" dirty="0"/>
              <a:t>个属性学习时，高估和错估的问题被改善了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68265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What’s the Insight?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我们洞察到了什么？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8077200" cy="4800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/>
              <a:t>Perceptron w/ Margins </a:t>
            </a:r>
            <a:r>
              <a:rPr lang="zh-CN" altLang="en-US" dirty="0"/>
              <a:t>带间距的感知器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Perform better in the synthetic problem</a:t>
            </a:r>
            <a:br>
              <a:rPr lang="en-US" altLang="zh-CN" dirty="0"/>
            </a:br>
            <a:r>
              <a:rPr lang="zh-CN" altLang="en-US" dirty="0"/>
              <a:t>在人造问题中表现更好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en-US" altLang="zh-CN" dirty="0"/>
              <a:t>The Question  </a:t>
            </a:r>
            <a:r>
              <a:rPr lang="zh-CN" altLang="en-US" dirty="0"/>
              <a:t>问题是</a:t>
            </a:r>
            <a:r>
              <a:rPr lang="en-US" altLang="zh-CN" dirty="0"/>
              <a:t> 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How is that relevant to Occam’s Razor in terms of classification capability of candidate classifier set  </a:t>
            </a:r>
            <a:r>
              <a:rPr lang="zh-CN" altLang="en-US" dirty="0"/>
              <a:t>这和关注候选分类器集合的分类能力的奥卡姆剃刀有关吗？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We start from a math theorem</a:t>
            </a:r>
            <a:br>
              <a:rPr lang="en-US" altLang="zh-CN" dirty="0"/>
            </a:br>
            <a:r>
              <a:rPr lang="zh-CN" altLang="en-US" dirty="0"/>
              <a:t>我们从一个数学定理开始</a:t>
            </a:r>
            <a:endParaRPr lang="en-US" altLang="zh-CN" dirty="0"/>
          </a:p>
          <a:p>
            <a:pPr lvl="1">
              <a:lnSpc>
                <a:spcPct val="90000"/>
              </a:lnSpc>
            </a:pP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7. Occam’s Razor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7. </a:t>
            </a:r>
            <a:r>
              <a:rPr lang="zh-CN" altLang="en-US" dirty="0"/>
              <a:t>奥卡姆剃刀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32446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Math Theorem  </a:t>
            </a:r>
            <a:r>
              <a:rPr lang="zh-CN" altLang="en-US" dirty="0">
                <a:ea typeface="ＭＳ Ｐゴシック" panose="020B0600070205080204" pitchFamily="34" charset="-128"/>
              </a:rPr>
              <a:t>数学定理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7. Occam’s Razor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7. </a:t>
            </a:r>
            <a:r>
              <a:rPr lang="zh-CN" altLang="en-US" dirty="0"/>
              <a:t>奥卡姆剃刀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89DD71-FDF3-4BE4-A893-744A1694DBFD}"/>
                  </a:ext>
                </a:extLst>
              </p:cNvPr>
              <p:cNvSpPr txBox="1"/>
              <p:nvPr/>
            </p:nvSpPr>
            <p:spPr>
              <a:xfrm>
                <a:off x="304800" y="1727200"/>
                <a:ext cx="68580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sz="2200" dirty="0"/>
                  <a:t>: number of training samples  </a:t>
                </a:r>
                <a:r>
                  <a:rPr lang="zh-CN" altLang="en-US" sz="2200" dirty="0"/>
                  <a:t>训练数据数量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89DD71-FDF3-4BE4-A893-744A1694DB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1727200"/>
                <a:ext cx="6858000" cy="430887"/>
              </a:xfrm>
              <a:prstGeom prst="rect">
                <a:avLst/>
              </a:prstGeom>
              <a:blipFill>
                <a:blip r:embed="rId5"/>
                <a:stretch>
                  <a:fillRect t="-14085" b="-281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F746DCE-1319-41B6-B76B-DC45BE980A09}"/>
                  </a:ext>
                </a:extLst>
              </p:cNvPr>
              <p:cNvSpPr txBox="1"/>
              <p:nvPr/>
            </p:nvSpPr>
            <p:spPr>
              <a:xfrm>
                <a:off x="304800" y="2202010"/>
                <a:ext cx="891540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zh-CN" sz="2200" dirty="0"/>
                  <a:t>: classification capability of the candidate classifier set, </a:t>
                </a:r>
                <a:r>
                  <a:rPr lang="en-US" altLang="zh-CN" sz="2200" dirty="0" err="1"/>
                  <a:t>Vapnik-Chervonenkis</a:t>
                </a:r>
                <a:r>
                  <a:rPr lang="en-US" altLang="zh-CN" sz="2200" dirty="0"/>
                  <a:t> (VC) dimension </a:t>
                </a:r>
                <a:r>
                  <a:rPr lang="zh-CN" altLang="en-US" sz="2200" dirty="0"/>
                  <a:t>候选分类器集合的分类能力，</a:t>
                </a:r>
                <a:r>
                  <a:rPr lang="en-US" altLang="zh-CN" sz="2200" dirty="0"/>
                  <a:t>VC</a:t>
                </a:r>
                <a:r>
                  <a:rPr lang="zh-CN" altLang="en-US" sz="2200" dirty="0"/>
                  <a:t>维度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F746DCE-1319-41B6-B76B-DC45BE980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2202010"/>
                <a:ext cx="8915400" cy="769441"/>
              </a:xfrm>
              <a:prstGeom prst="rect">
                <a:avLst/>
              </a:prstGeom>
              <a:blipFill>
                <a:blip r:embed="rId6"/>
                <a:stretch>
                  <a:fillRect l="-889" t="-5556" b="-158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230746A-3A94-4CE5-A529-FA430DEB69E3}"/>
                  </a:ext>
                </a:extLst>
              </p:cNvPr>
              <p:cNvSpPr txBox="1"/>
              <p:nvPr/>
            </p:nvSpPr>
            <p:spPr>
              <a:xfrm>
                <a:off x="304800" y="2972713"/>
                <a:ext cx="88392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2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altLang="zh-CN" sz="2200" dirty="0"/>
                  <a:t>: tolerance of probability of unluckiness  </a:t>
                </a:r>
                <a:r>
                  <a:rPr lang="zh-CN" altLang="en-US" sz="2200" dirty="0"/>
                  <a:t>能忍受的运气不好的概率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230746A-3A94-4CE5-A529-FA430DEB6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2972713"/>
                <a:ext cx="8839200" cy="430887"/>
              </a:xfrm>
              <a:prstGeom prst="rect">
                <a:avLst/>
              </a:prstGeom>
              <a:blipFill>
                <a:blip r:embed="rId7"/>
                <a:stretch>
                  <a:fillRect l="-69" t="-15714" r="-276" b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FB80511-4D39-47D2-B18E-8E8899DC857D}"/>
              </a:ext>
            </a:extLst>
          </p:cNvPr>
          <p:cNvSpPr txBox="1"/>
          <p:nvPr/>
        </p:nvSpPr>
        <p:spPr>
          <a:xfrm>
            <a:off x="152400" y="3497759"/>
            <a:ext cx="8839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 classifier learned given all training samples correctly classified</a:t>
            </a:r>
          </a:p>
          <a:p>
            <a:pPr algn="ctr"/>
            <a:r>
              <a:rPr lang="zh-CN" altLang="en-US" sz="2200" dirty="0"/>
              <a:t>学习到一个正确分类了所有训练数据的分类器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38C9DA-30B6-4059-A65E-40506515117E}"/>
                  </a:ext>
                </a:extLst>
              </p:cNvPr>
              <p:cNvSpPr txBox="1"/>
              <p:nvPr/>
            </p:nvSpPr>
            <p:spPr>
              <a:xfrm>
                <a:off x="152400" y="4226671"/>
                <a:ext cx="8839200" cy="1183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Classification error  </a:t>
                </a:r>
                <a:r>
                  <a:rPr lang="zh-CN" altLang="en-US" sz="2200" dirty="0"/>
                  <a:t>分类错误 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func>
                              <m:func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f>
                                  <m:f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num>
                                  <m:den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den>
                                </m:f>
                              </m:e>
                            </m:func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+1)−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𝛿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rad>
                  </m:oMath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38C9DA-30B6-4059-A65E-4050651511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4226671"/>
                <a:ext cx="8839200" cy="118352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628C4FE-6798-4549-9A97-55C9F1F5324E}"/>
                  </a:ext>
                </a:extLst>
              </p:cNvPr>
              <p:cNvSpPr txBox="1"/>
              <p:nvPr/>
            </p:nvSpPr>
            <p:spPr>
              <a:xfrm>
                <a:off x="152400" y="5410200"/>
                <a:ext cx="883920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Except for the probability </a:t>
                </a:r>
                <a14:m>
                  <m:oMath xmlns:m="http://schemas.openxmlformats.org/officeDocument/2006/math">
                    <m:r>
                      <a:rPr lang="zh-CN" altLang="en-US" sz="220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altLang="zh-CN" sz="2200" dirty="0"/>
                  <a:t> of unluckiness </a:t>
                </a:r>
                <a:br>
                  <a:rPr lang="en-US" altLang="zh-CN" sz="2200" dirty="0"/>
                </a:br>
                <a:r>
                  <a:rPr lang="zh-CN" altLang="en-US" sz="2200" dirty="0"/>
                  <a:t>除去概率为</a:t>
                </a:r>
                <a14:m>
                  <m:oMath xmlns:m="http://schemas.openxmlformats.org/officeDocument/2006/math">
                    <m:r>
                      <a:rPr lang="zh-CN" altLang="en-US" sz="2200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zh-CN" altLang="en-US" sz="2200" dirty="0"/>
                  <a:t>的运气不好的情况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628C4FE-6798-4549-9A97-55C9F1F53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5410200"/>
                <a:ext cx="8839200" cy="769441"/>
              </a:xfrm>
              <a:prstGeom prst="rect">
                <a:avLst/>
              </a:prstGeom>
              <a:blipFill>
                <a:blip r:embed="rId9"/>
                <a:stretch>
                  <a:fillRect t="-5556" b="-119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771982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Upper Bound of Error  </a:t>
            </a:r>
            <a:r>
              <a:rPr lang="zh-CN" altLang="en-US" dirty="0">
                <a:ea typeface="ＭＳ Ｐゴシック" panose="020B0600070205080204" pitchFamily="34" charset="-128"/>
              </a:rPr>
              <a:t>错误上界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7. Occam’s Razor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7. </a:t>
            </a:r>
            <a:r>
              <a:rPr lang="zh-CN" altLang="en-US" dirty="0"/>
              <a:t>奥卡姆剃刀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38C9DA-30B6-4059-A65E-40506515117E}"/>
                  </a:ext>
                </a:extLst>
              </p:cNvPr>
              <p:cNvSpPr txBox="1"/>
              <p:nvPr/>
            </p:nvSpPr>
            <p:spPr>
              <a:xfrm>
                <a:off x="152400" y="1524000"/>
                <a:ext cx="8839200" cy="1183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Classification error  </a:t>
                </a:r>
                <a:r>
                  <a:rPr lang="zh-CN" altLang="en-US" sz="2200" dirty="0"/>
                  <a:t>分类错误 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acc>
                      <m:accPr>
                        <m:chr m:val="̿"/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</m:acc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func>
                              <m:func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f>
                                  <m:f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num>
                                  <m:den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den>
                                </m:f>
                              </m:e>
                            </m:func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+1)−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𝛿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rad>
                  </m:oMath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38C9DA-30B6-4059-A65E-4050651511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524000"/>
                <a:ext cx="8839200" cy="11835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5628C4FE-6798-4549-9A97-55C9F1F5324E}"/>
              </a:ext>
            </a:extLst>
          </p:cNvPr>
          <p:cNvSpPr txBox="1"/>
          <p:nvPr/>
        </p:nvSpPr>
        <p:spPr>
          <a:xfrm>
            <a:off x="152400" y="4038600"/>
            <a:ext cx="8839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Because we tolerate more exceptions</a:t>
            </a:r>
            <a:br>
              <a:rPr lang="en-US" altLang="zh-CN" sz="2200" dirty="0"/>
            </a:br>
            <a:r>
              <a:rPr lang="zh-CN" altLang="en-US" sz="2200" dirty="0"/>
              <a:t>因为我们能接受更多的例外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0756A78-69E8-4311-BD79-38CF187BF80D}"/>
                  </a:ext>
                </a:extLst>
              </p:cNvPr>
              <p:cNvSpPr txBox="1"/>
              <p:nvPr/>
            </p:nvSpPr>
            <p:spPr>
              <a:xfrm>
                <a:off x="304800" y="2735759"/>
                <a:ext cx="8839200" cy="7916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Higher tolerance of probability of unluckiness (higher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altLang="zh-CN" sz="2200" dirty="0"/>
                  <a:t>) </a:t>
                </a:r>
              </a:p>
              <a:p>
                <a:pPr algn="ctr"/>
                <a:r>
                  <a:rPr lang="zh-CN" altLang="en-US" sz="2200" dirty="0"/>
                  <a:t>更能接受运气不好的概率（更高的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200" dirty="0"/>
                  <a:t>）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0756A78-69E8-4311-BD79-38CF187BF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2735759"/>
                <a:ext cx="8839200" cy="791692"/>
              </a:xfrm>
              <a:prstGeom prst="rect">
                <a:avLst/>
              </a:prstGeom>
              <a:blipFill>
                <a:blip r:embed="rId6"/>
                <a:stretch>
                  <a:fillRect t="-6154" b="-10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ED38DC4-DE98-40EF-9072-5EA01DC3BEE1}"/>
                  </a:ext>
                </a:extLst>
              </p:cNvPr>
              <p:cNvSpPr txBox="1"/>
              <p:nvPr/>
            </p:nvSpPr>
            <p:spPr>
              <a:xfrm>
                <a:off x="228600" y="3527451"/>
                <a:ext cx="88392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Lower upper bound of error </a:t>
                </a:r>
                <a14:m>
                  <m:oMath xmlns:m="http://schemas.openxmlformats.org/officeDocument/2006/math">
                    <m:acc>
                      <m:accPr>
                        <m:chr m:val="̿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</m:acc>
                  </m:oMath>
                </a14:m>
                <a:r>
                  <a:rPr lang="en-US" altLang="zh-CN" sz="2200" dirty="0"/>
                  <a:t>  </a:t>
                </a:r>
                <a:r>
                  <a:rPr lang="zh-CN" altLang="en-US" sz="2200" dirty="0"/>
                  <a:t>更低的错误上界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ED38DC4-DE98-40EF-9072-5EA01DC3BE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3527451"/>
                <a:ext cx="8839200" cy="430887"/>
              </a:xfrm>
              <a:prstGeom prst="rect">
                <a:avLst/>
              </a:prstGeom>
              <a:blipFill>
                <a:blip r:embed="rId7"/>
                <a:stretch>
                  <a:fillRect t="-15714" b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picture containing chart&#10;&#10;Description automatically generated">
            <a:extLst>
              <a:ext uri="{FF2B5EF4-FFF2-40B4-BE49-F238E27FC236}">
                <a16:creationId xmlns:a16="http://schemas.microsoft.com/office/drawing/2014/main" id="{CC76A4D7-A220-8877-85D1-D2E9528E616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3274" y="4071950"/>
            <a:ext cx="3071126" cy="183657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CAABC11-BCD0-D2C3-6A8D-7908F3D293F0}"/>
              </a:ext>
            </a:extLst>
          </p:cNvPr>
          <p:cNvCxnSpPr>
            <a:cxnSpLocks/>
            <a:stCxn id="5" idx="0"/>
          </p:cNvCxnSpPr>
          <p:nvPr/>
        </p:nvCxnSpPr>
        <p:spPr bwMode="auto">
          <a:xfrm flipV="1">
            <a:off x="6998837" y="2133600"/>
            <a:ext cx="849763" cy="193835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411571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1" grpId="0"/>
      <p:bldP spid="1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Upper Bound of Error  </a:t>
            </a:r>
            <a:r>
              <a:rPr lang="zh-CN" altLang="en-US" dirty="0">
                <a:ea typeface="ＭＳ Ｐゴシック" panose="020B0600070205080204" pitchFamily="34" charset="-128"/>
              </a:rPr>
              <a:t>错误上界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7. Occam’s Razor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7. </a:t>
            </a:r>
            <a:r>
              <a:rPr lang="zh-CN" altLang="en-US" dirty="0"/>
              <a:t>奥卡姆剃刀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38C9DA-30B6-4059-A65E-40506515117E}"/>
                  </a:ext>
                </a:extLst>
              </p:cNvPr>
              <p:cNvSpPr txBox="1"/>
              <p:nvPr/>
            </p:nvSpPr>
            <p:spPr>
              <a:xfrm>
                <a:off x="152400" y="1524000"/>
                <a:ext cx="8839200" cy="1183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Classification error  </a:t>
                </a:r>
                <a:r>
                  <a:rPr lang="zh-CN" altLang="en-US" sz="2200" dirty="0"/>
                  <a:t>分类错误 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acc>
                      <m:accPr>
                        <m:chr m:val="̿"/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</m:acc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func>
                              <m:func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f>
                                  <m:f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num>
                                  <m:den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den>
                                </m:f>
                              </m:e>
                            </m:func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+1)−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𝛿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rad>
                  </m:oMath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38C9DA-30B6-4059-A65E-4050651511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524000"/>
                <a:ext cx="8839200" cy="11835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5628C4FE-6798-4549-9A97-55C9F1F5324E}"/>
              </a:ext>
            </a:extLst>
          </p:cNvPr>
          <p:cNvSpPr txBox="1"/>
          <p:nvPr/>
        </p:nvSpPr>
        <p:spPr>
          <a:xfrm>
            <a:off x="990600" y="3973922"/>
            <a:ext cx="7162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Because we have seen &amp; adapted to more data, less likely we encounter unexpected cases in the future </a:t>
            </a:r>
            <a:br>
              <a:rPr lang="en-US" altLang="zh-CN" sz="2200" dirty="0"/>
            </a:br>
            <a:r>
              <a:rPr lang="zh-CN" altLang="en-US" sz="2200" dirty="0"/>
              <a:t>因为我们已经看到并适应于更多的数据，将来遇到意外的情况的可能性就越小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0756A78-69E8-4311-BD79-38CF187BF80D}"/>
                  </a:ext>
                </a:extLst>
              </p:cNvPr>
              <p:cNvSpPr txBox="1"/>
              <p:nvPr/>
            </p:nvSpPr>
            <p:spPr>
              <a:xfrm>
                <a:off x="304800" y="2735759"/>
                <a:ext cx="8839200" cy="7916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More number of training samples (larger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sz="2200" dirty="0"/>
                  <a:t>) </a:t>
                </a:r>
              </a:p>
              <a:p>
                <a:pPr algn="ctr"/>
                <a:r>
                  <a:rPr lang="zh-CN" altLang="en-US" sz="2200" dirty="0"/>
                  <a:t>更多的训练数据（更大的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200" dirty="0"/>
                  <a:t>）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0756A78-69E8-4311-BD79-38CF187BF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2735759"/>
                <a:ext cx="8839200" cy="791692"/>
              </a:xfrm>
              <a:prstGeom prst="rect">
                <a:avLst/>
              </a:prstGeom>
              <a:blipFill>
                <a:blip r:embed="rId6"/>
                <a:stretch>
                  <a:fillRect t="-6154" b="-10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ED38DC4-DE98-40EF-9072-5EA01DC3BEE1}"/>
                  </a:ext>
                </a:extLst>
              </p:cNvPr>
              <p:cNvSpPr txBox="1"/>
              <p:nvPr/>
            </p:nvSpPr>
            <p:spPr>
              <a:xfrm>
                <a:off x="228600" y="3527451"/>
                <a:ext cx="88392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Lower upper bound of error </a:t>
                </a:r>
                <a14:m>
                  <m:oMath xmlns:m="http://schemas.openxmlformats.org/officeDocument/2006/math">
                    <m:acc>
                      <m:accPr>
                        <m:chr m:val="̿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</m:acc>
                  </m:oMath>
                </a14:m>
                <a:r>
                  <a:rPr lang="en-US" altLang="zh-CN" sz="2200" dirty="0"/>
                  <a:t>  </a:t>
                </a:r>
                <a:r>
                  <a:rPr lang="zh-CN" altLang="en-US" sz="2200" dirty="0"/>
                  <a:t>更低的错误上界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ED38DC4-DE98-40EF-9072-5EA01DC3BE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3527451"/>
                <a:ext cx="8839200" cy="430887"/>
              </a:xfrm>
              <a:prstGeom prst="rect">
                <a:avLst/>
              </a:prstGeom>
              <a:blipFill>
                <a:blip r:embed="rId7"/>
                <a:stretch>
                  <a:fillRect t="-15714" b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A picture containing chart&#10;&#10;Description automatically generated">
            <a:extLst>
              <a:ext uri="{FF2B5EF4-FFF2-40B4-BE49-F238E27FC236}">
                <a16:creationId xmlns:a16="http://schemas.microsoft.com/office/drawing/2014/main" id="{DE0199D3-38C3-E9ED-2377-611454E95EE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3274" y="4071950"/>
            <a:ext cx="3071126" cy="1836579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EAE3903-79A3-7462-A5FD-703D9A20C306}"/>
              </a:ext>
            </a:extLst>
          </p:cNvPr>
          <p:cNvCxnSpPr>
            <a:cxnSpLocks/>
            <a:stCxn id="3" idx="0"/>
          </p:cNvCxnSpPr>
          <p:nvPr/>
        </p:nvCxnSpPr>
        <p:spPr bwMode="auto">
          <a:xfrm flipH="1" flipV="1">
            <a:off x="6705600" y="2133600"/>
            <a:ext cx="293237" cy="193835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2199253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Upper Bound of Error  </a:t>
            </a:r>
            <a:r>
              <a:rPr lang="zh-CN" altLang="en-US" dirty="0">
                <a:ea typeface="ＭＳ Ｐゴシック" panose="020B0600070205080204" pitchFamily="34" charset="-128"/>
              </a:rPr>
              <a:t>错误上界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7. Occam’s Razor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7. </a:t>
            </a:r>
            <a:r>
              <a:rPr lang="zh-CN" altLang="en-US" dirty="0"/>
              <a:t>奥卡姆剃刀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38C9DA-30B6-4059-A65E-40506515117E}"/>
                  </a:ext>
                </a:extLst>
              </p:cNvPr>
              <p:cNvSpPr txBox="1"/>
              <p:nvPr/>
            </p:nvSpPr>
            <p:spPr>
              <a:xfrm>
                <a:off x="152400" y="1524000"/>
                <a:ext cx="8839200" cy="1183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Classification error  </a:t>
                </a:r>
                <a:r>
                  <a:rPr lang="zh-CN" altLang="en-US" sz="2200" dirty="0"/>
                  <a:t>分类错误 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acc>
                      <m:accPr>
                        <m:chr m:val="̿"/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</m:acc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func>
                              <m:func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f>
                                  <m:f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num>
                                  <m:den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den>
                                </m:f>
                              </m:e>
                            </m:func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+1)−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𝛿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rad>
                  </m:oMath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38C9DA-30B6-4059-A65E-4050651511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524000"/>
                <a:ext cx="8839200" cy="11835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5628C4FE-6798-4549-9A97-55C9F1F5324E}"/>
              </a:ext>
            </a:extLst>
          </p:cNvPr>
          <p:cNvSpPr txBox="1"/>
          <p:nvPr/>
        </p:nvSpPr>
        <p:spPr>
          <a:xfrm>
            <a:off x="990600" y="3973922"/>
            <a:ext cx="7162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Occam’s Razor in machine learning (proved in math)</a:t>
            </a:r>
            <a:br>
              <a:rPr lang="en-US" altLang="zh-CN" sz="2200" dirty="0"/>
            </a:br>
            <a:r>
              <a:rPr lang="zh-CN" altLang="en-US" sz="2200" dirty="0"/>
              <a:t>（被数学证明的）机器学习中的奥卡姆剃刀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0756A78-69E8-4311-BD79-38CF187BF80D}"/>
                  </a:ext>
                </a:extLst>
              </p:cNvPr>
              <p:cNvSpPr txBox="1"/>
              <p:nvPr/>
            </p:nvSpPr>
            <p:spPr>
              <a:xfrm>
                <a:off x="457200" y="2735759"/>
                <a:ext cx="8229600" cy="7916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Weaker classification capability of the candidate classifier set (smaller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zh-CN" sz="2200" dirty="0"/>
                  <a:t>)  </a:t>
                </a:r>
                <a:r>
                  <a:rPr lang="zh-CN" altLang="en-US" sz="2200" dirty="0"/>
                  <a:t>候选分类器集合的分类能力更低（更小的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200" dirty="0"/>
                  <a:t>）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0756A78-69E8-4311-BD79-38CF187BF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735759"/>
                <a:ext cx="8229600" cy="791692"/>
              </a:xfrm>
              <a:prstGeom prst="rect">
                <a:avLst/>
              </a:prstGeom>
              <a:blipFill>
                <a:blip r:embed="rId6"/>
                <a:stretch>
                  <a:fillRect t="-6154" b="-13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ED38DC4-DE98-40EF-9072-5EA01DC3BEE1}"/>
                  </a:ext>
                </a:extLst>
              </p:cNvPr>
              <p:cNvSpPr txBox="1"/>
              <p:nvPr/>
            </p:nvSpPr>
            <p:spPr>
              <a:xfrm>
                <a:off x="228600" y="3527451"/>
                <a:ext cx="88392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Lower upper bound of error </a:t>
                </a:r>
                <a14:m>
                  <m:oMath xmlns:m="http://schemas.openxmlformats.org/officeDocument/2006/math">
                    <m:acc>
                      <m:accPr>
                        <m:chr m:val="̿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</m:acc>
                  </m:oMath>
                </a14:m>
                <a:r>
                  <a:rPr lang="en-US" altLang="zh-CN" sz="2200" dirty="0"/>
                  <a:t>  </a:t>
                </a:r>
                <a:r>
                  <a:rPr lang="zh-CN" altLang="en-US" sz="2200" dirty="0"/>
                  <a:t>更低的错误上界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ED38DC4-DE98-40EF-9072-5EA01DC3BE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3527451"/>
                <a:ext cx="8839200" cy="430887"/>
              </a:xfrm>
              <a:prstGeom prst="rect">
                <a:avLst/>
              </a:prstGeom>
              <a:blipFill>
                <a:blip r:embed="rId7"/>
                <a:stretch>
                  <a:fillRect t="-15714" b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C16CB0E-4C75-4C58-8C0D-70F4AEC0A3DE}"/>
              </a:ext>
            </a:extLst>
          </p:cNvPr>
          <p:cNvSpPr txBox="1"/>
          <p:nvPr/>
        </p:nvSpPr>
        <p:spPr>
          <a:xfrm>
            <a:off x="381000" y="4778260"/>
            <a:ext cx="8534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We are not going through the proof or the exact definition of VC dimension (classification capability), but will provide an intuitive explanation  </a:t>
            </a:r>
            <a:r>
              <a:rPr lang="zh-CN" altLang="en-US" sz="2200" dirty="0"/>
              <a:t>我们不会讲这个证明或</a:t>
            </a:r>
            <a:r>
              <a:rPr lang="en-US" altLang="zh-CN" sz="2200" dirty="0"/>
              <a:t>VC</a:t>
            </a:r>
            <a:r>
              <a:rPr lang="zh-CN" altLang="en-US" sz="2200" dirty="0"/>
              <a:t>维（分类能力）的准确定义，但会给出一个直观的解释</a:t>
            </a:r>
          </a:p>
        </p:txBody>
      </p:sp>
      <p:pic>
        <p:nvPicPr>
          <p:cNvPr id="3" name="Picture 2" descr="A picture containing chart&#10;&#10;Description automatically generated">
            <a:extLst>
              <a:ext uri="{FF2B5EF4-FFF2-40B4-BE49-F238E27FC236}">
                <a16:creationId xmlns:a16="http://schemas.microsoft.com/office/drawing/2014/main" id="{70AA8A94-32CF-8A25-2567-4CA8AF3C894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3274" y="4071950"/>
            <a:ext cx="3071126" cy="1836579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6668DF4-5DB5-56BF-F8DC-72106E92B86C}"/>
              </a:ext>
            </a:extLst>
          </p:cNvPr>
          <p:cNvCxnSpPr>
            <a:cxnSpLocks/>
            <a:stCxn id="3" idx="0"/>
          </p:cNvCxnSpPr>
          <p:nvPr/>
        </p:nvCxnSpPr>
        <p:spPr bwMode="auto">
          <a:xfrm flipH="1" flipV="1">
            <a:off x="6705600" y="2133600"/>
            <a:ext cx="293237" cy="193835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2758185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Classification Capability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分类能力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8077200" cy="48006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zh-CN" dirty="0"/>
              <a:t>Candidate Classifier Set </a:t>
            </a:r>
            <a:br>
              <a:rPr lang="en-US" altLang="zh-CN" dirty="0"/>
            </a:br>
            <a:r>
              <a:rPr lang="zh-CN" altLang="en-US" dirty="0"/>
              <a:t>候选分类器集合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Contain many candidate classifiers </a:t>
            </a:r>
            <a:br>
              <a:rPr lang="en-US" altLang="zh-CN" dirty="0"/>
            </a:br>
            <a:r>
              <a:rPr lang="zh-CN" altLang="en-US" dirty="0"/>
              <a:t>包含了很多候选分类器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en-US" altLang="zh-CN" dirty="0"/>
              <a:t>Its Capability </a:t>
            </a:r>
            <a:r>
              <a:rPr lang="zh-CN" altLang="en-US" dirty="0"/>
              <a:t>它的能力</a:t>
            </a:r>
            <a:r>
              <a:rPr lang="en-US" altLang="zh-CN" dirty="0"/>
              <a:t> 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If we can </a:t>
            </a:r>
            <a:r>
              <a:rPr lang="en-US" altLang="zh-CN" dirty="0">
                <a:solidFill>
                  <a:srgbClr val="FF0000"/>
                </a:solidFill>
              </a:rPr>
              <a:t>always</a:t>
            </a:r>
            <a:r>
              <a:rPr lang="en-US" altLang="zh-CN" dirty="0"/>
              <a:t> handle </a:t>
            </a:r>
            <a:r>
              <a:rPr lang="en-US" altLang="zh-CN" dirty="0">
                <a:solidFill>
                  <a:srgbClr val="FF0000"/>
                </a:solidFill>
              </a:rPr>
              <a:t>different complex classification problems</a:t>
            </a:r>
            <a:r>
              <a:rPr lang="en-US" altLang="zh-CN" dirty="0"/>
              <a:t> w/ </a:t>
            </a:r>
            <a:r>
              <a:rPr lang="en-US" altLang="zh-CN" dirty="0">
                <a:solidFill>
                  <a:srgbClr val="FF0000"/>
                </a:solidFill>
              </a:rPr>
              <a:t>right candidate classifiers</a:t>
            </a:r>
            <a:r>
              <a:rPr lang="en-US" altLang="zh-CN" dirty="0"/>
              <a:t> from the set  </a:t>
            </a:r>
            <a:br>
              <a:rPr lang="en-US" altLang="zh-CN" dirty="0"/>
            </a:br>
            <a:r>
              <a:rPr lang="zh-CN" altLang="en-US" dirty="0"/>
              <a:t>如果我们</a:t>
            </a:r>
            <a:r>
              <a:rPr lang="zh-CN" altLang="en-US" dirty="0">
                <a:solidFill>
                  <a:srgbClr val="FF0000"/>
                </a:solidFill>
              </a:rPr>
              <a:t>总是</a:t>
            </a:r>
            <a:r>
              <a:rPr lang="zh-CN" altLang="en-US" dirty="0"/>
              <a:t>能用该集合中</a:t>
            </a:r>
            <a:r>
              <a:rPr lang="zh-CN" altLang="en-US" dirty="0">
                <a:solidFill>
                  <a:srgbClr val="FF0000"/>
                </a:solidFill>
              </a:rPr>
              <a:t>合适的候选分类器</a:t>
            </a:r>
            <a:r>
              <a:rPr lang="zh-CN" altLang="en-US" dirty="0"/>
              <a:t>来处理各种</a:t>
            </a:r>
            <a:r>
              <a:rPr lang="zh-CN" altLang="en-US" dirty="0">
                <a:solidFill>
                  <a:srgbClr val="FF0000"/>
                </a:solidFill>
              </a:rPr>
              <a:t>复杂的分类问题</a:t>
            </a:r>
            <a:r>
              <a:rPr lang="en-US" altLang="zh-CN" dirty="0">
                <a:solidFill>
                  <a:srgbClr val="FF0000"/>
                </a:solidFill>
              </a:rPr>
              <a:t>  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Then its capability is strong &amp; vice versa </a:t>
            </a:r>
            <a:br>
              <a:rPr lang="en-US" altLang="zh-CN" dirty="0"/>
            </a:br>
            <a:r>
              <a:rPr lang="zh-CN" altLang="en-US" dirty="0"/>
              <a:t>那么它的能力就很强，反之则弱</a:t>
            </a:r>
            <a:endParaRPr lang="en-US" altLang="zh-CN" dirty="0"/>
          </a:p>
          <a:p>
            <a:pPr lvl="1">
              <a:lnSpc>
                <a:spcPct val="90000"/>
              </a:lnSpc>
            </a:pP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7. Occam’s Razor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7. </a:t>
            </a:r>
            <a:r>
              <a:rPr lang="zh-CN" altLang="en-US" dirty="0"/>
              <a:t>奥卡姆剃刀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21419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VC Dimension  VC</a:t>
            </a:r>
            <a:r>
              <a:rPr lang="zh-CN" altLang="en-US" dirty="0">
                <a:ea typeface="ＭＳ Ｐゴシック" panose="020B0600070205080204" pitchFamily="34" charset="-128"/>
              </a:rPr>
              <a:t>维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A0F165-8941-4D6C-BAE4-F52C9F12FF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600200"/>
                <a:ext cx="8077200" cy="48006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zh-CN" dirty="0"/>
                  <a:t>Nearest Neighbor  </a:t>
                </a:r>
                <a:r>
                  <a:rPr lang="zh-CN" altLang="en-US" dirty="0"/>
                  <a:t>最近邻</a:t>
                </a:r>
                <a:r>
                  <a:rPr lang="en-US" altLang="zh-CN" dirty="0"/>
                  <a:t> 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altLang="zh-CN" b="0" dirty="0"/>
                  <a:t>Super strong capability  </a:t>
                </a:r>
                <a:r>
                  <a:rPr lang="zh-CN" altLang="en-US" b="0" dirty="0"/>
                  <a:t>能力超强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endParaRPr lang="en-US" altLang="zh-CN" dirty="0"/>
              </a:p>
              <a:p>
                <a:pPr lvl="2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acc>
                      <m:accPr>
                        <m:chr m:val="̿"/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</m:acc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=∞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100%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: a large upper bound is meaningless  </a:t>
                </a:r>
                <a:r>
                  <a:rPr lang="zh-CN" altLang="en-US" dirty="0"/>
                  <a:t>一个大的上界没有意义</a:t>
                </a:r>
                <a:endParaRPr lang="en-US" altLang="zh-CN" dirty="0"/>
              </a:p>
              <a:p>
                <a:pPr>
                  <a:lnSpc>
                    <a:spcPct val="90000"/>
                  </a:lnSpc>
                </a:pPr>
                <a:r>
                  <a:rPr lang="en-US" altLang="zh-CN" dirty="0"/>
                  <a:t>Linear Classifier w/o Margins  </a:t>
                </a:r>
                <a:br>
                  <a:rPr lang="en-US" altLang="zh-CN" dirty="0"/>
                </a:br>
                <a:r>
                  <a:rPr lang="zh-CN" altLang="en-US" dirty="0"/>
                  <a:t>无间距的线性分类器</a:t>
                </a:r>
                <a:endParaRPr lang="en-US" altLang="zh-CN" dirty="0"/>
              </a:p>
              <a:p>
                <a:pPr lvl="1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-dimensional hyperplane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维超平面 </a:t>
                </a:r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altLang="zh-CN" dirty="0"/>
              </a:p>
              <a:p>
                <a:pPr lvl="2">
                  <a:lnSpc>
                    <a:spcPct val="90000"/>
                  </a:lnSpc>
                </a:pPr>
                <a:r>
                  <a:rPr lang="en-US" altLang="zh-CN" dirty="0"/>
                  <a:t>More attributes, higher </a:t>
                </a:r>
                <a14:m>
                  <m:oMath xmlns:m="http://schemas.openxmlformats.org/officeDocument/2006/math">
                    <m:acc>
                      <m:accPr>
                        <m:chr m:val="̿"/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</m:acc>
                  </m:oMath>
                </a14:m>
                <a:r>
                  <a:rPr lang="en-US" altLang="zh-CN" dirty="0"/>
                  <a:t>  </a:t>
                </a:r>
                <a:r>
                  <a:rPr lang="zh-CN" altLang="en-US" dirty="0"/>
                  <a:t>属性越多，</a:t>
                </a:r>
                <a14:m>
                  <m:oMath xmlns:m="http://schemas.openxmlformats.org/officeDocument/2006/math">
                    <m:acc>
                      <m:accPr>
                        <m:chr m:val="̿"/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</m:acc>
                  </m:oMath>
                </a14:m>
                <a:r>
                  <a:rPr lang="zh-CN" altLang="en-US" dirty="0"/>
                  <a:t>越高</a:t>
                </a:r>
                <a:endParaRPr lang="en-US" altLang="zh-CN" dirty="0"/>
              </a:p>
              <a:p>
                <a:pPr>
                  <a:lnSpc>
                    <a:spcPct val="90000"/>
                  </a:lnSpc>
                </a:pPr>
                <a:r>
                  <a:rPr lang="en-US" altLang="zh-CN" dirty="0"/>
                  <a:t>How Can Margin Help? </a:t>
                </a:r>
                <a:r>
                  <a:rPr lang="zh-CN" altLang="en-US" dirty="0"/>
                  <a:t>间距有什么用？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A0F165-8941-4D6C-BAE4-F52C9F12FF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600200"/>
                <a:ext cx="8077200" cy="4800600"/>
              </a:xfrm>
              <a:blipFill>
                <a:blip r:embed="rId3"/>
                <a:stretch>
                  <a:fillRect l="-528" t="-3304" r="-11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7. Occam’s Razor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7. </a:t>
            </a:r>
            <a:r>
              <a:rPr lang="zh-CN" altLang="en-US" dirty="0"/>
              <a:t>奥卡姆剃刀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45125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Margin &amp; VC Dimension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间距和</a:t>
            </a:r>
            <a:r>
              <a:rPr lang="en-US" altLang="zh-CN" dirty="0">
                <a:ea typeface="ＭＳ Ｐゴシック" panose="020B0600070205080204" pitchFamily="34" charset="-128"/>
              </a:rPr>
              <a:t>VC</a:t>
            </a:r>
            <a:r>
              <a:rPr lang="zh-CN" altLang="en-US" dirty="0">
                <a:ea typeface="ＭＳ Ｐゴシック" panose="020B0600070205080204" pitchFamily="34" charset="-128"/>
              </a:rPr>
              <a:t>维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7. Occam’s Razor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7. </a:t>
            </a:r>
            <a:r>
              <a:rPr lang="zh-CN" altLang="en-US" dirty="0"/>
              <a:t>奥卡姆剃刀</a:t>
            </a:r>
            <a:endParaRPr lang="en-US" altLang="zh-CN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53FDF1A-867B-4172-9801-3F796A481DE3}"/>
              </a:ext>
            </a:extLst>
          </p:cNvPr>
          <p:cNvGrpSpPr/>
          <p:nvPr/>
        </p:nvGrpSpPr>
        <p:grpSpPr>
          <a:xfrm>
            <a:off x="1905000" y="3429000"/>
            <a:ext cx="6256020" cy="1006429"/>
            <a:chOff x="1905000" y="3429000"/>
            <a:chExt cx="6256020" cy="1006429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0368463-BD47-4799-8356-E5457A3A5B30}"/>
                </a:ext>
              </a:extLst>
            </p:cNvPr>
            <p:cNvCxnSpPr/>
            <p:nvPr/>
          </p:nvCxnSpPr>
          <p:spPr bwMode="auto">
            <a:xfrm>
              <a:off x="1905000" y="3886200"/>
              <a:ext cx="52578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15C39BD-1EC1-432C-8E44-3DF9C44D1590}"/>
                </a:ext>
              </a:extLst>
            </p:cNvPr>
            <p:cNvSpPr/>
            <p:nvPr/>
          </p:nvSpPr>
          <p:spPr>
            <a:xfrm>
              <a:off x="6256022" y="3429000"/>
              <a:ext cx="1904998" cy="10064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1</a:t>
              </a:r>
            </a:p>
            <a:p>
              <a:pPr marL="0" lvl="1" algn="ctr" eaLnBrk="1" hangingPunct="1">
                <a:lnSpc>
                  <a:spcPct val="90000"/>
                </a:lnSpc>
              </a:pPr>
              <a:endParaRPr lang="en-US" altLang="ja-JP" sz="2200" dirty="0">
                <a:ea typeface="ＭＳ Ｐゴシック" panose="020B0600070205080204" pitchFamily="34" charset="-128"/>
              </a:endParaRP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1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7100069-E1E0-491E-B248-81EC87F98ED3}"/>
              </a:ext>
            </a:extLst>
          </p:cNvPr>
          <p:cNvGrpSpPr/>
          <p:nvPr/>
        </p:nvGrpSpPr>
        <p:grpSpPr>
          <a:xfrm>
            <a:off x="2819400" y="1524000"/>
            <a:ext cx="2697478" cy="4495800"/>
            <a:chOff x="2819400" y="1524000"/>
            <a:chExt cx="2697478" cy="4495800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30AFF1F-1AB6-465B-9BFE-C122E49A191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556760" y="1524000"/>
              <a:ext cx="0" cy="44958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F4C961A-66AA-459F-88B6-E38796145CE9}"/>
                </a:ext>
              </a:extLst>
            </p:cNvPr>
            <p:cNvSpPr/>
            <p:nvPr/>
          </p:nvSpPr>
          <p:spPr>
            <a:xfrm>
              <a:off x="2819400" y="1584192"/>
              <a:ext cx="2697478" cy="3970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2 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2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3D87120-7EED-4BE8-B384-8B95C6DCB43B}"/>
              </a:ext>
            </a:extLst>
          </p:cNvPr>
          <p:cNvGrpSpPr/>
          <p:nvPr/>
        </p:nvGrpSpPr>
        <p:grpSpPr>
          <a:xfrm>
            <a:off x="3147060" y="2454408"/>
            <a:ext cx="2819400" cy="2819400"/>
            <a:chOff x="2514600" y="2362200"/>
            <a:chExt cx="2819400" cy="2819400"/>
          </a:xfrm>
        </p:grpSpPr>
        <p:sp>
          <p:nvSpPr>
            <p:cNvPr id="65" name="Oval 3">
              <a:extLst>
                <a:ext uri="{FF2B5EF4-FFF2-40B4-BE49-F238E27FC236}">
                  <a16:creationId xmlns:a16="http://schemas.microsoft.com/office/drawing/2014/main" id="{ACAD7D70-029C-4B52-A28E-C100C2EC37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7855" y="2945410"/>
              <a:ext cx="14605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6" name="Oval 46">
              <a:extLst>
                <a:ext uri="{FF2B5EF4-FFF2-40B4-BE49-F238E27FC236}">
                  <a16:creationId xmlns:a16="http://schemas.microsoft.com/office/drawing/2014/main" id="{8C6C1536-6B27-429E-9330-C3BDE3EBF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5114" y="4229034"/>
              <a:ext cx="14605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7" name="Oval 46">
              <a:extLst>
                <a:ext uri="{FF2B5EF4-FFF2-40B4-BE49-F238E27FC236}">
                  <a16:creationId xmlns:a16="http://schemas.microsoft.com/office/drawing/2014/main" id="{500E6A0F-9663-4D20-8F17-FDC67C069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00" y="2895600"/>
              <a:ext cx="14605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8" name="Oval 46">
              <a:extLst>
                <a:ext uri="{FF2B5EF4-FFF2-40B4-BE49-F238E27FC236}">
                  <a16:creationId xmlns:a16="http://schemas.microsoft.com/office/drawing/2014/main" id="{44724A3A-7B69-42A3-9311-CA99D0CDF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7950" y="4267200"/>
              <a:ext cx="14605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9" name="Oval 3">
              <a:extLst>
                <a:ext uri="{FF2B5EF4-FFF2-40B4-BE49-F238E27FC236}">
                  <a16:creationId xmlns:a16="http://schemas.microsoft.com/office/drawing/2014/main" id="{43A057D9-7FA1-46EA-ADE8-A9B58B2AF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3429000"/>
              <a:ext cx="14605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0" name="Oval 3">
              <a:extLst>
                <a:ext uri="{FF2B5EF4-FFF2-40B4-BE49-F238E27FC236}">
                  <a16:creationId xmlns:a16="http://schemas.microsoft.com/office/drawing/2014/main" id="{254ED41A-26B2-4260-A3E7-A33208838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1950" y="4267200"/>
              <a:ext cx="14605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1" name="Oval 3">
              <a:extLst>
                <a:ext uri="{FF2B5EF4-FFF2-40B4-BE49-F238E27FC236}">
                  <a16:creationId xmlns:a16="http://schemas.microsoft.com/office/drawing/2014/main" id="{63729696-0DB6-4D1F-9436-0DBA2C7A47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7150" y="2362200"/>
              <a:ext cx="14605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2" name="Oval 46">
              <a:extLst>
                <a:ext uri="{FF2B5EF4-FFF2-40B4-BE49-F238E27FC236}">
                  <a16:creationId xmlns:a16="http://schemas.microsoft.com/office/drawing/2014/main" id="{AB11E4FA-81D2-4A8F-977E-9EFE0F6DF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800" y="5029200"/>
              <a:ext cx="14605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F0103A61-1005-4DFC-8003-F95730F16EAA}"/>
              </a:ext>
            </a:extLst>
          </p:cNvPr>
          <p:cNvSpPr txBox="1"/>
          <p:nvPr/>
        </p:nvSpPr>
        <p:spPr>
          <a:xfrm>
            <a:off x="302907" y="1938040"/>
            <a:ext cx="23431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Given some data</a:t>
            </a:r>
          </a:p>
          <a:p>
            <a:pPr algn="ctr"/>
            <a:r>
              <a:rPr lang="zh-CN" altLang="en-US" sz="2200" dirty="0"/>
              <a:t>给定一些数据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DA26C78-8761-4390-AC38-A571DC6507C6}"/>
              </a:ext>
            </a:extLst>
          </p:cNvPr>
          <p:cNvCxnSpPr>
            <a:cxnSpLocks/>
          </p:cNvCxnSpPr>
          <p:nvPr/>
        </p:nvCxnSpPr>
        <p:spPr bwMode="auto">
          <a:xfrm flipV="1">
            <a:off x="2887979" y="3037618"/>
            <a:ext cx="3368043" cy="121357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2963AF6-C784-4F72-98DA-84AEFFDAC495}"/>
              </a:ext>
            </a:extLst>
          </p:cNvPr>
          <p:cNvCxnSpPr>
            <a:cxnSpLocks/>
          </p:cNvCxnSpPr>
          <p:nvPr/>
        </p:nvCxnSpPr>
        <p:spPr bwMode="auto">
          <a:xfrm flipV="1">
            <a:off x="4168139" y="3113818"/>
            <a:ext cx="2225048" cy="278411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F274BB7-9ABE-4819-9FB9-E05670CA2D8C}"/>
              </a:ext>
            </a:extLst>
          </p:cNvPr>
          <p:cNvCxnSpPr>
            <a:cxnSpLocks/>
          </p:cNvCxnSpPr>
          <p:nvPr/>
        </p:nvCxnSpPr>
        <p:spPr bwMode="auto">
          <a:xfrm flipV="1">
            <a:off x="4028447" y="2041392"/>
            <a:ext cx="561337" cy="397840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657FDCB-4DF8-4447-8CB0-776B2CBDEDF0}"/>
              </a:ext>
            </a:extLst>
          </p:cNvPr>
          <p:cNvCxnSpPr>
            <a:cxnSpLocks/>
          </p:cNvCxnSpPr>
          <p:nvPr/>
        </p:nvCxnSpPr>
        <p:spPr bwMode="auto">
          <a:xfrm>
            <a:off x="2514604" y="4521774"/>
            <a:ext cx="3589021" cy="153762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E9C61DF-FB36-47AA-8FA0-4B95ADE7F268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4671702" y="1938040"/>
            <a:ext cx="479415" cy="42341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8E6DE00-F295-4C5E-94D0-6F9E61E8EE06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286000" y="3374254"/>
            <a:ext cx="4474216" cy="157416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086ED6F-086A-4EDD-B6D0-77147C278DE3}"/>
              </a:ext>
            </a:extLst>
          </p:cNvPr>
          <p:cNvCxnSpPr>
            <a:cxnSpLocks/>
          </p:cNvCxnSpPr>
          <p:nvPr/>
        </p:nvCxnSpPr>
        <p:spPr bwMode="auto">
          <a:xfrm flipH="1">
            <a:off x="2514604" y="4136434"/>
            <a:ext cx="4385304" cy="68281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E6CBBA7-967A-48B3-8CCE-000B995E450A}"/>
              </a:ext>
            </a:extLst>
          </p:cNvPr>
          <p:cNvCxnSpPr>
            <a:cxnSpLocks/>
          </p:cNvCxnSpPr>
          <p:nvPr/>
        </p:nvCxnSpPr>
        <p:spPr bwMode="auto">
          <a:xfrm flipV="1">
            <a:off x="3431532" y="2029332"/>
            <a:ext cx="13336" cy="376186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E59D9126-D612-49A8-9AEA-4D0A569C0F6C}"/>
              </a:ext>
            </a:extLst>
          </p:cNvPr>
          <p:cNvSpPr txBox="1"/>
          <p:nvPr/>
        </p:nvSpPr>
        <p:spPr>
          <a:xfrm>
            <a:off x="95902" y="4809247"/>
            <a:ext cx="31756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Any line is a candidate w/o margins</a:t>
            </a:r>
          </a:p>
          <a:p>
            <a:pPr algn="ctr"/>
            <a:r>
              <a:rPr lang="zh-CN" altLang="en-US" sz="2200" dirty="0"/>
              <a:t>不考虑间距，每条线都是一个候选分类器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6070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60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0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5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Margin &amp; VC Dimension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间距和</a:t>
            </a:r>
            <a:r>
              <a:rPr lang="en-US" altLang="zh-CN" dirty="0">
                <a:ea typeface="ＭＳ Ｐゴシック" panose="020B0600070205080204" pitchFamily="34" charset="-128"/>
              </a:rPr>
              <a:t>VC</a:t>
            </a:r>
            <a:r>
              <a:rPr lang="zh-CN" altLang="en-US" dirty="0">
                <a:ea typeface="ＭＳ Ｐゴシック" panose="020B0600070205080204" pitchFamily="34" charset="-128"/>
              </a:rPr>
              <a:t>维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7. Occam’s Razor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7. </a:t>
            </a:r>
            <a:r>
              <a:rPr lang="zh-CN" altLang="en-US" dirty="0"/>
              <a:t>奥卡姆剃刀</a:t>
            </a:r>
            <a:endParaRPr lang="en-US" altLang="zh-CN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53FDF1A-867B-4172-9801-3F796A481DE3}"/>
              </a:ext>
            </a:extLst>
          </p:cNvPr>
          <p:cNvGrpSpPr/>
          <p:nvPr/>
        </p:nvGrpSpPr>
        <p:grpSpPr>
          <a:xfrm>
            <a:off x="1905000" y="3429000"/>
            <a:ext cx="6256020" cy="1006429"/>
            <a:chOff x="1905000" y="3429000"/>
            <a:chExt cx="6256020" cy="1006429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0368463-BD47-4799-8356-E5457A3A5B30}"/>
                </a:ext>
              </a:extLst>
            </p:cNvPr>
            <p:cNvCxnSpPr/>
            <p:nvPr/>
          </p:nvCxnSpPr>
          <p:spPr bwMode="auto">
            <a:xfrm>
              <a:off x="1905000" y="3886200"/>
              <a:ext cx="52578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15C39BD-1EC1-432C-8E44-3DF9C44D1590}"/>
                </a:ext>
              </a:extLst>
            </p:cNvPr>
            <p:cNvSpPr/>
            <p:nvPr/>
          </p:nvSpPr>
          <p:spPr>
            <a:xfrm>
              <a:off x="6256022" y="3429000"/>
              <a:ext cx="1904998" cy="10064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1</a:t>
              </a:r>
            </a:p>
            <a:p>
              <a:pPr marL="0" lvl="1" algn="ctr" eaLnBrk="1" hangingPunct="1">
                <a:lnSpc>
                  <a:spcPct val="90000"/>
                </a:lnSpc>
              </a:pPr>
              <a:endParaRPr lang="en-US" altLang="ja-JP" sz="2200" dirty="0">
                <a:ea typeface="ＭＳ Ｐゴシック" panose="020B0600070205080204" pitchFamily="34" charset="-128"/>
              </a:endParaRP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1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7100069-E1E0-491E-B248-81EC87F98ED3}"/>
              </a:ext>
            </a:extLst>
          </p:cNvPr>
          <p:cNvGrpSpPr/>
          <p:nvPr/>
        </p:nvGrpSpPr>
        <p:grpSpPr>
          <a:xfrm>
            <a:off x="2819400" y="1524000"/>
            <a:ext cx="2697478" cy="4495800"/>
            <a:chOff x="2819400" y="1524000"/>
            <a:chExt cx="2697478" cy="4495800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30AFF1F-1AB6-465B-9BFE-C122E49A191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556760" y="1524000"/>
              <a:ext cx="0" cy="44958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F4C961A-66AA-459F-88B6-E38796145CE9}"/>
                </a:ext>
              </a:extLst>
            </p:cNvPr>
            <p:cNvSpPr/>
            <p:nvPr/>
          </p:nvSpPr>
          <p:spPr>
            <a:xfrm>
              <a:off x="2819400" y="1584192"/>
              <a:ext cx="2697478" cy="3970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2 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2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3D87120-7EED-4BE8-B384-8B95C6DCB43B}"/>
              </a:ext>
            </a:extLst>
          </p:cNvPr>
          <p:cNvGrpSpPr/>
          <p:nvPr/>
        </p:nvGrpSpPr>
        <p:grpSpPr>
          <a:xfrm>
            <a:off x="3147060" y="2454408"/>
            <a:ext cx="2819400" cy="2819400"/>
            <a:chOff x="2514600" y="2362200"/>
            <a:chExt cx="2819400" cy="2819400"/>
          </a:xfrm>
        </p:grpSpPr>
        <p:sp>
          <p:nvSpPr>
            <p:cNvPr id="65" name="Oval 3">
              <a:extLst>
                <a:ext uri="{FF2B5EF4-FFF2-40B4-BE49-F238E27FC236}">
                  <a16:creationId xmlns:a16="http://schemas.microsoft.com/office/drawing/2014/main" id="{ACAD7D70-029C-4B52-A28E-C100C2EC37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7855" y="2945410"/>
              <a:ext cx="14605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6" name="Oval 46">
              <a:extLst>
                <a:ext uri="{FF2B5EF4-FFF2-40B4-BE49-F238E27FC236}">
                  <a16:creationId xmlns:a16="http://schemas.microsoft.com/office/drawing/2014/main" id="{8C6C1536-6B27-429E-9330-C3BDE3EBF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5114" y="4229034"/>
              <a:ext cx="14605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7" name="Oval 46">
              <a:extLst>
                <a:ext uri="{FF2B5EF4-FFF2-40B4-BE49-F238E27FC236}">
                  <a16:creationId xmlns:a16="http://schemas.microsoft.com/office/drawing/2014/main" id="{500E6A0F-9663-4D20-8F17-FDC67C069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00" y="2895600"/>
              <a:ext cx="14605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8" name="Oval 46">
              <a:extLst>
                <a:ext uri="{FF2B5EF4-FFF2-40B4-BE49-F238E27FC236}">
                  <a16:creationId xmlns:a16="http://schemas.microsoft.com/office/drawing/2014/main" id="{44724A3A-7B69-42A3-9311-CA99D0CDF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7950" y="4267200"/>
              <a:ext cx="14605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9" name="Oval 3">
              <a:extLst>
                <a:ext uri="{FF2B5EF4-FFF2-40B4-BE49-F238E27FC236}">
                  <a16:creationId xmlns:a16="http://schemas.microsoft.com/office/drawing/2014/main" id="{43A057D9-7FA1-46EA-ADE8-A9B58B2AF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3429000"/>
              <a:ext cx="14605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0" name="Oval 3">
              <a:extLst>
                <a:ext uri="{FF2B5EF4-FFF2-40B4-BE49-F238E27FC236}">
                  <a16:creationId xmlns:a16="http://schemas.microsoft.com/office/drawing/2014/main" id="{254ED41A-26B2-4260-A3E7-A33208838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1950" y="4267200"/>
              <a:ext cx="14605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1" name="Oval 3">
              <a:extLst>
                <a:ext uri="{FF2B5EF4-FFF2-40B4-BE49-F238E27FC236}">
                  <a16:creationId xmlns:a16="http://schemas.microsoft.com/office/drawing/2014/main" id="{63729696-0DB6-4D1F-9436-0DBA2C7A47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7150" y="2362200"/>
              <a:ext cx="14605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2" name="Oval 46">
              <a:extLst>
                <a:ext uri="{FF2B5EF4-FFF2-40B4-BE49-F238E27FC236}">
                  <a16:creationId xmlns:a16="http://schemas.microsoft.com/office/drawing/2014/main" id="{AB11E4FA-81D2-4A8F-977E-9EFE0F6DF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800" y="5029200"/>
              <a:ext cx="14605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F0103A61-1005-4DFC-8003-F95730F16EAA}"/>
              </a:ext>
            </a:extLst>
          </p:cNvPr>
          <p:cNvSpPr txBox="1"/>
          <p:nvPr/>
        </p:nvSpPr>
        <p:spPr>
          <a:xfrm>
            <a:off x="302907" y="1938040"/>
            <a:ext cx="23431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Given some data</a:t>
            </a:r>
          </a:p>
          <a:p>
            <a:pPr algn="ctr"/>
            <a:r>
              <a:rPr lang="zh-CN" altLang="en-US" sz="2200" dirty="0"/>
              <a:t>给定一些数据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DA26C78-8761-4390-AC38-A571DC6507C6}"/>
              </a:ext>
            </a:extLst>
          </p:cNvPr>
          <p:cNvCxnSpPr>
            <a:cxnSpLocks/>
          </p:cNvCxnSpPr>
          <p:nvPr/>
        </p:nvCxnSpPr>
        <p:spPr bwMode="auto">
          <a:xfrm flipV="1">
            <a:off x="2887979" y="3037618"/>
            <a:ext cx="3368043" cy="121357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2963AF6-C784-4F72-98DA-84AEFFDAC495}"/>
              </a:ext>
            </a:extLst>
          </p:cNvPr>
          <p:cNvCxnSpPr>
            <a:cxnSpLocks/>
          </p:cNvCxnSpPr>
          <p:nvPr/>
        </p:nvCxnSpPr>
        <p:spPr bwMode="auto">
          <a:xfrm flipV="1">
            <a:off x="4168139" y="3113818"/>
            <a:ext cx="2225048" cy="278411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F274BB7-9ABE-4819-9FB9-E05670CA2D8C}"/>
              </a:ext>
            </a:extLst>
          </p:cNvPr>
          <p:cNvCxnSpPr>
            <a:cxnSpLocks/>
          </p:cNvCxnSpPr>
          <p:nvPr/>
        </p:nvCxnSpPr>
        <p:spPr bwMode="auto">
          <a:xfrm flipV="1">
            <a:off x="4028447" y="2041392"/>
            <a:ext cx="561337" cy="397840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657FDCB-4DF8-4447-8CB0-776B2CBDEDF0}"/>
              </a:ext>
            </a:extLst>
          </p:cNvPr>
          <p:cNvCxnSpPr>
            <a:cxnSpLocks/>
          </p:cNvCxnSpPr>
          <p:nvPr/>
        </p:nvCxnSpPr>
        <p:spPr bwMode="auto">
          <a:xfrm>
            <a:off x="2514604" y="4521774"/>
            <a:ext cx="3589021" cy="153762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E9C61DF-FB36-47AA-8FA0-4B95ADE7F268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4671702" y="1938040"/>
            <a:ext cx="479415" cy="42341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8E6DE00-F295-4C5E-94D0-6F9E61E8EE06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286000" y="3374254"/>
            <a:ext cx="4474216" cy="157416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086ED6F-086A-4EDD-B6D0-77147C278DE3}"/>
              </a:ext>
            </a:extLst>
          </p:cNvPr>
          <p:cNvCxnSpPr>
            <a:cxnSpLocks/>
          </p:cNvCxnSpPr>
          <p:nvPr/>
        </p:nvCxnSpPr>
        <p:spPr bwMode="auto">
          <a:xfrm flipH="1">
            <a:off x="2514604" y="4136434"/>
            <a:ext cx="4385304" cy="68281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E6CBBA7-967A-48B3-8CCE-000B995E450A}"/>
              </a:ext>
            </a:extLst>
          </p:cNvPr>
          <p:cNvCxnSpPr>
            <a:cxnSpLocks/>
          </p:cNvCxnSpPr>
          <p:nvPr/>
        </p:nvCxnSpPr>
        <p:spPr bwMode="auto">
          <a:xfrm flipV="1">
            <a:off x="3431532" y="2029332"/>
            <a:ext cx="13336" cy="376186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E59D9126-D612-49A8-9AEA-4D0A569C0F6C}"/>
              </a:ext>
            </a:extLst>
          </p:cNvPr>
          <p:cNvSpPr txBox="1"/>
          <p:nvPr/>
        </p:nvSpPr>
        <p:spPr>
          <a:xfrm>
            <a:off x="302907" y="5053687"/>
            <a:ext cx="24593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Setting a required margin</a:t>
            </a:r>
          </a:p>
          <a:p>
            <a:pPr algn="ctr"/>
            <a:r>
              <a:rPr lang="zh-CN" altLang="en-US" sz="2200" dirty="0"/>
              <a:t>设置一个间距</a:t>
            </a:r>
            <a:endParaRPr lang="en-US" altLang="zh-CN" sz="2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8C763FE-DB12-4C6B-9E86-E77042585E29}"/>
              </a:ext>
            </a:extLst>
          </p:cNvPr>
          <p:cNvSpPr txBox="1"/>
          <p:nvPr/>
        </p:nvSpPr>
        <p:spPr>
          <a:xfrm>
            <a:off x="5311145" y="1701816"/>
            <a:ext cx="388618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Some lines are eliminated from the candidate set</a:t>
            </a:r>
          </a:p>
          <a:p>
            <a:pPr algn="ctr"/>
            <a:r>
              <a:rPr lang="zh-CN" altLang="en-US" sz="2200" dirty="0"/>
              <a:t>一些直线从候选集中被剔除了</a:t>
            </a:r>
            <a:endParaRPr lang="en-US" altLang="zh-CN" sz="22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79353F6-2DDC-46F2-8E55-3911ABDE168A}"/>
              </a:ext>
            </a:extLst>
          </p:cNvPr>
          <p:cNvCxnSpPr>
            <a:cxnSpLocks/>
          </p:cNvCxnSpPr>
          <p:nvPr/>
        </p:nvCxnSpPr>
        <p:spPr bwMode="auto">
          <a:xfrm>
            <a:off x="4464049" y="2966180"/>
            <a:ext cx="387351" cy="818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CBB1ACD-5D9F-4978-BEBD-491928C29400}"/>
              </a:ext>
            </a:extLst>
          </p:cNvPr>
          <p:cNvSpPr txBox="1"/>
          <p:nvPr/>
        </p:nvSpPr>
        <p:spPr>
          <a:xfrm>
            <a:off x="3463293" y="1913704"/>
            <a:ext cx="155509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Required margin</a:t>
            </a:r>
          </a:p>
          <a:p>
            <a:pPr algn="ctr"/>
            <a:r>
              <a:rPr lang="zh-CN" altLang="en-US" sz="2200" dirty="0"/>
              <a:t>间距</a:t>
            </a:r>
          </a:p>
        </p:txBody>
      </p:sp>
      <p:sp>
        <p:nvSpPr>
          <p:cNvPr id="10" name="Multiplication Sign 9">
            <a:extLst>
              <a:ext uri="{FF2B5EF4-FFF2-40B4-BE49-F238E27FC236}">
                <a16:creationId xmlns:a16="http://schemas.microsoft.com/office/drawing/2014/main" id="{D4A66043-0DBC-4B66-89C1-49328E82DE28}"/>
              </a:ext>
            </a:extLst>
          </p:cNvPr>
          <p:cNvSpPr/>
          <p:nvPr/>
        </p:nvSpPr>
        <p:spPr bwMode="auto">
          <a:xfrm>
            <a:off x="3325796" y="2887506"/>
            <a:ext cx="224807" cy="244608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9" name="Multiplication Sign 38">
            <a:extLst>
              <a:ext uri="{FF2B5EF4-FFF2-40B4-BE49-F238E27FC236}">
                <a16:creationId xmlns:a16="http://schemas.microsoft.com/office/drawing/2014/main" id="{5697D50C-E39D-4C2D-BAB2-FA36B2EE39C4}"/>
              </a:ext>
            </a:extLst>
          </p:cNvPr>
          <p:cNvSpPr/>
          <p:nvPr/>
        </p:nvSpPr>
        <p:spPr bwMode="auto">
          <a:xfrm>
            <a:off x="4740359" y="3260044"/>
            <a:ext cx="224807" cy="244608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1" name="Multiplication Sign 40">
            <a:extLst>
              <a:ext uri="{FF2B5EF4-FFF2-40B4-BE49-F238E27FC236}">
                <a16:creationId xmlns:a16="http://schemas.microsoft.com/office/drawing/2014/main" id="{F77DBD62-78FD-4168-B819-D44C40956AFF}"/>
              </a:ext>
            </a:extLst>
          </p:cNvPr>
          <p:cNvSpPr/>
          <p:nvPr/>
        </p:nvSpPr>
        <p:spPr bwMode="auto">
          <a:xfrm>
            <a:off x="2698735" y="3434384"/>
            <a:ext cx="224807" cy="244608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2" name="Multiplication Sign 41">
            <a:extLst>
              <a:ext uri="{FF2B5EF4-FFF2-40B4-BE49-F238E27FC236}">
                <a16:creationId xmlns:a16="http://schemas.microsoft.com/office/drawing/2014/main" id="{30831270-3809-4469-A5E6-3E34490DD168}"/>
              </a:ext>
            </a:extLst>
          </p:cNvPr>
          <p:cNvSpPr/>
          <p:nvPr/>
        </p:nvSpPr>
        <p:spPr bwMode="auto">
          <a:xfrm>
            <a:off x="6040427" y="4149450"/>
            <a:ext cx="224807" cy="244608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0FEC2C5-C086-4159-9B6E-DA3B960BE326}"/>
              </a:ext>
            </a:extLst>
          </p:cNvPr>
          <p:cNvSpPr txBox="1"/>
          <p:nvPr/>
        </p:nvSpPr>
        <p:spPr>
          <a:xfrm>
            <a:off x="6161030" y="5090249"/>
            <a:ext cx="300482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Less candidates remain in the set</a:t>
            </a:r>
          </a:p>
          <a:p>
            <a:pPr algn="ctr"/>
            <a:r>
              <a:rPr lang="zh-CN" altLang="en-US" sz="2200" dirty="0"/>
              <a:t>留在集合中的候选少了</a:t>
            </a:r>
            <a:endParaRPr lang="en-US" altLang="zh-CN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83341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0" grpId="0" animBg="1"/>
      <p:bldP spid="10" grpId="1" animBg="1"/>
      <p:bldP spid="39" grpId="0" animBg="1"/>
      <p:bldP spid="39" grpId="1" animBg="1"/>
      <p:bldP spid="41" grpId="0" animBg="1"/>
      <p:bldP spid="41" grpId="1" animBg="1"/>
      <p:bldP spid="42" grpId="0" animBg="1"/>
      <p:bldP spid="42" grpId="1" animBg="1"/>
      <p:bldP spid="4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Margin &amp; VC Dimension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间距和</a:t>
            </a:r>
            <a:r>
              <a:rPr lang="en-US" altLang="zh-CN" dirty="0">
                <a:ea typeface="ＭＳ Ｐゴシック" panose="020B0600070205080204" pitchFamily="34" charset="-128"/>
              </a:rPr>
              <a:t>VC</a:t>
            </a:r>
            <a:r>
              <a:rPr lang="zh-CN" altLang="en-US" dirty="0">
                <a:ea typeface="ＭＳ Ｐゴシック" panose="020B0600070205080204" pitchFamily="34" charset="-128"/>
              </a:rPr>
              <a:t>维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A0F165-8941-4D6C-BAE4-F52C9F12FF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600200"/>
                <a:ext cx="8077200" cy="4800600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zh-CN" dirty="0"/>
                  <a:t>Larger Margin  </a:t>
                </a:r>
                <a:r>
                  <a:rPr lang="zh-CN" altLang="en-US" dirty="0"/>
                  <a:t>更大的间距</a:t>
                </a:r>
                <a:r>
                  <a:rPr lang="en-US" altLang="zh-CN" dirty="0"/>
                  <a:t> 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altLang="zh-CN" b="0" dirty="0"/>
                  <a:t>Less candidate classifiers in the set  </a:t>
                </a:r>
                <a:br>
                  <a:rPr lang="en-US" altLang="zh-CN" b="0" dirty="0"/>
                </a:br>
                <a:r>
                  <a:rPr lang="zh-CN" altLang="en-US" b="0" dirty="0"/>
                  <a:t>集合中的候选分类器更少</a:t>
                </a:r>
                <a:endParaRPr lang="en-US" altLang="zh-CN" dirty="0"/>
              </a:p>
              <a:p>
                <a:pPr lvl="2">
                  <a:lnSpc>
                    <a:spcPct val="90000"/>
                  </a:lnSpc>
                </a:pPr>
                <a:r>
                  <a:rPr lang="en-US" altLang="zh-CN" dirty="0"/>
                  <a:t>Weaker classification capability  </a:t>
                </a:r>
                <a:r>
                  <a:rPr lang="zh-CN" altLang="en-US" dirty="0"/>
                  <a:t>分类能力更弱</a:t>
                </a:r>
                <a:endParaRPr lang="en-US" altLang="zh-CN" dirty="0"/>
              </a:p>
              <a:p>
                <a:pPr>
                  <a:lnSpc>
                    <a:spcPct val="90000"/>
                  </a:lnSpc>
                </a:pPr>
                <a:r>
                  <a:rPr lang="en-US" altLang="zh-CN" dirty="0"/>
                  <a:t>VC Dimension  VC</a:t>
                </a:r>
                <a:r>
                  <a:rPr lang="zh-CN" altLang="en-US" dirty="0"/>
                  <a:t>维</a:t>
                </a:r>
                <a:endParaRPr lang="en-US" altLang="zh-CN" dirty="0"/>
              </a:p>
              <a:p>
                <a:pPr lvl="1">
                  <a:lnSpc>
                    <a:spcPct val="90000"/>
                  </a:lnSpc>
                </a:pPr>
                <a:r>
                  <a:rPr lang="en-US" altLang="zh-CN" dirty="0"/>
                  <a:t>Training samples bounded </a:t>
                </a:r>
                <a:r>
                  <a:rPr lang="zh-CN" altLang="en-US" dirty="0"/>
                  <a:t>训练数据有界</a:t>
                </a:r>
                <a:endParaRPr lang="en-US" altLang="zh-CN" dirty="0"/>
              </a:p>
              <a:p>
                <a:pPr marL="457200" lvl="1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𝐜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altLang="zh-CN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90000"/>
                  </a:lnSpc>
                </a:pPr>
                <a:r>
                  <a:rPr lang="en-US" altLang="zh-CN" dirty="0"/>
                  <a:t>For margin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zh-CN" dirty="0"/>
                  <a:t>  </a:t>
                </a:r>
                <a:r>
                  <a:rPr lang="zh-CN" altLang="en-US" dirty="0"/>
                  <a:t>给定间距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</m:oMath>
                </a14:m>
                <a:endParaRPr lang="en-US" altLang="zh-CN" dirty="0"/>
              </a:p>
              <a:p>
                <a:pPr lvl="1">
                  <a:lnSpc>
                    <a:spcPct val="90000"/>
                  </a:lnSpc>
                </a:pPr>
                <a:r>
                  <a:rPr lang="en-US" altLang="zh-CN" dirty="0"/>
                  <a:t>VC dimension  VC</a:t>
                </a:r>
                <a:r>
                  <a:rPr lang="zh-CN" altLang="en-US" dirty="0"/>
                  <a:t>维</a:t>
                </a:r>
                <a:r>
                  <a:rPr lang="en-US" altLang="zh-CN" dirty="0"/>
                  <a:t>  </a:t>
                </a:r>
              </a:p>
              <a:p>
                <a:pPr marL="457200" lvl="1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min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+1}</m:t>
                      </m:r>
                    </m:oMath>
                  </m:oMathPara>
                </a14:m>
                <a:endParaRPr lang="en-US" altLang="ja-JP" dirty="0">
                  <a:ea typeface="ＭＳ Ｐゴシック" panose="020B0600070205080204" pitchFamily="34" charset="-128"/>
                </a:endParaRPr>
              </a:p>
              <a:p>
                <a:pPr marL="457200" lvl="1" indent="0">
                  <a:lnSpc>
                    <a:spcPct val="90000"/>
                  </a:lnSpc>
                  <a:buNone/>
                </a:pPr>
                <a:endParaRPr lang="en-US" altLang="ja-JP" dirty="0">
                  <a:ea typeface="ＭＳ Ｐゴシック" panose="020B0600070205080204" pitchFamily="34" charset="-128"/>
                </a:endParaRPr>
              </a:p>
              <a:p>
                <a:pPr lvl="2">
                  <a:lnSpc>
                    <a:spcPct val="90000"/>
                  </a:lnSpc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A0F165-8941-4D6C-BAE4-F52C9F12FF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600200"/>
                <a:ext cx="8077200" cy="4800600"/>
              </a:xfrm>
              <a:blipFill>
                <a:blip r:embed="rId5"/>
                <a:stretch>
                  <a:fillRect l="-528" t="-43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7. Occam’s Razor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7. </a:t>
            </a:r>
            <a:r>
              <a:rPr lang="zh-CN" altLang="en-US" dirty="0"/>
              <a:t>奥卡姆剃刀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71349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Margin &amp; VC Dimension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间距和</a:t>
            </a:r>
            <a:r>
              <a:rPr lang="en-US" altLang="zh-CN" dirty="0">
                <a:ea typeface="ＭＳ Ｐゴシック" panose="020B0600070205080204" pitchFamily="34" charset="-128"/>
              </a:rPr>
              <a:t>VC</a:t>
            </a:r>
            <a:r>
              <a:rPr lang="zh-CN" altLang="en-US" dirty="0">
                <a:ea typeface="ＭＳ Ｐゴシック" panose="020B0600070205080204" pitchFamily="34" charset="-128"/>
              </a:rPr>
              <a:t>维 </a:t>
            </a:r>
            <a:r>
              <a:rPr lang="en-US" altLang="zh-CN" dirty="0">
                <a:ea typeface="ＭＳ Ｐゴシック" panose="020B0600070205080204" pitchFamily="34" charset="-128"/>
              </a:rPr>
              <a:t>(3)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7. Occam’s Razor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7. </a:t>
            </a:r>
            <a:r>
              <a:rPr lang="zh-CN" altLang="en-US" dirty="0"/>
              <a:t>奥卡姆剃刀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991A2BD-0897-4E8D-82B0-10908E0AD22A}"/>
                  </a:ext>
                </a:extLst>
              </p:cNvPr>
              <p:cNvSpPr txBox="1"/>
              <p:nvPr/>
            </p:nvSpPr>
            <p:spPr>
              <a:xfrm>
                <a:off x="152400" y="3886200"/>
                <a:ext cx="8839200" cy="14312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→ </a:t>
                </a:r>
                <a:r>
                  <a:rPr lang="en-US" altLang="zh-CN" sz="2200" dirty="0"/>
                  <a:t>Likely lower upper bound of error </a:t>
                </a:r>
                <a:r>
                  <a:rPr lang="zh-CN" altLang="en-US" sz="2200" dirty="0"/>
                  <a:t>可能获得更低的错误上界</a:t>
                </a:r>
                <a:r>
                  <a:rPr lang="en-US" altLang="zh-CN" sz="2200" dirty="0"/>
                  <a:t> </a:t>
                </a:r>
                <a:r>
                  <a:rPr lang="zh-CN" altLang="en-US" sz="2200" dirty="0"/>
                  <a:t> </a:t>
                </a:r>
                <a:endParaRPr lang="en-US" altLang="zh-CN" sz="2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̿"/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</m:acc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func>
                                <m:func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altLang="zh-CN" sz="22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CN" sz="22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</m:t>
                                      </m:r>
                                    </m:num>
                                    <m:den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den>
                                  </m:f>
                                </m:e>
                              </m:func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+1)−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f>
                                <m:f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𝛿</m:t>
                                  </m:r>
                                </m:num>
                                <m:den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num>
                            <m:den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991A2BD-0897-4E8D-82B0-10908E0AD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3886200"/>
                <a:ext cx="8839200" cy="1431226"/>
              </a:xfrm>
              <a:prstGeom prst="rect">
                <a:avLst/>
              </a:prstGeom>
              <a:blipFill>
                <a:blip r:embed="rId5"/>
                <a:stretch>
                  <a:fillRect t="-47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E543260-DEEF-4A7D-9F20-B28E9AD41440}"/>
              </a:ext>
            </a:extLst>
          </p:cNvPr>
          <p:cNvSpPr txBox="1"/>
          <p:nvPr/>
        </p:nvSpPr>
        <p:spPr>
          <a:xfrm>
            <a:off x="457200" y="1828800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Larger margin  </a:t>
            </a:r>
            <a:r>
              <a:rPr lang="zh-CN" altLang="en-US" sz="2200" dirty="0"/>
              <a:t>间距越大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04B4C8-A034-4DD5-B23F-D84EEBB77F96}"/>
                  </a:ext>
                </a:extLst>
              </p:cNvPr>
              <p:cNvSpPr txBox="1"/>
              <p:nvPr/>
            </p:nvSpPr>
            <p:spPr>
              <a:xfrm>
                <a:off x="457200" y="2608258"/>
                <a:ext cx="8229600" cy="11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→</a:t>
                </a:r>
                <a:r>
                  <a:rPr lang="en-US" altLang="zh-CN" sz="2200" dirty="0"/>
                  <a:t> likely smaller VC dimension  </a:t>
                </a:r>
                <a:r>
                  <a:rPr lang="zh-CN" altLang="en-US" sz="2200" dirty="0"/>
                  <a:t>可能获得更小的</a:t>
                </a:r>
                <a:r>
                  <a:rPr lang="en-US" altLang="zh-CN" sz="2200" dirty="0"/>
                  <a:t>VC</a:t>
                </a:r>
                <a:r>
                  <a:rPr lang="zh-CN" altLang="en-US" sz="2200" dirty="0"/>
                  <a:t>维 </a:t>
                </a:r>
                <a:endParaRPr lang="en-US" altLang="zh-CN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min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⁡{</m:t>
                      </m:r>
                      <m:f>
                        <m:fPr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+1}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04B4C8-A034-4DD5-B23F-D84EEBB77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608258"/>
                <a:ext cx="8229600" cy="1116075"/>
              </a:xfrm>
              <a:prstGeom prst="rect">
                <a:avLst/>
              </a:prstGeom>
              <a:blipFill>
                <a:blip r:embed="rId6"/>
                <a:stretch>
                  <a:fillRect t="-60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67873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7.2 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7.2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7. Occam’s Razor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7. </a:t>
            </a:r>
            <a:r>
              <a:rPr lang="zh-CN" altLang="en-US" dirty="0"/>
              <a:t>奥卡姆剃刀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EC9E0C-6C7D-40EB-B411-BA56B8DA5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5BA708-DA7C-4A96-9103-C216FD58879C}"/>
              </a:ext>
            </a:extLst>
          </p:cNvPr>
          <p:cNvSpPr txBox="1"/>
          <p:nvPr/>
        </p:nvSpPr>
        <p:spPr>
          <a:xfrm>
            <a:off x="1671240" y="1530791"/>
            <a:ext cx="58015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Practice time: use perceptron w/ margins on word sense disambiguation</a:t>
            </a:r>
          </a:p>
          <a:p>
            <a:pPr algn="ctr"/>
            <a:r>
              <a:rPr lang="zh-CN" altLang="en-US" sz="2200" dirty="0"/>
              <a:t>实践时刻：将带间距的感知器用于词义消歧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BF6605-906F-4F39-BD56-58FE01C9CDA6}"/>
              </a:ext>
            </a:extLst>
          </p:cNvPr>
          <p:cNvSpPr txBox="1"/>
          <p:nvPr/>
        </p:nvSpPr>
        <p:spPr>
          <a:xfrm>
            <a:off x="266700" y="5013971"/>
            <a:ext cx="8610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Does it perform </a:t>
            </a:r>
            <a:r>
              <a:rPr lang="en-US" altLang="zh-CN" sz="2200"/>
              <a:t>better?  </a:t>
            </a:r>
            <a:r>
              <a:rPr lang="zh-CN" altLang="en-US" sz="2200"/>
              <a:t>它</a:t>
            </a:r>
            <a:r>
              <a:rPr lang="zh-CN" altLang="en-US" sz="2200" dirty="0"/>
              <a:t>是否有更好的表现？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16658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ＭＳ Ｐゴシック" panose="020B0600070205080204" pitchFamily="34" charset="-128"/>
              </a:rPr>
              <a:t>Result  </a:t>
            </a:r>
            <a:r>
              <a:rPr lang="zh-CN" altLang="en-US" dirty="0">
                <a:ea typeface="ＭＳ Ｐゴシック" panose="020B0600070205080204" pitchFamily="34" charset="-128"/>
              </a:rPr>
              <a:t>结果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7. Occam’s Razor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7. </a:t>
            </a:r>
            <a:r>
              <a:rPr lang="zh-CN" altLang="en-US" dirty="0"/>
              <a:t>奥卡姆剃刀</a:t>
            </a:r>
            <a:endParaRPr lang="en-US" altLang="zh-C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F8DCACA-3997-4650-991A-926E46401C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208118"/>
              </p:ext>
            </p:extLst>
          </p:nvPr>
        </p:nvGraphicFramePr>
        <p:xfrm>
          <a:off x="1028700" y="1823720"/>
          <a:ext cx="6972300" cy="148336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4815919">
                  <a:extLst>
                    <a:ext uri="{9D8B030D-6E8A-4147-A177-3AD203B41FA5}">
                      <a16:colId xmlns:a16="http://schemas.microsoft.com/office/drawing/2014/main" val="1065155212"/>
                    </a:ext>
                  </a:extLst>
                </a:gridCol>
                <a:gridCol w="2156381">
                  <a:extLst>
                    <a:ext uri="{9D8B030D-6E8A-4147-A177-3AD203B41FA5}">
                      <a16:colId xmlns:a16="http://schemas.microsoft.com/office/drawing/2014/main" val="38615328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Methods  </a:t>
                      </a:r>
                      <a:r>
                        <a:rPr lang="zh-CN" altLang="en-US" dirty="0"/>
                        <a:t>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Accuracy </a:t>
                      </a:r>
                      <a:r>
                        <a:rPr lang="zh-CN" altLang="en-US" dirty="0"/>
                        <a:t>准确率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9843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Nearest neighbor  </a:t>
                      </a:r>
                      <a:r>
                        <a:rPr lang="zh-CN" altLang="en-US" dirty="0"/>
                        <a:t>最近邻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69.3%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0347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Perceptron  </a:t>
                      </a:r>
                      <a:r>
                        <a:rPr lang="zh-CN" altLang="en-US" dirty="0"/>
                        <a:t>感知器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83.6%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5740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Perceptron w/ margin  </a:t>
                      </a:r>
                      <a:r>
                        <a:rPr lang="zh-CN" altLang="en-US" dirty="0"/>
                        <a:t>带间距的感知器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339933"/>
                          </a:solidFill>
                        </a:rPr>
                        <a:t>85.7%</a:t>
                      </a:r>
                      <a:endParaRPr lang="zh-CN" altLang="en-US" b="1" dirty="0">
                        <a:solidFill>
                          <a:srgbClr val="339933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40587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47990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1|0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0.4|0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3|0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2|0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|0.1|0.1|0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1|0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1|0.1|0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1|0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8|0.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1|0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0.4|0.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0.3|0.2|0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6.1|0.2|0.1|0.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14.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0.2|0.1|0.1|0.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14.8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0.3|0.9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1|0.6|0.4|0.3|0.4|184.8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26.1|11.5|33.6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8|4.7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3|6.9|210.8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8|2.3|35.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|30.6|7.6|30.3|5.8|117.3|7.5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1|54.7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8.2|22.7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16.2|8.2|26.5|73.8|17.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7|12.8|24.8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7.9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26479</TotalTime>
  <Words>4164</Words>
  <Application>Microsoft Office PowerPoint</Application>
  <PresentationFormat>On-screen Show (4:3)</PresentationFormat>
  <Paragraphs>429</Paragraphs>
  <Slides>38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8" baseType="lpstr">
      <vt:lpstr>ＭＳ Ｐゴシック</vt:lpstr>
      <vt:lpstr>SimSun</vt:lpstr>
      <vt:lpstr>等线</vt:lpstr>
      <vt:lpstr>Arial</vt:lpstr>
      <vt:lpstr>Cambria Math</vt:lpstr>
      <vt:lpstr>Comic Sans MS</vt:lpstr>
      <vt:lpstr>Tahoma</vt:lpstr>
      <vt:lpstr>Times New Roman</vt:lpstr>
      <vt:lpstr>Wingdings</vt:lpstr>
      <vt:lpstr>Blends</vt:lpstr>
      <vt:lpstr>Machine Learning -  Basic Principles &amp; Practice 7. Occam’s Razor</vt:lpstr>
      <vt:lpstr>Should You Still Remember …   倘若你依然记得……</vt:lpstr>
      <vt:lpstr>Reality  现实</vt:lpstr>
      <vt:lpstr>Can We Do Better?   我们能做得更好吗？</vt:lpstr>
      <vt:lpstr>Different Formulations 不同的表述</vt:lpstr>
      <vt:lpstr>In Machine Learning   在机器学习中</vt:lpstr>
      <vt:lpstr>Illustration: Fewer Attributes 说明：更少的属性 (1)</vt:lpstr>
      <vt:lpstr>Illustration: Fewer Attributes 说明：更少的属性 (1)</vt:lpstr>
      <vt:lpstr>Illustration: Fewer Attributes 说明：更少的属性 (1)</vt:lpstr>
      <vt:lpstr>Illustration: Fewer Attributes 说明：更少的属性 (2)</vt:lpstr>
      <vt:lpstr>Illustration: Fewer Attributes 说明：更少的属性 (2)</vt:lpstr>
      <vt:lpstr>Unfortunately  不幸的是</vt:lpstr>
      <vt:lpstr>Margin to a Data Sample 距离某个数据点的间距</vt:lpstr>
      <vt:lpstr>Large Margin Classification 大间距分类</vt:lpstr>
      <vt:lpstr>Large Margin Classification 大间距分类</vt:lpstr>
      <vt:lpstr>Large Margin Classification 大间距分类</vt:lpstr>
      <vt:lpstr>Large Margin Classification 大间距分类</vt:lpstr>
      <vt:lpstr>Learning Linear Classifiers 学习线性分类器 (1)</vt:lpstr>
      <vt:lpstr>Learning Linear Classifiers 学习线性分类器 (2)</vt:lpstr>
      <vt:lpstr>Perceptron Algorithm w/ Margins  带间距的感知器算法</vt:lpstr>
      <vt:lpstr>Practice 7.1  实践7.1</vt:lpstr>
      <vt:lpstr>Result  结果</vt:lpstr>
      <vt:lpstr>Example  实例 (1)</vt:lpstr>
      <vt:lpstr>Example  实例 (2)</vt:lpstr>
      <vt:lpstr>What’s the Insight? 我们洞察到了什么？</vt:lpstr>
      <vt:lpstr>Math Theorem  数学定理</vt:lpstr>
      <vt:lpstr>Upper Bound of Error  错误上界</vt:lpstr>
      <vt:lpstr>Upper Bound of Error  错误上界</vt:lpstr>
      <vt:lpstr>Upper Bound of Error  错误上界</vt:lpstr>
      <vt:lpstr>Classification Capability 分类能力</vt:lpstr>
      <vt:lpstr>VC Dimension  VC维</vt:lpstr>
      <vt:lpstr>Margin &amp; VC Dimension   间距和VC维 (1)</vt:lpstr>
      <vt:lpstr>Margin &amp; VC Dimension   间距和VC维 (1)</vt:lpstr>
      <vt:lpstr>Margin &amp; VC Dimension   间距和VC维 (2)</vt:lpstr>
      <vt:lpstr>Margin &amp; VC Dimension   间距和VC维 (3)</vt:lpstr>
      <vt:lpstr>Practice 7.2  实践7.2</vt:lpstr>
      <vt:lpstr>Result  结果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1471</cp:revision>
  <dcterms:created xsi:type="dcterms:W3CDTF">2003-03-13T01:36:43Z</dcterms:created>
  <dcterms:modified xsi:type="dcterms:W3CDTF">2026-03-21T02:18:59Z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0be89373-6ba2-4372-847c-fa0e9ae7ba47</vt:lpwstr>
  </property>
  <property fmtid="{D5CDD505-2E9C-101B-9397-08002B2CF9AE}" pid="3" name="CTP_TimeStamp">
    <vt:lpwstr>2020-02-01 02:37:40Z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