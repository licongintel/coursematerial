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20"/>
  </p:notesMasterIdLst>
  <p:handoutMasterIdLst>
    <p:handoutMasterId r:id="rId21"/>
  </p:handoutMasterIdLst>
  <p:sldIdLst>
    <p:sldId id="286" r:id="rId2"/>
    <p:sldId id="415" r:id="rId3"/>
    <p:sldId id="416" r:id="rId4"/>
    <p:sldId id="417" r:id="rId5"/>
    <p:sldId id="418" r:id="rId6"/>
    <p:sldId id="419" r:id="rId7"/>
    <p:sldId id="420" r:id="rId8"/>
    <p:sldId id="421" r:id="rId9"/>
    <p:sldId id="422" r:id="rId10"/>
    <p:sldId id="430" r:id="rId11"/>
    <p:sldId id="423" r:id="rId12"/>
    <p:sldId id="424" r:id="rId13"/>
    <p:sldId id="425" r:id="rId14"/>
    <p:sldId id="426" r:id="rId15"/>
    <p:sldId id="428" r:id="rId16"/>
    <p:sldId id="429" r:id="rId17"/>
    <p:sldId id="427" r:id="rId18"/>
    <p:sldId id="353" r:id="rId19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46" autoAdjust="0"/>
    <p:restoredTop sz="90551" autoAdjust="0"/>
  </p:normalViewPr>
  <p:slideViewPr>
    <p:cSldViewPr>
      <p:cViewPr varScale="1">
        <p:scale>
          <a:sx n="66" d="100"/>
          <a:sy n="66" d="100"/>
        </p:scale>
        <p:origin x="65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514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462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592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719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631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688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8381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4060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2840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5863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18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Machine Learning - 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Basic Principles &amp; Practice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3. Nearest Neighbor Classification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192739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机器学习 </a:t>
            </a:r>
            <a:r>
              <a:rPr lang="en-US" altLang="zh-CN" sz="3600" b="1" kern="0" dirty="0">
                <a:ea typeface="SimSun" panose="02010600030101010101" pitchFamily="2" charset="-122"/>
              </a:rPr>
              <a:t>- </a:t>
            </a:r>
            <a:r>
              <a:rPr lang="zh-CN" altLang="en-US" sz="3600" b="1" kern="0" dirty="0">
                <a:ea typeface="SimSun" panose="02010600030101010101" pitchFamily="2" charset="-122"/>
              </a:rPr>
              <a:t>基础原理与实践</a:t>
            </a:r>
            <a:endParaRPr lang="en-US" altLang="zh-CN" sz="3600" b="1" kern="0" dirty="0">
              <a:ea typeface="SimSun" panose="02010600030101010101" pitchFamily="2" charset="-122"/>
            </a:endParaRPr>
          </a:p>
          <a:p>
            <a:pPr algn="ctr" eaLnBrk="1" hangingPunct="1"/>
            <a:r>
              <a:rPr lang="en-US" altLang="zh-CN" sz="3600" b="1" kern="0" dirty="0">
                <a:ea typeface="SimSun" panose="02010600030101010101" pitchFamily="2" charset="-122"/>
              </a:rPr>
              <a:t>3. </a:t>
            </a:r>
            <a:r>
              <a:rPr lang="zh-CN" altLang="en-US" sz="3600" b="1" kern="0" dirty="0">
                <a:ea typeface="SimSun" panose="02010600030101010101" pitchFamily="2" charset="-122"/>
              </a:rPr>
              <a:t>最近邻分类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Rote Learning Is Impractical </a:t>
            </a:r>
            <a:br>
              <a:rPr lang="en-US" altLang="zh-CN" dirty="0">
                <a:ea typeface="SimSun" panose="02010600030101010101" pitchFamily="2" charset="-122"/>
              </a:rPr>
            </a:br>
            <a:r>
              <a:rPr lang="zh-CN" altLang="en-US" dirty="0">
                <a:ea typeface="SimSun" panose="02010600030101010101" pitchFamily="2" charset="-122"/>
              </a:rPr>
              <a:t>死记硬背的学习不实用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6362"/>
            <a:ext cx="7772400" cy="4491038"/>
          </a:xfrm>
        </p:spPr>
        <p:txBody>
          <a:bodyPr/>
          <a:lstStyle/>
          <a:p>
            <a:pPr eaLnBrk="1" hangingPunct="1"/>
            <a:endParaRPr lang="en-US" altLang="ja-JP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ja-JP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ja-JP">
              <a:ea typeface="ＭＳ Ｐゴシック" panose="020B0600070205080204" pitchFamily="34" charset="-128"/>
            </a:endParaRPr>
          </a:p>
        </p:txBody>
      </p:sp>
      <p:graphicFrame>
        <p:nvGraphicFramePr>
          <p:cNvPr id="514172" name="Group 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50888"/>
              </p:ext>
            </p:extLst>
          </p:nvPr>
        </p:nvGraphicFramePr>
        <p:xfrm>
          <a:off x="762000" y="2106168"/>
          <a:ext cx="7467600" cy="30480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病人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发烧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鼻塞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流涕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畏寒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头痛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感冒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9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893053"/>
              </p:ext>
            </p:extLst>
          </p:nvPr>
        </p:nvGraphicFramePr>
        <p:xfrm>
          <a:off x="762000" y="5181600"/>
          <a:ext cx="7467600" cy="3048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*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???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CFE00CC6-FCC6-463F-8A63-720BDAF70B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3. Nearest Neighbor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3. </a:t>
            </a:r>
            <a:r>
              <a:rPr lang="zh-CN" altLang="en-US" dirty="0"/>
              <a:t>最近邻分类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8622BE-CE52-4DB6-AB46-89C5146D98C0}"/>
              </a:ext>
            </a:extLst>
          </p:cNvPr>
          <p:cNvSpPr/>
          <p:nvPr/>
        </p:nvSpPr>
        <p:spPr>
          <a:xfrm>
            <a:off x="1590675" y="1611871"/>
            <a:ext cx="5962650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Recall the example  </a:t>
            </a:r>
            <a:r>
              <a:rPr lang="zh-CN" altLang="en-US" sz="2200" dirty="0">
                <a:ea typeface="ＭＳ Ｐゴシック" panose="020B0600070205080204" pitchFamily="34" charset="-128"/>
              </a:rPr>
              <a:t>回忆一下这个例子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52756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Can We Improve Simply?</a:t>
            </a:r>
            <a:br>
              <a:rPr lang="en-US" altLang="zh-CN" dirty="0">
                <a:ea typeface="SimSun" panose="02010600030101010101" pitchFamily="2" charset="-122"/>
              </a:rPr>
            </a:br>
            <a:r>
              <a:rPr lang="zh-CN" altLang="en-US" dirty="0">
                <a:ea typeface="SimSun" panose="02010600030101010101" pitchFamily="2" charset="-122"/>
              </a:rPr>
              <a:t>我们能否进行简单的改进？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6362"/>
            <a:ext cx="7772400" cy="4491038"/>
          </a:xfrm>
        </p:spPr>
        <p:txBody>
          <a:bodyPr/>
          <a:lstStyle/>
          <a:p>
            <a:pPr eaLnBrk="1" hangingPunct="1"/>
            <a:endParaRPr lang="en-US" altLang="ja-JP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ja-JP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ja-JP">
              <a:ea typeface="ＭＳ Ｐゴシック" panose="020B0600070205080204" pitchFamily="34" charset="-128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CFE00CC6-FCC6-463F-8A63-720BDAF70B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3. Nearest Neighbor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3. </a:t>
            </a:r>
            <a:r>
              <a:rPr lang="zh-CN" altLang="en-US" dirty="0"/>
              <a:t>最近邻分类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16F4E-B3AE-4540-8B92-A5A175E756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71" y="2330767"/>
            <a:ext cx="2175129" cy="2483168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06CF47DB-F8D0-4121-AD4B-7B77BB5191C2}"/>
              </a:ext>
            </a:extLst>
          </p:cNvPr>
          <p:cNvSpPr/>
          <p:nvPr/>
        </p:nvSpPr>
        <p:spPr bwMode="auto">
          <a:xfrm>
            <a:off x="3048001" y="3237160"/>
            <a:ext cx="2556128" cy="769441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19DB41-0FF3-458A-884B-1FCF07D5103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930" y="2820351"/>
            <a:ext cx="2414016" cy="160305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516226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Idea </a:t>
            </a:r>
            <a:r>
              <a:rPr lang="zh-CN" altLang="en-US" dirty="0">
                <a:ea typeface="SimSun" panose="02010600030101010101" pitchFamily="2" charset="-122"/>
              </a:rPr>
              <a:t>思路 </a:t>
            </a:r>
            <a:r>
              <a:rPr lang="en-US" altLang="zh-CN" dirty="0">
                <a:ea typeface="SimSun" panose="02010600030101010101" pitchFamily="2" charset="-122"/>
              </a:rPr>
              <a:t>(1)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6362"/>
            <a:ext cx="7772400" cy="4491038"/>
          </a:xfrm>
        </p:spPr>
        <p:txBody>
          <a:bodyPr/>
          <a:lstStyle/>
          <a:p>
            <a:pPr eaLnBrk="1" hangingPunct="1"/>
            <a:endParaRPr lang="en-US" altLang="ja-JP" dirty="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ja-JP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ja-JP" dirty="0">
              <a:ea typeface="ＭＳ Ｐゴシック" panose="020B0600070205080204" pitchFamily="34" charset="-128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CFE00CC6-FCC6-463F-8A63-720BDAF70B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3. Nearest Neighbor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3. </a:t>
            </a:r>
            <a:r>
              <a:rPr lang="zh-CN" altLang="en-US" dirty="0"/>
              <a:t>最近邻分类</a:t>
            </a:r>
            <a:endParaRPr lang="en-US" altLang="zh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48C89C-3A91-4AF0-A33B-10B72CA6A19F}"/>
              </a:ext>
            </a:extLst>
          </p:cNvPr>
          <p:cNvSpPr/>
          <p:nvPr/>
        </p:nvSpPr>
        <p:spPr>
          <a:xfrm>
            <a:off x="381000" y="3124200"/>
            <a:ext cx="8382000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265113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He who walks with wise men will be wise, but the companion of fools will suffer harm</a:t>
            </a:r>
          </a:p>
          <a:p>
            <a:pPr marL="0" lvl="1" algn="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- Proverbs 13:20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C965C9-C9DB-4FFA-989A-8511F19A9E5A}"/>
              </a:ext>
            </a:extLst>
          </p:cNvPr>
          <p:cNvSpPr/>
          <p:nvPr/>
        </p:nvSpPr>
        <p:spPr>
          <a:xfrm>
            <a:off x="381000" y="4528370"/>
            <a:ext cx="8382000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265113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近朱者赤，近墨者黑</a:t>
            </a:r>
            <a:endParaRPr lang="en-US" altLang="zh-CN" sz="2200" dirty="0">
              <a:ea typeface="ＭＳ Ｐゴシック" panose="020B0600070205080204" pitchFamily="34" charset="-128"/>
            </a:endParaRPr>
          </a:p>
          <a:p>
            <a:pPr marL="0" lvl="1" indent="265113" algn="r" eaLnBrk="1" hangingPunct="1">
              <a:lnSpc>
                <a:spcPct val="90000"/>
              </a:lnSpc>
            </a:pPr>
            <a:r>
              <a:rPr lang="en-US" altLang="zh-CN" sz="2400" dirty="0"/>
              <a:t>-《</a:t>
            </a:r>
            <a:r>
              <a:rPr lang="zh-CN" altLang="en-US" sz="2400" dirty="0"/>
              <a:t>太子少傅箴</a:t>
            </a:r>
            <a:r>
              <a:rPr lang="en-US" altLang="zh-CN" sz="2400" dirty="0"/>
              <a:t>》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6CCD65-6842-4ABF-8BB2-616390DCC022}"/>
              </a:ext>
            </a:extLst>
          </p:cNvPr>
          <p:cNvSpPr/>
          <p:nvPr/>
        </p:nvSpPr>
        <p:spPr>
          <a:xfrm>
            <a:off x="381000" y="1913823"/>
            <a:ext cx="8382000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265113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Show me who your friends are, and I’ll tell you who you are.</a:t>
            </a:r>
          </a:p>
          <a:p>
            <a:pPr marL="0" lvl="1" indent="265113" algn="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- Old adage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38720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Idea </a:t>
            </a:r>
            <a:r>
              <a:rPr lang="zh-CN" altLang="en-US" dirty="0">
                <a:ea typeface="SimSun" panose="02010600030101010101" pitchFamily="2" charset="-122"/>
              </a:rPr>
              <a:t>思路 </a:t>
            </a:r>
            <a:r>
              <a:rPr lang="en-US" altLang="zh-CN" dirty="0">
                <a:ea typeface="SimSun" panose="02010600030101010101" pitchFamily="2" charset="-122"/>
              </a:rPr>
              <a:t>(2)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6362"/>
            <a:ext cx="7772400" cy="4491038"/>
          </a:xfrm>
        </p:spPr>
        <p:txBody>
          <a:bodyPr/>
          <a:lstStyle/>
          <a:p>
            <a:pPr eaLnBrk="1" hangingPunct="1"/>
            <a:endParaRPr lang="en-US" altLang="ja-JP" dirty="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ja-JP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ja-JP" dirty="0">
              <a:ea typeface="ＭＳ Ｐゴシック" panose="020B0600070205080204" pitchFamily="34" charset="-128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CFE00CC6-FCC6-463F-8A63-720BDAF70B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3. Nearest Neighbor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3. </a:t>
            </a:r>
            <a:r>
              <a:rPr lang="zh-CN" altLang="en-US" dirty="0"/>
              <a:t>最近邻分类</a:t>
            </a:r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E6C43-8A7D-4010-951F-F8CD392573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857" y="1887333"/>
            <a:ext cx="4714286" cy="384057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34222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An Abstract Example </a:t>
            </a:r>
            <a:br>
              <a:rPr lang="en-US" altLang="zh-CN" dirty="0">
                <a:ea typeface="SimSun" panose="02010600030101010101" pitchFamily="2" charset="-122"/>
              </a:rPr>
            </a:br>
            <a:r>
              <a:rPr lang="zh-CN" altLang="en-US" dirty="0">
                <a:ea typeface="SimSun" panose="02010600030101010101" pitchFamily="2" charset="-122"/>
              </a:rPr>
              <a:t>一个抽象的例子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6362"/>
            <a:ext cx="7772400" cy="4491038"/>
          </a:xfrm>
        </p:spPr>
        <p:txBody>
          <a:bodyPr/>
          <a:lstStyle/>
          <a:p>
            <a:pPr eaLnBrk="1" hangingPunct="1"/>
            <a:endParaRPr lang="en-US" altLang="ja-JP" dirty="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ja-JP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ja-JP" dirty="0">
              <a:ea typeface="ＭＳ Ｐゴシック" panose="020B0600070205080204" pitchFamily="34" charset="-128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CFE00CC6-FCC6-463F-8A63-720BDAF70B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3. Nearest Neighbor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3. </a:t>
            </a:r>
            <a:r>
              <a:rPr lang="zh-CN" altLang="en-US" dirty="0"/>
              <a:t>最近邻分类</a:t>
            </a:r>
            <a:endParaRPr lang="en-US" altLang="zh-CN" dirty="0"/>
          </a:p>
        </p:txBody>
      </p:sp>
      <p:sp>
        <p:nvSpPr>
          <p:cNvPr id="6" name="Oval 12">
            <a:extLst>
              <a:ext uri="{FF2B5EF4-FFF2-40B4-BE49-F238E27FC236}">
                <a16:creationId xmlns:a16="http://schemas.microsoft.com/office/drawing/2014/main" id="{E9273836-63DE-457F-99E8-1B1858AF8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200400"/>
            <a:ext cx="2286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7" name="Oval 13">
            <a:extLst>
              <a:ext uri="{FF2B5EF4-FFF2-40B4-BE49-F238E27FC236}">
                <a16:creationId xmlns:a16="http://schemas.microsoft.com/office/drawing/2014/main" id="{6F3B78CA-3A08-4339-8C8F-4CBA9019D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276600"/>
            <a:ext cx="2286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8" name="Oval 14">
            <a:extLst>
              <a:ext uri="{FF2B5EF4-FFF2-40B4-BE49-F238E27FC236}">
                <a16:creationId xmlns:a16="http://schemas.microsoft.com/office/drawing/2014/main" id="{A16E8BE5-0241-4EFF-A24C-E3A1E6B45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5257800"/>
            <a:ext cx="2286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85C49A06-D77D-45E5-A9BF-38EF18936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876800"/>
            <a:ext cx="2286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10" name="Oval 16">
            <a:extLst>
              <a:ext uri="{FF2B5EF4-FFF2-40B4-BE49-F238E27FC236}">
                <a16:creationId xmlns:a16="http://schemas.microsoft.com/office/drawing/2014/main" id="{4DE492FE-795C-4F97-A2C2-46C0F7439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981200"/>
            <a:ext cx="2286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11" name="Oval 18">
            <a:extLst>
              <a:ext uri="{FF2B5EF4-FFF2-40B4-BE49-F238E27FC236}">
                <a16:creationId xmlns:a16="http://schemas.microsoft.com/office/drawing/2014/main" id="{4A90A63F-50EE-4B04-AB81-12FC2B426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928016A7-E659-4B73-81EC-26AAC18E3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133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14" name="Oval 20">
            <a:extLst>
              <a:ext uri="{FF2B5EF4-FFF2-40B4-BE49-F238E27FC236}">
                <a16:creationId xmlns:a16="http://schemas.microsoft.com/office/drawing/2014/main" id="{99E91D13-EC57-4F59-B2C8-506F20FFB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124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15" name="Oval 21">
            <a:extLst>
              <a:ext uri="{FF2B5EF4-FFF2-40B4-BE49-F238E27FC236}">
                <a16:creationId xmlns:a16="http://schemas.microsoft.com/office/drawing/2014/main" id="{FF9122F3-79A4-4115-A719-16371E209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16" name="Oval 22">
            <a:extLst>
              <a:ext uri="{FF2B5EF4-FFF2-40B4-BE49-F238E27FC236}">
                <a16:creationId xmlns:a16="http://schemas.microsoft.com/office/drawing/2014/main" id="{FB683E5D-DB57-4ADC-9820-CC0EF759A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352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17" name="Oval 23">
            <a:extLst>
              <a:ext uri="{FF2B5EF4-FFF2-40B4-BE49-F238E27FC236}">
                <a16:creationId xmlns:a16="http://schemas.microsoft.com/office/drawing/2014/main" id="{DCA6ECF2-AF8D-4276-85A6-7995BF147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876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18" name="Oval 24">
            <a:extLst>
              <a:ext uri="{FF2B5EF4-FFF2-40B4-BE49-F238E27FC236}">
                <a16:creationId xmlns:a16="http://schemas.microsoft.com/office/drawing/2014/main" id="{76C2C4BB-A99E-42A0-BE20-2CE9251FD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657600"/>
            <a:ext cx="228600" cy="228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19" name="Oval 25">
            <a:extLst>
              <a:ext uri="{FF2B5EF4-FFF2-40B4-BE49-F238E27FC236}">
                <a16:creationId xmlns:a16="http://schemas.microsoft.com/office/drawing/2014/main" id="{0A246830-95F2-4E7A-94C7-C9F028CA2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657600"/>
            <a:ext cx="2286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20" name="Oval 26">
            <a:extLst>
              <a:ext uri="{FF2B5EF4-FFF2-40B4-BE49-F238E27FC236}">
                <a16:creationId xmlns:a16="http://schemas.microsoft.com/office/drawing/2014/main" id="{B75A52F6-3550-4DC6-BCF1-A7F398F17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276600"/>
            <a:ext cx="228600" cy="2286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33760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"/>
                                            </p:cond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A Concrete Example </a:t>
            </a:r>
            <a:br>
              <a:rPr lang="en-US" altLang="zh-CN" dirty="0">
                <a:ea typeface="SimSun" panose="02010600030101010101" pitchFamily="2" charset="-122"/>
              </a:rPr>
            </a:br>
            <a:r>
              <a:rPr lang="zh-CN" altLang="en-US" dirty="0">
                <a:ea typeface="SimSun" panose="02010600030101010101" pitchFamily="2" charset="-122"/>
              </a:rPr>
              <a:t>一个具体的例子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CFE00CC6-FCC6-463F-8A63-720BDAF70B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3. Nearest Neighbor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3. </a:t>
            </a:r>
            <a:r>
              <a:rPr lang="zh-CN" altLang="en-US" dirty="0"/>
              <a:t>最近邻分类</a:t>
            </a:r>
            <a:endParaRPr lang="en-US" altLang="zh-CN" dirty="0"/>
          </a:p>
        </p:txBody>
      </p:sp>
      <p:graphicFrame>
        <p:nvGraphicFramePr>
          <p:cNvPr id="33" name="Group 124">
            <a:extLst>
              <a:ext uri="{FF2B5EF4-FFF2-40B4-BE49-F238E27FC236}">
                <a16:creationId xmlns:a16="http://schemas.microsoft.com/office/drawing/2014/main" id="{61BAAD5C-FA52-4553-BB3D-1E97E3C1A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7755"/>
              </p:ext>
            </p:extLst>
          </p:nvPr>
        </p:nvGraphicFramePr>
        <p:xfrm>
          <a:off x="762000" y="1871852"/>
          <a:ext cx="7467600" cy="30480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病人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发烧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鼻塞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流涕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畏寒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头痛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感冒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9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C64ADC89-0763-43F5-AB50-C675ECB61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842180"/>
              </p:ext>
            </p:extLst>
          </p:nvPr>
        </p:nvGraphicFramePr>
        <p:xfrm>
          <a:off x="762000" y="4953000"/>
          <a:ext cx="7467600" cy="3048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*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?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EF1542FD-6EB1-48C1-8250-DA3CEDB003C6}"/>
              </a:ext>
            </a:extLst>
          </p:cNvPr>
          <p:cNvGrpSpPr/>
          <p:nvPr/>
        </p:nvGrpSpPr>
        <p:grpSpPr>
          <a:xfrm>
            <a:off x="219074" y="4457889"/>
            <a:ext cx="542926" cy="647509"/>
            <a:chOff x="219074" y="4457890"/>
            <a:chExt cx="542926" cy="647509"/>
          </a:xfrm>
        </p:grpSpPr>
        <p:cxnSp>
          <p:nvCxnSpPr>
            <p:cNvPr id="36" name="Elbow Connector 5">
              <a:extLst>
                <a:ext uri="{FF2B5EF4-FFF2-40B4-BE49-F238E27FC236}">
                  <a16:creationId xmlns:a16="http://schemas.microsoft.com/office/drawing/2014/main" id="{5C366216-BB2D-4D25-9811-C1B4FEADFB8D}"/>
                </a:ext>
              </a:extLst>
            </p:cNvPr>
            <p:cNvCxnSpPr>
              <a:endCxn id="34" idx="1"/>
            </p:cNvCxnSpPr>
            <p:nvPr/>
          </p:nvCxnSpPr>
          <p:spPr bwMode="auto">
            <a:xfrm rot="16200000" flipH="1">
              <a:off x="166783" y="4510182"/>
              <a:ext cx="647508" cy="542925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3193818-03F6-4DBA-8C4F-7E0BDE473D35}"/>
                </a:ext>
              </a:extLst>
            </p:cNvPr>
            <p:cNvCxnSpPr/>
            <p:nvPr/>
          </p:nvCxnSpPr>
          <p:spPr bwMode="auto">
            <a:xfrm>
              <a:off x="228600" y="4457890"/>
              <a:ext cx="5334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39F172D9-41A7-4691-9DB5-411077A6B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799340"/>
              </p:ext>
            </p:extLst>
          </p:nvPr>
        </p:nvGraphicFramePr>
        <p:xfrm>
          <a:off x="762000" y="4934045"/>
          <a:ext cx="7467600" cy="3048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*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Rectangle 38">
            <a:extLst>
              <a:ext uri="{FF2B5EF4-FFF2-40B4-BE49-F238E27FC236}">
                <a16:creationId xmlns:a16="http://schemas.microsoft.com/office/drawing/2014/main" id="{EB48F330-4436-47FE-B2F2-FA405ADAEFE3}"/>
              </a:ext>
            </a:extLst>
          </p:cNvPr>
          <p:cNvSpPr/>
          <p:nvPr/>
        </p:nvSpPr>
        <p:spPr>
          <a:xfrm>
            <a:off x="1590675" y="5470469"/>
            <a:ext cx="5962650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Now we have improved it! </a:t>
            </a: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现在我们改进了死记硬背学习！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45319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Nearest Neighbor Classification </a:t>
            </a:r>
            <a:r>
              <a:rPr lang="zh-CN" altLang="en-US" dirty="0">
                <a:ea typeface="ＭＳ Ｐゴシック" panose="020B0600070205080204" pitchFamily="34" charset="-128"/>
              </a:rPr>
              <a:t>最近邻分类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Training </a:t>
            </a:r>
            <a:r>
              <a:rPr lang="zh-CN" altLang="en-US" dirty="0"/>
              <a:t>训练</a:t>
            </a:r>
            <a:endParaRPr lang="en-US" altLang="zh-CN" dirty="0"/>
          </a:p>
          <a:p>
            <a:pPr lvl="1"/>
            <a:r>
              <a:rPr lang="en-US" altLang="zh-CN" dirty="0"/>
              <a:t>Memorize all the training data</a:t>
            </a:r>
            <a:r>
              <a:rPr lang="zh-CN" altLang="en-US" dirty="0"/>
              <a:t>                 记住所有的训练数据</a:t>
            </a:r>
            <a:endParaRPr lang="en-US" altLang="zh-CN" dirty="0"/>
          </a:p>
          <a:p>
            <a:pPr lvl="2"/>
            <a:r>
              <a:rPr lang="en-US" altLang="zh-CN" dirty="0"/>
              <a:t>Like rote learning </a:t>
            </a:r>
            <a:r>
              <a:rPr lang="zh-CN" altLang="en-US" dirty="0"/>
              <a:t>和死记硬背学习一样</a:t>
            </a:r>
            <a:endParaRPr lang="en-US" altLang="zh-CN" dirty="0"/>
          </a:p>
          <a:p>
            <a:r>
              <a:rPr lang="en-US" altLang="zh-CN" dirty="0"/>
              <a:t>Classification </a:t>
            </a:r>
            <a:r>
              <a:rPr lang="zh-CN" altLang="en-US" dirty="0"/>
              <a:t>分类</a:t>
            </a:r>
            <a:endParaRPr lang="en-US" altLang="zh-CN" dirty="0"/>
          </a:p>
          <a:p>
            <a:pPr lvl="1"/>
            <a:r>
              <a:rPr lang="en-US" altLang="zh-CN" dirty="0"/>
              <a:t>Find the closest neighbor (the most similar training data sample) </a:t>
            </a:r>
            <a:r>
              <a:rPr lang="zh-CN" altLang="en-US" dirty="0"/>
              <a:t>找到最近的邻居（最相似的训练数据）</a:t>
            </a:r>
            <a:endParaRPr lang="en-US" altLang="zh-CN" dirty="0"/>
          </a:p>
          <a:p>
            <a:pPr lvl="1"/>
            <a:r>
              <a:rPr lang="en-US" altLang="zh-CN" dirty="0"/>
              <a:t>Take the neighbor’s class </a:t>
            </a:r>
            <a:r>
              <a:rPr lang="zh-CN" altLang="en-US" dirty="0"/>
              <a:t>采纳邻居的类别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3. Nearest Neighbor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3. </a:t>
            </a:r>
            <a:r>
              <a:rPr lang="zh-CN" altLang="en-US" dirty="0"/>
              <a:t>最近邻分类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907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Do You Still Remember?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你还记得吗？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3. Nearest Neighbor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3. </a:t>
            </a:r>
            <a:r>
              <a:rPr lang="zh-CN" altLang="en-US" dirty="0"/>
              <a:t>最近邻分类</a:t>
            </a:r>
            <a:endParaRPr lang="en-US" altLang="zh-C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8EB701-CEDA-4698-B580-32553368A8AC}"/>
              </a:ext>
            </a:extLst>
          </p:cNvPr>
          <p:cNvSpPr/>
          <p:nvPr/>
        </p:nvSpPr>
        <p:spPr>
          <a:xfrm>
            <a:off x="1800224" y="1676400"/>
            <a:ext cx="5543551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No assumption, no learning!</a:t>
            </a:r>
          </a:p>
          <a:p>
            <a:pPr lvl="1" algn="ctr" eaLnBrk="1" hangingPunct="1">
              <a:lnSpc>
                <a:spcPct val="90000"/>
              </a:lnSpc>
            </a:pPr>
            <a:r>
              <a:rPr lang="zh-CN" altLang="en-US" sz="22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无假设，不学习！</a:t>
            </a:r>
            <a:endParaRPr lang="en-US" altLang="ja-JP" sz="2200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F9D143-86D6-43C5-A57D-2BC8DE2DAF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" y="4446665"/>
            <a:ext cx="3200677" cy="1440305"/>
          </a:xfrm>
          <a:prstGeom prst="rect">
            <a:avLst/>
          </a:prstGeom>
        </p:spPr>
      </p:pic>
      <p:sp>
        <p:nvSpPr>
          <p:cNvPr id="10" name="Thought Bubble: Cloud 9">
            <a:extLst>
              <a:ext uri="{FF2B5EF4-FFF2-40B4-BE49-F238E27FC236}">
                <a16:creationId xmlns:a16="http://schemas.microsoft.com/office/drawing/2014/main" id="{4F06F45D-BCA3-4BB6-AB62-E4AF079ABA7C}"/>
              </a:ext>
            </a:extLst>
          </p:cNvPr>
          <p:cNvSpPr/>
          <p:nvPr/>
        </p:nvSpPr>
        <p:spPr bwMode="auto">
          <a:xfrm>
            <a:off x="3429000" y="2506978"/>
            <a:ext cx="4343400" cy="1583019"/>
          </a:xfrm>
          <a:prstGeom prst="cloudCallout">
            <a:avLst>
              <a:gd name="adj1" fmla="val -41019"/>
              <a:gd name="adj2" fmla="val 8521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Now where is the assumption?</a:t>
            </a: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那么假设在哪里？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4743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Assumption  </a:t>
            </a:r>
            <a:r>
              <a:rPr lang="zh-CN" altLang="en-US" dirty="0">
                <a:ea typeface="ＭＳ Ｐゴシック" panose="020B0600070205080204" pitchFamily="34" charset="-128"/>
              </a:rPr>
              <a:t>假设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Similar Data Samples Come from the Same Class                         </a:t>
            </a:r>
            <a:r>
              <a:rPr lang="zh-CN" altLang="en-US" dirty="0"/>
              <a:t>相似的数据来自同一个类</a:t>
            </a:r>
            <a:endParaRPr lang="en-US" altLang="zh-CN" dirty="0"/>
          </a:p>
          <a:p>
            <a:r>
              <a:rPr lang="en-US" altLang="zh-CN" dirty="0"/>
              <a:t>Assumption Embedded </a:t>
            </a:r>
            <a:r>
              <a:rPr lang="zh-CN" altLang="en-US" dirty="0"/>
              <a:t>隐含的假设</a:t>
            </a:r>
            <a:endParaRPr lang="en-US" altLang="zh-CN" dirty="0"/>
          </a:p>
          <a:p>
            <a:pPr lvl="1"/>
            <a:r>
              <a:rPr lang="en-US" altLang="zh-CN" dirty="0"/>
              <a:t>How do you define similarity?                </a:t>
            </a:r>
            <a:r>
              <a:rPr lang="zh-CN" altLang="en-US" dirty="0"/>
              <a:t>你怎么定义相似度？</a:t>
            </a:r>
            <a:endParaRPr lang="en-US" altLang="zh-CN" dirty="0"/>
          </a:p>
          <a:p>
            <a:pPr lvl="2"/>
            <a:r>
              <a:rPr lang="en-US" altLang="zh-CN" dirty="0"/>
              <a:t>Different definitions imply different assumptions                                                   </a:t>
            </a:r>
            <a:r>
              <a:rPr lang="zh-CN" altLang="en-US" dirty="0"/>
              <a:t>不同的定义意味着不同的假设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3. Nearest Neighbor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3. </a:t>
            </a:r>
            <a:r>
              <a:rPr lang="zh-CN" altLang="en-US" dirty="0"/>
              <a:t>最近邻分类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408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Similarity/Distance </a:t>
            </a:r>
            <a:r>
              <a:rPr lang="zh-CN" altLang="en-US" dirty="0">
                <a:ea typeface="ＭＳ Ｐゴシック" panose="020B0600070205080204" pitchFamily="34" charset="-128"/>
              </a:rPr>
              <a:t>相似度</a:t>
            </a:r>
            <a:r>
              <a:rPr lang="en-US" altLang="zh-CN" dirty="0">
                <a:ea typeface="ＭＳ Ｐゴシック" panose="020B0600070205080204" pitchFamily="34" charset="-128"/>
              </a:rPr>
              <a:t>/</a:t>
            </a:r>
            <a:r>
              <a:rPr lang="zh-CN" altLang="en-US" dirty="0">
                <a:ea typeface="ＭＳ Ｐゴシック" panose="020B0600070205080204" pitchFamily="34" charset="-128"/>
              </a:rPr>
              <a:t>距离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3. Nearest Neighbor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3. </a:t>
            </a:r>
            <a:r>
              <a:rPr lang="zh-CN" altLang="en-US" dirty="0"/>
              <a:t>最近邻分类</a:t>
            </a:r>
            <a:endParaRPr lang="en-US" altLang="zh-C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34921C0-F7C8-4CF7-BF03-95FC033903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784524"/>
              </p:ext>
            </p:extLst>
          </p:nvPr>
        </p:nvGraphicFramePr>
        <p:xfrm>
          <a:off x="990600" y="1752600"/>
          <a:ext cx="6324600" cy="9144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55444688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00362665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15170625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623352868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413388472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26785790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病人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发烧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鼻塞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流涕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畏寒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头痛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191170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714834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SimSun" panose="02010600030101010101" pitchFamily="2" charset="-122"/>
                        </a:rPr>
                        <a:t>b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否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0596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8F4D3FB-1BB9-47AB-BA16-248B52A7B90E}"/>
              </a:ext>
            </a:extLst>
          </p:cNvPr>
          <p:cNvSpPr txBox="1"/>
          <p:nvPr/>
        </p:nvSpPr>
        <p:spPr>
          <a:xfrm>
            <a:off x="1783080" y="2819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0A2E97-DCF7-4318-8961-51407AD8C11C}"/>
              </a:ext>
            </a:extLst>
          </p:cNvPr>
          <p:cNvSpPr txBox="1"/>
          <p:nvPr/>
        </p:nvSpPr>
        <p:spPr>
          <a:xfrm>
            <a:off x="2819400" y="2819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A09427-EA30-40AC-A3DD-C519C1EED7A9}"/>
              </a:ext>
            </a:extLst>
          </p:cNvPr>
          <p:cNvSpPr txBox="1"/>
          <p:nvPr/>
        </p:nvSpPr>
        <p:spPr>
          <a:xfrm>
            <a:off x="4084320" y="2819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255B11-EB35-4498-9BDA-B9D9BCB5321E}"/>
              </a:ext>
            </a:extLst>
          </p:cNvPr>
          <p:cNvSpPr txBox="1"/>
          <p:nvPr/>
        </p:nvSpPr>
        <p:spPr>
          <a:xfrm>
            <a:off x="5257800" y="2819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527FF8-A024-4890-A3A4-7C72D00AAFE0}"/>
              </a:ext>
            </a:extLst>
          </p:cNvPr>
          <p:cNvSpPr txBox="1"/>
          <p:nvPr/>
        </p:nvSpPr>
        <p:spPr>
          <a:xfrm>
            <a:off x="2301240" y="283464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C54C68-7917-4022-B953-CBF0156950DE}"/>
              </a:ext>
            </a:extLst>
          </p:cNvPr>
          <p:cNvSpPr txBox="1"/>
          <p:nvPr/>
        </p:nvSpPr>
        <p:spPr>
          <a:xfrm>
            <a:off x="6431280" y="2819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152B69-AAB9-406C-ACF8-AF426C71FE91}"/>
              </a:ext>
            </a:extLst>
          </p:cNvPr>
          <p:cNvSpPr txBox="1"/>
          <p:nvPr/>
        </p:nvSpPr>
        <p:spPr>
          <a:xfrm>
            <a:off x="3429000" y="2819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8DE291-C0D9-4D9F-8FFC-5530A04D34E9}"/>
              </a:ext>
            </a:extLst>
          </p:cNvPr>
          <p:cNvSpPr txBox="1"/>
          <p:nvPr/>
        </p:nvSpPr>
        <p:spPr>
          <a:xfrm>
            <a:off x="4714081" y="283464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EED40E-968C-4118-9B80-5CF404673AA4}"/>
              </a:ext>
            </a:extLst>
          </p:cNvPr>
          <p:cNvSpPr txBox="1"/>
          <p:nvPr/>
        </p:nvSpPr>
        <p:spPr>
          <a:xfrm>
            <a:off x="5806440" y="2819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4AB702-13B4-4071-8E6A-151299001495}"/>
              </a:ext>
            </a:extLst>
          </p:cNvPr>
          <p:cNvSpPr txBox="1"/>
          <p:nvPr/>
        </p:nvSpPr>
        <p:spPr>
          <a:xfrm>
            <a:off x="7126922" y="2819400"/>
            <a:ext cx="721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=   2</a:t>
            </a:r>
            <a:endParaRPr lang="zh-CN" alt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C61E7A-2B7B-47FE-8B96-9EE43D50DDA2}"/>
              </a:ext>
            </a:extLst>
          </p:cNvPr>
          <p:cNvSpPr/>
          <p:nvPr/>
        </p:nvSpPr>
        <p:spPr>
          <a:xfrm>
            <a:off x="381000" y="3336971"/>
            <a:ext cx="8382000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Figure out </a:t>
            </a:r>
            <a:r>
              <a:rPr lang="en-US" altLang="ja-JP" sz="2200" dirty="0">
                <a:ea typeface="ＭＳ Ｐゴシック" panose="020B0600070205080204" pitchFamily="34" charset="-128"/>
              </a:rPr>
              <a:t>the difference of values for each attribute, and then aggregate the differences</a:t>
            </a: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找出每个属性上的差异，然后把这些差异汇总起来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C550CBD-33FA-424C-B7ED-6D9E3103A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115651"/>
              </p:ext>
            </p:extLst>
          </p:nvPr>
        </p:nvGraphicFramePr>
        <p:xfrm>
          <a:off x="1447800" y="4648200"/>
          <a:ext cx="5791200" cy="914400"/>
        </p:xfrm>
        <a:graphic>
          <a:graphicData uri="http://schemas.openxmlformats.org/drawingml/2006/table">
            <a:tbl>
              <a:tblPr/>
              <a:tblGrid>
                <a:gridCol w="946785">
                  <a:extLst>
                    <a:ext uri="{9D8B030D-6E8A-4147-A177-3AD203B41FA5}">
                      <a16:colId xmlns:a16="http://schemas.microsoft.com/office/drawing/2014/main" val="300362665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15170625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62335286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133884723"/>
                    </a:ext>
                  </a:extLst>
                </a:gridCol>
                <a:gridCol w="958215">
                  <a:extLst>
                    <a:ext uri="{9D8B030D-6E8A-4147-A177-3AD203B41FA5}">
                      <a16:colId xmlns:a16="http://schemas.microsoft.com/office/drawing/2014/main" val="2026785790"/>
                    </a:ext>
                  </a:extLst>
                </a:gridCol>
              </a:tblGrid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属性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属性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属性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3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…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属性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n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191170"/>
                  </a:ext>
                </a:extLst>
              </a:tr>
              <a:tr h="271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2.1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6.1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-1.7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…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7.2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714834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5.6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-1.3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-3.3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…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05968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BC3054B2-C77D-42C1-A0CB-1A5AAD489936}"/>
              </a:ext>
            </a:extLst>
          </p:cNvPr>
          <p:cNvSpPr txBox="1"/>
          <p:nvPr/>
        </p:nvSpPr>
        <p:spPr>
          <a:xfrm>
            <a:off x="1600200" y="567699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3.5</a:t>
            </a:r>
            <a:endParaRPr lang="zh-CN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24C0EC-872E-4153-9913-249D9C5A9752}"/>
              </a:ext>
            </a:extLst>
          </p:cNvPr>
          <p:cNvSpPr txBox="1"/>
          <p:nvPr/>
        </p:nvSpPr>
        <p:spPr>
          <a:xfrm>
            <a:off x="2567940" y="567699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7.4</a:t>
            </a:r>
            <a:endParaRPr lang="zh-CN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B0889A-0081-4F6E-B50B-320A2C48611E}"/>
              </a:ext>
            </a:extLst>
          </p:cNvPr>
          <p:cNvSpPr txBox="1"/>
          <p:nvPr/>
        </p:nvSpPr>
        <p:spPr>
          <a:xfrm>
            <a:off x="3543300" y="567699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1.6</a:t>
            </a:r>
            <a:endParaRPr lang="zh-CN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842715-C36C-4277-8EFF-1F6D5C1B55B3}"/>
              </a:ext>
            </a:extLst>
          </p:cNvPr>
          <p:cNvSpPr txBox="1"/>
          <p:nvPr/>
        </p:nvSpPr>
        <p:spPr>
          <a:xfrm>
            <a:off x="6440805" y="567699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7.2</a:t>
            </a:r>
            <a:endParaRPr lang="zh-CN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966797-E419-4211-84F5-ED850551B705}"/>
              </a:ext>
            </a:extLst>
          </p:cNvPr>
          <p:cNvSpPr txBox="1"/>
          <p:nvPr/>
        </p:nvSpPr>
        <p:spPr>
          <a:xfrm>
            <a:off x="5018881" y="567699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BD5BAB-E8CB-412A-9C1F-CD08555A2219}"/>
              </a:ext>
            </a:extLst>
          </p:cNvPr>
          <p:cNvSpPr txBox="1"/>
          <p:nvPr/>
        </p:nvSpPr>
        <p:spPr>
          <a:xfrm>
            <a:off x="2087880" y="56668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9AF101-4327-4264-BBE5-A80D27307692}"/>
              </a:ext>
            </a:extLst>
          </p:cNvPr>
          <p:cNvSpPr txBox="1"/>
          <p:nvPr/>
        </p:nvSpPr>
        <p:spPr>
          <a:xfrm>
            <a:off x="3000930" y="56668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707E9C-4F45-4042-8985-08885AD9D9D5}"/>
              </a:ext>
            </a:extLst>
          </p:cNvPr>
          <p:cNvSpPr txBox="1"/>
          <p:nvPr/>
        </p:nvSpPr>
        <p:spPr>
          <a:xfrm>
            <a:off x="4080510" y="568708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2B3ABE-74C2-42EA-A2E6-3EED62A4F90A}"/>
              </a:ext>
            </a:extLst>
          </p:cNvPr>
          <p:cNvSpPr txBox="1"/>
          <p:nvPr/>
        </p:nvSpPr>
        <p:spPr>
          <a:xfrm>
            <a:off x="5957252" y="56668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+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492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3.1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3.1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3. Nearest Neighbor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3. </a:t>
            </a:r>
            <a:r>
              <a:rPr lang="zh-CN" altLang="en-US" dirty="0"/>
              <a:t>最近邻分类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try nearest neighbor classification</a:t>
            </a:r>
          </a:p>
          <a:p>
            <a:pPr algn="ctr"/>
            <a:r>
              <a:rPr lang="zh-CN" altLang="en-US" sz="2200" dirty="0"/>
              <a:t>实践时刻：尝试最近邻分类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F6605-906F-4F39-BD56-58FE01C9CDA6}"/>
              </a:ext>
            </a:extLst>
          </p:cNvPr>
          <p:cNvSpPr txBox="1"/>
          <p:nvPr/>
        </p:nvSpPr>
        <p:spPr>
          <a:xfrm>
            <a:off x="266700" y="5013971"/>
            <a:ext cx="8610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Use nearest neighbor classification to recognize handwritten ZIP codes</a:t>
            </a:r>
          </a:p>
          <a:p>
            <a:pPr algn="ctr"/>
            <a:r>
              <a:rPr lang="zh-CN" altLang="en-US" sz="2200" dirty="0"/>
              <a:t>用最近邻分类进行手写邮政编码识别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618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3.2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3.2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3. Nearest Neighbor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3. </a:t>
            </a:r>
            <a:r>
              <a:rPr lang="zh-CN" altLang="en-US" dirty="0"/>
              <a:t>最近邻分类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accelerate nearest neighbor classification</a:t>
            </a:r>
          </a:p>
          <a:p>
            <a:pPr algn="ctr"/>
            <a:r>
              <a:rPr lang="zh-CN" altLang="en-US" sz="2200" dirty="0"/>
              <a:t>实践时刻：加速最近邻分类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F6605-906F-4F39-BD56-58FE01C9CDA6}"/>
              </a:ext>
            </a:extLst>
          </p:cNvPr>
          <p:cNvSpPr txBox="1"/>
          <p:nvPr/>
        </p:nvSpPr>
        <p:spPr>
          <a:xfrm>
            <a:off x="266700" y="5013971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Use NumPy library </a:t>
            </a:r>
          </a:p>
          <a:p>
            <a:pPr algn="ctr"/>
            <a:r>
              <a:rPr lang="zh-CN" altLang="en-US" sz="2200" dirty="0"/>
              <a:t>用</a:t>
            </a:r>
            <a:r>
              <a:rPr lang="en-US" altLang="zh-CN" sz="2200" dirty="0"/>
              <a:t>NumPy</a:t>
            </a:r>
            <a:r>
              <a:rPr lang="zh-CN" altLang="en-US" sz="2200" dirty="0"/>
              <a:t>库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5920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Euclidean Distance </a:t>
            </a:r>
            <a:r>
              <a:rPr lang="zh-CN" altLang="en-US" dirty="0">
                <a:ea typeface="ＭＳ Ｐゴシック" panose="020B0600070205080204" pitchFamily="34" charset="-128"/>
              </a:rPr>
              <a:t>欧氏距离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3. Nearest Neighbor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3. </a:t>
            </a:r>
            <a:r>
              <a:rPr lang="zh-CN" altLang="en-US" dirty="0"/>
              <a:t>最近邻分类</a:t>
            </a:r>
            <a:endParaRPr lang="en-US" altLang="zh-C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F3C93CA-14ED-4897-B617-3BF2205C77DD}"/>
              </a:ext>
            </a:extLst>
          </p:cNvPr>
          <p:cNvCxnSpPr/>
          <p:nvPr/>
        </p:nvCxnSpPr>
        <p:spPr bwMode="auto">
          <a:xfrm>
            <a:off x="1905000" y="3886200"/>
            <a:ext cx="5257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013AFB-C190-4B3F-8B42-34E8A2E53CFF}"/>
              </a:ext>
            </a:extLst>
          </p:cNvPr>
          <p:cNvCxnSpPr>
            <a:cxnSpLocks/>
          </p:cNvCxnSpPr>
          <p:nvPr/>
        </p:nvCxnSpPr>
        <p:spPr bwMode="auto">
          <a:xfrm flipV="1">
            <a:off x="4556760" y="1524000"/>
            <a:ext cx="0" cy="4495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324210B-D021-46F6-95F9-9B1A5A8B1161}"/>
              </a:ext>
            </a:extLst>
          </p:cNvPr>
          <p:cNvSpPr/>
          <p:nvPr/>
        </p:nvSpPr>
        <p:spPr>
          <a:xfrm>
            <a:off x="6256022" y="3429000"/>
            <a:ext cx="1904998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Attribute 1</a:t>
            </a:r>
          </a:p>
          <a:p>
            <a:pPr marL="0" lvl="1" algn="ctr" eaLnBrk="1" hangingPunct="1">
              <a:lnSpc>
                <a:spcPct val="90000"/>
              </a:lnSpc>
            </a:pPr>
            <a:endParaRPr lang="en-US" altLang="ja-JP" sz="2200" dirty="0">
              <a:ea typeface="ＭＳ Ｐゴシック" panose="020B0600070205080204" pitchFamily="34" charset="-128"/>
            </a:endParaRP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属性</a:t>
            </a:r>
            <a:r>
              <a:rPr lang="en-US" altLang="zh-CN" sz="2200" dirty="0">
                <a:ea typeface="ＭＳ Ｐゴシック" panose="020B0600070205080204" pitchFamily="34" charset="-128"/>
              </a:rPr>
              <a:t>1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0DB23B3-084D-4028-974E-75C8DDCD2A1D}"/>
              </a:ext>
            </a:extLst>
          </p:cNvPr>
          <p:cNvSpPr/>
          <p:nvPr/>
        </p:nvSpPr>
        <p:spPr>
          <a:xfrm>
            <a:off x="2819400" y="1584192"/>
            <a:ext cx="2697478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Attribute 2  </a:t>
            </a:r>
            <a:r>
              <a:rPr lang="zh-CN" altLang="en-US" sz="2200" dirty="0">
                <a:ea typeface="ＭＳ Ｐゴシック" panose="020B0600070205080204" pitchFamily="34" charset="-128"/>
              </a:rPr>
              <a:t>属性</a:t>
            </a:r>
            <a:r>
              <a:rPr lang="en-US" altLang="zh-CN" sz="2200" dirty="0">
                <a:ea typeface="ＭＳ Ｐゴシック" panose="020B0600070205080204" pitchFamily="34" charset="-128"/>
              </a:rPr>
              <a:t>2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B2E23E4-DC6A-4AA7-8989-FED398B42F18}"/>
              </a:ext>
            </a:extLst>
          </p:cNvPr>
          <p:cNvGrpSpPr/>
          <p:nvPr/>
        </p:nvGrpSpPr>
        <p:grpSpPr>
          <a:xfrm>
            <a:off x="1823085" y="3087678"/>
            <a:ext cx="2087877" cy="701731"/>
            <a:chOff x="1903097" y="3087678"/>
            <a:chExt cx="2087877" cy="701731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683F699-F86D-4A4B-801C-9B5925C2223E}"/>
                </a:ext>
              </a:extLst>
            </p:cNvPr>
            <p:cNvSpPr/>
            <p:nvPr/>
          </p:nvSpPr>
          <p:spPr bwMode="auto">
            <a:xfrm>
              <a:off x="3863338" y="3540079"/>
              <a:ext cx="108586" cy="117521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CCA938E-A76C-4F48-9150-599222656F14}"/>
                </a:ext>
              </a:extLst>
            </p:cNvPr>
            <p:cNvSpPr/>
            <p:nvPr/>
          </p:nvSpPr>
          <p:spPr>
            <a:xfrm>
              <a:off x="1903097" y="3087678"/>
              <a:ext cx="2087877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Data sample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数据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： 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(-3,1)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5FF8507-28E3-409A-97B3-0A08F4EAB756}"/>
              </a:ext>
            </a:extLst>
          </p:cNvPr>
          <p:cNvGrpSpPr/>
          <p:nvPr/>
        </p:nvGrpSpPr>
        <p:grpSpPr>
          <a:xfrm>
            <a:off x="4648200" y="4319587"/>
            <a:ext cx="2087877" cy="951018"/>
            <a:chOff x="4707253" y="4343400"/>
            <a:chExt cx="2087877" cy="951018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88F74C0-6599-4B1A-A79A-82867306E6F8}"/>
                </a:ext>
              </a:extLst>
            </p:cNvPr>
            <p:cNvSpPr/>
            <p:nvPr/>
          </p:nvSpPr>
          <p:spPr>
            <a:xfrm>
              <a:off x="4707253" y="4592687"/>
              <a:ext cx="2087877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Data sample 2</a:t>
              </a: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数据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： 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(1,-2)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368FB5F-0C5A-4CF2-93DF-64FDA2A124BC}"/>
                </a:ext>
              </a:extLst>
            </p:cNvPr>
            <p:cNvSpPr/>
            <p:nvPr/>
          </p:nvSpPr>
          <p:spPr bwMode="auto">
            <a:xfrm>
              <a:off x="4844414" y="4343400"/>
              <a:ext cx="108586" cy="117521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17EE00-2FED-4732-A238-4826D8AF92E4}"/>
              </a:ext>
            </a:extLst>
          </p:cNvPr>
          <p:cNvCxnSpPr>
            <a:cxnSpLocks/>
          </p:cNvCxnSpPr>
          <p:nvPr/>
        </p:nvCxnSpPr>
        <p:spPr bwMode="auto">
          <a:xfrm flipV="1">
            <a:off x="4838700" y="2971801"/>
            <a:ext cx="0" cy="15970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4B69E5B-2812-4A4D-B53E-7BBD5BA3EC46}"/>
              </a:ext>
            </a:extLst>
          </p:cNvPr>
          <p:cNvCxnSpPr>
            <a:cxnSpLocks/>
          </p:cNvCxnSpPr>
          <p:nvPr/>
        </p:nvCxnSpPr>
        <p:spPr bwMode="auto">
          <a:xfrm flipV="1">
            <a:off x="3834762" y="3000376"/>
            <a:ext cx="0" cy="15970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2DD0E01-1CC1-404C-922D-68CF0550933E}"/>
              </a:ext>
            </a:extLst>
          </p:cNvPr>
          <p:cNvCxnSpPr>
            <a:cxnSpLocks/>
          </p:cNvCxnSpPr>
          <p:nvPr/>
        </p:nvCxnSpPr>
        <p:spPr bwMode="auto">
          <a:xfrm>
            <a:off x="3830288" y="3600450"/>
            <a:ext cx="101793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B1238642-EE1C-4DFD-B317-EF558ADEE85F}"/>
              </a:ext>
            </a:extLst>
          </p:cNvPr>
          <p:cNvSpPr/>
          <p:nvPr/>
        </p:nvSpPr>
        <p:spPr>
          <a:xfrm>
            <a:off x="3863339" y="3250936"/>
            <a:ext cx="920111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4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93D708E-5E7A-4ABE-9A43-387C8F104EC7}"/>
              </a:ext>
            </a:extLst>
          </p:cNvPr>
          <p:cNvCxnSpPr>
            <a:cxnSpLocks/>
          </p:cNvCxnSpPr>
          <p:nvPr/>
        </p:nvCxnSpPr>
        <p:spPr bwMode="auto">
          <a:xfrm>
            <a:off x="3733800" y="4372717"/>
            <a:ext cx="14249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99B3924-84E4-4973-B898-8397AACD29C6}"/>
              </a:ext>
            </a:extLst>
          </p:cNvPr>
          <p:cNvCxnSpPr>
            <a:cxnSpLocks/>
          </p:cNvCxnSpPr>
          <p:nvPr/>
        </p:nvCxnSpPr>
        <p:spPr bwMode="auto">
          <a:xfrm>
            <a:off x="3733800" y="3598211"/>
            <a:ext cx="14249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D70D175-99E0-4316-8DBE-5493805D7B11}"/>
              </a:ext>
            </a:extLst>
          </p:cNvPr>
          <p:cNvCxnSpPr>
            <a:cxnSpLocks/>
          </p:cNvCxnSpPr>
          <p:nvPr/>
        </p:nvCxnSpPr>
        <p:spPr bwMode="auto">
          <a:xfrm>
            <a:off x="4838700" y="3600450"/>
            <a:ext cx="0" cy="7778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3306E13F-0E32-4D09-AE9C-82D95661E9CC}"/>
              </a:ext>
            </a:extLst>
          </p:cNvPr>
          <p:cNvSpPr/>
          <p:nvPr/>
        </p:nvSpPr>
        <p:spPr>
          <a:xfrm>
            <a:off x="4520291" y="3871782"/>
            <a:ext cx="920111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3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C03A3C4-5AE6-4876-A7DF-2203210E556C}"/>
              </a:ext>
            </a:extLst>
          </p:cNvPr>
          <p:cNvCxnSpPr>
            <a:cxnSpLocks/>
          </p:cNvCxnSpPr>
          <p:nvPr/>
        </p:nvCxnSpPr>
        <p:spPr bwMode="auto">
          <a:xfrm>
            <a:off x="3807426" y="3596616"/>
            <a:ext cx="1063659" cy="7778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621921-FFBA-4944-8554-C7A84BFCAD73}"/>
                  </a:ext>
                </a:extLst>
              </p:cNvPr>
              <p:cNvSpPr txBox="1"/>
              <p:nvPr/>
            </p:nvSpPr>
            <p:spPr>
              <a:xfrm>
                <a:off x="2727680" y="3854318"/>
                <a:ext cx="1796416" cy="435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zh-CN" alt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621921-FFBA-4944-8554-C7A84BFCA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680" y="3854318"/>
                <a:ext cx="1796416" cy="4354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00FDA17-B6E9-4E2B-A8D5-2A3C6BDCB88B}"/>
                  </a:ext>
                </a:extLst>
              </p:cNvPr>
              <p:cNvSpPr txBox="1"/>
              <p:nvPr/>
            </p:nvSpPr>
            <p:spPr>
              <a:xfrm>
                <a:off x="1922148" y="5349368"/>
                <a:ext cx="5943597" cy="656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vs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00FDA17-B6E9-4E2B-A8D5-2A3C6BDCB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2148" y="5349368"/>
                <a:ext cx="5943597" cy="6560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23337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51" grpId="0"/>
      <p:bldP spid="64" grpId="0"/>
      <p:bldP spid="70" grpId="0"/>
      <p:bldP spid="7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Euclidean Distance </a:t>
            </a:r>
            <a:r>
              <a:rPr lang="zh-CN" altLang="en-US" dirty="0">
                <a:ea typeface="ＭＳ Ｐゴシック" panose="020B0600070205080204" pitchFamily="34" charset="-128"/>
              </a:rPr>
              <a:t>欧氏距离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3. Nearest Neighbor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3. </a:t>
            </a:r>
            <a:r>
              <a:rPr lang="zh-CN" altLang="en-US" dirty="0"/>
              <a:t>最近邻分类</a:t>
            </a:r>
            <a:endParaRPr lang="en-US" altLang="zh-C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F3C93CA-14ED-4897-B617-3BF2205C77DD}"/>
              </a:ext>
            </a:extLst>
          </p:cNvPr>
          <p:cNvCxnSpPr/>
          <p:nvPr/>
        </p:nvCxnSpPr>
        <p:spPr bwMode="auto">
          <a:xfrm>
            <a:off x="1905000" y="3886200"/>
            <a:ext cx="5257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013AFB-C190-4B3F-8B42-34E8A2E53CFF}"/>
              </a:ext>
            </a:extLst>
          </p:cNvPr>
          <p:cNvCxnSpPr>
            <a:cxnSpLocks/>
          </p:cNvCxnSpPr>
          <p:nvPr/>
        </p:nvCxnSpPr>
        <p:spPr bwMode="auto">
          <a:xfrm flipV="1">
            <a:off x="4556760" y="1524000"/>
            <a:ext cx="0" cy="4495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324210B-D021-46F6-95F9-9B1A5A8B1161}"/>
              </a:ext>
            </a:extLst>
          </p:cNvPr>
          <p:cNvSpPr/>
          <p:nvPr/>
        </p:nvSpPr>
        <p:spPr>
          <a:xfrm>
            <a:off x="6256022" y="3429000"/>
            <a:ext cx="1904998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Attribute 1</a:t>
            </a:r>
          </a:p>
          <a:p>
            <a:pPr marL="0" lvl="1" algn="ctr" eaLnBrk="1" hangingPunct="1">
              <a:lnSpc>
                <a:spcPct val="90000"/>
              </a:lnSpc>
            </a:pPr>
            <a:endParaRPr lang="en-US" altLang="ja-JP" sz="2200" dirty="0">
              <a:ea typeface="ＭＳ Ｐゴシック" panose="020B0600070205080204" pitchFamily="34" charset="-128"/>
            </a:endParaRP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属性</a:t>
            </a:r>
            <a:r>
              <a:rPr lang="en-US" altLang="zh-CN" sz="2200" dirty="0">
                <a:ea typeface="ＭＳ Ｐゴシック" panose="020B0600070205080204" pitchFamily="34" charset="-128"/>
              </a:rPr>
              <a:t>1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0DB23B3-084D-4028-974E-75C8DDCD2A1D}"/>
              </a:ext>
            </a:extLst>
          </p:cNvPr>
          <p:cNvSpPr/>
          <p:nvPr/>
        </p:nvSpPr>
        <p:spPr>
          <a:xfrm>
            <a:off x="2819400" y="1584192"/>
            <a:ext cx="2697478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Attribute 2  </a:t>
            </a:r>
            <a:r>
              <a:rPr lang="zh-CN" altLang="en-US" sz="2200" dirty="0">
                <a:ea typeface="ＭＳ Ｐゴシック" panose="020B0600070205080204" pitchFamily="34" charset="-128"/>
              </a:rPr>
              <a:t>属性</a:t>
            </a:r>
            <a:r>
              <a:rPr lang="en-US" altLang="zh-CN" sz="2200" dirty="0">
                <a:ea typeface="ＭＳ Ｐゴシック" panose="020B0600070205080204" pitchFamily="34" charset="-128"/>
              </a:rPr>
              <a:t>2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B2E23E4-DC6A-4AA7-8989-FED398B42F18}"/>
              </a:ext>
            </a:extLst>
          </p:cNvPr>
          <p:cNvGrpSpPr/>
          <p:nvPr/>
        </p:nvGrpSpPr>
        <p:grpSpPr>
          <a:xfrm>
            <a:off x="709231" y="3932343"/>
            <a:ext cx="2421711" cy="701731"/>
            <a:chOff x="1550213" y="3445304"/>
            <a:chExt cx="2421711" cy="701731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683F699-F86D-4A4B-801C-9B5925C2223E}"/>
                </a:ext>
              </a:extLst>
            </p:cNvPr>
            <p:cNvSpPr/>
            <p:nvPr/>
          </p:nvSpPr>
          <p:spPr bwMode="auto">
            <a:xfrm>
              <a:off x="3863338" y="3540079"/>
              <a:ext cx="108586" cy="117521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CCA938E-A76C-4F48-9150-599222656F14}"/>
                </a:ext>
              </a:extLst>
            </p:cNvPr>
            <p:cNvSpPr/>
            <p:nvPr/>
          </p:nvSpPr>
          <p:spPr>
            <a:xfrm>
              <a:off x="1550213" y="3445304"/>
              <a:ext cx="2087877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Data sample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数据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： 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(-3,1,-4)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5FF8507-28E3-409A-97B3-0A08F4EAB756}"/>
              </a:ext>
            </a:extLst>
          </p:cNvPr>
          <p:cNvGrpSpPr/>
          <p:nvPr/>
        </p:nvGrpSpPr>
        <p:grpSpPr>
          <a:xfrm>
            <a:off x="6779261" y="2715745"/>
            <a:ext cx="2242816" cy="701731"/>
            <a:chOff x="4844414" y="4160370"/>
            <a:chExt cx="2242816" cy="701731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88F74C0-6599-4B1A-A79A-82867306E6F8}"/>
                </a:ext>
              </a:extLst>
            </p:cNvPr>
            <p:cNvSpPr/>
            <p:nvPr/>
          </p:nvSpPr>
          <p:spPr>
            <a:xfrm>
              <a:off x="4999353" y="4160370"/>
              <a:ext cx="2087877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Data sample 2</a:t>
              </a: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数据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： 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(1,-2,8)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368FB5F-0C5A-4CF2-93DF-64FDA2A124BC}"/>
                </a:ext>
              </a:extLst>
            </p:cNvPr>
            <p:cNvSpPr/>
            <p:nvPr/>
          </p:nvSpPr>
          <p:spPr bwMode="auto">
            <a:xfrm>
              <a:off x="4844414" y="4343400"/>
              <a:ext cx="108586" cy="117521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17EE00-2FED-4732-A238-4826D8AF92E4}"/>
              </a:ext>
            </a:extLst>
          </p:cNvPr>
          <p:cNvCxnSpPr>
            <a:cxnSpLocks/>
          </p:cNvCxnSpPr>
          <p:nvPr/>
        </p:nvCxnSpPr>
        <p:spPr bwMode="auto">
          <a:xfrm flipV="1">
            <a:off x="6837997" y="1840863"/>
            <a:ext cx="0" cy="15970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4B69E5B-2812-4A4D-B53E-7BBD5BA3EC46}"/>
              </a:ext>
            </a:extLst>
          </p:cNvPr>
          <p:cNvCxnSpPr>
            <a:cxnSpLocks/>
          </p:cNvCxnSpPr>
          <p:nvPr/>
        </p:nvCxnSpPr>
        <p:spPr bwMode="auto">
          <a:xfrm flipV="1">
            <a:off x="5834352" y="1981329"/>
            <a:ext cx="0" cy="15970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2DD0E01-1CC1-404C-922D-68CF0550933E}"/>
              </a:ext>
            </a:extLst>
          </p:cNvPr>
          <p:cNvCxnSpPr>
            <a:cxnSpLocks/>
          </p:cNvCxnSpPr>
          <p:nvPr/>
        </p:nvCxnSpPr>
        <p:spPr bwMode="auto">
          <a:xfrm>
            <a:off x="5834352" y="2231521"/>
            <a:ext cx="101793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B1238642-EE1C-4DFD-B317-EF558ADEE85F}"/>
              </a:ext>
            </a:extLst>
          </p:cNvPr>
          <p:cNvSpPr/>
          <p:nvPr/>
        </p:nvSpPr>
        <p:spPr>
          <a:xfrm>
            <a:off x="5917886" y="1840863"/>
            <a:ext cx="920111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4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93D708E-5E7A-4ABE-9A43-387C8F104EC7}"/>
              </a:ext>
            </a:extLst>
          </p:cNvPr>
          <p:cNvCxnSpPr>
            <a:cxnSpLocks/>
          </p:cNvCxnSpPr>
          <p:nvPr/>
        </p:nvCxnSpPr>
        <p:spPr bwMode="auto">
          <a:xfrm>
            <a:off x="5665471" y="2948752"/>
            <a:ext cx="14249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99B3924-84E4-4973-B898-8397AACD29C6}"/>
              </a:ext>
            </a:extLst>
          </p:cNvPr>
          <p:cNvCxnSpPr>
            <a:cxnSpLocks/>
          </p:cNvCxnSpPr>
          <p:nvPr/>
        </p:nvCxnSpPr>
        <p:spPr bwMode="auto">
          <a:xfrm>
            <a:off x="5655313" y="2237871"/>
            <a:ext cx="14249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D70D175-99E0-4316-8DBE-5493805D7B11}"/>
              </a:ext>
            </a:extLst>
          </p:cNvPr>
          <p:cNvCxnSpPr>
            <a:cxnSpLocks/>
          </p:cNvCxnSpPr>
          <p:nvPr/>
        </p:nvCxnSpPr>
        <p:spPr bwMode="auto">
          <a:xfrm>
            <a:off x="6850697" y="2205037"/>
            <a:ext cx="0" cy="7778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3306E13F-0E32-4D09-AE9C-82D95661E9CC}"/>
              </a:ext>
            </a:extLst>
          </p:cNvPr>
          <p:cNvSpPr/>
          <p:nvPr/>
        </p:nvSpPr>
        <p:spPr>
          <a:xfrm>
            <a:off x="6533946" y="2410889"/>
            <a:ext cx="920111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3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C03A3C4-5AE6-4876-A7DF-2203210E556C}"/>
              </a:ext>
            </a:extLst>
          </p:cNvPr>
          <p:cNvCxnSpPr>
            <a:cxnSpLocks/>
          </p:cNvCxnSpPr>
          <p:nvPr/>
        </p:nvCxnSpPr>
        <p:spPr bwMode="auto">
          <a:xfrm>
            <a:off x="5835953" y="2241504"/>
            <a:ext cx="1063659" cy="7778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621921-FFBA-4944-8554-C7A84BFCAD73}"/>
                  </a:ext>
                </a:extLst>
              </p:cNvPr>
              <p:cNvSpPr txBox="1"/>
              <p:nvPr/>
            </p:nvSpPr>
            <p:spPr>
              <a:xfrm>
                <a:off x="4891721" y="2571131"/>
                <a:ext cx="1796416" cy="435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zh-CN" alt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621921-FFBA-4944-8554-C7A84BFCA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721" y="2571131"/>
                <a:ext cx="1796416" cy="4354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00FDA17-B6E9-4E2B-A8D5-2A3C6BDCB88B}"/>
                  </a:ext>
                </a:extLst>
              </p:cNvPr>
              <p:cNvSpPr txBox="1"/>
              <p:nvPr/>
            </p:nvSpPr>
            <p:spPr>
              <a:xfrm>
                <a:off x="990600" y="5349368"/>
                <a:ext cx="8153400" cy="656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vs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: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00FDA17-B6E9-4E2B-A8D5-2A3C6BDCB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349368"/>
                <a:ext cx="8153400" cy="6560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4E1CAEF-52B1-4A59-8E77-2D0DF2ACC996}"/>
              </a:ext>
            </a:extLst>
          </p:cNvPr>
          <p:cNvCxnSpPr>
            <a:cxnSpLocks/>
          </p:cNvCxnSpPr>
          <p:nvPr/>
        </p:nvCxnSpPr>
        <p:spPr bwMode="auto">
          <a:xfrm flipV="1">
            <a:off x="2727680" y="1981200"/>
            <a:ext cx="4587520" cy="31845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58D0F80-41DC-42AC-B7BF-07896B74BB99}"/>
              </a:ext>
            </a:extLst>
          </p:cNvPr>
          <p:cNvSpPr/>
          <p:nvPr/>
        </p:nvSpPr>
        <p:spPr>
          <a:xfrm>
            <a:off x="6934200" y="1559057"/>
            <a:ext cx="1752595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Attribute 3  </a:t>
            </a:r>
            <a:r>
              <a:rPr lang="zh-CN" altLang="en-US" sz="2200" dirty="0">
                <a:ea typeface="ＭＳ Ｐゴシック" panose="020B0600070205080204" pitchFamily="34" charset="-128"/>
              </a:rPr>
              <a:t>属性</a:t>
            </a:r>
            <a:r>
              <a:rPr lang="en-US" altLang="zh-CN" sz="2200" dirty="0">
                <a:ea typeface="ＭＳ Ｐゴシック" panose="020B0600070205080204" pitchFamily="34" charset="-128"/>
              </a:rPr>
              <a:t>3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26372A-077A-4236-8097-0FB8CC291BD5}"/>
              </a:ext>
            </a:extLst>
          </p:cNvPr>
          <p:cNvCxnSpPr>
            <a:cxnSpLocks/>
          </p:cNvCxnSpPr>
          <p:nvPr/>
        </p:nvCxnSpPr>
        <p:spPr bwMode="auto">
          <a:xfrm flipV="1">
            <a:off x="2866537" y="1966781"/>
            <a:ext cx="3333637" cy="22808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8CB9CA4-FBA0-4C9F-95C4-C37D9A2F35F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453412" y="1948172"/>
            <a:ext cx="1636999" cy="118961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0D06764-CA6F-40C8-9453-F55BB8C25B1E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743804" y="3835717"/>
            <a:ext cx="1660556" cy="127539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4307AD4-D0D2-4FA2-999C-D450D771BF88}"/>
                  </a:ext>
                </a:extLst>
              </p:cNvPr>
              <p:cNvSpPr txBox="1"/>
              <p:nvPr/>
            </p:nvSpPr>
            <p:spPr>
              <a:xfrm>
                <a:off x="4712158" y="3534790"/>
                <a:ext cx="1796416" cy="435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zh-CN" alt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4307AD4-D0D2-4FA2-999C-D450D771B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2158" y="3534790"/>
                <a:ext cx="1796416" cy="4354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CB38FA3-C637-43CB-A97A-F8DD9611B41A}"/>
              </a:ext>
            </a:extLst>
          </p:cNvPr>
          <p:cNvCxnSpPr>
            <a:cxnSpLocks/>
            <a:stCxn id="23" idx="3"/>
          </p:cNvCxnSpPr>
          <p:nvPr/>
        </p:nvCxnSpPr>
        <p:spPr bwMode="auto">
          <a:xfrm flipV="1">
            <a:off x="3038258" y="2235200"/>
            <a:ext cx="2791042" cy="18922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E734D098-D817-41DD-91C4-70E0AEA1A711}"/>
              </a:ext>
            </a:extLst>
          </p:cNvPr>
          <p:cNvSpPr/>
          <p:nvPr/>
        </p:nvSpPr>
        <p:spPr>
          <a:xfrm>
            <a:off x="3857028" y="2791130"/>
            <a:ext cx="920111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12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83CFBCF-A2DA-4A41-A4FE-2B2E7DEA8B10}"/>
              </a:ext>
            </a:extLst>
          </p:cNvPr>
          <p:cNvCxnSpPr>
            <a:cxnSpLocks/>
            <a:stCxn id="23" idx="4"/>
            <a:endCxn id="36" idx="5"/>
          </p:cNvCxnSpPr>
          <p:nvPr/>
        </p:nvCxnSpPr>
        <p:spPr bwMode="auto">
          <a:xfrm flipV="1">
            <a:off x="3076649" y="2999085"/>
            <a:ext cx="3795296" cy="11455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C9FC727-344F-402C-A1B7-CEF5D5D90C1F}"/>
              </a:ext>
            </a:extLst>
          </p:cNvPr>
          <p:cNvCxnSpPr>
            <a:cxnSpLocks/>
          </p:cNvCxnSpPr>
          <p:nvPr/>
        </p:nvCxnSpPr>
        <p:spPr bwMode="auto">
          <a:xfrm flipV="1">
            <a:off x="3886454" y="2696513"/>
            <a:ext cx="3333637" cy="22808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88154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51" grpId="0"/>
      <p:bldP spid="64" grpId="0"/>
      <p:bldP spid="70" grpId="0"/>
      <p:bldP spid="71" grpId="0"/>
      <p:bldP spid="28" grpId="0"/>
      <p:bldP spid="43" grpId="0"/>
      <p:bldP spid="4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Euclidean Distance </a:t>
            </a:r>
            <a:r>
              <a:rPr lang="zh-CN" altLang="en-US" dirty="0">
                <a:ea typeface="ＭＳ Ｐゴシック" panose="020B0600070205080204" pitchFamily="34" charset="-128"/>
              </a:rPr>
              <a:t>欧氏距离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3. Nearest Neighbor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3. </a:t>
            </a:r>
            <a:r>
              <a:rPr lang="zh-CN" altLang="en-US" dirty="0"/>
              <a:t>最近邻分类</a:t>
            </a:r>
            <a:endParaRPr lang="en-US" altLang="zh-C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C61E7A-2B7B-47FE-8B96-9EE43D50DDA2}"/>
              </a:ext>
            </a:extLst>
          </p:cNvPr>
          <p:cNvSpPr/>
          <p:nvPr/>
        </p:nvSpPr>
        <p:spPr>
          <a:xfrm>
            <a:off x="381000" y="1905000"/>
            <a:ext cx="8382000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Spaces w/ dimension greater than 3 go beyond our imagination</a:t>
            </a: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高于</a:t>
            </a:r>
            <a:r>
              <a:rPr lang="en-US" altLang="zh-CN" sz="2200" dirty="0">
                <a:ea typeface="ＭＳ Ｐゴシック" panose="020B0600070205080204" pitchFamily="34" charset="-128"/>
              </a:rPr>
              <a:t>3</a:t>
            </a:r>
            <a:r>
              <a:rPr lang="zh-CN" altLang="en-US" sz="2200" dirty="0">
                <a:ea typeface="ＭＳ Ｐゴシック" panose="020B0600070205080204" pitchFamily="34" charset="-128"/>
              </a:rPr>
              <a:t>维的空间超出了我们的想象范畴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F24674-94F1-4951-B9B7-4BB3A9DCC9E0}"/>
              </a:ext>
            </a:extLst>
          </p:cNvPr>
          <p:cNvSpPr/>
          <p:nvPr/>
        </p:nvSpPr>
        <p:spPr>
          <a:xfrm>
            <a:off x="381000" y="3078134"/>
            <a:ext cx="8382000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However, the calculation is similar</a:t>
            </a: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但计算是类似的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FCBD8EA-BFE7-4E9C-8593-9EF6BCFAC83E}"/>
                  </a:ext>
                </a:extLst>
              </p:cNvPr>
              <p:cNvSpPr txBox="1"/>
              <p:nvPr/>
            </p:nvSpPr>
            <p:spPr>
              <a:xfrm>
                <a:off x="495300" y="4176410"/>
                <a:ext cx="8153400" cy="10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vs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FCBD8EA-BFE7-4E9C-8593-9EF6BCFAC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4176410"/>
                <a:ext cx="8153400" cy="10000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19547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3.3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3.3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3. Nearest Neighbor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3. </a:t>
            </a:r>
            <a:r>
              <a:rPr lang="zh-CN" altLang="en-US" dirty="0"/>
              <a:t>最近邻分类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try nearest neighbor classification w/ Euclidean distance  </a:t>
            </a:r>
            <a:r>
              <a:rPr lang="zh-CN" altLang="en-US" sz="2200" dirty="0"/>
              <a:t>实践时刻：尝试基于欧氏距离的最近邻分类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F6605-906F-4F39-BD56-58FE01C9CDA6}"/>
              </a:ext>
            </a:extLst>
          </p:cNvPr>
          <p:cNvSpPr txBox="1"/>
          <p:nvPr/>
        </p:nvSpPr>
        <p:spPr>
          <a:xfrm>
            <a:off x="266700" y="5013971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Use Euclidean distance in recognizing handwritten ZIP codes</a:t>
            </a:r>
          </a:p>
          <a:p>
            <a:pPr algn="ctr"/>
            <a:r>
              <a:rPr lang="zh-CN" altLang="en-US" sz="2200" dirty="0"/>
              <a:t>在手写邮政编码识别中使用欧氏距离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124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3|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3|0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5|0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4|0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1.1|0.3|0.4|0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0.4|0.3|23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38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9.3|5.1|11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0.3|0.2|0.1|0.1|0.1|0.2|0.1|0.2|0.2|0.6|0.2|0.2|0.2|19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5|0.4|0.3|0.4|2.4|0.4|0.5|0.4|6.9|2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5|0.3|5.6|0.2|0.3|0.5|0.3|0.3|0.4|0.3|0.5|0.6|0.6|0.9|15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3|0.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15397</TotalTime>
  <Words>1540</Words>
  <Application>Microsoft Office PowerPoint</Application>
  <PresentationFormat>On-screen Show (4:3)</PresentationFormat>
  <Paragraphs>352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Cambria Math</vt:lpstr>
      <vt:lpstr>Comic Sans MS</vt:lpstr>
      <vt:lpstr>Tahoma</vt:lpstr>
      <vt:lpstr>Times New Roman</vt:lpstr>
      <vt:lpstr>Wingdings</vt:lpstr>
      <vt:lpstr>Blends</vt:lpstr>
      <vt:lpstr>Machine Learning -  Basic Principles &amp; Practice 3. Nearest Neighbor Classification</vt:lpstr>
      <vt:lpstr>Rote Learning Is Impractical  死记硬背的学习不实用</vt:lpstr>
      <vt:lpstr>Can We Improve Simply? 我们能否进行简单的改进？</vt:lpstr>
      <vt:lpstr>Idea 思路 (1)</vt:lpstr>
      <vt:lpstr>Idea 思路 (2)</vt:lpstr>
      <vt:lpstr>An Abstract Example  一个抽象的例子</vt:lpstr>
      <vt:lpstr>A Concrete Example  一个具体的例子</vt:lpstr>
      <vt:lpstr>Nearest Neighbor Classification 最近邻分类</vt:lpstr>
      <vt:lpstr>Do You Still Remember? 你还记得吗？</vt:lpstr>
      <vt:lpstr>Assumption  假设</vt:lpstr>
      <vt:lpstr>Similarity/Distance 相似度/距离</vt:lpstr>
      <vt:lpstr>Practice 3.1 实践3.1</vt:lpstr>
      <vt:lpstr>Practice 3.2 实践3.2</vt:lpstr>
      <vt:lpstr>Euclidean Distance 欧氏距离 (1)</vt:lpstr>
      <vt:lpstr>Euclidean Distance 欧氏距离 (2)</vt:lpstr>
      <vt:lpstr>Euclidean Distance 欧氏距离 (3)</vt:lpstr>
      <vt:lpstr>Practice 3.3 实践3.3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1129</cp:revision>
  <dcterms:created xsi:type="dcterms:W3CDTF">2003-03-13T01:36:43Z</dcterms:created>
  <dcterms:modified xsi:type="dcterms:W3CDTF">2023-11-10T07:43:11Z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a51f7d2a-b878-435f-9753-d49e7c670f57</vt:lpwstr>
  </property>
  <property fmtid="{D5CDD505-2E9C-101B-9397-08002B2CF9AE}" pid="3" name="CTP_TimeStamp">
    <vt:lpwstr>2019-11-19 23:05:30Z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