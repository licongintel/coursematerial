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9"/>
  </p:notesMasterIdLst>
  <p:handoutMasterIdLst>
    <p:handoutMasterId r:id="rId30"/>
  </p:handoutMasterIdLst>
  <p:sldIdLst>
    <p:sldId id="286" r:id="rId2"/>
    <p:sldId id="431" r:id="rId3"/>
    <p:sldId id="468" r:id="rId4"/>
    <p:sldId id="469" r:id="rId5"/>
    <p:sldId id="470" r:id="rId6"/>
    <p:sldId id="426" r:id="rId7"/>
    <p:sldId id="471" r:id="rId8"/>
    <p:sldId id="473" r:id="rId9"/>
    <p:sldId id="472" r:id="rId10"/>
    <p:sldId id="385" r:id="rId11"/>
    <p:sldId id="474" r:id="rId12"/>
    <p:sldId id="475" r:id="rId13"/>
    <p:sldId id="476" r:id="rId14"/>
    <p:sldId id="477" r:id="rId15"/>
    <p:sldId id="478" r:id="rId16"/>
    <p:sldId id="422" r:id="rId17"/>
    <p:sldId id="479" r:id="rId18"/>
    <p:sldId id="480" r:id="rId19"/>
    <p:sldId id="481" r:id="rId20"/>
    <p:sldId id="482" r:id="rId21"/>
    <p:sldId id="483" r:id="rId22"/>
    <p:sldId id="484" r:id="rId23"/>
    <p:sldId id="485" r:id="rId24"/>
    <p:sldId id="486" r:id="rId25"/>
    <p:sldId id="487" r:id="rId26"/>
    <p:sldId id="488" r:id="rId27"/>
    <p:sldId id="353" r:id="rId28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DDFF"/>
    <a:srgbClr val="FF0000"/>
    <a:srgbClr val="333399"/>
    <a:srgbClr val="B2B2B2"/>
    <a:srgbClr val="993366"/>
    <a:srgbClr val="33993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46" autoAdjust="0"/>
    <p:restoredTop sz="94370" autoAdjust="0"/>
  </p:normalViewPr>
  <p:slideViewPr>
    <p:cSldViewPr>
      <p:cViewPr varScale="1">
        <p:scale>
          <a:sx n="73" d="100"/>
          <a:sy n="73" d="100"/>
        </p:scale>
        <p:origin x="46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4060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5163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7503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B3AE77F9-D4F3-451E-A1F3-D746A2741768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122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521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2347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4491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4903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notesSlide" Target="../notesSlides/notesSlide5.xml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11" Type="http://schemas.openxmlformats.org/officeDocument/2006/relationships/image" Target="../media/image10.png"/><Relationship Id="rId5" Type="http://schemas.openxmlformats.org/officeDocument/2006/relationships/image" Target="../media/image2.e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5. From Lazy Learning to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Eager Learning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5. </a:t>
            </a:r>
            <a:r>
              <a:rPr lang="zh-CN" altLang="en-US" sz="3600" b="1" kern="0" dirty="0">
                <a:ea typeface="SimSun" panose="02010600030101010101" pitchFamily="2" charset="-122"/>
              </a:rPr>
              <a:t>从临阵磨枪到积极学习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Lazy Learning  </a:t>
            </a:r>
            <a:r>
              <a:rPr lang="zh-CN" altLang="en-US" dirty="0">
                <a:ea typeface="ＭＳ Ｐゴシック" panose="020B0600070205080204" pitchFamily="34" charset="-128"/>
              </a:rPr>
              <a:t>临阵磨枪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Rote Learning &amp; Nearest Neighbor</a:t>
            </a:r>
            <a:r>
              <a:rPr lang="zh-CN" altLang="en-US" dirty="0"/>
              <a:t>死记硬背和最近邻</a:t>
            </a:r>
            <a:endParaRPr lang="en-US" altLang="zh-CN" dirty="0"/>
          </a:p>
          <a:p>
            <a:pPr lvl="1"/>
            <a:r>
              <a:rPr lang="en-US" altLang="zh-CN" dirty="0"/>
              <a:t>Memorize all the training data in learning </a:t>
            </a:r>
            <a:r>
              <a:rPr lang="zh-CN" altLang="en-US" dirty="0"/>
              <a:t>在学习时记住所有的训练数据</a:t>
            </a:r>
            <a:endParaRPr lang="en-US" altLang="zh-CN" dirty="0"/>
          </a:p>
          <a:p>
            <a:pPr lvl="2"/>
            <a:r>
              <a:rPr lang="en-US" altLang="zh-CN" dirty="0"/>
              <a:t>Nothing else  </a:t>
            </a:r>
            <a:r>
              <a:rPr lang="zh-CN" altLang="en-US" dirty="0"/>
              <a:t>没有其他的了</a:t>
            </a:r>
            <a:endParaRPr lang="en-US" altLang="zh-CN" dirty="0"/>
          </a:p>
          <a:p>
            <a:r>
              <a:rPr lang="en-US" altLang="zh-CN" dirty="0"/>
              <a:t>It’s Lazy </a:t>
            </a:r>
            <a:r>
              <a:rPr lang="zh-CN" altLang="en-US" dirty="0"/>
              <a:t>这很懒惰</a:t>
            </a:r>
            <a:endParaRPr lang="en-US" altLang="zh-CN" dirty="0"/>
          </a:p>
          <a:p>
            <a:pPr lvl="1"/>
            <a:r>
              <a:rPr lang="en-US" altLang="zh-CN" dirty="0"/>
              <a:t>Meaningful work done in classification                </a:t>
            </a:r>
            <a:r>
              <a:rPr lang="zh-CN" altLang="en-US" dirty="0"/>
              <a:t>有意义的事情都是分类时做的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089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Lazy Learning Characteristics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临阵磨枪的特点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 Explicit Knowledge Learned     </a:t>
            </a:r>
            <a:r>
              <a:rPr lang="zh-CN" altLang="en-US" dirty="0"/>
              <a:t>没有学习到显式的知识</a:t>
            </a:r>
            <a:endParaRPr lang="en-US" altLang="zh-CN" dirty="0"/>
          </a:p>
          <a:p>
            <a:pPr lvl="1"/>
            <a:r>
              <a:rPr lang="en-US" altLang="zh-CN" dirty="0"/>
              <a:t>Classification complexity depends on data </a:t>
            </a:r>
            <a:r>
              <a:rPr lang="zh-CN" altLang="en-US" dirty="0"/>
              <a:t>分类的复杂程度由数据决定</a:t>
            </a:r>
            <a:endParaRPr lang="en-US" altLang="zh-CN" dirty="0"/>
          </a:p>
          <a:p>
            <a:pPr lvl="2"/>
            <a:r>
              <a:rPr lang="en-US" altLang="zh-CN" dirty="0"/>
              <a:t>Can either be good or bad  </a:t>
            </a:r>
            <a:br>
              <a:rPr lang="en-US" altLang="zh-CN" dirty="0"/>
            </a:br>
            <a:r>
              <a:rPr lang="zh-CN" altLang="en-US" dirty="0"/>
              <a:t>这有时是好事，有时是坏事</a:t>
            </a:r>
            <a:endParaRPr lang="en-US" altLang="zh-CN" dirty="0"/>
          </a:p>
          <a:p>
            <a:r>
              <a:rPr lang="en-US" altLang="zh-CN" dirty="0"/>
              <a:t>Slow in Classification </a:t>
            </a:r>
            <a:r>
              <a:rPr lang="zh-CN" altLang="en-US" dirty="0"/>
              <a:t>分类很慢</a:t>
            </a:r>
            <a:endParaRPr lang="en-US" altLang="zh-CN" dirty="0"/>
          </a:p>
          <a:p>
            <a:pPr lvl="1"/>
            <a:r>
              <a:rPr lang="en-US" altLang="zh-CN" dirty="0"/>
              <a:t>Have to go through all the data                </a:t>
            </a:r>
            <a:r>
              <a:rPr lang="zh-CN" altLang="en-US" dirty="0"/>
              <a:t>必须遍历所有的数据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06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Eager Learning  </a:t>
            </a:r>
            <a:r>
              <a:rPr lang="zh-CN" altLang="en-US" dirty="0">
                <a:ea typeface="ＭＳ Ｐゴシック" panose="020B0600070205080204" pitchFamily="34" charset="-128"/>
              </a:rPr>
              <a:t>积极学习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Learn beyond Memorizing </a:t>
            </a:r>
            <a:br>
              <a:rPr lang="en-US" altLang="zh-CN" dirty="0"/>
            </a:br>
            <a:r>
              <a:rPr lang="zh-CN" altLang="en-US" dirty="0"/>
              <a:t>超越记忆的学习</a:t>
            </a:r>
            <a:endParaRPr lang="en-US" altLang="zh-CN" dirty="0"/>
          </a:p>
          <a:p>
            <a:pPr lvl="1"/>
            <a:r>
              <a:rPr lang="en-US" altLang="zh-CN" dirty="0"/>
              <a:t>Do more in training  </a:t>
            </a:r>
            <a:r>
              <a:rPr lang="zh-CN" altLang="en-US" dirty="0"/>
              <a:t>训练时做得更多</a:t>
            </a:r>
            <a:endParaRPr lang="en-US" altLang="zh-CN" dirty="0"/>
          </a:p>
          <a:p>
            <a:pPr lvl="1"/>
            <a:r>
              <a:rPr lang="en-US" altLang="zh-CN" dirty="0"/>
              <a:t>Learn a certain explicit knowledge representation  </a:t>
            </a:r>
            <a:r>
              <a:rPr lang="zh-CN" altLang="en-US" dirty="0"/>
              <a:t>学习到了特定</a:t>
            </a:r>
            <a:r>
              <a:rPr lang="zh-CN" altLang="en-US"/>
              <a:t>的显式知</a:t>
            </a:r>
            <a:r>
              <a:rPr lang="zh-CN" altLang="en-US" dirty="0"/>
              <a:t>识表示</a:t>
            </a:r>
            <a:endParaRPr lang="en-US" altLang="zh-CN" dirty="0"/>
          </a:p>
          <a:p>
            <a:r>
              <a:rPr lang="en-US" altLang="zh-CN" dirty="0"/>
              <a:t>Let’s Start from Linear Classifiers</a:t>
            </a:r>
            <a:br>
              <a:rPr lang="en-US" altLang="zh-CN" dirty="0"/>
            </a:br>
            <a:r>
              <a:rPr lang="zh-CN" altLang="en-US" dirty="0"/>
              <a:t>让我们从线性分类器开始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95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Explicit Knowledge </a:t>
            </a:r>
            <a:r>
              <a:rPr lang="zh-CN" altLang="en-US" dirty="0">
                <a:ea typeface="ＭＳ Ｐゴシック" panose="020B0600070205080204" pitchFamily="34" charset="-128"/>
              </a:rPr>
              <a:t>显式的知识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Weights for Attributes  </a:t>
                </a:r>
                <a:r>
                  <a:rPr lang="zh-CN" altLang="en-US" dirty="0"/>
                  <a:t>属性的权重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en-US" altLang="zh-CN" dirty="0"/>
                  <a:t>Bias </a:t>
                </a:r>
                <a:r>
                  <a:rPr lang="zh-CN" altLang="en-US" dirty="0"/>
                  <a:t>偏向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Classification for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对数据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进行分类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&gt;0⇒1</m:t>
                    </m:r>
                  </m:oMath>
                </a14:m>
                <a:br>
                  <a:rPr lang="en-US" altLang="zh-CN" b="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549" t="-2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127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Example  </a:t>
            </a:r>
            <a:r>
              <a:rPr lang="zh-CN" altLang="en-US" dirty="0">
                <a:ea typeface="ＭＳ Ｐゴシック" panose="020B0600070205080204" pitchFamily="34" charset="-128"/>
              </a:rPr>
              <a:t>二维的示例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1905000" y="3886200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4556760" y="152400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324210B-D021-46F6-95F9-9B1A5A8B1161}"/>
              </a:ext>
            </a:extLst>
          </p:cNvPr>
          <p:cNvSpPr/>
          <p:nvPr/>
        </p:nvSpPr>
        <p:spPr>
          <a:xfrm>
            <a:off x="6256022" y="3429000"/>
            <a:ext cx="1904998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1</a:t>
            </a:r>
          </a:p>
          <a:p>
            <a:pPr marL="0" lvl="1" algn="ctr" eaLnBrk="1" hangingPunct="1">
              <a:lnSpc>
                <a:spcPct val="90000"/>
              </a:lnSpc>
            </a:pPr>
            <a:endParaRPr lang="en-US" altLang="ja-JP" sz="2200" dirty="0">
              <a:ea typeface="ＭＳ Ｐゴシック" panose="020B0600070205080204" pitchFamily="34" charset="-128"/>
            </a:endParaRP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819400" y="1584192"/>
            <a:ext cx="269747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2  </a:t>
            </a: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2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B62CE8-63B8-4F97-89C0-F733C96E85E7}"/>
              </a:ext>
            </a:extLst>
          </p:cNvPr>
          <p:cNvGrpSpPr/>
          <p:nvPr/>
        </p:nvGrpSpPr>
        <p:grpSpPr>
          <a:xfrm>
            <a:off x="2209800" y="2091038"/>
            <a:ext cx="4660926" cy="2344391"/>
            <a:chOff x="2209800" y="2091038"/>
            <a:chExt cx="4660926" cy="234439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36F1194-2078-44A3-BEA3-3FAD7D05969D}"/>
                </a:ext>
              </a:extLst>
            </p:cNvPr>
            <p:cNvCxnSpPr/>
            <p:nvPr/>
          </p:nvCxnSpPr>
          <p:spPr bwMode="auto">
            <a:xfrm flipV="1">
              <a:off x="2209800" y="2133600"/>
              <a:ext cx="4572000" cy="230182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96DF20E-F55F-45F4-BDB2-E020FC1E6A1E}"/>
                    </a:ext>
                  </a:extLst>
                </p:cNvPr>
                <p:cNvSpPr/>
                <p:nvPr/>
              </p:nvSpPr>
              <p:spPr>
                <a:xfrm>
                  <a:off x="4799646" y="2091038"/>
                  <a:ext cx="207108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96DF20E-F55F-45F4-BDB2-E020FC1E6A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9646" y="2091038"/>
                  <a:ext cx="207108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016C1D-532E-4D39-897F-7F5AEF800D2B}"/>
              </a:ext>
            </a:extLst>
          </p:cNvPr>
          <p:cNvGrpSpPr/>
          <p:nvPr/>
        </p:nvGrpSpPr>
        <p:grpSpPr>
          <a:xfrm>
            <a:off x="3037727" y="3069193"/>
            <a:ext cx="870117" cy="488761"/>
            <a:chOff x="3037727" y="3069193"/>
            <a:chExt cx="870117" cy="48876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8CC834-A636-470D-80D8-DCE221A32617}"/>
                </a:ext>
              </a:extLst>
            </p:cNvPr>
            <p:cNvSpPr/>
            <p:nvPr/>
          </p:nvSpPr>
          <p:spPr bwMode="auto">
            <a:xfrm>
              <a:off x="3707130" y="3429000"/>
              <a:ext cx="134815" cy="128954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A177C5-0085-4659-B39F-845687C74914}"/>
                </a:ext>
              </a:extLst>
            </p:cNvPr>
            <p:cNvSpPr txBox="1"/>
            <p:nvPr/>
          </p:nvSpPr>
          <p:spPr>
            <a:xfrm>
              <a:off x="3037727" y="3069193"/>
              <a:ext cx="8701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(-2,1)</a:t>
              </a:r>
              <a:endParaRPr lang="zh-CN" altLang="en-US" dirty="0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C0EC196C-EEAA-42B3-A8C6-D3F6AD266D15}"/>
              </a:ext>
            </a:extLst>
          </p:cNvPr>
          <p:cNvSpPr/>
          <p:nvPr/>
        </p:nvSpPr>
        <p:spPr bwMode="auto">
          <a:xfrm>
            <a:off x="3707129" y="3429000"/>
            <a:ext cx="134815" cy="12895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D8E239F-5852-40E1-9FDE-7A80C5256C7A}"/>
                  </a:ext>
                </a:extLst>
              </p:cNvPr>
              <p:cNvSpPr/>
              <p:nvPr/>
            </p:nvSpPr>
            <p:spPr>
              <a:xfrm>
                <a:off x="416734" y="3373288"/>
                <a:ext cx="31799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6=−2&lt;0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D8E239F-5852-40E1-9FDE-7A80C5256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34" y="3373288"/>
                <a:ext cx="317990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3337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9" grpId="0" animBg="1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Example  </a:t>
            </a:r>
            <a:r>
              <a:rPr lang="zh-CN" altLang="en-US" dirty="0">
                <a:ea typeface="ＭＳ Ｐゴシック" panose="020B0600070205080204" pitchFamily="34" charset="-128"/>
              </a:rPr>
              <a:t>二维的示例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1905000" y="3886200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4556760" y="152400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324210B-D021-46F6-95F9-9B1A5A8B1161}"/>
              </a:ext>
            </a:extLst>
          </p:cNvPr>
          <p:cNvSpPr/>
          <p:nvPr/>
        </p:nvSpPr>
        <p:spPr>
          <a:xfrm>
            <a:off x="6256022" y="3429000"/>
            <a:ext cx="1904998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1</a:t>
            </a:r>
          </a:p>
          <a:p>
            <a:pPr marL="0" lvl="1" algn="ctr" eaLnBrk="1" hangingPunct="1">
              <a:lnSpc>
                <a:spcPct val="90000"/>
              </a:lnSpc>
            </a:pPr>
            <a:endParaRPr lang="en-US" altLang="ja-JP" sz="2200" dirty="0">
              <a:ea typeface="ＭＳ Ｐゴシック" panose="020B0600070205080204" pitchFamily="34" charset="-128"/>
            </a:endParaRP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819400" y="1584192"/>
            <a:ext cx="269747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2  </a:t>
            </a: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2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B62CE8-63B8-4F97-89C0-F733C96E85E7}"/>
              </a:ext>
            </a:extLst>
          </p:cNvPr>
          <p:cNvGrpSpPr/>
          <p:nvPr/>
        </p:nvGrpSpPr>
        <p:grpSpPr>
          <a:xfrm>
            <a:off x="2209800" y="2091038"/>
            <a:ext cx="4660926" cy="2344391"/>
            <a:chOff x="2209800" y="2091038"/>
            <a:chExt cx="4660926" cy="234439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36F1194-2078-44A3-BEA3-3FAD7D05969D}"/>
                </a:ext>
              </a:extLst>
            </p:cNvPr>
            <p:cNvCxnSpPr/>
            <p:nvPr/>
          </p:nvCxnSpPr>
          <p:spPr bwMode="auto">
            <a:xfrm flipV="1">
              <a:off x="2209800" y="2133600"/>
              <a:ext cx="4572000" cy="230182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96DF20E-F55F-45F4-BDB2-E020FC1E6A1E}"/>
                    </a:ext>
                  </a:extLst>
                </p:cNvPr>
                <p:cNvSpPr/>
                <p:nvPr/>
              </p:nvSpPr>
              <p:spPr>
                <a:xfrm>
                  <a:off x="4799646" y="2091038"/>
                  <a:ext cx="207108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6=0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96DF20E-F55F-45F4-BDB2-E020FC1E6A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9646" y="2091038"/>
                  <a:ext cx="207108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016C1D-532E-4D39-897F-7F5AEF800D2B}"/>
              </a:ext>
            </a:extLst>
          </p:cNvPr>
          <p:cNvGrpSpPr/>
          <p:nvPr/>
        </p:nvGrpSpPr>
        <p:grpSpPr>
          <a:xfrm>
            <a:off x="3037727" y="3069193"/>
            <a:ext cx="870117" cy="488761"/>
            <a:chOff x="3037727" y="3069193"/>
            <a:chExt cx="870117" cy="48876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8CC834-A636-470D-80D8-DCE221A32617}"/>
                </a:ext>
              </a:extLst>
            </p:cNvPr>
            <p:cNvSpPr/>
            <p:nvPr/>
          </p:nvSpPr>
          <p:spPr bwMode="auto">
            <a:xfrm>
              <a:off x="3707130" y="3429000"/>
              <a:ext cx="134815" cy="128954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A177C5-0085-4659-B39F-845687C74914}"/>
                </a:ext>
              </a:extLst>
            </p:cNvPr>
            <p:cNvSpPr txBox="1"/>
            <p:nvPr/>
          </p:nvSpPr>
          <p:spPr>
            <a:xfrm>
              <a:off x="3037727" y="3069193"/>
              <a:ext cx="8701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(-2,1)</a:t>
              </a:r>
              <a:endParaRPr lang="zh-CN" altLang="en-US" dirty="0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C0EC196C-EEAA-42B3-A8C6-D3F6AD266D15}"/>
              </a:ext>
            </a:extLst>
          </p:cNvPr>
          <p:cNvSpPr/>
          <p:nvPr/>
        </p:nvSpPr>
        <p:spPr bwMode="auto">
          <a:xfrm>
            <a:off x="3707129" y="3429000"/>
            <a:ext cx="134815" cy="12895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399B6F-ECEF-42DE-9A3A-585ED2CFAABA}"/>
              </a:ext>
            </a:extLst>
          </p:cNvPr>
          <p:cNvGrpSpPr/>
          <p:nvPr/>
        </p:nvGrpSpPr>
        <p:grpSpPr>
          <a:xfrm>
            <a:off x="4678367" y="3192313"/>
            <a:ext cx="1054619" cy="538568"/>
            <a:chOff x="3636173" y="3429000"/>
            <a:chExt cx="1054619" cy="53856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E060547-5F3A-45A4-9B92-165894F806F0}"/>
                </a:ext>
              </a:extLst>
            </p:cNvPr>
            <p:cNvSpPr/>
            <p:nvPr/>
          </p:nvSpPr>
          <p:spPr bwMode="auto">
            <a:xfrm>
              <a:off x="3707130" y="3429000"/>
              <a:ext cx="134815" cy="128954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BE768F-1DAD-4A3D-A677-BC78F39BE524}"/>
                </a:ext>
              </a:extLst>
            </p:cNvPr>
            <p:cNvSpPr txBox="1"/>
            <p:nvPr/>
          </p:nvSpPr>
          <p:spPr>
            <a:xfrm>
              <a:off x="3636173" y="3598236"/>
              <a:ext cx="1054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(0.5,1.5)</a:t>
              </a:r>
              <a:endParaRPr lang="zh-CN" altLang="en-US" dirty="0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108684F2-8001-457F-83C0-AE49122E36F0}"/>
              </a:ext>
            </a:extLst>
          </p:cNvPr>
          <p:cNvSpPr/>
          <p:nvPr/>
        </p:nvSpPr>
        <p:spPr bwMode="auto">
          <a:xfrm>
            <a:off x="4749324" y="3192313"/>
            <a:ext cx="134815" cy="128954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FDE593F-8DAE-47D1-AAC8-8730C6284B67}"/>
                  </a:ext>
                </a:extLst>
              </p:cNvPr>
              <p:cNvSpPr/>
              <p:nvPr/>
            </p:nvSpPr>
            <p:spPr>
              <a:xfrm>
                <a:off x="4943755" y="3029231"/>
                <a:ext cx="299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0.5−4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1.5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6=1&gt;0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FDE593F-8DAE-47D1-AAC8-8730C6284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755" y="3029231"/>
                <a:ext cx="299473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2377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Linear Classifier </a:t>
            </a:r>
            <a:r>
              <a:rPr lang="zh-CN" altLang="en-US" dirty="0">
                <a:ea typeface="ＭＳ Ｐゴシック" panose="020B0600070205080204" pitchFamily="34" charset="-128"/>
              </a:rPr>
              <a:t>线性分类器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For 2-Dimensional Input </a:t>
                </a:r>
                <a:r>
                  <a:rPr lang="zh-CN" altLang="en-US" dirty="0"/>
                  <a:t>对二维输入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Knowledge </a:t>
                </a:r>
                <a:r>
                  <a:rPr lang="zh-CN" altLang="en-US" dirty="0"/>
                  <a:t>知识 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b="0" dirty="0"/>
              </a:p>
              <a:p>
                <a:pPr lvl="2"/>
                <a:r>
                  <a:rPr lang="en-US" altLang="zh-CN" dirty="0"/>
                  <a:t>A line in the plane  </a:t>
                </a:r>
                <a:r>
                  <a:rPr lang="zh-CN" altLang="en-US" dirty="0"/>
                  <a:t>平面上的一条线</a:t>
                </a:r>
                <a:endParaRPr lang="en-US" altLang="zh-CN" dirty="0"/>
              </a:p>
              <a:p>
                <a:r>
                  <a:rPr lang="en-US" altLang="zh-CN" dirty="0"/>
                  <a:t>For 3-Dimensional Input </a:t>
                </a:r>
                <a:r>
                  <a:rPr lang="zh-CN" altLang="en-US" dirty="0"/>
                  <a:t>对三维输入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Knowledge </a:t>
                </a:r>
                <a:r>
                  <a:rPr lang="zh-CN" altLang="en-US" dirty="0"/>
                  <a:t>知识 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en-US" altLang="zh-CN" dirty="0"/>
                  <a:t>A plane in the space  </a:t>
                </a:r>
                <a:r>
                  <a:rPr lang="zh-CN" altLang="en-US" dirty="0"/>
                  <a:t>空间里的一个平面</a:t>
                </a:r>
                <a:endParaRPr lang="en-US" altLang="zh-CN" dirty="0"/>
              </a:p>
              <a:p>
                <a:r>
                  <a:rPr lang="en-US" altLang="zh-CN" dirty="0"/>
                  <a:t>For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-Dimensional Input </a:t>
                </a:r>
                <a:r>
                  <a:rPr lang="zh-CN" altLang="en-US" dirty="0"/>
                  <a:t>对</a:t>
                </a:r>
                <a:r>
                  <a:rPr lang="en-US" altLang="zh-CN" i="1" dirty="0"/>
                  <a:t>n</a:t>
                </a:r>
                <a:r>
                  <a:rPr lang="zh-CN" altLang="en-US" dirty="0"/>
                  <a:t>维输入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Knowledge </a:t>
                </a:r>
                <a:r>
                  <a:rPr lang="zh-CN" altLang="en-US" dirty="0"/>
                  <a:t>知识 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en-US" altLang="zh-CN" dirty="0"/>
                  <a:t>A hyperplane in the hyperspace  </a:t>
                </a:r>
                <a:br>
                  <a:rPr lang="en-US" altLang="zh-CN" dirty="0"/>
                </a:br>
                <a:r>
                  <a:rPr lang="zh-CN" altLang="en-US" dirty="0"/>
                  <a:t>超空间里的一个超平面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  <a:blipFill>
                <a:blip r:embed="rId5"/>
                <a:stretch>
                  <a:fillRect l="-549" t="-33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218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Biological View  </a:t>
            </a:r>
            <a:r>
              <a:rPr lang="zh-CN" altLang="en-US" dirty="0">
                <a:ea typeface="ＭＳ Ｐゴシック" panose="020B0600070205080204" pitchFamily="34" charset="-128"/>
              </a:rPr>
              <a:t>生物学的视角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7E0AF-500D-4B22-BD9E-0608D7F61C8C}"/>
              </a:ext>
            </a:extLst>
          </p:cNvPr>
          <p:cNvSpPr txBox="1"/>
          <p:nvPr/>
        </p:nvSpPr>
        <p:spPr>
          <a:xfrm>
            <a:off x="1143000" y="1567488"/>
            <a:ext cx="685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Neuron </a:t>
            </a:r>
            <a:r>
              <a:rPr lang="zh-CN" altLang="en-US" sz="2200" dirty="0"/>
              <a:t>神经细胞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14E0ECF-19DB-42FF-975E-B10FF2A9DF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381" y="2444236"/>
            <a:ext cx="3695238" cy="3257142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D536EC6C-5B30-4D10-87DE-D1A26654E406}"/>
              </a:ext>
            </a:extLst>
          </p:cNvPr>
          <p:cNvGrpSpPr/>
          <p:nvPr/>
        </p:nvGrpSpPr>
        <p:grpSpPr>
          <a:xfrm>
            <a:off x="0" y="1640265"/>
            <a:ext cx="3048000" cy="3348127"/>
            <a:chOff x="0" y="1640265"/>
            <a:chExt cx="3048000" cy="334812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939433F-D010-435D-858B-D385C4F7F69B}"/>
                </a:ext>
              </a:extLst>
            </p:cNvPr>
            <p:cNvSpPr txBox="1"/>
            <p:nvPr/>
          </p:nvSpPr>
          <p:spPr>
            <a:xfrm>
              <a:off x="0" y="1640265"/>
              <a:ext cx="296687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Dendrites: receiving incoming signals </a:t>
              </a:r>
            </a:p>
            <a:p>
              <a:pPr algn="ctr"/>
              <a:r>
                <a:rPr lang="zh-CN" altLang="en-US" sz="2200" dirty="0"/>
                <a:t>树突：接收外来信号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2CE0CE2-B2FB-4BAD-95A7-A83E66677D15}"/>
                </a:ext>
              </a:extLst>
            </p:cNvPr>
            <p:cNvCxnSpPr>
              <a:stCxn id="27" idx="2"/>
            </p:cNvCxnSpPr>
            <p:nvPr/>
          </p:nvCxnSpPr>
          <p:spPr bwMode="auto">
            <a:xfrm>
              <a:off x="1483440" y="2748261"/>
              <a:ext cx="1564560" cy="5053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525FB8E-9308-4130-9158-A3F70ACBDAF5}"/>
                </a:ext>
              </a:extLst>
            </p:cNvPr>
            <p:cNvCxnSpPr>
              <a:cxnSpLocks/>
              <a:stCxn id="27" idx="2"/>
            </p:cNvCxnSpPr>
            <p:nvPr/>
          </p:nvCxnSpPr>
          <p:spPr bwMode="auto">
            <a:xfrm>
              <a:off x="1483440" y="2748261"/>
              <a:ext cx="1483439" cy="113793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E1FE181-94A7-4D35-8605-EB9739BB7812}"/>
                </a:ext>
              </a:extLst>
            </p:cNvPr>
            <p:cNvCxnSpPr>
              <a:cxnSpLocks/>
              <a:stCxn id="27" idx="2"/>
            </p:cNvCxnSpPr>
            <p:nvPr/>
          </p:nvCxnSpPr>
          <p:spPr bwMode="auto">
            <a:xfrm>
              <a:off x="1483440" y="2748261"/>
              <a:ext cx="1483439" cy="224013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5F25539-34EA-4CDA-80EF-7C3DBD7AC4C0}"/>
              </a:ext>
            </a:extLst>
          </p:cNvPr>
          <p:cNvGrpSpPr/>
          <p:nvPr/>
        </p:nvGrpSpPr>
        <p:grpSpPr>
          <a:xfrm>
            <a:off x="4267200" y="2081641"/>
            <a:ext cx="3482549" cy="2337959"/>
            <a:chOff x="4267200" y="2081641"/>
            <a:chExt cx="3482549" cy="2337959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FB255A7-074D-401F-8FA2-0D67C2D5E885}"/>
                </a:ext>
              </a:extLst>
            </p:cNvPr>
            <p:cNvCxnSpPr>
              <a:cxnSpLocks/>
              <a:stCxn id="42" idx="2"/>
            </p:cNvCxnSpPr>
            <p:nvPr/>
          </p:nvCxnSpPr>
          <p:spPr bwMode="auto">
            <a:xfrm flipH="1">
              <a:off x="4267200" y="3189637"/>
              <a:ext cx="2218300" cy="122996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8BB0A05-B044-4F99-ABA5-C7C964701BB8}"/>
                </a:ext>
              </a:extLst>
            </p:cNvPr>
            <p:cNvSpPr txBox="1"/>
            <p:nvPr/>
          </p:nvSpPr>
          <p:spPr>
            <a:xfrm>
              <a:off x="5221251" y="2081641"/>
              <a:ext cx="252849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Nucleus: processing signals</a:t>
              </a:r>
            </a:p>
            <a:p>
              <a:pPr algn="ctr"/>
              <a:r>
                <a:rPr lang="zh-CN" altLang="en-US" sz="2200" dirty="0"/>
                <a:t>细胞核：信号处理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F564595-A6A4-41F5-B8AC-838C33481530}"/>
              </a:ext>
            </a:extLst>
          </p:cNvPr>
          <p:cNvGrpSpPr/>
          <p:nvPr/>
        </p:nvGrpSpPr>
        <p:grpSpPr>
          <a:xfrm>
            <a:off x="5660751" y="4648200"/>
            <a:ext cx="2847867" cy="1452873"/>
            <a:chOff x="5660751" y="4648200"/>
            <a:chExt cx="2847867" cy="1452873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0810AD3-708A-4C8A-91F5-BAE6B4786692}"/>
                </a:ext>
              </a:extLst>
            </p:cNvPr>
            <p:cNvCxnSpPr>
              <a:cxnSpLocks/>
              <a:stCxn id="50" idx="0"/>
            </p:cNvCxnSpPr>
            <p:nvPr/>
          </p:nvCxnSpPr>
          <p:spPr bwMode="auto">
            <a:xfrm flipH="1" flipV="1">
              <a:off x="5958840" y="4648200"/>
              <a:ext cx="1125845" cy="3448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BA35A29-D52A-48D6-B171-1884B7C0FED8}"/>
                </a:ext>
              </a:extLst>
            </p:cNvPr>
            <p:cNvSpPr txBox="1"/>
            <p:nvPr/>
          </p:nvSpPr>
          <p:spPr>
            <a:xfrm>
              <a:off x="5660751" y="4993077"/>
              <a:ext cx="284786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Axon: sending outgoing signals</a:t>
              </a:r>
            </a:p>
            <a:p>
              <a:pPr algn="ctr"/>
              <a:r>
                <a:rPr lang="zh-CN" altLang="en-US" sz="2200" dirty="0"/>
                <a:t>突触：对外发送信号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847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Linear Classifier as a Neuron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作为神经细胞的线性分类器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447507" name="Oval 19"/>
          <p:cNvSpPr>
            <a:spLocks noChangeArrowheads="1"/>
          </p:cNvSpPr>
          <p:nvPr/>
        </p:nvSpPr>
        <p:spPr bwMode="auto">
          <a:xfrm>
            <a:off x="4179887" y="2815203"/>
            <a:ext cx="1296988" cy="12239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447508" name="Line 20"/>
          <p:cNvSpPr>
            <a:spLocks noChangeShapeType="1"/>
          </p:cNvSpPr>
          <p:nvPr/>
        </p:nvSpPr>
        <p:spPr bwMode="auto">
          <a:xfrm>
            <a:off x="2741612" y="2319298"/>
            <a:ext cx="1511300" cy="8562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09" name="Line 21"/>
          <p:cNvSpPr>
            <a:spLocks noChangeShapeType="1"/>
          </p:cNvSpPr>
          <p:nvPr/>
        </p:nvSpPr>
        <p:spPr bwMode="auto">
          <a:xfrm>
            <a:off x="2668587" y="2888228"/>
            <a:ext cx="15113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12" name="Line 24"/>
          <p:cNvSpPr>
            <a:spLocks noChangeShapeType="1"/>
          </p:cNvSpPr>
          <p:nvPr/>
        </p:nvSpPr>
        <p:spPr bwMode="auto">
          <a:xfrm flipV="1">
            <a:off x="2668586" y="3744494"/>
            <a:ext cx="1584325" cy="5835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14" name="Line 26"/>
          <p:cNvSpPr>
            <a:spLocks noChangeShapeType="1"/>
          </p:cNvSpPr>
          <p:nvPr/>
        </p:nvSpPr>
        <p:spPr bwMode="auto">
          <a:xfrm>
            <a:off x="5476875" y="346290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751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834865"/>
              </p:ext>
            </p:extLst>
          </p:nvPr>
        </p:nvGraphicFramePr>
        <p:xfrm>
          <a:off x="5837237" y="3135878"/>
          <a:ext cx="2730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28604" progId="Equation.3">
                  <p:embed/>
                </p:oleObj>
              </mc:Choice>
              <mc:Fallback>
                <p:oleObj name="Equation" r:id="rId4" imgW="0" imgH="28604" progId="Equation.3">
                  <p:embed/>
                  <p:pic>
                    <p:nvPicPr>
                      <p:cNvPr id="44751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7" y="3135878"/>
                        <a:ext cx="2730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16" name="Freeform 28"/>
          <p:cNvSpPr>
            <a:spLocks/>
          </p:cNvSpPr>
          <p:nvPr/>
        </p:nvSpPr>
        <p:spPr bwMode="auto">
          <a:xfrm>
            <a:off x="4829175" y="2888228"/>
            <a:ext cx="215900" cy="1079500"/>
          </a:xfrm>
          <a:custGeom>
            <a:avLst/>
            <a:gdLst>
              <a:gd name="T0" fmla="*/ 2147483646 w 136"/>
              <a:gd name="T1" fmla="*/ 0 h 680"/>
              <a:gd name="T2" fmla="*/ 0 w 136"/>
              <a:gd name="T3" fmla="*/ 2147483646 h 680"/>
              <a:gd name="T4" fmla="*/ 2147483646 w 136"/>
              <a:gd name="T5" fmla="*/ 2147483646 h 680"/>
              <a:gd name="T6" fmla="*/ 0 60000 65536"/>
              <a:gd name="T7" fmla="*/ 0 60000 65536"/>
              <a:gd name="T8" fmla="*/ 0 60000 65536"/>
              <a:gd name="T9" fmla="*/ 0 w 136"/>
              <a:gd name="T10" fmla="*/ 0 h 680"/>
              <a:gd name="T11" fmla="*/ 136 w 136"/>
              <a:gd name="T12" fmla="*/ 680 h 6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680">
                <a:moveTo>
                  <a:pt x="136" y="0"/>
                </a:moveTo>
                <a:cubicBezTo>
                  <a:pt x="68" y="102"/>
                  <a:pt x="0" y="204"/>
                  <a:pt x="0" y="317"/>
                </a:cubicBezTo>
                <a:cubicBezTo>
                  <a:pt x="0" y="430"/>
                  <a:pt x="106" y="620"/>
                  <a:pt x="136" y="6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851400" y="3238033"/>
                <a:ext cx="5568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400" y="3238033"/>
                <a:ext cx="5568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189267" y="2351048"/>
                <a:ext cx="63607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267" y="2351048"/>
                <a:ext cx="636072" cy="1569660"/>
              </a:xfrm>
              <a:prstGeom prst="rect">
                <a:avLst/>
              </a:prstGeom>
              <a:blipFill>
                <a:blip r:embed="rId10"/>
                <a:stretch>
                  <a:fillRect r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151299" y="1981200"/>
                <a:ext cx="636072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299" y="1981200"/>
                <a:ext cx="636072" cy="26776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222935AD-F74C-4DA2-9327-85D936137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2FC3F9-47B3-465C-97B4-5ADF6EF3573B}"/>
                  </a:ext>
                </a:extLst>
              </p:cNvPr>
              <p:cNvSpPr/>
              <p:nvPr/>
            </p:nvSpPr>
            <p:spPr>
              <a:xfrm>
                <a:off x="2137071" y="4940107"/>
                <a:ext cx="27699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2FC3F9-47B3-465C-97B4-5ADF6EF357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071" y="4940107"/>
                <a:ext cx="276992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975CBD-FC9F-4AC9-9FD5-32626C75BFED}"/>
                  </a:ext>
                </a:extLst>
              </p:cNvPr>
              <p:cNvSpPr/>
              <p:nvPr/>
            </p:nvSpPr>
            <p:spPr>
              <a:xfrm>
                <a:off x="4716496" y="4964668"/>
                <a:ext cx="9223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−(−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975CBD-FC9F-4AC9-9FD5-32626C75B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496" y="4964668"/>
                <a:ext cx="922304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7ED89C-E28A-4E0E-890B-0C07A53E74EF}"/>
                  </a:ext>
                </a:extLst>
              </p:cNvPr>
              <p:cNvSpPr/>
              <p:nvPr/>
            </p:nvSpPr>
            <p:spPr>
              <a:xfrm>
                <a:off x="5438819" y="4973364"/>
                <a:ext cx="6190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7ED89C-E28A-4E0E-890B-0C07A53E7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819" y="4973364"/>
                <a:ext cx="61908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A9E9006-672E-403E-8E19-3B848B684FDB}"/>
              </a:ext>
            </a:extLst>
          </p:cNvPr>
          <p:cNvSpPr txBox="1"/>
          <p:nvPr/>
        </p:nvSpPr>
        <p:spPr>
          <a:xfrm>
            <a:off x="5772182" y="49646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?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07201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507" grpId="0" animBg="1"/>
      <p:bldP spid="447508" grpId="0" animBg="1"/>
      <p:bldP spid="447509" grpId="0" animBg="1"/>
      <p:bldP spid="447512" grpId="0" animBg="1"/>
      <p:bldP spid="447514" grpId="0" animBg="1"/>
      <p:bldP spid="447516" grpId="0" animBg="1"/>
      <p:bldP spid="2" grpId="0"/>
      <p:bldP spid="17" grpId="0"/>
      <p:bldP spid="18" grpId="0"/>
      <p:bldP spid="4" grpId="0"/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How to Learn? </a:t>
            </a:r>
            <a:r>
              <a:rPr lang="zh-CN" altLang="en-US" dirty="0">
                <a:ea typeface="ＭＳ Ｐゴシック" panose="020B0600070205080204" pitchFamily="34" charset="-128"/>
              </a:rPr>
              <a:t>怎么学？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Paradigm: Online Learning </a:t>
            </a:r>
            <a:br>
              <a:rPr lang="en-US" altLang="zh-CN" dirty="0"/>
            </a:br>
            <a:r>
              <a:rPr lang="zh-CN" altLang="en-US" dirty="0"/>
              <a:t>模式：在线学习</a:t>
            </a:r>
            <a:endParaRPr lang="en-US" altLang="zh-CN" dirty="0"/>
          </a:p>
          <a:p>
            <a:pPr lvl="1"/>
            <a:r>
              <a:rPr lang="en-US" altLang="zh-CN" b="0" dirty="0"/>
              <a:t>Each time, classify a certain data item w/ the current classifier </a:t>
            </a:r>
            <a:r>
              <a:rPr lang="zh-CN" altLang="en-US" b="0" dirty="0"/>
              <a:t>每一时刻，用当前分类器对一个数据进行分类</a:t>
            </a:r>
            <a:endParaRPr lang="en-US" altLang="zh-CN" b="0" dirty="0"/>
          </a:p>
          <a:p>
            <a:pPr lvl="1"/>
            <a:r>
              <a:rPr lang="en-US" altLang="zh-CN" dirty="0"/>
              <a:t>Compare the classification result w/ the ground truth  </a:t>
            </a:r>
            <a:r>
              <a:rPr lang="zh-CN" altLang="en-US" dirty="0"/>
              <a:t>比较分类结果和真实类别</a:t>
            </a:r>
            <a:endParaRPr lang="en-US" altLang="zh-CN" dirty="0"/>
          </a:p>
          <a:p>
            <a:pPr lvl="1"/>
            <a:r>
              <a:rPr lang="en-US" altLang="zh-CN" b="0" dirty="0"/>
              <a:t>Adjust the classifier  </a:t>
            </a:r>
            <a:r>
              <a:rPr lang="zh-CN" altLang="en-US" b="0" dirty="0"/>
              <a:t>调整分类器</a:t>
            </a:r>
            <a:endParaRPr lang="en-US" altLang="zh-CN" b="0" dirty="0"/>
          </a:p>
          <a:p>
            <a:r>
              <a:rPr lang="en-US" altLang="zh-CN" dirty="0"/>
              <a:t>Perceptron Algorithm  </a:t>
            </a:r>
            <a:r>
              <a:rPr lang="zh-CN" altLang="en-US" dirty="0"/>
              <a:t>感知器算法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937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Perceptron Algorithm</a:t>
            </a:r>
            <a:br>
              <a:rPr lang="en-US" altLang="zh-CN" dirty="0"/>
            </a:br>
            <a:r>
              <a:rPr lang="zh-CN" altLang="en-US" dirty="0"/>
              <a:t>感知器算法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Initialization  </a:t>
                </a:r>
                <a:r>
                  <a:rPr lang="zh-CN" altLang="en-US" dirty="0"/>
                  <a:t>初始化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0,…,0</m:t>
                        </m:r>
                      </m:e>
                    </m: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Repeat over Time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对时间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dirty="0"/>
                  <a:t>循环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Get  </a:t>
                </a:r>
                <a:r>
                  <a:rPr lang="zh-CN" altLang="en-US" dirty="0"/>
                  <a:t>获得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,…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sgn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/>
                  <a:t>If  </a:t>
                </a:r>
                <a:r>
                  <a:rPr lang="zh-CN" altLang="en-US"/>
                  <a:t>如</a:t>
                </a:r>
                <a:r>
                  <a:rPr lang="zh-CN" altLang="en-US" dirty="0"/>
                  <a:t>果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  <a:blipFill>
                <a:blip r:embed="rId5"/>
                <a:stretch>
                  <a:fillRect l="-549" t="-2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430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Batch Learning  </a:t>
            </a:r>
            <a:r>
              <a:rPr lang="zh-CN" altLang="en-US" dirty="0">
                <a:ea typeface="ＭＳ Ｐゴシック" panose="020B0600070205080204" pitchFamily="34" charset="-128"/>
              </a:rPr>
              <a:t>批量学习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Typical Case: Not the Online One</a:t>
            </a:r>
            <a:br>
              <a:rPr lang="en-US" altLang="zh-CN" dirty="0"/>
            </a:br>
            <a:r>
              <a:rPr lang="zh-CN" altLang="en-US" dirty="0"/>
              <a:t>典型的情况：并非在线学习</a:t>
            </a:r>
            <a:endParaRPr lang="en-US" altLang="zh-CN" dirty="0"/>
          </a:p>
          <a:p>
            <a:pPr lvl="1"/>
            <a:r>
              <a:rPr lang="en-US" altLang="zh-CN" b="0" dirty="0"/>
              <a:t>Repeatedly loop over the dataset</a:t>
            </a:r>
            <a:br>
              <a:rPr lang="en-US" altLang="zh-CN" b="0" dirty="0"/>
            </a:br>
            <a:r>
              <a:rPr lang="zh-CN" altLang="en-US" b="0" dirty="0"/>
              <a:t>反复对数据集进行循环</a:t>
            </a:r>
            <a:endParaRPr lang="en-US" altLang="zh-CN" b="0" dirty="0"/>
          </a:p>
          <a:p>
            <a:r>
              <a:rPr lang="en-US" altLang="zh-CN" dirty="0"/>
              <a:t>Stop Conditions  </a:t>
            </a:r>
            <a:r>
              <a:rPr lang="zh-CN" altLang="en-US" dirty="0"/>
              <a:t>结束条件</a:t>
            </a:r>
            <a:endParaRPr lang="en-US" altLang="zh-CN" dirty="0"/>
          </a:p>
          <a:p>
            <a:pPr lvl="1"/>
            <a:r>
              <a:rPr lang="en-US" altLang="zh-CN" dirty="0"/>
              <a:t>Stop learning if no errors in a batch</a:t>
            </a:r>
            <a:br>
              <a:rPr lang="en-US" altLang="zh-CN" dirty="0"/>
            </a:br>
            <a:r>
              <a:rPr lang="zh-CN" altLang="en-US" dirty="0"/>
              <a:t>如果一轮中没有出错，就可以结束学习</a:t>
            </a:r>
            <a:endParaRPr lang="en-US" altLang="zh-CN" dirty="0"/>
          </a:p>
          <a:p>
            <a:pPr lvl="1"/>
            <a:r>
              <a:rPr lang="en-US" altLang="zh-CN" dirty="0"/>
              <a:t>Otherwise? </a:t>
            </a:r>
            <a:r>
              <a:rPr lang="zh-CN" altLang="en-US" dirty="0"/>
              <a:t>否则呢？</a:t>
            </a:r>
            <a:endParaRPr lang="en-US" altLang="zh-CN" dirty="0"/>
          </a:p>
          <a:p>
            <a:pPr lvl="2"/>
            <a:r>
              <a:rPr lang="en-US" altLang="zh-CN" dirty="0"/>
              <a:t>Make it simple, stop after a maximum number of rounds  </a:t>
            </a:r>
            <a:r>
              <a:rPr lang="zh-CN" altLang="en-US" dirty="0"/>
              <a:t>简单点：到达最大轮数终止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45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5.1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5.1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675481" y="1490245"/>
            <a:ext cx="77930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use perceptron on the 1-attribute &amp; 2-attribute synthetic problems </a:t>
            </a:r>
          </a:p>
          <a:p>
            <a:pPr algn="ctr"/>
            <a:r>
              <a:rPr lang="zh-CN" altLang="en-US" sz="2200" dirty="0"/>
              <a:t>实践时刻：将感知器用于一个属性和两个属性的人造问题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Compare the results w/ those from nearest neighbor</a:t>
            </a:r>
          </a:p>
          <a:p>
            <a:pPr algn="ctr"/>
            <a:r>
              <a:rPr lang="zh-CN" altLang="en-US" sz="2200" dirty="0"/>
              <a:t>和最近邻的结果进行比较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732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1054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Perceptron performs stably, but why?</a:t>
            </a:r>
          </a:p>
          <a:p>
            <a:pPr algn="ctr"/>
            <a:r>
              <a:rPr lang="zh-CN" altLang="en-US" sz="2200" dirty="0"/>
              <a:t>感知器表现得很稳定，这是为什么？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7EA67C-4099-40C8-BFC3-5DD3523D3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365" y="1768200"/>
            <a:ext cx="5571270" cy="3321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984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Do You Still Remember?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你还记得吗？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8EB701-CEDA-4698-B580-32553368A8AC}"/>
              </a:ext>
            </a:extLst>
          </p:cNvPr>
          <p:cNvSpPr/>
          <p:nvPr/>
        </p:nvSpPr>
        <p:spPr>
          <a:xfrm>
            <a:off x="1800224" y="1676400"/>
            <a:ext cx="5543551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 assumption, no learning!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无假设，不学习！</a:t>
            </a:r>
            <a:endParaRPr lang="en-US" altLang="ja-JP" sz="22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F9D143-86D6-43C5-A57D-2BC8DE2DA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4446665"/>
            <a:ext cx="3200677" cy="1440305"/>
          </a:xfrm>
          <a:prstGeom prst="rect">
            <a:avLst/>
          </a:prstGeom>
        </p:spPr>
      </p:pic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4F06F45D-BCA3-4BB6-AB62-E4AF079ABA7C}"/>
              </a:ext>
            </a:extLst>
          </p:cNvPr>
          <p:cNvSpPr/>
          <p:nvPr/>
        </p:nvSpPr>
        <p:spPr bwMode="auto">
          <a:xfrm>
            <a:off x="3429000" y="2506978"/>
            <a:ext cx="4343400" cy="1583019"/>
          </a:xfrm>
          <a:prstGeom prst="cloudCallout">
            <a:avLst>
              <a:gd name="adj1" fmla="val -41019"/>
              <a:gd name="adj2" fmla="val 8521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Now where is the assumption?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那么假设在哪里？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474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Assumption  </a:t>
            </a:r>
            <a:r>
              <a:rPr lang="zh-CN" altLang="en-US" dirty="0">
                <a:ea typeface="ＭＳ Ｐゴシック" panose="020B0600070205080204" pitchFamily="34" charset="-128"/>
              </a:rPr>
              <a:t>假设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Assumption  </a:t>
            </a:r>
            <a:r>
              <a:rPr lang="zh-CN" altLang="en-US" dirty="0"/>
              <a:t>假设</a:t>
            </a:r>
            <a:endParaRPr lang="en-US" altLang="zh-CN" dirty="0"/>
          </a:p>
          <a:p>
            <a:pPr lvl="1"/>
            <a:r>
              <a:rPr lang="en-US" altLang="zh-CN" dirty="0"/>
              <a:t>Classification can be done w/ a hyperplane</a:t>
            </a:r>
            <a:r>
              <a:rPr lang="zh-CN" altLang="en-US" dirty="0"/>
              <a:t> 能用一个超平面完成分类</a:t>
            </a:r>
            <a:endParaRPr lang="en-US" altLang="zh-CN" dirty="0"/>
          </a:p>
          <a:p>
            <a:r>
              <a:rPr lang="en-US" altLang="zh-CN" dirty="0"/>
              <a:t>Perceptron Algorithm </a:t>
            </a:r>
            <a:r>
              <a:rPr lang="zh-CN" altLang="en-US" dirty="0"/>
              <a:t>感知器算法</a:t>
            </a:r>
            <a:endParaRPr lang="en-US" altLang="zh-CN" dirty="0"/>
          </a:p>
          <a:p>
            <a:pPr lvl="1"/>
            <a:r>
              <a:rPr lang="en-US" altLang="zh-CN" dirty="0"/>
              <a:t>If there exists a hyperplane separating the 2 classes, perceptron guarantees to find such a hyperplane</a:t>
            </a:r>
            <a:br>
              <a:rPr lang="en-US" altLang="zh-CN" dirty="0"/>
            </a:br>
            <a:r>
              <a:rPr lang="zh-CN" altLang="en-US" dirty="0"/>
              <a:t>如果存在一个划分两类的超平面，那么感知器也能找到一个这样的超平面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494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Synthetic Problem  </a:t>
            </a:r>
            <a:r>
              <a:rPr lang="zh-CN" altLang="en-US" dirty="0"/>
              <a:t>人造问题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E66B9-75B2-4341-AD50-A86A2268C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475" y="1690099"/>
            <a:ext cx="1993050" cy="42350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06E37A-F3A1-4AE7-8071-66C05DABA3CD}"/>
              </a:ext>
            </a:extLst>
          </p:cNvPr>
          <p:cNvCxnSpPr>
            <a:cxnSpLocks/>
          </p:cNvCxnSpPr>
          <p:nvPr/>
        </p:nvCxnSpPr>
        <p:spPr bwMode="auto">
          <a:xfrm>
            <a:off x="4419600" y="1828800"/>
            <a:ext cx="0" cy="3886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2B8587-ADB4-446F-BA2D-308A5681CA13}"/>
                  </a:ext>
                </a:extLst>
              </p:cNvPr>
              <p:cNvSpPr txBox="1"/>
              <p:nvPr/>
            </p:nvSpPr>
            <p:spPr>
              <a:xfrm>
                <a:off x="1134377" y="2499002"/>
                <a:ext cx="3338563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Ground truth classification boundary  </a:t>
                </a:r>
                <a:r>
                  <a:rPr lang="zh-CN" altLang="en-US" sz="2200" dirty="0"/>
                  <a:t>真实的分类边界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US" altLang="zh-CN" sz="2200" dirty="0"/>
                  <a:t> 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2B8587-ADB4-446F-BA2D-308A5681C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377" y="2499002"/>
                <a:ext cx="3338563" cy="1446550"/>
              </a:xfrm>
              <a:prstGeom prst="rect">
                <a:avLst/>
              </a:prstGeom>
              <a:blipFill>
                <a:blip r:embed="rId6"/>
                <a:stretch>
                  <a:fillRect l="-182" t="-3376" r="-4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4F280D-31FE-4F54-807C-09EA0908B5BF}"/>
              </a:ext>
            </a:extLst>
          </p:cNvPr>
          <p:cNvCxnSpPr>
            <a:cxnSpLocks/>
          </p:cNvCxnSpPr>
          <p:nvPr/>
        </p:nvCxnSpPr>
        <p:spPr bwMode="auto">
          <a:xfrm flipH="1">
            <a:off x="4404360" y="1844040"/>
            <a:ext cx="68580" cy="39243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2CC8D7-09F7-4504-BE29-FC02D814A09B}"/>
                  </a:ext>
                </a:extLst>
              </p:cNvPr>
              <p:cNvSpPr txBox="1"/>
              <p:nvPr/>
            </p:nvSpPr>
            <p:spPr>
              <a:xfrm>
                <a:off x="4876800" y="2499002"/>
                <a:ext cx="342900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Classification boundary learned by perceptron  </a:t>
                </a:r>
                <a:r>
                  <a:rPr lang="zh-CN" altLang="en-US" sz="2200" dirty="0"/>
                  <a:t>感知器学习到的分类边界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36.73</m:t>
                    </m:r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−0.42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+26=0</m:t>
                    </m:r>
                  </m:oMath>
                </a14:m>
                <a:r>
                  <a:rPr lang="en-US" altLang="zh-CN" sz="2200" dirty="0"/>
                  <a:t> 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2CC8D7-09F7-4504-BE29-FC02D814A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499002"/>
                <a:ext cx="3429000" cy="1446550"/>
              </a:xfrm>
              <a:prstGeom prst="rect">
                <a:avLst/>
              </a:prstGeom>
              <a:blipFill>
                <a:blip r:embed="rId7"/>
                <a:stretch>
                  <a:fillRect t="-3376" r="-1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0270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Assumption Holds </a:t>
            </a:r>
            <a:r>
              <a:rPr lang="zh-CN" altLang="en-US" dirty="0">
                <a:ea typeface="ＭＳ Ｐゴシック" panose="020B0600070205080204" pitchFamily="34" charset="-128"/>
              </a:rPr>
              <a:t>假设成立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This Synthetic Problem  </a:t>
            </a:r>
            <a:r>
              <a:rPr lang="zh-CN" altLang="en-US" dirty="0"/>
              <a:t>该人造问题</a:t>
            </a:r>
            <a:endParaRPr lang="en-US" altLang="zh-CN" dirty="0"/>
          </a:p>
          <a:p>
            <a:pPr lvl="1"/>
            <a:r>
              <a:rPr lang="en-US" altLang="zh-CN" dirty="0"/>
              <a:t>Assumption holds</a:t>
            </a:r>
            <a:r>
              <a:rPr lang="zh-CN" altLang="en-US" dirty="0"/>
              <a:t> 假设成立</a:t>
            </a:r>
            <a:endParaRPr lang="en-US" altLang="zh-CN" dirty="0"/>
          </a:p>
          <a:p>
            <a:pPr lvl="2"/>
            <a:r>
              <a:rPr lang="en-US" altLang="zh-CN" dirty="0"/>
              <a:t>Hyperplane separates the data</a:t>
            </a:r>
            <a:br>
              <a:rPr lang="en-US" altLang="zh-CN" dirty="0"/>
            </a:br>
            <a:r>
              <a:rPr lang="zh-CN" altLang="en-US" dirty="0"/>
              <a:t>超平面分割了数据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How about Real World Problem?</a:t>
            </a:r>
            <a:br>
              <a:rPr lang="en-US" altLang="zh-CN" dirty="0"/>
            </a:br>
            <a:r>
              <a:rPr lang="zh-CN" altLang="en-US" dirty="0"/>
              <a:t>真实的问题如何？</a:t>
            </a:r>
            <a:endParaRPr lang="en-US" altLang="zh-CN" dirty="0"/>
          </a:p>
          <a:p>
            <a:pPr lvl="1"/>
            <a:r>
              <a:rPr lang="en-US" altLang="zh-CN" dirty="0"/>
              <a:t>Like word sense disambiguation for ‘interest’  </a:t>
            </a:r>
            <a:r>
              <a:rPr lang="zh-CN" altLang="en-US" dirty="0"/>
              <a:t>例如“</a:t>
            </a:r>
            <a:r>
              <a:rPr lang="en-US" altLang="zh-CN" dirty="0"/>
              <a:t>interest</a:t>
            </a:r>
            <a:r>
              <a:rPr lang="zh-CN" altLang="en-US" dirty="0"/>
              <a:t>”的词义消歧</a:t>
            </a:r>
            <a:endParaRPr lang="en-US" altLang="zh-CN" dirty="0"/>
          </a:p>
          <a:p>
            <a:pPr lvl="2"/>
            <a:r>
              <a:rPr lang="en-US" altLang="zh-CN" dirty="0"/>
              <a:t>Wait, this is a multi-class problem</a:t>
            </a:r>
            <a:br>
              <a:rPr lang="en-US" altLang="zh-CN" dirty="0"/>
            </a:br>
            <a:r>
              <a:rPr lang="zh-CN" altLang="en-US" dirty="0"/>
              <a:t>等一下，这个是多类问题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256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Linear Classifier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多类线性分类器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Linear Classifier  </a:t>
            </a:r>
            <a:r>
              <a:rPr lang="zh-CN" altLang="en-US" dirty="0"/>
              <a:t>线性分类器</a:t>
            </a:r>
            <a:endParaRPr lang="en-US" altLang="zh-CN" dirty="0"/>
          </a:p>
          <a:p>
            <a:pPr lvl="1"/>
            <a:r>
              <a:rPr lang="en-US" altLang="zh-CN" dirty="0"/>
              <a:t>Hyperplane splits data into 2 parts</a:t>
            </a:r>
            <a:br>
              <a:rPr lang="en-US" altLang="zh-CN" dirty="0"/>
            </a:br>
            <a:r>
              <a:rPr lang="zh-CN" altLang="en-US" dirty="0"/>
              <a:t>超平面将数据一分为二</a:t>
            </a:r>
            <a:endParaRPr lang="en-US" altLang="zh-CN" dirty="0"/>
          </a:p>
          <a:p>
            <a:r>
              <a:rPr lang="en-US" altLang="zh-CN" dirty="0"/>
              <a:t>Given More than 2 Classes </a:t>
            </a:r>
            <a:br>
              <a:rPr lang="en-US" altLang="zh-CN" dirty="0"/>
            </a:br>
            <a:r>
              <a:rPr lang="zh-CN" altLang="en-US" dirty="0"/>
              <a:t>当多于两个类别时</a:t>
            </a:r>
            <a:endParaRPr lang="en-US" altLang="zh-CN" dirty="0"/>
          </a:p>
          <a:p>
            <a:pPr lvl="1"/>
            <a:r>
              <a:rPr lang="en-US" altLang="zh-CN" dirty="0"/>
              <a:t>Construct multiple linear classifiers </a:t>
            </a:r>
            <a:br>
              <a:rPr lang="en-US" altLang="zh-CN" dirty="0"/>
            </a:br>
            <a:r>
              <a:rPr lang="zh-CN" altLang="en-US" dirty="0"/>
              <a:t>创建多个线性分类器</a:t>
            </a:r>
            <a:endParaRPr lang="en-US" altLang="zh-CN" dirty="0"/>
          </a:p>
          <a:p>
            <a:pPr lvl="2"/>
            <a:r>
              <a:rPr lang="en-US" altLang="zh-CN" dirty="0"/>
              <a:t>Each classifier: one vs. rest</a:t>
            </a:r>
            <a:br>
              <a:rPr lang="en-US" altLang="zh-CN" dirty="0"/>
            </a:br>
            <a:r>
              <a:rPr lang="zh-CN" altLang="en-US" dirty="0"/>
              <a:t>每个分类器：一对其余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66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One vs. Rest  </a:t>
            </a:r>
            <a:r>
              <a:rPr lang="zh-CN" altLang="en-US" dirty="0">
                <a:ea typeface="ＭＳ Ｐゴシック" panose="020B0600070205080204" pitchFamily="34" charset="-128"/>
              </a:rPr>
              <a:t>一对其余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73D8DF3-9670-47CF-87B3-AD2D182FA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919785"/>
              </p:ext>
            </p:extLst>
          </p:nvPr>
        </p:nvGraphicFramePr>
        <p:xfrm>
          <a:off x="609600" y="1752600"/>
          <a:ext cx="213360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6190935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12366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0954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09354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6177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43402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0746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074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03702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04453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85432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4928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259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787124-10B6-4065-B88D-F4A831DB5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825560"/>
              </p:ext>
            </p:extLst>
          </p:nvPr>
        </p:nvGraphicFramePr>
        <p:xfrm>
          <a:off x="4343400" y="1621971"/>
          <a:ext cx="21336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65234407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1574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65871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64459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4AFB4E-A6DB-4815-9E48-ED0E98611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005416"/>
              </p:ext>
            </p:extLst>
          </p:nvPr>
        </p:nvGraphicFramePr>
        <p:xfrm>
          <a:off x="4343400" y="2951798"/>
          <a:ext cx="213360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89771111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25273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3023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2122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7208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811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5387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79955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2377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636738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BA55D087-249F-4BEF-AEB4-76E0512CCF06}"/>
              </a:ext>
            </a:extLst>
          </p:cNvPr>
          <p:cNvSpPr/>
          <p:nvPr/>
        </p:nvSpPr>
        <p:spPr bwMode="auto">
          <a:xfrm rot="21131801">
            <a:off x="2788852" y="1987648"/>
            <a:ext cx="1545627" cy="457200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EE833B2-5D03-4588-91C5-35D8985CC8A5}"/>
              </a:ext>
            </a:extLst>
          </p:cNvPr>
          <p:cNvSpPr/>
          <p:nvPr/>
        </p:nvSpPr>
        <p:spPr bwMode="auto">
          <a:xfrm rot="1249818">
            <a:off x="2795749" y="3678576"/>
            <a:ext cx="1545627" cy="457200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07C9441-4684-43A6-BF49-4CDF45223D4D}"/>
              </a:ext>
            </a:extLst>
          </p:cNvPr>
          <p:cNvSpPr/>
          <p:nvPr/>
        </p:nvSpPr>
        <p:spPr bwMode="auto">
          <a:xfrm rot="20413793">
            <a:off x="2802645" y="4993070"/>
            <a:ext cx="1545627" cy="457200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4D00B5B-E6B3-46D1-92BA-DFEB3BD1CC3D}"/>
              </a:ext>
            </a:extLst>
          </p:cNvPr>
          <p:cNvSpPr/>
          <p:nvPr/>
        </p:nvSpPr>
        <p:spPr bwMode="auto">
          <a:xfrm rot="1618142">
            <a:off x="6511390" y="1983224"/>
            <a:ext cx="806980" cy="461282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7BFA21A-520E-43C5-B8A0-64A2D3D190CD}"/>
              </a:ext>
            </a:extLst>
          </p:cNvPr>
          <p:cNvSpPr/>
          <p:nvPr/>
        </p:nvSpPr>
        <p:spPr bwMode="auto">
          <a:xfrm rot="17011254">
            <a:off x="5598646" y="3763454"/>
            <a:ext cx="2602059" cy="461282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501C2-3EC5-4E45-BA5B-4F4D03F7105E}"/>
              </a:ext>
            </a:extLst>
          </p:cNvPr>
          <p:cNvSpPr txBox="1"/>
          <p:nvPr/>
        </p:nvSpPr>
        <p:spPr>
          <a:xfrm>
            <a:off x="7302890" y="2152434"/>
            <a:ext cx="1764910" cy="7839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2200" dirty="0"/>
              <a:t>Classifier</a:t>
            </a:r>
          </a:p>
          <a:p>
            <a:pPr algn="ctr"/>
            <a:r>
              <a:rPr lang="zh-CN" altLang="en-US" sz="2200" dirty="0"/>
              <a:t>分类器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724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One vs. Rest  </a:t>
            </a:r>
            <a:r>
              <a:rPr lang="zh-CN" altLang="en-US" dirty="0">
                <a:ea typeface="ＭＳ Ｐゴシック" panose="020B0600070205080204" pitchFamily="34" charset="-128"/>
              </a:rPr>
              <a:t>一对其余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73D8DF3-9670-47CF-87B3-AD2D182FADF7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752600"/>
          <a:ext cx="213360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6190935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12366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0954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09354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6177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43402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0746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074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03702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04453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85432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4928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259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787124-10B6-4065-B88D-F4A831DB5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861850"/>
              </p:ext>
            </p:extLst>
          </p:nvPr>
        </p:nvGraphicFramePr>
        <p:xfrm>
          <a:off x="4343400" y="1621971"/>
          <a:ext cx="21336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65234407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1574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65871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64459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09435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72355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4AFB4E-A6DB-4815-9E48-ED0E98611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324203"/>
              </p:ext>
            </p:extLst>
          </p:nvPr>
        </p:nvGraphicFramePr>
        <p:xfrm>
          <a:off x="4343400" y="3677194"/>
          <a:ext cx="213360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89771111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2122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7208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811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5387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79955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2377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636738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BA55D087-249F-4BEF-AEB4-76E0512CCF06}"/>
              </a:ext>
            </a:extLst>
          </p:cNvPr>
          <p:cNvSpPr/>
          <p:nvPr/>
        </p:nvSpPr>
        <p:spPr bwMode="auto">
          <a:xfrm rot="3594428">
            <a:off x="2253900" y="3173803"/>
            <a:ext cx="2553997" cy="457200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EE833B2-5D03-4588-91C5-35D8985CC8A5}"/>
              </a:ext>
            </a:extLst>
          </p:cNvPr>
          <p:cNvSpPr/>
          <p:nvPr/>
        </p:nvSpPr>
        <p:spPr bwMode="auto">
          <a:xfrm rot="18870665">
            <a:off x="2522170" y="2903550"/>
            <a:ext cx="2022900" cy="457200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07C9441-4684-43A6-BF49-4CDF45223D4D}"/>
              </a:ext>
            </a:extLst>
          </p:cNvPr>
          <p:cNvSpPr/>
          <p:nvPr/>
        </p:nvSpPr>
        <p:spPr bwMode="auto">
          <a:xfrm rot="19890857">
            <a:off x="2697524" y="4988116"/>
            <a:ext cx="1723428" cy="457200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4D00B5B-E6B3-46D1-92BA-DFEB3BD1CC3D}"/>
              </a:ext>
            </a:extLst>
          </p:cNvPr>
          <p:cNvSpPr/>
          <p:nvPr/>
        </p:nvSpPr>
        <p:spPr bwMode="auto">
          <a:xfrm rot="1618142">
            <a:off x="6511390" y="1983224"/>
            <a:ext cx="806980" cy="461282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7BFA21A-520E-43C5-B8A0-64A2D3D190CD}"/>
              </a:ext>
            </a:extLst>
          </p:cNvPr>
          <p:cNvSpPr/>
          <p:nvPr/>
        </p:nvSpPr>
        <p:spPr bwMode="auto">
          <a:xfrm rot="17011254">
            <a:off x="5598646" y="3763454"/>
            <a:ext cx="2602059" cy="461282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501C2-3EC5-4E45-BA5B-4F4D03F7105E}"/>
              </a:ext>
            </a:extLst>
          </p:cNvPr>
          <p:cNvSpPr txBox="1"/>
          <p:nvPr/>
        </p:nvSpPr>
        <p:spPr>
          <a:xfrm>
            <a:off x="7302890" y="2152434"/>
            <a:ext cx="1764910" cy="78395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2200" dirty="0"/>
              <a:t>Classifier</a:t>
            </a:r>
          </a:p>
          <a:p>
            <a:pPr algn="ctr"/>
            <a:r>
              <a:rPr lang="zh-CN" altLang="en-US" sz="2200" dirty="0"/>
              <a:t>分类器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043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2" grpId="0" animBg="1"/>
      <p:bldP spid="12" grpId="1" animBg="1"/>
      <p:bldP spid="13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One vs. Rest  </a:t>
            </a:r>
            <a:r>
              <a:rPr lang="zh-CN" altLang="en-US" dirty="0">
                <a:ea typeface="ＭＳ Ｐゴシック" panose="020B0600070205080204" pitchFamily="34" charset="-128"/>
              </a:rPr>
              <a:t>一对其余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73D8DF3-9670-47CF-87B3-AD2D182FADF7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752600"/>
          <a:ext cx="213360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6190935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12366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00954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09354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6177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43402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0746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074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03702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04453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85432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4928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259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787124-10B6-4065-B88D-F4A831DB5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441340"/>
              </p:ext>
            </p:extLst>
          </p:nvPr>
        </p:nvGraphicFramePr>
        <p:xfrm>
          <a:off x="4343400" y="1621971"/>
          <a:ext cx="213360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65234407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1574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65871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64459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09435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4AFB4E-A6DB-4815-9E48-ED0E98611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600514"/>
              </p:ext>
            </p:extLst>
          </p:nvPr>
        </p:nvGraphicFramePr>
        <p:xfrm>
          <a:off x="4343400" y="3311434"/>
          <a:ext cx="213360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89771111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31871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2122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7208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811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5387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79955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2377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636738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BA55D087-249F-4BEF-AEB4-76E0512CCF06}"/>
              </a:ext>
            </a:extLst>
          </p:cNvPr>
          <p:cNvSpPr/>
          <p:nvPr/>
        </p:nvSpPr>
        <p:spPr bwMode="auto">
          <a:xfrm rot="3594428">
            <a:off x="2253900" y="3173803"/>
            <a:ext cx="2553997" cy="457200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EE833B2-5D03-4588-91C5-35D8985CC8A5}"/>
              </a:ext>
            </a:extLst>
          </p:cNvPr>
          <p:cNvSpPr/>
          <p:nvPr/>
        </p:nvSpPr>
        <p:spPr bwMode="auto">
          <a:xfrm rot="17820130">
            <a:off x="2014460" y="3554378"/>
            <a:ext cx="3061489" cy="457200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07C9441-4684-43A6-BF49-4CDF45223D4D}"/>
              </a:ext>
            </a:extLst>
          </p:cNvPr>
          <p:cNvSpPr/>
          <p:nvPr/>
        </p:nvSpPr>
        <p:spPr bwMode="auto">
          <a:xfrm rot="2119114">
            <a:off x="2711664" y="4178695"/>
            <a:ext cx="1638468" cy="457200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4D00B5B-E6B3-46D1-92BA-DFEB3BD1CC3D}"/>
              </a:ext>
            </a:extLst>
          </p:cNvPr>
          <p:cNvSpPr/>
          <p:nvPr/>
        </p:nvSpPr>
        <p:spPr bwMode="auto">
          <a:xfrm rot="1618142">
            <a:off x="6511390" y="1983224"/>
            <a:ext cx="806980" cy="461282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7BFA21A-520E-43C5-B8A0-64A2D3D190CD}"/>
              </a:ext>
            </a:extLst>
          </p:cNvPr>
          <p:cNvSpPr/>
          <p:nvPr/>
        </p:nvSpPr>
        <p:spPr bwMode="auto">
          <a:xfrm rot="17011254">
            <a:off x="5598646" y="3763454"/>
            <a:ext cx="2602059" cy="461282"/>
          </a:xfrm>
          <a:prstGeom prst="rightArrow">
            <a:avLst/>
          </a:prstGeom>
          <a:solidFill>
            <a:srgbClr val="7DD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501C2-3EC5-4E45-BA5B-4F4D03F7105E}"/>
              </a:ext>
            </a:extLst>
          </p:cNvPr>
          <p:cNvSpPr txBox="1"/>
          <p:nvPr/>
        </p:nvSpPr>
        <p:spPr>
          <a:xfrm>
            <a:off x="7302890" y="2152434"/>
            <a:ext cx="1764910" cy="7839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2200" dirty="0"/>
              <a:t>Classifier</a:t>
            </a:r>
          </a:p>
          <a:p>
            <a:pPr algn="ctr"/>
            <a:r>
              <a:rPr lang="zh-CN" altLang="en-US" sz="2200" dirty="0"/>
              <a:t>分类器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375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2" grpId="0" animBg="1"/>
      <p:bldP spid="12" grpId="1" animBg="1"/>
      <p:bldP spid="13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Compete w/ the Score </a:t>
            </a:r>
            <a:r>
              <a:rPr lang="zh-CN" altLang="en-US" dirty="0">
                <a:ea typeface="ＭＳ Ｐゴシック" panose="020B0600070205080204" pitchFamily="34" charset="-128"/>
              </a:rPr>
              <a:t>比较得分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501C2-3EC5-4E45-BA5B-4F4D03F7105E}"/>
              </a:ext>
            </a:extLst>
          </p:cNvPr>
          <p:cNvSpPr txBox="1"/>
          <p:nvPr/>
        </p:nvSpPr>
        <p:spPr>
          <a:xfrm>
            <a:off x="2230294" y="4778646"/>
            <a:ext cx="1764910" cy="7839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2200" dirty="0"/>
              <a:t>Classifier</a:t>
            </a:r>
          </a:p>
          <a:p>
            <a:pPr algn="ctr"/>
            <a:r>
              <a:rPr lang="zh-CN" altLang="en-US" sz="2200" dirty="0"/>
              <a:t>分类器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342D50-4556-4691-A108-BB7979ED7C57}"/>
              </a:ext>
            </a:extLst>
          </p:cNvPr>
          <p:cNvSpPr txBox="1"/>
          <p:nvPr/>
        </p:nvSpPr>
        <p:spPr>
          <a:xfrm>
            <a:off x="2230294" y="3602715"/>
            <a:ext cx="1764910" cy="78395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2200" dirty="0"/>
              <a:t>Classifier</a:t>
            </a:r>
          </a:p>
          <a:p>
            <a:pPr algn="ctr"/>
            <a:r>
              <a:rPr lang="zh-CN" altLang="en-US" sz="2200" dirty="0"/>
              <a:t>分类器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DAFA5-3B05-418A-8DEE-F81BAF57E68F}"/>
              </a:ext>
            </a:extLst>
          </p:cNvPr>
          <p:cNvSpPr txBox="1"/>
          <p:nvPr/>
        </p:nvSpPr>
        <p:spPr>
          <a:xfrm>
            <a:off x="2230294" y="2426784"/>
            <a:ext cx="1764910" cy="7839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2200" dirty="0"/>
              <a:t>Classifier</a:t>
            </a:r>
          </a:p>
          <a:p>
            <a:pPr algn="ctr"/>
            <a:r>
              <a:rPr lang="zh-CN" altLang="en-US" sz="2200" dirty="0"/>
              <a:t>分类器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30CB72-518F-474C-A0C9-B3C069FF12D5}"/>
              </a:ext>
            </a:extLst>
          </p:cNvPr>
          <p:cNvSpPr txBox="1"/>
          <p:nvPr/>
        </p:nvSpPr>
        <p:spPr>
          <a:xfrm>
            <a:off x="553894" y="3609971"/>
            <a:ext cx="83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  </a:t>
            </a:r>
            <a:r>
              <a:rPr lang="zh-CN" altLang="en-US" sz="2200" dirty="0"/>
              <a:t>数据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E8923B9-B582-4C63-A142-7CE54D16EA24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 bwMode="auto">
          <a:xfrm flipV="1">
            <a:off x="1392094" y="2818761"/>
            <a:ext cx="838200" cy="11759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BC894C-A384-4042-942E-FA081189F8B6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 bwMode="auto">
          <a:xfrm>
            <a:off x="1392094" y="3994692"/>
            <a:ext cx="838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61F831-29A8-49C4-A568-9032268E1406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 bwMode="auto">
          <a:xfrm>
            <a:off x="1392094" y="3994692"/>
            <a:ext cx="838200" cy="11759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78D211E-6FC8-4B4D-94B8-5F212533B8EF}"/>
                  </a:ext>
                </a:extLst>
              </p:cNvPr>
              <p:cNvSpPr/>
              <p:nvPr/>
            </p:nvSpPr>
            <p:spPr>
              <a:xfrm>
                <a:off x="4146179" y="2210518"/>
                <a:ext cx="3213637" cy="51078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78D211E-6FC8-4B4D-94B8-5F212533B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179" y="2210518"/>
                <a:ext cx="3213637" cy="5107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1A0299C-95B1-4336-897A-FB09546DEF05}"/>
                  </a:ext>
                </a:extLst>
              </p:cNvPr>
              <p:cNvSpPr/>
              <p:nvPr/>
            </p:nvSpPr>
            <p:spPr>
              <a:xfrm>
                <a:off x="4146180" y="3380995"/>
                <a:ext cx="3213637" cy="510781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1A0299C-95B1-4336-897A-FB09546DEF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180" y="3380995"/>
                <a:ext cx="3213637" cy="5107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6E1702B-A877-4E99-84FD-FF895FB39403}"/>
                  </a:ext>
                </a:extLst>
              </p:cNvPr>
              <p:cNvSpPr/>
              <p:nvPr/>
            </p:nvSpPr>
            <p:spPr>
              <a:xfrm>
                <a:off x="4146179" y="4545354"/>
                <a:ext cx="3213637" cy="5107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6E1702B-A877-4E99-84FD-FF895FB394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179" y="4545354"/>
                <a:ext cx="3213637" cy="5107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381B89-97A3-4CCA-A706-72A9A3959CC1}"/>
              </a:ext>
            </a:extLst>
          </p:cNvPr>
          <p:cNvCxnSpPr>
            <a:cxnSpLocks/>
            <a:stCxn id="17" idx="3"/>
          </p:cNvCxnSpPr>
          <p:nvPr/>
        </p:nvCxnSpPr>
        <p:spPr bwMode="auto">
          <a:xfrm>
            <a:off x="3995204" y="2818761"/>
            <a:ext cx="349289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5BD4F3-07A2-48AF-A251-AFEE3EB33CEC}"/>
              </a:ext>
            </a:extLst>
          </p:cNvPr>
          <p:cNvCxnSpPr>
            <a:cxnSpLocks/>
          </p:cNvCxnSpPr>
          <p:nvPr/>
        </p:nvCxnSpPr>
        <p:spPr bwMode="auto">
          <a:xfrm>
            <a:off x="4006552" y="3994691"/>
            <a:ext cx="349289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B31361-AE4B-4CBE-BCB8-6DEAD04E7BAD}"/>
              </a:ext>
            </a:extLst>
          </p:cNvPr>
          <p:cNvCxnSpPr>
            <a:cxnSpLocks/>
          </p:cNvCxnSpPr>
          <p:nvPr/>
        </p:nvCxnSpPr>
        <p:spPr bwMode="auto">
          <a:xfrm>
            <a:off x="3995204" y="5169984"/>
            <a:ext cx="349289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2AD9645-3DAF-48F4-85B5-2ABD67694681}"/>
              </a:ext>
            </a:extLst>
          </p:cNvPr>
          <p:cNvSpPr txBox="1"/>
          <p:nvPr/>
        </p:nvSpPr>
        <p:spPr>
          <a:xfrm rot="5400000">
            <a:off x="6466102" y="3630166"/>
            <a:ext cx="3135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Compete  </a:t>
            </a:r>
            <a:r>
              <a:rPr lang="zh-CN" altLang="en-US" sz="2800" dirty="0"/>
              <a:t>比较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97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5" grpId="0" animBg="1"/>
      <p:bldP spid="26" grpId="0" animBg="1"/>
      <p:bldP spid="27" grpId="0" animBg="1"/>
      <p:bldP spid="4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5.2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5.2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528241" y="1714500"/>
            <a:ext cx="80875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use perceptron on word sense disambiguation</a:t>
            </a:r>
          </a:p>
          <a:p>
            <a:pPr algn="ctr"/>
            <a:r>
              <a:rPr lang="zh-CN" altLang="en-US" sz="2200" dirty="0"/>
              <a:t>实践时刻：将感知器用于词义消歧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Compare the results w/ those from nearest neighbor</a:t>
            </a:r>
          </a:p>
          <a:p>
            <a:pPr algn="ctr"/>
            <a:r>
              <a:rPr lang="zh-CN" altLang="en-US" sz="2200" dirty="0"/>
              <a:t>和最近邻的结果进行比较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596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5. From Lazy Learning to Eager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5. </a:t>
            </a:r>
            <a:r>
              <a:rPr lang="zh-CN" altLang="en-US" dirty="0"/>
              <a:t>从临阵磨枪到积极学习</a:t>
            </a:r>
            <a:endParaRPr lang="en-US" altLang="zh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478959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Perceptron improves the accuracy a lot</a:t>
            </a:r>
          </a:p>
          <a:p>
            <a:pPr algn="ctr"/>
            <a:r>
              <a:rPr lang="zh-CN" altLang="en-US" sz="2200" dirty="0"/>
              <a:t>感知器大幅提升了准确率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EF77B-3E82-45AC-89DC-B8AE2BA7C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375" y="1676400"/>
            <a:ext cx="6257250" cy="3736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90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46.2|0.8|0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9.7|13|106.1|0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7.7|4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6.9|12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|0.4|27.8|0.5|0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8|0.4|0.4|11.9|6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8.6|7.7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5|42.3|11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10.3|0.3|0.4|0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6.9|1.7|22.8|9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1|0.6|0.7|0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33.6|0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2|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4|0.3|0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3.5|0.4|0.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1.6|12.2|7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2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3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7|6.6|12.5|0.9|5.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3.6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21176</TotalTime>
  <Words>2494</Words>
  <Application>Microsoft Office PowerPoint</Application>
  <PresentationFormat>On-screen Show (4:3)</PresentationFormat>
  <Paragraphs>228</Paragraphs>
  <Slides>27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Equation</vt:lpstr>
      <vt:lpstr>Machine Learning -  Basic Principles &amp; Practice 5. From Lazy Learning to  Eager Learning</vt:lpstr>
      <vt:lpstr>Lazy Learning  临阵磨枪</vt:lpstr>
      <vt:lpstr>Lazy Learning Characteristics 临阵磨枪的特点</vt:lpstr>
      <vt:lpstr>Eager Learning  积极学习</vt:lpstr>
      <vt:lpstr>Explicit Knowledge 显式的知识</vt:lpstr>
      <vt:lpstr>2D Example  二维的示例</vt:lpstr>
      <vt:lpstr>2D Example  二维的示例</vt:lpstr>
      <vt:lpstr>Linear Classifier 线性分类器</vt:lpstr>
      <vt:lpstr>Biological View  生物学的视角</vt:lpstr>
      <vt:lpstr>Linear Classifier as a Neuron 作为神经细胞的线性分类器</vt:lpstr>
      <vt:lpstr>How to Learn? 怎么学？</vt:lpstr>
      <vt:lpstr>Perceptron Algorithm 感知器算法</vt:lpstr>
      <vt:lpstr>Batch Learning  批量学习</vt:lpstr>
      <vt:lpstr>Practice 5.1  实践5.1</vt:lpstr>
      <vt:lpstr>Result 结果</vt:lpstr>
      <vt:lpstr>Do You Still Remember? 你还记得吗？</vt:lpstr>
      <vt:lpstr>Assumption  假设</vt:lpstr>
      <vt:lpstr>Synthetic Problem  人造问题</vt:lpstr>
      <vt:lpstr>Assumption Holds 假设成立</vt:lpstr>
      <vt:lpstr>Multi-class Linear Classifier  多类线性分类器</vt:lpstr>
      <vt:lpstr>One vs. Rest  一对其余</vt:lpstr>
      <vt:lpstr>One vs. Rest  一对其余</vt:lpstr>
      <vt:lpstr>One vs. Rest  一对其余</vt:lpstr>
      <vt:lpstr>Compete w/ the Score 比较得分</vt:lpstr>
      <vt:lpstr>Practice 5.2  实践5.2</vt:lpstr>
      <vt:lpstr>Result 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1302</cp:revision>
  <dcterms:created xsi:type="dcterms:W3CDTF">2003-03-13T01:36:43Z</dcterms:created>
  <dcterms:modified xsi:type="dcterms:W3CDTF">2023-12-03T01:30:08Z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825bf2f2-066b-4228-9ed9-17176702be14</vt:lpwstr>
  </property>
  <property fmtid="{D5CDD505-2E9C-101B-9397-08002B2CF9AE}" pid="3" name="CTP_TimeStamp">
    <vt:lpwstr>2020-01-29 03:57:13Z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