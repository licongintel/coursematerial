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0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1.xml" ContentType="application/vnd.openxmlformats-officedocument.presentationml.notesSlide+xml"/>
  <Override PartName="/ppt/tags/tag22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9"/>
  </p:notesMasterIdLst>
  <p:handoutMasterIdLst>
    <p:handoutMasterId r:id="rId30"/>
  </p:handoutMasterIdLst>
  <p:sldIdLst>
    <p:sldId id="286" r:id="rId2"/>
    <p:sldId id="431" r:id="rId3"/>
    <p:sldId id="468" r:id="rId4"/>
    <p:sldId id="415" r:id="rId5"/>
    <p:sldId id="469" r:id="rId6"/>
    <p:sldId id="489" r:id="rId7"/>
    <p:sldId id="491" r:id="rId8"/>
    <p:sldId id="490" r:id="rId9"/>
    <p:sldId id="492" r:id="rId10"/>
    <p:sldId id="493" r:id="rId11"/>
    <p:sldId id="504" r:id="rId12"/>
    <p:sldId id="505" r:id="rId13"/>
    <p:sldId id="508" r:id="rId14"/>
    <p:sldId id="506" r:id="rId15"/>
    <p:sldId id="507" r:id="rId16"/>
    <p:sldId id="509" r:id="rId17"/>
    <p:sldId id="495" r:id="rId18"/>
    <p:sldId id="496" r:id="rId19"/>
    <p:sldId id="494" r:id="rId20"/>
    <p:sldId id="497" r:id="rId21"/>
    <p:sldId id="499" r:id="rId22"/>
    <p:sldId id="498" r:id="rId23"/>
    <p:sldId id="500" r:id="rId24"/>
    <p:sldId id="501" r:id="rId25"/>
    <p:sldId id="502" r:id="rId26"/>
    <p:sldId id="503" r:id="rId27"/>
    <p:sldId id="353" r:id="rId28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5050"/>
    <a:srgbClr val="990033"/>
    <a:srgbClr val="FF0000"/>
    <a:srgbClr val="7DDDFF"/>
    <a:srgbClr val="333399"/>
    <a:srgbClr val="B2B2B2"/>
    <a:srgbClr val="993366"/>
    <a:srgbClr val="339933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46" autoAdjust="0"/>
    <p:restoredTop sz="94370" autoAdjust="0"/>
  </p:normalViewPr>
  <p:slideViewPr>
    <p:cSldViewPr>
      <p:cViewPr varScale="1">
        <p:scale>
          <a:sx n="75" d="100"/>
          <a:sy n="75" d="100"/>
        </p:scale>
        <p:origin x="92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7412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514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267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2910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390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0464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8921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9012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4264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03359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27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emf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8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15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Machine Learning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Basic Principles &amp; Practice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6. The Curse of Dimensionality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92739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机器学习 </a:t>
            </a:r>
            <a:r>
              <a:rPr lang="en-US" altLang="zh-CN" sz="3600" b="1" kern="0" dirty="0">
                <a:ea typeface="SimSun" panose="02010600030101010101" pitchFamily="2" charset="-122"/>
              </a:rPr>
              <a:t>- </a:t>
            </a:r>
            <a:r>
              <a:rPr lang="zh-CN" altLang="en-US" sz="3600" b="1" kern="0" dirty="0">
                <a:ea typeface="SimSun" panose="02010600030101010101" pitchFamily="2" charset="-122"/>
              </a:rPr>
              <a:t>基础原理与实践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6. </a:t>
            </a:r>
            <a:r>
              <a:rPr lang="zh-CN" altLang="en-US" sz="3600" b="1" kern="0" dirty="0">
                <a:ea typeface="SimSun" panose="02010600030101010101" pitchFamily="2" charset="-122"/>
              </a:rPr>
              <a:t>维度的诅咒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Should You Still Remember …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倘若你依然记得</a:t>
            </a:r>
            <a:r>
              <a:rPr lang="en-US" altLang="zh-CN" dirty="0">
                <a:ea typeface="ＭＳ Ｐゴシック" panose="020B0600070205080204" pitchFamily="34" charset="-128"/>
              </a:rPr>
              <a:t>……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758694-D72B-4B19-B83D-F614D9AB98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817671"/>
            <a:ext cx="2667000" cy="150241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1A2DA65-34EB-4A26-B7CD-66D9E3632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004749"/>
              </p:ext>
            </p:extLst>
          </p:nvPr>
        </p:nvGraphicFramePr>
        <p:xfrm>
          <a:off x="4191000" y="1852118"/>
          <a:ext cx="45720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3397545499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3345597284"/>
                    </a:ext>
                  </a:extLst>
                </a:gridCol>
              </a:tblGrid>
              <a:tr h="2615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Sense </a:t>
                      </a:r>
                      <a:r>
                        <a:rPr lang="zh-CN" altLang="en-US" sz="1200" dirty="0"/>
                        <a:t>词义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Example </a:t>
                      </a:r>
                      <a:r>
                        <a:rPr lang="zh-CN" altLang="en-US" sz="1200" dirty="0"/>
                        <a:t>例句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641297"/>
                  </a:ext>
                </a:extLst>
              </a:tr>
              <a:tr h="2615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兴趣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Reading is one of my interests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241105"/>
                  </a:ext>
                </a:extLst>
              </a:tr>
              <a:tr h="2615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利益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In this case, my interests conflict with yours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355194"/>
                  </a:ext>
                </a:extLst>
              </a:tr>
              <a:tr h="2615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利息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The Fed cut interest rates again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403356"/>
                  </a:ext>
                </a:extLst>
              </a:tr>
              <a:tr h="2675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…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…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0524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0585876-5C32-479F-9342-00D5978CFE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478" y="3810646"/>
            <a:ext cx="3482044" cy="207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A2E42B-C381-4634-861D-E1B2E63DF4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875" y="3810646"/>
            <a:ext cx="3476250" cy="2076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089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Perceptron  </a:t>
            </a:r>
            <a:r>
              <a:rPr lang="zh-CN" altLang="en-US" dirty="0">
                <a:ea typeface="ＭＳ Ｐゴシック" panose="020B0600070205080204" pitchFamily="34" charset="-128"/>
              </a:rPr>
              <a:t>感知器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What We Have Seen  </a:t>
            </a:r>
            <a:r>
              <a:rPr lang="zh-CN" altLang="en-US" dirty="0"/>
              <a:t>我们已经看到</a:t>
            </a:r>
            <a:endParaRPr lang="en-US" altLang="zh-CN" dirty="0"/>
          </a:p>
          <a:p>
            <a:pPr lvl="1"/>
            <a:r>
              <a:rPr lang="en-US" altLang="zh-CN" dirty="0"/>
              <a:t>Attribute importance discriminated  </a:t>
            </a:r>
            <a:br>
              <a:rPr lang="en-US" altLang="zh-CN" dirty="0"/>
            </a:br>
            <a:r>
              <a:rPr lang="zh-CN" altLang="en-US" dirty="0"/>
              <a:t>属性的重要性被区分开来</a:t>
            </a:r>
            <a:endParaRPr lang="en-US" altLang="zh-CN" dirty="0"/>
          </a:p>
          <a:p>
            <a:r>
              <a:rPr lang="en-US" altLang="zh-CN" dirty="0"/>
              <a:t>What We Expect </a:t>
            </a:r>
            <a:r>
              <a:rPr lang="zh-CN" altLang="en-US" dirty="0"/>
              <a:t> 我们期望</a:t>
            </a:r>
            <a:endParaRPr lang="en-US" altLang="zh-CN" dirty="0"/>
          </a:p>
          <a:p>
            <a:pPr lvl="1"/>
            <a:r>
              <a:rPr lang="en-US" altLang="zh-CN" dirty="0"/>
              <a:t>A nice solution working robust </a:t>
            </a:r>
            <a:br>
              <a:rPr lang="en-US" altLang="zh-CN" dirty="0"/>
            </a:br>
            <a:r>
              <a:rPr lang="zh-CN" altLang="en-US" dirty="0"/>
              <a:t>一个在各种条件下适用的好方法</a:t>
            </a:r>
            <a:endParaRPr lang="en-US" altLang="zh-CN" dirty="0"/>
          </a:p>
          <a:p>
            <a:r>
              <a:rPr lang="en-US" altLang="zh-CN" dirty="0"/>
              <a:t>What We Want to Know </a:t>
            </a:r>
            <a:r>
              <a:rPr lang="zh-CN" altLang="en-US" dirty="0"/>
              <a:t> 我们想知道</a:t>
            </a:r>
            <a:endParaRPr lang="en-US" altLang="zh-CN" dirty="0"/>
          </a:p>
          <a:p>
            <a:pPr lvl="1"/>
            <a:r>
              <a:rPr lang="en-US" altLang="zh-CN" dirty="0"/>
              <a:t>How ideal it really works?  </a:t>
            </a:r>
            <a:br>
              <a:rPr lang="en-US" altLang="zh-CN" dirty="0"/>
            </a:br>
            <a:r>
              <a:rPr lang="zh-CN" altLang="en-US" dirty="0"/>
              <a:t>它是否真正理想？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063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Synthetic Problems Again?</a:t>
            </a:r>
            <a:br>
              <a:rPr lang="en-US" altLang="zh-CN" dirty="0">
                <a:ea typeface="SimSun" panose="02010600030101010101" pitchFamily="2" charset="-122"/>
              </a:rPr>
            </a:br>
            <a:r>
              <a:rPr lang="zh-CN" altLang="en-US" dirty="0">
                <a:ea typeface="SimSun" panose="02010600030101010101" pitchFamily="2" charset="-122"/>
              </a:rPr>
              <a:t>又是人造问题？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18DAB-F8FC-4220-88DA-1EA366FF60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905000"/>
            <a:ext cx="4572000" cy="25755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795174-97D0-495E-98FE-FA22C17C46EA}"/>
              </a:ext>
            </a:extLst>
          </p:cNvPr>
          <p:cNvSpPr txBox="1"/>
          <p:nvPr/>
        </p:nvSpPr>
        <p:spPr>
          <a:xfrm>
            <a:off x="266700" y="4671238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This time much more complicated</a:t>
            </a:r>
          </a:p>
          <a:p>
            <a:pPr algn="ctr"/>
            <a:r>
              <a:rPr lang="zh-CN" altLang="en-US" sz="2200" dirty="0"/>
              <a:t>这次复杂多了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52756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The Problem  </a:t>
            </a:r>
            <a:r>
              <a:rPr lang="zh-CN" altLang="en-US" dirty="0">
                <a:ea typeface="ＭＳ Ｐゴシック" panose="020B0600070205080204" pitchFamily="34" charset="-128"/>
              </a:rPr>
              <a:t>这个问题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A 10D Synthetic Hyperplane  </a:t>
                </a:r>
                <a:br>
                  <a:rPr lang="en-US" altLang="zh-CN" dirty="0"/>
                </a:br>
                <a:r>
                  <a:rPr lang="zh-CN" altLang="en-US" dirty="0"/>
                  <a:t>一个人工构造的</a:t>
                </a:r>
                <a:r>
                  <a:rPr lang="en-US" altLang="zh-CN" dirty="0"/>
                  <a:t>10</a:t>
                </a:r>
                <a:r>
                  <a:rPr lang="zh-CN" altLang="en-US" dirty="0"/>
                  <a:t>维超平面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Attributes ordered </a:t>
                </a:r>
                <a:r>
                  <a:rPr lang="en-US" altLang="zh-CN" dirty="0" err="1"/>
                  <a:t>w.r.t.</a:t>
                </a:r>
                <a:r>
                  <a:rPr lang="en-US" altLang="zh-CN" dirty="0"/>
                  <a:t> their importance </a:t>
                </a:r>
                <a:r>
                  <a:rPr lang="zh-CN" altLang="en-US" dirty="0"/>
                  <a:t>属性按重要性排序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Example  </a:t>
                </a:r>
                <a:r>
                  <a:rPr lang="zh-CN" altLang="en-US" dirty="0"/>
                  <a:t>例子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−1.80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+0.37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−0.28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−0.27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−0.27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+0.26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−0.23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+0.23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−0.10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−0.07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−0.38=0</m:t>
                      </m:r>
                    </m:oMath>
                  </m:oMathPara>
                </a14:m>
                <a:endParaRPr lang="en-US" altLang="zh-CN" sz="2000" dirty="0"/>
              </a:p>
              <a:p>
                <a:r>
                  <a:rPr lang="en-US" altLang="zh-CN" dirty="0"/>
                  <a:t>What Does Perceptron Learn w/ 3~15 Attributes?  </a:t>
                </a:r>
                <a:br>
                  <a:rPr lang="en-US" altLang="zh-CN" dirty="0"/>
                </a:br>
                <a:r>
                  <a:rPr lang="zh-CN" altLang="en-US" dirty="0"/>
                  <a:t>用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到</a:t>
                </a:r>
                <a:r>
                  <a:rPr lang="en-US" altLang="zh-CN" dirty="0"/>
                  <a:t>15</a:t>
                </a:r>
                <a:r>
                  <a:rPr lang="zh-CN" altLang="en-US" dirty="0"/>
                  <a:t>个属性，感知器学到什么？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9" t="-1733" b="-6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95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6.1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6.1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675481" y="1490245"/>
            <a:ext cx="77930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use perceptron on those 10-attribute synthetic problems w/ 3~15 attributes  </a:t>
            </a:r>
            <a:r>
              <a:rPr lang="zh-CN" altLang="en-US" sz="2200" dirty="0"/>
              <a:t>实践时刻：对于这些</a:t>
            </a:r>
            <a:r>
              <a:rPr lang="en-US" altLang="zh-CN" sz="2200" dirty="0"/>
              <a:t>10</a:t>
            </a:r>
            <a:r>
              <a:rPr lang="zh-CN" altLang="en-US" sz="2200" dirty="0"/>
              <a:t>个属性的人造问题，用</a:t>
            </a:r>
            <a:r>
              <a:rPr lang="en-US" altLang="zh-CN" sz="2200" dirty="0"/>
              <a:t>3</a:t>
            </a:r>
            <a:r>
              <a:rPr lang="zh-CN" altLang="en-US" sz="2200" dirty="0"/>
              <a:t>到</a:t>
            </a:r>
            <a:r>
              <a:rPr lang="en-US" altLang="zh-CN" sz="2200" dirty="0"/>
              <a:t>15</a:t>
            </a:r>
            <a:r>
              <a:rPr lang="zh-CN" altLang="en-US" sz="2200" dirty="0"/>
              <a:t>个属性，以感知器进行学习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013971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does it perform </a:t>
            </a:r>
            <a:r>
              <a:rPr lang="en-US" altLang="zh-CN" sz="2200" dirty="0" err="1"/>
              <a:t>w.r.t.</a:t>
            </a:r>
            <a:r>
              <a:rPr lang="en-US" altLang="zh-CN" sz="2200" dirty="0"/>
              <a:t> changing number of attributes?</a:t>
            </a:r>
          </a:p>
          <a:p>
            <a:pPr algn="ctr"/>
            <a:r>
              <a:rPr lang="zh-CN" altLang="en-US" sz="2200" dirty="0"/>
              <a:t>随着属性数的变化，感知器的表现如何？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646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</a:t>
            </a:r>
            <a:r>
              <a:rPr lang="zh-CN" altLang="en-US" dirty="0">
                <a:ea typeface="ＭＳ Ｐゴシック" panose="020B0600070205080204" pitchFamily="34" charset="-128"/>
              </a:rPr>
              <a:t>： </a:t>
            </a:r>
            <a:r>
              <a:rPr lang="en-US" altLang="zh-CN" dirty="0">
                <a:ea typeface="ＭＳ Ｐゴシック" panose="020B0600070205080204" pitchFamily="34" charset="-128"/>
              </a:rPr>
              <a:t>Training Size 20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结果</a:t>
            </a:r>
            <a:r>
              <a:rPr lang="zh-CN" altLang="en-US" dirty="0"/>
              <a:t>：</a:t>
            </a:r>
            <a:r>
              <a:rPr lang="zh-CN" altLang="en-US" dirty="0">
                <a:ea typeface="ＭＳ Ｐゴシック" panose="020B0600070205080204" pitchFamily="34" charset="-128"/>
              </a:rPr>
              <a:t>训练数据量为</a:t>
            </a:r>
            <a:r>
              <a:rPr lang="en-US" altLang="zh-CN" dirty="0">
                <a:ea typeface="ＭＳ Ｐゴシック" panose="020B0600070205080204" pitchFamily="34" charset="-128"/>
              </a:rPr>
              <a:t>20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E4636F-7596-41DA-A743-1C96240C9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000" y="2514600"/>
            <a:ext cx="5562000" cy="33216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7494EA9-F110-46A3-A507-2817B6973B5B}"/>
              </a:ext>
            </a:extLst>
          </p:cNvPr>
          <p:cNvGrpSpPr/>
          <p:nvPr/>
        </p:nvGrpSpPr>
        <p:grpSpPr>
          <a:xfrm>
            <a:off x="794084" y="1381011"/>
            <a:ext cx="5867399" cy="2205133"/>
            <a:chOff x="381000" y="1533411"/>
            <a:chExt cx="5867399" cy="220513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1A70D4C-EBED-4EC8-96A2-CEEF1E287BEA}"/>
                </a:ext>
              </a:extLst>
            </p:cNvPr>
            <p:cNvCxnSpPr>
              <a:cxnSpLocks/>
              <a:stCxn id="8" idx="2"/>
            </p:cNvCxnSpPr>
            <p:nvPr/>
          </p:nvCxnSpPr>
          <p:spPr bwMode="auto">
            <a:xfrm flipH="1">
              <a:off x="2330116" y="2641407"/>
              <a:ext cx="984584" cy="109713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2587E1-3BA5-4095-B8E2-5AB0302C379A}"/>
                </a:ext>
              </a:extLst>
            </p:cNvPr>
            <p:cNvSpPr txBox="1"/>
            <p:nvPr/>
          </p:nvSpPr>
          <p:spPr>
            <a:xfrm>
              <a:off x="381000" y="1533411"/>
              <a:ext cx="5867399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Taking the 3 most important attributes does not seem to perform well enough</a:t>
              </a:r>
            </a:p>
            <a:p>
              <a:pPr algn="ctr"/>
              <a:r>
                <a:rPr lang="zh-CN" altLang="en-US" sz="2200" dirty="0"/>
                <a:t>使用</a:t>
              </a:r>
              <a:r>
                <a:rPr lang="en-US" altLang="zh-CN" sz="2200" dirty="0"/>
                <a:t>3</a:t>
              </a:r>
              <a:r>
                <a:rPr lang="zh-CN" altLang="en-US" sz="2200" dirty="0"/>
                <a:t>个最重要的属性效果似乎差强人意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F18A263-C399-40F0-A9FC-15216EF2C731}"/>
              </a:ext>
            </a:extLst>
          </p:cNvPr>
          <p:cNvSpPr txBox="1"/>
          <p:nvPr/>
        </p:nvSpPr>
        <p:spPr>
          <a:xfrm>
            <a:off x="32705" y="5826281"/>
            <a:ext cx="929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Many other relevant features are overlooked  </a:t>
            </a:r>
            <a:r>
              <a:rPr lang="zh-CN" altLang="en-US" sz="2200" dirty="0"/>
              <a:t>其他相关属性被忽视了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788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</a:t>
            </a:r>
            <a:r>
              <a:rPr lang="zh-CN" altLang="en-US" dirty="0">
                <a:ea typeface="ＭＳ Ｐゴシック" panose="020B0600070205080204" pitchFamily="34" charset="-128"/>
              </a:rPr>
              <a:t>： </a:t>
            </a:r>
            <a:r>
              <a:rPr lang="en-US" altLang="zh-CN" dirty="0">
                <a:ea typeface="ＭＳ Ｐゴシック" panose="020B0600070205080204" pitchFamily="34" charset="-128"/>
              </a:rPr>
              <a:t>Training Size 20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结果</a:t>
            </a:r>
            <a:r>
              <a:rPr lang="zh-CN" altLang="en-US" dirty="0"/>
              <a:t>：</a:t>
            </a:r>
            <a:r>
              <a:rPr lang="zh-CN" altLang="en-US" dirty="0">
                <a:ea typeface="ＭＳ Ｐゴシック" panose="020B0600070205080204" pitchFamily="34" charset="-128"/>
              </a:rPr>
              <a:t>训练数据量为</a:t>
            </a:r>
            <a:r>
              <a:rPr lang="en-US" altLang="zh-CN" dirty="0">
                <a:ea typeface="ＭＳ Ｐゴシック" panose="020B0600070205080204" pitchFamily="34" charset="-128"/>
              </a:rPr>
              <a:t>20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E4636F-7596-41DA-A743-1C96240C9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000" y="2514600"/>
            <a:ext cx="5562000" cy="33216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1316560-D284-44ED-82C8-5C767811727F}"/>
              </a:ext>
            </a:extLst>
          </p:cNvPr>
          <p:cNvGrpSpPr/>
          <p:nvPr/>
        </p:nvGrpSpPr>
        <p:grpSpPr>
          <a:xfrm>
            <a:off x="3069493" y="1371600"/>
            <a:ext cx="4724399" cy="2133600"/>
            <a:chOff x="3069493" y="1371600"/>
            <a:chExt cx="4724399" cy="213360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1A70D4C-EBED-4EC8-96A2-CEEF1E287BEA}"/>
                </a:ext>
              </a:extLst>
            </p:cNvPr>
            <p:cNvCxnSpPr>
              <a:cxnSpLocks/>
              <a:stCxn id="8" idx="2"/>
            </p:cNvCxnSpPr>
            <p:nvPr/>
          </p:nvCxnSpPr>
          <p:spPr bwMode="auto">
            <a:xfrm flipH="1">
              <a:off x="5257800" y="2479596"/>
              <a:ext cx="173893" cy="10256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2587E1-3BA5-4095-B8E2-5AB0302C379A}"/>
                </a:ext>
              </a:extLst>
            </p:cNvPr>
            <p:cNvSpPr txBox="1"/>
            <p:nvPr/>
          </p:nvSpPr>
          <p:spPr>
            <a:xfrm>
              <a:off x="3069493" y="1371600"/>
              <a:ext cx="4724399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But taking the 10 relevant attributes does not do better</a:t>
              </a:r>
            </a:p>
            <a:p>
              <a:pPr algn="ctr"/>
              <a:r>
                <a:rPr lang="zh-CN" altLang="en-US" sz="2200" dirty="0"/>
                <a:t>使用</a:t>
              </a:r>
              <a:r>
                <a:rPr lang="en-US" altLang="zh-CN" sz="2200" dirty="0"/>
                <a:t>10</a:t>
              </a:r>
              <a:r>
                <a:rPr lang="zh-CN" altLang="en-US" sz="2200" dirty="0"/>
                <a:t>个相关属性也不怎么样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3F2732A-4AB8-465C-86F3-F48F6E865DCE}"/>
              </a:ext>
            </a:extLst>
          </p:cNvPr>
          <p:cNvGrpSpPr/>
          <p:nvPr/>
        </p:nvGrpSpPr>
        <p:grpSpPr>
          <a:xfrm>
            <a:off x="6109232" y="2514600"/>
            <a:ext cx="2984340" cy="1814332"/>
            <a:chOff x="5508825" y="2491085"/>
            <a:chExt cx="2984340" cy="181433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316829F-F70E-41CE-A1FD-5F6FDB00F613}"/>
                </a:ext>
              </a:extLst>
            </p:cNvPr>
            <p:cNvSpPr txBox="1"/>
            <p:nvPr/>
          </p:nvSpPr>
          <p:spPr>
            <a:xfrm>
              <a:off x="5508825" y="2491085"/>
              <a:ext cx="298434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Taking 15 attributes is even worse</a:t>
              </a:r>
            </a:p>
            <a:p>
              <a:pPr algn="ctr"/>
              <a:r>
                <a:rPr lang="zh-CN" altLang="en-US" sz="2200" dirty="0"/>
                <a:t>使用</a:t>
              </a:r>
              <a:r>
                <a:rPr lang="en-US" altLang="zh-CN" sz="2200" dirty="0"/>
                <a:t>15</a:t>
              </a:r>
              <a:r>
                <a:rPr lang="zh-CN" altLang="en-US" sz="2200" dirty="0"/>
                <a:t>个属性更糟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E7F252E-6DD8-4C06-A976-78AF92F1FEFF}"/>
                </a:ext>
              </a:extLst>
            </p:cNvPr>
            <p:cNvCxnSpPr>
              <a:cxnSpLocks/>
              <a:stCxn id="12" idx="2"/>
            </p:cNvCxnSpPr>
            <p:nvPr/>
          </p:nvCxnSpPr>
          <p:spPr bwMode="auto">
            <a:xfrm flipH="1">
              <a:off x="6494874" y="3599081"/>
              <a:ext cx="506121" cy="7063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3678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</a:t>
            </a:r>
            <a:r>
              <a:rPr lang="zh-CN" altLang="en-US" dirty="0">
                <a:ea typeface="ＭＳ Ｐゴシック" panose="020B0600070205080204" pitchFamily="34" charset="-128"/>
              </a:rPr>
              <a:t>： </a:t>
            </a:r>
            <a:r>
              <a:rPr lang="en-US" altLang="zh-CN" dirty="0">
                <a:ea typeface="ＭＳ Ｐゴシック" panose="020B0600070205080204" pitchFamily="34" charset="-128"/>
              </a:rPr>
              <a:t>Training Size 20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结果</a:t>
            </a:r>
            <a:r>
              <a:rPr lang="zh-CN" altLang="en-US" dirty="0"/>
              <a:t>：</a:t>
            </a:r>
            <a:r>
              <a:rPr lang="zh-CN" altLang="en-US" dirty="0">
                <a:ea typeface="ＭＳ Ｐゴシック" panose="020B0600070205080204" pitchFamily="34" charset="-128"/>
              </a:rPr>
              <a:t>训练数据量为</a:t>
            </a:r>
            <a:r>
              <a:rPr lang="en-US" altLang="zh-CN" dirty="0">
                <a:ea typeface="ＭＳ Ｐゴシック" panose="020B0600070205080204" pitchFamily="34" charset="-128"/>
              </a:rPr>
              <a:t>20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E4636F-7596-41DA-A743-1C96240C9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000" y="2514600"/>
            <a:ext cx="5562000" cy="33216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1316560-D284-44ED-82C8-5C767811727F}"/>
              </a:ext>
            </a:extLst>
          </p:cNvPr>
          <p:cNvGrpSpPr/>
          <p:nvPr/>
        </p:nvGrpSpPr>
        <p:grpSpPr>
          <a:xfrm>
            <a:off x="2971800" y="1405111"/>
            <a:ext cx="5972537" cy="1490489"/>
            <a:chOff x="2971800" y="1405111"/>
            <a:chExt cx="5972537" cy="1490489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1A70D4C-EBED-4EC8-96A2-CEEF1E287BEA}"/>
                </a:ext>
              </a:extLst>
            </p:cNvPr>
            <p:cNvCxnSpPr>
              <a:cxnSpLocks/>
              <a:stCxn id="8" idx="2"/>
              <a:endCxn id="9" idx="6"/>
            </p:cNvCxnSpPr>
            <p:nvPr/>
          </p:nvCxnSpPr>
          <p:spPr bwMode="auto">
            <a:xfrm flipH="1">
              <a:off x="4343400" y="2513107"/>
              <a:ext cx="1614669" cy="38249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2587E1-3BA5-4095-B8E2-5AB0302C379A}"/>
                </a:ext>
              </a:extLst>
            </p:cNvPr>
            <p:cNvSpPr txBox="1"/>
            <p:nvPr/>
          </p:nvSpPr>
          <p:spPr>
            <a:xfrm>
              <a:off x="2971800" y="1405111"/>
              <a:ext cx="597253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Best results are obtained by disregarding 3~4 </a:t>
              </a:r>
              <a:r>
                <a:rPr lang="en-US" altLang="zh-CN" sz="2200" dirty="0">
                  <a:solidFill>
                    <a:srgbClr val="FF0000"/>
                  </a:solidFill>
                </a:rPr>
                <a:t>less relevant</a:t>
              </a:r>
              <a:r>
                <a:rPr lang="en-US" altLang="zh-CN" sz="2200" dirty="0"/>
                <a:t> attributes  </a:t>
              </a:r>
              <a:br>
                <a:rPr lang="en-US" altLang="zh-CN" sz="2200" dirty="0"/>
              </a:br>
              <a:r>
                <a:rPr lang="zh-CN" altLang="en-US" sz="2200" dirty="0"/>
                <a:t>最佳结果来自于忽略</a:t>
              </a:r>
              <a:r>
                <a:rPr lang="en-US" altLang="zh-CN" sz="2200" dirty="0"/>
                <a:t>3</a:t>
              </a:r>
              <a:r>
                <a:rPr lang="zh-CN" altLang="en-US" sz="2200" dirty="0"/>
                <a:t>到</a:t>
              </a:r>
              <a:r>
                <a:rPr lang="en-US" altLang="zh-CN" sz="2200" dirty="0"/>
                <a:t>4</a:t>
              </a:r>
              <a:r>
                <a:rPr lang="zh-CN" altLang="en-US" sz="2200" dirty="0"/>
                <a:t>个</a:t>
              </a:r>
              <a:r>
                <a:rPr lang="zh-CN" altLang="en-US" sz="2200" dirty="0">
                  <a:solidFill>
                    <a:srgbClr val="FF0000"/>
                  </a:solidFill>
                </a:rPr>
                <a:t>不那么相关</a:t>
              </a:r>
              <a:r>
                <a:rPr lang="zh-CN" altLang="en-US" sz="2200" dirty="0"/>
                <a:t>的属性</a:t>
              </a: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62F56844-8F12-4330-AB2E-A6603CAD3911}"/>
              </a:ext>
            </a:extLst>
          </p:cNvPr>
          <p:cNvSpPr/>
          <p:nvPr/>
        </p:nvSpPr>
        <p:spPr bwMode="auto">
          <a:xfrm>
            <a:off x="3657600" y="2667000"/>
            <a:ext cx="685800" cy="4572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6BC375-F422-4DD8-9FF8-6B618607B9E1}"/>
              </a:ext>
            </a:extLst>
          </p:cNvPr>
          <p:cNvSpPr txBox="1"/>
          <p:nvPr/>
        </p:nvSpPr>
        <p:spPr>
          <a:xfrm>
            <a:off x="540634" y="5872769"/>
            <a:ext cx="8062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can that happen?  </a:t>
            </a:r>
            <a:r>
              <a:rPr lang="zh-CN" altLang="en-US" sz="2200" dirty="0"/>
              <a:t>怎么会这样？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681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 You Still Remember?</a:t>
            </a:r>
            <a:br>
              <a:rPr lang="en-US" altLang="zh-CN" dirty="0"/>
            </a:br>
            <a:r>
              <a:rPr lang="zh-CN" altLang="en-US" dirty="0"/>
              <a:t>你还记得吗？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CE66B9-75B2-4341-AD50-A86A2268C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475" y="1981200"/>
            <a:ext cx="1993050" cy="42350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06E37A-F3A1-4AE7-8071-66C05DABA3CD}"/>
              </a:ext>
            </a:extLst>
          </p:cNvPr>
          <p:cNvCxnSpPr>
            <a:cxnSpLocks/>
          </p:cNvCxnSpPr>
          <p:nvPr/>
        </p:nvCxnSpPr>
        <p:spPr bwMode="auto">
          <a:xfrm>
            <a:off x="4419600" y="2119901"/>
            <a:ext cx="0" cy="3886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2B8587-ADB4-446F-BA2D-308A5681CA13}"/>
                  </a:ext>
                </a:extLst>
              </p:cNvPr>
              <p:cNvSpPr txBox="1"/>
              <p:nvPr/>
            </p:nvSpPr>
            <p:spPr>
              <a:xfrm>
                <a:off x="1134377" y="2790103"/>
                <a:ext cx="3338563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Ground truth classification boundary  </a:t>
                </a:r>
                <a:r>
                  <a:rPr lang="zh-CN" altLang="en-US" sz="2200" dirty="0"/>
                  <a:t>真实的分类边界</a:t>
                </a:r>
                <a:endParaRPr lang="en-US" altLang="zh-CN" sz="22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US" altLang="zh-CN" sz="2200" dirty="0"/>
                  <a:t>  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2B8587-ADB4-446F-BA2D-308A5681C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377" y="2790103"/>
                <a:ext cx="3338563" cy="1446550"/>
              </a:xfrm>
              <a:prstGeom prst="rect">
                <a:avLst/>
              </a:prstGeom>
              <a:blipFill>
                <a:blip r:embed="rId6"/>
                <a:stretch>
                  <a:fillRect l="-182" t="-3376" r="-4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4F280D-31FE-4F54-807C-09EA0908B5BF}"/>
              </a:ext>
            </a:extLst>
          </p:cNvPr>
          <p:cNvCxnSpPr>
            <a:cxnSpLocks/>
          </p:cNvCxnSpPr>
          <p:nvPr/>
        </p:nvCxnSpPr>
        <p:spPr bwMode="auto">
          <a:xfrm flipH="1">
            <a:off x="4404360" y="2135141"/>
            <a:ext cx="68580" cy="39243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2CC8D7-09F7-4504-BE29-FC02D814A09B}"/>
                  </a:ext>
                </a:extLst>
              </p:cNvPr>
              <p:cNvSpPr txBox="1"/>
              <p:nvPr/>
            </p:nvSpPr>
            <p:spPr>
              <a:xfrm>
                <a:off x="4876800" y="2790103"/>
                <a:ext cx="3429000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Classification boundary learned by perceptron  </a:t>
                </a:r>
                <a:r>
                  <a:rPr lang="zh-CN" altLang="en-US" sz="2200" dirty="0"/>
                  <a:t>感知器学习到的分类边界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36.73</m:t>
                      </m:r>
                      <m:sSub>
                        <m:sSub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−0.42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+26=0</m:t>
                      </m:r>
                    </m:oMath>
                  </m:oMathPara>
                </a14:m>
                <a:endParaRPr lang="en-US" altLang="zh-CN" sz="2200" b="0" dirty="0"/>
              </a:p>
              <a:p>
                <a:pPr algn="ctr"/>
                <a:r>
                  <a:rPr lang="en-US" altLang="zh-CN" sz="2200" dirty="0"/>
                  <a:t> 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2CC8D7-09F7-4504-BE29-FC02D814A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2790103"/>
                <a:ext cx="3429000" cy="1785104"/>
              </a:xfrm>
              <a:prstGeom prst="rect">
                <a:avLst/>
              </a:prstGeom>
              <a:blipFill>
                <a:blip r:embed="rId7"/>
                <a:stretch>
                  <a:fillRect l="-1243" t="-2730" r="-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03C958B-3283-4890-8151-614CA908026E}"/>
                  </a:ext>
                </a:extLst>
              </p:cNvPr>
              <p:cNvSpPr/>
              <p:nvPr/>
            </p:nvSpPr>
            <p:spPr>
              <a:xfrm>
                <a:off x="4854895" y="4217313"/>
                <a:ext cx="347281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−0.01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0.71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03C958B-3283-4890-8151-614CA9080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895" y="4217313"/>
                <a:ext cx="3472810" cy="430887"/>
              </a:xfrm>
              <a:prstGeom prst="rect">
                <a:avLst/>
              </a:prstGeom>
              <a:blipFill>
                <a:blip r:embed="rId8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B58E6AB-DAE1-4718-B9A8-3274E70691E5}"/>
              </a:ext>
            </a:extLst>
          </p:cNvPr>
          <p:cNvSpPr txBox="1"/>
          <p:nvPr/>
        </p:nvSpPr>
        <p:spPr>
          <a:xfrm>
            <a:off x="540634" y="1510301"/>
            <a:ext cx="8062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Practice 5.1  </a:t>
            </a:r>
            <a:r>
              <a:rPr lang="zh-CN" altLang="en-US" sz="2200" dirty="0"/>
              <a:t>在实践</a:t>
            </a:r>
            <a:r>
              <a:rPr lang="en-US" altLang="zh-CN" sz="2200" dirty="0"/>
              <a:t>5.1</a:t>
            </a:r>
            <a:r>
              <a:rPr lang="zh-CN" altLang="en-US" sz="2200" dirty="0"/>
              <a:t>中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E8CB20-3F57-40A9-9ADD-553075A085D5}"/>
              </a:ext>
            </a:extLst>
          </p:cNvPr>
          <p:cNvSpPr/>
          <p:nvPr/>
        </p:nvSpPr>
        <p:spPr bwMode="auto">
          <a:xfrm>
            <a:off x="5997895" y="4236653"/>
            <a:ext cx="533400" cy="36595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69F4AE9-4CF4-4628-BE83-C76159213FF9}"/>
              </a:ext>
            </a:extLst>
          </p:cNvPr>
          <p:cNvSpPr/>
          <p:nvPr/>
        </p:nvSpPr>
        <p:spPr bwMode="auto">
          <a:xfrm>
            <a:off x="7128697" y="4245752"/>
            <a:ext cx="533400" cy="36595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786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  <p:bldP spid="3" grpId="0"/>
      <p:bldP spid="5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Illustration  </a:t>
            </a:r>
            <a:r>
              <a:rPr lang="zh-CN" altLang="en-US" dirty="0">
                <a:ea typeface="ＭＳ Ｐゴシック" panose="020B0600070205080204" pitchFamily="34" charset="-128"/>
              </a:rPr>
              <a:t>说明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0D52462-AE57-40B0-9994-E97AB5F0483C}"/>
              </a:ext>
            </a:extLst>
          </p:cNvPr>
          <p:cNvGrpSpPr/>
          <p:nvPr/>
        </p:nvGrpSpPr>
        <p:grpSpPr>
          <a:xfrm>
            <a:off x="2514600" y="2362200"/>
            <a:ext cx="2819400" cy="2819400"/>
            <a:chOff x="2514600" y="2362200"/>
            <a:chExt cx="2819400" cy="2819400"/>
          </a:xfrm>
        </p:grpSpPr>
        <p:sp>
          <p:nvSpPr>
            <p:cNvPr id="13" name="Oval 3">
              <a:extLst>
                <a:ext uri="{FF2B5EF4-FFF2-40B4-BE49-F238E27FC236}">
                  <a16:creationId xmlns:a16="http://schemas.microsoft.com/office/drawing/2014/main" id="{3C2E1F6A-8E93-46D8-A79A-5555E8525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14" name="Oval 46">
              <a:extLst>
                <a:ext uri="{FF2B5EF4-FFF2-40B4-BE49-F238E27FC236}">
                  <a16:creationId xmlns:a16="http://schemas.microsoft.com/office/drawing/2014/main" id="{B870CCAA-3DE3-46D3-B6C0-34525B0E2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3" name="Oval 46">
              <a:extLst>
                <a:ext uri="{FF2B5EF4-FFF2-40B4-BE49-F238E27FC236}">
                  <a16:creationId xmlns:a16="http://schemas.microsoft.com/office/drawing/2014/main" id="{5245E6C7-CA5D-4314-843B-DD43EA79A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4" name="Oval 46">
              <a:extLst>
                <a:ext uri="{FF2B5EF4-FFF2-40B4-BE49-F238E27FC236}">
                  <a16:creationId xmlns:a16="http://schemas.microsoft.com/office/drawing/2014/main" id="{248278B6-ECED-43DB-8715-F6CBFF9CD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5" name="Oval 3">
              <a:extLst>
                <a:ext uri="{FF2B5EF4-FFF2-40B4-BE49-F238E27FC236}">
                  <a16:creationId xmlns:a16="http://schemas.microsoft.com/office/drawing/2014/main" id="{8CA897F5-60EE-4DDA-9ED5-0DBA3C02E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6" name="Oval 3">
              <a:extLst>
                <a:ext uri="{FF2B5EF4-FFF2-40B4-BE49-F238E27FC236}">
                  <a16:creationId xmlns:a16="http://schemas.microsoft.com/office/drawing/2014/main" id="{2AFD46D6-34FA-4020-AA4C-0338371A6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7" name="Oval 3">
              <a:extLst>
                <a:ext uri="{FF2B5EF4-FFF2-40B4-BE49-F238E27FC236}">
                  <a16:creationId xmlns:a16="http://schemas.microsoft.com/office/drawing/2014/main" id="{1701CE54-038B-4BB4-8E2E-D3FC367A5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9" name="Oval 46">
              <a:extLst>
                <a:ext uri="{FF2B5EF4-FFF2-40B4-BE49-F238E27FC236}">
                  <a16:creationId xmlns:a16="http://schemas.microsoft.com/office/drawing/2014/main" id="{AB6034EB-5BF0-4878-8BE3-4BF761EBF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785A3A2-745D-4A71-9B1C-ECC541286BC3}"/>
              </a:ext>
            </a:extLst>
          </p:cNvPr>
          <p:cNvGrpSpPr/>
          <p:nvPr/>
        </p:nvGrpSpPr>
        <p:grpSpPr>
          <a:xfrm>
            <a:off x="311150" y="5334000"/>
            <a:ext cx="2279648" cy="701731"/>
            <a:chOff x="311150" y="5334000"/>
            <a:chExt cx="2279648" cy="701731"/>
          </a:xfrm>
        </p:grpSpPr>
        <p:sp>
          <p:nvSpPr>
            <p:cNvPr id="43" name="Oval 32" descr="50%">
              <a:extLst>
                <a:ext uri="{FF2B5EF4-FFF2-40B4-BE49-F238E27FC236}">
                  <a16:creationId xmlns:a16="http://schemas.microsoft.com/office/drawing/2014/main" id="{09E8DCD4-07FA-475D-B682-4F7828D45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" y="5550074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1FA65C9-13F8-44B2-A321-0BF9FEA14FDD}"/>
                </a:ext>
              </a:extLst>
            </p:cNvPr>
            <p:cNvSpPr/>
            <p:nvPr/>
          </p:nvSpPr>
          <p:spPr>
            <a:xfrm>
              <a:off x="609600" y="5334000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Unseen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未见数据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45" name="Oval 20" descr="50%">
              <a:extLst>
                <a:ext uri="{FF2B5EF4-FFF2-40B4-BE49-F238E27FC236}">
                  <a16:creationId xmlns:a16="http://schemas.microsoft.com/office/drawing/2014/main" id="{16B51508-D577-4204-9A7B-FBCCCB2BF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24" y="5550074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16F62A1-5C4C-481E-BDE5-D048FDD2AAE2}"/>
              </a:ext>
            </a:extLst>
          </p:cNvPr>
          <p:cNvGrpSpPr/>
          <p:nvPr/>
        </p:nvGrpSpPr>
        <p:grpSpPr>
          <a:xfrm>
            <a:off x="2292350" y="2133600"/>
            <a:ext cx="3111500" cy="3657600"/>
            <a:chOff x="2292350" y="2133600"/>
            <a:chExt cx="3111500" cy="3657600"/>
          </a:xfrm>
        </p:grpSpPr>
        <p:sp>
          <p:nvSpPr>
            <p:cNvPr id="35" name="Oval 32" descr="50%">
              <a:extLst>
                <a:ext uri="{FF2B5EF4-FFF2-40B4-BE49-F238E27FC236}">
                  <a16:creationId xmlns:a16="http://schemas.microsoft.com/office/drawing/2014/main" id="{DE1E3C6A-C3AB-48EF-B4F6-F11DE11EC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2438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6" name="Oval 32" descr="50%">
              <a:extLst>
                <a:ext uri="{FF2B5EF4-FFF2-40B4-BE49-F238E27FC236}">
                  <a16:creationId xmlns:a16="http://schemas.microsoft.com/office/drawing/2014/main" id="{2E170EEF-18F8-44C7-9247-9F2B543A4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3581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7" name="Oval 32" descr="50%">
              <a:extLst>
                <a:ext uri="{FF2B5EF4-FFF2-40B4-BE49-F238E27FC236}">
                  <a16:creationId xmlns:a16="http://schemas.microsoft.com/office/drawing/2014/main" id="{E73725F3-92E0-4B15-9F63-57F66AEA5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353" y="284132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8" name="Oval 32" descr="50%">
              <a:extLst>
                <a:ext uri="{FF2B5EF4-FFF2-40B4-BE49-F238E27FC236}">
                  <a16:creationId xmlns:a16="http://schemas.microsoft.com/office/drawing/2014/main" id="{92FD2873-40FC-4B6A-A348-E3D3DD1B4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9" name="Oval 32" descr="50%">
              <a:extLst>
                <a:ext uri="{FF2B5EF4-FFF2-40B4-BE49-F238E27FC236}">
                  <a16:creationId xmlns:a16="http://schemas.microsoft.com/office/drawing/2014/main" id="{4A3A581A-12A8-4347-A874-D316D16B5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0" name="Oval 32" descr="50%">
              <a:extLst>
                <a:ext uri="{FF2B5EF4-FFF2-40B4-BE49-F238E27FC236}">
                  <a16:creationId xmlns:a16="http://schemas.microsoft.com/office/drawing/2014/main" id="{88995EE0-8B8F-4B56-A481-6D7144B63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3340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1" name="Oval 32" descr="50%">
              <a:extLst>
                <a:ext uri="{FF2B5EF4-FFF2-40B4-BE49-F238E27FC236}">
                  <a16:creationId xmlns:a16="http://schemas.microsoft.com/office/drawing/2014/main" id="{7E081BFA-7684-4767-885E-57FEDA762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5638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2" name="Oval 32" descr="50%">
              <a:extLst>
                <a:ext uri="{FF2B5EF4-FFF2-40B4-BE49-F238E27FC236}">
                  <a16:creationId xmlns:a16="http://schemas.microsoft.com/office/drawing/2014/main" id="{41461C38-B775-422F-A654-FF62FA1FA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114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6" name="Oval 20" descr="50%">
              <a:extLst>
                <a:ext uri="{FF2B5EF4-FFF2-40B4-BE49-F238E27FC236}">
                  <a16:creationId xmlns:a16="http://schemas.microsoft.com/office/drawing/2014/main" id="{C5D05D9F-7172-41FE-A074-B16A141AA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362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7" name="Oval 20" descr="50%">
              <a:extLst>
                <a:ext uri="{FF2B5EF4-FFF2-40B4-BE49-F238E27FC236}">
                  <a16:creationId xmlns:a16="http://schemas.microsoft.com/office/drawing/2014/main" id="{BCB3A3F3-20AD-4377-A806-1635B913D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8" name="Oval 20" descr="50%">
              <a:extLst>
                <a:ext uri="{FF2B5EF4-FFF2-40B4-BE49-F238E27FC236}">
                  <a16:creationId xmlns:a16="http://schemas.microsoft.com/office/drawing/2014/main" id="{DE1ECB83-7C10-4528-A90B-63EC79093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9" name="Oval 20" descr="50%">
              <a:extLst>
                <a:ext uri="{FF2B5EF4-FFF2-40B4-BE49-F238E27FC236}">
                  <a16:creationId xmlns:a16="http://schemas.microsoft.com/office/drawing/2014/main" id="{7F09B92C-FC8E-48AC-BC7C-82A0B6236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750" y="33528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0" name="Oval 20" descr="50%">
              <a:extLst>
                <a:ext uri="{FF2B5EF4-FFF2-40B4-BE49-F238E27FC236}">
                  <a16:creationId xmlns:a16="http://schemas.microsoft.com/office/drawing/2014/main" id="{99E178C6-7C0F-4D43-888C-AA40FFF71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124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1" name="Oval 20" descr="50%">
              <a:extLst>
                <a:ext uri="{FF2B5EF4-FFF2-40B4-BE49-F238E27FC236}">
                  <a16:creationId xmlns:a16="http://schemas.microsoft.com/office/drawing/2014/main" id="{1D206ED6-3EAC-4F00-AE24-F2A7BD420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191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2" name="Oval 20" descr="50%">
              <a:extLst>
                <a:ext uri="{FF2B5EF4-FFF2-40B4-BE49-F238E27FC236}">
                  <a16:creationId xmlns:a16="http://schemas.microsoft.com/office/drawing/2014/main" id="{E9A8291D-0850-402A-B9CE-176359CE8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048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3" name="Oval 20" descr="50%">
              <a:extLst>
                <a:ext uri="{FF2B5EF4-FFF2-40B4-BE49-F238E27FC236}">
                  <a16:creationId xmlns:a16="http://schemas.microsoft.com/office/drawing/2014/main" id="{8DBDE740-57BF-48F9-8703-D2A2EF5D7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800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4" name="Oval 20" descr="50%">
              <a:extLst>
                <a:ext uri="{FF2B5EF4-FFF2-40B4-BE49-F238E27FC236}">
                  <a16:creationId xmlns:a16="http://schemas.microsoft.com/office/drawing/2014/main" id="{CE146BAD-9CB4-402A-9977-B3A5B7971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350" y="5562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5" name="Oval 20" descr="50%">
              <a:extLst>
                <a:ext uri="{FF2B5EF4-FFF2-40B4-BE49-F238E27FC236}">
                  <a16:creationId xmlns:a16="http://schemas.microsoft.com/office/drawing/2014/main" id="{1A44E0C1-5A35-4646-B6B2-1B91D7789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133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F109CA1-5A5B-4512-A901-46BAF13C5F7F}"/>
              </a:ext>
            </a:extLst>
          </p:cNvPr>
          <p:cNvCxnSpPr>
            <a:cxnSpLocks/>
          </p:cNvCxnSpPr>
          <p:nvPr/>
        </p:nvCxnSpPr>
        <p:spPr bwMode="auto">
          <a:xfrm>
            <a:off x="3733800" y="1981200"/>
            <a:ext cx="0" cy="3886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F0F7B57-F8DE-4A50-8968-1F9DA0460EB4}"/>
                  </a:ext>
                </a:extLst>
              </p:cNvPr>
              <p:cNvSpPr txBox="1"/>
              <p:nvPr/>
            </p:nvSpPr>
            <p:spPr>
              <a:xfrm>
                <a:off x="0" y="2195873"/>
                <a:ext cx="3338563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Ground truth classification boundary  </a:t>
                </a:r>
                <a:r>
                  <a:rPr lang="zh-CN" altLang="en-US" sz="2200" dirty="0"/>
                  <a:t>真实的分类边界</a:t>
                </a:r>
                <a:endParaRPr lang="en-US" altLang="zh-CN" sz="22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US" altLang="zh-CN" sz="2200" dirty="0"/>
                  <a:t>  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F0F7B57-F8DE-4A50-8968-1F9DA0460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95873"/>
                <a:ext cx="3338563" cy="1446550"/>
              </a:xfrm>
              <a:prstGeom prst="rect">
                <a:avLst/>
              </a:prstGeom>
              <a:blipFill>
                <a:blip r:embed="rId6"/>
                <a:stretch>
                  <a:fillRect l="-182" t="-3361" r="-4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100628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Illustration  </a:t>
            </a:r>
            <a:r>
              <a:rPr lang="zh-CN" altLang="en-US" dirty="0">
                <a:ea typeface="ＭＳ Ｐゴシック" panose="020B0600070205080204" pitchFamily="34" charset="-128"/>
              </a:rPr>
              <a:t>说明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F109CA1-5A5B-4512-A901-46BAF13C5F7F}"/>
              </a:ext>
            </a:extLst>
          </p:cNvPr>
          <p:cNvCxnSpPr>
            <a:cxnSpLocks/>
          </p:cNvCxnSpPr>
          <p:nvPr/>
        </p:nvCxnSpPr>
        <p:spPr bwMode="auto">
          <a:xfrm flipH="1">
            <a:off x="3048000" y="1584192"/>
            <a:ext cx="1539241" cy="42070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F0F7B57-F8DE-4A50-8968-1F9DA0460EB4}"/>
                  </a:ext>
                </a:extLst>
              </p:cNvPr>
              <p:cNvSpPr txBox="1"/>
              <p:nvPr/>
            </p:nvSpPr>
            <p:spPr>
              <a:xfrm>
                <a:off x="5539239" y="1774623"/>
                <a:ext cx="2766561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Classification boundary learned  </a:t>
                </a:r>
                <a:r>
                  <a:rPr lang="zh-CN" altLang="en-US" sz="2200" dirty="0"/>
                  <a:t>学习到的分类边界</a:t>
                </a:r>
                <a:endParaRPr lang="en-US" altLang="zh-CN" sz="22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−0.3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US" altLang="zh-CN" sz="2200" dirty="0"/>
                  <a:t>  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F0F7B57-F8DE-4A50-8968-1F9DA0460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9239" y="1774623"/>
                <a:ext cx="2766561" cy="1446550"/>
              </a:xfrm>
              <a:prstGeom prst="rect">
                <a:avLst/>
              </a:prstGeom>
              <a:blipFill>
                <a:blip r:embed="rId6"/>
                <a:stretch>
                  <a:fillRect t="-3376" r="-2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2514600" y="2362200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174A1E4B-1294-4606-91B2-AC442AA52E83}"/>
              </a:ext>
            </a:extLst>
          </p:cNvPr>
          <p:cNvSpPr txBox="1"/>
          <p:nvPr/>
        </p:nvSpPr>
        <p:spPr>
          <a:xfrm>
            <a:off x="5616355" y="4659267"/>
            <a:ext cx="29878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Irrelevant attribute rated w/ importance </a:t>
            </a:r>
            <a:r>
              <a:rPr lang="zh-CN" altLang="en-US" sz="2200" dirty="0"/>
              <a:t>不相关的属性被赋予了重要性</a:t>
            </a:r>
            <a:r>
              <a:rPr lang="en-US" altLang="zh-CN" sz="2200" dirty="0"/>
              <a:t>  </a:t>
            </a:r>
            <a:endParaRPr lang="zh-CN" alt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248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Illustration  </a:t>
            </a:r>
            <a:r>
              <a:rPr lang="zh-CN" altLang="en-US" dirty="0">
                <a:ea typeface="ＭＳ Ｐゴシック" panose="020B0600070205080204" pitchFamily="34" charset="-128"/>
              </a:rPr>
              <a:t>说明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F109CA1-5A5B-4512-A901-46BAF13C5F7F}"/>
              </a:ext>
            </a:extLst>
          </p:cNvPr>
          <p:cNvCxnSpPr>
            <a:cxnSpLocks/>
          </p:cNvCxnSpPr>
          <p:nvPr/>
        </p:nvCxnSpPr>
        <p:spPr bwMode="auto">
          <a:xfrm flipH="1">
            <a:off x="3048000" y="1584192"/>
            <a:ext cx="1539241" cy="42070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2514600" y="2362200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174A1E4B-1294-4606-91B2-AC442AA52E83}"/>
              </a:ext>
            </a:extLst>
          </p:cNvPr>
          <p:cNvSpPr txBox="1"/>
          <p:nvPr/>
        </p:nvSpPr>
        <p:spPr>
          <a:xfrm>
            <a:off x="5616355" y="4659267"/>
            <a:ext cx="29878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More data rejects the hyperplane</a:t>
            </a:r>
          </a:p>
          <a:p>
            <a:pPr algn="ctr"/>
            <a:r>
              <a:rPr lang="zh-CN" altLang="en-US" sz="2200" dirty="0"/>
              <a:t>更多的数据否定了它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219EA65-4681-487E-99B2-51A5382BF188}"/>
              </a:ext>
            </a:extLst>
          </p:cNvPr>
          <p:cNvGrpSpPr/>
          <p:nvPr/>
        </p:nvGrpSpPr>
        <p:grpSpPr>
          <a:xfrm>
            <a:off x="311150" y="5334000"/>
            <a:ext cx="2279648" cy="701731"/>
            <a:chOff x="311150" y="5334000"/>
            <a:chExt cx="2279648" cy="701731"/>
          </a:xfrm>
        </p:grpSpPr>
        <p:sp>
          <p:nvSpPr>
            <p:cNvPr id="55" name="Oval 32" descr="50%">
              <a:extLst>
                <a:ext uri="{FF2B5EF4-FFF2-40B4-BE49-F238E27FC236}">
                  <a16:creationId xmlns:a16="http://schemas.microsoft.com/office/drawing/2014/main" id="{CCD5806C-DAC7-429A-A33D-F074E20FE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" y="5550074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83358FC-10F8-48DB-89A2-9EFA869E3FE1}"/>
                </a:ext>
              </a:extLst>
            </p:cNvPr>
            <p:cNvSpPr/>
            <p:nvPr/>
          </p:nvSpPr>
          <p:spPr>
            <a:xfrm>
              <a:off x="609600" y="5334000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More data 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更多数据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58" name="Oval 20" descr="50%">
              <a:extLst>
                <a:ext uri="{FF2B5EF4-FFF2-40B4-BE49-F238E27FC236}">
                  <a16:creationId xmlns:a16="http://schemas.microsoft.com/office/drawing/2014/main" id="{8205F63E-9F7E-43E8-B7CA-899ACFB1B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24" y="5550074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31F9134-D644-4C54-B040-CC7EFFE16A10}"/>
              </a:ext>
            </a:extLst>
          </p:cNvPr>
          <p:cNvGrpSpPr/>
          <p:nvPr/>
        </p:nvGrpSpPr>
        <p:grpSpPr>
          <a:xfrm>
            <a:off x="2292350" y="2133600"/>
            <a:ext cx="3111500" cy="3657600"/>
            <a:chOff x="2292350" y="2133600"/>
            <a:chExt cx="3111500" cy="3657600"/>
          </a:xfrm>
        </p:grpSpPr>
        <p:sp>
          <p:nvSpPr>
            <p:cNvPr id="61" name="Oval 32" descr="50%">
              <a:extLst>
                <a:ext uri="{FF2B5EF4-FFF2-40B4-BE49-F238E27FC236}">
                  <a16:creationId xmlns:a16="http://schemas.microsoft.com/office/drawing/2014/main" id="{BD9C45B5-44C2-4817-A57C-C00D020D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2438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2" name="Oval 32" descr="50%">
              <a:extLst>
                <a:ext uri="{FF2B5EF4-FFF2-40B4-BE49-F238E27FC236}">
                  <a16:creationId xmlns:a16="http://schemas.microsoft.com/office/drawing/2014/main" id="{AABE2CC4-B284-44CF-8F97-ECCA3BA40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3581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3" name="Oval 32" descr="50%">
              <a:extLst>
                <a:ext uri="{FF2B5EF4-FFF2-40B4-BE49-F238E27FC236}">
                  <a16:creationId xmlns:a16="http://schemas.microsoft.com/office/drawing/2014/main" id="{526507EF-7C22-41A7-985A-72192710A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353" y="284132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3" name="Oval 32" descr="50%">
              <a:extLst>
                <a:ext uri="{FF2B5EF4-FFF2-40B4-BE49-F238E27FC236}">
                  <a16:creationId xmlns:a16="http://schemas.microsoft.com/office/drawing/2014/main" id="{FEC1D777-EA90-4F0A-9E2B-777560235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4" name="Oval 32" descr="50%">
              <a:extLst>
                <a:ext uri="{FF2B5EF4-FFF2-40B4-BE49-F238E27FC236}">
                  <a16:creationId xmlns:a16="http://schemas.microsoft.com/office/drawing/2014/main" id="{EFDA9874-DE1F-4781-863D-76BF26A75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6" name="Oval 32" descr="50%">
              <a:extLst>
                <a:ext uri="{FF2B5EF4-FFF2-40B4-BE49-F238E27FC236}">
                  <a16:creationId xmlns:a16="http://schemas.microsoft.com/office/drawing/2014/main" id="{F3443CD2-FBFC-47DD-BE63-71F862552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3340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7" name="Oval 32" descr="50%">
              <a:extLst>
                <a:ext uri="{FF2B5EF4-FFF2-40B4-BE49-F238E27FC236}">
                  <a16:creationId xmlns:a16="http://schemas.microsoft.com/office/drawing/2014/main" id="{128A6D87-7D63-49E7-92E0-A0AC01769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5638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8" name="Oval 32" descr="50%">
              <a:extLst>
                <a:ext uri="{FF2B5EF4-FFF2-40B4-BE49-F238E27FC236}">
                  <a16:creationId xmlns:a16="http://schemas.microsoft.com/office/drawing/2014/main" id="{92A6D773-B755-4A0D-BDC8-68B40743F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114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9" name="Oval 20" descr="50%">
              <a:extLst>
                <a:ext uri="{FF2B5EF4-FFF2-40B4-BE49-F238E27FC236}">
                  <a16:creationId xmlns:a16="http://schemas.microsoft.com/office/drawing/2014/main" id="{A444A855-7997-46B2-B3DD-24EC21653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362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0" name="Oval 20" descr="50%">
              <a:extLst>
                <a:ext uri="{FF2B5EF4-FFF2-40B4-BE49-F238E27FC236}">
                  <a16:creationId xmlns:a16="http://schemas.microsoft.com/office/drawing/2014/main" id="{9BE0CCCA-C085-4F01-B8DD-E6FE5B399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1" name="Oval 20" descr="50%">
              <a:extLst>
                <a:ext uri="{FF2B5EF4-FFF2-40B4-BE49-F238E27FC236}">
                  <a16:creationId xmlns:a16="http://schemas.microsoft.com/office/drawing/2014/main" id="{08E4981D-D36D-48BC-8120-D44A3F1C1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2" name="Oval 20" descr="50%">
              <a:extLst>
                <a:ext uri="{FF2B5EF4-FFF2-40B4-BE49-F238E27FC236}">
                  <a16:creationId xmlns:a16="http://schemas.microsoft.com/office/drawing/2014/main" id="{72B24E92-42BB-4E8E-B3BC-347140ACD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750" y="33528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3" name="Oval 20" descr="50%">
              <a:extLst>
                <a:ext uri="{FF2B5EF4-FFF2-40B4-BE49-F238E27FC236}">
                  <a16:creationId xmlns:a16="http://schemas.microsoft.com/office/drawing/2014/main" id="{BCE0EF68-886E-430B-B952-23F42C58C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124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4" name="Oval 20" descr="50%">
              <a:extLst>
                <a:ext uri="{FF2B5EF4-FFF2-40B4-BE49-F238E27FC236}">
                  <a16:creationId xmlns:a16="http://schemas.microsoft.com/office/drawing/2014/main" id="{5F527E90-FB9B-4699-B117-C4540105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191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5" name="Oval 20" descr="50%">
              <a:extLst>
                <a:ext uri="{FF2B5EF4-FFF2-40B4-BE49-F238E27FC236}">
                  <a16:creationId xmlns:a16="http://schemas.microsoft.com/office/drawing/2014/main" id="{3C10E1E1-53E3-4C56-AA4E-AE780B16C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048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6" name="Oval 20" descr="50%">
              <a:extLst>
                <a:ext uri="{FF2B5EF4-FFF2-40B4-BE49-F238E27FC236}">
                  <a16:creationId xmlns:a16="http://schemas.microsoft.com/office/drawing/2014/main" id="{2A7FCB0E-C843-4674-B7E4-D0DF31E97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800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7" name="Oval 20" descr="50%">
              <a:extLst>
                <a:ext uri="{FF2B5EF4-FFF2-40B4-BE49-F238E27FC236}">
                  <a16:creationId xmlns:a16="http://schemas.microsoft.com/office/drawing/2014/main" id="{D05ACB80-E774-4F15-823E-6D49A46D2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350" y="5562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8" name="Oval 20" descr="50%">
              <a:extLst>
                <a:ext uri="{FF2B5EF4-FFF2-40B4-BE49-F238E27FC236}">
                  <a16:creationId xmlns:a16="http://schemas.microsoft.com/office/drawing/2014/main" id="{ABB3F88B-A2C5-4F62-BFF1-D64BCA902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133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</p:spTree>
    <p:extLst>
      <p:ext uri="{BB962C8B-B14F-4D97-AF65-F5344CB8AC3E}">
        <p14:creationId xmlns:p14="http://schemas.microsoft.com/office/powerpoint/2010/main" val="2004793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Illustration  </a:t>
            </a:r>
            <a:r>
              <a:rPr lang="zh-CN" altLang="en-US" dirty="0">
                <a:ea typeface="ＭＳ Ｐゴシック" panose="020B0600070205080204" pitchFamily="34" charset="-128"/>
              </a:rPr>
              <a:t>说明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0D52462-AE57-40B0-9994-E97AB5F0483C}"/>
              </a:ext>
            </a:extLst>
          </p:cNvPr>
          <p:cNvGrpSpPr/>
          <p:nvPr/>
        </p:nvGrpSpPr>
        <p:grpSpPr>
          <a:xfrm>
            <a:off x="3394537" y="2438400"/>
            <a:ext cx="2819400" cy="2667000"/>
            <a:chOff x="2514600" y="2328862"/>
            <a:chExt cx="2819400" cy="2667000"/>
          </a:xfrm>
        </p:grpSpPr>
        <p:sp>
          <p:nvSpPr>
            <p:cNvPr id="13" name="Oval 3">
              <a:extLst>
                <a:ext uri="{FF2B5EF4-FFF2-40B4-BE49-F238E27FC236}">
                  <a16:creationId xmlns:a16="http://schemas.microsoft.com/office/drawing/2014/main" id="{3C2E1F6A-8E93-46D8-A79A-5555E8525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1063" y="30146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14" name="Oval 46">
              <a:extLst>
                <a:ext uri="{FF2B5EF4-FFF2-40B4-BE49-F238E27FC236}">
                  <a16:creationId xmlns:a16="http://schemas.microsoft.com/office/drawing/2014/main" id="{B870CCAA-3DE3-46D3-B6C0-34525B0E2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263" y="3852862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3" name="Oval 46">
              <a:extLst>
                <a:ext uri="{FF2B5EF4-FFF2-40B4-BE49-F238E27FC236}">
                  <a16:creationId xmlns:a16="http://schemas.microsoft.com/office/drawing/2014/main" id="{5245E6C7-CA5D-4314-843B-DD43EA79A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213" y="3471862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4" name="Oval 46">
              <a:extLst>
                <a:ext uri="{FF2B5EF4-FFF2-40B4-BE49-F238E27FC236}">
                  <a16:creationId xmlns:a16="http://schemas.microsoft.com/office/drawing/2014/main" id="{248278B6-ECED-43DB-8715-F6CBFF9CD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5" name="Oval 3">
              <a:extLst>
                <a:ext uri="{FF2B5EF4-FFF2-40B4-BE49-F238E27FC236}">
                  <a16:creationId xmlns:a16="http://schemas.microsoft.com/office/drawing/2014/main" id="{8CA897F5-60EE-4DDA-9ED5-0DBA3C02E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6" name="Oval 3">
              <a:extLst>
                <a:ext uri="{FF2B5EF4-FFF2-40B4-BE49-F238E27FC236}">
                  <a16:creationId xmlns:a16="http://schemas.microsoft.com/office/drawing/2014/main" id="{2AFD46D6-34FA-4020-AA4C-0338371A6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7" name="Oval 3">
              <a:extLst>
                <a:ext uri="{FF2B5EF4-FFF2-40B4-BE49-F238E27FC236}">
                  <a16:creationId xmlns:a16="http://schemas.microsoft.com/office/drawing/2014/main" id="{1701CE54-038B-4BB4-8E2E-D3FC367A5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663" y="23288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9" name="Oval 46">
              <a:extLst>
                <a:ext uri="{FF2B5EF4-FFF2-40B4-BE49-F238E27FC236}">
                  <a16:creationId xmlns:a16="http://schemas.microsoft.com/office/drawing/2014/main" id="{AB6034EB-5BF0-4878-8BE3-4BF761EBF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1063" y="4843462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785A3A2-745D-4A71-9B1C-ECC541286BC3}"/>
              </a:ext>
            </a:extLst>
          </p:cNvPr>
          <p:cNvGrpSpPr/>
          <p:nvPr/>
        </p:nvGrpSpPr>
        <p:grpSpPr>
          <a:xfrm>
            <a:off x="311150" y="5334000"/>
            <a:ext cx="2279648" cy="701731"/>
            <a:chOff x="311150" y="5334000"/>
            <a:chExt cx="2279648" cy="701731"/>
          </a:xfrm>
        </p:grpSpPr>
        <p:sp>
          <p:nvSpPr>
            <p:cNvPr id="43" name="Oval 32" descr="50%">
              <a:extLst>
                <a:ext uri="{FF2B5EF4-FFF2-40B4-BE49-F238E27FC236}">
                  <a16:creationId xmlns:a16="http://schemas.microsoft.com/office/drawing/2014/main" id="{09E8DCD4-07FA-475D-B682-4F7828D45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" y="5550074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1FA65C9-13F8-44B2-A321-0BF9FEA14FDD}"/>
                </a:ext>
              </a:extLst>
            </p:cNvPr>
            <p:cNvSpPr/>
            <p:nvPr/>
          </p:nvSpPr>
          <p:spPr>
            <a:xfrm>
              <a:off x="609600" y="5334000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Unseen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未见数据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45" name="Oval 20" descr="50%">
              <a:extLst>
                <a:ext uri="{FF2B5EF4-FFF2-40B4-BE49-F238E27FC236}">
                  <a16:creationId xmlns:a16="http://schemas.microsoft.com/office/drawing/2014/main" id="{16B51508-D577-4204-9A7B-FBCCCB2BF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24" y="5550074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16F62A1-5C4C-481E-BDE5-D048FDD2AAE2}"/>
              </a:ext>
            </a:extLst>
          </p:cNvPr>
          <p:cNvGrpSpPr/>
          <p:nvPr/>
        </p:nvGrpSpPr>
        <p:grpSpPr>
          <a:xfrm>
            <a:off x="3076114" y="2209800"/>
            <a:ext cx="3111500" cy="3352800"/>
            <a:chOff x="2292350" y="2197100"/>
            <a:chExt cx="3111500" cy="3352800"/>
          </a:xfrm>
        </p:grpSpPr>
        <p:sp>
          <p:nvSpPr>
            <p:cNvPr id="35" name="Oval 32" descr="50%">
              <a:extLst>
                <a:ext uri="{FF2B5EF4-FFF2-40B4-BE49-F238E27FC236}">
                  <a16:creationId xmlns:a16="http://schemas.microsoft.com/office/drawing/2014/main" id="{DE1E3C6A-C3AB-48EF-B4F6-F11DE11EC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586" y="21971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6" name="Oval 32" descr="50%">
              <a:extLst>
                <a:ext uri="{FF2B5EF4-FFF2-40B4-BE49-F238E27FC236}">
                  <a16:creationId xmlns:a16="http://schemas.microsoft.com/office/drawing/2014/main" id="{2E170EEF-18F8-44C7-9247-9F2B543A4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3581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7" name="Oval 32" descr="50%">
              <a:extLst>
                <a:ext uri="{FF2B5EF4-FFF2-40B4-BE49-F238E27FC236}">
                  <a16:creationId xmlns:a16="http://schemas.microsoft.com/office/drawing/2014/main" id="{E73725F3-92E0-4B15-9F63-57F66AEA5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353" y="284132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8" name="Oval 32" descr="50%">
              <a:extLst>
                <a:ext uri="{FF2B5EF4-FFF2-40B4-BE49-F238E27FC236}">
                  <a16:creationId xmlns:a16="http://schemas.microsoft.com/office/drawing/2014/main" id="{92FD2873-40FC-4B6A-A348-E3D3DD1B4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6236" y="31877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9" name="Oval 32" descr="50%">
              <a:extLst>
                <a:ext uri="{FF2B5EF4-FFF2-40B4-BE49-F238E27FC236}">
                  <a16:creationId xmlns:a16="http://schemas.microsoft.com/office/drawing/2014/main" id="{4A3A581A-12A8-4347-A874-D316D16B5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786" y="47879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0" name="Oval 32" descr="50%">
              <a:extLst>
                <a:ext uri="{FF2B5EF4-FFF2-40B4-BE49-F238E27FC236}">
                  <a16:creationId xmlns:a16="http://schemas.microsoft.com/office/drawing/2014/main" id="{88995EE0-8B8F-4B56-A481-6D7144B63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786" y="53975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1" name="Oval 32" descr="50%">
              <a:extLst>
                <a:ext uri="{FF2B5EF4-FFF2-40B4-BE49-F238E27FC236}">
                  <a16:creationId xmlns:a16="http://schemas.microsoft.com/office/drawing/2014/main" id="{7E081BFA-7684-4767-885E-57FEDA762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436" y="48641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2" name="Oval 32" descr="50%">
              <a:extLst>
                <a:ext uri="{FF2B5EF4-FFF2-40B4-BE49-F238E27FC236}">
                  <a16:creationId xmlns:a16="http://schemas.microsoft.com/office/drawing/2014/main" id="{41461C38-B775-422F-A654-FF62FA1FA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114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6" name="Oval 20" descr="50%">
              <a:extLst>
                <a:ext uri="{FF2B5EF4-FFF2-40B4-BE49-F238E27FC236}">
                  <a16:creationId xmlns:a16="http://schemas.microsoft.com/office/drawing/2014/main" id="{C5D05D9F-7172-41FE-A074-B16A141AA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3550" y="31115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7" name="Oval 20" descr="50%">
              <a:extLst>
                <a:ext uri="{FF2B5EF4-FFF2-40B4-BE49-F238E27FC236}">
                  <a16:creationId xmlns:a16="http://schemas.microsoft.com/office/drawing/2014/main" id="{BCB3A3F3-20AD-4377-A806-1635B913D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8" name="Oval 20" descr="50%">
              <a:extLst>
                <a:ext uri="{FF2B5EF4-FFF2-40B4-BE49-F238E27FC236}">
                  <a16:creationId xmlns:a16="http://schemas.microsoft.com/office/drawing/2014/main" id="{DE1ECB83-7C10-4528-A90B-63EC79093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9" name="Oval 20" descr="50%">
              <a:extLst>
                <a:ext uri="{FF2B5EF4-FFF2-40B4-BE49-F238E27FC236}">
                  <a16:creationId xmlns:a16="http://schemas.microsoft.com/office/drawing/2014/main" id="{7F09B92C-FC8E-48AC-BC7C-82A0B6236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786" y="42545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0" name="Oval 20" descr="50%">
              <a:extLst>
                <a:ext uri="{FF2B5EF4-FFF2-40B4-BE49-F238E27FC236}">
                  <a16:creationId xmlns:a16="http://schemas.microsoft.com/office/drawing/2014/main" id="{99E178C6-7C0F-4D43-888C-AA40FFF71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124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1" name="Oval 20" descr="50%">
              <a:extLst>
                <a:ext uri="{FF2B5EF4-FFF2-40B4-BE49-F238E27FC236}">
                  <a16:creationId xmlns:a16="http://schemas.microsoft.com/office/drawing/2014/main" id="{1D206ED6-3EAC-4F00-AE24-F2A7BD420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191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2" name="Oval 20" descr="50%">
              <a:extLst>
                <a:ext uri="{FF2B5EF4-FFF2-40B4-BE49-F238E27FC236}">
                  <a16:creationId xmlns:a16="http://schemas.microsoft.com/office/drawing/2014/main" id="{E9A8291D-0850-402A-B9CE-176359CE8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2639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3" name="Oval 20" descr="50%">
              <a:extLst>
                <a:ext uri="{FF2B5EF4-FFF2-40B4-BE49-F238E27FC236}">
                  <a16:creationId xmlns:a16="http://schemas.microsoft.com/office/drawing/2014/main" id="{8DBDE740-57BF-48F9-8703-D2A2EF5D7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7836" y="50927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4" name="Oval 20" descr="50%">
              <a:extLst>
                <a:ext uri="{FF2B5EF4-FFF2-40B4-BE49-F238E27FC236}">
                  <a16:creationId xmlns:a16="http://schemas.microsoft.com/office/drawing/2014/main" id="{CE146BAD-9CB4-402A-9977-B3A5B7971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4836" y="53975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5" name="Oval 20" descr="50%">
              <a:extLst>
                <a:ext uri="{FF2B5EF4-FFF2-40B4-BE49-F238E27FC236}">
                  <a16:creationId xmlns:a16="http://schemas.microsoft.com/office/drawing/2014/main" id="{1A44E0C1-5A35-4646-B6B2-1B91D7789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8836" y="21971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F109CA1-5A5B-4512-A901-46BAF13C5F7F}"/>
              </a:ext>
            </a:extLst>
          </p:cNvPr>
          <p:cNvCxnSpPr>
            <a:cxnSpLocks/>
          </p:cNvCxnSpPr>
          <p:nvPr/>
        </p:nvCxnSpPr>
        <p:spPr bwMode="auto">
          <a:xfrm flipH="1">
            <a:off x="3540588" y="1447800"/>
            <a:ext cx="2189826" cy="4572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F0F7B57-F8DE-4A50-8968-1F9DA0460EB4}"/>
                  </a:ext>
                </a:extLst>
              </p:cNvPr>
              <p:cNvSpPr txBox="1"/>
              <p:nvPr/>
            </p:nvSpPr>
            <p:spPr>
              <a:xfrm>
                <a:off x="0" y="2195873"/>
                <a:ext cx="3338563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Ground truth classification boundary  </a:t>
                </a:r>
                <a:r>
                  <a:rPr lang="zh-CN" altLang="en-US" sz="2200" dirty="0"/>
                  <a:t>真实的分类边界</a:t>
                </a:r>
                <a:endParaRPr lang="en-US" altLang="zh-CN" sz="22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200" dirty="0"/>
                  <a:t>  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F0F7B57-F8DE-4A50-8968-1F9DA0460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95873"/>
                <a:ext cx="3338563" cy="1446550"/>
              </a:xfrm>
              <a:prstGeom prst="rect">
                <a:avLst/>
              </a:prstGeom>
              <a:blipFill>
                <a:blip r:embed="rId4"/>
                <a:stretch>
                  <a:fillRect l="-182" t="-3361" r="-4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73578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Illustration  </a:t>
            </a:r>
            <a:r>
              <a:rPr lang="zh-CN" altLang="en-US" dirty="0">
                <a:ea typeface="ＭＳ Ｐゴシック" panose="020B0600070205080204" pitchFamily="34" charset="-128"/>
              </a:rPr>
              <a:t>说明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F109CA1-5A5B-4512-A901-46BAF13C5F7F}"/>
              </a:ext>
            </a:extLst>
          </p:cNvPr>
          <p:cNvCxnSpPr>
            <a:cxnSpLocks/>
          </p:cNvCxnSpPr>
          <p:nvPr/>
        </p:nvCxnSpPr>
        <p:spPr bwMode="auto">
          <a:xfrm flipH="1">
            <a:off x="2882900" y="2342245"/>
            <a:ext cx="3105998" cy="33727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F0F7B57-F8DE-4A50-8968-1F9DA0460EB4}"/>
                  </a:ext>
                </a:extLst>
              </p:cNvPr>
              <p:cNvSpPr txBox="1"/>
              <p:nvPr/>
            </p:nvSpPr>
            <p:spPr>
              <a:xfrm>
                <a:off x="5988897" y="1867525"/>
                <a:ext cx="2766561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Classification boundary learned  </a:t>
                </a:r>
                <a:r>
                  <a:rPr lang="zh-CN" altLang="en-US" sz="2200" dirty="0"/>
                  <a:t>学习到的分类边界</a:t>
                </a:r>
                <a:endParaRPr lang="en-US" altLang="zh-CN" sz="22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200" dirty="0"/>
                  <a:t>  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F0F7B57-F8DE-4A50-8968-1F9DA0460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8897" y="1867525"/>
                <a:ext cx="2766561" cy="1446550"/>
              </a:xfrm>
              <a:prstGeom prst="rect">
                <a:avLst/>
              </a:prstGeom>
              <a:blipFill>
                <a:blip r:embed="rId6"/>
                <a:stretch>
                  <a:fillRect t="-2941" r="-28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174A1E4B-1294-4606-91B2-AC442AA52E83}"/>
              </a:ext>
            </a:extLst>
          </p:cNvPr>
          <p:cNvSpPr txBox="1"/>
          <p:nvPr/>
        </p:nvSpPr>
        <p:spPr>
          <a:xfrm>
            <a:off x="5616356" y="4659267"/>
            <a:ext cx="29138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Less important attribute overrated </a:t>
            </a:r>
            <a:r>
              <a:rPr lang="zh-CN" altLang="en-US" sz="2200" dirty="0"/>
              <a:t>高估了不那么重要的属性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80D2692-6B21-40AB-B51F-0943F83946E4}"/>
              </a:ext>
            </a:extLst>
          </p:cNvPr>
          <p:cNvGrpSpPr/>
          <p:nvPr/>
        </p:nvGrpSpPr>
        <p:grpSpPr>
          <a:xfrm>
            <a:off x="3394537" y="2438400"/>
            <a:ext cx="2819400" cy="2667000"/>
            <a:chOff x="2514600" y="2328862"/>
            <a:chExt cx="2819400" cy="2667000"/>
          </a:xfrm>
        </p:grpSpPr>
        <p:sp>
          <p:nvSpPr>
            <p:cNvPr id="27" name="Oval 3">
              <a:extLst>
                <a:ext uri="{FF2B5EF4-FFF2-40B4-BE49-F238E27FC236}">
                  <a16:creationId xmlns:a16="http://schemas.microsoft.com/office/drawing/2014/main" id="{E414A490-298B-4C53-882B-E70BC2431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1063" y="30146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8" name="Oval 46">
              <a:extLst>
                <a:ext uri="{FF2B5EF4-FFF2-40B4-BE49-F238E27FC236}">
                  <a16:creationId xmlns:a16="http://schemas.microsoft.com/office/drawing/2014/main" id="{19A2E71A-596B-4752-B71E-6D839CAE1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263" y="3852862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9" name="Oval 46">
              <a:extLst>
                <a:ext uri="{FF2B5EF4-FFF2-40B4-BE49-F238E27FC236}">
                  <a16:creationId xmlns:a16="http://schemas.microsoft.com/office/drawing/2014/main" id="{13E5313B-4D88-40B8-9C9A-35ED43781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213" y="3471862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5" name="Oval 46">
              <a:extLst>
                <a:ext uri="{FF2B5EF4-FFF2-40B4-BE49-F238E27FC236}">
                  <a16:creationId xmlns:a16="http://schemas.microsoft.com/office/drawing/2014/main" id="{58CC121D-26BE-4F17-B982-7A584341D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6" name="Oval 3">
              <a:extLst>
                <a:ext uri="{FF2B5EF4-FFF2-40B4-BE49-F238E27FC236}">
                  <a16:creationId xmlns:a16="http://schemas.microsoft.com/office/drawing/2014/main" id="{79B5A910-B0D8-40FB-9043-EEA3ABE2C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7" name="Oval 3">
              <a:extLst>
                <a:ext uri="{FF2B5EF4-FFF2-40B4-BE49-F238E27FC236}">
                  <a16:creationId xmlns:a16="http://schemas.microsoft.com/office/drawing/2014/main" id="{C38508A5-DE26-4A1A-A22A-2FBFF0D69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8" name="Oval 3">
              <a:extLst>
                <a:ext uri="{FF2B5EF4-FFF2-40B4-BE49-F238E27FC236}">
                  <a16:creationId xmlns:a16="http://schemas.microsoft.com/office/drawing/2014/main" id="{B9BBED87-8666-4A3D-BE1D-EB7E22613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663" y="23288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9" name="Oval 46">
              <a:extLst>
                <a:ext uri="{FF2B5EF4-FFF2-40B4-BE49-F238E27FC236}">
                  <a16:creationId xmlns:a16="http://schemas.microsoft.com/office/drawing/2014/main" id="{A47B1119-EB6F-4BFD-BD71-22A12907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1063" y="4843462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77753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Illustration  </a:t>
            </a:r>
            <a:r>
              <a:rPr lang="zh-CN" altLang="en-US" dirty="0">
                <a:ea typeface="ＭＳ Ｐゴシック" panose="020B0600070205080204" pitchFamily="34" charset="-128"/>
              </a:rPr>
              <a:t>说明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F109CA1-5A5B-4512-A901-46BAF13C5F7F}"/>
              </a:ext>
            </a:extLst>
          </p:cNvPr>
          <p:cNvCxnSpPr>
            <a:cxnSpLocks/>
          </p:cNvCxnSpPr>
          <p:nvPr/>
        </p:nvCxnSpPr>
        <p:spPr bwMode="auto">
          <a:xfrm flipH="1">
            <a:off x="2882900" y="2342245"/>
            <a:ext cx="3105998" cy="33727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80D2692-6B21-40AB-B51F-0943F83946E4}"/>
              </a:ext>
            </a:extLst>
          </p:cNvPr>
          <p:cNvGrpSpPr/>
          <p:nvPr/>
        </p:nvGrpSpPr>
        <p:grpSpPr>
          <a:xfrm>
            <a:off x="3394537" y="2438400"/>
            <a:ext cx="2819400" cy="2667000"/>
            <a:chOff x="2514600" y="2328862"/>
            <a:chExt cx="2819400" cy="2667000"/>
          </a:xfrm>
        </p:grpSpPr>
        <p:sp>
          <p:nvSpPr>
            <p:cNvPr id="27" name="Oval 3">
              <a:extLst>
                <a:ext uri="{FF2B5EF4-FFF2-40B4-BE49-F238E27FC236}">
                  <a16:creationId xmlns:a16="http://schemas.microsoft.com/office/drawing/2014/main" id="{E414A490-298B-4C53-882B-E70BC2431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1063" y="30146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8" name="Oval 46">
              <a:extLst>
                <a:ext uri="{FF2B5EF4-FFF2-40B4-BE49-F238E27FC236}">
                  <a16:creationId xmlns:a16="http://schemas.microsoft.com/office/drawing/2014/main" id="{19A2E71A-596B-4752-B71E-6D839CAE1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263" y="3852862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9" name="Oval 46">
              <a:extLst>
                <a:ext uri="{FF2B5EF4-FFF2-40B4-BE49-F238E27FC236}">
                  <a16:creationId xmlns:a16="http://schemas.microsoft.com/office/drawing/2014/main" id="{13E5313B-4D88-40B8-9C9A-35ED43781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213" y="3471862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5" name="Oval 46">
              <a:extLst>
                <a:ext uri="{FF2B5EF4-FFF2-40B4-BE49-F238E27FC236}">
                  <a16:creationId xmlns:a16="http://schemas.microsoft.com/office/drawing/2014/main" id="{58CC121D-26BE-4F17-B982-7A584341D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6" name="Oval 3">
              <a:extLst>
                <a:ext uri="{FF2B5EF4-FFF2-40B4-BE49-F238E27FC236}">
                  <a16:creationId xmlns:a16="http://schemas.microsoft.com/office/drawing/2014/main" id="{79B5A910-B0D8-40FB-9043-EEA3ABE2C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7" name="Oval 3">
              <a:extLst>
                <a:ext uri="{FF2B5EF4-FFF2-40B4-BE49-F238E27FC236}">
                  <a16:creationId xmlns:a16="http://schemas.microsoft.com/office/drawing/2014/main" id="{C38508A5-DE26-4A1A-A22A-2FBFF0D69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8" name="Oval 3">
              <a:extLst>
                <a:ext uri="{FF2B5EF4-FFF2-40B4-BE49-F238E27FC236}">
                  <a16:creationId xmlns:a16="http://schemas.microsoft.com/office/drawing/2014/main" id="{B9BBED87-8666-4A3D-BE1D-EB7E22613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663" y="23288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9" name="Oval 46">
              <a:extLst>
                <a:ext uri="{FF2B5EF4-FFF2-40B4-BE49-F238E27FC236}">
                  <a16:creationId xmlns:a16="http://schemas.microsoft.com/office/drawing/2014/main" id="{A47B1119-EB6F-4BFD-BD71-22A12907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1063" y="4843462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C21CACA-FA90-4426-ABF5-6FC6705A9C20}"/>
              </a:ext>
            </a:extLst>
          </p:cNvPr>
          <p:cNvGrpSpPr/>
          <p:nvPr/>
        </p:nvGrpSpPr>
        <p:grpSpPr>
          <a:xfrm>
            <a:off x="3076114" y="2209800"/>
            <a:ext cx="3111500" cy="3352800"/>
            <a:chOff x="2292350" y="2197100"/>
            <a:chExt cx="3111500" cy="3352800"/>
          </a:xfrm>
        </p:grpSpPr>
        <p:sp>
          <p:nvSpPr>
            <p:cNvPr id="41" name="Oval 32" descr="50%">
              <a:extLst>
                <a:ext uri="{FF2B5EF4-FFF2-40B4-BE49-F238E27FC236}">
                  <a16:creationId xmlns:a16="http://schemas.microsoft.com/office/drawing/2014/main" id="{4F906057-CF40-49A8-908B-E86C842E6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586" y="21971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2" name="Oval 32" descr="50%">
              <a:extLst>
                <a:ext uri="{FF2B5EF4-FFF2-40B4-BE49-F238E27FC236}">
                  <a16:creationId xmlns:a16="http://schemas.microsoft.com/office/drawing/2014/main" id="{5579E293-A65E-403C-94A2-47F847C32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3581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3" name="Oval 32" descr="50%">
              <a:extLst>
                <a:ext uri="{FF2B5EF4-FFF2-40B4-BE49-F238E27FC236}">
                  <a16:creationId xmlns:a16="http://schemas.microsoft.com/office/drawing/2014/main" id="{37342242-B525-4CA4-B9AB-C53CB92FD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353" y="284132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4" name="Oval 32" descr="50%">
              <a:extLst>
                <a:ext uri="{FF2B5EF4-FFF2-40B4-BE49-F238E27FC236}">
                  <a16:creationId xmlns:a16="http://schemas.microsoft.com/office/drawing/2014/main" id="{9B7E6962-ECF0-41F4-A8D9-399C16AC9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6236" y="31877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5" name="Oval 32" descr="50%">
              <a:extLst>
                <a:ext uri="{FF2B5EF4-FFF2-40B4-BE49-F238E27FC236}">
                  <a16:creationId xmlns:a16="http://schemas.microsoft.com/office/drawing/2014/main" id="{FA1E2F8E-22E6-435E-B642-EFEA60915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786" y="47879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6" name="Oval 32" descr="50%">
              <a:extLst>
                <a:ext uri="{FF2B5EF4-FFF2-40B4-BE49-F238E27FC236}">
                  <a16:creationId xmlns:a16="http://schemas.microsoft.com/office/drawing/2014/main" id="{8358D2E0-0BB3-469C-B208-AF0F0C82A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786" y="53975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7" name="Oval 32" descr="50%">
              <a:extLst>
                <a:ext uri="{FF2B5EF4-FFF2-40B4-BE49-F238E27FC236}">
                  <a16:creationId xmlns:a16="http://schemas.microsoft.com/office/drawing/2014/main" id="{61117BFD-A24B-4C5B-A442-602E51B18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436" y="48641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8" name="Oval 32" descr="50%">
              <a:extLst>
                <a:ext uri="{FF2B5EF4-FFF2-40B4-BE49-F238E27FC236}">
                  <a16:creationId xmlns:a16="http://schemas.microsoft.com/office/drawing/2014/main" id="{D661DDE1-417F-4618-9475-7C97AD32B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114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9" name="Oval 20" descr="50%">
              <a:extLst>
                <a:ext uri="{FF2B5EF4-FFF2-40B4-BE49-F238E27FC236}">
                  <a16:creationId xmlns:a16="http://schemas.microsoft.com/office/drawing/2014/main" id="{744765B0-F563-4301-B8CB-881E8C005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3550" y="31115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0" name="Oval 20" descr="50%">
              <a:extLst>
                <a:ext uri="{FF2B5EF4-FFF2-40B4-BE49-F238E27FC236}">
                  <a16:creationId xmlns:a16="http://schemas.microsoft.com/office/drawing/2014/main" id="{EBFFC074-1EFC-4FE8-A634-86783E4D5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1" name="Oval 20" descr="50%">
              <a:extLst>
                <a:ext uri="{FF2B5EF4-FFF2-40B4-BE49-F238E27FC236}">
                  <a16:creationId xmlns:a16="http://schemas.microsoft.com/office/drawing/2014/main" id="{6BA2D4AE-78FE-4BD4-B1A6-B52C52562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2" name="Oval 20" descr="50%">
              <a:extLst>
                <a:ext uri="{FF2B5EF4-FFF2-40B4-BE49-F238E27FC236}">
                  <a16:creationId xmlns:a16="http://schemas.microsoft.com/office/drawing/2014/main" id="{1E419A06-8C8D-4CFC-AC76-8B1B89138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786" y="42545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3" name="Oval 20" descr="50%">
              <a:extLst>
                <a:ext uri="{FF2B5EF4-FFF2-40B4-BE49-F238E27FC236}">
                  <a16:creationId xmlns:a16="http://schemas.microsoft.com/office/drawing/2014/main" id="{D1167547-FF57-47ED-847A-F9D158B48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124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4" name="Oval 20" descr="50%">
              <a:extLst>
                <a:ext uri="{FF2B5EF4-FFF2-40B4-BE49-F238E27FC236}">
                  <a16:creationId xmlns:a16="http://schemas.microsoft.com/office/drawing/2014/main" id="{284D8BE7-20B9-46CF-965A-B65737DAF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191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5" name="Oval 20" descr="50%">
              <a:extLst>
                <a:ext uri="{FF2B5EF4-FFF2-40B4-BE49-F238E27FC236}">
                  <a16:creationId xmlns:a16="http://schemas.microsoft.com/office/drawing/2014/main" id="{0B0CDD2C-166E-4DEC-BB7F-0AF722626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2639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7" name="Oval 20" descr="50%">
              <a:extLst>
                <a:ext uri="{FF2B5EF4-FFF2-40B4-BE49-F238E27FC236}">
                  <a16:creationId xmlns:a16="http://schemas.microsoft.com/office/drawing/2014/main" id="{7ED16966-EC08-41F2-9AB8-C5734EE99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7836" y="50927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8" name="Oval 20" descr="50%">
              <a:extLst>
                <a:ext uri="{FF2B5EF4-FFF2-40B4-BE49-F238E27FC236}">
                  <a16:creationId xmlns:a16="http://schemas.microsoft.com/office/drawing/2014/main" id="{F8AD02E6-60DE-4C9A-A358-A60F1F8D7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4836" y="53975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0" name="Oval 20" descr="50%">
              <a:extLst>
                <a:ext uri="{FF2B5EF4-FFF2-40B4-BE49-F238E27FC236}">
                  <a16:creationId xmlns:a16="http://schemas.microsoft.com/office/drawing/2014/main" id="{1093F3A5-B791-4B8F-833E-4E041B7F3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8836" y="21971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8A8EC48-1BD6-4EB9-89B1-A82B485EC596}"/>
              </a:ext>
            </a:extLst>
          </p:cNvPr>
          <p:cNvSpPr txBox="1"/>
          <p:nvPr/>
        </p:nvSpPr>
        <p:spPr>
          <a:xfrm>
            <a:off x="5616355" y="4659267"/>
            <a:ext cx="29878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More data rejects the hyperplane</a:t>
            </a:r>
          </a:p>
          <a:p>
            <a:pPr algn="ctr"/>
            <a:r>
              <a:rPr lang="zh-CN" altLang="en-US" sz="2200" dirty="0"/>
              <a:t>更多的数据否定了它</a:t>
            </a:r>
          </a:p>
        </p:txBody>
      </p:sp>
    </p:spTree>
    <p:extLst>
      <p:ext uri="{BB962C8B-B14F-4D97-AF65-F5344CB8AC3E}">
        <p14:creationId xmlns:p14="http://schemas.microsoft.com/office/powerpoint/2010/main" val="2998742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Example  </a:t>
            </a:r>
            <a:r>
              <a:rPr lang="zh-CN" altLang="en-US" dirty="0">
                <a:ea typeface="ＭＳ Ｐゴシック" panose="020B0600070205080204" pitchFamily="34" charset="-128"/>
              </a:rPr>
              <a:t>实例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02C77A3-2A8D-48B5-9A76-1B22BD004BF2}"/>
                  </a:ext>
                </a:extLst>
              </p:cNvPr>
              <p:cNvSpPr/>
              <p:nvPr/>
            </p:nvSpPr>
            <p:spPr>
              <a:xfrm>
                <a:off x="914400" y="2057400"/>
                <a:ext cx="7086600" cy="7616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0.57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52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8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6</m:t>
                      </m:r>
                      <m:sSub>
                        <m:sSub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18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17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14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09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02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0.0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56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02C77A3-2A8D-48B5-9A76-1B22BD004B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057400"/>
                <a:ext cx="7086600" cy="7616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C8AAE19-F2C6-45A4-9FA3-07B560210C65}"/>
              </a:ext>
            </a:extLst>
          </p:cNvPr>
          <p:cNvSpPr txBox="1"/>
          <p:nvPr/>
        </p:nvSpPr>
        <p:spPr>
          <a:xfrm>
            <a:off x="540634" y="1626513"/>
            <a:ext cx="8062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Ground truth classification boundary  </a:t>
            </a:r>
            <a:r>
              <a:rPr lang="zh-CN" altLang="en-US" sz="2200" dirty="0"/>
              <a:t>真实分类边界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CFD8022-996E-42DD-84AE-2620C9B60609}"/>
                  </a:ext>
                </a:extLst>
              </p:cNvPr>
              <p:cNvSpPr/>
              <p:nvPr/>
            </p:nvSpPr>
            <p:spPr>
              <a:xfrm>
                <a:off x="833377" y="2819781"/>
                <a:ext cx="7391400" cy="7616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1.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02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93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86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46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33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30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26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176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04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0.0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+1.00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CFD8022-996E-42DD-84AE-2620C9B606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77" y="2819781"/>
                <a:ext cx="7391400" cy="7616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268CDA2-9C92-4E3C-A497-6E2AC4092CBD}"/>
              </a:ext>
            </a:extLst>
          </p:cNvPr>
          <p:cNvSpPr txBox="1"/>
          <p:nvPr/>
        </p:nvSpPr>
        <p:spPr>
          <a:xfrm>
            <a:off x="540634" y="3581400"/>
            <a:ext cx="8062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Learned w/ 7 attributes  </a:t>
            </a:r>
            <a:r>
              <a:rPr lang="zh-CN" altLang="en-US" sz="2200" dirty="0"/>
              <a:t>用</a:t>
            </a:r>
            <a:r>
              <a:rPr lang="en-US" altLang="zh-CN" sz="2200" dirty="0"/>
              <a:t>7</a:t>
            </a:r>
            <a:r>
              <a:rPr lang="zh-CN" altLang="en-US" sz="2200" dirty="0"/>
              <a:t>个属性学习到的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3F6A77A-CAA4-4B9C-AD2C-989D5ABFBF12}"/>
                  </a:ext>
                </a:extLst>
              </p:cNvPr>
              <p:cNvSpPr/>
              <p:nvPr/>
            </p:nvSpPr>
            <p:spPr>
              <a:xfrm>
                <a:off x="864725" y="3997109"/>
                <a:ext cx="7391400" cy="7616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.47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17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48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51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36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12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12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.00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.00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0.0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3F6A77A-CAA4-4B9C-AD2C-989D5ABFBF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25" y="3997109"/>
                <a:ext cx="7391400" cy="7616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DCBF51E-D0E9-4E34-B741-E9BB4D500906}"/>
              </a:ext>
            </a:extLst>
          </p:cNvPr>
          <p:cNvSpPr txBox="1"/>
          <p:nvPr/>
        </p:nvSpPr>
        <p:spPr>
          <a:xfrm>
            <a:off x="540634" y="4743550"/>
            <a:ext cx="8062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Learned w/ 11 attributes  </a:t>
            </a:r>
            <a:r>
              <a:rPr lang="zh-CN" altLang="en-US" sz="2200" dirty="0"/>
              <a:t>用</a:t>
            </a:r>
            <a:r>
              <a:rPr lang="en-US" altLang="zh-CN" sz="2200" dirty="0"/>
              <a:t>11</a:t>
            </a:r>
            <a:r>
              <a:rPr lang="zh-CN" altLang="en-US" sz="2200" dirty="0"/>
              <a:t>个属性学习到的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ECBE507-429C-428E-BCC3-B161FF4B962C}"/>
                  </a:ext>
                </a:extLst>
              </p:cNvPr>
              <p:cNvSpPr/>
              <p:nvPr/>
            </p:nvSpPr>
            <p:spPr>
              <a:xfrm>
                <a:off x="864725" y="5105781"/>
                <a:ext cx="7391400" cy="7616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.44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99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32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70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0.55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29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55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.76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36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5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09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ECBE507-429C-428E-BCC3-B161FF4B96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25" y="5105781"/>
                <a:ext cx="7391400" cy="7616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1734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Example  </a:t>
            </a:r>
            <a:r>
              <a:rPr lang="zh-CN" altLang="en-US" dirty="0">
                <a:ea typeface="ＭＳ Ｐゴシック" panose="020B0600070205080204" pitchFamily="34" charset="-128"/>
              </a:rPr>
              <a:t>实例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027434-AC7A-4E9D-B3F7-6B96A88CE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649611"/>
              </p:ext>
            </p:extLst>
          </p:nvPr>
        </p:nvGraphicFramePr>
        <p:xfrm>
          <a:off x="152399" y="1978301"/>
          <a:ext cx="8763001" cy="148336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674077">
                  <a:extLst>
                    <a:ext uri="{9D8B030D-6E8A-4147-A177-3AD203B41FA5}">
                      <a16:colId xmlns:a16="http://schemas.microsoft.com/office/drawing/2014/main" val="1200889519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2938067114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634952323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1636844679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3479981593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239722630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1488878174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317854268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2807019351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134501554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3212840994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4260227649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436447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</a:t>
                      </a:r>
                      <a:endParaRPr lang="en-US" altLang="zh-CN" sz="2000" b="0" i="1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35878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1.02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0.93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-0.86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0.46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0.33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0.30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0.26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0.16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0.04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0.03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1.00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69460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0.47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7C8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1.17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7C8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-0.48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0.51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0.36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7C8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-0.12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1.12</a:t>
                      </a: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1.00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8002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0.44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0.99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-0.32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505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0.70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505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0.55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0.29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990033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1.55</a:t>
                      </a:r>
                      <a:r>
                        <a:rPr lang="en-US" altLang="zh-CN" sz="1800" b="0" i="0" u="none" strike="noStrike" dirty="0">
                          <a:solidFill>
                            <a:srgbClr val="990033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-0.76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7C8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0.36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7C8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0.35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990033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1.09</a:t>
                      </a:r>
                      <a:r>
                        <a:rPr lang="en-US" altLang="zh-CN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1.00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8378558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DD42DCC-F7E9-4FCE-A302-B6E22C6909ED}"/>
              </a:ext>
            </a:extLst>
          </p:cNvPr>
          <p:cNvSpPr txBox="1"/>
          <p:nvPr/>
        </p:nvSpPr>
        <p:spPr>
          <a:xfrm>
            <a:off x="28575" y="3768856"/>
            <a:ext cx="9086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Importance of some attributes gets overrated or incorrectly rated</a:t>
            </a:r>
          </a:p>
          <a:p>
            <a:pPr algn="ctr"/>
            <a:r>
              <a:rPr lang="zh-CN" altLang="en-US" sz="2200" dirty="0"/>
              <a:t>某些属性的重要性被高估或被错估了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048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Overfitting  </a:t>
            </a:r>
            <a:r>
              <a:rPr lang="zh-CN" altLang="en-US" dirty="0">
                <a:ea typeface="ＭＳ Ｐゴシック" panose="020B0600070205080204" pitchFamily="34" charset="-128"/>
              </a:rPr>
              <a:t>过度拟合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8768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Learning Is Not Perfect  </a:t>
            </a:r>
            <a:r>
              <a:rPr lang="zh-CN" altLang="en-US" dirty="0"/>
              <a:t>学习不完美</a:t>
            </a:r>
            <a:endParaRPr lang="en-US" altLang="zh-CN" dirty="0"/>
          </a:p>
          <a:p>
            <a:r>
              <a:rPr lang="en-US" altLang="zh-CN" dirty="0"/>
              <a:t>Perceptron </a:t>
            </a:r>
            <a:r>
              <a:rPr lang="zh-CN" altLang="en-US" dirty="0"/>
              <a:t>感知器</a:t>
            </a:r>
            <a:endParaRPr lang="en-US" altLang="zh-CN" dirty="0"/>
          </a:p>
          <a:p>
            <a:pPr lvl="1"/>
            <a:r>
              <a:rPr lang="en-US" altLang="zh-CN" dirty="0"/>
              <a:t>Learn a hyperplane separating training data  </a:t>
            </a:r>
            <a:r>
              <a:rPr lang="zh-CN" altLang="en-US" dirty="0"/>
              <a:t>学习到一个划分训练数据的超平面</a:t>
            </a:r>
            <a:endParaRPr lang="en-US" altLang="zh-CN" dirty="0"/>
          </a:p>
          <a:p>
            <a:pPr lvl="2"/>
            <a:r>
              <a:rPr lang="en-US" altLang="zh-CN" dirty="0"/>
              <a:t>Depending on the random data distribution</a:t>
            </a:r>
            <a:br>
              <a:rPr lang="en-US" altLang="zh-CN" dirty="0"/>
            </a:br>
            <a:r>
              <a:rPr lang="zh-CN" altLang="en-US" dirty="0"/>
              <a:t>取决与训练数据的随机分布</a:t>
            </a:r>
            <a:endParaRPr lang="en-US" altLang="zh-CN" dirty="0"/>
          </a:p>
          <a:p>
            <a:pPr lvl="1"/>
            <a:r>
              <a:rPr lang="en-US" altLang="zh-CN" dirty="0"/>
              <a:t>The hyperplane </a:t>
            </a:r>
            <a:r>
              <a:rPr lang="zh-CN" altLang="en-US" dirty="0"/>
              <a:t>这个超平面</a:t>
            </a:r>
            <a:endParaRPr lang="en-US" altLang="zh-CN" dirty="0"/>
          </a:p>
          <a:p>
            <a:pPr lvl="2"/>
            <a:r>
              <a:rPr lang="en-US" altLang="zh-CN" dirty="0"/>
              <a:t>Overrate or incorrectly rate the importance of some attributes (or even irrelevant attributes)  </a:t>
            </a:r>
            <a:r>
              <a:rPr lang="zh-CN" altLang="en-US" dirty="0"/>
              <a:t>可能高估或错估了某些属性（甚至是不相关的属性）的重要性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396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Overfitting  </a:t>
            </a:r>
            <a:r>
              <a:rPr lang="zh-CN" altLang="en-US" dirty="0">
                <a:ea typeface="ＭＳ Ｐゴシック" panose="020B0600070205080204" pitchFamily="34" charset="-128"/>
              </a:rPr>
              <a:t>过度拟合 </a:t>
            </a:r>
            <a:r>
              <a:rPr lang="en-US" altLang="zh-CN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876800"/>
          </a:xfrm>
        </p:spPr>
        <p:txBody>
          <a:bodyPr>
            <a:normAutofit/>
          </a:bodyPr>
          <a:lstStyle/>
          <a:p>
            <a:r>
              <a:rPr lang="en-US" altLang="zh-CN" dirty="0"/>
              <a:t>More Weak/Irrelevant Attributes in Learning  </a:t>
            </a:r>
            <a:r>
              <a:rPr lang="zh-CN" altLang="en-US" dirty="0"/>
              <a:t>更多的弱</a:t>
            </a:r>
            <a:r>
              <a:rPr lang="en-US" altLang="zh-CN" dirty="0"/>
              <a:t>/</a:t>
            </a:r>
            <a:r>
              <a:rPr lang="zh-CN" altLang="en-US" dirty="0"/>
              <a:t>不相关属性参与学习</a:t>
            </a:r>
            <a:endParaRPr lang="en-US" altLang="zh-CN" dirty="0"/>
          </a:p>
          <a:p>
            <a:pPr lvl="1"/>
            <a:r>
              <a:rPr lang="en-US" altLang="zh-CN" dirty="0"/>
              <a:t>More likely those attributes get confounded by randomness  </a:t>
            </a:r>
            <a:br>
              <a:rPr lang="en-US" altLang="zh-CN" dirty="0"/>
            </a:br>
            <a:r>
              <a:rPr lang="zh-CN" altLang="en-US" dirty="0"/>
              <a:t>这些属性更可能受到随机性干扰</a:t>
            </a:r>
            <a:endParaRPr lang="en-US" altLang="zh-CN" dirty="0"/>
          </a:p>
          <a:p>
            <a:r>
              <a:rPr lang="en-US" altLang="zh-CN" dirty="0"/>
              <a:t>To Alleviate the Problem </a:t>
            </a:r>
            <a:r>
              <a:rPr lang="zh-CN" altLang="en-US" dirty="0"/>
              <a:t>欲缓和该问题</a:t>
            </a:r>
            <a:endParaRPr lang="en-US" altLang="zh-CN" dirty="0"/>
          </a:p>
          <a:p>
            <a:pPr lvl="1"/>
            <a:r>
              <a:rPr lang="en-US" altLang="zh-CN" dirty="0"/>
              <a:t>More data to rescue  </a:t>
            </a:r>
            <a:r>
              <a:rPr lang="zh-CN" altLang="en-US" dirty="0"/>
              <a:t>更多的数据来拯救</a:t>
            </a:r>
            <a:endParaRPr lang="en-US" altLang="zh-CN" dirty="0"/>
          </a:p>
          <a:p>
            <a:pPr lvl="2"/>
            <a:r>
              <a:rPr lang="en-US" altLang="zh-CN" dirty="0"/>
              <a:t>Reduce the odds from randomness</a:t>
            </a:r>
            <a:br>
              <a:rPr lang="en-US" altLang="zh-CN" dirty="0"/>
            </a:br>
            <a:r>
              <a:rPr lang="zh-CN" altLang="en-US" dirty="0"/>
              <a:t>降低随机因素带来的偶然性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57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E5B437-6FD9-4E98-A6F1-AEC76A881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800" y="2516400"/>
            <a:ext cx="5562000" cy="3321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</a:t>
            </a:r>
            <a:r>
              <a:rPr lang="zh-CN" altLang="en-US" dirty="0">
                <a:ea typeface="ＭＳ Ｐゴシック" panose="020B0600070205080204" pitchFamily="34" charset="-128"/>
              </a:rPr>
              <a:t>： </a:t>
            </a:r>
            <a:r>
              <a:rPr lang="en-US" altLang="zh-CN" dirty="0">
                <a:ea typeface="ＭＳ Ｐゴシック" panose="020B0600070205080204" pitchFamily="34" charset="-128"/>
              </a:rPr>
              <a:t>More Training Data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结果</a:t>
            </a:r>
            <a:r>
              <a:rPr lang="zh-CN" altLang="en-US" dirty="0"/>
              <a:t>：</a:t>
            </a:r>
            <a:r>
              <a:rPr lang="zh-CN" altLang="en-US" dirty="0">
                <a:ea typeface="ＭＳ Ｐゴシック" panose="020B0600070205080204" pitchFamily="34" charset="-128"/>
              </a:rPr>
              <a:t>更多训练数据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7494EA9-F110-46A3-A507-2817B6973B5B}"/>
              </a:ext>
            </a:extLst>
          </p:cNvPr>
          <p:cNvGrpSpPr/>
          <p:nvPr/>
        </p:nvGrpSpPr>
        <p:grpSpPr>
          <a:xfrm>
            <a:off x="990600" y="1442323"/>
            <a:ext cx="5867399" cy="2748677"/>
            <a:chOff x="990600" y="1483329"/>
            <a:chExt cx="5867399" cy="2748677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1A70D4C-EBED-4EC8-96A2-CEEF1E287BEA}"/>
                </a:ext>
              </a:extLst>
            </p:cNvPr>
            <p:cNvCxnSpPr>
              <a:cxnSpLocks/>
              <a:stCxn id="8" idx="2"/>
            </p:cNvCxnSpPr>
            <p:nvPr/>
          </p:nvCxnSpPr>
          <p:spPr bwMode="auto">
            <a:xfrm flipH="1">
              <a:off x="2743200" y="2591325"/>
              <a:ext cx="1181100" cy="164068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2587E1-3BA5-4095-B8E2-5AB0302C379A}"/>
                </a:ext>
              </a:extLst>
            </p:cNvPr>
            <p:cNvSpPr txBox="1"/>
            <p:nvPr/>
          </p:nvSpPr>
          <p:spPr>
            <a:xfrm>
              <a:off x="990600" y="1483329"/>
              <a:ext cx="5867399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Taking the 3 most important attributes does not seem to perform much better</a:t>
              </a:r>
            </a:p>
            <a:p>
              <a:pPr algn="ctr"/>
              <a:r>
                <a:rPr lang="zh-CN" altLang="en-US" sz="2200" dirty="0"/>
                <a:t>使用</a:t>
              </a:r>
              <a:r>
                <a:rPr lang="en-US" altLang="zh-CN" sz="2200" dirty="0"/>
                <a:t>3</a:t>
              </a:r>
              <a:r>
                <a:rPr lang="zh-CN" altLang="en-US" sz="2200" dirty="0"/>
                <a:t>个最重要的属性时改善不多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10988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E5B437-6FD9-4E98-A6F1-AEC76A881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800" y="2516400"/>
            <a:ext cx="5562000" cy="3321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</a:t>
            </a:r>
            <a:r>
              <a:rPr lang="zh-CN" altLang="en-US" dirty="0">
                <a:ea typeface="ＭＳ Ｐゴシック" panose="020B0600070205080204" pitchFamily="34" charset="-128"/>
              </a:rPr>
              <a:t>： </a:t>
            </a:r>
            <a:r>
              <a:rPr lang="en-US" altLang="zh-CN" dirty="0">
                <a:ea typeface="ＭＳ Ｐゴシック" panose="020B0600070205080204" pitchFamily="34" charset="-128"/>
              </a:rPr>
              <a:t>More Training Data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结果</a:t>
            </a:r>
            <a:r>
              <a:rPr lang="zh-CN" altLang="en-US" dirty="0"/>
              <a:t>：</a:t>
            </a:r>
            <a:r>
              <a:rPr lang="zh-CN" altLang="en-US" dirty="0">
                <a:ea typeface="ＭＳ Ｐゴシック" panose="020B0600070205080204" pitchFamily="34" charset="-128"/>
              </a:rPr>
              <a:t>更多训练数据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7494EA9-F110-46A3-A507-2817B6973B5B}"/>
              </a:ext>
            </a:extLst>
          </p:cNvPr>
          <p:cNvGrpSpPr/>
          <p:nvPr/>
        </p:nvGrpSpPr>
        <p:grpSpPr>
          <a:xfrm>
            <a:off x="990600" y="1482995"/>
            <a:ext cx="5867399" cy="1071971"/>
            <a:chOff x="381000" y="1533411"/>
            <a:chExt cx="5867399" cy="1071971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1A70D4C-EBED-4EC8-96A2-CEEF1E287BEA}"/>
                </a:ext>
              </a:extLst>
            </p:cNvPr>
            <p:cNvCxnSpPr>
              <a:cxnSpLocks/>
              <a:stCxn id="8" idx="2"/>
              <a:endCxn id="9" idx="1"/>
            </p:cNvCxnSpPr>
            <p:nvPr/>
          </p:nvCxnSpPr>
          <p:spPr bwMode="auto">
            <a:xfrm>
              <a:off x="3314700" y="2302852"/>
              <a:ext cx="770123" cy="30253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2587E1-3BA5-4095-B8E2-5AB0302C379A}"/>
                </a:ext>
              </a:extLst>
            </p:cNvPr>
            <p:cNvSpPr txBox="1"/>
            <p:nvPr/>
          </p:nvSpPr>
          <p:spPr>
            <a:xfrm>
              <a:off x="381000" y="1533411"/>
              <a:ext cx="586739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Smoother performance w/ more attributes</a:t>
              </a:r>
            </a:p>
            <a:p>
              <a:pPr algn="ctr"/>
              <a:r>
                <a:rPr lang="zh-CN" altLang="en-US" sz="2200" dirty="0"/>
                <a:t>用更多的属性时性能变化平缓</a:t>
              </a: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B73E72A6-D536-4A39-BAFC-3FAA73D1F546}"/>
              </a:ext>
            </a:extLst>
          </p:cNvPr>
          <p:cNvSpPr/>
          <p:nvPr/>
        </p:nvSpPr>
        <p:spPr bwMode="auto">
          <a:xfrm>
            <a:off x="4265100" y="2405005"/>
            <a:ext cx="2931600" cy="1023995"/>
          </a:xfrm>
          <a:prstGeom prst="ellipse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9080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Real World Problem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真实的问题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876800"/>
          </a:xfrm>
        </p:spPr>
        <p:txBody>
          <a:bodyPr>
            <a:normAutofit/>
          </a:bodyPr>
          <a:lstStyle/>
          <a:p>
            <a:r>
              <a:rPr lang="en-US" altLang="zh-CN" dirty="0"/>
              <a:t>Much More Complicated in Analysis</a:t>
            </a:r>
            <a:br>
              <a:rPr lang="en-US" altLang="zh-CN" dirty="0"/>
            </a:br>
            <a:r>
              <a:rPr lang="zh-CN" altLang="en-US" dirty="0"/>
              <a:t>分析起来更为复杂</a:t>
            </a:r>
            <a:endParaRPr lang="en-US" altLang="zh-CN" dirty="0"/>
          </a:p>
          <a:p>
            <a:pPr lvl="1"/>
            <a:r>
              <a:rPr lang="en-US" altLang="zh-CN" dirty="0"/>
              <a:t>Do not know the ground truth  </a:t>
            </a:r>
            <a:r>
              <a:rPr lang="zh-CN" altLang="en-US" dirty="0"/>
              <a:t>真相未知</a:t>
            </a:r>
            <a:endParaRPr lang="en-US" altLang="zh-CN" dirty="0"/>
          </a:p>
          <a:p>
            <a:pPr lvl="2"/>
            <a:r>
              <a:rPr lang="en-US" altLang="zh-CN" dirty="0"/>
              <a:t>May not even be a linear classification problem</a:t>
            </a:r>
            <a:br>
              <a:rPr lang="en-US" altLang="zh-CN" dirty="0"/>
            </a:br>
            <a:r>
              <a:rPr lang="zh-CN" altLang="en-US" dirty="0"/>
              <a:t>甚至未必是个线性问题</a:t>
            </a:r>
            <a:endParaRPr lang="en-US" altLang="zh-CN" dirty="0"/>
          </a:p>
          <a:p>
            <a:pPr lvl="2"/>
            <a:r>
              <a:rPr lang="en-US" altLang="zh-CN" dirty="0"/>
              <a:t>Attribute importance unknown </a:t>
            </a:r>
            <a:r>
              <a:rPr lang="zh-CN" altLang="en-US" dirty="0"/>
              <a:t>属性重要性未知</a:t>
            </a:r>
            <a:endParaRPr lang="en-US" altLang="zh-CN" dirty="0"/>
          </a:p>
          <a:p>
            <a:r>
              <a:rPr lang="en-US" altLang="zh-CN" dirty="0"/>
              <a:t>Just to Get an Idea  </a:t>
            </a:r>
            <a:r>
              <a:rPr lang="zh-CN" altLang="en-US" dirty="0"/>
              <a:t>仅仅感受一下</a:t>
            </a:r>
            <a:endParaRPr lang="en-US" altLang="zh-CN" dirty="0"/>
          </a:p>
          <a:p>
            <a:pPr lvl="1"/>
            <a:r>
              <a:rPr lang="en-US" altLang="zh-CN" dirty="0"/>
              <a:t>Word sense disambiguation for ‘interest’</a:t>
            </a:r>
            <a:br>
              <a:rPr lang="en-US" altLang="zh-CN" dirty="0"/>
            </a:br>
            <a:r>
              <a:rPr lang="zh-CN" altLang="en-US" dirty="0"/>
              <a:t>词义消歧：“</a:t>
            </a:r>
            <a:r>
              <a:rPr lang="en-US" altLang="zh-CN" dirty="0"/>
              <a:t>interest</a:t>
            </a:r>
            <a:r>
              <a:rPr lang="zh-CN" altLang="en-US" dirty="0"/>
              <a:t>”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717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6.2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6.2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675481" y="1490245"/>
            <a:ext cx="77930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try to use only the top 1000~8000 words in a mysterious dictionary  </a:t>
            </a:r>
            <a:br>
              <a:rPr lang="en-US" altLang="zh-CN" sz="2200" dirty="0"/>
            </a:br>
            <a:r>
              <a:rPr lang="zh-CN" altLang="en-US" sz="2200" dirty="0"/>
              <a:t>实践时刻：尝试从一本神秘的字典中使用前</a:t>
            </a:r>
            <a:r>
              <a:rPr lang="en-US" altLang="zh-CN" sz="2200" dirty="0"/>
              <a:t>1000</a:t>
            </a:r>
            <a:r>
              <a:rPr lang="zh-CN" altLang="en-US" sz="2200" dirty="0"/>
              <a:t>到</a:t>
            </a:r>
            <a:r>
              <a:rPr lang="en-US" altLang="zh-CN" sz="2200" dirty="0"/>
              <a:t>8000</a:t>
            </a:r>
            <a:r>
              <a:rPr lang="zh-CN" altLang="en-US" sz="2200" dirty="0"/>
              <a:t>个词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013971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does it perform </a:t>
            </a:r>
            <a:r>
              <a:rPr lang="en-US" altLang="zh-CN" sz="2200" dirty="0" err="1"/>
              <a:t>w.r.t.</a:t>
            </a:r>
            <a:r>
              <a:rPr lang="en-US" altLang="zh-CN" sz="2200" dirty="0"/>
              <a:t> changing number of words?</a:t>
            </a:r>
          </a:p>
          <a:p>
            <a:pPr algn="ctr"/>
            <a:r>
              <a:rPr lang="zh-CN" altLang="en-US" sz="2200" dirty="0"/>
              <a:t>随着词的数量变化，感知器的表现如何？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665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A92E93-2EDB-4C36-A209-89167BC34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800" y="2516400"/>
            <a:ext cx="5562000" cy="3321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  </a:t>
            </a:r>
            <a:r>
              <a:rPr lang="zh-CN" altLang="en-US" dirty="0">
                <a:ea typeface="ＭＳ Ｐゴシック" panose="020B0600070205080204" pitchFamily="34" charset="-128"/>
              </a:rPr>
              <a:t>结果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49777D8-D6F8-434A-8874-68577E93EBED}"/>
              </a:ext>
            </a:extLst>
          </p:cNvPr>
          <p:cNvGrpSpPr/>
          <p:nvPr/>
        </p:nvGrpSpPr>
        <p:grpSpPr>
          <a:xfrm>
            <a:off x="990600" y="1416120"/>
            <a:ext cx="6818072" cy="1795855"/>
            <a:chOff x="990600" y="1416120"/>
            <a:chExt cx="6818072" cy="179585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7494EA9-F110-46A3-A507-2817B6973B5B}"/>
                </a:ext>
              </a:extLst>
            </p:cNvPr>
            <p:cNvGrpSpPr/>
            <p:nvPr/>
          </p:nvGrpSpPr>
          <p:grpSpPr>
            <a:xfrm>
              <a:off x="990600" y="1416120"/>
              <a:ext cx="6818072" cy="1520324"/>
              <a:chOff x="343382" y="1239201"/>
              <a:chExt cx="6818072" cy="1520324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E1A70D4C-EBED-4EC8-96A2-CEEF1E287BEA}"/>
                  </a:ext>
                </a:extLst>
              </p:cNvPr>
              <p:cNvCxnSpPr>
                <a:cxnSpLocks/>
                <a:stCxn id="8" idx="2"/>
                <a:endCxn id="10" idx="1"/>
              </p:cNvCxnSpPr>
              <p:nvPr/>
            </p:nvCxnSpPr>
            <p:spPr bwMode="auto">
              <a:xfrm>
                <a:off x="3752418" y="2347197"/>
                <a:ext cx="662635" cy="41232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2587E1-3BA5-4095-B8E2-5AB0302C379A}"/>
                  </a:ext>
                </a:extLst>
              </p:cNvPr>
              <p:cNvSpPr txBox="1"/>
              <p:nvPr/>
            </p:nvSpPr>
            <p:spPr>
              <a:xfrm>
                <a:off x="343382" y="1239201"/>
                <a:ext cx="681807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Even if we do not know the ground truth, using part of the words outperforms using all the words</a:t>
                </a:r>
              </a:p>
              <a:p>
                <a:pPr algn="ctr"/>
                <a:r>
                  <a:rPr lang="zh-CN" altLang="en-US" sz="2200" dirty="0"/>
                  <a:t>即便真相未知，用一部分词比用所有的词好</a:t>
                </a:r>
              </a:p>
            </p:txBody>
          </p:sp>
        </p:grp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9FB03D9-461B-48C6-8214-F797A3725B7D}"/>
                </a:ext>
              </a:extLst>
            </p:cNvPr>
            <p:cNvSpPr/>
            <p:nvPr/>
          </p:nvSpPr>
          <p:spPr bwMode="auto">
            <a:xfrm>
              <a:off x="4984156" y="2889170"/>
              <a:ext cx="533400" cy="322805"/>
            </a:xfrm>
            <a:prstGeom prst="ellipse">
              <a:avLst/>
            </a:prstGeom>
            <a:noFill/>
            <a:ln w="254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9579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The Reality  </a:t>
            </a:r>
            <a:r>
              <a:rPr lang="zh-CN" altLang="en-US" dirty="0">
                <a:ea typeface="ＭＳ Ｐゴシック" panose="020B0600070205080204" pitchFamily="34" charset="-128"/>
              </a:rPr>
              <a:t>现实情况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953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5000"/>
              </a:lnSpc>
            </a:pPr>
            <a:r>
              <a:rPr lang="en-US" altLang="zh-CN" dirty="0"/>
              <a:t>Using Less Attributes </a:t>
            </a:r>
            <a:r>
              <a:rPr lang="zh-CN" altLang="en-US" dirty="0"/>
              <a:t>少用些属性</a:t>
            </a:r>
            <a:endParaRPr lang="en-US" altLang="zh-CN" dirty="0"/>
          </a:p>
          <a:p>
            <a:pPr lvl="1">
              <a:lnSpc>
                <a:spcPct val="95000"/>
              </a:lnSpc>
            </a:pPr>
            <a:r>
              <a:rPr lang="en-US" altLang="zh-CN" dirty="0"/>
              <a:t>Not appropriate </a:t>
            </a:r>
            <a:r>
              <a:rPr lang="zh-CN" altLang="en-US" dirty="0"/>
              <a:t>不合适</a:t>
            </a:r>
            <a:endParaRPr lang="en-US" altLang="zh-CN" dirty="0"/>
          </a:p>
          <a:p>
            <a:pPr lvl="2">
              <a:lnSpc>
                <a:spcPct val="95000"/>
              </a:lnSpc>
            </a:pPr>
            <a:r>
              <a:rPr lang="en-US" altLang="zh-CN" dirty="0"/>
              <a:t>Cannot accurately assess attribute importance</a:t>
            </a:r>
            <a:br>
              <a:rPr lang="en-US" altLang="zh-CN" dirty="0"/>
            </a:br>
            <a:r>
              <a:rPr lang="zh-CN" altLang="en-US" dirty="0"/>
              <a:t>准确评估属性重要性很难</a:t>
            </a:r>
            <a:endParaRPr lang="en-US" altLang="zh-CN" dirty="0"/>
          </a:p>
          <a:p>
            <a:pPr lvl="2">
              <a:lnSpc>
                <a:spcPct val="95000"/>
              </a:lnSpc>
            </a:pPr>
            <a:r>
              <a:rPr lang="en-US" altLang="zh-CN" dirty="0"/>
              <a:t>Give a training size, one do not know the matching attribute number  </a:t>
            </a:r>
            <a:r>
              <a:rPr lang="zh-CN" altLang="en-US" dirty="0"/>
              <a:t>给定训练数据量，我们不知道匹配的属性数量</a:t>
            </a:r>
            <a:endParaRPr lang="en-US" altLang="zh-CN" dirty="0"/>
          </a:p>
          <a:p>
            <a:pPr lvl="3">
              <a:lnSpc>
                <a:spcPct val="95000"/>
              </a:lnSpc>
            </a:pPr>
            <a:r>
              <a:rPr lang="en-US" altLang="zh-CN" dirty="0"/>
              <a:t>More data cannot help w/ too few attributes</a:t>
            </a:r>
            <a:br>
              <a:rPr lang="en-US" altLang="zh-CN" dirty="0"/>
            </a:br>
            <a:r>
              <a:rPr lang="zh-CN" altLang="en-US" dirty="0"/>
              <a:t>属性太少时更多的数据也不顶用</a:t>
            </a:r>
            <a:r>
              <a:rPr lang="en-US" altLang="zh-CN" dirty="0"/>
              <a:t> </a:t>
            </a:r>
          </a:p>
          <a:p>
            <a:pPr>
              <a:lnSpc>
                <a:spcPct val="95000"/>
              </a:lnSpc>
            </a:pPr>
            <a:r>
              <a:rPr lang="en-US" altLang="zh-CN" dirty="0"/>
              <a:t>With All the Attributes </a:t>
            </a:r>
            <a:r>
              <a:rPr lang="zh-CN" altLang="en-US" dirty="0"/>
              <a:t>更多的属性</a:t>
            </a:r>
            <a:r>
              <a:rPr lang="en-US" altLang="zh-CN" dirty="0"/>
              <a:t> </a:t>
            </a:r>
          </a:p>
          <a:p>
            <a:pPr lvl="1">
              <a:lnSpc>
                <a:spcPct val="95000"/>
              </a:lnSpc>
            </a:pPr>
            <a:r>
              <a:rPr lang="en-US" altLang="zh-CN" dirty="0"/>
              <a:t>More data can rescue </a:t>
            </a:r>
            <a:r>
              <a:rPr lang="zh-CN" altLang="en-US" dirty="0"/>
              <a:t>更多的数据能有效</a:t>
            </a:r>
            <a:endParaRPr lang="en-US" altLang="zh-CN" dirty="0"/>
          </a:p>
          <a:p>
            <a:pPr lvl="1">
              <a:lnSpc>
                <a:spcPct val="95000"/>
              </a:lnSpc>
            </a:pPr>
            <a:r>
              <a:rPr lang="en-US" altLang="zh-CN" dirty="0"/>
              <a:t>&amp; we may have other methodologies  </a:t>
            </a:r>
            <a:br>
              <a:rPr lang="en-US" altLang="zh-CN" dirty="0"/>
            </a:br>
            <a:r>
              <a:rPr lang="zh-CN" altLang="en-US" dirty="0"/>
              <a:t>而且我们也许还有别的办法</a:t>
            </a:r>
            <a:r>
              <a:rPr lang="en-US" altLang="zh-CN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346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9.9|33.2|19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3|20.9|2.3|260.7|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108.5|60|70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0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|1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4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8|19.1|16.1|61.6|8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4|29.8|31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7.6|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2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8.7|21.3|34.1|2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89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1|22|13|137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|44.2|33.3|15.6|33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1.9|16.4|56.2|28|20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4.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5.2|10.3|35.7|54.1|19.9|18.1|20.4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24778</TotalTime>
  <Words>2635</Words>
  <Application>Microsoft Office PowerPoint</Application>
  <PresentationFormat>On-screen Show (4:3)</PresentationFormat>
  <Paragraphs>276</Paragraphs>
  <Slides>27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ＭＳ Ｐゴシック</vt:lpstr>
      <vt:lpstr>SimSun</vt:lpstr>
      <vt:lpstr>Arial</vt:lpstr>
      <vt:lpstr>Cambria Math</vt:lpstr>
      <vt:lpstr>Comic Sans MS</vt:lpstr>
      <vt:lpstr>Tahoma</vt:lpstr>
      <vt:lpstr>Times New Roman</vt:lpstr>
      <vt:lpstr>Wingdings</vt:lpstr>
      <vt:lpstr>Blends</vt:lpstr>
      <vt:lpstr>Machine Learning -  Basic Principles &amp; Practice 6. The Curse of Dimensionality</vt:lpstr>
      <vt:lpstr>Should You Still Remember …   倘若你依然记得……</vt:lpstr>
      <vt:lpstr>Perceptron  感知器</vt:lpstr>
      <vt:lpstr>Synthetic Problems Again? 又是人造问题？</vt:lpstr>
      <vt:lpstr>The Problem  这个问题</vt:lpstr>
      <vt:lpstr>Practice 6.1  实践6.1</vt:lpstr>
      <vt:lpstr>Result： Training Size 20 结果：训练数据量为20</vt:lpstr>
      <vt:lpstr>Result： Training Size 20 结果：训练数据量为20</vt:lpstr>
      <vt:lpstr>Result： Training Size 20 结果：训练数据量为20</vt:lpstr>
      <vt:lpstr>Do You Still Remember? 你还记得吗？</vt:lpstr>
      <vt:lpstr>Illustration  说明 (1)</vt:lpstr>
      <vt:lpstr>Illustration  说明 (1)</vt:lpstr>
      <vt:lpstr>Illustration  说明 (1)</vt:lpstr>
      <vt:lpstr>Illustration  说明 (2)</vt:lpstr>
      <vt:lpstr>Illustration  说明 (2)</vt:lpstr>
      <vt:lpstr>Illustration  说明 (2)</vt:lpstr>
      <vt:lpstr>Example  实例 (1)</vt:lpstr>
      <vt:lpstr>Example  实例 (2)</vt:lpstr>
      <vt:lpstr>Overfitting  过度拟合 (1)</vt:lpstr>
      <vt:lpstr>Overfitting  过度拟合 (2)</vt:lpstr>
      <vt:lpstr>Result： More Training Data 结果：更多训练数据</vt:lpstr>
      <vt:lpstr>Result： More Training Data 结果：更多训练数据</vt:lpstr>
      <vt:lpstr>Real World Problem 真实的问题</vt:lpstr>
      <vt:lpstr>Practice 6.2  实践6.2</vt:lpstr>
      <vt:lpstr>Result  结果</vt:lpstr>
      <vt:lpstr>The Reality  现实情况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1381</cp:revision>
  <dcterms:created xsi:type="dcterms:W3CDTF">2003-03-13T01:36:43Z</dcterms:created>
  <dcterms:modified xsi:type="dcterms:W3CDTF">2026-03-14T01:20:58Z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4ae7e0fa-bced-4c2b-9b10-0c1d5554f8f8</vt:lpwstr>
  </property>
  <property fmtid="{D5CDD505-2E9C-101B-9397-08002B2CF9AE}" pid="3" name="CTP_TimeStamp">
    <vt:lpwstr>2020-01-26 05:47:33Z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