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3.xml" ContentType="application/vnd.openxmlformats-officedocument.presentationml.notesSlide+xml"/>
  <Override PartName="/ppt/tags/tag6.xml" ContentType="application/vnd.openxmlformats-officedocument.presentationml.tags+xml"/>
  <Override PartName="/ppt/notesSlides/notesSlide4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notesSlides/notesSlide5.xml" ContentType="application/vnd.openxmlformats-officedocument.presentationml.notesSlide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notesSlides/notesSlide6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1" r:id="rId1"/>
  </p:sldMasterIdLst>
  <p:notesMasterIdLst>
    <p:notesMasterId r:id="rId27"/>
  </p:notesMasterIdLst>
  <p:handoutMasterIdLst>
    <p:handoutMasterId r:id="rId28"/>
  </p:handoutMasterIdLst>
  <p:sldIdLst>
    <p:sldId id="286" r:id="rId2"/>
    <p:sldId id="370" r:id="rId3"/>
    <p:sldId id="372" r:id="rId4"/>
    <p:sldId id="371" r:id="rId5"/>
    <p:sldId id="373" r:id="rId6"/>
    <p:sldId id="374" r:id="rId7"/>
    <p:sldId id="375" r:id="rId8"/>
    <p:sldId id="377" r:id="rId9"/>
    <p:sldId id="378" r:id="rId10"/>
    <p:sldId id="379" r:id="rId11"/>
    <p:sldId id="393" r:id="rId12"/>
    <p:sldId id="380" r:id="rId13"/>
    <p:sldId id="389" r:id="rId14"/>
    <p:sldId id="381" r:id="rId15"/>
    <p:sldId id="382" r:id="rId16"/>
    <p:sldId id="383" r:id="rId17"/>
    <p:sldId id="384" r:id="rId18"/>
    <p:sldId id="386" r:id="rId19"/>
    <p:sldId id="387" r:id="rId20"/>
    <p:sldId id="388" r:id="rId21"/>
    <p:sldId id="391" r:id="rId22"/>
    <p:sldId id="394" r:id="rId23"/>
    <p:sldId id="390" r:id="rId24"/>
    <p:sldId id="392" r:id="rId25"/>
    <p:sldId id="353" r:id="rId26"/>
  </p:sldIdLst>
  <p:sldSz cx="9144000" cy="6858000" type="screen4x3"/>
  <p:notesSz cx="7010400" cy="92964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mic Sans MS" panose="030F0702030302020204" pitchFamily="66" charset="0"/>
        <a:ea typeface="SimSun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99"/>
    <a:srgbClr val="B2B2B2"/>
    <a:srgbClr val="993366"/>
    <a:srgbClr val="339933"/>
    <a:srgbClr val="33CC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846" autoAdjust="0"/>
    <p:restoredTop sz="77577" autoAdjust="0"/>
  </p:normalViewPr>
  <p:slideViewPr>
    <p:cSldViewPr>
      <p:cViewPr varScale="1">
        <p:scale>
          <a:sx n="57" d="100"/>
          <a:sy n="57" d="100"/>
        </p:scale>
        <p:origin x="1037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2275" y="62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6896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839200"/>
            <a:ext cx="3048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91FF96B3-5193-4D4F-ADAC-C41F873FC32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295822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675" y="4416425"/>
            <a:ext cx="5607050" cy="4183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defTabSz="915988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29675"/>
            <a:ext cx="3036888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577" tIns="45789" rIns="91577" bIns="45789" numCol="1" anchor="b" anchorCtr="0" compatLnSpc="1">
            <a:prstTxWarp prst="textNoShape">
              <a:avLst/>
            </a:prstTxWarp>
          </a:bodyPr>
          <a:lstStyle>
            <a:lvl1pPr algn="r" defTabSz="915988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5C806C1B-B03E-46DA-85CD-D90BC0B3754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6362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SimSun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7D2CF438-6F28-4EDA-8826-7EA47CD870C5}" type="slidenum">
              <a:rPr lang="en-US" altLang="zh-CN" smtClean="0">
                <a:latin typeface="Arial" panose="020B0604020202020204" pitchFamily="34" charset="0"/>
              </a:rPr>
              <a:pPr/>
              <a:t>1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3111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388142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470164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17193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42644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806C1B-B03E-46DA-85CD-D90BC0B37545}" type="slidenum">
              <a:rPr lang="en-US" altLang="zh-CN" smtClean="0"/>
              <a:pPr>
                <a:defRPr/>
              </a:pPr>
              <a:t>17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833417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 defTabSz="915988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defTabSz="9159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fld id="{57F7688E-3E4A-461B-8D10-9B016CF52F5C}" type="slidenum">
              <a:rPr lang="en-US" altLang="zh-CN" smtClean="0">
                <a:latin typeface="Arial" panose="020B0604020202020204" pitchFamily="34" charset="0"/>
              </a:rPr>
              <a:pPr/>
              <a:t>25</a:t>
            </a:fld>
            <a:endParaRPr lang="en-US" altLang="zh-CN">
              <a:latin typeface="Arial" panose="020B0604020202020204" pitchFamily="34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solidFill>
            <a:srgbClr val="FFFFFF"/>
          </a:solidFill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3450" y="4416425"/>
            <a:ext cx="5143500" cy="4183063"/>
          </a:xfrm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zh-CN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01432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SimSun" panose="02010600030101010101" pitchFamily="2" charset="-122"/>
                  </a:defRPr>
                </a:lvl9pPr>
              </a:lstStyle>
              <a:p>
                <a:pPr>
                  <a:defRPr/>
                </a:pPr>
                <a:endParaRPr lang="en-US" altLang="zh-CN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SimSun" panose="02010600030101010101" pitchFamily="2" charset="-122"/>
                </a:defRPr>
              </a:lvl9pPr>
            </a:lstStyle>
            <a:p>
              <a:pPr>
                <a:defRPr/>
              </a:pPr>
              <a:endParaRPr lang="en-US" altLang="zh-CN"/>
            </a:p>
          </p:txBody>
        </p:sp>
      </p:grpSp>
      <p:sp>
        <p:nvSpPr>
          <p:cNvPr id="2458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676400"/>
            <a:ext cx="7772400" cy="146208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458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3429000" y="6248400"/>
            <a:ext cx="2895600" cy="4572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EF41B76D-9336-435E-89FD-3D5A1B77420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99835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 dirty="0"/>
              <a:t>Machine Learning – Basic Principles &amp; Practice: 1. Prologue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1. </a:t>
            </a:r>
            <a:r>
              <a:rPr lang="zh-CN" altLang="en-US" dirty="0"/>
              <a:t>序言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4838016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985361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600200"/>
            <a:ext cx="3810000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50943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108442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5376639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416228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294439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179284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4694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7050" y="457200"/>
            <a:ext cx="2038350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457200"/>
            <a:ext cx="5962650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Machine Learning Basics: 1. General Introduction</a:t>
            </a:r>
          </a:p>
        </p:txBody>
      </p:sp>
    </p:spTree>
    <p:extLst>
      <p:ext uri="{BB962C8B-B14F-4D97-AF65-F5344CB8AC3E}">
        <p14:creationId xmlns:p14="http://schemas.microsoft.com/office/powerpoint/2010/main" val="3703662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7175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7175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11398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11398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10668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6096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400175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omic Sans MS" panose="030F0702030302020204" pitchFamily="66" charset="0"/>
                <a:ea typeface="SimSun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kumimoji="1" lang="en-US" altLang="zh-CN" sz="2400">
              <a:latin typeface="Tahoma" panose="020B0604030504040204" pitchFamily="34" charset="0"/>
            </a:endParaRP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122363" y="457200"/>
            <a:ext cx="7793037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title style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600200"/>
            <a:ext cx="7772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356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762000" y="6243638"/>
            <a:ext cx="7772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Tahoma" pitchFamily="34" charset="0"/>
              </a:defRPr>
            </a:lvl1pPr>
          </a:lstStyle>
          <a:p>
            <a:pPr>
              <a:defRPr/>
            </a:pPr>
            <a:r>
              <a:rPr lang="en-US" dirty="0"/>
              <a:t>Machine Learning </a:t>
            </a:r>
            <a:r>
              <a:rPr lang="en-US" altLang="zh-CN" dirty="0"/>
              <a:t>–</a:t>
            </a:r>
            <a:r>
              <a:rPr lang="en-US" dirty="0"/>
              <a:t> Basic Principles &amp; Practice: 1. Prologue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1. </a:t>
            </a:r>
            <a:r>
              <a:rPr lang="zh-CN" altLang="en-US" dirty="0"/>
              <a:t>序言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6.png"/><Relationship Id="rId5" Type="http://schemas.openxmlformats.org/officeDocument/2006/relationships/image" Target="../media/image5.jpg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9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4" Type="http://schemas.openxmlformats.org/officeDocument/2006/relationships/image" Target="../media/image16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4" Type="http://schemas.openxmlformats.org/officeDocument/2006/relationships/image" Target="../media/image17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1676400"/>
            <a:ext cx="7772400" cy="1462088"/>
          </a:xfrm>
        </p:spPr>
        <p:txBody>
          <a:bodyPr/>
          <a:lstStyle/>
          <a:p>
            <a:pPr algn="ctr" eaLnBrk="1" hangingPunct="1"/>
            <a:r>
              <a:rPr lang="en-US" altLang="zh-CN" sz="3600" b="1" dirty="0">
                <a:ea typeface="SimSun" panose="02010600030101010101" pitchFamily="2" charset="-122"/>
              </a:rPr>
              <a:t>Machine Learning - </a:t>
            </a:r>
            <a:br>
              <a:rPr lang="en-US" altLang="zh-CN" sz="3600" b="1" dirty="0">
                <a:ea typeface="SimSun" panose="02010600030101010101" pitchFamily="2" charset="-122"/>
              </a:rPr>
            </a:br>
            <a:r>
              <a:rPr lang="en-US" altLang="zh-CN" sz="3600" b="1" dirty="0">
                <a:ea typeface="SimSun" panose="02010600030101010101" pitchFamily="2" charset="-122"/>
              </a:rPr>
              <a:t>Basic Principles &amp; Practice</a:t>
            </a:r>
            <a:br>
              <a:rPr lang="en-US" altLang="zh-CN" sz="3600" b="1" dirty="0">
                <a:ea typeface="SimSun" panose="02010600030101010101" pitchFamily="2" charset="-122"/>
              </a:rPr>
            </a:br>
            <a:r>
              <a:rPr lang="en-US" altLang="zh-CN" sz="3600" b="1" dirty="0">
                <a:ea typeface="SimSun" panose="02010600030101010101" pitchFamily="2" charset="-122"/>
              </a:rPr>
              <a:t>1. Prologue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4876800"/>
            <a:ext cx="6553200" cy="762000"/>
          </a:xfrm>
        </p:spPr>
        <p:txBody>
          <a:bodyPr/>
          <a:lstStyle/>
          <a:p>
            <a:pPr eaLnBrk="1" hangingPunct="1"/>
            <a:r>
              <a:rPr lang="en-US" altLang="zh-CN" sz="2800" dirty="0">
                <a:ea typeface="SimSun" panose="02010600030101010101" pitchFamily="2" charset="-122"/>
              </a:rPr>
              <a:t>Cong Li </a:t>
            </a:r>
            <a:r>
              <a:rPr lang="zh-CN" altLang="en-US" sz="2800" dirty="0">
                <a:ea typeface="SimSun" panose="02010600030101010101" pitchFamily="2" charset="-122"/>
              </a:rPr>
              <a:t>李聪</a:t>
            </a:r>
            <a:endParaRPr lang="en-US" altLang="zh-CN" sz="2400" dirty="0">
              <a:ea typeface="SimSun" panose="02010600030101010101" pitchFamily="2" charset="-122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050F980-1D76-4E39-94EB-A1B939407D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192739"/>
            <a:ext cx="7772400" cy="146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Comic Sans MS" pitchFamily="66" charset="0"/>
              </a:defRPr>
            </a:lvl9pPr>
          </a:lstStyle>
          <a:p>
            <a:pPr algn="ctr" eaLnBrk="1" hangingPunct="1"/>
            <a:r>
              <a:rPr lang="zh-CN" altLang="en-US" sz="3600" b="1" kern="0" dirty="0">
                <a:ea typeface="SimSun" panose="02010600030101010101" pitchFamily="2" charset="-122"/>
              </a:rPr>
              <a:t>机器学习 </a:t>
            </a:r>
            <a:r>
              <a:rPr lang="en-US" altLang="zh-CN" sz="3600" b="1" kern="0" dirty="0">
                <a:ea typeface="SimSun" panose="02010600030101010101" pitchFamily="2" charset="-122"/>
              </a:rPr>
              <a:t>– </a:t>
            </a:r>
            <a:r>
              <a:rPr lang="zh-CN" altLang="en-US" sz="3600" b="1" kern="0" dirty="0">
                <a:ea typeface="SimSun" panose="02010600030101010101" pitchFamily="2" charset="-122"/>
              </a:rPr>
              <a:t>基础原理与实践</a:t>
            </a:r>
            <a:endParaRPr lang="en-US" altLang="zh-CN" sz="3600" b="1" kern="0" dirty="0">
              <a:ea typeface="SimSun" panose="02010600030101010101" pitchFamily="2" charset="-122"/>
            </a:endParaRPr>
          </a:p>
          <a:p>
            <a:pPr algn="ctr" eaLnBrk="1" hangingPunct="1"/>
            <a:r>
              <a:rPr lang="en-US" altLang="zh-CN" sz="3600" b="1" kern="0" dirty="0">
                <a:ea typeface="SimSun" panose="02010600030101010101" pitchFamily="2" charset="-122"/>
              </a:rPr>
              <a:t>1. </a:t>
            </a:r>
            <a:r>
              <a:rPr lang="zh-CN" altLang="en-US" sz="3600" b="1" kern="0" dirty="0">
                <a:ea typeface="SimSun" panose="02010600030101010101" pitchFamily="2" charset="-122"/>
              </a:rPr>
              <a:t>序言</a:t>
            </a:r>
            <a:endParaRPr lang="en-US" altLang="zh-CN" sz="3600" b="1" kern="0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6C584-6457-41A4-BA5F-69E8F2C23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Artificial Intelligence </a:t>
            </a:r>
            <a:r>
              <a:rPr lang="zh-CN" altLang="en-US" b="1" dirty="0"/>
              <a:t>人工智能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CB0B58-2DCD-4AD6-9EF7-01D9FC4D024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1. Prologue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1. </a:t>
            </a:r>
            <a:r>
              <a:rPr lang="zh-CN" altLang="en-US" dirty="0"/>
              <a:t>序言</a:t>
            </a:r>
            <a:endParaRPr lang="en-US" altLang="zh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2E82BF-51C0-454A-9345-49341D89CE22}"/>
              </a:ext>
            </a:extLst>
          </p:cNvPr>
          <p:cNvSpPr txBox="1"/>
          <p:nvPr/>
        </p:nvSpPr>
        <p:spPr>
          <a:xfrm>
            <a:off x="533400" y="1905000"/>
            <a:ext cx="8077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/>
              <a:t>Nowadays people talk about artificial intelligence from time to time,</a:t>
            </a:r>
          </a:p>
          <a:p>
            <a:pPr algn="ctr"/>
            <a:r>
              <a:rPr lang="zh-CN" altLang="en-US" sz="3200" dirty="0"/>
              <a:t>现在，人们经常谈及人工智能，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01D823-59E3-4307-88B6-15D9752672FA}"/>
              </a:ext>
            </a:extLst>
          </p:cNvPr>
          <p:cNvSpPr txBox="1"/>
          <p:nvPr/>
        </p:nvSpPr>
        <p:spPr>
          <a:xfrm>
            <a:off x="457200" y="3688141"/>
            <a:ext cx="80772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/>
              <a:t>but what is artificial intelligence (AI)?</a:t>
            </a:r>
          </a:p>
          <a:p>
            <a:pPr algn="ctr"/>
            <a:r>
              <a:rPr lang="zh-CN" altLang="en-US" sz="3200" dirty="0"/>
              <a:t>但人工智能是什么？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00895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6C584-6457-41A4-BA5F-69E8F2C23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Let’s Google </a:t>
            </a:r>
            <a:r>
              <a:rPr lang="zh-CN" altLang="en-US" dirty="0"/>
              <a:t>我们来</a:t>
            </a:r>
            <a:r>
              <a:rPr lang="en-US" altLang="zh-CN" dirty="0"/>
              <a:t>Google (1)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CB0B58-2DCD-4AD6-9EF7-01D9FC4D024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1. Prologue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1. </a:t>
            </a:r>
            <a:r>
              <a:rPr lang="zh-CN" altLang="en-US" dirty="0"/>
              <a:t>序言</a:t>
            </a:r>
            <a:endParaRPr lang="en-US" altLang="zh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7544958-4C41-4A6C-B901-EBED664C05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3202" y="1720224"/>
            <a:ext cx="7537595" cy="429957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80675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6C584-6457-41A4-BA5F-69E8F2C23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Let’s Google </a:t>
            </a:r>
            <a:r>
              <a:rPr lang="zh-CN" altLang="en-US" dirty="0"/>
              <a:t>我们来</a:t>
            </a:r>
            <a:r>
              <a:rPr lang="en-US" altLang="zh-CN" dirty="0"/>
              <a:t>Google (2)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CB0B58-2DCD-4AD6-9EF7-01D9FC4D024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1. Prologue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1. </a:t>
            </a:r>
            <a:r>
              <a:rPr lang="zh-CN" altLang="en-US" dirty="0"/>
              <a:t>序言</a:t>
            </a:r>
            <a:endParaRPr lang="en-US" altLang="zh-C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9A75D7-732B-44B2-895C-38B71476C3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870" y="1729408"/>
            <a:ext cx="7532260" cy="4278239"/>
          </a:xfrm>
          <a:prstGeom prst="rect">
            <a:avLst/>
          </a:prstGeom>
        </p:spPr>
      </p:pic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8E5582C2-10E8-4D15-81A1-B0A5EF1BE4DD}"/>
              </a:ext>
            </a:extLst>
          </p:cNvPr>
          <p:cNvSpPr/>
          <p:nvPr/>
        </p:nvSpPr>
        <p:spPr bwMode="auto">
          <a:xfrm>
            <a:off x="805870" y="1905000"/>
            <a:ext cx="4925295" cy="2667000"/>
          </a:xfrm>
          <a:prstGeom prst="wedgeRoundRectCallout">
            <a:avLst>
              <a:gd name="adj1" fmla="val 67487"/>
              <a:gd name="adj2" fmla="val 50906"/>
              <a:gd name="adj3" fmla="val 16667"/>
            </a:avLst>
          </a:prstGeom>
          <a:solidFill>
            <a:schemeClr val="accent1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2200" dirty="0"/>
              <a:t>Artificial intelligence, sometimes called intelligent machines or machine intelligence, is </a:t>
            </a:r>
            <a:r>
              <a:rPr lang="en-US" altLang="zh-CN" sz="2200" b="1" dirty="0">
                <a:solidFill>
                  <a:srgbClr val="C00000"/>
                </a:solidFill>
              </a:rPr>
              <a:t>intelligence</a:t>
            </a:r>
            <a:r>
              <a:rPr lang="en-US" altLang="zh-CN" sz="2200" dirty="0"/>
              <a:t> demonstrated by human-made machines.</a:t>
            </a:r>
          </a:p>
          <a:p>
            <a:r>
              <a:rPr lang="zh-CN" altLang="en-US" sz="2200" dirty="0"/>
              <a:t>人工智能亦称智械、机器智能，指由人制造出来的机器所表现出来的</a:t>
            </a:r>
            <a:r>
              <a:rPr lang="zh-CN" altLang="en-US" sz="2200" b="1" dirty="0">
                <a:solidFill>
                  <a:srgbClr val="C00000"/>
                </a:solidFill>
              </a:rPr>
              <a:t>智能</a:t>
            </a:r>
            <a:r>
              <a:rPr lang="zh-CN" altLang="en-US" sz="2200" dirty="0"/>
              <a:t>。</a:t>
            </a:r>
            <a:endParaRPr kumimoji="0" lang="zh-CN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4EFC08C4-619F-4C0F-8415-E983F29132AD}"/>
              </a:ext>
            </a:extLst>
          </p:cNvPr>
          <p:cNvSpPr/>
          <p:nvPr/>
        </p:nvSpPr>
        <p:spPr bwMode="auto">
          <a:xfrm>
            <a:off x="1905000" y="5313947"/>
            <a:ext cx="3826165" cy="811696"/>
          </a:xfrm>
          <a:prstGeom prst="wedgeRoundRectCallout">
            <a:avLst>
              <a:gd name="adj1" fmla="val 12048"/>
              <a:gd name="adj2" fmla="val -148295"/>
              <a:gd name="adj3" fmla="val 16667"/>
            </a:avLst>
          </a:prstGeom>
          <a:solidFill>
            <a:srgbClr val="FFFF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2200" dirty="0"/>
              <a:t>Then what is intelligence?</a:t>
            </a:r>
          </a:p>
          <a:p>
            <a:pPr algn="ctr"/>
            <a:r>
              <a:rPr lang="zh-CN" altLang="en-US" sz="2200" dirty="0"/>
              <a:t>那么，什么是智能？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2301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F5BDCCD-12CD-4B34-993F-FE3765D62E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4517" y="1736227"/>
            <a:ext cx="7526926" cy="428357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E86C584-6457-41A4-BA5F-69E8F2C23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Let’s Google </a:t>
            </a:r>
            <a:r>
              <a:rPr lang="zh-CN" altLang="en-US" dirty="0"/>
              <a:t>我们来</a:t>
            </a:r>
            <a:r>
              <a:rPr lang="en-US" altLang="zh-CN" dirty="0"/>
              <a:t>Google (3)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CB0B58-2DCD-4AD6-9EF7-01D9FC4D024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1. Prologue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1. </a:t>
            </a:r>
            <a:r>
              <a:rPr lang="zh-CN" altLang="en-US" dirty="0"/>
              <a:t>序言</a:t>
            </a:r>
            <a:endParaRPr lang="en-US" altLang="zh-CN" dirty="0"/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8E5582C2-10E8-4D15-81A1-B0A5EF1BE4DD}"/>
              </a:ext>
            </a:extLst>
          </p:cNvPr>
          <p:cNvSpPr/>
          <p:nvPr/>
        </p:nvSpPr>
        <p:spPr bwMode="auto">
          <a:xfrm>
            <a:off x="805870" y="1905000"/>
            <a:ext cx="4925295" cy="3733800"/>
          </a:xfrm>
          <a:prstGeom prst="wedgeRoundRectCallout">
            <a:avLst>
              <a:gd name="adj1" fmla="val 64796"/>
              <a:gd name="adj2" fmla="val 12423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altLang="zh-CN" sz="2200" dirty="0"/>
              <a:t>Intelligence refers to human's intellectual power, including, logic, understanding, planning, problem solving, abstract thinking, expression of ideas, language and learning capability.</a:t>
            </a:r>
          </a:p>
          <a:p>
            <a:r>
              <a:rPr lang="zh-CN" altLang="en-US" sz="2200" dirty="0"/>
              <a:t>智能是指生物一般性的精神能力。这个能力包括以下几点：推理、理解、计划、解决问题、抽象思维、表达意念以及语言和学习的能力。。</a:t>
            </a:r>
            <a:endParaRPr kumimoji="0" lang="zh-CN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65501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6C584-6457-41A4-BA5F-69E8F2C23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AI Examples </a:t>
            </a:r>
            <a:r>
              <a:rPr lang="zh-CN" altLang="en-US" dirty="0"/>
              <a:t>人工智能实例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CB0B58-2DCD-4AD6-9EF7-01D9FC4D024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1. Prologue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1. </a:t>
            </a:r>
            <a:r>
              <a:rPr lang="zh-CN" altLang="en-US" dirty="0"/>
              <a:t>序言</a:t>
            </a:r>
            <a:endParaRPr lang="en-US" altLang="zh-C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7DB806-6893-4D24-9D44-1F503D718C9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4304" y="1828800"/>
            <a:ext cx="2857500" cy="14930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4BF33EF-21FB-45E5-B045-C5F2C455CE2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3962400"/>
            <a:ext cx="2926080" cy="1950720"/>
          </a:xfrm>
          <a:prstGeom prst="rect">
            <a:avLst/>
          </a:prstGeom>
        </p:spPr>
      </p:pic>
      <p:pic>
        <p:nvPicPr>
          <p:cNvPr id="8" name="Picture 7" descr="A group of people in a boxing ring&#10;&#10;AI-generated content may be incorrect.">
            <a:extLst>
              <a:ext uri="{FF2B5EF4-FFF2-40B4-BE49-F238E27FC236}">
                <a16:creationId xmlns:a16="http://schemas.microsoft.com/office/drawing/2014/main" id="{ACD393CB-077D-B6D1-2690-1D658457419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7751" y="3915135"/>
            <a:ext cx="2857500" cy="20682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4A9BF2E-183D-6F6A-4E02-923924D65FC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583" y="1806388"/>
            <a:ext cx="2926715" cy="82923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AAA484D-D95A-4AAD-B693-E5B2CF2DA19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583" y="2635623"/>
            <a:ext cx="2857500" cy="77931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276763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6C584-6457-41A4-BA5F-69E8F2C23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Approaches to AI </a:t>
            </a:r>
            <a:r>
              <a:rPr lang="zh-CN" altLang="en-US" dirty="0"/>
              <a:t>探索</a:t>
            </a:r>
            <a:r>
              <a:rPr lang="en-US" altLang="zh-CN" dirty="0"/>
              <a:t>AI</a:t>
            </a:r>
            <a:r>
              <a:rPr lang="zh-CN" altLang="en-US" dirty="0"/>
              <a:t>的方法</a:t>
            </a:r>
            <a:endParaRPr lang="zh-CN" altLang="en-US" b="1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CB0B58-2DCD-4AD6-9EF7-01D9FC4D024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1. Prologue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1. </a:t>
            </a:r>
            <a:r>
              <a:rPr lang="zh-CN" altLang="en-US" dirty="0"/>
              <a:t>序言</a:t>
            </a:r>
            <a:endParaRPr lang="en-US" altLang="zh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E52320-ABB4-400D-A8B9-D858D07AA2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0781" y="1524000"/>
            <a:ext cx="4262438" cy="28370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E80DEA9-A2C2-4F52-A0CB-C09CF7D30B1C}"/>
              </a:ext>
            </a:extLst>
          </p:cNvPr>
          <p:cNvSpPr txBox="1"/>
          <p:nvPr/>
        </p:nvSpPr>
        <p:spPr>
          <a:xfrm>
            <a:off x="247649" y="4657425"/>
            <a:ext cx="86487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How to approach AI? </a:t>
            </a:r>
            <a:r>
              <a:rPr lang="zh-CN" altLang="en-US" sz="2200" dirty="0"/>
              <a:t>什么方法能用来尝试实现</a:t>
            </a:r>
            <a:r>
              <a:rPr lang="en-US" altLang="zh-CN" sz="2200" dirty="0"/>
              <a:t>AI</a:t>
            </a:r>
            <a:r>
              <a:rPr lang="zh-CN" altLang="en-US" sz="2200" dirty="0"/>
              <a:t>？</a:t>
            </a:r>
            <a:endParaRPr lang="en-US" altLang="zh-CN" sz="2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C5555E-1303-499F-A107-83FE8C5CD014}"/>
              </a:ext>
            </a:extLst>
          </p:cNvPr>
          <p:cNvSpPr txBox="1"/>
          <p:nvPr/>
        </p:nvSpPr>
        <p:spPr>
          <a:xfrm>
            <a:off x="266700" y="5174159"/>
            <a:ext cx="861059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What is the difficulty and limitation of a certain approach? </a:t>
            </a:r>
          </a:p>
          <a:p>
            <a:pPr algn="ctr"/>
            <a:r>
              <a:rPr lang="zh-CN" altLang="en-US" sz="2200" dirty="0"/>
              <a:t>某一种尝试方法的难点和局限性是什么？</a:t>
            </a:r>
            <a:endParaRPr lang="en-US" altLang="zh-CN" sz="22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65517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967FE-5394-43B7-8CF2-3762A5EF6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ea typeface="ＭＳ Ｐゴシック" panose="020B0600070205080204" pitchFamily="34" charset="-128"/>
              </a:rPr>
              <a:t>Extrospection </a:t>
            </a:r>
            <a:r>
              <a:rPr lang="zh-CN" altLang="en-US" dirty="0">
                <a:ea typeface="ＭＳ Ｐゴシック" panose="020B0600070205080204" pitchFamily="34" charset="-128"/>
              </a:rPr>
              <a:t>外观</a:t>
            </a:r>
            <a:r>
              <a:rPr lang="en-US" altLang="zh-CN" dirty="0">
                <a:ea typeface="ＭＳ Ｐゴシック" panose="020B0600070205080204" pitchFamily="34" charset="-128"/>
              </a:rPr>
              <a:t> (1)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382283-7616-446B-A824-DE7BADB82A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1. Prologue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1. </a:t>
            </a:r>
            <a:r>
              <a:rPr lang="zh-CN" altLang="en-US" dirty="0"/>
              <a:t>序言</a:t>
            </a:r>
            <a:endParaRPr lang="en-US" altLang="zh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1391B6-F4A0-45B2-BD87-EF0E07E983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951382"/>
            <a:ext cx="2216426" cy="2955235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5908BBC4-F2A7-4A6C-A874-2D50302F91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6904" y="1752600"/>
            <a:ext cx="5334000" cy="4491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en-US" altLang="ja-JP" sz="2800" b="0" kern="0" dirty="0">
                <a:ea typeface="ＭＳ Ｐゴシック" panose="020B0600070205080204" pitchFamily="34" charset="-128"/>
              </a:rPr>
              <a:t>Understand brain mechanism </a:t>
            </a:r>
            <a:r>
              <a:rPr lang="zh-CN" altLang="en-US" sz="2800" b="0" kern="0" dirty="0">
                <a:ea typeface="ＭＳ Ｐゴシック" panose="020B0600070205080204" pitchFamily="34" charset="-128"/>
              </a:rPr>
              <a:t>理解大脑工作的机制</a:t>
            </a:r>
            <a:endParaRPr lang="en-US" altLang="ja-JP" sz="2800" b="0" kern="0" dirty="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ja-JP" sz="2800" b="0" kern="0" dirty="0">
                <a:ea typeface="ＭＳ Ｐゴシック" panose="020B0600070205080204" pitchFamily="34" charset="-128"/>
              </a:rPr>
              <a:t>Build AI system upon the understanding                     </a:t>
            </a:r>
            <a:r>
              <a:rPr lang="zh-CN" altLang="en-US" sz="2800" b="0" kern="0" dirty="0">
                <a:ea typeface="ＭＳ Ｐゴシック" panose="020B0600070205080204" pitchFamily="34" charset="-128"/>
              </a:rPr>
              <a:t>基于这种理解构建</a:t>
            </a:r>
            <a:r>
              <a:rPr lang="en-US" altLang="zh-CN" sz="2800" b="0" kern="0" dirty="0">
                <a:ea typeface="ＭＳ Ｐゴシック" panose="020B0600070205080204" pitchFamily="34" charset="-128"/>
              </a:rPr>
              <a:t>AI</a:t>
            </a:r>
            <a:r>
              <a:rPr lang="zh-CN" altLang="en-US" sz="2800" b="0" kern="0" dirty="0">
                <a:ea typeface="ＭＳ Ｐゴシック" panose="020B0600070205080204" pitchFamily="34" charset="-128"/>
              </a:rPr>
              <a:t>系统</a:t>
            </a:r>
            <a:endParaRPr lang="en-US" altLang="ja-JP" sz="2800" b="0" kern="0" dirty="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ja-JP" sz="2800" b="0" kern="0" dirty="0">
                <a:ea typeface="ＭＳ Ｐゴシック" panose="020B0600070205080204" pitchFamily="34" charset="-128"/>
              </a:rPr>
              <a:t>Computational neuro-science can be a tool</a:t>
            </a:r>
            <a:r>
              <a:rPr lang="zh-CN" altLang="en-US" sz="2800" b="0" kern="0" dirty="0">
                <a:ea typeface="ＭＳ Ｐゴシック" panose="020B0600070205080204" pitchFamily="34" charset="-128"/>
              </a:rPr>
              <a:t>                       计算神经学可作为一种工具</a:t>
            </a:r>
            <a:endParaRPr lang="en-US" altLang="ja-JP" sz="2800" b="0" kern="0" dirty="0">
              <a:ea typeface="ＭＳ Ｐゴシック" panose="020B0600070205080204" pitchFamily="34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076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967FE-5394-43B7-8CF2-3762A5EF6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ea typeface="ＭＳ Ｐゴシック" panose="020B0600070205080204" pitchFamily="34" charset="-128"/>
              </a:rPr>
              <a:t>Extrospection </a:t>
            </a:r>
            <a:r>
              <a:rPr lang="zh-CN" altLang="en-US" dirty="0">
                <a:ea typeface="ＭＳ Ｐゴシック" panose="020B0600070205080204" pitchFamily="34" charset="-128"/>
              </a:rPr>
              <a:t>外观</a:t>
            </a:r>
            <a:r>
              <a:rPr lang="en-US" altLang="zh-CN" dirty="0">
                <a:ea typeface="ＭＳ Ｐゴシック" panose="020B0600070205080204" pitchFamily="34" charset="-128"/>
              </a:rPr>
              <a:t> (2)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382283-7616-446B-A824-DE7BADB82A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1. Prologue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1. </a:t>
            </a:r>
            <a:r>
              <a:rPr lang="zh-CN" altLang="en-US" dirty="0"/>
              <a:t>序言</a:t>
            </a:r>
            <a:endParaRPr lang="en-US" altLang="zh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26D16A-EB33-4C59-823A-4E32F6758561}"/>
              </a:ext>
            </a:extLst>
          </p:cNvPr>
          <p:cNvSpPr txBox="1"/>
          <p:nvPr/>
        </p:nvSpPr>
        <p:spPr>
          <a:xfrm>
            <a:off x="247650" y="1762780"/>
            <a:ext cx="8648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/>
              <a:t>Difficulty </a:t>
            </a:r>
            <a:r>
              <a:rPr lang="zh-CN" altLang="en-US" sz="2800" b="1" dirty="0"/>
              <a:t>难点</a:t>
            </a:r>
            <a:endParaRPr lang="en-US" altLang="zh-CN" sz="28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BD9D057-848D-4BEB-8D91-FFC08DF656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2477294"/>
            <a:ext cx="2376556" cy="1895750"/>
          </a:xfrm>
          <a:prstGeom prst="rect">
            <a:avLst/>
          </a:prstGeom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F0580503-7128-46F1-BFB1-8BD7006D94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6904" y="2747963"/>
            <a:ext cx="5334000" cy="159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en-US" altLang="zh-CN" sz="2800" b="0" kern="0" dirty="0">
                <a:ea typeface="ＭＳ Ｐゴシック" panose="020B0600070205080204" pitchFamily="34" charset="-128"/>
              </a:rPr>
              <a:t>Difficult</a:t>
            </a:r>
            <a:r>
              <a:rPr lang="zh-CN" altLang="en-US" sz="2800" b="0" kern="0" dirty="0">
                <a:ea typeface="ＭＳ Ｐゴシック" panose="020B0600070205080204" pitchFamily="34" charset="-128"/>
              </a:rPr>
              <a:t> </a:t>
            </a:r>
            <a:r>
              <a:rPr lang="en-US" altLang="zh-CN" sz="2800" b="0" kern="0" dirty="0">
                <a:ea typeface="ＭＳ Ｐゴシック" panose="020B0600070205080204" pitchFamily="34" charset="-128"/>
              </a:rPr>
              <a:t>to understand the full picture                         </a:t>
            </a:r>
            <a:r>
              <a:rPr lang="zh-CN" altLang="en-US" sz="2800" b="0" kern="0" dirty="0">
                <a:ea typeface="ＭＳ Ｐゴシック" panose="020B0600070205080204" pitchFamily="34" charset="-128"/>
              </a:rPr>
              <a:t>难以弄清人脑完整的工作机制</a:t>
            </a:r>
            <a:endParaRPr lang="en-US" altLang="ja-JP" sz="2800" b="0" kern="0" dirty="0">
              <a:ea typeface="ＭＳ Ｐゴシック" panose="020B0600070205080204" pitchFamily="34" charset="-12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04274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967FE-5394-43B7-8CF2-3762A5EF6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ea typeface="ＭＳ Ｐゴシック" panose="020B0600070205080204" pitchFamily="34" charset="-128"/>
              </a:rPr>
              <a:t>Introspection </a:t>
            </a:r>
            <a:r>
              <a:rPr lang="zh-CN" altLang="en-US" dirty="0">
                <a:ea typeface="ＭＳ Ｐゴシック" panose="020B0600070205080204" pitchFamily="34" charset="-128"/>
              </a:rPr>
              <a:t>内省</a:t>
            </a:r>
            <a:r>
              <a:rPr lang="en-US" altLang="zh-CN" dirty="0">
                <a:ea typeface="ＭＳ Ｐゴシック" panose="020B0600070205080204" pitchFamily="34" charset="-128"/>
              </a:rPr>
              <a:t> (1)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382283-7616-446B-A824-DE7BADB82A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1. Prologue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1. </a:t>
            </a:r>
            <a:r>
              <a:rPr lang="zh-CN" altLang="en-US" dirty="0"/>
              <a:t>序言</a:t>
            </a:r>
            <a:endParaRPr lang="en-US" altLang="zh-CN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908BBC4-F2A7-4A6C-A874-2D50302F91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6904" y="1752600"/>
            <a:ext cx="5334000" cy="381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en-US" altLang="ja-JP" sz="2800" b="0" dirty="0">
                <a:ea typeface="ＭＳ Ｐゴシック" panose="020B0600070205080204" pitchFamily="34" charset="-128"/>
              </a:rPr>
              <a:t>Examine one’s conscious         </a:t>
            </a:r>
            <a:r>
              <a:rPr lang="zh-CN" altLang="en-US" sz="2800" b="0" dirty="0">
                <a:ea typeface="ＭＳ Ｐゴシック" panose="020B0600070205080204" pitchFamily="34" charset="-128"/>
              </a:rPr>
              <a:t>考察自己的意识</a:t>
            </a:r>
            <a:endParaRPr lang="en-US" altLang="ja-JP" sz="2800" b="0" dirty="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ja-JP" sz="2800" b="0" dirty="0">
                <a:ea typeface="ＭＳ Ｐゴシック" panose="020B0600070205080204" pitchFamily="34" charset="-128"/>
              </a:rPr>
              <a:t>Build AI system upon the examination </a:t>
            </a:r>
            <a:r>
              <a:rPr lang="en-US" altLang="zh-CN" sz="2800" b="0" dirty="0">
                <a:ea typeface="ＭＳ Ｐゴシック" panose="020B0600070205080204" pitchFamily="34" charset="-128"/>
              </a:rPr>
              <a:t>result               </a:t>
            </a:r>
            <a:r>
              <a:rPr lang="zh-CN" altLang="en-US" sz="2800" b="0" dirty="0">
                <a:ea typeface="ＭＳ Ｐゴシック" panose="020B0600070205080204" pitchFamily="34" charset="-128"/>
              </a:rPr>
              <a:t>基于考察结果构建</a:t>
            </a:r>
            <a:r>
              <a:rPr lang="en-US" altLang="zh-CN" sz="2800" b="0" dirty="0">
                <a:ea typeface="ＭＳ Ｐゴシック" panose="020B0600070205080204" pitchFamily="34" charset="-128"/>
              </a:rPr>
              <a:t>AI</a:t>
            </a:r>
            <a:r>
              <a:rPr lang="zh-CN" altLang="en-US" sz="2800" b="0" dirty="0">
                <a:ea typeface="ＭＳ Ｐゴシック" panose="020B0600070205080204" pitchFamily="34" charset="-128"/>
              </a:rPr>
              <a:t>系统</a:t>
            </a:r>
            <a:endParaRPr lang="en-US" altLang="ja-JP" sz="2800" b="0" dirty="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ja-JP" sz="2800" b="0" dirty="0">
                <a:ea typeface="ＭＳ Ｐゴシック" panose="020B0600070205080204" pitchFamily="34" charset="-128"/>
              </a:rPr>
              <a:t>Expert system is an example </a:t>
            </a:r>
            <a:r>
              <a:rPr lang="zh-CN" altLang="en-US" sz="2800" b="0" dirty="0">
                <a:ea typeface="ＭＳ Ｐゴシック" panose="020B0600070205080204" pitchFamily="34" charset="-128"/>
              </a:rPr>
              <a:t>一个典型的例子是专家系统</a:t>
            </a:r>
            <a:endParaRPr lang="en-US" altLang="ja-JP" sz="2800" b="0" dirty="0">
              <a:ea typeface="ＭＳ Ｐゴシック" panose="020B0600070205080204" pitchFamily="34" charset="-12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16150CE-A6EF-4DA9-9E78-D8E6980DE5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096" y="2362200"/>
            <a:ext cx="2010330" cy="207088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671060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967FE-5394-43B7-8CF2-3762A5EF6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ea typeface="ＭＳ Ｐゴシック" panose="020B0600070205080204" pitchFamily="34" charset="-128"/>
              </a:rPr>
              <a:t>Introspection </a:t>
            </a:r>
            <a:r>
              <a:rPr lang="zh-CN" altLang="en-US" dirty="0">
                <a:ea typeface="ＭＳ Ｐゴシック" panose="020B0600070205080204" pitchFamily="34" charset="-128"/>
              </a:rPr>
              <a:t>内省</a:t>
            </a:r>
            <a:r>
              <a:rPr lang="en-US" altLang="zh-CN" dirty="0">
                <a:ea typeface="ＭＳ Ｐゴシック" panose="020B0600070205080204" pitchFamily="34" charset="-128"/>
              </a:rPr>
              <a:t> (2)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382283-7616-446B-A824-DE7BADB82A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1. Prologue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1. </a:t>
            </a:r>
            <a:r>
              <a:rPr lang="zh-CN" altLang="en-US" dirty="0"/>
              <a:t>序言</a:t>
            </a:r>
            <a:endParaRPr lang="en-US" altLang="zh-CN" dirty="0"/>
          </a:p>
        </p:txBody>
      </p:sp>
      <p:sp>
        <p:nvSpPr>
          <p:cNvPr id="3" name="Flowchart: Decision 2">
            <a:extLst>
              <a:ext uri="{FF2B5EF4-FFF2-40B4-BE49-F238E27FC236}">
                <a16:creationId xmlns:a16="http://schemas.microsoft.com/office/drawing/2014/main" id="{ACDDF2CB-D654-4BC9-8E6A-91A1DC6A755A}"/>
              </a:ext>
            </a:extLst>
          </p:cNvPr>
          <p:cNvSpPr/>
          <p:nvPr/>
        </p:nvSpPr>
        <p:spPr bwMode="auto">
          <a:xfrm>
            <a:off x="3352798" y="1524000"/>
            <a:ext cx="2209801" cy="1066800"/>
          </a:xfrm>
          <a:prstGeom prst="flowChartDecisio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Large </a:t>
            </a:r>
            <a:r>
              <a:rPr kumimoji="0" lang="zh-CN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体型大？</a:t>
            </a:r>
          </a:p>
        </p:txBody>
      </p:sp>
      <p:sp>
        <p:nvSpPr>
          <p:cNvPr id="8" name="Flowchart: Decision 7">
            <a:extLst>
              <a:ext uri="{FF2B5EF4-FFF2-40B4-BE49-F238E27FC236}">
                <a16:creationId xmlns:a16="http://schemas.microsoft.com/office/drawing/2014/main" id="{D4EE607C-CCAF-475A-9F83-2C67039D66A9}"/>
              </a:ext>
            </a:extLst>
          </p:cNvPr>
          <p:cNvSpPr/>
          <p:nvPr/>
        </p:nvSpPr>
        <p:spPr bwMode="auto">
          <a:xfrm>
            <a:off x="1381125" y="2254723"/>
            <a:ext cx="1981200" cy="1066800"/>
          </a:xfrm>
          <a:prstGeom prst="flowChartDecisio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Flies  </a:t>
            </a:r>
            <a:r>
              <a:rPr kumimoji="0" lang="zh-CN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会飞？</a:t>
            </a:r>
          </a:p>
        </p:txBody>
      </p:sp>
      <p:sp>
        <p:nvSpPr>
          <p:cNvPr id="9" name="Flowchart: Decision 8">
            <a:extLst>
              <a:ext uri="{FF2B5EF4-FFF2-40B4-BE49-F238E27FC236}">
                <a16:creationId xmlns:a16="http://schemas.microsoft.com/office/drawing/2014/main" id="{550532F9-6C6D-4610-9A48-2D63CFEDA3A5}"/>
              </a:ext>
            </a:extLst>
          </p:cNvPr>
          <p:cNvSpPr/>
          <p:nvPr/>
        </p:nvSpPr>
        <p:spPr bwMode="auto">
          <a:xfrm>
            <a:off x="1263650" y="3617872"/>
            <a:ext cx="2209800" cy="1450181"/>
          </a:xfrm>
          <a:prstGeom prst="flowChartDecisio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Multi-colored </a:t>
            </a:r>
            <a:r>
              <a:rPr kumimoji="0" lang="zh-CN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杂色？</a:t>
            </a:r>
          </a:p>
        </p:txBody>
      </p:sp>
      <p:sp>
        <p:nvSpPr>
          <p:cNvPr id="11" name="Flowchart: Decision 10">
            <a:extLst>
              <a:ext uri="{FF2B5EF4-FFF2-40B4-BE49-F238E27FC236}">
                <a16:creationId xmlns:a16="http://schemas.microsoft.com/office/drawing/2014/main" id="{96E4491C-D118-408E-A49D-32C58ADFE4C6}"/>
              </a:ext>
            </a:extLst>
          </p:cNvPr>
          <p:cNvSpPr/>
          <p:nvPr/>
        </p:nvSpPr>
        <p:spPr bwMode="auto">
          <a:xfrm>
            <a:off x="5791200" y="2288084"/>
            <a:ext cx="1981200" cy="1066800"/>
          </a:xfrm>
          <a:prstGeom prst="flowChartDecisio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Flies  </a:t>
            </a:r>
            <a:r>
              <a:rPr kumimoji="0" lang="zh-CN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会飞？</a:t>
            </a:r>
          </a:p>
        </p:txBody>
      </p:sp>
      <p:sp>
        <p:nvSpPr>
          <p:cNvPr id="12" name="Flowchart: Decision 11">
            <a:extLst>
              <a:ext uri="{FF2B5EF4-FFF2-40B4-BE49-F238E27FC236}">
                <a16:creationId xmlns:a16="http://schemas.microsoft.com/office/drawing/2014/main" id="{6BA32B41-889E-40BD-88D0-E0EC032BD612}"/>
              </a:ext>
            </a:extLst>
          </p:cNvPr>
          <p:cNvSpPr/>
          <p:nvPr/>
        </p:nvSpPr>
        <p:spPr bwMode="auto">
          <a:xfrm>
            <a:off x="7196137" y="3429000"/>
            <a:ext cx="1981200" cy="1066800"/>
          </a:xfrm>
          <a:prstGeom prst="flowChartDecisio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Crest </a:t>
            </a:r>
            <a:r>
              <a:rPr kumimoji="0" lang="zh-CN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冠羽？</a:t>
            </a:r>
          </a:p>
        </p:txBody>
      </p:sp>
      <p:sp>
        <p:nvSpPr>
          <p:cNvPr id="13" name="Flowchart: Decision 12">
            <a:extLst>
              <a:ext uri="{FF2B5EF4-FFF2-40B4-BE49-F238E27FC236}">
                <a16:creationId xmlns:a16="http://schemas.microsoft.com/office/drawing/2014/main" id="{AFB25841-DE76-47C9-83A0-4CEC2B10D3C7}"/>
              </a:ext>
            </a:extLst>
          </p:cNvPr>
          <p:cNvSpPr/>
          <p:nvPr/>
        </p:nvSpPr>
        <p:spPr bwMode="auto">
          <a:xfrm>
            <a:off x="4999853" y="4223994"/>
            <a:ext cx="1981200" cy="1066800"/>
          </a:xfrm>
          <a:prstGeom prst="flowChartDecision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Bald </a:t>
            </a:r>
            <a:r>
              <a:rPr kumimoji="0" lang="zh-CN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mic Sans MS" pitchFamily="66" charset="0"/>
                <a:ea typeface="SimSun" pitchFamily="2" charset="-122"/>
              </a:rPr>
              <a:t>白头？</a:t>
            </a: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08B85D03-8974-4E32-8E74-A8DA574798C2}"/>
              </a:ext>
            </a:extLst>
          </p:cNvPr>
          <p:cNvCxnSpPr>
            <a:cxnSpLocks/>
            <a:stCxn id="3" idx="1"/>
            <a:endCxn id="8" idx="0"/>
          </p:cNvCxnSpPr>
          <p:nvPr/>
        </p:nvCxnSpPr>
        <p:spPr bwMode="auto">
          <a:xfrm rot="10800000" flipV="1">
            <a:off x="2371726" y="2057399"/>
            <a:ext cx="981073" cy="197323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2BE123E7-C71B-408F-95C3-680499F8003A}"/>
              </a:ext>
            </a:extLst>
          </p:cNvPr>
          <p:cNvCxnSpPr>
            <a:cxnSpLocks/>
            <a:stCxn id="3" idx="3"/>
            <a:endCxn id="11" idx="0"/>
          </p:cNvCxnSpPr>
          <p:nvPr/>
        </p:nvCxnSpPr>
        <p:spPr bwMode="auto">
          <a:xfrm>
            <a:off x="5562599" y="2057400"/>
            <a:ext cx="1219201" cy="230684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83A1F2D-6A63-49AB-8D07-65769EEC6452}"/>
              </a:ext>
            </a:extLst>
          </p:cNvPr>
          <p:cNvSpPr txBox="1"/>
          <p:nvPr/>
        </p:nvSpPr>
        <p:spPr>
          <a:xfrm>
            <a:off x="2362198" y="1660344"/>
            <a:ext cx="12287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No </a:t>
            </a:r>
            <a:r>
              <a:rPr lang="zh-CN" altLang="en-US" sz="2200" dirty="0"/>
              <a:t>否</a:t>
            </a:r>
          </a:p>
        </p:txBody>
      </p: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BB5D5CB9-7E9A-46BA-9D6F-AFF382D7CA1C}"/>
              </a:ext>
            </a:extLst>
          </p:cNvPr>
          <p:cNvCxnSpPr>
            <a:cxnSpLocks/>
            <a:stCxn id="8" idx="1"/>
            <a:endCxn id="31" idx="0"/>
          </p:cNvCxnSpPr>
          <p:nvPr/>
        </p:nvCxnSpPr>
        <p:spPr bwMode="auto">
          <a:xfrm rot="10800000" flipV="1">
            <a:off x="772127" y="2788123"/>
            <a:ext cx="608998" cy="277242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5418EE5C-030F-4AC3-AD06-D79B65FEB022}"/>
              </a:ext>
            </a:extLst>
          </p:cNvPr>
          <p:cNvSpPr txBox="1"/>
          <p:nvPr/>
        </p:nvSpPr>
        <p:spPr>
          <a:xfrm>
            <a:off x="157767" y="3065365"/>
            <a:ext cx="12287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Penguin </a:t>
            </a:r>
            <a:r>
              <a:rPr lang="zh-CN" altLang="en-US" sz="2200" dirty="0"/>
              <a:t>企鹅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B792B19-70B2-47F2-8F93-4C6314D8C65F}"/>
              </a:ext>
            </a:extLst>
          </p:cNvPr>
          <p:cNvSpPr txBox="1"/>
          <p:nvPr/>
        </p:nvSpPr>
        <p:spPr>
          <a:xfrm>
            <a:off x="174437" y="2276551"/>
            <a:ext cx="12287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No </a:t>
            </a:r>
            <a:r>
              <a:rPr lang="zh-CN" altLang="en-US" sz="2200" dirty="0"/>
              <a:t>否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EC9F3D0-E7D1-46F9-902A-9FD158E71D40}"/>
              </a:ext>
            </a:extLst>
          </p:cNvPr>
          <p:cNvSpPr txBox="1"/>
          <p:nvPr/>
        </p:nvSpPr>
        <p:spPr>
          <a:xfrm>
            <a:off x="4448180" y="3060279"/>
            <a:ext cx="12287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Ostrich</a:t>
            </a:r>
            <a:r>
              <a:rPr lang="zh-CN" altLang="en-US" sz="2200" dirty="0"/>
              <a:t>鸵鸟</a:t>
            </a:r>
          </a:p>
        </p:txBody>
      </p: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E81FA1C3-84BD-41BA-B3BD-69F06F557B43}"/>
              </a:ext>
            </a:extLst>
          </p:cNvPr>
          <p:cNvCxnSpPr>
            <a:cxnSpLocks/>
            <a:stCxn id="11" idx="1"/>
            <a:endCxn id="36" idx="0"/>
          </p:cNvCxnSpPr>
          <p:nvPr/>
        </p:nvCxnSpPr>
        <p:spPr bwMode="auto">
          <a:xfrm rot="10800000" flipV="1">
            <a:off x="5062540" y="2821483"/>
            <a:ext cx="728660" cy="238795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3" name="Connector: Elbow 42">
            <a:extLst>
              <a:ext uri="{FF2B5EF4-FFF2-40B4-BE49-F238E27FC236}">
                <a16:creationId xmlns:a16="http://schemas.microsoft.com/office/drawing/2014/main" id="{3032D2E5-587F-47A6-BBF7-A80E9803E860}"/>
              </a:ext>
            </a:extLst>
          </p:cNvPr>
          <p:cNvCxnSpPr>
            <a:stCxn id="11" idx="3"/>
            <a:endCxn id="12" idx="0"/>
          </p:cNvCxnSpPr>
          <p:nvPr/>
        </p:nvCxnSpPr>
        <p:spPr bwMode="auto">
          <a:xfrm>
            <a:off x="7772400" y="2821484"/>
            <a:ext cx="414337" cy="607516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E0C45243-169B-451D-B450-2DFC9CA9A7D8}"/>
              </a:ext>
            </a:extLst>
          </p:cNvPr>
          <p:cNvCxnSpPr>
            <a:stCxn id="12" idx="1"/>
            <a:endCxn id="13" idx="0"/>
          </p:cNvCxnSpPr>
          <p:nvPr/>
        </p:nvCxnSpPr>
        <p:spPr bwMode="auto">
          <a:xfrm rot="10800000" flipV="1">
            <a:off x="5990453" y="3962400"/>
            <a:ext cx="1205684" cy="261594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E644962A-76FA-409E-8431-9E711E8EB207}"/>
              </a:ext>
            </a:extLst>
          </p:cNvPr>
          <p:cNvSpPr txBox="1"/>
          <p:nvPr/>
        </p:nvSpPr>
        <p:spPr>
          <a:xfrm>
            <a:off x="7572377" y="2311480"/>
            <a:ext cx="12287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Yes </a:t>
            </a:r>
            <a:r>
              <a:rPr lang="zh-CN" altLang="en-US" sz="2200" dirty="0"/>
              <a:t>是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F029E79-177D-4F97-8040-0BB44E4AB445}"/>
              </a:ext>
            </a:extLst>
          </p:cNvPr>
          <p:cNvSpPr txBox="1"/>
          <p:nvPr/>
        </p:nvSpPr>
        <p:spPr>
          <a:xfrm>
            <a:off x="5515755" y="1621155"/>
            <a:ext cx="12287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Yes </a:t>
            </a:r>
            <a:r>
              <a:rPr lang="zh-CN" altLang="en-US" sz="2200" dirty="0"/>
              <a:t>是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D2D139A-21DA-4D9E-8CAB-7D3C68AABD19}"/>
              </a:ext>
            </a:extLst>
          </p:cNvPr>
          <p:cNvSpPr txBox="1"/>
          <p:nvPr/>
        </p:nvSpPr>
        <p:spPr>
          <a:xfrm>
            <a:off x="4772411" y="2369997"/>
            <a:ext cx="12287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No </a:t>
            </a:r>
            <a:r>
              <a:rPr lang="zh-CN" altLang="en-US" sz="2200" dirty="0"/>
              <a:t>否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EF24578-C102-4B32-8043-3CDA16B15102}"/>
              </a:ext>
            </a:extLst>
          </p:cNvPr>
          <p:cNvSpPr txBox="1"/>
          <p:nvPr/>
        </p:nvSpPr>
        <p:spPr>
          <a:xfrm>
            <a:off x="7572376" y="4999361"/>
            <a:ext cx="12287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Vulture</a:t>
            </a:r>
            <a:r>
              <a:rPr lang="zh-CN" altLang="en-US" sz="2200" dirty="0"/>
              <a:t>秃鹫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12B166D-5696-4A30-99AA-6F15FF216839}"/>
              </a:ext>
            </a:extLst>
          </p:cNvPr>
          <p:cNvSpPr txBox="1"/>
          <p:nvPr/>
        </p:nvSpPr>
        <p:spPr>
          <a:xfrm>
            <a:off x="5967417" y="3550437"/>
            <a:ext cx="12287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Yes </a:t>
            </a:r>
            <a:r>
              <a:rPr lang="zh-CN" altLang="en-US" sz="2200" dirty="0"/>
              <a:t>是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AEB2265-A5D8-4C60-8BFF-03F3E3E857F6}"/>
              </a:ext>
            </a:extLst>
          </p:cNvPr>
          <p:cNvSpPr txBox="1"/>
          <p:nvPr/>
        </p:nvSpPr>
        <p:spPr>
          <a:xfrm>
            <a:off x="8022430" y="4524525"/>
            <a:ext cx="12287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No </a:t>
            </a:r>
            <a:r>
              <a:rPr lang="zh-CN" altLang="en-US" sz="2200" dirty="0"/>
              <a:t>否</a:t>
            </a: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B51B4193-FC5F-4F19-8E4A-223B2F04CACF}"/>
              </a:ext>
            </a:extLst>
          </p:cNvPr>
          <p:cNvCxnSpPr>
            <a:stCxn id="12" idx="2"/>
            <a:endCxn id="49" idx="0"/>
          </p:cNvCxnSpPr>
          <p:nvPr/>
        </p:nvCxnSpPr>
        <p:spPr bwMode="auto">
          <a:xfrm flipH="1">
            <a:off x="8186736" y="4495800"/>
            <a:ext cx="1" cy="50356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368A84F6-EAE2-496A-9259-5C8D89932A6C}"/>
              </a:ext>
            </a:extLst>
          </p:cNvPr>
          <p:cNvCxnSpPr>
            <a:stCxn id="8" idx="2"/>
            <a:endCxn id="9" idx="0"/>
          </p:cNvCxnSpPr>
          <p:nvPr/>
        </p:nvCxnSpPr>
        <p:spPr bwMode="auto">
          <a:xfrm flipH="1">
            <a:off x="2368550" y="3321523"/>
            <a:ext cx="3175" cy="29634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8" name="TextBox 57">
            <a:extLst>
              <a:ext uri="{FF2B5EF4-FFF2-40B4-BE49-F238E27FC236}">
                <a16:creationId xmlns:a16="http://schemas.microsoft.com/office/drawing/2014/main" id="{6169EEF5-74D6-4B62-8BED-BD4197A942EB}"/>
              </a:ext>
            </a:extLst>
          </p:cNvPr>
          <p:cNvSpPr txBox="1"/>
          <p:nvPr/>
        </p:nvSpPr>
        <p:spPr>
          <a:xfrm>
            <a:off x="116990" y="4748937"/>
            <a:ext cx="122871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Parrot </a:t>
            </a:r>
            <a:r>
              <a:rPr lang="zh-CN" altLang="en-US" sz="2200" dirty="0"/>
              <a:t>鹦鹉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4CEBE92-2CE8-4BEF-B300-69060ADB5E03}"/>
              </a:ext>
            </a:extLst>
          </p:cNvPr>
          <p:cNvSpPr txBox="1"/>
          <p:nvPr/>
        </p:nvSpPr>
        <p:spPr>
          <a:xfrm>
            <a:off x="5262150" y="5729162"/>
            <a:ext cx="147597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Eagle </a:t>
            </a:r>
            <a:r>
              <a:rPr lang="zh-CN" altLang="en-US" sz="2200" dirty="0"/>
              <a:t>雕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CEE7DD7F-6FA8-4BFE-97A1-5BCA046BAB2D}"/>
              </a:ext>
            </a:extLst>
          </p:cNvPr>
          <p:cNvCxnSpPr>
            <a:stCxn id="13" idx="2"/>
            <a:endCxn id="60" idx="0"/>
          </p:cNvCxnSpPr>
          <p:nvPr/>
        </p:nvCxnSpPr>
        <p:spPr bwMode="auto">
          <a:xfrm>
            <a:off x="5990453" y="5290794"/>
            <a:ext cx="9684" cy="43836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F54168D9-AAAB-432B-9350-C9DDC3AC926C}"/>
              </a:ext>
            </a:extLst>
          </p:cNvPr>
          <p:cNvSpPr txBox="1"/>
          <p:nvPr/>
        </p:nvSpPr>
        <p:spPr>
          <a:xfrm>
            <a:off x="4572000" y="5236845"/>
            <a:ext cx="18390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Yes </a:t>
            </a:r>
            <a:r>
              <a:rPr lang="zh-CN" altLang="en-US" sz="2200" dirty="0"/>
              <a:t>是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FC576C7-5050-41F3-A50C-D4734CAD92EE}"/>
              </a:ext>
            </a:extLst>
          </p:cNvPr>
          <p:cNvSpPr txBox="1"/>
          <p:nvPr/>
        </p:nvSpPr>
        <p:spPr>
          <a:xfrm>
            <a:off x="6604811" y="5602983"/>
            <a:ext cx="12287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…</a:t>
            </a:r>
            <a:endParaRPr lang="zh-CN" altLang="en-US" sz="2200" dirty="0"/>
          </a:p>
        </p:txBody>
      </p: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3B69511D-53C5-403C-B642-7DC4A1F19302}"/>
              </a:ext>
            </a:extLst>
          </p:cNvPr>
          <p:cNvCxnSpPr>
            <a:cxnSpLocks/>
            <a:stCxn id="13" idx="3"/>
            <a:endCxn id="65" idx="0"/>
          </p:cNvCxnSpPr>
          <p:nvPr/>
        </p:nvCxnSpPr>
        <p:spPr bwMode="auto">
          <a:xfrm>
            <a:off x="6981053" y="4757394"/>
            <a:ext cx="238118" cy="845589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CD411244-26BE-41E5-B8B6-72B463D2E248}"/>
              </a:ext>
            </a:extLst>
          </p:cNvPr>
          <p:cNvSpPr txBox="1"/>
          <p:nvPr/>
        </p:nvSpPr>
        <p:spPr>
          <a:xfrm>
            <a:off x="6781800" y="4293513"/>
            <a:ext cx="12287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No </a:t>
            </a:r>
            <a:r>
              <a:rPr lang="zh-CN" altLang="en-US" sz="2200" dirty="0"/>
              <a:t>否</a:t>
            </a:r>
          </a:p>
        </p:txBody>
      </p: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AE019252-3A90-46E5-A568-E016C8827731}"/>
              </a:ext>
            </a:extLst>
          </p:cNvPr>
          <p:cNvCxnSpPr>
            <a:stCxn id="9" idx="1"/>
            <a:endCxn id="58" idx="0"/>
          </p:cNvCxnSpPr>
          <p:nvPr/>
        </p:nvCxnSpPr>
        <p:spPr bwMode="auto">
          <a:xfrm rot="10800000" flipV="1">
            <a:off x="731350" y="4342963"/>
            <a:ext cx="532300" cy="405974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41308D3E-4293-4E1E-B987-21806AA1CDAF}"/>
              </a:ext>
            </a:extLst>
          </p:cNvPr>
          <p:cNvSpPr txBox="1"/>
          <p:nvPr/>
        </p:nvSpPr>
        <p:spPr>
          <a:xfrm>
            <a:off x="389104" y="3918395"/>
            <a:ext cx="12287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Yes </a:t>
            </a:r>
            <a:r>
              <a:rPr lang="zh-CN" altLang="en-US" sz="2200" dirty="0"/>
              <a:t>是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17DD7EA-9E03-419D-851F-FFB8B422F620}"/>
              </a:ext>
            </a:extLst>
          </p:cNvPr>
          <p:cNvSpPr txBox="1"/>
          <p:nvPr/>
        </p:nvSpPr>
        <p:spPr>
          <a:xfrm>
            <a:off x="2220324" y="3246079"/>
            <a:ext cx="12287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Yes </a:t>
            </a:r>
            <a:r>
              <a:rPr lang="zh-CN" altLang="en-US" sz="2200" dirty="0"/>
              <a:t>是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2343DC3-159E-49C2-B120-D828C4838F72}"/>
              </a:ext>
            </a:extLst>
          </p:cNvPr>
          <p:cNvSpPr txBox="1"/>
          <p:nvPr/>
        </p:nvSpPr>
        <p:spPr>
          <a:xfrm>
            <a:off x="3228979" y="4982212"/>
            <a:ext cx="12287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…</a:t>
            </a:r>
            <a:endParaRPr lang="zh-CN" altLang="en-US" sz="2200" dirty="0"/>
          </a:p>
        </p:txBody>
      </p:sp>
      <p:cxnSp>
        <p:nvCxnSpPr>
          <p:cNvPr id="90" name="Connector: Elbow 89">
            <a:extLst>
              <a:ext uri="{FF2B5EF4-FFF2-40B4-BE49-F238E27FC236}">
                <a16:creationId xmlns:a16="http://schemas.microsoft.com/office/drawing/2014/main" id="{162C039A-6CB2-4EDB-97BB-F39B041415F8}"/>
              </a:ext>
            </a:extLst>
          </p:cNvPr>
          <p:cNvCxnSpPr>
            <a:cxnSpLocks/>
            <a:stCxn id="9" idx="3"/>
            <a:endCxn id="82" idx="0"/>
          </p:cNvCxnSpPr>
          <p:nvPr/>
        </p:nvCxnSpPr>
        <p:spPr bwMode="auto">
          <a:xfrm>
            <a:off x="3473450" y="4342963"/>
            <a:ext cx="369889" cy="639249"/>
          </a:xfrm>
          <a:prstGeom prst="bentConnector2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F5913673-0439-43C0-88DC-3BEFFEE76587}"/>
              </a:ext>
            </a:extLst>
          </p:cNvPr>
          <p:cNvSpPr txBox="1"/>
          <p:nvPr/>
        </p:nvSpPr>
        <p:spPr>
          <a:xfrm>
            <a:off x="3192877" y="3914384"/>
            <a:ext cx="12287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No </a:t>
            </a:r>
            <a:r>
              <a:rPr lang="zh-CN" altLang="en-US" sz="2200" dirty="0"/>
              <a:t>否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01BB037-4714-4490-A3C7-120E724B6FF1}"/>
              </a:ext>
            </a:extLst>
          </p:cNvPr>
          <p:cNvSpPr txBox="1"/>
          <p:nvPr/>
        </p:nvSpPr>
        <p:spPr>
          <a:xfrm>
            <a:off x="109774" y="5601967"/>
            <a:ext cx="273099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Bird categorization </a:t>
            </a:r>
            <a:r>
              <a:rPr lang="zh-CN" altLang="en-US" sz="2200" dirty="0"/>
              <a:t>鸟类分类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87835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9" grpId="0" animBg="1"/>
      <p:bldP spid="11" grpId="0" animBg="1"/>
      <p:bldP spid="12" grpId="0" animBg="1"/>
      <p:bldP spid="13" grpId="0" animBg="1"/>
      <p:bldP spid="20" grpId="0"/>
      <p:bldP spid="31" grpId="0"/>
      <p:bldP spid="34" grpId="0"/>
      <p:bldP spid="36" grpId="0"/>
      <p:bldP spid="46" grpId="0"/>
      <p:bldP spid="47" grpId="0"/>
      <p:bldP spid="48" grpId="0"/>
      <p:bldP spid="49" grpId="0"/>
      <p:bldP spid="50" grpId="0"/>
      <p:bldP spid="51" grpId="0"/>
      <p:bldP spid="58" grpId="0"/>
      <p:bldP spid="60" grpId="0"/>
      <p:bldP spid="64" grpId="0"/>
      <p:bldP spid="65" grpId="0"/>
      <p:bldP spid="68" grpId="0"/>
      <p:bldP spid="71" grpId="0"/>
      <p:bldP spid="81" grpId="0"/>
      <p:bldP spid="82" grpId="0"/>
      <p:bldP spid="9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967FE-5394-43B7-8CF2-3762A5EF6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ea typeface="ＭＳ Ｐゴシック" panose="020B0600070205080204" pitchFamily="34" charset="-128"/>
              </a:rPr>
              <a:t>Introspection </a:t>
            </a:r>
            <a:r>
              <a:rPr lang="zh-CN" altLang="en-US" dirty="0">
                <a:ea typeface="ＭＳ Ｐゴシック" panose="020B0600070205080204" pitchFamily="34" charset="-128"/>
              </a:rPr>
              <a:t>内省</a:t>
            </a:r>
            <a:r>
              <a:rPr lang="en-US" altLang="zh-CN" dirty="0">
                <a:ea typeface="ＭＳ Ｐゴシック" panose="020B0600070205080204" pitchFamily="34" charset="-128"/>
              </a:rPr>
              <a:t> (3)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382283-7616-446B-A824-DE7BADB82A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1. Prologue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1. </a:t>
            </a:r>
            <a:r>
              <a:rPr lang="zh-CN" altLang="en-US" dirty="0"/>
              <a:t>序言</a:t>
            </a:r>
            <a:endParaRPr lang="en-US" altLang="zh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26D16A-EB33-4C59-823A-4E32F6758561}"/>
              </a:ext>
            </a:extLst>
          </p:cNvPr>
          <p:cNvSpPr txBox="1"/>
          <p:nvPr/>
        </p:nvSpPr>
        <p:spPr>
          <a:xfrm>
            <a:off x="247650" y="1762780"/>
            <a:ext cx="8648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/>
              <a:t>Difficulty </a:t>
            </a:r>
            <a:r>
              <a:rPr lang="zh-CN" altLang="en-US" sz="2800" b="1" dirty="0"/>
              <a:t>难点</a:t>
            </a:r>
            <a:endParaRPr lang="en-US" altLang="zh-CN" sz="28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5FFDEFD-C0DD-4838-8469-A65F9C34EF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687" y="2764604"/>
            <a:ext cx="1866376" cy="2105617"/>
          </a:xfrm>
          <a:prstGeom prst="rect">
            <a:avLst/>
          </a:prstGeom>
        </p:spPr>
      </p:pic>
      <p:sp>
        <p:nvSpPr>
          <p:cNvPr id="13" name="Speech Bubble: Rectangle with Corners Rounded 12">
            <a:extLst>
              <a:ext uri="{FF2B5EF4-FFF2-40B4-BE49-F238E27FC236}">
                <a16:creationId xmlns:a16="http://schemas.microsoft.com/office/drawing/2014/main" id="{A6280D54-E7C2-41EC-A3BE-DF7CBC385509}"/>
              </a:ext>
            </a:extLst>
          </p:cNvPr>
          <p:cNvSpPr/>
          <p:nvPr/>
        </p:nvSpPr>
        <p:spPr bwMode="auto">
          <a:xfrm>
            <a:off x="2868126" y="2250421"/>
            <a:ext cx="2846874" cy="1200329"/>
          </a:xfrm>
          <a:prstGeom prst="wedgeRoundRectCallout">
            <a:avLst>
              <a:gd name="adj1" fmla="val -93765"/>
              <a:gd name="adj2" fmla="val 20926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kumimoji="0" lang="en-US" altLang="zh-CN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Conscious mind </a:t>
            </a:r>
          </a:p>
          <a:p>
            <a:pPr algn="ctr"/>
            <a:r>
              <a:rPr kumimoji="0" lang="zh-CN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显意识</a:t>
            </a:r>
            <a:endParaRPr kumimoji="0" lang="en-US" altLang="zh-CN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algn="ctr"/>
            <a:r>
              <a:rPr lang="en-US" altLang="zh-CN" sz="2200" b="1" dirty="0">
                <a:solidFill>
                  <a:srgbClr val="333399"/>
                </a:solidFill>
              </a:rPr>
              <a:t>10%</a:t>
            </a:r>
            <a:r>
              <a:rPr kumimoji="0" lang="zh-CN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</p:txBody>
      </p:sp>
      <p:sp>
        <p:nvSpPr>
          <p:cNvPr id="14" name="Speech Bubble: Rectangle with Corners Rounded 13">
            <a:extLst>
              <a:ext uri="{FF2B5EF4-FFF2-40B4-BE49-F238E27FC236}">
                <a16:creationId xmlns:a16="http://schemas.microsoft.com/office/drawing/2014/main" id="{987DFBC6-99C0-4136-8581-813EB8AB56A9}"/>
              </a:ext>
            </a:extLst>
          </p:cNvPr>
          <p:cNvSpPr/>
          <p:nvPr/>
        </p:nvSpPr>
        <p:spPr bwMode="auto">
          <a:xfrm>
            <a:off x="2868126" y="3601710"/>
            <a:ext cx="2846874" cy="1268511"/>
          </a:xfrm>
          <a:prstGeom prst="wedgeRoundRectCallout">
            <a:avLst>
              <a:gd name="adj1" fmla="val -92050"/>
              <a:gd name="adj2" fmla="val -28756"/>
              <a:gd name="adj3" fmla="val 16667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zh-CN" sz="2200" dirty="0"/>
              <a:t>S</a:t>
            </a:r>
            <a:r>
              <a:rPr kumimoji="0" lang="en-US" altLang="zh-CN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ubconscious mind </a:t>
            </a:r>
          </a:p>
          <a:p>
            <a:pPr algn="ctr"/>
            <a:r>
              <a:rPr kumimoji="0" lang="zh-CN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潜意识</a:t>
            </a:r>
            <a:endParaRPr kumimoji="0" lang="en-US" altLang="zh-CN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algn="ctr"/>
            <a:r>
              <a:rPr lang="en-US" altLang="zh-CN" sz="2200" b="1" dirty="0">
                <a:solidFill>
                  <a:srgbClr val="FF0000"/>
                </a:solidFill>
              </a:rPr>
              <a:t>90%</a:t>
            </a:r>
            <a:r>
              <a:rPr kumimoji="0" lang="zh-CN" altLang="en-US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6178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3" grpId="1" animBg="1"/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967FE-5394-43B7-8CF2-3762A5EF6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ea typeface="ＭＳ Ｐゴシック" panose="020B0600070205080204" pitchFamily="34" charset="-128"/>
              </a:rPr>
              <a:t>Introspection </a:t>
            </a:r>
            <a:r>
              <a:rPr lang="zh-CN" altLang="en-US" dirty="0">
                <a:ea typeface="ＭＳ Ｐゴシック" panose="020B0600070205080204" pitchFamily="34" charset="-128"/>
              </a:rPr>
              <a:t>内省</a:t>
            </a:r>
            <a:r>
              <a:rPr lang="en-US" altLang="zh-CN">
                <a:ea typeface="ＭＳ Ｐゴシック" panose="020B0600070205080204" pitchFamily="34" charset="-128"/>
              </a:rPr>
              <a:t> (3)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382283-7616-446B-A824-DE7BADB82A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1. Prologue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1. </a:t>
            </a:r>
            <a:r>
              <a:rPr lang="zh-CN" altLang="en-US" dirty="0"/>
              <a:t>序言</a:t>
            </a:r>
            <a:endParaRPr lang="en-US" altLang="zh-C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26D16A-EB33-4C59-823A-4E32F6758561}"/>
              </a:ext>
            </a:extLst>
          </p:cNvPr>
          <p:cNvSpPr txBox="1"/>
          <p:nvPr/>
        </p:nvSpPr>
        <p:spPr>
          <a:xfrm>
            <a:off x="247650" y="1762780"/>
            <a:ext cx="86487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800" b="1" dirty="0"/>
              <a:t>Difficulty </a:t>
            </a:r>
            <a:r>
              <a:rPr lang="zh-CN" altLang="en-US" sz="2800" b="1" dirty="0"/>
              <a:t>难点</a:t>
            </a:r>
            <a:endParaRPr lang="en-US" altLang="zh-CN" sz="28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5FFDEFD-C0DD-4838-8469-A65F9C34EF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8687" y="2764604"/>
            <a:ext cx="1866376" cy="2105617"/>
          </a:xfrm>
          <a:prstGeom prst="rect">
            <a:avLst/>
          </a:prstGeom>
        </p:spPr>
      </p:pic>
      <p:sp>
        <p:nvSpPr>
          <p:cNvPr id="15" name="Rectangle 3">
            <a:extLst>
              <a:ext uri="{FF2B5EF4-FFF2-40B4-BE49-F238E27FC236}">
                <a16:creationId xmlns:a16="http://schemas.microsoft.com/office/drawing/2014/main" id="{45688248-FFC8-4867-BF44-CC78D9F23C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6904" y="2747963"/>
            <a:ext cx="5334000" cy="182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en-US" altLang="zh-CN" sz="2800" b="0" kern="0" dirty="0">
                <a:ea typeface="ＭＳ Ｐゴシック" panose="020B0600070205080204" pitchFamily="34" charset="-128"/>
              </a:rPr>
              <a:t>Again difficult</a:t>
            </a:r>
            <a:r>
              <a:rPr lang="zh-CN" altLang="en-US" sz="2800" b="0" kern="0" dirty="0">
                <a:ea typeface="ＭＳ Ｐゴシック" panose="020B0600070205080204" pitchFamily="34" charset="-128"/>
              </a:rPr>
              <a:t> </a:t>
            </a:r>
            <a:r>
              <a:rPr lang="en-US" altLang="zh-CN" sz="2800" b="0" kern="0" dirty="0">
                <a:ea typeface="ＭＳ Ｐゴシック" panose="020B0600070205080204" pitchFamily="34" charset="-128"/>
              </a:rPr>
              <a:t>to understand the full picture                         </a:t>
            </a:r>
            <a:r>
              <a:rPr lang="zh-CN" altLang="en-US" sz="2800" b="0" kern="0" dirty="0">
                <a:ea typeface="ＭＳ Ｐゴシック" panose="020B0600070205080204" pitchFamily="34" charset="-128"/>
              </a:rPr>
              <a:t>仍然难以弄清完整的自身思索意识过程</a:t>
            </a:r>
            <a:endParaRPr lang="en-US" altLang="ja-JP" sz="2800" b="0" kern="0" dirty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091253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967FE-5394-43B7-8CF2-3762A5EF6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>
                <a:ea typeface="ＭＳ Ｐゴシック" panose="020B0600070205080204" pitchFamily="34" charset="-128"/>
              </a:rPr>
              <a:t>Imitation </a:t>
            </a:r>
            <a:r>
              <a:rPr lang="zh-CN" altLang="en-US" dirty="0">
                <a:ea typeface="ＭＳ Ｐゴシック" panose="020B0600070205080204" pitchFamily="34" charset="-128"/>
              </a:rPr>
              <a:t>模仿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382283-7616-446B-A824-DE7BADB82A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1. Prologue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1. </a:t>
            </a:r>
            <a:r>
              <a:rPr lang="zh-CN" altLang="en-US" dirty="0"/>
              <a:t>序言</a:t>
            </a:r>
            <a:endParaRPr lang="en-US" altLang="zh-CN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5908BBC4-F2A7-4A6C-A874-2D50302F91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6904" y="1752600"/>
            <a:ext cx="5334000" cy="4491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en-US" altLang="zh-CN" sz="2800" b="0" dirty="0">
                <a:ea typeface="ＭＳ Ｐゴシック" panose="020B0600070205080204" pitchFamily="34" charset="-128"/>
              </a:rPr>
              <a:t>Observe</a:t>
            </a:r>
            <a:r>
              <a:rPr lang="en-US" altLang="ja-JP" sz="2800" b="0" dirty="0">
                <a:ea typeface="ＭＳ Ｐゴシック" panose="020B0600070205080204" pitchFamily="34" charset="-128"/>
              </a:rPr>
              <a:t> human behaviors</a:t>
            </a:r>
            <a:r>
              <a:rPr lang="en-US" altLang="ja-JP" sz="2800" dirty="0">
                <a:ea typeface="ＭＳ Ｐゴシック" panose="020B0600070205080204" pitchFamily="34" charset="-128"/>
              </a:rPr>
              <a:t>                     </a:t>
            </a:r>
            <a:r>
              <a:rPr lang="zh-CN" altLang="en-US" sz="2800" b="0" kern="0" dirty="0">
                <a:ea typeface="ＭＳ Ｐゴシック" panose="020B0600070205080204" pitchFamily="34" charset="-128"/>
              </a:rPr>
              <a:t>观察人类的行为</a:t>
            </a:r>
            <a:endParaRPr lang="en-US" altLang="ja-JP" sz="2800" b="0" kern="0" dirty="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ja-JP" sz="2800" b="0" kern="0" dirty="0">
                <a:ea typeface="ＭＳ Ｐゴシック" panose="020B0600070205080204" pitchFamily="34" charset="-128"/>
              </a:rPr>
              <a:t>Build AI system upon the observed behavior                         </a:t>
            </a:r>
            <a:r>
              <a:rPr lang="zh-CN" altLang="en-US" sz="2800" b="0" kern="0" dirty="0">
                <a:ea typeface="ＭＳ Ｐゴシック" panose="020B0600070205080204" pitchFamily="34" charset="-128"/>
              </a:rPr>
              <a:t>基于观察到的行为构建</a:t>
            </a:r>
            <a:r>
              <a:rPr lang="en-US" altLang="zh-CN" sz="2800" b="0" kern="0" dirty="0">
                <a:ea typeface="ＭＳ Ｐゴシック" panose="020B0600070205080204" pitchFamily="34" charset="-128"/>
              </a:rPr>
              <a:t>AI</a:t>
            </a:r>
            <a:r>
              <a:rPr lang="zh-CN" altLang="en-US" sz="2800" b="0" kern="0" dirty="0">
                <a:ea typeface="ＭＳ Ｐゴシック" panose="020B0600070205080204" pitchFamily="34" charset="-128"/>
              </a:rPr>
              <a:t>系统</a:t>
            </a:r>
            <a:endParaRPr lang="en-US" altLang="ja-JP" sz="2800" b="0" kern="0" dirty="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zh-CN" sz="2800" b="0" kern="0" dirty="0">
                <a:ea typeface="ＭＳ Ｐゴシック" panose="020B0600070205080204" pitchFamily="34" charset="-128"/>
              </a:rPr>
              <a:t>Machine learning became the current trend</a:t>
            </a:r>
            <a:r>
              <a:rPr lang="zh-CN" altLang="en-US" sz="2800" b="0" kern="0">
                <a:ea typeface="ＭＳ Ｐゴシック" panose="020B0600070205080204" pitchFamily="34" charset="-128"/>
              </a:rPr>
              <a:t>                       机器学</a:t>
            </a:r>
            <a:r>
              <a:rPr lang="zh-CN" altLang="en-US" sz="2800" b="0" kern="0" dirty="0">
                <a:ea typeface="ＭＳ Ｐゴシック" panose="020B0600070205080204" pitchFamily="34" charset="-128"/>
              </a:rPr>
              <a:t>习成为了当下的潮流</a:t>
            </a:r>
            <a:endParaRPr lang="en-US" altLang="ja-JP" sz="2800" b="0" kern="0" dirty="0">
              <a:ea typeface="ＭＳ Ｐゴシック" panose="020B0600070205080204" pitchFamily="34" charset="-12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60E20D-C26E-4C4C-8C9D-7A259B767B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122" y="2286000"/>
            <a:ext cx="2050162" cy="199097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692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967FE-5394-43B7-8CF2-3762A5EF6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Example:</a:t>
            </a:r>
            <a:r>
              <a:rPr lang="zh-CN" altLang="en-US" dirty="0">
                <a:ea typeface="ＭＳ Ｐゴシック" panose="020B0600070205080204" pitchFamily="34" charset="-128"/>
              </a:rPr>
              <a:t> </a:t>
            </a:r>
            <a:r>
              <a:rPr lang="en-US" altLang="zh-CN" dirty="0">
                <a:ea typeface="ＭＳ Ｐゴシック" panose="020B0600070205080204" pitchFamily="34" charset="-128"/>
              </a:rPr>
              <a:t>Autopilot</a:t>
            </a:r>
            <a:r>
              <a:rPr lang="en-US" altLang="ja-JP" dirty="0">
                <a:ea typeface="ＭＳ Ｐゴシック" panose="020B0600070205080204" pitchFamily="34" charset="-128"/>
              </a:rPr>
              <a:t> </a:t>
            </a:r>
            <a:br>
              <a:rPr lang="en-US" altLang="ja-JP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一个例子：自动驾驶 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382283-7616-446B-A824-DE7BADB82A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1. Prologue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1. </a:t>
            </a:r>
            <a:r>
              <a:rPr lang="zh-CN" altLang="en-US" dirty="0"/>
              <a:t>序言</a:t>
            </a:r>
            <a:endParaRPr lang="en-US" altLang="zh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B58804-337F-4FF2-AF9D-AE1F403E3D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057400"/>
            <a:ext cx="4240745" cy="18630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87345AF-A11D-4ACC-9BD9-2310A4FD186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608" y="4114800"/>
            <a:ext cx="4279392" cy="208559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B084B3E-601C-4346-9066-F4FF7AFF983E}"/>
              </a:ext>
            </a:extLst>
          </p:cNvPr>
          <p:cNvSpPr txBox="1"/>
          <p:nvPr/>
        </p:nvSpPr>
        <p:spPr>
          <a:xfrm>
            <a:off x="4648200" y="2583359"/>
            <a:ext cx="42407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Road &amp; environment condition</a:t>
            </a:r>
          </a:p>
          <a:p>
            <a:pPr algn="ctr"/>
            <a:r>
              <a:rPr lang="zh-CN" altLang="en-US" sz="2200" dirty="0"/>
              <a:t>路况与周边环境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3CA17D-2707-4A8E-8C93-84614539DB0E}"/>
              </a:ext>
            </a:extLst>
          </p:cNvPr>
          <p:cNvSpPr txBox="1"/>
          <p:nvPr/>
        </p:nvSpPr>
        <p:spPr>
          <a:xfrm>
            <a:off x="4634948" y="4761575"/>
            <a:ext cx="42407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Driver’s action</a:t>
            </a:r>
          </a:p>
          <a:p>
            <a:pPr algn="ctr"/>
            <a:r>
              <a:rPr lang="zh-CN" altLang="en-US" sz="2200" dirty="0"/>
              <a:t>驾驶员的驾驶操作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24D69C-41D0-4E8A-9BD4-0B9731A1CA4F}"/>
              </a:ext>
            </a:extLst>
          </p:cNvPr>
          <p:cNvSpPr txBox="1"/>
          <p:nvPr/>
        </p:nvSpPr>
        <p:spPr>
          <a:xfrm>
            <a:off x="2451676" y="1550313"/>
            <a:ext cx="42407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Observe </a:t>
            </a:r>
            <a:r>
              <a:rPr lang="zh-CN" altLang="en-US" sz="2200" dirty="0"/>
              <a:t>观察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91022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967FE-5394-43B7-8CF2-3762A5EF6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Example:</a:t>
            </a:r>
            <a:r>
              <a:rPr lang="zh-CN" altLang="en-US" dirty="0">
                <a:ea typeface="ＭＳ Ｐゴシック" panose="020B0600070205080204" pitchFamily="34" charset="-128"/>
              </a:rPr>
              <a:t> </a:t>
            </a:r>
            <a:r>
              <a:rPr lang="en-US" altLang="zh-CN" dirty="0">
                <a:ea typeface="ＭＳ Ｐゴシック" panose="020B0600070205080204" pitchFamily="34" charset="-128"/>
              </a:rPr>
              <a:t>Autopilot</a:t>
            </a:r>
            <a:r>
              <a:rPr lang="en-US" altLang="ja-JP" dirty="0">
                <a:ea typeface="ＭＳ Ｐゴシック" panose="020B0600070205080204" pitchFamily="34" charset="-128"/>
              </a:rPr>
              <a:t> </a:t>
            </a:r>
            <a:br>
              <a:rPr lang="en-US" altLang="ja-JP" dirty="0">
                <a:ea typeface="ＭＳ Ｐゴシック" panose="020B0600070205080204" pitchFamily="34" charset="-128"/>
              </a:rPr>
            </a:br>
            <a:r>
              <a:rPr lang="zh-CN" altLang="en-US" dirty="0">
                <a:ea typeface="ＭＳ Ｐゴシック" panose="020B0600070205080204" pitchFamily="34" charset="-128"/>
              </a:rPr>
              <a:t>一个例子：自动驾驶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382283-7616-446B-A824-DE7BADB82A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1. Prologue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1. </a:t>
            </a:r>
            <a:r>
              <a:rPr lang="zh-CN" altLang="en-US" dirty="0"/>
              <a:t>序言</a:t>
            </a:r>
            <a:endParaRPr lang="en-US" altLang="zh-C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B58804-337F-4FF2-AF9D-AE1F403E3D8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057400"/>
            <a:ext cx="4240745" cy="18630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B084B3E-601C-4346-9066-F4FF7AFF983E}"/>
              </a:ext>
            </a:extLst>
          </p:cNvPr>
          <p:cNvSpPr txBox="1"/>
          <p:nvPr/>
        </p:nvSpPr>
        <p:spPr>
          <a:xfrm>
            <a:off x="4648200" y="2583359"/>
            <a:ext cx="42407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Road &amp; environment condition</a:t>
            </a:r>
          </a:p>
          <a:p>
            <a:pPr algn="ctr"/>
            <a:r>
              <a:rPr lang="zh-CN" altLang="en-US" sz="2200" dirty="0"/>
              <a:t>路况与周边环境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D3CA17D-2707-4A8E-8C93-84614539DB0E}"/>
              </a:ext>
            </a:extLst>
          </p:cNvPr>
          <p:cNvSpPr txBox="1"/>
          <p:nvPr/>
        </p:nvSpPr>
        <p:spPr>
          <a:xfrm>
            <a:off x="4634948" y="4761575"/>
            <a:ext cx="424074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Imitate driver’s action</a:t>
            </a:r>
          </a:p>
          <a:p>
            <a:pPr algn="ctr"/>
            <a:r>
              <a:rPr lang="zh-CN" altLang="en-US" sz="2200" dirty="0"/>
              <a:t>模仿驾驶员的驾驶操作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24D69C-41D0-4E8A-9BD4-0B9731A1CA4F}"/>
              </a:ext>
            </a:extLst>
          </p:cNvPr>
          <p:cNvSpPr txBox="1"/>
          <p:nvPr/>
        </p:nvSpPr>
        <p:spPr>
          <a:xfrm>
            <a:off x="2451676" y="1524000"/>
            <a:ext cx="424074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Imitate </a:t>
            </a:r>
            <a:r>
              <a:rPr lang="zh-CN" altLang="en-US" sz="2200" dirty="0"/>
              <a:t>模仿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F7CFD2-DA72-4CF7-82BF-0D8964E158C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4376" y="4117040"/>
            <a:ext cx="2514600" cy="18859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02600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967FE-5394-43B7-8CF2-3762A5EF6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(Supervised) Machine Learning </a:t>
            </a:r>
            <a:r>
              <a:rPr lang="zh-CN" altLang="en-US" dirty="0">
                <a:ea typeface="ＭＳ Ｐゴシック" panose="020B0600070205080204" pitchFamily="34" charset="-128"/>
              </a:rPr>
              <a:t>（受监督的）机器学习 </a:t>
            </a:r>
            <a:r>
              <a:rPr lang="en-US" altLang="zh-CN" dirty="0">
                <a:ea typeface="ＭＳ Ｐゴシック" panose="020B0600070205080204" pitchFamily="34" charset="-128"/>
              </a:rPr>
              <a:t>(1)</a:t>
            </a:r>
            <a:endParaRPr lang="zh-CN" alt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382283-7616-446B-A824-DE7BADB82AA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/>
              <a:t>Machine Learning – Basic Principles &amp; Practice: 1. Prologue</a:t>
            </a:r>
          </a:p>
          <a:p>
            <a:pPr>
              <a:defRPr/>
            </a:pPr>
            <a:r>
              <a:rPr lang="zh-CN" altLang="en-US"/>
              <a:t>机器学习 </a:t>
            </a:r>
            <a:r>
              <a:rPr lang="en-US" altLang="zh-CN"/>
              <a:t>– </a:t>
            </a:r>
            <a:r>
              <a:rPr lang="zh-CN" altLang="en-US"/>
              <a:t>基本原理与实践：</a:t>
            </a:r>
            <a:r>
              <a:rPr lang="en-US" altLang="zh-CN"/>
              <a:t>1. </a:t>
            </a:r>
            <a:r>
              <a:rPr lang="zh-CN" altLang="en-US"/>
              <a:t>序言</a:t>
            </a:r>
            <a:endParaRPr lang="en-US" altLang="zh-CN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29425C2-B0E2-41AF-810E-2B481F8D6691}"/>
              </a:ext>
            </a:extLst>
          </p:cNvPr>
          <p:cNvGrpSpPr/>
          <p:nvPr/>
        </p:nvGrpSpPr>
        <p:grpSpPr>
          <a:xfrm>
            <a:off x="698571" y="2429932"/>
            <a:ext cx="7759629" cy="1082709"/>
            <a:chOff x="698571" y="2667000"/>
            <a:chExt cx="7759629" cy="1082709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67D32E0E-8721-42C4-9614-7FF3ABE5C80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8571" y="2680855"/>
              <a:ext cx="3886742" cy="1068854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C347D92B-C3C2-4738-AE22-36D949641D9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71458" y="2667000"/>
              <a:ext cx="3886742" cy="1080286"/>
            </a:xfrm>
            <a:prstGeom prst="rect">
              <a:avLst/>
            </a:prstGeom>
          </p:spPr>
        </p:pic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58D71A0E-AA37-418B-8A32-D36D23D98142}"/>
              </a:ext>
            </a:extLst>
          </p:cNvPr>
          <p:cNvSpPr txBox="1"/>
          <p:nvPr/>
        </p:nvSpPr>
        <p:spPr>
          <a:xfrm>
            <a:off x="255767" y="1600200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Technology to program a system to behave through imitation</a:t>
            </a:r>
          </a:p>
          <a:p>
            <a:pPr algn="ctr"/>
            <a:r>
              <a:rPr lang="zh-CN" altLang="en-US" sz="2200" dirty="0"/>
              <a:t>一种令系统通过模仿而行动的技术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110938-3A55-41D4-AAEF-C6AA66AC2F34}"/>
              </a:ext>
            </a:extLst>
          </p:cNvPr>
          <p:cNvSpPr txBox="1"/>
          <p:nvPr/>
        </p:nvSpPr>
        <p:spPr>
          <a:xfrm>
            <a:off x="239202" y="3810000"/>
            <a:ext cx="86106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… in contrast to programming a system to behave explicitly</a:t>
            </a:r>
          </a:p>
          <a:p>
            <a:pPr algn="ctr"/>
            <a:r>
              <a:rPr lang="en-US" altLang="zh-CN" sz="2200" dirty="0"/>
              <a:t>……</a:t>
            </a:r>
            <a:r>
              <a:rPr lang="zh-CN" altLang="en-US" sz="2200" dirty="0"/>
              <a:t>不同于令系统显式地遵照编程指令行动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29C24627-83DF-4245-9FDA-02EBE6C7A3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125" y="4648200"/>
            <a:ext cx="3727133" cy="1448753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85236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6B920-28FE-41F4-B19E-AF72E4D6D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ea typeface="ＭＳ Ｐゴシック" panose="020B0600070205080204" pitchFamily="34" charset="-128"/>
              </a:rPr>
              <a:t>(Supervised) Machine Learning </a:t>
            </a:r>
            <a:r>
              <a:rPr lang="zh-CN" altLang="en-US" dirty="0">
                <a:ea typeface="ＭＳ Ｐゴシック" panose="020B0600070205080204" pitchFamily="34" charset="-128"/>
              </a:rPr>
              <a:t>（受监督的）机器学习 </a:t>
            </a:r>
            <a:r>
              <a:rPr lang="en-US" altLang="zh-CN" dirty="0">
                <a:ea typeface="ＭＳ Ｐゴシック" panose="020B0600070205080204" pitchFamily="34" charset="-128"/>
              </a:rPr>
              <a:t>(2)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A0F165-8941-4D6C-BAE4-F52C9F12F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What to Imitate </a:t>
            </a:r>
            <a:r>
              <a:rPr lang="zh-CN" altLang="en-US" dirty="0"/>
              <a:t>模仿的元素</a:t>
            </a:r>
            <a:endParaRPr lang="en-US" altLang="zh-CN" dirty="0"/>
          </a:p>
          <a:p>
            <a:pPr lvl="1"/>
            <a:r>
              <a:rPr lang="en-US" altLang="zh-CN" dirty="0"/>
              <a:t>Under certain status/context</a:t>
            </a:r>
            <a:r>
              <a:rPr lang="zh-CN" altLang="en-US" dirty="0"/>
              <a:t>                在特定的状态和环境下</a:t>
            </a:r>
            <a:endParaRPr lang="en-US" altLang="zh-CN" dirty="0"/>
          </a:p>
          <a:p>
            <a:pPr lvl="1"/>
            <a:r>
              <a:rPr lang="en-US" altLang="zh-CN" dirty="0"/>
              <a:t>Human</a:t>
            </a:r>
            <a:r>
              <a:rPr lang="zh-CN" altLang="en-US" dirty="0"/>
              <a:t>‘</a:t>
            </a:r>
            <a:r>
              <a:rPr lang="en-US" altLang="zh-CN" dirty="0"/>
              <a:t>s action/decision/judgement         </a:t>
            </a:r>
            <a:r>
              <a:rPr lang="zh-CN" altLang="en-US" dirty="0"/>
              <a:t>人的操作</a:t>
            </a:r>
            <a:r>
              <a:rPr lang="en-US" altLang="zh-CN" dirty="0"/>
              <a:t>/</a:t>
            </a:r>
            <a:r>
              <a:rPr lang="zh-CN" altLang="en-US" dirty="0"/>
              <a:t>决策</a:t>
            </a:r>
            <a:r>
              <a:rPr lang="en-US" altLang="zh-CN" dirty="0"/>
              <a:t>/</a:t>
            </a:r>
            <a:r>
              <a:rPr lang="zh-CN" altLang="en-US" dirty="0"/>
              <a:t>判断</a:t>
            </a:r>
            <a:endParaRPr lang="en-US" altLang="zh-CN" dirty="0"/>
          </a:p>
          <a:p>
            <a:r>
              <a:rPr lang="en-US" altLang="zh-CN" dirty="0"/>
              <a:t>Observations </a:t>
            </a:r>
            <a:r>
              <a:rPr lang="zh-CN" altLang="en-US" dirty="0"/>
              <a:t>观察到的现象</a:t>
            </a:r>
            <a:endParaRPr lang="en-US" altLang="zh-CN" dirty="0"/>
          </a:p>
          <a:p>
            <a:pPr lvl="1"/>
            <a:r>
              <a:rPr lang="en-US" altLang="zh-CN" dirty="0"/>
              <a:t>Training data </a:t>
            </a:r>
            <a:r>
              <a:rPr lang="zh-CN" altLang="en-US" dirty="0"/>
              <a:t>训练数据</a:t>
            </a:r>
            <a:endParaRPr lang="en-US" altLang="zh-CN" dirty="0"/>
          </a:p>
          <a:p>
            <a:r>
              <a:rPr lang="en-US" altLang="zh-CN" dirty="0"/>
              <a:t>Task Specific: ‘Weak AI’               </a:t>
            </a:r>
            <a:r>
              <a:rPr lang="zh-CN" altLang="en-US" dirty="0"/>
              <a:t>限定任务：“弱人工智能”</a:t>
            </a:r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CCC1CB-2B0C-48CF-9B79-0D5D57C2704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1. Prologue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1. </a:t>
            </a:r>
            <a:r>
              <a:rPr lang="zh-CN" altLang="en-US" dirty="0"/>
              <a:t>序言</a:t>
            </a:r>
            <a:endParaRPr lang="en-US" altLang="zh-CN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6614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1721A-374C-4A48-8424-29B53DB74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3 Pillars </a:t>
            </a:r>
            <a:r>
              <a:rPr lang="zh-CN" altLang="en-US" dirty="0"/>
              <a:t>三大支柱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422971-42CF-44A0-89B6-96A2AC32AED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1. Prologue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基本原理与实践：</a:t>
            </a:r>
            <a:r>
              <a:rPr lang="en-US" altLang="zh-CN" dirty="0"/>
              <a:t>1. </a:t>
            </a:r>
            <a:r>
              <a:rPr lang="zh-CN" altLang="en-US" dirty="0"/>
              <a:t>序言</a:t>
            </a:r>
            <a:endParaRPr lang="en-US" altLang="zh-CN" dirty="0"/>
          </a:p>
        </p:txBody>
      </p:sp>
      <p:sp>
        <p:nvSpPr>
          <p:cNvPr id="5" name="Arrow: Up 4">
            <a:extLst>
              <a:ext uri="{FF2B5EF4-FFF2-40B4-BE49-F238E27FC236}">
                <a16:creationId xmlns:a16="http://schemas.microsoft.com/office/drawing/2014/main" id="{C7F5F284-28E2-4C4E-A3F9-2D5FD377139A}"/>
              </a:ext>
            </a:extLst>
          </p:cNvPr>
          <p:cNvSpPr/>
          <p:nvPr/>
        </p:nvSpPr>
        <p:spPr bwMode="auto">
          <a:xfrm>
            <a:off x="266700" y="2736574"/>
            <a:ext cx="2743200" cy="3276600"/>
          </a:xfrm>
          <a:prstGeom prst="upArrow">
            <a:avLst>
              <a:gd name="adj1" fmla="val 58696"/>
              <a:gd name="adj2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Training Data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200" dirty="0"/>
              <a:t>训练数据</a:t>
            </a:r>
            <a:endParaRPr kumimoji="0" lang="zh-CN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6" name="Arrow: Up 5">
            <a:extLst>
              <a:ext uri="{FF2B5EF4-FFF2-40B4-BE49-F238E27FC236}">
                <a16:creationId xmlns:a16="http://schemas.microsoft.com/office/drawing/2014/main" id="{45B6A557-15E3-4115-8AC8-E78248B239CB}"/>
              </a:ext>
            </a:extLst>
          </p:cNvPr>
          <p:cNvSpPr/>
          <p:nvPr/>
        </p:nvSpPr>
        <p:spPr bwMode="auto">
          <a:xfrm>
            <a:off x="3200400" y="2736574"/>
            <a:ext cx="2743200" cy="3283226"/>
          </a:xfrm>
          <a:prstGeom prst="upArrow">
            <a:avLst>
              <a:gd name="adj1" fmla="val 58696"/>
              <a:gd name="adj2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Model, algorithm</a:t>
            </a:r>
            <a:r>
              <a:rPr lang="en-US" altLang="zh-CN" sz="2200" dirty="0"/>
              <a:t>, &amp; theory</a:t>
            </a:r>
            <a:endParaRPr kumimoji="0" lang="en-US" altLang="zh-CN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200" dirty="0"/>
              <a:t>模型、算法与理论</a:t>
            </a:r>
            <a:endParaRPr kumimoji="0" lang="zh-CN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7" name="Arrow: Up 6">
            <a:extLst>
              <a:ext uri="{FF2B5EF4-FFF2-40B4-BE49-F238E27FC236}">
                <a16:creationId xmlns:a16="http://schemas.microsoft.com/office/drawing/2014/main" id="{4C139C3D-15E7-4A88-948D-A30C617CFD8C}"/>
              </a:ext>
            </a:extLst>
          </p:cNvPr>
          <p:cNvSpPr/>
          <p:nvPr/>
        </p:nvSpPr>
        <p:spPr bwMode="auto">
          <a:xfrm>
            <a:off x="6134100" y="2736574"/>
            <a:ext cx="2743200" cy="3283226"/>
          </a:xfrm>
          <a:prstGeom prst="upArrow">
            <a:avLst>
              <a:gd name="adj1" fmla="val 58696"/>
              <a:gd name="adj2" fmla="val 5000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2200" dirty="0"/>
              <a:t>Computing power</a:t>
            </a:r>
          </a:p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zh-CN" altLang="en-US" sz="2200" dirty="0"/>
              <a:t>计算力</a:t>
            </a:r>
            <a:endParaRPr kumimoji="0" lang="zh-CN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BBEA781-A20F-4AF1-A21A-0C9AA35738EA}"/>
              </a:ext>
            </a:extLst>
          </p:cNvPr>
          <p:cNvSpPr/>
          <p:nvPr/>
        </p:nvSpPr>
        <p:spPr bwMode="auto">
          <a:xfrm>
            <a:off x="190500" y="2563054"/>
            <a:ext cx="8763000" cy="74336"/>
          </a:xfrm>
          <a:prstGeom prst="rect">
            <a:avLst/>
          </a:prstGeom>
          <a:solidFill>
            <a:srgbClr val="00B0F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omic Sans MS" pitchFamily="66" charset="0"/>
              <a:ea typeface="SimSun" pitchFamily="2" charset="-122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3C73AE-8902-4D23-9D74-9FB3CCF97036}"/>
              </a:ext>
            </a:extLst>
          </p:cNvPr>
          <p:cNvSpPr txBox="1"/>
          <p:nvPr/>
        </p:nvSpPr>
        <p:spPr>
          <a:xfrm>
            <a:off x="1638300" y="1885655"/>
            <a:ext cx="58674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200" dirty="0"/>
              <a:t>Machine</a:t>
            </a:r>
            <a:r>
              <a:rPr lang="zh-CN" altLang="en-US" sz="2200" dirty="0"/>
              <a:t> </a:t>
            </a:r>
            <a:r>
              <a:rPr lang="en-US" altLang="zh-CN" sz="2200" dirty="0"/>
              <a:t>Learning</a:t>
            </a:r>
            <a:r>
              <a:rPr lang="zh-CN" altLang="en-US" sz="2200" dirty="0"/>
              <a:t> 机器学习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89907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86010-B05E-42D0-9BBB-F6DBE3AA7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This Course </a:t>
            </a:r>
            <a:r>
              <a:rPr lang="zh-CN" altLang="en-US" dirty="0"/>
              <a:t>该课程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BEC85-A671-4A53-B358-1D27AE6528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772400" cy="4643438"/>
          </a:xfrm>
        </p:spPr>
        <p:txBody>
          <a:bodyPr>
            <a:normAutofit/>
          </a:bodyPr>
          <a:lstStyle/>
          <a:p>
            <a:r>
              <a:rPr lang="en-US" altLang="zh-CN" dirty="0"/>
              <a:t>Popular-Science Course on Machine Learning </a:t>
            </a:r>
            <a:r>
              <a:rPr lang="zh-CN" altLang="en-US" dirty="0"/>
              <a:t>机器学习的科普课程</a:t>
            </a:r>
            <a:endParaRPr lang="en-US" altLang="zh-CN" dirty="0"/>
          </a:p>
          <a:p>
            <a:pPr lvl="1"/>
            <a:r>
              <a:rPr lang="en-US" altLang="zh-CN" dirty="0"/>
              <a:t>Simple but profound </a:t>
            </a:r>
            <a:r>
              <a:rPr lang="zh-CN" altLang="en-US" dirty="0"/>
              <a:t>深入浅出</a:t>
            </a:r>
            <a:endParaRPr lang="en-US" altLang="zh-CN" dirty="0"/>
          </a:p>
          <a:p>
            <a:r>
              <a:rPr lang="en-US" altLang="zh-CN" dirty="0"/>
              <a:t>You’ll Understand </a:t>
            </a:r>
            <a:r>
              <a:rPr lang="zh-CN" altLang="en-US" dirty="0"/>
              <a:t>你将领会到</a:t>
            </a:r>
            <a:r>
              <a:rPr lang="en-US" altLang="zh-CN" dirty="0"/>
              <a:t> </a:t>
            </a:r>
          </a:p>
          <a:p>
            <a:pPr lvl="1"/>
            <a:r>
              <a:rPr lang="en-US" altLang="zh-CN" dirty="0"/>
              <a:t>Basic principles on when ML works (&amp; when it doesn’t) </a:t>
            </a:r>
            <a:r>
              <a:rPr lang="zh-CN" altLang="en-US" dirty="0"/>
              <a:t>机器学习有效的基本原理</a:t>
            </a:r>
            <a:endParaRPr lang="en-US" altLang="zh-CN" dirty="0"/>
          </a:p>
          <a:p>
            <a:pPr lvl="2"/>
            <a:r>
              <a:rPr lang="en-US" altLang="zh-CN" dirty="0"/>
              <a:t>Through practices on examples </a:t>
            </a:r>
            <a:r>
              <a:rPr lang="zh-CN" altLang="en-US" dirty="0"/>
              <a:t>通过在实例上的实践</a:t>
            </a:r>
            <a:endParaRPr lang="en-US" altLang="zh-CN" dirty="0"/>
          </a:p>
          <a:p>
            <a:pPr lvl="1"/>
            <a:r>
              <a:rPr lang="en-US" altLang="zh-CN" dirty="0"/>
              <a:t>How technologies evolve </a:t>
            </a:r>
            <a:r>
              <a:rPr lang="zh-CN" altLang="en-US" dirty="0"/>
              <a:t>技术的演进</a:t>
            </a:r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9A0184-B3B6-444C-A63F-F6ED84D737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1. Prologue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1. </a:t>
            </a:r>
            <a:r>
              <a:rPr lang="zh-CN" altLang="en-US" dirty="0"/>
              <a:t>序言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87313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86010-B05E-42D0-9BBB-F6DBE3AA7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In Our Practices </a:t>
            </a:r>
            <a:r>
              <a:rPr lang="zh-CN" altLang="en-US" dirty="0"/>
              <a:t>我们的实践中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BEC85-A671-4A53-B358-1D27AE6528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772400" cy="4643438"/>
          </a:xfrm>
        </p:spPr>
        <p:txBody>
          <a:bodyPr>
            <a:normAutofit/>
          </a:bodyPr>
          <a:lstStyle/>
          <a:p>
            <a:r>
              <a:rPr lang="en-US" altLang="zh-CN" dirty="0"/>
              <a:t>Program to Solve Example AI Problems  </a:t>
            </a:r>
            <a:r>
              <a:rPr lang="zh-CN" altLang="en-US" dirty="0"/>
              <a:t>编程解决人工智能示例问题</a:t>
            </a:r>
            <a:endParaRPr lang="en-US" altLang="zh-CN" dirty="0"/>
          </a:p>
          <a:p>
            <a:pPr lvl="1"/>
            <a:r>
              <a:rPr lang="en-US" altLang="zh-CN" dirty="0"/>
              <a:t>It will be easy if you follow the course </a:t>
            </a:r>
            <a:r>
              <a:rPr lang="zh-CN" altLang="en-US" dirty="0"/>
              <a:t>如果你认真学习，这将是简单的</a:t>
            </a:r>
            <a:endParaRPr lang="en-US" altLang="zh-CN" dirty="0"/>
          </a:p>
          <a:p>
            <a:r>
              <a:rPr lang="en-US" altLang="zh-CN" dirty="0"/>
              <a:t>Python Language Python</a:t>
            </a:r>
            <a:r>
              <a:rPr lang="zh-CN" altLang="en-US" dirty="0"/>
              <a:t>语言</a:t>
            </a:r>
            <a:r>
              <a:rPr lang="en-US" altLang="zh-CN" dirty="0"/>
              <a:t> </a:t>
            </a:r>
          </a:p>
          <a:p>
            <a:pPr lvl="1"/>
            <a:r>
              <a:rPr lang="en-US" altLang="zh-CN" dirty="0"/>
              <a:t>Easier to handle than C </a:t>
            </a:r>
            <a:r>
              <a:rPr lang="zh-CN" altLang="en-US" dirty="0"/>
              <a:t>比</a:t>
            </a:r>
            <a:r>
              <a:rPr lang="en-US" altLang="zh-CN" dirty="0"/>
              <a:t>C</a:t>
            </a:r>
            <a:r>
              <a:rPr lang="zh-CN" altLang="en-US" dirty="0"/>
              <a:t>语言容易掌控</a:t>
            </a:r>
            <a:endParaRPr lang="en-US" altLang="zh-CN" dirty="0"/>
          </a:p>
          <a:p>
            <a:pPr lvl="1"/>
            <a:r>
              <a:rPr lang="en-US" altLang="zh-CN" dirty="0"/>
              <a:t>Simplified in complex programming tasks w/ many building blocks available </a:t>
            </a:r>
            <a:r>
              <a:rPr lang="zh-CN" altLang="en-US" dirty="0"/>
              <a:t>有很多</a:t>
            </a:r>
            <a:r>
              <a:rPr lang="zh-CN" altLang="en-US"/>
              <a:t>基础构件可</a:t>
            </a:r>
            <a:r>
              <a:rPr lang="zh-CN" altLang="en-US" dirty="0"/>
              <a:t>用于简化复杂的编程任务</a:t>
            </a:r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9A0184-B3B6-444C-A63F-F6ED84D737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1. Prologue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1. </a:t>
            </a:r>
            <a:r>
              <a:rPr lang="zh-CN" altLang="en-US" dirty="0"/>
              <a:t>序言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324896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86010-B05E-42D0-9BBB-F6DBE3AA7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Python Is Easy  Python</a:t>
            </a:r>
            <a:r>
              <a:rPr lang="zh-CN" altLang="en-US" dirty="0"/>
              <a:t>很简单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9A0184-B3B6-444C-A63F-F6ED84D737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1. Prologue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1. </a:t>
            </a:r>
            <a:r>
              <a:rPr lang="zh-CN" altLang="en-US" dirty="0"/>
              <a:t>序言</a:t>
            </a:r>
            <a:endParaRPr lang="en-US" altLang="zh-CN" dirty="0"/>
          </a:p>
        </p:txBody>
      </p:sp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3BBE2E8C-B44E-4970-9501-15278C2FE7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5717" y="1643353"/>
            <a:ext cx="5372566" cy="1432684"/>
          </a:xfrm>
          <a:prstGeom prst="rect">
            <a:avLst/>
          </a:prstGeom>
        </p:spPr>
      </p:pic>
      <p:pic>
        <p:nvPicPr>
          <p:cNvPr id="9" name="Picture 8" descr="A screenshot of a cell phone&#10;&#10;Description automatically generated">
            <a:extLst>
              <a:ext uri="{FF2B5EF4-FFF2-40B4-BE49-F238E27FC236}">
                <a16:creationId xmlns:a16="http://schemas.microsoft.com/office/drawing/2014/main" id="{A57E257F-DB79-4BE8-AEC6-087D54455F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3752" y="3276600"/>
            <a:ext cx="5936494" cy="1569856"/>
          </a:xfrm>
          <a:prstGeom prst="rect">
            <a:avLst/>
          </a:prstGeom>
        </p:spPr>
      </p:pic>
      <p:pic>
        <p:nvPicPr>
          <p:cNvPr id="11" name="Picture 10" descr="A screenshot of a cell phone&#10;&#10;Description automatically generated">
            <a:extLst>
              <a:ext uri="{FF2B5EF4-FFF2-40B4-BE49-F238E27FC236}">
                <a16:creationId xmlns:a16="http://schemas.microsoft.com/office/drawing/2014/main" id="{695608F4-3571-4DA1-8460-AC5662A9BB9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9510" y="5135810"/>
            <a:ext cx="5524979" cy="80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1642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86010-B05E-42D0-9BBB-F6DBE3AA7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Not … </a:t>
            </a:r>
            <a:r>
              <a:rPr lang="zh-CN" altLang="en-US" dirty="0"/>
              <a:t>不是</a:t>
            </a:r>
            <a:r>
              <a:rPr lang="en-US" altLang="zh-CN" dirty="0"/>
              <a:t>……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BEC85-A671-4A53-B358-1D27AE6528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772400" cy="4643438"/>
          </a:xfrm>
        </p:spPr>
        <p:txBody>
          <a:bodyPr>
            <a:normAutofit lnSpcReduction="10000"/>
          </a:bodyPr>
          <a:lstStyle/>
          <a:p>
            <a:r>
              <a:rPr lang="en-US" altLang="zh-CN" dirty="0"/>
              <a:t>Not a Systematic Course           </a:t>
            </a:r>
            <a:r>
              <a:rPr lang="zh-CN" altLang="en-US" dirty="0"/>
              <a:t>不是系统化的课程</a:t>
            </a:r>
            <a:r>
              <a:rPr lang="en-US" altLang="zh-CN" dirty="0"/>
              <a:t> </a:t>
            </a:r>
          </a:p>
          <a:p>
            <a:pPr lvl="1"/>
            <a:r>
              <a:rPr lang="en-US" altLang="zh-CN" dirty="0"/>
              <a:t>Not covering every aspect </a:t>
            </a:r>
            <a:r>
              <a:rPr lang="zh-CN" altLang="en-US" dirty="0"/>
              <a:t>无法面面俱到</a:t>
            </a:r>
            <a:endParaRPr lang="en-US" altLang="zh-CN" dirty="0"/>
          </a:p>
          <a:p>
            <a:r>
              <a:rPr lang="en-US" altLang="zh-CN" dirty="0"/>
              <a:t>Not a Training on Machine Learning Engineering </a:t>
            </a:r>
            <a:r>
              <a:rPr lang="zh-CN" altLang="en-US" dirty="0"/>
              <a:t>不是机器学习工程培训</a:t>
            </a:r>
            <a:r>
              <a:rPr lang="en-US" altLang="zh-CN" dirty="0"/>
              <a:t> </a:t>
            </a:r>
          </a:p>
          <a:p>
            <a:pPr lvl="1"/>
            <a:r>
              <a:rPr lang="en-US" altLang="zh-CN" dirty="0"/>
              <a:t>Not focusing on fashioned</a:t>
            </a:r>
            <a:r>
              <a:rPr lang="zh-CN" altLang="en-US" dirty="0"/>
              <a:t> </a:t>
            </a:r>
            <a:r>
              <a:rPr lang="en-US" altLang="zh-CN" dirty="0"/>
              <a:t>tools             </a:t>
            </a:r>
            <a:r>
              <a:rPr lang="zh-CN" altLang="en-US" dirty="0"/>
              <a:t>不专注于流行工具</a:t>
            </a:r>
            <a:endParaRPr lang="en-US" altLang="zh-CN" dirty="0"/>
          </a:p>
          <a:p>
            <a:r>
              <a:rPr lang="en-US" altLang="zh-CN" dirty="0"/>
              <a:t>Not a Python Programming Course    </a:t>
            </a:r>
            <a:r>
              <a:rPr lang="zh-CN" altLang="en-US" dirty="0"/>
              <a:t>不是</a:t>
            </a:r>
            <a:r>
              <a:rPr lang="en-US" altLang="zh-CN" dirty="0"/>
              <a:t>Python</a:t>
            </a:r>
            <a:r>
              <a:rPr lang="zh-CN" altLang="en-US" dirty="0"/>
              <a:t>编程课程</a:t>
            </a:r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9A0184-B3B6-444C-A63F-F6ED84D737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1. Prologue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1. </a:t>
            </a:r>
            <a:r>
              <a:rPr lang="zh-CN" altLang="en-US" dirty="0"/>
              <a:t>序言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089723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86010-B05E-42D0-9BBB-F6DBE3AA7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Expectation </a:t>
            </a:r>
            <a:r>
              <a:rPr lang="zh-CN" altLang="en-US" dirty="0"/>
              <a:t>期望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2BEC85-A671-4A53-B358-1D27AE6528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600200"/>
            <a:ext cx="7772400" cy="4643438"/>
          </a:xfrm>
        </p:spPr>
        <p:txBody>
          <a:bodyPr>
            <a:normAutofit/>
          </a:bodyPr>
          <a:lstStyle/>
          <a:p>
            <a:r>
              <a:rPr lang="en-US" altLang="zh-CN" dirty="0"/>
              <a:t>Learn Interesting Knowledge           </a:t>
            </a:r>
            <a:r>
              <a:rPr lang="zh-CN" altLang="en-US" dirty="0"/>
              <a:t>学习有趣的知识</a:t>
            </a:r>
            <a:r>
              <a:rPr lang="en-US" altLang="zh-CN" dirty="0"/>
              <a:t> </a:t>
            </a:r>
          </a:p>
          <a:p>
            <a:pPr lvl="1"/>
            <a:r>
              <a:rPr lang="en-US" altLang="zh-CN" dirty="0"/>
              <a:t>Gain insight </a:t>
            </a:r>
            <a:r>
              <a:rPr lang="zh-CN" altLang="en-US" dirty="0"/>
              <a:t>洞悉要义</a:t>
            </a:r>
            <a:endParaRPr lang="en-US" altLang="zh-CN" dirty="0"/>
          </a:p>
          <a:p>
            <a:r>
              <a:rPr lang="en-US" altLang="zh-CN" dirty="0"/>
              <a:t>Practice (Easy) Programming                </a:t>
            </a:r>
            <a:r>
              <a:rPr lang="zh-CN" altLang="en-US"/>
              <a:t>锻炼（容易的）编</a:t>
            </a:r>
            <a:r>
              <a:rPr lang="zh-CN" altLang="en-US" dirty="0"/>
              <a:t>程</a:t>
            </a:r>
            <a:endParaRPr lang="en-US" altLang="zh-CN" dirty="0"/>
          </a:p>
          <a:p>
            <a:pPr lvl="1"/>
            <a:r>
              <a:rPr lang="en-US" altLang="zh-CN" dirty="0"/>
              <a:t>NO homework </a:t>
            </a:r>
            <a:r>
              <a:rPr lang="zh-CN" altLang="en-US" b="1" dirty="0">
                <a:solidFill>
                  <a:srgbClr val="C00000"/>
                </a:solidFill>
              </a:rPr>
              <a:t>没有</a:t>
            </a:r>
            <a:r>
              <a:rPr lang="zh-CN" altLang="en-US" dirty="0"/>
              <a:t>回家作业</a:t>
            </a:r>
            <a:endParaRPr lang="en-US" altLang="zh-C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9A0184-B3B6-444C-A63F-F6ED84D737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zh-CN" dirty="0"/>
              <a:t>Machine Learning – Basic Principles &amp; Practice: 1. Prologue</a:t>
            </a:r>
          </a:p>
          <a:p>
            <a:pPr>
              <a:defRPr/>
            </a:pPr>
            <a:r>
              <a:rPr lang="zh-CN" altLang="en-US" dirty="0"/>
              <a:t>机器学习 </a:t>
            </a:r>
            <a:r>
              <a:rPr lang="en-US" altLang="zh-CN" dirty="0"/>
              <a:t>– </a:t>
            </a:r>
            <a:r>
              <a:rPr lang="zh-CN" altLang="en-US" dirty="0"/>
              <a:t>基础原理与实践：</a:t>
            </a:r>
            <a:r>
              <a:rPr lang="en-US" altLang="zh-CN" dirty="0"/>
              <a:t>1. </a:t>
            </a:r>
            <a:r>
              <a:rPr lang="zh-CN" altLang="en-US" dirty="0"/>
              <a:t>序言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543582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636838"/>
            <a:ext cx="7772400" cy="1470025"/>
          </a:xfrm>
        </p:spPr>
        <p:txBody>
          <a:bodyPr/>
          <a:lstStyle/>
          <a:p>
            <a:pPr algn="ctr" eaLnBrk="1" hangingPunct="1"/>
            <a:r>
              <a:rPr lang="en-US" altLang="ja-JP" b="1" dirty="0">
                <a:ea typeface="ＭＳ Ｐゴシック" panose="020B0600070205080204" pitchFamily="34" charset="-128"/>
              </a:rPr>
              <a:t>The End </a:t>
            </a:r>
            <a:endParaRPr lang="en-US" altLang="zh-CN" b="1" dirty="0">
              <a:ea typeface="SimSun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3|0.1|0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2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0.4|0.2|0.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1|0.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2|0.4|0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2|0.4|0.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0.7|0.2|0.1|0.1|0.1|0.1|0.1|0.1|0.1|0.2|0.2|0.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2|0.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1|24.9|0.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2|19.8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9|19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4|0.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3|10.6|7.6|10.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.2|0.6|0.9"/>
</p:tagLst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mic Sans MS" pitchFamily="66" charset="0"/>
            <a:ea typeface="SimSun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11778</TotalTime>
  <Words>1868</Words>
  <Application>Microsoft Office PowerPoint</Application>
  <PresentationFormat>On-screen Show (4:3)</PresentationFormat>
  <Paragraphs>187</Paragraphs>
  <Slides>25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ＭＳ Ｐゴシック</vt:lpstr>
      <vt:lpstr>SimSun</vt:lpstr>
      <vt:lpstr>Arial</vt:lpstr>
      <vt:lpstr>Comic Sans MS</vt:lpstr>
      <vt:lpstr>Tahoma</vt:lpstr>
      <vt:lpstr>Times New Roman</vt:lpstr>
      <vt:lpstr>Wingdings</vt:lpstr>
      <vt:lpstr>Blends</vt:lpstr>
      <vt:lpstr>Machine Learning -  Basic Principles &amp; Practice 1. Prologue</vt:lpstr>
      <vt:lpstr>Artificial Intelligence 人工智能</vt:lpstr>
      <vt:lpstr>Let’s Google 我们来Google (1)</vt:lpstr>
      <vt:lpstr>Let’s Google 我们来Google (2)</vt:lpstr>
      <vt:lpstr>Let’s Google 我们来Google (3)</vt:lpstr>
      <vt:lpstr>AI Examples 人工智能实例</vt:lpstr>
      <vt:lpstr>Approaches to AI 探索AI的方法</vt:lpstr>
      <vt:lpstr>Extrospection 外观 (1)</vt:lpstr>
      <vt:lpstr>Extrospection 外观 (2)</vt:lpstr>
      <vt:lpstr>Introspection 内省 (1)</vt:lpstr>
      <vt:lpstr>Introspection 内省 (2)</vt:lpstr>
      <vt:lpstr>Introspection 内省 (3)</vt:lpstr>
      <vt:lpstr>Introspection 内省 (3)</vt:lpstr>
      <vt:lpstr>Imitation 模仿</vt:lpstr>
      <vt:lpstr>Example: Autopilot  一个例子：自动驾驶 (1)</vt:lpstr>
      <vt:lpstr>Example: Autopilot  一个例子：自动驾驶 (2)</vt:lpstr>
      <vt:lpstr>(Supervised) Machine Learning （受监督的）机器学习 (1)</vt:lpstr>
      <vt:lpstr>(Supervised) Machine Learning （受监督的）机器学习 (2)</vt:lpstr>
      <vt:lpstr>3 Pillars 三大支柱</vt:lpstr>
      <vt:lpstr>This Course 该课程</vt:lpstr>
      <vt:lpstr>In Our Practices 我们的实践中</vt:lpstr>
      <vt:lpstr>Python Is Easy  Python很简单</vt:lpstr>
      <vt:lpstr>Not … 不是……</vt:lpstr>
      <vt:lpstr>Expectation 期望</vt:lpstr>
      <vt:lpstr>The End </vt:lpstr>
    </vt:vector>
  </TitlesOfParts>
  <Company>Children's Computer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Basics: 1. General Introduction</dc:title>
  <dc:creator>Cong Li</dc:creator>
  <cp:keywords>CTPClassification=CTP_NT</cp:keywords>
  <cp:lastModifiedBy>Li, Cong</cp:lastModifiedBy>
  <cp:revision>1034</cp:revision>
  <dcterms:created xsi:type="dcterms:W3CDTF">2003-03-13T01:36:43Z</dcterms:created>
  <dcterms:modified xsi:type="dcterms:W3CDTF">2025-08-30T02:43:09Z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c0c0107d-b9fb-42c2-8cad-18a954c0a4de</vt:lpwstr>
  </property>
  <property fmtid="{D5CDD505-2E9C-101B-9397-08002B2CF9AE}" pid="3" name="CTP_TimeStamp">
    <vt:lpwstr>2020-08-17 11:43:15Z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