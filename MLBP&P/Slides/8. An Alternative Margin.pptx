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86" r:id="rId2"/>
    <p:sldId id="468" r:id="rId3"/>
    <p:sldId id="539" r:id="rId4"/>
    <p:sldId id="540" r:id="rId5"/>
    <p:sldId id="541" r:id="rId6"/>
    <p:sldId id="542" r:id="rId7"/>
    <p:sldId id="543" r:id="rId8"/>
    <p:sldId id="544" r:id="rId9"/>
    <p:sldId id="545" r:id="rId10"/>
    <p:sldId id="546" r:id="rId11"/>
    <p:sldId id="548" r:id="rId12"/>
    <p:sldId id="547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6" r:id="rId21"/>
    <p:sldId id="557" r:id="rId22"/>
    <p:sldId id="558" r:id="rId23"/>
    <p:sldId id="559" r:id="rId24"/>
    <p:sldId id="560" r:id="rId25"/>
    <p:sldId id="561" r:id="rId26"/>
    <p:sldId id="489" r:id="rId27"/>
    <p:sldId id="562" r:id="rId28"/>
    <p:sldId id="563" r:id="rId29"/>
    <p:sldId id="564" r:id="rId30"/>
    <p:sldId id="565" r:id="rId31"/>
    <p:sldId id="529" r:id="rId32"/>
    <p:sldId id="530" r:id="rId33"/>
    <p:sldId id="501" r:id="rId34"/>
    <p:sldId id="615" r:id="rId35"/>
    <p:sldId id="353" r:id="rId3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0000"/>
    <a:srgbClr val="7DDDFF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D4931D-6B60-45CD-9C47-0F3B2295DB32}" v="2" dt="2026-04-11T01:28:37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4370" autoAdjust="0"/>
  </p:normalViewPr>
  <p:slideViewPr>
    <p:cSldViewPr>
      <p:cViewPr varScale="1">
        <p:scale>
          <a:sx n="75" d="100"/>
          <a:sy n="75" d="100"/>
        </p:scale>
        <p:origin x="9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modSld">
      <pc:chgData name="Li, Cong" userId="025630f4-267e-4cb3-8cd5-8795177f99f4" providerId="ADAL" clId="{929A2CC8-B112-421C-81E2-D5D63B23E300}" dt="2026-04-11T01:28:37.580" v="1" actId="20577"/>
      <pc:docMkLst>
        <pc:docMk/>
      </pc:docMkLst>
      <pc:sldChg chg="modSp">
        <pc:chgData name="Li, Cong" userId="025630f4-267e-4cb3-8cd5-8795177f99f4" providerId="ADAL" clId="{929A2CC8-B112-421C-81E2-D5D63B23E300}" dt="2026-04-11T01:28:37.580" v="1" actId="20577"/>
        <pc:sldMkLst>
          <pc:docMk/>
          <pc:sldMk cId="1608872574" sldId="564"/>
        </pc:sldMkLst>
        <pc:spChg chg="mod">
          <ac:chgData name="Li, Cong" userId="025630f4-267e-4cb3-8cd5-8795177f99f4" providerId="ADAL" clId="{929A2CC8-B112-421C-81E2-D5D63B23E300}" dt="2026-04-11T01:28:37.580" v="1" actId="20577"/>
          <ac:spMkLst>
            <pc:docMk/>
            <pc:sldMk cId="1608872574" sldId="564"/>
            <ac:spMk id="24" creationId="{4B05AE44-38A4-487B-A1B5-1666224673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6039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19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110.png"/><Relationship Id="rId10" Type="http://schemas.openxmlformats.org/officeDocument/2006/relationships/image" Target="../media/image240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image" Target="../media/image2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2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image" Target="../media/image2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9" Type="http://schemas.openxmlformats.org/officeDocument/2006/relationships/image" Target="../media/image24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240.pn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0.png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54.png"/><Relationship Id="rId10" Type="http://schemas.openxmlformats.org/officeDocument/2006/relationships/image" Target="../media/image58.png"/><Relationship Id="rId9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10" Type="http://schemas.openxmlformats.org/officeDocument/2006/relationships/image" Target="../media/image74.png"/><Relationship Id="rId9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7" Type="http://schemas.openxmlformats.org/officeDocument/2006/relationships/image" Target="../media/image5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8. An Alternative Margin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8. </a:t>
            </a:r>
            <a:r>
              <a:rPr lang="zh-CN" altLang="en-US" sz="3600" b="1" kern="0" dirty="0">
                <a:ea typeface="SimSun" panose="02010600030101010101" pitchFamily="2" charset="-122"/>
              </a:rPr>
              <a:t>别样的间距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Margin  </a:t>
            </a:r>
            <a:r>
              <a:rPr lang="zh-CN" altLang="en-US" dirty="0">
                <a:ea typeface="ＭＳ Ｐゴシック" panose="020B0600070205080204" pitchFamily="34" charset="-128"/>
              </a:rPr>
              <a:t>间距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Margin in Linear Classifiers </a:t>
            </a:r>
            <a:br>
              <a:rPr lang="en-US" altLang="zh-CN" dirty="0"/>
            </a:br>
            <a:r>
              <a:rPr lang="zh-CN" altLang="en-US" dirty="0"/>
              <a:t>线性分类器的间距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Limit classification capability &amp; improve accuracy  </a:t>
            </a:r>
            <a:r>
              <a:rPr lang="zh-CN" altLang="en-US" dirty="0"/>
              <a:t>限制分类能力并提升准确率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As a reflection of Occam’s Razor</a:t>
            </a:r>
            <a:br>
              <a:rPr lang="en-US" altLang="zh-CN" dirty="0"/>
            </a:br>
            <a:r>
              <a:rPr lang="zh-CN" altLang="en-US" dirty="0"/>
              <a:t>奥卡姆剃刀的一种呈现方式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Limitation  </a:t>
            </a:r>
            <a:r>
              <a:rPr lang="zh-CN" altLang="en-US" dirty="0"/>
              <a:t>局限性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Apply to linear classifiers only</a:t>
            </a:r>
            <a:br>
              <a:rPr lang="en-US" altLang="zh-CN" dirty="0"/>
            </a:br>
            <a:r>
              <a:rPr lang="zh-CN" altLang="en-US" dirty="0"/>
              <a:t>仅适用于线性分类器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Distance from a sample to a hyperplane</a:t>
            </a:r>
            <a:br>
              <a:rPr lang="en-US" altLang="zh-CN" dirty="0"/>
            </a:br>
            <a:r>
              <a:rPr lang="zh-CN" altLang="en-US" dirty="0"/>
              <a:t>从一个数据点到超平面的距离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The Alternative  </a:t>
            </a:r>
            <a:r>
              <a:rPr lang="zh-CN" altLang="en-US" dirty="0">
                <a:ea typeface="ＭＳ Ｐゴシック" panose="020B0600070205080204" pitchFamily="34" charset="-128"/>
              </a:rPr>
              <a:t>替代品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Alternative Definition of Margin </a:t>
            </a:r>
            <a:br>
              <a:rPr lang="en-US" altLang="zh-CN" dirty="0"/>
            </a:br>
            <a:r>
              <a:rPr lang="zh-CN" altLang="en-US" dirty="0"/>
              <a:t>另一种间距的定义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Apply to any </a:t>
            </a:r>
            <a:r>
              <a:rPr lang="en-US" altLang="zh-CN" dirty="0">
                <a:solidFill>
                  <a:srgbClr val="FF0000"/>
                </a:solidFill>
              </a:rPr>
              <a:t>regression function for classification</a:t>
            </a:r>
            <a:r>
              <a:rPr lang="en-US" altLang="zh-CN" dirty="0"/>
              <a:t>  </a:t>
            </a:r>
            <a:r>
              <a:rPr lang="zh-CN" altLang="en-US" dirty="0"/>
              <a:t>用于</a:t>
            </a:r>
            <a:r>
              <a:rPr lang="zh-CN" altLang="en-US" dirty="0">
                <a:solidFill>
                  <a:srgbClr val="FF0000"/>
                </a:solidFill>
              </a:rPr>
              <a:t>进行分类的回归函数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dirty="0"/>
              <a:t>Also as a reflection of Occam’s Razor</a:t>
            </a:r>
            <a:br>
              <a:rPr lang="en-US" altLang="zh-CN" dirty="0"/>
            </a:br>
            <a:r>
              <a:rPr lang="zh-CN" altLang="en-US" dirty="0"/>
              <a:t>也是奥卡姆剃刀的一种呈现方式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Here We Start from  </a:t>
            </a:r>
            <a:r>
              <a:rPr lang="zh-CN" altLang="en-US" dirty="0"/>
              <a:t>这里我们始于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Another type of linear classifier: logistic regression  </a:t>
            </a:r>
            <a:r>
              <a:rPr lang="zh-CN" altLang="en-US" dirty="0"/>
              <a:t>另一种线性分类器：对数几率回归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166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Logistic Regression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对数几率回归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-76202" y="1739781"/>
            <a:ext cx="929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Numerical function for probability estimation </a:t>
            </a:r>
            <a:r>
              <a:rPr lang="zh-CN" altLang="en-US" sz="2200" dirty="0"/>
              <a:t>用于概率估计的数值函数</a:t>
            </a:r>
            <a:endParaRPr lang="en-US" altLang="zh-C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39C9E-2956-4D75-92A9-0ABCB2CCBAB4}"/>
              </a:ext>
            </a:extLst>
          </p:cNvPr>
          <p:cNvSpPr txBox="1"/>
          <p:nvPr/>
        </p:nvSpPr>
        <p:spPr>
          <a:xfrm>
            <a:off x="190498" y="3352800"/>
            <a:ext cx="876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Output 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en-US" altLang="zh-CN" sz="2200" dirty="0"/>
              <a:t> or 1 for math elegance  </a:t>
            </a:r>
            <a:r>
              <a:rPr lang="zh-CN" altLang="en-US" sz="2200" dirty="0"/>
              <a:t>输出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/>
              <a:t>或</a:t>
            </a:r>
            <a:r>
              <a:rPr lang="en-US" altLang="zh-CN" sz="2200" dirty="0"/>
              <a:t>1</a:t>
            </a:r>
            <a:r>
              <a:rPr lang="zh-CN" altLang="en-US" sz="2200" dirty="0"/>
              <a:t>（以求数学上的优雅）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42F79E-9963-49B4-9A13-056415CBF0D7}"/>
                  </a:ext>
                </a:extLst>
              </p:cNvPr>
              <p:cNvSpPr/>
              <p:nvPr/>
            </p:nvSpPr>
            <p:spPr>
              <a:xfrm>
                <a:off x="935144" y="4038600"/>
                <a:ext cx="3560655" cy="739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42F79E-9963-49B4-9A13-056415CBF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44" y="4038600"/>
                <a:ext cx="3560655" cy="739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675480" y="2286000"/>
                <a:ext cx="779303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Take the same explicit knowledge as linear classifier </a:t>
                </a:r>
                <a:br>
                  <a:rPr lang="en-US" altLang="zh-CN" sz="2200" dirty="0"/>
                </a:br>
                <a:r>
                  <a:rPr lang="zh-CN" altLang="en-US" sz="2200" dirty="0"/>
                  <a:t>使用和线性分类器一样的知识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0" y="2286000"/>
                <a:ext cx="7793037" cy="1107996"/>
              </a:xfrm>
              <a:prstGeom prst="rect">
                <a:avLst/>
              </a:prstGeom>
              <a:blipFill>
                <a:blip r:embed="rId6"/>
                <a:stretch>
                  <a:fillRect t="-4396" b="-9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82DB94-2BCE-4E0B-8223-3937228E996D}"/>
                  </a:ext>
                </a:extLst>
              </p:cNvPr>
              <p:cNvSpPr/>
              <p:nvPr/>
            </p:nvSpPr>
            <p:spPr>
              <a:xfrm>
                <a:off x="935145" y="4703444"/>
                <a:ext cx="3560655" cy="798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82DB94-2BCE-4E0B-8223-3937228E9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45" y="4703444"/>
                <a:ext cx="3560655" cy="7981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1C1F8D3-D1AB-4CE9-ACA1-8A107AF70A35}"/>
              </a:ext>
            </a:extLst>
          </p:cNvPr>
          <p:cNvGrpSpPr/>
          <p:nvPr/>
        </p:nvGrpSpPr>
        <p:grpSpPr>
          <a:xfrm>
            <a:off x="5105136" y="3886200"/>
            <a:ext cx="3048264" cy="2301319"/>
            <a:chOff x="5867136" y="1909430"/>
            <a:chExt cx="3048264" cy="2301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6AA498F-37C6-486E-BA33-E7F731BCF786}"/>
                    </a:ext>
                  </a:extLst>
                </p:cNvPr>
                <p:cNvSpPr/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CEFFD6-9B73-4664-896D-FFDF05651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7136" y="1909430"/>
              <a:ext cx="3048264" cy="2032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BE64012-4BBC-4F5D-98BE-B2E820F005D6}"/>
                    </a:ext>
                  </a:extLst>
                </p:cNvPr>
                <p:cNvSpPr/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73249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Classification  </a:t>
            </a:r>
            <a:r>
              <a:rPr lang="zh-CN" altLang="en-US" dirty="0">
                <a:ea typeface="ＭＳ Ｐゴシック" panose="020B0600070205080204" pitchFamily="34" charset="-128"/>
              </a:rPr>
              <a:t>分类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42F79E-9963-49B4-9A13-056415CBF0D7}"/>
                  </a:ext>
                </a:extLst>
              </p:cNvPr>
              <p:cNvSpPr/>
              <p:nvPr/>
            </p:nvSpPr>
            <p:spPr>
              <a:xfrm>
                <a:off x="1074279" y="4114800"/>
                <a:ext cx="699544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0.5⟺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&lt;0.5⟺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42F79E-9963-49B4-9A13-056415CBF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79" y="4114800"/>
                <a:ext cx="6995441" cy="430887"/>
              </a:xfrm>
              <a:prstGeom prst="rect">
                <a:avLst/>
              </a:prstGeom>
              <a:blipFill>
                <a:blip r:embed="rId5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82DB94-2BCE-4E0B-8223-3937228E996D}"/>
                  </a:ext>
                </a:extLst>
              </p:cNvPr>
              <p:cNvSpPr/>
              <p:nvPr/>
            </p:nvSpPr>
            <p:spPr>
              <a:xfrm>
                <a:off x="4095137" y="4934141"/>
                <a:ext cx="95372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82DB94-2BCE-4E0B-8223-3937228E9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137" y="4934141"/>
                <a:ext cx="953723" cy="430887"/>
              </a:xfrm>
              <a:prstGeom prst="rect">
                <a:avLst/>
              </a:prstGeom>
              <a:blipFill>
                <a:blip r:embed="rId6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1C1F8D3-D1AB-4CE9-ACA1-8A107AF70A35}"/>
              </a:ext>
            </a:extLst>
          </p:cNvPr>
          <p:cNvGrpSpPr/>
          <p:nvPr/>
        </p:nvGrpSpPr>
        <p:grpSpPr>
          <a:xfrm>
            <a:off x="3047868" y="1600200"/>
            <a:ext cx="3048264" cy="2301319"/>
            <a:chOff x="5867136" y="1909430"/>
            <a:chExt cx="3048264" cy="2301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6AA498F-37C6-486E-BA33-E7F731BCF786}"/>
                    </a:ext>
                  </a:extLst>
                </p:cNvPr>
                <p:cNvSpPr/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CEFFD6-9B73-4664-896D-FFDF05651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7136" y="1909430"/>
              <a:ext cx="3048264" cy="2032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BE64012-4BBC-4F5D-98BE-B2E820F005D6}"/>
                    </a:ext>
                  </a:extLst>
                </p:cNvPr>
                <p:cNvSpPr/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598153-CA54-41D8-B548-73AE6BC29C37}"/>
                  </a:ext>
                </a:extLst>
              </p:cNvPr>
              <p:cNvSpPr/>
              <p:nvPr/>
            </p:nvSpPr>
            <p:spPr>
              <a:xfrm>
                <a:off x="4369058" y="4576438"/>
                <a:ext cx="40107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598153-CA54-41D8-B548-73AE6BC29C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058" y="4576438"/>
                <a:ext cx="401071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6307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Classification  </a:t>
            </a:r>
            <a:r>
              <a:rPr lang="zh-CN" altLang="en-US" dirty="0">
                <a:ea typeface="ＭＳ Ｐゴシック" panose="020B0600070205080204" pitchFamily="34" charset="-128"/>
              </a:rPr>
              <a:t>分类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42F79E-9963-49B4-9A13-056415CBF0D7}"/>
                  </a:ext>
                </a:extLst>
              </p:cNvPr>
              <p:cNvSpPr/>
              <p:nvPr/>
            </p:nvSpPr>
            <p:spPr>
              <a:xfrm>
                <a:off x="1074279" y="4114800"/>
                <a:ext cx="699544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&lt;0.5⟺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&gt;0.5⟺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42F79E-9963-49B4-9A13-056415CBF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79" y="4114800"/>
                <a:ext cx="6995441" cy="430887"/>
              </a:xfrm>
              <a:prstGeom prst="rect">
                <a:avLst/>
              </a:prstGeom>
              <a:blipFill>
                <a:blip r:embed="rId5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82DB94-2BCE-4E0B-8223-3937228E996D}"/>
                  </a:ext>
                </a:extLst>
              </p:cNvPr>
              <p:cNvSpPr/>
              <p:nvPr/>
            </p:nvSpPr>
            <p:spPr>
              <a:xfrm>
                <a:off x="4095137" y="4934141"/>
                <a:ext cx="95372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82DB94-2BCE-4E0B-8223-3937228E9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137" y="4934141"/>
                <a:ext cx="953723" cy="430887"/>
              </a:xfrm>
              <a:prstGeom prst="rect">
                <a:avLst/>
              </a:prstGeom>
              <a:blipFill>
                <a:blip r:embed="rId6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1C1F8D3-D1AB-4CE9-ACA1-8A107AF70A35}"/>
              </a:ext>
            </a:extLst>
          </p:cNvPr>
          <p:cNvGrpSpPr/>
          <p:nvPr/>
        </p:nvGrpSpPr>
        <p:grpSpPr>
          <a:xfrm>
            <a:off x="3047868" y="1600200"/>
            <a:ext cx="3048264" cy="2301319"/>
            <a:chOff x="5867136" y="1909430"/>
            <a:chExt cx="3048264" cy="2301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6AA498F-37C6-486E-BA33-E7F731BCF786}"/>
                    </a:ext>
                  </a:extLst>
                </p:cNvPr>
                <p:cNvSpPr/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CEFFD6-9B73-4664-896D-FFDF05651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7136" y="1909430"/>
              <a:ext cx="3048264" cy="2032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BE64012-4BBC-4F5D-98BE-B2E820F005D6}"/>
                    </a:ext>
                  </a:extLst>
                </p:cNvPr>
                <p:cNvSpPr/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598153-CA54-41D8-B548-73AE6BC29C37}"/>
                  </a:ext>
                </a:extLst>
              </p:cNvPr>
              <p:cNvSpPr/>
              <p:nvPr/>
            </p:nvSpPr>
            <p:spPr>
              <a:xfrm>
                <a:off x="4369058" y="4576438"/>
                <a:ext cx="40107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598153-CA54-41D8-B548-73AE6BC29C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058" y="4576438"/>
                <a:ext cx="401071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0671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Learning  </a:t>
            </a:r>
            <a:r>
              <a:rPr lang="zh-CN" altLang="en-US" dirty="0">
                <a:ea typeface="ＭＳ Ｐゴシック" panose="020B0600070205080204" pitchFamily="34" charset="-128"/>
              </a:rPr>
              <a:t>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/>
              <p:nvPr/>
            </p:nvSpPr>
            <p:spPr>
              <a:xfrm>
                <a:off x="-76202" y="1740476"/>
                <a:ext cx="9296400" cy="79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Given training data  </a:t>
                </a:r>
                <a:r>
                  <a:rPr lang="zh-CN" altLang="en-US" sz="2200" dirty="0"/>
                  <a:t>给定训练数据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),(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),…,(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2" y="1740476"/>
                <a:ext cx="9296400" cy="798424"/>
              </a:xfrm>
              <a:prstGeom prst="rect">
                <a:avLst/>
              </a:prstGeom>
              <a:blipFill>
                <a:blip r:embed="rId5"/>
                <a:stretch>
                  <a:fillRect t="-8462" b="-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3639C9E-2956-4D75-92A9-0ABCB2CCBAB4}"/>
              </a:ext>
            </a:extLst>
          </p:cNvPr>
          <p:cNvSpPr txBox="1"/>
          <p:nvPr/>
        </p:nvSpPr>
        <p:spPr>
          <a:xfrm>
            <a:off x="-76202" y="3581400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start from the classical principle: maximum likelihood estimation</a:t>
            </a:r>
          </a:p>
          <a:p>
            <a:pPr algn="ctr"/>
            <a:r>
              <a:rPr lang="zh-CN" altLang="en-US" sz="2200" dirty="0"/>
              <a:t>我们从经典法则开始：极大似然估计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675480" y="2667000"/>
                <a:ext cx="779303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To estimate  </a:t>
                </a:r>
                <a:r>
                  <a:rPr lang="zh-CN" altLang="en-US" sz="2200" dirty="0"/>
                  <a:t>估算出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0" y="2667000"/>
                <a:ext cx="7793037" cy="769441"/>
              </a:xfrm>
              <a:prstGeom prst="rect">
                <a:avLst/>
              </a:prstGeom>
              <a:blipFill>
                <a:blip r:embed="rId6"/>
                <a:stretch>
                  <a:fillRect t="-8730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4359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Maximum Likelihood Estimation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极大似然估计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514347" y="1620941"/>
            <a:ext cx="8115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Principle: we see the observations; we adjust the parameters to maximize the probability of the observations</a:t>
            </a:r>
          </a:p>
          <a:p>
            <a:pPr algn="ctr"/>
            <a:r>
              <a:rPr lang="en-US" altLang="zh-CN" sz="2200" dirty="0"/>
              <a:t>  </a:t>
            </a:r>
            <a:r>
              <a:rPr lang="zh-CN" altLang="en-US" sz="2200" dirty="0"/>
              <a:t>原则：我们看到一些现象；我们调整参数，使得这些现象的概率尽可能地大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741363" y="3124200"/>
                <a:ext cx="7793037" cy="453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Say, e.g., we see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 </a:t>
                </a:r>
                <a:r>
                  <a:rPr lang="zh-CN" altLang="en-US" sz="2200" dirty="0"/>
                  <a:t>比方说，我们看到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" y="3124200"/>
                <a:ext cx="7793037" cy="453842"/>
              </a:xfrm>
              <a:prstGeom prst="rect">
                <a:avLst/>
              </a:prstGeom>
              <a:blipFill>
                <a:blip r:embed="rId5"/>
                <a:stretch>
                  <a:fillRect t="-10811" b="-25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/>
              <p:nvPr/>
            </p:nvSpPr>
            <p:spPr>
              <a:xfrm>
                <a:off x="774357" y="3683913"/>
                <a:ext cx="779303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adjust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dirty="0"/>
                  <a:t> </a:t>
                </a:r>
                <a:r>
                  <a:rPr lang="zh-CN" altLang="en-US" sz="2200" dirty="0"/>
                  <a:t>我们调整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200" dirty="0"/>
                  <a:t>和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57" y="3683913"/>
                <a:ext cx="7793037" cy="430887"/>
              </a:xfrm>
              <a:prstGeom prst="rect">
                <a:avLst/>
              </a:prstGeom>
              <a:blipFill>
                <a:blip r:embed="rId6"/>
                <a:stretch>
                  <a:fillRect t="-14085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/>
              <p:nvPr/>
            </p:nvSpPr>
            <p:spPr>
              <a:xfrm>
                <a:off x="762000" y="4343400"/>
                <a:ext cx="7793037" cy="1140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To make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200" dirty="0"/>
                  <a:t> close to 1</a:t>
                </a:r>
              </a:p>
              <a:p>
                <a:pPr algn="ctr"/>
                <a:r>
                  <a:rPr lang="zh-CN" altLang="en-US" sz="2200" dirty="0"/>
                  <a:t>使得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200" dirty="0"/>
                  <a:t>接近于</a:t>
                </a:r>
                <a:r>
                  <a:rPr lang="en-US" altLang="zh-CN" sz="2200" dirty="0"/>
                  <a:t>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43400"/>
                <a:ext cx="7793037" cy="11409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5732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Maximum Likelihood Estimation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极大似然估计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514347" y="1620941"/>
            <a:ext cx="8115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Principle: we see the observations; we adjust the parameters to maximize the probability of the observations</a:t>
            </a:r>
          </a:p>
          <a:p>
            <a:pPr algn="ctr"/>
            <a:r>
              <a:rPr lang="en-US" altLang="zh-CN" sz="2200" dirty="0"/>
              <a:t>  </a:t>
            </a:r>
            <a:r>
              <a:rPr lang="zh-CN" altLang="en-US" sz="2200" dirty="0"/>
              <a:t>原则：我们看到一些现象；我们调整参数，使得这些现象的概率尽可能地大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741363" y="3124200"/>
                <a:ext cx="7793037" cy="453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Say, e.g., we see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 </a:t>
                </a:r>
                <a:r>
                  <a:rPr lang="zh-CN" altLang="en-US" sz="2200" dirty="0"/>
                  <a:t>比方说，我们看到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" y="3124200"/>
                <a:ext cx="7793037" cy="453842"/>
              </a:xfrm>
              <a:prstGeom prst="rect">
                <a:avLst/>
              </a:prstGeom>
              <a:blipFill>
                <a:blip r:embed="rId5"/>
                <a:stretch>
                  <a:fillRect t="-10811" b="-25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/>
              <p:nvPr/>
            </p:nvSpPr>
            <p:spPr>
              <a:xfrm>
                <a:off x="774357" y="3683913"/>
                <a:ext cx="779303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adjust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dirty="0"/>
                  <a:t> </a:t>
                </a:r>
                <a:r>
                  <a:rPr lang="zh-CN" altLang="en-US" sz="2200" dirty="0"/>
                  <a:t>我们调整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200" dirty="0"/>
                  <a:t>和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57" y="3683913"/>
                <a:ext cx="7793037" cy="430887"/>
              </a:xfrm>
              <a:prstGeom prst="rect">
                <a:avLst/>
              </a:prstGeom>
              <a:blipFill>
                <a:blip r:embed="rId6"/>
                <a:stretch>
                  <a:fillRect t="-14085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/>
              <p:nvPr/>
            </p:nvSpPr>
            <p:spPr>
              <a:xfrm>
                <a:off x="762000" y="4343400"/>
                <a:ext cx="7793037" cy="1397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To make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zh-CN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200" dirty="0"/>
                  <a:t> close to 1</a:t>
                </a:r>
              </a:p>
              <a:p>
                <a:pPr algn="ctr"/>
                <a:r>
                  <a:rPr lang="zh-CN" altLang="en-US" sz="2200" dirty="0"/>
                  <a:t>使得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200" dirty="0"/>
                  <a:t>接近于</a:t>
                </a:r>
                <a:r>
                  <a:rPr lang="en-US" altLang="zh-CN" sz="2200" dirty="0"/>
                  <a:t>1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43400"/>
                <a:ext cx="7793037" cy="13976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0375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Maximum Likelihood Estimation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极大似然估计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514347" y="1620941"/>
            <a:ext cx="8115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Principle: we see the observations; we adjust the parameters to maximize the probability of the observations</a:t>
            </a:r>
          </a:p>
          <a:p>
            <a:pPr algn="ctr"/>
            <a:r>
              <a:rPr lang="en-US" altLang="zh-CN" sz="2200" dirty="0"/>
              <a:t>  </a:t>
            </a:r>
            <a:r>
              <a:rPr lang="zh-CN" altLang="en-US" sz="2200" dirty="0"/>
              <a:t>原则：我们看到一些现象；我们调整参数，使得这些现象的概率尽可能地大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741363" y="3099486"/>
                <a:ext cx="7793037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Now we see  </a:t>
                </a:r>
                <a:r>
                  <a:rPr lang="zh-CN" altLang="en-US" sz="2200" dirty="0"/>
                  <a:t>现在我们看到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),(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),…,(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" y="3099486"/>
                <a:ext cx="7793037" cy="792396"/>
              </a:xfrm>
              <a:prstGeom prst="rect">
                <a:avLst/>
              </a:prstGeom>
              <a:blipFill>
                <a:blip r:embed="rId5"/>
                <a:stretch>
                  <a:fillRect t="-7692" b="-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/>
              <p:nvPr/>
            </p:nvSpPr>
            <p:spPr>
              <a:xfrm>
                <a:off x="774357" y="4038141"/>
                <a:ext cx="779303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adjust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dirty="0"/>
                  <a:t> </a:t>
                </a:r>
                <a:r>
                  <a:rPr lang="zh-CN" altLang="en-US" sz="2200" dirty="0"/>
                  <a:t>我们调整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2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57" y="4038141"/>
                <a:ext cx="7793037" cy="430887"/>
              </a:xfrm>
              <a:prstGeom prst="rect">
                <a:avLst/>
              </a:prstGeom>
              <a:blipFill>
                <a:blip r:embed="rId6"/>
                <a:stretch>
                  <a:fillRect t="-14085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F471C24-A9AF-4122-8B42-B1C3DE5EBB19}"/>
              </a:ext>
            </a:extLst>
          </p:cNvPr>
          <p:cNvSpPr txBox="1"/>
          <p:nvPr/>
        </p:nvSpPr>
        <p:spPr>
          <a:xfrm>
            <a:off x="762000" y="4639008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make  </a:t>
            </a:r>
            <a:r>
              <a:rPr lang="zh-CN" altLang="en-US" sz="2200" dirty="0"/>
              <a:t>使得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/>
              <p:nvPr/>
            </p:nvSpPr>
            <p:spPr>
              <a:xfrm>
                <a:off x="1593263" y="5065625"/>
                <a:ext cx="5957465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63" y="5065625"/>
                <a:ext cx="5957465" cy="453842"/>
              </a:xfrm>
              <a:prstGeom prst="rect">
                <a:avLst/>
              </a:prstGeom>
              <a:blipFill>
                <a:blip r:embed="rId7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862FDC4-E625-4E0D-92C2-508D8F735A57}"/>
              </a:ext>
            </a:extLst>
          </p:cNvPr>
          <p:cNvSpPr txBox="1"/>
          <p:nvPr/>
        </p:nvSpPr>
        <p:spPr>
          <a:xfrm>
            <a:off x="675478" y="5487999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as large as possible </a:t>
            </a:r>
            <a:r>
              <a:rPr lang="zh-CN" altLang="en-US" sz="2200" dirty="0"/>
              <a:t>尽可能大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038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3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Transformation  </a:t>
            </a:r>
            <a:r>
              <a:rPr lang="zh-CN" altLang="en-US" dirty="0">
                <a:ea typeface="ＭＳ Ｐゴシック" panose="020B0600070205080204" pitchFamily="34" charset="-128"/>
              </a:rPr>
              <a:t>变换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741363" y="2126159"/>
                <a:ext cx="779303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Can be very close to 0 given a large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很大时可能会非常接近于</a:t>
                </a:r>
                <a:r>
                  <a:rPr lang="en-US" altLang="zh-CN" sz="2200" dirty="0"/>
                  <a:t>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" y="2126159"/>
                <a:ext cx="7793037" cy="769441"/>
              </a:xfrm>
              <a:prstGeom prst="rect">
                <a:avLst/>
              </a:prstGeom>
              <a:blipFill>
                <a:blip r:embed="rId5"/>
                <a:stretch>
                  <a:fillRect t="-5556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E541619-F9FD-4764-9110-46F03BBDF620}"/>
              </a:ext>
            </a:extLst>
          </p:cNvPr>
          <p:cNvSpPr txBox="1"/>
          <p:nvPr/>
        </p:nvSpPr>
        <p:spPr>
          <a:xfrm>
            <a:off x="774357" y="2895600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do a transformation using the logarithm function</a:t>
            </a:r>
          </a:p>
          <a:p>
            <a:pPr algn="ctr"/>
            <a:r>
              <a:rPr lang="zh-CN" altLang="en-US" sz="2200" dirty="0"/>
              <a:t>我们用对数函数作一个变换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/>
              <p:nvPr/>
            </p:nvSpPr>
            <p:spPr>
              <a:xfrm>
                <a:off x="1593263" y="1618846"/>
                <a:ext cx="5957465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63" y="1618846"/>
                <a:ext cx="5957465" cy="453842"/>
              </a:xfrm>
              <a:prstGeom prst="rect">
                <a:avLst/>
              </a:prstGeom>
              <a:blipFill>
                <a:blip r:embed="rId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515F8DD-375A-4A6C-9E14-452C4595997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3" r="5186"/>
          <a:stretch/>
        </p:blipFill>
        <p:spPr>
          <a:xfrm>
            <a:off x="2707079" y="3962400"/>
            <a:ext cx="3729832" cy="219683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14C4BF2-14FB-4B85-AD34-DC4AEA9B0348}"/>
                  </a:ext>
                </a:extLst>
              </p:cNvPr>
              <p:cNvSpPr/>
              <p:nvPr/>
            </p:nvSpPr>
            <p:spPr>
              <a:xfrm>
                <a:off x="6309757" y="4572000"/>
                <a:ext cx="24344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14C4BF2-14FB-4B85-AD34-DC4AEA9B03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757" y="4572000"/>
                <a:ext cx="243443" cy="369332"/>
              </a:xfrm>
              <a:prstGeom prst="rect">
                <a:avLst/>
              </a:prstGeom>
              <a:blipFill>
                <a:blip r:embed="rId8"/>
                <a:stretch>
                  <a:fillRect r="-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ACB47F-9DFC-4195-A7E6-26400A168CA3}"/>
                  </a:ext>
                </a:extLst>
              </p:cNvPr>
              <p:cNvSpPr/>
              <p:nvPr/>
            </p:nvSpPr>
            <p:spPr>
              <a:xfrm>
                <a:off x="2348502" y="3685330"/>
                <a:ext cx="8519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og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ACB47F-9DFC-4195-A7E6-26400A168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502" y="3685330"/>
                <a:ext cx="851900" cy="369332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79EB709-8ED7-491C-A44A-5A46958CDF4D}"/>
              </a:ext>
            </a:extLst>
          </p:cNvPr>
          <p:cNvSpPr/>
          <p:nvPr/>
        </p:nvSpPr>
        <p:spPr bwMode="auto">
          <a:xfrm>
            <a:off x="2971799" y="4572000"/>
            <a:ext cx="332509" cy="1513840"/>
          </a:xfrm>
          <a:prstGeom prst="rect">
            <a:avLst/>
          </a:prstGeom>
          <a:solidFill>
            <a:schemeClr val="accent1">
              <a:alpha val="2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942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  <p:bldP spid="14" grpId="0"/>
      <p:bldP spid="15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Transformation  </a:t>
            </a:r>
            <a:r>
              <a:rPr lang="zh-CN" altLang="en-US" dirty="0">
                <a:ea typeface="ＭＳ Ｐゴシック" panose="020B0600070205080204" pitchFamily="34" charset="-128"/>
              </a:rPr>
              <a:t>变换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741363" y="2126159"/>
                <a:ext cx="779303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Can be very close to 0 given a large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很大时可能会非常接近于</a:t>
                </a:r>
                <a:r>
                  <a:rPr lang="en-US" altLang="zh-CN" sz="2200" dirty="0"/>
                  <a:t>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" y="2126159"/>
                <a:ext cx="7793037" cy="769441"/>
              </a:xfrm>
              <a:prstGeom prst="rect">
                <a:avLst/>
              </a:prstGeom>
              <a:blipFill>
                <a:blip r:embed="rId5"/>
                <a:stretch>
                  <a:fillRect t="-5556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E541619-F9FD-4764-9110-46F03BBDF620}"/>
              </a:ext>
            </a:extLst>
          </p:cNvPr>
          <p:cNvSpPr txBox="1"/>
          <p:nvPr/>
        </p:nvSpPr>
        <p:spPr>
          <a:xfrm>
            <a:off x="774357" y="2895600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do a transformation using the logarithm function</a:t>
            </a:r>
          </a:p>
          <a:p>
            <a:pPr algn="ctr"/>
            <a:r>
              <a:rPr lang="zh-CN" altLang="en-US" sz="2200" dirty="0"/>
              <a:t>我们用对数函数作一个变换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/>
              <p:nvPr/>
            </p:nvSpPr>
            <p:spPr>
              <a:xfrm>
                <a:off x="675476" y="3718304"/>
                <a:ext cx="7793037" cy="824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Maximize  </a:t>
                </a:r>
                <a:r>
                  <a:rPr lang="zh-CN" altLang="en-US" sz="2200" dirty="0"/>
                  <a:t>最大化 </a:t>
                </a:r>
                <a:endParaRPr lang="en-US" altLang="zh-CN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(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200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6" y="3718304"/>
                <a:ext cx="7793037" cy="824328"/>
              </a:xfrm>
              <a:prstGeom prst="rect">
                <a:avLst/>
              </a:prstGeom>
              <a:blipFill>
                <a:blip r:embed="rId6"/>
                <a:stretch>
                  <a:fillRect t="-21481" b="-970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/>
              <p:nvPr/>
            </p:nvSpPr>
            <p:spPr>
              <a:xfrm>
                <a:off x="1593263" y="1618846"/>
                <a:ext cx="5957465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63" y="1618846"/>
                <a:ext cx="5957465" cy="453842"/>
              </a:xfrm>
              <a:prstGeom prst="rect">
                <a:avLst/>
              </a:prstGeom>
              <a:blipFill>
                <a:blip r:embed="rId7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862FDC4-E625-4E0D-92C2-508D8F735A57}"/>
              </a:ext>
            </a:extLst>
          </p:cNvPr>
          <p:cNvSpPr txBox="1"/>
          <p:nvPr/>
        </p:nvSpPr>
        <p:spPr>
          <a:xfrm>
            <a:off x="675476" y="4597062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Equivalent to  </a:t>
            </a:r>
            <a:r>
              <a:rPr lang="zh-CN" altLang="en-US" sz="2200" dirty="0"/>
              <a:t>等价于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/>
              <p:nvPr/>
            </p:nvSpPr>
            <p:spPr>
              <a:xfrm>
                <a:off x="76194" y="5189041"/>
                <a:ext cx="8991600" cy="801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Maximize  </a:t>
                </a:r>
                <a:r>
                  <a:rPr lang="zh-CN" altLang="en-US" sz="2200" dirty="0"/>
                  <a:t>最大化</a:t>
                </a:r>
                <a:endParaRPr lang="en-US" altLang="zh-CN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2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4" y="5189041"/>
                <a:ext cx="8991600" cy="801373"/>
              </a:xfrm>
              <a:prstGeom prst="rect">
                <a:avLst/>
              </a:prstGeom>
              <a:blipFill>
                <a:blip r:embed="rId8"/>
                <a:stretch>
                  <a:fillRect t="-21970" b="-10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5451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Transformation  </a:t>
            </a:r>
            <a:r>
              <a:rPr lang="zh-CN" altLang="en-US" dirty="0">
                <a:ea typeface="ＭＳ Ｐゴシック" panose="020B0600070205080204" pitchFamily="34" charset="-128"/>
              </a:rPr>
              <a:t>变换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741363" y="2126159"/>
                <a:ext cx="779303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Can be very close to 0 given a large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很大时可能会非常接近于</a:t>
                </a:r>
                <a:r>
                  <a:rPr lang="en-US" altLang="zh-CN" sz="2200" dirty="0"/>
                  <a:t>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63" y="2126159"/>
                <a:ext cx="7793037" cy="769441"/>
              </a:xfrm>
              <a:prstGeom prst="rect">
                <a:avLst/>
              </a:prstGeom>
              <a:blipFill>
                <a:blip r:embed="rId5"/>
                <a:stretch>
                  <a:fillRect t="-5556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E541619-F9FD-4764-9110-46F03BBDF620}"/>
              </a:ext>
            </a:extLst>
          </p:cNvPr>
          <p:cNvSpPr txBox="1"/>
          <p:nvPr/>
        </p:nvSpPr>
        <p:spPr>
          <a:xfrm>
            <a:off x="774357" y="2895600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do a transformation using the logarithm function</a:t>
            </a:r>
          </a:p>
          <a:p>
            <a:pPr algn="ctr"/>
            <a:r>
              <a:rPr lang="zh-CN" altLang="en-US" sz="2200" dirty="0"/>
              <a:t>我们用对数函数作一个变换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/>
              <p:nvPr/>
            </p:nvSpPr>
            <p:spPr>
              <a:xfrm>
                <a:off x="675476" y="3718304"/>
                <a:ext cx="7793037" cy="824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Maximize  </a:t>
                </a:r>
                <a:r>
                  <a:rPr lang="zh-CN" altLang="en-US" sz="2200" dirty="0"/>
                  <a:t>最大化 </a:t>
                </a:r>
                <a:endParaRPr lang="en-US" altLang="zh-CN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(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200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6" y="3718304"/>
                <a:ext cx="7793037" cy="824328"/>
              </a:xfrm>
              <a:prstGeom prst="rect">
                <a:avLst/>
              </a:prstGeom>
              <a:blipFill>
                <a:blip r:embed="rId6"/>
                <a:stretch>
                  <a:fillRect t="-21481" b="-970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/>
              <p:nvPr/>
            </p:nvSpPr>
            <p:spPr>
              <a:xfrm>
                <a:off x="1593263" y="1618846"/>
                <a:ext cx="5957465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E6B718-EC56-4E8F-9F1E-0766F5CB5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63" y="1618846"/>
                <a:ext cx="5957465" cy="453842"/>
              </a:xfrm>
              <a:prstGeom prst="rect">
                <a:avLst/>
              </a:prstGeom>
              <a:blipFill>
                <a:blip r:embed="rId7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862FDC4-E625-4E0D-92C2-508D8F735A57}"/>
              </a:ext>
            </a:extLst>
          </p:cNvPr>
          <p:cNvSpPr txBox="1"/>
          <p:nvPr/>
        </p:nvSpPr>
        <p:spPr>
          <a:xfrm>
            <a:off x="675476" y="4597062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equivalent to  </a:t>
            </a:r>
            <a:r>
              <a:rPr lang="zh-CN" altLang="en-US" sz="2200" dirty="0"/>
              <a:t>于是等价于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/>
              <p:nvPr/>
            </p:nvSpPr>
            <p:spPr>
              <a:xfrm>
                <a:off x="76194" y="5189041"/>
                <a:ext cx="8991600" cy="801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Minimize  </a:t>
                </a:r>
                <a:r>
                  <a:rPr lang="zh-CN" altLang="en-US" sz="2200" dirty="0"/>
                  <a:t>最小化</a:t>
                </a:r>
                <a:endParaRPr lang="en-US" altLang="zh-CN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(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2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4" y="5189041"/>
                <a:ext cx="8991600" cy="801373"/>
              </a:xfrm>
              <a:prstGeom prst="rect">
                <a:avLst/>
              </a:prstGeom>
              <a:blipFill>
                <a:blip r:embed="rId8"/>
                <a:stretch>
                  <a:fillRect t="-21970" b="-10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4861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Regularization  </a:t>
            </a:r>
            <a:r>
              <a:rPr lang="zh-CN" altLang="en-US" dirty="0">
                <a:ea typeface="ＭＳ Ｐゴシック" panose="020B0600070205080204" pitchFamily="34" charset="-128"/>
              </a:rPr>
              <a:t>调整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-76200" y="1738728"/>
                <a:ext cx="6444130" cy="1885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Note that we can always make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n-US" altLang="zh-CN" sz="2200" dirty="0"/>
                  <a:t> larger by multiply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dirty="0"/>
                  <a:t> w/ a positive constant (though not changing classification result)</a:t>
                </a:r>
              </a:p>
              <a:p>
                <a:pPr algn="ctr"/>
                <a:r>
                  <a:rPr lang="zh-CN" altLang="en-US" sz="2200" dirty="0"/>
                  <a:t>注意，即便不会改变分类结果，我们总是能通过把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2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200" dirty="0"/>
                  <a:t>乘一个正数使得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zh-CN" altLang="en-US" sz="2200" dirty="0"/>
                  <a:t>变得更大</a:t>
                </a:r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1738728"/>
                <a:ext cx="6444130" cy="1885260"/>
              </a:xfrm>
              <a:prstGeom prst="rect">
                <a:avLst/>
              </a:prstGeom>
              <a:blipFill>
                <a:blip r:embed="rId5"/>
                <a:stretch>
                  <a:fillRect l="-378" t="-1294" r="-851" b="-1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62FDC4-E625-4E0D-92C2-508D8F735A57}"/>
                  </a:ext>
                </a:extLst>
              </p:cNvPr>
              <p:cNvSpPr txBox="1"/>
              <p:nvPr/>
            </p:nvSpPr>
            <p:spPr>
              <a:xfrm>
                <a:off x="490143" y="3980039"/>
                <a:ext cx="816371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Now we do a regularization to penalize large magnitude of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  </a:t>
                </a:r>
                <a:r>
                  <a:rPr lang="zh-CN" altLang="en-US" sz="2200" dirty="0"/>
                  <a:t>现在我们作一个调整，来惩罚大幅度的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62FDC4-E625-4E0D-92C2-508D8F735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43" y="3980039"/>
                <a:ext cx="8163713" cy="769441"/>
              </a:xfrm>
              <a:prstGeom prst="rect">
                <a:avLst/>
              </a:prstGeom>
              <a:blipFill>
                <a:blip r:embed="rId6"/>
                <a:stretch>
                  <a:fillRect l="-75" t="-5556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/>
              <p:nvPr/>
            </p:nvSpPr>
            <p:spPr>
              <a:xfrm>
                <a:off x="76199" y="4733192"/>
                <a:ext cx="8991600" cy="1355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Minimize  </a:t>
                </a:r>
                <a:r>
                  <a:rPr lang="zh-CN" altLang="en-US" sz="2200" dirty="0"/>
                  <a:t>最小化</a:t>
                </a:r>
                <a:endParaRPr lang="en-US" altLang="zh-CN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" y="4733192"/>
                <a:ext cx="8991600" cy="1355051"/>
              </a:xfrm>
              <a:prstGeom prst="rect">
                <a:avLst/>
              </a:prstGeom>
              <a:blipFill>
                <a:blip r:embed="rId7"/>
                <a:stretch>
                  <a:fillRect t="-4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4FF22-53E0-4906-AAE5-C40A4F96305C}"/>
              </a:ext>
            </a:extLst>
          </p:cNvPr>
          <p:cNvGrpSpPr/>
          <p:nvPr/>
        </p:nvGrpSpPr>
        <p:grpSpPr>
          <a:xfrm>
            <a:off x="6172200" y="1694593"/>
            <a:ext cx="3048264" cy="2301319"/>
            <a:chOff x="5867136" y="1909430"/>
            <a:chExt cx="3048264" cy="2301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F68B9EE-3ADF-4ED7-B2EB-9FBECD0E2BD0}"/>
                    </a:ext>
                  </a:extLst>
                </p:cNvPr>
                <p:cNvSpPr/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1646" y="3841417"/>
                  <a:ext cx="1135503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847C0A9-5870-49D5-8AE3-73B23DEC4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7136" y="1909430"/>
              <a:ext cx="3048264" cy="2032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DD87EB5-66A3-42F3-B22B-3A5431BE588D}"/>
                    </a:ext>
                  </a:extLst>
                </p:cNvPr>
                <p:cNvSpPr/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9066" y="2136913"/>
                  <a:ext cx="135178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13B1D66-D086-4A65-995C-D8AC87436745}"/>
              </a:ext>
            </a:extLst>
          </p:cNvPr>
          <p:cNvSpPr txBox="1"/>
          <p:nvPr/>
        </p:nvSpPr>
        <p:spPr>
          <a:xfrm>
            <a:off x="7010400" y="4988004"/>
            <a:ext cx="20576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Regularization term</a:t>
            </a:r>
          </a:p>
          <a:p>
            <a:pPr algn="ctr"/>
            <a:r>
              <a:rPr lang="zh-CN" altLang="en-US" sz="2200" dirty="0"/>
              <a:t>调整项</a:t>
            </a:r>
            <a:endParaRPr lang="en-US" altLang="zh-CN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C3580-E454-4750-98B1-90754F683F15}"/>
              </a:ext>
            </a:extLst>
          </p:cNvPr>
          <p:cNvSpPr/>
          <p:nvPr/>
        </p:nvSpPr>
        <p:spPr bwMode="auto">
          <a:xfrm>
            <a:off x="5410200" y="5163407"/>
            <a:ext cx="957730" cy="7694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96EBA2-1D8D-48EC-ADE4-0344305FAE9F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 bwMode="auto">
          <a:xfrm flipH="1">
            <a:off x="6367930" y="5542002"/>
            <a:ext cx="642470" cy="61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41241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2" grpId="0"/>
      <p:bldP spid="17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Rationale Behind </a:t>
            </a:r>
            <a:r>
              <a:rPr lang="en-US" altLang="zh-CN" dirty="0">
                <a:ea typeface="ＭＳ Ｐゴシック" panose="020B0600070205080204" pitchFamily="34" charset="-128"/>
              </a:rPr>
              <a:t>Regularization  </a:t>
            </a:r>
            <a:r>
              <a:rPr lang="zh-CN" altLang="en-US" dirty="0">
                <a:ea typeface="ＭＳ Ｐゴシック" panose="020B0600070205080204" pitchFamily="34" charset="-128"/>
              </a:rPr>
              <a:t>调整的根本原因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Prefer Small Weights </a:t>
                </a:r>
                <a:r>
                  <a:rPr lang="zh-CN" altLang="en-US" dirty="0"/>
                  <a:t>倾向于小权重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Less likely overfitting  </a:t>
                </a:r>
                <a:r>
                  <a:rPr lang="zh-CN" altLang="en-US" dirty="0"/>
                  <a:t>更不容易过度拟合</a:t>
                </a:r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 as the trade-off 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用来平衡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A form of Bayesian estimation </a:t>
                </a:r>
                <a:br>
                  <a:rPr lang="en-US" altLang="zh-CN" dirty="0"/>
                </a:br>
                <a:r>
                  <a:rPr lang="zh-CN" altLang="en-US" dirty="0"/>
                  <a:t>贝叶斯估计的一种形式</a:t>
                </a:r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Other Explanation Exists</a:t>
                </a:r>
                <a:br>
                  <a:rPr lang="en-US" altLang="zh-CN" dirty="0"/>
                </a:br>
                <a:r>
                  <a:rPr lang="zh-CN" altLang="en-US" dirty="0"/>
                  <a:t>还有其他的解释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Reduce a certain classification capability</a:t>
                </a:r>
                <a:br>
                  <a:rPr lang="en-US" altLang="zh-CN" dirty="0"/>
                </a:br>
                <a:r>
                  <a:rPr lang="zh-CN" altLang="en-US" dirty="0"/>
                  <a:t>降低某一种分类的能力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But let’s stop here for now  </a:t>
                </a:r>
                <a:br>
                  <a:rPr lang="en-US" altLang="zh-CN" dirty="0"/>
                </a:br>
                <a:r>
                  <a:rPr lang="zh-CN" altLang="en-US" dirty="0"/>
                  <a:t>但现在我们就到此为止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5"/>
                <a:stretch>
                  <a:fillRect l="-549" t="-4320" r="-5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855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Problem of Learning  </a:t>
            </a:r>
            <a:r>
              <a:rPr lang="zh-CN" altLang="en-US" dirty="0">
                <a:ea typeface="ＭＳ Ｐゴシック" panose="020B0600070205080204" pitchFamily="34" charset="-128"/>
              </a:rPr>
              <a:t>学习问题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/>
              <p:nvPr/>
            </p:nvSpPr>
            <p:spPr>
              <a:xfrm>
                <a:off x="952498" y="2197443"/>
                <a:ext cx="7239001" cy="1355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To minimize the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loss function</a:t>
                </a:r>
                <a:r>
                  <a:rPr lang="en-US" altLang="zh-CN" sz="2200" dirty="0"/>
                  <a:t>  </a:t>
                </a:r>
                <a:r>
                  <a:rPr lang="zh-CN" altLang="en-US" sz="2200" dirty="0"/>
                  <a:t>最小化这个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损失函数</a:t>
                </a:r>
                <a:endParaRPr lang="en-US" altLang="zh-CN" sz="22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54775-F717-4590-BA91-E2B28938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98" y="2197443"/>
                <a:ext cx="7239001" cy="1355051"/>
              </a:xfrm>
              <a:prstGeom prst="rect">
                <a:avLst/>
              </a:prstGeom>
              <a:blipFill>
                <a:blip r:embed="rId5"/>
                <a:stretch>
                  <a:fillRect t="-4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A5812F9-4E4C-44F4-9295-9648ABE1666C}"/>
                  </a:ext>
                </a:extLst>
              </p:cNvPr>
              <p:cNvSpPr/>
              <p:nvPr/>
            </p:nvSpPr>
            <p:spPr>
              <a:xfrm>
                <a:off x="3831251" y="1460157"/>
                <a:ext cx="1481496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200" dirty="0"/>
                  <a:t>Find  </a:t>
                </a:r>
                <a:r>
                  <a:rPr lang="zh-CN" altLang="en-US" sz="2200" dirty="0"/>
                  <a:t>找到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dirty="0"/>
                  <a:t>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A5812F9-4E4C-44F4-9295-9648ABE16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251" y="1460157"/>
                <a:ext cx="1481496" cy="769441"/>
              </a:xfrm>
              <a:prstGeom prst="rect">
                <a:avLst/>
              </a:prstGeom>
              <a:blipFill>
                <a:blip r:embed="rId6"/>
                <a:stretch>
                  <a:fillRect l="-4918" t="-8730" r="-4508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7E376C-B886-4225-AE46-4D74162970B0}"/>
                  </a:ext>
                </a:extLst>
              </p:cNvPr>
              <p:cNvSpPr txBox="1"/>
              <p:nvPr/>
            </p:nvSpPr>
            <p:spPr>
              <a:xfrm>
                <a:off x="38098" y="3997404"/>
                <a:ext cx="90678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use the simple 1-attribute classification problem as an example  </a:t>
                </a:r>
                <a:r>
                  <a:rPr lang="zh-CN" altLang="en-US" sz="2200" dirty="0"/>
                  <a:t>我们拿这个简单的</a:t>
                </a:r>
                <a:r>
                  <a:rPr lang="en-US" altLang="zh-CN" sz="2200" dirty="0"/>
                  <a:t>1</a:t>
                </a:r>
                <a:r>
                  <a:rPr lang="zh-CN" altLang="en-US" sz="2200" dirty="0"/>
                  <a:t>个属性的问题作为例子</a:t>
                </a:r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altLang="zh-CN" sz="2200" dirty="0"/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≥−1→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=1;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&lt;−1→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7E376C-B886-4225-AE46-4D741629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8" y="3997404"/>
                <a:ext cx="9067800" cy="1107996"/>
              </a:xfrm>
              <a:prstGeom prst="rect">
                <a:avLst/>
              </a:prstGeom>
              <a:blipFill>
                <a:blip r:embed="rId7"/>
                <a:stretch>
                  <a:fillRect l="-134" t="-4396" r="-1815" b="-9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38F31B1-E78F-448F-9EED-189759AF9E21}"/>
              </a:ext>
            </a:extLst>
          </p:cNvPr>
          <p:cNvSpPr/>
          <p:nvPr/>
        </p:nvSpPr>
        <p:spPr>
          <a:xfrm>
            <a:off x="1599136" y="3531513"/>
            <a:ext cx="60981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How to solve the problem?  </a:t>
            </a:r>
            <a:r>
              <a:rPr lang="zh-CN" altLang="en-US" sz="2200" dirty="0"/>
              <a:t>怎么解这个问题？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D9B958-FF64-4963-B513-6379A5C25A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5344" y="5125728"/>
            <a:ext cx="3053307" cy="11302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87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70C32E6-5095-454F-861A-0F6E7A893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6" y="2369641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  </a:t>
            </a:r>
            <a:r>
              <a:rPr lang="zh-CN" altLang="en-US" dirty="0">
                <a:ea typeface="ＭＳ Ｐゴシック" panose="020B0600070205080204" pitchFamily="34" charset="-128"/>
              </a:rPr>
              <a:t>如何学习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F52460D-499E-4E94-B92A-9366131584DA}"/>
                  </a:ext>
                </a:extLst>
              </p:cNvPr>
              <p:cNvSpPr/>
              <p:nvPr/>
            </p:nvSpPr>
            <p:spPr>
              <a:xfrm>
                <a:off x="2469343" y="1600200"/>
                <a:ext cx="4205318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200" dirty="0"/>
                  <a:t>The loss changes </a:t>
                </a:r>
                <a:r>
                  <a:rPr lang="en-US" altLang="zh-CN" sz="2200" dirty="0" err="1"/>
                  <a:t>w.r.t.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200" dirty="0"/>
                  <a:t> </a:t>
                </a:r>
                <a:endParaRPr lang="zh-CN" altLang="en-US" sz="2200" dirty="0"/>
              </a:p>
              <a:p>
                <a:pPr algn="ctr"/>
                <a:r>
                  <a:rPr lang="zh-CN" altLang="en-US" sz="2200" dirty="0"/>
                  <a:t>损失随着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200" dirty="0"/>
                  <a:t>而变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F52460D-499E-4E94-B92A-936613158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343" y="1600200"/>
                <a:ext cx="4205318" cy="769441"/>
              </a:xfrm>
              <a:prstGeom prst="rect">
                <a:avLst/>
              </a:prstGeom>
              <a:blipFill>
                <a:blip r:embed="rId6"/>
                <a:stretch>
                  <a:fillRect l="-1014" t="-5556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02C94E-9F66-4D61-9FA8-5B907B2D1195}"/>
              </a:ext>
            </a:extLst>
          </p:cNvPr>
          <p:cNvSpPr/>
          <p:nvPr/>
        </p:nvSpPr>
        <p:spPr>
          <a:xfrm>
            <a:off x="6619781" y="2146315"/>
            <a:ext cx="17894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/>
              <a:t>Minimum around here </a:t>
            </a:r>
            <a:endParaRPr lang="zh-CN" altLang="en-US" sz="2200" dirty="0"/>
          </a:p>
          <a:p>
            <a:pPr algn="ctr"/>
            <a:r>
              <a:rPr lang="zh-CN" altLang="en-US" sz="2200" dirty="0"/>
              <a:t>最小值在这里附近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835366-D3FA-424D-ADBD-8529B3E63BDE}"/>
              </a:ext>
            </a:extLst>
          </p:cNvPr>
          <p:cNvCxnSpPr>
            <a:cxnSpLocks/>
          </p:cNvCxnSpPr>
          <p:nvPr/>
        </p:nvCxnSpPr>
        <p:spPr bwMode="auto">
          <a:xfrm flipH="1">
            <a:off x="5071533" y="2895600"/>
            <a:ext cx="1537954" cy="1905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32008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84E3AB9-6F5E-4393-BDEA-E83D80D57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6" y="2369641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  </a:t>
            </a:r>
            <a:r>
              <a:rPr lang="zh-CN" altLang="en-US" dirty="0">
                <a:ea typeface="ＭＳ Ｐゴシック" panose="020B0600070205080204" pitchFamily="34" charset="-128"/>
              </a:rPr>
              <a:t>如何学习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2742017" y="1600200"/>
            <a:ext cx="36599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Solution: gradient descent</a:t>
            </a:r>
          </a:p>
          <a:p>
            <a:pPr algn="ctr"/>
            <a:r>
              <a:rPr lang="zh-CN" altLang="en-US" sz="2200" dirty="0"/>
              <a:t>解决方法：梯度下降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2C94E-9F66-4D61-9FA8-5B907B2D1195}"/>
              </a:ext>
            </a:extLst>
          </p:cNvPr>
          <p:cNvSpPr/>
          <p:nvPr/>
        </p:nvSpPr>
        <p:spPr>
          <a:xfrm>
            <a:off x="457200" y="2369641"/>
            <a:ext cx="245478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/>
              <a:t>Start from here </a:t>
            </a:r>
            <a:endParaRPr lang="zh-CN" altLang="en-US" sz="2200" dirty="0"/>
          </a:p>
          <a:p>
            <a:pPr algn="ctr"/>
            <a:r>
              <a:rPr lang="zh-CN" altLang="en-US" sz="2200" dirty="0"/>
              <a:t>从这里开始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835366-D3FA-424D-ADBD-8529B3E63BDE}"/>
              </a:ext>
            </a:extLst>
          </p:cNvPr>
          <p:cNvCxnSpPr>
            <a:cxnSpLocks/>
            <a:stCxn id="11" idx="2"/>
          </p:cNvCxnSpPr>
          <p:nvPr/>
        </p:nvCxnSpPr>
        <p:spPr bwMode="auto">
          <a:xfrm>
            <a:off x="1684595" y="3139082"/>
            <a:ext cx="1668205" cy="1349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AF3C1-C0F9-4CBD-BC0C-C9C4984A8E1E}"/>
              </a:ext>
            </a:extLst>
          </p:cNvPr>
          <p:cNvCxnSpPr/>
          <p:nvPr/>
        </p:nvCxnSpPr>
        <p:spPr bwMode="auto">
          <a:xfrm>
            <a:off x="3352800" y="4465327"/>
            <a:ext cx="383822" cy="11750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37E06F-DB61-4BF8-8A08-54828BE0BC0F}"/>
                  </a:ext>
                </a:extLst>
              </p:cNvPr>
              <p:cNvSpPr/>
              <p:nvPr/>
            </p:nvSpPr>
            <p:spPr>
              <a:xfrm>
                <a:off x="0" y="4011785"/>
                <a:ext cx="2911989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dirty="0"/>
                  <a:t>Find a direction (gradient) where the loss reduces most</a:t>
                </a:r>
                <a:endParaRPr lang="zh-CN" altLang="en-US" sz="2200" dirty="0"/>
              </a:p>
              <a:p>
                <a:pPr algn="ctr"/>
                <a:r>
                  <a:rPr lang="zh-CN" altLang="en-US" sz="2200" dirty="0"/>
                  <a:t>找到一个损失降低最多的方向（梯度）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37E06F-DB61-4BF8-8A08-54828BE0B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11785"/>
                <a:ext cx="2911989" cy="2123658"/>
              </a:xfrm>
              <a:prstGeom prst="rect">
                <a:avLst/>
              </a:prstGeom>
              <a:blipFill>
                <a:blip r:embed="rId6"/>
                <a:stretch>
                  <a:fillRect l="-2510" t="-2299" r="-5021" b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A5EB6D-C571-456E-82EE-508B85A943DD}"/>
              </a:ext>
            </a:extLst>
          </p:cNvPr>
          <p:cNvCxnSpPr>
            <a:cxnSpLocks/>
            <a:stCxn id="21" idx="3"/>
          </p:cNvCxnSpPr>
          <p:nvPr/>
        </p:nvCxnSpPr>
        <p:spPr bwMode="auto">
          <a:xfrm flipV="1">
            <a:off x="2911989" y="4530382"/>
            <a:ext cx="593211" cy="5432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6013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4F9DA-3017-4F53-B699-6635B1177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  </a:t>
            </a:r>
            <a:r>
              <a:rPr lang="zh-CN" altLang="en-US" dirty="0">
                <a:ea typeface="ＭＳ Ｐゴシック" panose="020B0600070205080204" pitchFamily="34" charset="-128"/>
              </a:rPr>
              <a:t>如何学习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2742017" y="1600200"/>
            <a:ext cx="36599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Solution: gradient descent</a:t>
            </a:r>
          </a:p>
          <a:p>
            <a:pPr algn="ctr"/>
            <a:r>
              <a:rPr lang="zh-CN" altLang="en-US" sz="2200" dirty="0"/>
              <a:t>解决方法：梯度下降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37E06F-DB61-4BF8-8A08-54828BE0BC0F}"/>
                  </a:ext>
                </a:extLst>
              </p:cNvPr>
              <p:cNvSpPr/>
              <p:nvPr/>
            </p:nvSpPr>
            <p:spPr>
              <a:xfrm>
                <a:off x="48395" y="4106389"/>
                <a:ext cx="2961505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dirty="0"/>
                  <a:t>Go for that direction for 1 step defined by a learning rate</a:t>
                </a:r>
              </a:p>
              <a:p>
                <a:pPr algn="ctr"/>
                <a:r>
                  <a:rPr lang="zh-CN" altLang="en-US" sz="2200" dirty="0"/>
                  <a:t>根据一个学习速度朝那个方向走一步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l-GR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37E06F-DB61-4BF8-8A08-54828BE0B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5" y="4106389"/>
                <a:ext cx="2961505" cy="2123658"/>
              </a:xfrm>
              <a:prstGeom prst="rect">
                <a:avLst/>
              </a:prstGeom>
              <a:blipFill>
                <a:blip r:embed="rId6"/>
                <a:stretch>
                  <a:fillRect l="-2675" t="-2299" r="-5144" b="-1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A5EB6D-C571-456E-82EE-508B85A943DD}"/>
              </a:ext>
            </a:extLst>
          </p:cNvPr>
          <p:cNvCxnSpPr>
            <a:cxnSpLocks/>
          </p:cNvCxnSpPr>
          <p:nvPr/>
        </p:nvCxnSpPr>
        <p:spPr bwMode="auto">
          <a:xfrm flipV="1">
            <a:off x="3009900" y="4955822"/>
            <a:ext cx="1878189" cy="212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4506C22-F663-4EE0-9375-42ABB1DB69CB}"/>
                  </a:ext>
                </a:extLst>
              </p:cNvPr>
              <p:cNvSpPr/>
              <p:nvPr/>
            </p:nvSpPr>
            <p:spPr>
              <a:xfrm>
                <a:off x="6248400" y="4230490"/>
                <a:ext cx="2438400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l-G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l-GR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l-G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4506C22-F663-4EE0-9375-42ABB1DB6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230490"/>
                <a:ext cx="2438400" cy="769441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4391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4F9DA-3017-4F53-B699-6635B1177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  </a:t>
            </a:r>
            <a:r>
              <a:rPr lang="zh-CN" altLang="en-US" dirty="0">
                <a:ea typeface="ＭＳ Ｐゴシック" panose="020B0600070205080204" pitchFamily="34" charset="-128"/>
              </a:rPr>
              <a:t>如何学习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2742017" y="1600200"/>
            <a:ext cx="36599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Solution: gradient descent</a:t>
            </a:r>
          </a:p>
          <a:p>
            <a:pPr algn="ctr"/>
            <a:r>
              <a:rPr lang="zh-CN" altLang="en-US" sz="2200" dirty="0"/>
              <a:t>解决方法：梯度下降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4774AB-8FF9-497D-ADF3-DB3E20206486}"/>
                  </a:ext>
                </a:extLst>
              </p:cNvPr>
              <p:cNvSpPr/>
              <p:nvPr/>
            </p:nvSpPr>
            <p:spPr>
              <a:xfrm>
                <a:off x="228600" y="4276656"/>
                <a:ext cx="2362199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dirty="0"/>
                  <a:t>Calculate gradient again</a:t>
                </a:r>
                <a:endParaRPr lang="zh-CN" altLang="en-US" sz="2200" dirty="0"/>
              </a:p>
              <a:p>
                <a:pPr algn="ctr"/>
                <a:r>
                  <a:rPr lang="zh-CN" altLang="en-US" sz="2200" dirty="0"/>
                  <a:t>重新计算梯度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4774AB-8FF9-497D-ADF3-DB3E202064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276656"/>
                <a:ext cx="2362199" cy="1446550"/>
              </a:xfrm>
              <a:prstGeom prst="rect">
                <a:avLst/>
              </a:prstGeom>
              <a:blipFill>
                <a:blip r:embed="rId5"/>
                <a:stretch>
                  <a:fillRect t="-3376"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3A5EB3-DED4-47F0-8ECC-4FA31E81A057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2590799" y="4876800"/>
            <a:ext cx="2320291" cy="123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F2E14E-E003-4E31-9EBE-0CE4F0F9EC1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911090" y="4812030"/>
            <a:ext cx="15240" cy="14859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61746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  </a:t>
            </a:r>
            <a:r>
              <a:rPr lang="zh-CN" altLang="en-US" dirty="0">
                <a:ea typeface="ＭＳ Ｐゴシック" panose="020B0600070205080204" pitchFamily="34" charset="-128"/>
              </a:rPr>
              <a:t>如何学习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2742017" y="1600200"/>
            <a:ext cx="36599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Solution: gradient descent</a:t>
            </a:r>
          </a:p>
          <a:p>
            <a:pPr algn="ctr"/>
            <a:r>
              <a:rPr lang="zh-CN" altLang="en-US" sz="2200" dirty="0"/>
              <a:t>解决方法：梯度下降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0FDA16-51C9-4C69-AF54-7CA316ED3DAE}"/>
                  </a:ext>
                </a:extLst>
              </p:cNvPr>
              <p:cNvSpPr/>
              <p:nvPr/>
            </p:nvSpPr>
            <p:spPr>
              <a:xfrm>
                <a:off x="6400807" y="3965198"/>
                <a:ext cx="2590800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dirty="0"/>
                  <a:t>Move 1 step again</a:t>
                </a:r>
                <a:endParaRPr lang="zh-CN" altLang="en-US" sz="2200" dirty="0"/>
              </a:p>
              <a:p>
                <a:pPr algn="ctr"/>
                <a:r>
                  <a:rPr lang="zh-CN" altLang="en-US" sz="2200" dirty="0"/>
                  <a:t>再走一步</a:t>
                </a:r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l-G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l-GR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l-G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0FDA16-51C9-4C69-AF54-7CA316ED3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7" y="3965198"/>
                <a:ext cx="2590800" cy="1446550"/>
              </a:xfrm>
              <a:prstGeom prst="rect">
                <a:avLst/>
              </a:prstGeom>
              <a:blipFill>
                <a:blip r:embed="rId4"/>
                <a:stretch>
                  <a:fillRect l="-941" t="-2941" r="-706" b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B21C375-CDC8-4B36-88BD-4AC3300FB5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B63EAF-8B37-4747-9AFA-980BAF4ACDE9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>
            <a:off x="4927600" y="4688473"/>
            <a:ext cx="1473207" cy="2052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02559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Learn  </a:t>
            </a:r>
            <a:r>
              <a:rPr lang="zh-CN" altLang="en-US" dirty="0">
                <a:ea typeface="ＭＳ Ｐゴシック" panose="020B0600070205080204" pitchFamily="34" charset="-128"/>
              </a:rPr>
              <a:t>如何学习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2742017" y="1600200"/>
            <a:ext cx="36599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Solution: gradient descent</a:t>
            </a:r>
          </a:p>
          <a:p>
            <a:pPr algn="ctr"/>
            <a:r>
              <a:rPr lang="zh-CN" altLang="en-US" sz="2200" dirty="0"/>
              <a:t>解决方法：梯度下降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FDA16-51C9-4C69-AF54-7CA316ED3DAE}"/>
              </a:ext>
            </a:extLst>
          </p:cNvPr>
          <p:cNvSpPr/>
          <p:nvPr/>
        </p:nvSpPr>
        <p:spPr>
          <a:xfrm>
            <a:off x="0" y="2352902"/>
            <a:ext cx="27540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/>
              <a:t>Repeat the process</a:t>
            </a:r>
          </a:p>
          <a:p>
            <a:pPr algn="ctr"/>
            <a:r>
              <a:rPr lang="zh-CN" altLang="en-US" sz="2200" dirty="0"/>
              <a:t>重复该过程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D2715-2D4A-4833-84BE-4E4CE3035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A6FDB1-130F-4D6A-B38C-DDF2381D7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E7EED3-3CC8-4DE3-A5EC-765B2DF39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67924D-DFFB-4117-9E8F-F4226590FB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76A6C6E-11BA-4C42-A829-485A87C647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240C91-5DA8-4FA0-A348-2E278CCC9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427C931-EDCE-494B-8865-A8D4BD6553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74463D5-38C0-449F-86E6-7104AF355F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DEDAD2E-05FF-40BE-94DB-2A285F755275}"/>
              </a:ext>
            </a:extLst>
          </p:cNvPr>
          <p:cNvSpPr/>
          <p:nvPr/>
        </p:nvSpPr>
        <p:spPr>
          <a:xfrm>
            <a:off x="0" y="3583364"/>
            <a:ext cx="31242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/>
              <a:t>Stop if the change of loss becomes too small </a:t>
            </a:r>
          </a:p>
          <a:p>
            <a:pPr algn="ctr"/>
            <a:r>
              <a:rPr lang="zh-CN" altLang="en-US" sz="2200" dirty="0"/>
              <a:t>当损失变化非常小的时候终止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88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97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Gradient Calculation </a:t>
            </a:r>
            <a:r>
              <a:rPr lang="zh-CN" altLang="en-US" dirty="0">
                <a:ea typeface="ＭＳ Ｐゴシック" panose="020B0600070205080204" pitchFamily="34" charset="-128"/>
              </a:rPr>
              <a:t>梯度计算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675481" y="1600200"/>
                <a:ext cx="7793037" cy="453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For one sample  </a:t>
                </a:r>
                <a:r>
                  <a:rPr lang="zh-CN" altLang="en-US" sz="2200" dirty="0"/>
                  <a:t>对一个数据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1" y="1600200"/>
                <a:ext cx="7793037" cy="453842"/>
              </a:xfrm>
              <a:prstGeom prst="rect">
                <a:avLst/>
              </a:prstGeom>
              <a:blipFill>
                <a:blip r:embed="rId3"/>
                <a:stretch>
                  <a:fillRect t="-10811" b="-2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/>
              <p:nvPr/>
            </p:nvSpPr>
            <p:spPr>
              <a:xfrm>
                <a:off x="457200" y="2127527"/>
                <a:ext cx="779303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Use the current  </a:t>
                </a:r>
                <a:r>
                  <a:rPr lang="zh-CN" altLang="en-US" sz="2200" dirty="0"/>
                  <a:t>用当前的 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27527"/>
                <a:ext cx="7793037" cy="430887"/>
              </a:xfrm>
              <a:prstGeom prst="rect">
                <a:avLst/>
              </a:prstGeom>
              <a:blipFill>
                <a:blip r:embed="rId6"/>
                <a:stretch>
                  <a:fillRect t="-15493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/>
              <p:nvPr/>
            </p:nvSpPr>
            <p:spPr>
              <a:xfrm>
                <a:off x="675481" y="2631899"/>
                <a:ext cx="7793037" cy="616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>
                    <a:ea typeface="Cambria Math" panose="02040503050406030204" pitchFamily="18" charset="0"/>
                  </a:rPr>
                  <a:t>We get  </a:t>
                </a:r>
                <a:r>
                  <a:rPr lang="zh-CN" altLang="en-US" sz="2200" dirty="0">
                    <a:ea typeface="Cambria Math" panose="02040503050406030204" pitchFamily="18" charset="0"/>
                  </a:rPr>
                  <a:t>我们得到</a:t>
                </a:r>
                <a:r>
                  <a:rPr lang="en-US" altLang="zh-CN" sz="2200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471C24-A9AF-4122-8B42-B1C3DE5EB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1" y="2631899"/>
                <a:ext cx="7793037" cy="6166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F9C12E-9CFA-4A4E-85DC-A3DAF33A2D13}"/>
                  </a:ext>
                </a:extLst>
              </p:cNvPr>
              <p:cNvSpPr txBox="1"/>
              <p:nvPr/>
            </p:nvSpPr>
            <p:spPr>
              <a:xfrm>
                <a:off x="675480" y="3248543"/>
                <a:ext cx="7793037" cy="453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>
                    <a:ea typeface="Cambria Math" panose="02040503050406030204" pitchFamily="18" charset="0"/>
                  </a:rPr>
                  <a:t>Compare the probability w/  </a:t>
                </a:r>
                <a:r>
                  <a:rPr lang="zh-CN" altLang="en-US" sz="2200" dirty="0">
                    <a:ea typeface="Cambria Math" panose="02040503050406030204" pitchFamily="18" charset="0"/>
                  </a:rPr>
                  <a:t>拿这个概率对比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F9C12E-9CFA-4A4E-85DC-A3DAF33A2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0" y="3248543"/>
                <a:ext cx="7793037" cy="453842"/>
              </a:xfrm>
              <a:prstGeom prst="rect">
                <a:avLst/>
              </a:prstGeom>
              <a:blipFill>
                <a:blip r:embed="rId8"/>
                <a:stretch>
                  <a:fillRect t="-10811" b="-25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A3B8F7-F909-40F2-A54D-48B69CE956F0}"/>
                  </a:ext>
                </a:extLst>
              </p:cNvPr>
              <p:cNvSpPr txBox="1"/>
              <p:nvPr/>
            </p:nvSpPr>
            <p:spPr>
              <a:xfrm>
                <a:off x="675480" y="3725749"/>
                <a:ext cx="7793037" cy="616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>
                    <a:ea typeface="Cambria Math" panose="02040503050406030204" pitchFamily="18" charset="0"/>
                  </a:rPr>
                  <a:t>We get  </a:t>
                </a:r>
                <a:r>
                  <a:rPr lang="zh-CN" altLang="en-US" sz="2200" dirty="0">
                    <a:ea typeface="Cambria Math" panose="02040503050406030204" pitchFamily="18" charset="0"/>
                  </a:rPr>
                  <a:t>我们得到</a:t>
                </a:r>
                <a:r>
                  <a:rPr lang="en-US" altLang="zh-CN" sz="2200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A3B8F7-F909-40F2-A54D-48B69CE95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0" y="3725749"/>
                <a:ext cx="7793037" cy="616644"/>
              </a:xfrm>
              <a:prstGeom prst="rect">
                <a:avLst/>
              </a:prstGeom>
              <a:blipFill>
                <a:blip r:embed="rId9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B6062A-D376-4829-BAF6-83FE1C60F0FD}"/>
                  </a:ext>
                </a:extLst>
              </p:cNvPr>
              <p:cNvSpPr txBox="1"/>
              <p:nvPr/>
            </p:nvSpPr>
            <p:spPr>
              <a:xfrm>
                <a:off x="685005" y="4320972"/>
                <a:ext cx="7793037" cy="1819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>
                    <a:ea typeface="Cambria Math" panose="02040503050406030204" pitchFamily="18" charset="0"/>
                  </a:rPr>
                  <a:t>Adjust  </a:t>
                </a:r>
                <a:r>
                  <a:rPr lang="zh-CN" altLang="en-US" sz="2200" dirty="0">
                    <a:ea typeface="Cambria Math" panose="02040503050406030204" pitchFamily="18" charset="0"/>
                  </a:rPr>
                  <a:t>调整</a:t>
                </a:r>
                <a:endParaRPr lang="en-US" altLang="zh-CN" sz="220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l-GR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←(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en-US" altLang="zh-CN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sup>
                          </m:sSup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zh-CN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B6062A-D376-4829-BAF6-83FE1C60F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05" y="4320972"/>
                <a:ext cx="7793037" cy="1819729"/>
              </a:xfrm>
              <a:prstGeom prst="rect">
                <a:avLst/>
              </a:prstGeom>
              <a:blipFill>
                <a:blip r:embed="rId10"/>
                <a:stretch>
                  <a:fillRect t="-3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0705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9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97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Gradient Calculation </a:t>
            </a:r>
            <a:r>
              <a:rPr lang="zh-CN" altLang="en-US" dirty="0">
                <a:ea typeface="ＭＳ Ｐゴシック" panose="020B0600070205080204" pitchFamily="34" charset="-128"/>
              </a:rPr>
              <a:t>梯度计算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/>
              <p:nvPr/>
            </p:nvSpPr>
            <p:spPr>
              <a:xfrm>
                <a:off x="675479" y="2467027"/>
                <a:ext cx="7793037" cy="2681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average those items for each sample together</a:t>
                </a:r>
              </a:p>
              <a:p>
                <a:pPr algn="ctr"/>
                <a:r>
                  <a:rPr lang="zh-CN" altLang="en-US" sz="2200" dirty="0"/>
                  <a:t>我们把每一个数据的对应项平均起来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l-GR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Sup>
                            <m:sSubSupPr>
                              <m:ctrlPr>
                                <a:rPr lang="el-GR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sup>
                              </m:sSup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l-GR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l-GR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n-US" altLang="zh-CN" sz="22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en-US" altLang="zh-CN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9" y="2467027"/>
                <a:ext cx="7793037" cy="2681183"/>
              </a:xfrm>
              <a:prstGeom prst="rect">
                <a:avLst/>
              </a:prstGeom>
              <a:blipFill>
                <a:blip r:embed="rId5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ADFFDA-ABA5-48DB-BCFC-BA81AB78CEFC}"/>
                  </a:ext>
                </a:extLst>
              </p:cNvPr>
              <p:cNvSpPr txBox="1"/>
              <p:nvPr/>
            </p:nvSpPr>
            <p:spPr>
              <a:xfrm>
                <a:off x="675479" y="1752600"/>
                <a:ext cx="7793037" cy="453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have  </a:t>
                </a:r>
                <a:r>
                  <a:rPr lang="zh-CN" altLang="en-US" sz="2200" dirty="0"/>
                  <a:t>我们有 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),(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),…,(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ADFFDA-ABA5-48DB-BCFC-BA81AB78C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9" y="1752600"/>
                <a:ext cx="7793037" cy="453842"/>
              </a:xfrm>
              <a:prstGeom prst="rect">
                <a:avLst/>
              </a:prstGeom>
              <a:blipFill>
                <a:blip r:embed="rId6"/>
                <a:stretch>
                  <a:fillRect t="-10811" b="-25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022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97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Gradient Calculation </a:t>
            </a:r>
            <a:r>
              <a:rPr lang="zh-CN" altLang="en-US" dirty="0">
                <a:ea typeface="ＭＳ Ｐゴシック" panose="020B0600070205080204" pitchFamily="34" charset="-128"/>
              </a:rPr>
              <a:t>梯度计算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/>
              <p:nvPr/>
            </p:nvSpPr>
            <p:spPr>
              <a:xfrm>
                <a:off x="675479" y="2895600"/>
                <a:ext cx="7793037" cy="2279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Then we have  </a:t>
                </a:r>
                <a:r>
                  <a:rPr lang="zh-CN" altLang="en-US" sz="2200" dirty="0"/>
                  <a:t>于是我们得到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l-GR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sup>
                              </m:sSup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l-GR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l-GR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n-US" altLang="zh-CN" sz="22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en-US" altLang="zh-CN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41619-F9FD-4764-9110-46F03BBD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9" y="2895600"/>
                <a:ext cx="7793037" cy="2279214"/>
              </a:xfrm>
              <a:prstGeom prst="rect">
                <a:avLst/>
              </a:prstGeom>
              <a:blipFill>
                <a:blip r:embed="rId5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ADFFDA-ABA5-48DB-BCFC-BA81AB78CEFC}"/>
                  </a:ext>
                </a:extLst>
              </p:cNvPr>
              <p:cNvSpPr txBox="1"/>
              <p:nvPr/>
            </p:nvSpPr>
            <p:spPr>
              <a:xfrm>
                <a:off x="675479" y="1752600"/>
                <a:ext cx="7793037" cy="1073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Finally we consider regularization  </a:t>
                </a:r>
                <a:r>
                  <a:rPr lang="zh-CN" altLang="en-US" sz="2200" dirty="0"/>
                  <a:t>最后我们考虑调整项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l-GR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ADFFDA-ABA5-48DB-BCFC-BA81AB78C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9" y="1752600"/>
                <a:ext cx="7793037" cy="1073820"/>
              </a:xfrm>
              <a:prstGeom prst="rect">
                <a:avLst/>
              </a:prstGeom>
              <a:blipFill>
                <a:blip r:embed="rId6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711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8.1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8.1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1047750" y="1676400"/>
            <a:ext cx="7048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logistic regression on the example</a:t>
            </a:r>
            <a:br>
              <a:rPr lang="en-US" altLang="zh-CN" sz="2200" dirty="0"/>
            </a:br>
            <a:r>
              <a:rPr lang="zh-CN" altLang="en-US" sz="2200" dirty="0"/>
              <a:t>实践时刻：在这个例子上尝试对数几率回归</a:t>
            </a:r>
          </a:p>
        </p:txBody>
      </p:sp>
    </p:spTree>
    <p:extLst>
      <p:ext uri="{BB962C8B-B14F-4D97-AF65-F5344CB8AC3E}">
        <p14:creationId xmlns:p14="http://schemas.microsoft.com/office/powerpoint/2010/main" val="1876464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We Now Know </a:t>
            </a:r>
            <a:r>
              <a:rPr lang="zh-CN" altLang="en-US" dirty="0">
                <a:ea typeface="ＭＳ Ｐゴシック" panose="020B0600070205080204" pitchFamily="34" charset="-128"/>
              </a:rPr>
              <a:t> 我们现在了解了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A New Algorithm  </a:t>
            </a:r>
            <a:r>
              <a:rPr lang="zh-CN" altLang="en-US" dirty="0"/>
              <a:t>一个新的算法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dirty="0"/>
              <a:t>To learn linear classifiers</a:t>
            </a:r>
            <a:br>
              <a:rPr lang="en-US" altLang="zh-CN" dirty="0"/>
            </a:br>
            <a:r>
              <a:rPr lang="zh-CN" altLang="en-US" dirty="0"/>
              <a:t>用以学习线性分类器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Where Is the Relevance w/ Margin?</a:t>
            </a:r>
            <a:br>
              <a:rPr lang="en-US" altLang="zh-CN" dirty="0"/>
            </a:br>
            <a:r>
              <a:rPr lang="zh-CN" altLang="en-US" dirty="0"/>
              <a:t>和间距的相关性在哪里？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Recall margin as some sort of confidence</a:t>
            </a:r>
            <a:br>
              <a:rPr lang="en-US" altLang="zh-CN" dirty="0"/>
            </a:br>
            <a:r>
              <a:rPr lang="zh-CN" altLang="en-US" dirty="0"/>
              <a:t>记得间距是一种置信度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Logistic regression outputs a probability</a:t>
            </a:r>
            <a:br>
              <a:rPr lang="en-US" altLang="zh-CN" dirty="0"/>
            </a:br>
            <a:r>
              <a:rPr lang="zh-CN" altLang="en-US" dirty="0"/>
              <a:t>对数几率回归给出了概率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671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 Alternative Margin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别样的间距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2DC1C5-B9C1-480C-A122-D5C479B23069}"/>
                  </a:ext>
                </a:extLst>
              </p:cNvPr>
              <p:cNvSpPr/>
              <p:nvPr/>
            </p:nvSpPr>
            <p:spPr>
              <a:xfrm>
                <a:off x="3757514" y="1752600"/>
                <a:ext cx="1628972" cy="792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200" dirty="0"/>
                  <a:t>Given  </a:t>
                </a:r>
                <a:r>
                  <a:rPr lang="zh-CN" altLang="en-US" sz="2200" dirty="0"/>
                  <a:t>给定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en-US" altLang="zh-CN" sz="2200" dirty="0"/>
                  <a:t>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2DC1C5-B9C1-480C-A122-D5C479B23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514" y="1752600"/>
                <a:ext cx="1628972" cy="792396"/>
              </a:xfrm>
              <a:prstGeom prst="rect">
                <a:avLst/>
              </a:prstGeom>
              <a:blipFill>
                <a:blip r:embed="rId5"/>
                <a:stretch>
                  <a:fillRect l="-4104" t="-8527" r="-4478" b="-8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40F70F0-7A10-4675-A3B0-51E3F00640F1}"/>
              </a:ext>
            </a:extLst>
          </p:cNvPr>
          <p:cNvGrpSpPr/>
          <p:nvPr/>
        </p:nvGrpSpPr>
        <p:grpSpPr>
          <a:xfrm>
            <a:off x="2326644" y="2697718"/>
            <a:ext cx="657619" cy="2255282"/>
            <a:chOff x="733237" y="2697718"/>
            <a:chExt cx="657619" cy="225528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49FCCD0-4AA1-4919-91E7-E3C6FD6827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295194" y="2697718"/>
              <a:ext cx="0" cy="225528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230C1-FA39-421A-92D7-9E5501869246}"/>
                </a:ext>
              </a:extLst>
            </p:cNvPr>
            <p:cNvSpPr txBox="1"/>
            <p:nvPr/>
          </p:nvSpPr>
          <p:spPr>
            <a:xfrm>
              <a:off x="923925" y="4583668"/>
              <a:ext cx="38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FFE979-F740-4D14-BC18-02467348D6FA}"/>
                </a:ext>
              </a:extLst>
            </p:cNvPr>
            <p:cNvSpPr txBox="1"/>
            <p:nvPr/>
          </p:nvSpPr>
          <p:spPr>
            <a:xfrm>
              <a:off x="914213" y="2754913"/>
              <a:ext cx="38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2EA1E1-C370-49BA-8A60-E3846AB8A511}"/>
                </a:ext>
              </a:extLst>
            </p:cNvPr>
            <p:cNvSpPr txBox="1"/>
            <p:nvPr/>
          </p:nvSpPr>
          <p:spPr>
            <a:xfrm>
              <a:off x="733237" y="3723855"/>
              <a:ext cx="562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0.5</a:t>
              </a:r>
              <a:endParaRPr lang="zh-CN" altLang="en-US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A8EC73-6BDA-45FE-BC7D-158779DB3806}"/>
                </a:ext>
              </a:extLst>
            </p:cNvPr>
            <p:cNvCxnSpPr>
              <a:stCxn id="10" idx="3"/>
            </p:cNvCxnSpPr>
            <p:nvPr/>
          </p:nvCxnSpPr>
          <p:spPr bwMode="auto">
            <a:xfrm>
              <a:off x="1295194" y="2939579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F925DF9-18C5-464A-A74E-F572C1AB1E13}"/>
                </a:ext>
              </a:extLst>
            </p:cNvPr>
            <p:cNvCxnSpPr/>
            <p:nvPr/>
          </p:nvCxnSpPr>
          <p:spPr bwMode="auto">
            <a:xfrm>
              <a:off x="1304925" y="3897868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23E0DF2-B009-4380-BD48-22FDE117C4FD}"/>
                </a:ext>
              </a:extLst>
            </p:cNvPr>
            <p:cNvCxnSpPr/>
            <p:nvPr/>
          </p:nvCxnSpPr>
          <p:spPr bwMode="auto">
            <a:xfrm>
              <a:off x="1314450" y="4800600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F6EF58-A218-46FB-A62B-3451FCF6A78C}"/>
              </a:ext>
            </a:extLst>
          </p:cNvPr>
          <p:cNvGrpSpPr/>
          <p:nvPr/>
        </p:nvGrpSpPr>
        <p:grpSpPr>
          <a:xfrm>
            <a:off x="2869757" y="2996150"/>
            <a:ext cx="2497364" cy="444994"/>
            <a:chOff x="1276350" y="2996150"/>
            <a:chExt cx="2497364" cy="444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E327505-6291-4922-9C6A-0DC436A62BA2}"/>
                    </a:ext>
                  </a:extLst>
                </p:cNvPr>
                <p:cNvSpPr/>
                <p:nvPr/>
              </p:nvSpPr>
              <p:spPr>
                <a:xfrm>
                  <a:off x="1895251" y="2996150"/>
                  <a:ext cx="1878463" cy="44499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E327505-6291-4922-9C6A-0DC436A62B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5251" y="2996150"/>
                  <a:ext cx="1878463" cy="444994"/>
                </a:xfrm>
                <a:prstGeom prst="rect">
                  <a:avLst/>
                </a:prstGeom>
                <a:blipFill>
                  <a:blip r:embed="rId6"/>
                  <a:stretch>
                    <a:fillRect b="-16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2DDD00-D2CE-4822-9B8E-0F490D10F24E}"/>
                </a:ext>
              </a:extLst>
            </p:cNvPr>
            <p:cNvCxnSpPr>
              <a:stCxn id="18" idx="1"/>
            </p:cNvCxnSpPr>
            <p:nvPr/>
          </p:nvCxnSpPr>
          <p:spPr bwMode="auto">
            <a:xfrm flipH="1">
              <a:off x="1276350" y="3218647"/>
              <a:ext cx="618901" cy="80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3A73F2-7E99-4E0F-9217-D339653B1779}"/>
              </a:ext>
            </a:extLst>
          </p:cNvPr>
          <p:cNvGrpSpPr/>
          <p:nvPr/>
        </p:nvGrpSpPr>
        <p:grpSpPr>
          <a:xfrm>
            <a:off x="2984263" y="3218647"/>
            <a:ext cx="3949937" cy="1751149"/>
            <a:chOff x="1390856" y="3218647"/>
            <a:chExt cx="3949937" cy="175114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FFA8BB4-C4CF-412F-BF4D-A173C89CA137}"/>
                </a:ext>
              </a:extLst>
            </p:cNvPr>
            <p:cNvCxnSpPr/>
            <p:nvPr/>
          </p:nvCxnSpPr>
          <p:spPr bwMode="auto">
            <a:xfrm flipV="1">
              <a:off x="1390856" y="3218647"/>
              <a:ext cx="0" cy="68987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B05AE44-38A4-487B-A1B5-1666224673FD}"/>
                    </a:ext>
                  </a:extLst>
                </p:cNvPr>
                <p:cNvSpPr/>
                <p:nvPr/>
              </p:nvSpPr>
              <p:spPr>
                <a:xfrm>
                  <a:off x="1587614" y="3495033"/>
                  <a:ext cx="3753179" cy="14747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200" dirty="0"/>
                    <a:t>Correct classification w/ margin </a:t>
                  </a:r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−0.5</m:t>
                      </m:r>
                    </m:oMath>
                  </a14:m>
                  <a:endParaRPr lang="en-US" altLang="zh-CN" sz="2200" dirty="0"/>
                </a:p>
                <a:p>
                  <a:pPr algn="ctr"/>
                  <a:r>
                    <a:rPr lang="zh-CN" altLang="en-US" sz="2200" dirty="0"/>
                    <a:t>以间距</a:t>
                  </a:r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−0.5</m:t>
                      </m:r>
                    </m:oMath>
                  </a14:m>
                  <a:r>
                    <a:rPr lang="zh-CN" altLang="en-US" sz="2200" dirty="0"/>
                    <a:t>正确地分类</a:t>
                  </a: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B05AE44-38A4-487B-A1B5-1666224673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614" y="3495033"/>
                  <a:ext cx="3753179" cy="1474763"/>
                </a:xfrm>
                <a:prstGeom prst="rect">
                  <a:avLst/>
                </a:prstGeom>
                <a:blipFill>
                  <a:blip r:embed="rId7"/>
                  <a:stretch>
                    <a:fillRect t="-2893" b="-619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48906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 Alternative Margin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别样的间距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2DC1C5-B9C1-480C-A122-D5C479B23069}"/>
                  </a:ext>
                </a:extLst>
              </p:cNvPr>
              <p:cNvSpPr/>
              <p:nvPr/>
            </p:nvSpPr>
            <p:spPr>
              <a:xfrm>
                <a:off x="3757514" y="1752600"/>
                <a:ext cx="1628972" cy="7923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200" dirty="0"/>
                  <a:t>Given  </a:t>
                </a:r>
                <a:r>
                  <a:rPr lang="zh-CN" altLang="en-US" sz="2200" dirty="0"/>
                  <a:t>给定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2DC1C5-B9C1-480C-A122-D5C479B23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514" y="1752600"/>
                <a:ext cx="1628972" cy="792396"/>
              </a:xfrm>
              <a:prstGeom prst="rect">
                <a:avLst/>
              </a:prstGeom>
              <a:blipFill>
                <a:blip r:embed="rId5"/>
                <a:stretch>
                  <a:fillRect l="-4104" t="-8527" r="-4478" b="-8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40F70F0-7A10-4675-A3B0-51E3F00640F1}"/>
              </a:ext>
            </a:extLst>
          </p:cNvPr>
          <p:cNvGrpSpPr/>
          <p:nvPr/>
        </p:nvGrpSpPr>
        <p:grpSpPr>
          <a:xfrm>
            <a:off x="2326644" y="2697718"/>
            <a:ext cx="657619" cy="2255282"/>
            <a:chOff x="733237" y="2697718"/>
            <a:chExt cx="657619" cy="225528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49FCCD0-4AA1-4919-91E7-E3C6FD6827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295194" y="2697718"/>
              <a:ext cx="0" cy="225528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230C1-FA39-421A-92D7-9E5501869246}"/>
                </a:ext>
              </a:extLst>
            </p:cNvPr>
            <p:cNvSpPr txBox="1"/>
            <p:nvPr/>
          </p:nvSpPr>
          <p:spPr>
            <a:xfrm>
              <a:off x="923925" y="4583668"/>
              <a:ext cx="38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FFE979-F740-4D14-BC18-02467348D6FA}"/>
                </a:ext>
              </a:extLst>
            </p:cNvPr>
            <p:cNvSpPr txBox="1"/>
            <p:nvPr/>
          </p:nvSpPr>
          <p:spPr>
            <a:xfrm>
              <a:off x="914213" y="2754913"/>
              <a:ext cx="38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2EA1E1-C370-49BA-8A60-E3846AB8A511}"/>
                </a:ext>
              </a:extLst>
            </p:cNvPr>
            <p:cNvSpPr txBox="1"/>
            <p:nvPr/>
          </p:nvSpPr>
          <p:spPr>
            <a:xfrm>
              <a:off x="733237" y="3723855"/>
              <a:ext cx="562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0.5</a:t>
              </a:r>
              <a:endParaRPr lang="zh-CN" altLang="en-US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A8EC73-6BDA-45FE-BC7D-158779DB3806}"/>
                </a:ext>
              </a:extLst>
            </p:cNvPr>
            <p:cNvCxnSpPr>
              <a:stCxn id="10" idx="3"/>
            </p:cNvCxnSpPr>
            <p:nvPr/>
          </p:nvCxnSpPr>
          <p:spPr bwMode="auto">
            <a:xfrm>
              <a:off x="1295194" y="2939579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F925DF9-18C5-464A-A74E-F572C1AB1E13}"/>
                </a:ext>
              </a:extLst>
            </p:cNvPr>
            <p:cNvCxnSpPr/>
            <p:nvPr/>
          </p:nvCxnSpPr>
          <p:spPr bwMode="auto">
            <a:xfrm>
              <a:off x="1304925" y="3897868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23E0DF2-B009-4380-BD48-22FDE117C4FD}"/>
                </a:ext>
              </a:extLst>
            </p:cNvPr>
            <p:cNvCxnSpPr/>
            <p:nvPr/>
          </p:nvCxnSpPr>
          <p:spPr bwMode="auto">
            <a:xfrm>
              <a:off x="1314450" y="4800600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F6EF58-A218-46FB-A62B-3451FCF6A78C}"/>
              </a:ext>
            </a:extLst>
          </p:cNvPr>
          <p:cNvGrpSpPr/>
          <p:nvPr/>
        </p:nvGrpSpPr>
        <p:grpSpPr>
          <a:xfrm>
            <a:off x="2888396" y="4467098"/>
            <a:ext cx="2521407" cy="444994"/>
            <a:chOff x="1276351" y="2996150"/>
            <a:chExt cx="2521407" cy="444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E327505-6291-4922-9C6A-0DC436A62BA2}"/>
                    </a:ext>
                  </a:extLst>
                </p:cNvPr>
                <p:cNvSpPr/>
                <p:nvPr/>
              </p:nvSpPr>
              <p:spPr>
                <a:xfrm>
                  <a:off x="1895251" y="2996150"/>
                  <a:ext cx="1902507" cy="44499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E327505-6291-4922-9C6A-0DC436A62B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5251" y="2996150"/>
                  <a:ext cx="1902507" cy="444994"/>
                </a:xfrm>
                <a:prstGeom prst="rect">
                  <a:avLst/>
                </a:prstGeom>
                <a:blipFill>
                  <a:blip r:embed="rId6"/>
                  <a:stretch>
                    <a:fillRect b="-16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2DDD00-D2CE-4822-9B8E-0F490D10F24E}"/>
                </a:ext>
              </a:extLst>
            </p:cNvPr>
            <p:cNvCxnSpPr>
              <a:stCxn id="18" idx="1"/>
            </p:cNvCxnSpPr>
            <p:nvPr/>
          </p:nvCxnSpPr>
          <p:spPr bwMode="auto">
            <a:xfrm flipH="1">
              <a:off x="1276351" y="3218647"/>
              <a:ext cx="618900" cy="80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3A73F2-7E99-4E0F-9217-D339653B1779}"/>
              </a:ext>
            </a:extLst>
          </p:cNvPr>
          <p:cNvGrpSpPr/>
          <p:nvPr/>
        </p:nvGrpSpPr>
        <p:grpSpPr>
          <a:xfrm>
            <a:off x="2990850" y="2822019"/>
            <a:ext cx="4115129" cy="1883331"/>
            <a:chOff x="1388348" y="2151802"/>
            <a:chExt cx="4115129" cy="1883331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FFA8BB4-C4CF-412F-BF4D-A173C89CA13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388348" y="3218647"/>
              <a:ext cx="2508" cy="81648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B05AE44-38A4-487B-A1B5-1666224673FD}"/>
                    </a:ext>
                  </a:extLst>
                </p:cNvPr>
                <p:cNvSpPr/>
                <p:nvPr/>
              </p:nvSpPr>
              <p:spPr>
                <a:xfrm>
                  <a:off x="1750298" y="2151802"/>
                  <a:ext cx="3753179" cy="14747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200" dirty="0"/>
                    <a:t>Correct classification w/ margin </a:t>
                  </a:r>
                  <a14:m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2200" dirty="0"/>
                </a:p>
                <a:p>
                  <a:pPr algn="ctr"/>
                  <a:r>
                    <a:rPr lang="zh-CN" altLang="en-US" sz="2200" dirty="0"/>
                    <a:t>以间距</a:t>
                  </a:r>
                  <a14:m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200" dirty="0"/>
                    <a:t>正确地分类</a:t>
                  </a:r>
                </a:p>
              </p:txBody>
            </p:sp>
          </mc:Choice>
          <mc:Fallback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B05AE44-38A4-487B-A1B5-1666224673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298" y="2151802"/>
                  <a:ext cx="3753179" cy="1474763"/>
                </a:xfrm>
                <a:prstGeom prst="rect">
                  <a:avLst/>
                </a:prstGeom>
                <a:blipFill>
                  <a:blip r:embed="rId7"/>
                  <a:stretch>
                    <a:fillRect l="-325" t="-3306" r="-325" b="-57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60887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 Alternative Margin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别样的间距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2DC1C5-B9C1-480C-A122-D5C479B23069}"/>
                  </a:ext>
                </a:extLst>
              </p:cNvPr>
              <p:cNvSpPr/>
              <p:nvPr/>
            </p:nvSpPr>
            <p:spPr>
              <a:xfrm>
                <a:off x="2436067" y="1752600"/>
                <a:ext cx="427187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200" dirty="0"/>
                  <a:t>Given a margin  </a:t>
                </a:r>
                <a:r>
                  <a:rPr lang="zh-CN" altLang="en-US" sz="2200" dirty="0"/>
                  <a:t>给定一个间距 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2DC1C5-B9C1-480C-A122-D5C479B23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067" y="1752600"/>
                <a:ext cx="4271875" cy="430887"/>
              </a:xfrm>
              <a:prstGeom prst="rect">
                <a:avLst/>
              </a:prstGeom>
              <a:blipFill>
                <a:blip r:embed="rId6"/>
                <a:stretch>
                  <a:fillRect l="-1429" t="-1571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40F70F0-7A10-4675-A3B0-51E3F00640F1}"/>
              </a:ext>
            </a:extLst>
          </p:cNvPr>
          <p:cNvGrpSpPr/>
          <p:nvPr/>
        </p:nvGrpSpPr>
        <p:grpSpPr>
          <a:xfrm>
            <a:off x="2326644" y="2697718"/>
            <a:ext cx="657619" cy="2255282"/>
            <a:chOff x="733237" y="2697718"/>
            <a:chExt cx="657619" cy="225528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49FCCD0-4AA1-4919-91E7-E3C6FD6827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295194" y="2697718"/>
              <a:ext cx="0" cy="225528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230C1-FA39-421A-92D7-9E5501869246}"/>
                </a:ext>
              </a:extLst>
            </p:cNvPr>
            <p:cNvSpPr txBox="1"/>
            <p:nvPr/>
          </p:nvSpPr>
          <p:spPr>
            <a:xfrm>
              <a:off x="923925" y="4583668"/>
              <a:ext cx="38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FFE979-F740-4D14-BC18-02467348D6FA}"/>
                </a:ext>
              </a:extLst>
            </p:cNvPr>
            <p:cNvSpPr txBox="1"/>
            <p:nvPr/>
          </p:nvSpPr>
          <p:spPr>
            <a:xfrm>
              <a:off x="914213" y="2754913"/>
              <a:ext cx="38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2EA1E1-C370-49BA-8A60-E3846AB8A511}"/>
                </a:ext>
              </a:extLst>
            </p:cNvPr>
            <p:cNvSpPr txBox="1"/>
            <p:nvPr/>
          </p:nvSpPr>
          <p:spPr>
            <a:xfrm>
              <a:off x="733237" y="3723855"/>
              <a:ext cx="562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0.5</a:t>
              </a:r>
              <a:endParaRPr lang="zh-CN" altLang="en-US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A8EC73-6BDA-45FE-BC7D-158779DB3806}"/>
                </a:ext>
              </a:extLst>
            </p:cNvPr>
            <p:cNvCxnSpPr>
              <a:stCxn id="10" idx="3"/>
            </p:cNvCxnSpPr>
            <p:nvPr/>
          </p:nvCxnSpPr>
          <p:spPr bwMode="auto">
            <a:xfrm>
              <a:off x="1295194" y="2939579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F925DF9-18C5-464A-A74E-F572C1AB1E13}"/>
                </a:ext>
              </a:extLst>
            </p:cNvPr>
            <p:cNvCxnSpPr/>
            <p:nvPr/>
          </p:nvCxnSpPr>
          <p:spPr bwMode="auto">
            <a:xfrm>
              <a:off x="1304925" y="3897868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23E0DF2-B009-4380-BD48-22FDE117C4FD}"/>
                </a:ext>
              </a:extLst>
            </p:cNvPr>
            <p:cNvCxnSpPr/>
            <p:nvPr/>
          </p:nvCxnSpPr>
          <p:spPr bwMode="auto">
            <a:xfrm>
              <a:off x="1314450" y="4800600"/>
              <a:ext cx="7640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18A2B8-FB93-4DCC-96AA-4363DB3DB0F1}"/>
              </a:ext>
            </a:extLst>
          </p:cNvPr>
          <p:cNvGrpSpPr/>
          <p:nvPr/>
        </p:nvGrpSpPr>
        <p:grpSpPr>
          <a:xfrm>
            <a:off x="1836235" y="3115071"/>
            <a:ext cx="1597995" cy="1461319"/>
            <a:chOff x="1836235" y="3115071"/>
            <a:chExt cx="1597995" cy="1461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13AE04-91A6-4455-A710-B7FFC0DA2467}"/>
                    </a:ext>
                  </a:extLst>
                </p:cNvPr>
                <p:cNvSpPr/>
                <p:nvPr/>
              </p:nvSpPr>
              <p:spPr>
                <a:xfrm>
                  <a:off x="1836236" y="3115071"/>
                  <a:ext cx="1128771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0.5+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13AE04-91A6-4455-A710-B7FFC0DA24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236" y="3115071"/>
                  <a:ext cx="1128771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9AD80B5-D449-4AAC-B0A0-19A89FC62033}"/>
                    </a:ext>
                  </a:extLst>
                </p:cNvPr>
                <p:cNvSpPr/>
                <p:nvPr/>
              </p:nvSpPr>
              <p:spPr>
                <a:xfrm>
                  <a:off x="1836235" y="4145503"/>
                  <a:ext cx="1128771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0.5−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9AD80B5-D449-4AAC-B0A0-19A89FC620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235" y="4145503"/>
                  <a:ext cx="1128771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0EBB74D-A830-47E1-B4A2-2374243F43F4}"/>
                    </a:ext>
                  </a:extLst>
                </p:cNvPr>
                <p:cNvSpPr/>
                <p:nvPr/>
              </p:nvSpPr>
              <p:spPr>
                <a:xfrm>
                  <a:off x="3009563" y="3352800"/>
                  <a:ext cx="424667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0EBB74D-A830-47E1-B4A2-2374243F43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9563" y="3352800"/>
                  <a:ext cx="424667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70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E5FCB92-239E-409E-86E7-91102EAB09BB}"/>
                </a:ext>
              </a:extLst>
            </p:cNvPr>
            <p:cNvGrpSpPr/>
            <p:nvPr/>
          </p:nvGrpSpPr>
          <p:grpSpPr>
            <a:xfrm>
              <a:off x="2895600" y="3352800"/>
              <a:ext cx="522649" cy="1081740"/>
              <a:chOff x="2895600" y="3352800"/>
              <a:chExt cx="522649" cy="1081740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FFA8BB4-C4CF-412F-BF4D-A173C89CA13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2981325" y="3352800"/>
                <a:ext cx="2938" cy="54506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/>
              </a:ln>
              <a:effectLst/>
            </p:spPr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8152799-A856-45AD-91B4-0B25FF99B9D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2984263" y="3889471"/>
                <a:ext cx="2938" cy="54506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/>
              </a:ln>
              <a:effectLst/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2C7D9A5-85F5-45E4-AC15-4D690597FEFD}"/>
                  </a:ext>
                </a:extLst>
              </p:cNvPr>
              <p:cNvCxnSpPr/>
              <p:nvPr/>
            </p:nvCxnSpPr>
            <p:spPr bwMode="auto">
              <a:xfrm>
                <a:off x="2895600" y="3362325"/>
                <a:ext cx="7640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E987CA2-12E6-4184-A3D4-E59AFC8D7484}"/>
                  </a:ext>
                </a:extLst>
              </p:cNvPr>
              <p:cNvCxnSpPr/>
              <p:nvPr/>
            </p:nvCxnSpPr>
            <p:spPr bwMode="auto">
              <a:xfrm>
                <a:off x="2895600" y="4419600"/>
                <a:ext cx="76406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34E153F-C215-4AD5-88F2-61B8EFC5466B}"/>
                      </a:ext>
                    </a:extLst>
                  </p:cNvPr>
                  <p:cNvSpPr/>
                  <p:nvPr/>
                </p:nvSpPr>
                <p:spPr>
                  <a:xfrm>
                    <a:off x="2993582" y="3898185"/>
                    <a:ext cx="424667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oMath>
                      </m:oMathPara>
                    </a14:m>
                    <a:endParaRPr lang="zh-CN" altLang="en-US" sz="2200" dirty="0"/>
                  </a:p>
                </p:txBody>
              </p:sp>
            </mc:Choice>
            <mc:Fallback xmlns="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34E153F-C215-4AD5-88F2-61B8EFC546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582" y="3898185"/>
                    <a:ext cx="424667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4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6B9AFA-31F6-4B76-AC9A-8A9CD2D30680}"/>
              </a:ext>
            </a:extLst>
          </p:cNvPr>
          <p:cNvGrpSpPr/>
          <p:nvPr/>
        </p:nvGrpSpPr>
        <p:grpSpPr>
          <a:xfrm>
            <a:off x="2981325" y="2432400"/>
            <a:ext cx="5410114" cy="1496628"/>
            <a:chOff x="2981325" y="2432400"/>
            <a:chExt cx="5410114" cy="1496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6C38C0C-539C-4766-9808-5B553DDB844B}"/>
                    </a:ext>
                  </a:extLst>
                </p:cNvPr>
                <p:cNvSpPr/>
                <p:nvPr/>
              </p:nvSpPr>
              <p:spPr>
                <a:xfrm>
                  <a:off x="4119564" y="2432400"/>
                  <a:ext cx="4271875" cy="14966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,1)</m:t>
                      </m:r>
                    </m:oMath>
                  </a14:m>
                  <a:r>
                    <a:rPr lang="en-US" altLang="zh-CN" sz="2200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sSup>
                            <m:sSupPr>
                              <m:ctrlPr>
                                <a:rPr lang="en-US" altLang="zh-CN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0.5+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endParaRPr lang="zh-CN" altLang="en-US" sz="2200" dirty="0"/>
                </a:p>
                <a:p>
                  <a:pPr algn="ctr"/>
                  <a:r>
                    <a:rPr lang="en-US" altLang="zh-CN" sz="2200" dirty="0"/>
                    <a:t>Positive samples correctly classified w/ the margin</a:t>
                  </a:r>
                </a:p>
                <a:p>
                  <a:pPr algn="ctr"/>
                  <a:r>
                    <a:rPr lang="zh-CN" altLang="en-US" sz="2200" dirty="0"/>
                    <a:t>以该间距正确分类的正例数据</a:t>
                  </a: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6C38C0C-539C-4766-9808-5B553DDB84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564" y="2432400"/>
                  <a:ext cx="4271875" cy="1496628"/>
                </a:xfrm>
                <a:prstGeom prst="rect">
                  <a:avLst/>
                </a:prstGeom>
                <a:blipFill>
                  <a:blip r:embed="rId11"/>
                  <a:stretch>
                    <a:fillRect t="-813" b="-56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DD5C313-1EED-4CAF-A772-FE696A422036}"/>
                </a:ext>
              </a:extLst>
            </p:cNvPr>
            <p:cNvCxnSpPr>
              <a:cxnSpLocks/>
              <a:stCxn id="31" idx="1"/>
            </p:cNvCxnSpPr>
            <p:nvPr/>
          </p:nvCxnSpPr>
          <p:spPr bwMode="auto">
            <a:xfrm flipH="1" flipV="1">
              <a:off x="2981325" y="3173053"/>
              <a:ext cx="1138239" cy="76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C1C268-8527-42C7-951C-175CA5C93D40}"/>
              </a:ext>
            </a:extLst>
          </p:cNvPr>
          <p:cNvGrpSpPr/>
          <p:nvPr/>
        </p:nvGrpSpPr>
        <p:grpSpPr>
          <a:xfrm>
            <a:off x="2991054" y="3850243"/>
            <a:ext cx="5410114" cy="1496628"/>
            <a:chOff x="2981325" y="2432400"/>
            <a:chExt cx="5410114" cy="1496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7E12D68-371D-462C-86AB-0E44B679B884}"/>
                    </a:ext>
                  </a:extLst>
                </p:cNvPr>
                <p:cNvSpPr/>
                <p:nvPr/>
              </p:nvSpPr>
              <p:spPr>
                <a:xfrm>
                  <a:off x="4119564" y="2432400"/>
                  <a:ext cx="4271875" cy="14966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200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sSup>
                            <m:sSupPr>
                              <m:ctrlPr>
                                <a:rPr lang="en-US" altLang="zh-CN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endParaRPr lang="zh-CN" altLang="en-US" sz="2200" dirty="0"/>
                </a:p>
                <a:p>
                  <a:pPr algn="ctr"/>
                  <a:r>
                    <a:rPr lang="en-US" altLang="zh-CN" sz="2200" dirty="0"/>
                    <a:t>Negative samples correctly classified w/ the margin</a:t>
                  </a:r>
                </a:p>
                <a:p>
                  <a:pPr algn="ctr"/>
                  <a:r>
                    <a:rPr lang="zh-CN" altLang="en-US" sz="2200" dirty="0"/>
                    <a:t>以该间距正确分类的反例数据</a:t>
                  </a: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7E12D68-371D-462C-86AB-0E44B679B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564" y="2432400"/>
                  <a:ext cx="4271875" cy="1496628"/>
                </a:xfrm>
                <a:prstGeom prst="rect">
                  <a:avLst/>
                </a:prstGeom>
                <a:blipFill>
                  <a:blip r:embed="rId12"/>
                  <a:stretch>
                    <a:fillRect t="-816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D516E90-73F0-486D-91B9-0345DFEEFD38}"/>
                </a:ext>
              </a:extLst>
            </p:cNvPr>
            <p:cNvCxnSpPr>
              <a:cxnSpLocks/>
              <a:stCxn id="36" idx="1"/>
            </p:cNvCxnSpPr>
            <p:nvPr/>
          </p:nvCxnSpPr>
          <p:spPr bwMode="auto">
            <a:xfrm flipH="1" flipV="1">
              <a:off x="2981325" y="3173053"/>
              <a:ext cx="1138239" cy="76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4763AB7-337E-4699-8A8B-F3A8DF09A080}"/>
                  </a:ext>
                </a:extLst>
              </p:cNvPr>
              <p:cNvSpPr/>
              <p:nvPr/>
            </p:nvSpPr>
            <p:spPr>
              <a:xfrm>
                <a:off x="388996" y="5334000"/>
                <a:ext cx="8366008" cy="7964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acc>
                      </m:e>
                      <m:sub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altLang="zh-CN" sz="2200" dirty="0"/>
                  <a:t>: Percentage of incorrectly classified samples w/ the margin</a:t>
                </a:r>
              </a:p>
              <a:p>
                <a:r>
                  <a:rPr lang="zh-CN" altLang="en-US" sz="2200" dirty="0"/>
                  <a:t>     未能以该间距正确分类的数据的比例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4763AB7-337E-4699-8A8B-F3A8DF09A0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96" y="5334000"/>
                <a:ext cx="8366008" cy="796436"/>
              </a:xfrm>
              <a:prstGeom prst="rect">
                <a:avLst/>
              </a:prstGeom>
              <a:blipFill>
                <a:blip r:embed="rId13"/>
                <a:stretch>
                  <a:fillRect t="-5344" r="-146" b="-11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496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Math Theorem  </a:t>
            </a:r>
            <a:r>
              <a:rPr lang="zh-CN" altLang="en-US" dirty="0">
                <a:ea typeface="ＭＳ Ｐゴシック" panose="020B0600070205080204" pitchFamily="34" charset="-128"/>
              </a:rPr>
              <a:t>数学定理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89DD71-FDF3-4BE4-A893-744A1694DBFD}"/>
                  </a:ext>
                </a:extLst>
              </p:cNvPr>
              <p:cNvSpPr txBox="1"/>
              <p:nvPr/>
            </p:nvSpPr>
            <p:spPr>
              <a:xfrm>
                <a:off x="304800" y="1622425"/>
                <a:ext cx="6858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200" dirty="0"/>
                  <a:t>: number of training samples  </a:t>
                </a:r>
                <a:r>
                  <a:rPr lang="zh-CN" altLang="en-US" sz="2200" dirty="0"/>
                  <a:t>训练数据数量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89DD71-FDF3-4BE4-A893-744A1694D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22425"/>
                <a:ext cx="6858000" cy="430887"/>
              </a:xfrm>
              <a:prstGeom prst="rect">
                <a:avLst/>
              </a:prstGeom>
              <a:blipFill>
                <a:blip r:embed="rId5"/>
                <a:stretch>
                  <a:fillRect t="-15493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746DCE-1319-41B6-B76B-DC45BE980A09}"/>
                  </a:ext>
                </a:extLst>
              </p:cNvPr>
              <p:cNvSpPr txBox="1"/>
              <p:nvPr/>
            </p:nvSpPr>
            <p:spPr>
              <a:xfrm>
                <a:off x="304800" y="2028825"/>
                <a:ext cx="8610600" cy="1220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076325" indent="-1076325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</a:rPr>
                          <m:t>fat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: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fat-shattering dimension</a:t>
                </a:r>
                <a:r>
                  <a:rPr lang="en-US" altLang="zh-CN" sz="2200" dirty="0"/>
                  <a:t> of the candidate numerical functions for classification </a:t>
                </a:r>
              </a:p>
              <a:p>
                <a:pPr marL="1076325"/>
                <a:r>
                  <a:rPr lang="zh-CN" altLang="en-US" sz="2200" dirty="0"/>
                  <a:t>用于分类的候选数值函数的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积余粉碎维度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746DCE-1319-41B6-B76B-DC45BE980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028825"/>
                <a:ext cx="8610600" cy="1220655"/>
              </a:xfrm>
              <a:prstGeom prst="rect">
                <a:avLst/>
              </a:prstGeom>
              <a:blipFill>
                <a:blip r:embed="rId6"/>
                <a:stretch>
                  <a:fillRect t="-500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0746A-3A94-4CE5-A529-FA430DEB69E3}"/>
                  </a:ext>
                </a:extLst>
              </p:cNvPr>
              <p:cNvSpPr txBox="1"/>
              <p:nvPr/>
            </p:nvSpPr>
            <p:spPr>
              <a:xfrm>
                <a:off x="304800" y="3219450"/>
                <a:ext cx="8839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200" dirty="0"/>
                  <a:t>: tolerance of probability of unluckiness  </a:t>
                </a:r>
                <a:r>
                  <a:rPr lang="zh-CN" altLang="en-US" sz="2200" dirty="0"/>
                  <a:t>能忍受的运气不好的概率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0746A-3A94-4CE5-A529-FA430DEB6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19450"/>
                <a:ext cx="8839200" cy="430887"/>
              </a:xfrm>
              <a:prstGeom prst="rect">
                <a:avLst/>
              </a:prstGeom>
              <a:blipFill>
                <a:blip r:embed="rId7"/>
                <a:stretch>
                  <a:fillRect l="-69" t="-15493" r="-276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/>
              <p:nvPr/>
            </p:nvSpPr>
            <p:spPr>
              <a:xfrm>
                <a:off x="152400" y="3638550"/>
                <a:ext cx="8839200" cy="1867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error  </a:t>
                </a:r>
                <a:r>
                  <a:rPr lang="zh-CN" altLang="en-US" sz="2200" dirty="0"/>
                  <a:t>分类错误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fat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34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𝑒𝑚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>
                                              <a:latin typeface="Cambria Math" panose="02040503050406030204" pitchFamily="18" charset="0"/>
                                            </a:rPr>
                                            <m:t>fat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16</m:t>
                                          </m:r>
                                        </m:den>
                                      </m:f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func>
                              <m:func>
                                <m:func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578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638550"/>
                <a:ext cx="8839200" cy="1867755"/>
              </a:xfrm>
              <a:prstGeom prst="rect">
                <a:avLst/>
              </a:prstGeom>
              <a:blipFill>
                <a:blip r:embed="rId8"/>
                <a:stretch>
                  <a:fillRect t="-3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28C4FE-6798-4549-9A97-55C9F1F5324E}"/>
                  </a:ext>
                </a:extLst>
              </p:cNvPr>
              <p:cNvSpPr txBox="1"/>
              <p:nvPr/>
            </p:nvSpPr>
            <p:spPr>
              <a:xfrm>
                <a:off x="152400" y="5486400"/>
                <a:ext cx="88392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Except for the probability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200" dirty="0"/>
                  <a:t> of unluckiness </a:t>
                </a:r>
                <a:br>
                  <a:rPr lang="en-US" altLang="zh-CN" sz="2200" dirty="0"/>
                </a:br>
                <a:r>
                  <a:rPr lang="zh-CN" altLang="en-US" sz="2200" dirty="0"/>
                  <a:t>除去概率为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2200" dirty="0"/>
                  <a:t>的运气不好的情况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28C4FE-6798-4549-9A97-55C9F1F5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486400"/>
                <a:ext cx="8839200" cy="769441"/>
              </a:xfrm>
              <a:prstGeom prst="rect">
                <a:avLst/>
              </a:prstGeom>
              <a:blipFill>
                <a:blip r:embed="rId9"/>
                <a:stretch>
                  <a:fillRect t="-5556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7198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Upper Bound </a:t>
            </a:r>
            <a:r>
              <a:rPr lang="en-US" altLang="zh-CN" dirty="0">
                <a:ea typeface="ＭＳ Ｐゴシック" panose="020B0600070205080204" pitchFamily="34" charset="-128"/>
              </a:rPr>
              <a:t>of Error  </a:t>
            </a:r>
            <a:r>
              <a:rPr lang="zh-CN" altLang="en-US" dirty="0">
                <a:ea typeface="ＭＳ Ｐゴシック" panose="020B0600070205080204" pitchFamily="34" charset="-128"/>
              </a:rPr>
              <a:t>错误上界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/>
              <p:nvPr/>
            </p:nvSpPr>
            <p:spPr>
              <a:xfrm>
                <a:off x="152400" y="1524000"/>
                <a:ext cx="8839200" cy="1529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̿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fat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34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𝑒𝑚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>
                                              <a:latin typeface="Cambria Math" panose="02040503050406030204" pitchFamily="18" charset="0"/>
                                            </a:rPr>
                                            <m:t>fat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16</m:t>
                                          </m:r>
                                        </m:den>
                                      </m:f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func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578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0"/>
                <a:ext cx="8839200" cy="15292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28C4FE-6798-4549-9A97-55C9F1F5324E}"/>
                  </a:ext>
                </a:extLst>
              </p:cNvPr>
              <p:cNvSpPr txBox="1"/>
              <p:nvPr/>
            </p:nvSpPr>
            <p:spPr>
              <a:xfrm>
                <a:off x="152400" y="4241893"/>
                <a:ext cx="8839200" cy="1017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Larger margin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200" dirty="0"/>
                  <a:t> </a:t>
                </a:r>
                <a:r>
                  <a:rPr lang="en-US" altLang="zh-CN" sz="22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→ </a:t>
                </a:r>
                <a:r>
                  <a:rPr lang="en-US" altLang="zh-CN" sz="2200" dirty="0"/>
                  <a:t>likely lower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fat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</a:t>
                </a:r>
                <a:r>
                  <a:rPr lang="en-US" altLang="zh-CN" sz="22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→</a:t>
                </a:r>
                <a:r>
                  <a:rPr lang="en-US" altLang="zh-CN" sz="2200" dirty="0"/>
                  <a:t> likely lower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altLang="zh-CN" sz="2200" dirty="0"/>
                  <a:t> </a:t>
                </a:r>
                <a:br>
                  <a:rPr lang="en-US" altLang="zh-CN" sz="2200" dirty="0"/>
                </a:br>
                <a:r>
                  <a:rPr lang="zh-CN" altLang="en-US" sz="2200" dirty="0"/>
                  <a:t>更大的间距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2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→ </a:t>
                </a:r>
                <a:r>
                  <a:rPr lang="zh-CN" altLang="en-US" sz="2200" dirty="0"/>
                  <a:t>可能获得更低的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fat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→ </a:t>
                </a:r>
                <a:r>
                  <a:rPr lang="zh-CN" altLang="en-US" sz="2200" dirty="0"/>
                  <a:t>可能获得更低的的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28C4FE-6798-4549-9A97-55C9F1F5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241893"/>
                <a:ext cx="8839200" cy="1017779"/>
              </a:xfrm>
              <a:prstGeom prst="rect">
                <a:avLst/>
              </a:prstGeom>
              <a:blipFill>
                <a:blip r:embed="rId6"/>
                <a:stretch>
                  <a:fillRect b="-7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/>
              <p:nvPr/>
            </p:nvSpPr>
            <p:spPr>
              <a:xfrm>
                <a:off x="152400" y="3107909"/>
                <a:ext cx="8839200" cy="108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In logistic regression</a:t>
                </a:r>
                <a:r>
                  <a:rPr lang="zh-CN" altLang="en-US" sz="2200" dirty="0"/>
                  <a:t>  在对数几率回归中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fat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𝑐𝑛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</m:num>
                            <m:den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107909"/>
                <a:ext cx="8839200" cy="1083886"/>
              </a:xfrm>
              <a:prstGeom prst="rect">
                <a:avLst/>
              </a:prstGeom>
              <a:blipFill>
                <a:blip r:embed="rId7"/>
                <a:stretch>
                  <a:fillRect t="-6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03CAFB-293E-484A-9FB4-DE76380E52D2}"/>
                  </a:ext>
                </a:extLst>
              </p:cNvPr>
              <p:cNvSpPr txBox="1"/>
              <p:nvPr/>
            </p:nvSpPr>
            <p:spPr>
              <a:xfrm>
                <a:off x="-114300" y="5394874"/>
                <a:ext cx="9372600" cy="829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But we also need to 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acc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altLang="zh-CN" sz="2200" dirty="0"/>
                  <a:t> lower, that is what we pursue in gradient descent  </a:t>
                </a:r>
                <a:r>
                  <a:rPr lang="zh-CN" altLang="en-US" sz="2200" dirty="0"/>
                  <a:t>但我们也需要降低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acc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zh-CN" altLang="en-US" sz="2000" dirty="0">
                    <a:ea typeface="Cambria Math" panose="02040503050406030204" pitchFamily="18" charset="0"/>
                  </a:rPr>
                  <a:t>，</a:t>
                </a:r>
                <a:r>
                  <a:rPr lang="zh-CN" altLang="en-US" sz="2200" dirty="0"/>
                  <a:t>这正是我们在梯度下降中追求的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03CAFB-293E-484A-9FB4-DE76380E5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300" y="5394874"/>
                <a:ext cx="9372600" cy="829714"/>
              </a:xfrm>
              <a:prstGeom prst="rect">
                <a:avLst/>
              </a:prstGeom>
              <a:blipFill>
                <a:blip r:embed="rId8"/>
                <a:stretch>
                  <a:fillRect t="-7353" r="-260" b="-9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157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8.2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8.2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38100" y="1785659"/>
            <a:ext cx="906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logistic regression on word sense disambiguation</a:t>
            </a:r>
          </a:p>
          <a:p>
            <a:pPr algn="ctr"/>
            <a:r>
              <a:rPr lang="zh-CN" altLang="en-US" sz="2200" dirty="0"/>
              <a:t>实践时刻：将对数几率回归用于词义消歧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665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8DCACA-3997-4650-991A-926E46401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76894"/>
              </p:ext>
            </p:extLst>
          </p:nvPr>
        </p:nvGraphicFramePr>
        <p:xfrm>
          <a:off x="1028700" y="1823720"/>
          <a:ext cx="6972300" cy="18542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4815919">
                  <a:extLst>
                    <a:ext uri="{9D8B030D-6E8A-4147-A177-3AD203B41FA5}">
                      <a16:colId xmlns:a16="http://schemas.microsoft.com/office/drawing/2014/main" val="1065155212"/>
                    </a:ext>
                  </a:extLst>
                </a:gridCol>
                <a:gridCol w="2156381">
                  <a:extLst>
                    <a:ext uri="{9D8B030D-6E8A-4147-A177-3AD203B41FA5}">
                      <a16:colId xmlns:a16="http://schemas.microsoft.com/office/drawing/2014/main" val="38615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Methods  </a:t>
                      </a:r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Accuracy </a:t>
                      </a:r>
                      <a:r>
                        <a:rPr lang="zh-CN" altLang="en-US" dirty="0"/>
                        <a:t>准确率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4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Nearest neighbor  </a:t>
                      </a:r>
                      <a:r>
                        <a:rPr lang="zh-CN" altLang="en-US" dirty="0"/>
                        <a:t>最近邻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69.3%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34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 </a:t>
                      </a:r>
                      <a:r>
                        <a:rPr lang="zh-CN" altLang="en-US" dirty="0"/>
                        <a:t>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83.6%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w/ margin  </a:t>
                      </a:r>
                      <a:r>
                        <a:rPr lang="zh-CN" altLang="en-US" dirty="0"/>
                        <a:t>带间距的感知器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85.7%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Logistic regression  </a:t>
                      </a:r>
                      <a:r>
                        <a:rPr lang="zh-CN" altLang="en-US" dirty="0"/>
                        <a:t>对数几率回归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85.0%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87154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A7E1576-A1F0-FAF8-B5D5-7EEA692C82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4799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2|0.1|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3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0.3|0.4|0.3|0.4|0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3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2|0.2|0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|0.4|0.3|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0.7|0.5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|0.3|0.1|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|20|0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3|0.2|0.1|0.2|0.3|22.8|0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3|0.3|3.7|0.3|0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6|6.6|11.4|22.8|26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|87.2|16.4|9.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21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23.2|36.3|61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9.1|355.2|30.9|87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1.8|90.9|30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28214</TotalTime>
  <Words>3701</Words>
  <Application>Microsoft Office PowerPoint</Application>
  <PresentationFormat>On-screen Show (4:3)</PresentationFormat>
  <Paragraphs>329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ＭＳ Ｐゴシック</vt:lpstr>
      <vt:lpstr>SimSun</vt:lpstr>
      <vt:lpstr>等线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Machine Learning -  Basic Principles &amp; Practice 8. An Alternative Margin</vt:lpstr>
      <vt:lpstr>Margin  间距</vt:lpstr>
      <vt:lpstr>The Alternative  替代品</vt:lpstr>
      <vt:lpstr>Logistic Regression   对数几率回归</vt:lpstr>
      <vt:lpstr>Classification  分类</vt:lpstr>
      <vt:lpstr>Classification  分类</vt:lpstr>
      <vt:lpstr>Learning  学习</vt:lpstr>
      <vt:lpstr>Maximum Likelihood Estimation 极大似然估计</vt:lpstr>
      <vt:lpstr>Maximum Likelihood Estimation 极大似然估计</vt:lpstr>
      <vt:lpstr>Maximum Likelihood Estimation 极大似然估计</vt:lpstr>
      <vt:lpstr>Transformation  变换</vt:lpstr>
      <vt:lpstr>Transformation  变换</vt:lpstr>
      <vt:lpstr>Transformation  变换</vt:lpstr>
      <vt:lpstr>Regularization  调整</vt:lpstr>
      <vt:lpstr>Rationale Behind Regularization  调整的根本原因</vt:lpstr>
      <vt:lpstr>Problem of Learning  学习问题</vt:lpstr>
      <vt:lpstr>How to Learn  如何学习</vt:lpstr>
      <vt:lpstr>How to Learn  如何学习</vt:lpstr>
      <vt:lpstr>How to Learn  如何学习</vt:lpstr>
      <vt:lpstr>How to Learn  如何学习</vt:lpstr>
      <vt:lpstr>How to Learn  如何学习</vt:lpstr>
      <vt:lpstr>How to Learn  如何学习</vt:lpstr>
      <vt:lpstr>Gradient Calculation 梯度计算 (1)</vt:lpstr>
      <vt:lpstr>Gradient Calculation 梯度计算 (2)</vt:lpstr>
      <vt:lpstr>Gradient Calculation 梯度计算 (3)</vt:lpstr>
      <vt:lpstr>Practice 8.1  实践8.1</vt:lpstr>
      <vt:lpstr>We Now Know  我们现在了解了</vt:lpstr>
      <vt:lpstr>An Alternative Margin 别样的间距</vt:lpstr>
      <vt:lpstr>An Alternative Margin 别样的间距</vt:lpstr>
      <vt:lpstr>An Alternative Margin 别样的间距</vt:lpstr>
      <vt:lpstr>Math Theorem  数学定理</vt:lpstr>
      <vt:lpstr>Upper Bound of Error  错误上界</vt:lpstr>
      <vt:lpstr>Practice 8.2  实践8.2</vt:lpstr>
      <vt:lpstr>Result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1556</cp:revision>
  <dcterms:created xsi:type="dcterms:W3CDTF">2003-03-13T01:36:43Z</dcterms:created>
  <dcterms:modified xsi:type="dcterms:W3CDTF">2026-04-11T01:28:41Z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f9ab3522-0387-4618-aaf1-9cc7e9194d0e</vt:lpwstr>
  </property>
  <property fmtid="{D5CDD505-2E9C-101B-9397-08002B2CF9AE}" pid="3" name="CTP_TimeStamp">
    <vt:lpwstr>2020-02-01 05:37:32Z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