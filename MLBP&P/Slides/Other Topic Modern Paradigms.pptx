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notesSlides/notesSlide15.xml" ContentType="application/vnd.openxmlformats-officedocument.presentationml.notesSlide+xml"/>
  <Override PartName="/ppt/tags/tag17.xml" ContentType="application/vnd.openxmlformats-officedocument.presentationml.tags+xml"/>
  <Override PartName="/ppt/notesSlides/notesSlide16.xml" ContentType="application/vnd.openxmlformats-officedocument.presentationml.notesSlide+xml"/>
  <Override PartName="/ppt/tags/tag18.xml" ContentType="application/vnd.openxmlformats-officedocument.presentationml.tags+xml"/>
  <Override PartName="/ppt/notesSlides/notesSlide17.xml" ContentType="application/vnd.openxmlformats-officedocument.presentationml.notesSlide+xml"/>
  <Override PartName="/ppt/tags/tag19.xml" ContentType="application/vnd.openxmlformats-officedocument.presentationml.tags+xml"/>
  <Override PartName="/ppt/notesSlides/notesSlide18.xml" ContentType="application/vnd.openxmlformats-officedocument.presentationml.notesSlide+xml"/>
  <Override PartName="/ppt/tags/tag20.xml" ContentType="application/vnd.openxmlformats-officedocument.presentationml.tags+xml"/>
  <Override PartName="/ppt/notesSlides/notesSlide19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20.xml" ContentType="application/vnd.openxmlformats-officedocument.presentationml.notesSlide+xml"/>
  <Override PartName="/ppt/tags/tag24.xml" ContentType="application/vnd.openxmlformats-officedocument.presentationml.tags+xml"/>
  <Override PartName="/ppt/notesSlides/notesSlide21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22.xml" ContentType="application/vnd.openxmlformats-officedocument.presentationml.notesSlide+xml"/>
  <Override PartName="/ppt/tags/tag27.xml" ContentType="application/vnd.openxmlformats-officedocument.presentationml.tags+xml"/>
  <Override PartName="/ppt/notesSlides/notesSlide23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24.xml" ContentType="application/vnd.openxmlformats-officedocument.presentationml.notesSlide+xml"/>
  <Override PartName="/ppt/tags/tag45.xml" ContentType="application/vnd.openxmlformats-officedocument.presentationml.tags+xml"/>
  <Override PartName="/ppt/notesSlides/notesSlide25.xml" ContentType="application/vnd.openxmlformats-officedocument.presentationml.notesSlide+xml"/>
  <Override PartName="/ppt/tags/tag46.xml" ContentType="application/vnd.openxmlformats-officedocument.presentationml.tags+xml"/>
  <Override PartName="/ppt/notesSlides/notesSlide26.xml" ContentType="application/vnd.openxmlformats-officedocument.presentationml.notesSlide+xml"/>
  <Override PartName="/ppt/tags/tag47.xml" ContentType="application/vnd.openxmlformats-officedocument.presentationml.tags+xml"/>
  <Override PartName="/ppt/notesSlides/notesSlide27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54"/>
  </p:notesMasterIdLst>
  <p:handoutMasterIdLst>
    <p:handoutMasterId r:id="rId55"/>
  </p:handoutMasterIdLst>
  <p:sldIdLst>
    <p:sldId id="286" r:id="rId2"/>
    <p:sldId id="412" r:id="rId3"/>
    <p:sldId id="413" r:id="rId4"/>
    <p:sldId id="620" r:id="rId5"/>
    <p:sldId id="621" r:id="rId6"/>
    <p:sldId id="624" r:id="rId7"/>
    <p:sldId id="626" r:id="rId8"/>
    <p:sldId id="625" r:id="rId9"/>
    <p:sldId id="628" r:id="rId10"/>
    <p:sldId id="630" r:id="rId11"/>
    <p:sldId id="629" r:id="rId12"/>
    <p:sldId id="639" r:id="rId13"/>
    <p:sldId id="638" r:id="rId14"/>
    <p:sldId id="631" r:id="rId15"/>
    <p:sldId id="634" r:id="rId16"/>
    <p:sldId id="640" r:id="rId17"/>
    <p:sldId id="641" r:id="rId18"/>
    <p:sldId id="636" r:id="rId19"/>
    <p:sldId id="637" r:id="rId20"/>
    <p:sldId id="642" r:id="rId21"/>
    <p:sldId id="643" r:id="rId22"/>
    <p:sldId id="644" r:id="rId23"/>
    <p:sldId id="645" r:id="rId24"/>
    <p:sldId id="646" r:id="rId25"/>
    <p:sldId id="647" r:id="rId26"/>
    <p:sldId id="648" r:id="rId27"/>
    <p:sldId id="649" r:id="rId28"/>
    <p:sldId id="650" r:id="rId29"/>
    <p:sldId id="659" r:id="rId30"/>
    <p:sldId id="652" r:id="rId31"/>
    <p:sldId id="653" r:id="rId32"/>
    <p:sldId id="654" r:id="rId33"/>
    <p:sldId id="655" r:id="rId34"/>
    <p:sldId id="656" r:id="rId35"/>
    <p:sldId id="657" r:id="rId36"/>
    <p:sldId id="666" r:id="rId37"/>
    <p:sldId id="665" r:id="rId38"/>
    <p:sldId id="658" r:id="rId39"/>
    <p:sldId id="660" r:id="rId40"/>
    <p:sldId id="661" r:id="rId41"/>
    <p:sldId id="662" r:id="rId42"/>
    <p:sldId id="663" r:id="rId43"/>
    <p:sldId id="664" r:id="rId44"/>
    <p:sldId id="667" r:id="rId45"/>
    <p:sldId id="669" r:id="rId46"/>
    <p:sldId id="668" r:id="rId47"/>
    <p:sldId id="670" r:id="rId48"/>
    <p:sldId id="671" r:id="rId49"/>
    <p:sldId id="672" r:id="rId50"/>
    <p:sldId id="673" r:id="rId51"/>
    <p:sldId id="674" r:id="rId52"/>
    <p:sldId id="353" r:id="rId53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CC"/>
    <a:srgbClr val="FF9966"/>
    <a:srgbClr val="339933"/>
    <a:srgbClr val="C7F5E0"/>
    <a:srgbClr val="FFCCFF"/>
    <a:srgbClr val="333399"/>
    <a:srgbClr val="B2B2B2"/>
    <a:srgbClr val="993366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204" autoAdjust="0"/>
    <p:restoredTop sz="93722" autoAdjust="0"/>
  </p:normalViewPr>
  <p:slideViewPr>
    <p:cSldViewPr>
      <p:cViewPr varScale="1">
        <p:scale>
          <a:sx n="69" d="100"/>
          <a:sy n="69" d="100"/>
        </p:scale>
        <p:origin x="662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832157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2361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814A1-B2C4-2FCB-BF22-34B8E1155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5D110A-9819-1F8A-ABAC-815135EF24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FE4C11-5B1A-5BBF-8830-36C8FD9088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DF77C8-7A63-7FD1-4D32-E29BA4320A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47854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721F0-26DF-32CA-9B49-2F7B7622A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F8AC65-B7F4-5E96-7B16-CF8FF55AE6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BF9421-0CB6-7360-6619-795DEA6290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F325E2-DC22-A8BC-5AA1-A851ED1CCD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99131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F044A-F82A-2156-64D6-8025BD382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CC6FED-6646-3D78-CA6E-9ACCB4B7C1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541892-995E-2D1C-AD85-E8E75DCB70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59AF0-2E0B-F137-6BCA-15F30E51D7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461319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D03DA-8F4F-355D-DEE5-DE5DFC2DF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0BDFBC-10E7-A52A-FEDC-C8CA7FE5B7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3858C6-08E1-6173-6CE1-BF219B1F14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C2652-4118-ABE0-250A-D12E48CA67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87529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32F8E-8940-469C-F6C4-26D94F2A5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15F8FF-6B25-2C0A-E74E-A7A300FD4D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099352-6272-3F04-336B-8D12229F60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DEAC55-DB38-F044-D9BC-53F96AF7FD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69250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8A260-79A8-4F2F-D5CD-C666CC686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6FF10F-6D00-136B-6D41-CF68C8C8D1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119AD9-DF4F-30A2-7EA9-A1CEB7C1A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D944C-EF54-E7A1-C7E0-10707044AA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27880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DF8DB-0494-866E-2498-FBFD331BF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2B2349-BD2F-4751-9577-DB9BF8E306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B28B6E-F09D-A54E-6492-48D75B70F0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954663-AD1C-454E-8B91-D0F6951EBE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52477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524BA-FD35-71C7-3F22-468A265A0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7A15EF-1300-AE04-3A1E-ECA4C30CFC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0432FD-1124-D1AC-2FE2-9B56338F5E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B6F62-E41F-8D86-F0CD-F9C18494B7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81082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7B00D-E360-82E7-72C7-A0DBCCDAA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2E55EC-2C98-AB08-DCC0-8C2FD62E06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A95EF5-8D41-D20B-1F42-3D229C3000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F661D9-BCB1-7D30-BA57-CB384BC5E6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50999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78B8F-A07A-367E-926A-774C08CDD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09C7A4-6599-000D-A659-8D18727CD1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6CEA85-2618-DE47-734F-F21769086B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98A18-77A5-9CC9-7C2C-90C28F9BA6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85344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9151F-1B2B-B515-97EC-C70039B3C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A7627F-BBE4-8CDB-8B2D-54EBA168C0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341C43-B863-62A0-B0A3-39140A7651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9625C-7622-7292-FF9C-DD626CB24A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20576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B07F7-8187-817B-F4C9-93F8A49BB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115889-7207-1E7B-0123-E156110F22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87053F-DE12-4105-1CB9-46ACF90E5E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BD46E6-74B9-1E9F-B6E2-1363FC5C57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115841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061DF-23F2-1F21-F4B3-D71DD751A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B184AF-8307-81AB-6576-C7BC6451B3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7A8007-F073-5622-D8CA-8CBB4409DD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44BD8-35C2-7ACB-4514-A7DC8D667D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09316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41102-AB03-2B4F-0B86-E99F0E5C2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A9D47B-8631-CBFB-FC0B-739E165B61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D4D930-3416-7732-100A-FDADB15FFA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3D7360-A39F-9ADE-ED9E-A83A6E857C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20878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A61C6-C6F7-4AAF-3E7D-5153A9A6B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09B1BE-DBEB-C817-03B6-154B35F553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368631-8900-AF24-20E4-43D7D1FFAE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EF79C-F7ED-24EB-2E6E-65B479F6F0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23018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3A459-8D17-72A2-F2AB-3EA659523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432162-74B0-EA92-EA91-99F8C5D3D8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4EED6F-FAA0-0084-852B-C01680F4D5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6607FA-2549-2EF7-2576-E38E922446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36563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BCB7B-1154-BF10-845E-916EE01C6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BDDA95-D6CF-601A-2AD8-19B581C25B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71A497-2AC5-8661-C9F5-EE204CE928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BEBE3-BF78-D912-217C-2D7595E5ED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81035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B3C7D-4386-5E37-765D-5484CC4B8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70778A-3D2D-BFDC-3D32-4926D848B9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4CC571-EE35-7AEB-53C7-94EA25DBFB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A56ACF-D6E8-DA22-54E2-653B2AAF99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44029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76CAD-254A-DF7C-502B-1CE5428D8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946539-E847-7930-9CCF-ECB1ACCEC0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9BD56E-E132-A3EB-D277-F150BCAB3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993B15-0B4E-D3A3-FC99-0D99D1D028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472259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1112B-07CC-8819-465C-F69E5C000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F0CA6E-FB2B-64A2-4F15-FCE0DF9B08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E61F9D-B231-5F3A-CC11-AF90B70BD7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15287C-1AEE-EC49-180E-B45304F01C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07530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70047-A143-B07D-CA1F-F5D2D016F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A1A3F6-F4A2-3091-09AF-D170EBC591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B29B92-F36B-1CAD-06BA-64098DA941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BA560-2157-040C-C5B3-02601431C1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13510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E55F6-5DD9-DB58-BE53-11B387E81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B467B5-B004-1D96-1C45-504C2520CE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E70A3A-F384-3F85-CEF8-0EA692DC67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ADF03-079F-FE68-0B79-F44119A2F7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82648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32380-15A8-5A56-919D-E6D8174D7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780ECF-4AD9-3624-A5B5-C6A49911FF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CA89B4-3FB5-B6E5-D336-F694722145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98EF6-FE1E-6E68-F7E7-1752B58B78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47827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2CBF9-2CEC-E731-27AD-42839F52C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E3385E-4C07-8A7D-448E-6AF085F4C1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AD98E4-94B0-406F-99C2-8EA7A62BD6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F04BC9-2E5E-47AB-BC8F-E83DA7F060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29552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9F98D-DFE7-7CA2-49FB-18CA110D5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B23842-F65D-9290-941F-384C493542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A32DD0-06F6-3E63-5A55-8D04357CAD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09B6A6-486E-7D29-8097-5FFD7AB5CB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977392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52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1. Prologue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1. </a:t>
            </a:r>
            <a:r>
              <a:rPr lang="zh-CN" altLang="en-US" dirty="0"/>
              <a:t>序言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dirty="0"/>
              <a:t>Machine Learning </a:t>
            </a:r>
            <a:r>
              <a:rPr lang="en-US" altLang="zh-CN" dirty="0"/>
              <a:t>–</a:t>
            </a:r>
            <a:r>
              <a:rPr lang="en-US" dirty="0"/>
              <a:t> Basic Principles &amp; Practice: 1. Prologue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1. </a:t>
            </a:r>
            <a:r>
              <a:rPr lang="zh-CN" altLang="en-US" dirty="0"/>
              <a:t>序言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6" Type="http://schemas.openxmlformats.org/officeDocument/2006/relationships/image" Target="../media/image6.png"/><Relationship Id="rId11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0.png"/><Relationship Id="rId4" Type="http://schemas.openxmlformats.org/officeDocument/2006/relationships/image" Target="../media/image13.png"/><Relationship Id="rId9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2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6" Type="http://schemas.openxmlformats.org/officeDocument/2006/relationships/image" Target="../media/image18.png"/><Relationship Id="rId11" Type="http://schemas.openxmlformats.org/officeDocument/2006/relationships/image" Target="../media/image26.png"/><Relationship Id="rId5" Type="http://schemas.openxmlformats.org/officeDocument/2006/relationships/image" Target="../media/image17.png"/><Relationship Id="rId10" Type="http://schemas.openxmlformats.org/officeDocument/2006/relationships/image" Target="../media/image25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6" Type="http://schemas.openxmlformats.org/officeDocument/2006/relationships/image" Target="../media/image18.png"/><Relationship Id="rId11" Type="http://schemas.openxmlformats.org/officeDocument/2006/relationships/image" Target="../media/image2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3.png"/><Relationship Id="rId9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Relationship Id="rId4" Type="http://schemas.openxmlformats.org/officeDocument/2006/relationships/image" Target="../media/image3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4.xml"/><Relationship Id="rId4" Type="http://schemas.openxmlformats.org/officeDocument/2006/relationships/image" Target="../media/image3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5.xml"/><Relationship Id="rId4" Type="http://schemas.openxmlformats.org/officeDocument/2006/relationships/image" Target="../media/image3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Machine Learning - </a:t>
            </a:r>
            <a:br>
              <a:rPr lang="en-US" altLang="zh-CN" sz="3600" b="1" dirty="0">
                <a:ea typeface="SimSun" panose="02010600030101010101" pitchFamily="2" charset="-122"/>
              </a:rPr>
            </a:br>
            <a:r>
              <a:rPr lang="en-US" altLang="zh-CN" sz="3600" b="1" dirty="0">
                <a:ea typeface="SimSun" panose="02010600030101010101" pitchFamily="2" charset="-122"/>
              </a:rPr>
              <a:t>Basic Principles &amp; Practice</a:t>
            </a:r>
            <a:br>
              <a:rPr lang="en-US" altLang="zh-CN" sz="3600" b="1" dirty="0">
                <a:ea typeface="SimSun" panose="02010600030101010101" pitchFamily="2" charset="-122"/>
              </a:rPr>
            </a:br>
            <a:r>
              <a:rPr lang="en-US" altLang="zh-CN" sz="3600" b="1" dirty="0">
                <a:ea typeface="SimSun" panose="02010600030101010101" pitchFamily="2" charset="-122"/>
              </a:rPr>
              <a:t>Other Topic: Modern Paradigm 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192739"/>
            <a:ext cx="7772400" cy="14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机器学习 </a:t>
            </a:r>
            <a:r>
              <a:rPr lang="en-US" altLang="zh-CN" sz="3600" b="1" kern="0" dirty="0">
                <a:ea typeface="SimSun" panose="02010600030101010101" pitchFamily="2" charset="-122"/>
              </a:rPr>
              <a:t>– </a:t>
            </a:r>
            <a:r>
              <a:rPr lang="zh-CN" altLang="en-US" sz="3600" b="1" kern="0" dirty="0">
                <a:ea typeface="SimSun" panose="02010600030101010101" pitchFamily="2" charset="-122"/>
              </a:rPr>
              <a:t>基础原理与实践</a:t>
            </a:r>
            <a:endParaRPr lang="en-US" altLang="zh-CN" sz="3600" b="1" kern="0" dirty="0">
              <a:ea typeface="SimSun" panose="02010600030101010101" pitchFamily="2" charset="-122"/>
            </a:endParaRPr>
          </a:p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番外：现代范式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48925-D3D8-9797-9FD0-EB1B2112D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51E8B-4857-F362-3494-2B6F900C5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Deep Learning </a:t>
            </a:r>
            <a:r>
              <a:rPr lang="zh-CN" altLang="en-US"/>
              <a:t> 深度学习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377D2-5C51-5FBD-1A24-501437A35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4643438"/>
          </a:xfrm>
        </p:spPr>
        <p:txBody>
          <a:bodyPr>
            <a:normAutofit/>
          </a:bodyPr>
          <a:lstStyle/>
          <a:p>
            <a:r>
              <a:rPr lang="en-US" altLang="zh-CN" dirty="0"/>
              <a:t>Complex Networks  </a:t>
            </a:r>
            <a:r>
              <a:rPr lang="zh-CN" altLang="en-US" dirty="0"/>
              <a:t>复杂网络</a:t>
            </a:r>
            <a:endParaRPr lang="en-US" altLang="zh-CN" dirty="0"/>
          </a:p>
          <a:p>
            <a:pPr lvl="1"/>
            <a:r>
              <a:rPr lang="en-US" altLang="zh-CN" dirty="0"/>
              <a:t>A lot of layers  </a:t>
            </a:r>
            <a:r>
              <a:rPr lang="zh-CN" altLang="en-US" dirty="0"/>
              <a:t>很多层</a:t>
            </a:r>
            <a:endParaRPr lang="en-US" altLang="zh-CN" dirty="0"/>
          </a:p>
          <a:p>
            <a:pPr lvl="1"/>
            <a:r>
              <a:rPr lang="en-US" altLang="zh-CN" dirty="0"/>
              <a:t>Comprehensive structure  </a:t>
            </a:r>
            <a:r>
              <a:rPr lang="zh-CN" altLang="en-US" dirty="0"/>
              <a:t>详尽的结构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Many Paradigms Invoked            </a:t>
            </a:r>
            <a:r>
              <a:rPr lang="zh-CN" altLang="en-US" dirty="0"/>
              <a:t>催生出很多范式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92238B-E55B-4C57-18AD-6FCBB586B87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</a:t>
            </a:r>
            <a:r>
              <a:rPr lang="en-US" altLang="zh-CN" sz="1400" dirty="0">
                <a:ea typeface="SimSun" panose="02010600030101010101" pitchFamily="2" charset="-122"/>
              </a:rPr>
              <a:t>Other Topic: Modern Paradigm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zh-CN" altLang="en-US" sz="1400" kern="0" dirty="0">
                <a:ea typeface="SimSun" panose="02010600030101010101" pitchFamily="2" charset="-122"/>
              </a:rPr>
              <a:t>番外：现代范式</a:t>
            </a:r>
            <a:endParaRPr lang="en-US" altLang="zh-CN" sz="1400" kern="0" dirty="0">
              <a:ea typeface="SimSun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79732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6AF15-7D46-C940-21C7-F77A7616C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71F4F-D27E-2AA9-D437-152ABD03D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High Dimensional Features Learned  </a:t>
            </a:r>
            <a:r>
              <a:rPr lang="zh-CN" altLang="en-US" dirty="0"/>
              <a:t>学习到的高维特征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35501-65D7-8CCE-B66D-652A6E642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4643438"/>
          </a:xfrm>
        </p:spPr>
        <p:txBody>
          <a:bodyPr>
            <a:normAutofit/>
          </a:bodyPr>
          <a:lstStyle/>
          <a:p>
            <a:r>
              <a:rPr lang="en-US" altLang="zh-CN" dirty="0"/>
              <a:t>Network Layers  </a:t>
            </a:r>
            <a:r>
              <a:rPr lang="zh-CN" altLang="en-US" dirty="0"/>
              <a:t>网络层</a:t>
            </a:r>
            <a:endParaRPr lang="en-US" altLang="zh-CN" dirty="0"/>
          </a:p>
          <a:p>
            <a:pPr lvl="1"/>
            <a:r>
              <a:rPr lang="en-US" altLang="zh-CN" dirty="0"/>
              <a:t>Derive new features from existing ones  </a:t>
            </a:r>
            <a:r>
              <a:rPr lang="zh-CN" altLang="en-US" dirty="0"/>
              <a:t>从现有特征中衍生出新特征</a:t>
            </a:r>
            <a:endParaRPr lang="en-US" altLang="zh-CN" dirty="0"/>
          </a:p>
          <a:p>
            <a:pPr lvl="2"/>
            <a:r>
              <a:rPr lang="en-US" altLang="zh-CN" dirty="0"/>
              <a:t>Automatically through a learning process    </a:t>
            </a:r>
            <a:r>
              <a:rPr lang="zh-CN" altLang="en-US" dirty="0"/>
              <a:t>通过学习过程自动习得</a:t>
            </a:r>
            <a:endParaRPr lang="en-US" altLang="zh-CN" dirty="0"/>
          </a:p>
          <a:p>
            <a:pPr lvl="2"/>
            <a:r>
              <a:rPr lang="en-US" altLang="zh-CN" dirty="0"/>
              <a:t>Not manually prescribed  </a:t>
            </a:r>
            <a:r>
              <a:rPr lang="zh-CN" altLang="en-US" dirty="0"/>
              <a:t>而非人工指定</a:t>
            </a:r>
            <a:endParaRPr lang="en-US" altLang="zh-CN" dirty="0"/>
          </a:p>
          <a:p>
            <a:r>
              <a:rPr lang="en-US" altLang="zh-CN" dirty="0"/>
              <a:t>Start from Recalling Convolutional Neural Network                      </a:t>
            </a:r>
            <a:r>
              <a:rPr lang="zh-CN" altLang="en-US" dirty="0"/>
              <a:t>从回忆卷积神经网络开始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A473D0-23EF-DE30-8278-1640399A33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</a:t>
            </a:r>
            <a:r>
              <a:rPr lang="en-US" altLang="zh-CN" sz="1400" dirty="0">
                <a:ea typeface="SimSun" panose="02010600030101010101" pitchFamily="2" charset="-122"/>
              </a:rPr>
              <a:t>Other Topic: Modern Paradigm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zh-CN" altLang="en-US" sz="1400" kern="0" dirty="0">
                <a:ea typeface="SimSun" panose="02010600030101010101" pitchFamily="2" charset="-122"/>
              </a:rPr>
              <a:t>番外：现代范式</a:t>
            </a:r>
            <a:endParaRPr lang="en-US" altLang="zh-CN" sz="1400" kern="0" dirty="0">
              <a:ea typeface="SimSun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91851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9C690BC-1E13-875D-A68C-4653557DA310}"/>
              </a:ext>
            </a:extLst>
          </p:cNvPr>
          <p:cNvSpPr/>
          <p:nvPr/>
        </p:nvSpPr>
        <p:spPr bwMode="auto">
          <a:xfrm>
            <a:off x="3436234" y="3435977"/>
            <a:ext cx="990600" cy="95607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255B11-0E9E-7815-F597-D2609DA67A31}"/>
              </a:ext>
            </a:extLst>
          </p:cNvPr>
          <p:cNvSpPr/>
          <p:nvPr/>
        </p:nvSpPr>
        <p:spPr bwMode="auto">
          <a:xfrm>
            <a:off x="1521709" y="3387328"/>
            <a:ext cx="1163637" cy="106918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998365-EF17-1D83-D6C3-4C5E973E108C}"/>
              </a:ext>
            </a:extLst>
          </p:cNvPr>
          <p:cNvSpPr txBox="1"/>
          <p:nvPr/>
        </p:nvSpPr>
        <p:spPr>
          <a:xfrm>
            <a:off x="1521709" y="4621789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16x16</a:t>
            </a:r>
            <a:endParaRPr lang="zh-CN" altLang="en-US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8B91D8-80B7-096F-9B9A-46A6324FD6A7}"/>
              </a:ext>
            </a:extLst>
          </p:cNvPr>
          <p:cNvSpPr txBox="1"/>
          <p:nvPr/>
        </p:nvSpPr>
        <p:spPr>
          <a:xfrm>
            <a:off x="3129530" y="4458558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14x14</a:t>
            </a:r>
            <a:endParaRPr lang="zh-CN" altLang="en-US" sz="22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Recall  </a:t>
            </a:r>
            <a:r>
              <a:rPr lang="zh-CN" altLang="en-US" dirty="0">
                <a:ea typeface="ＭＳ Ｐゴシック" panose="020B0600070205080204" pitchFamily="34" charset="-128"/>
              </a:rPr>
              <a:t>回忆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</a:t>
            </a:r>
            <a:r>
              <a:rPr lang="en-US" altLang="zh-CN" sz="1400" dirty="0">
                <a:ea typeface="SimSun" panose="02010600030101010101" pitchFamily="2" charset="-122"/>
              </a:rPr>
              <a:t>Other Topic: Modern Paradigm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zh-CN" altLang="en-US" sz="1400" kern="0" dirty="0">
                <a:ea typeface="SimSun" panose="02010600030101010101" pitchFamily="2" charset="-122"/>
              </a:rPr>
              <a:t>番外：现代范式</a:t>
            </a:r>
            <a:endParaRPr lang="en-US" altLang="zh-CN" sz="1400" kern="0" dirty="0">
              <a:ea typeface="SimSun" panose="02010600030101010101" pitchFamily="2" charset="-12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7124BF-D66D-491A-8E5A-14D385B8C0F3}"/>
              </a:ext>
            </a:extLst>
          </p:cNvPr>
          <p:cNvSpPr txBox="1"/>
          <p:nvPr/>
        </p:nvSpPr>
        <p:spPr>
          <a:xfrm>
            <a:off x="762000" y="1859030"/>
            <a:ext cx="271541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 3x3 convolution </a:t>
            </a:r>
            <a:r>
              <a:rPr lang="en-US" altLang="zh-CN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→</a:t>
            </a:r>
            <a:r>
              <a:rPr lang="en-US" altLang="zh-CN" sz="2200" dirty="0"/>
              <a:t> 1 new feature</a:t>
            </a:r>
          </a:p>
          <a:p>
            <a:pPr algn="ctr"/>
            <a:r>
              <a:rPr lang="zh-CN" altLang="en-US" sz="2200" dirty="0"/>
              <a:t>一个</a:t>
            </a:r>
            <a:r>
              <a:rPr lang="en-US" altLang="zh-CN" sz="2200" dirty="0"/>
              <a:t>3x3</a:t>
            </a:r>
            <a:r>
              <a:rPr lang="zh-CN" altLang="en-US" sz="2200" dirty="0"/>
              <a:t>卷积</a:t>
            </a:r>
            <a:endParaRPr lang="en-US" altLang="zh-CN" sz="2200" dirty="0"/>
          </a:p>
          <a:p>
            <a:pPr algn="ctr"/>
            <a:r>
              <a:rPr lang="zh-CN" altLang="en-US" sz="2200" dirty="0"/>
              <a:t> </a:t>
            </a:r>
            <a:r>
              <a:rPr lang="en-US" altLang="zh-CN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→ </a:t>
            </a:r>
            <a:r>
              <a:rPr lang="zh-CN" altLang="en-US" sz="2200" dirty="0"/>
              <a:t>一个新特征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81500ED-4016-444A-ADA3-205A4DC549DD}"/>
              </a:ext>
            </a:extLst>
          </p:cNvPr>
          <p:cNvSpPr/>
          <p:nvPr/>
        </p:nvSpPr>
        <p:spPr bwMode="auto">
          <a:xfrm>
            <a:off x="1525626" y="3387328"/>
            <a:ext cx="228600" cy="228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B96C705-A70F-497C-B103-BED97E0600E7}"/>
              </a:ext>
            </a:extLst>
          </p:cNvPr>
          <p:cNvCxnSpPr/>
          <p:nvPr/>
        </p:nvCxnSpPr>
        <p:spPr bwMode="auto">
          <a:xfrm>
            <a:off x="1639926" y="3501628"/>
            <a:ext cx="18669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1934189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6" grpId="0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Recall  </a:t>
            </a:r>
            <a:r>
              <a:rPr lang="zh-CN" altLang="en-US" dirty="0">
                <a:ea typeface="ＭＳ Ｐゴシック" panose="020B0600070205080204" pitchFamily="34" charset="-128"/>
              </a:rPr>
              <a:t>回忆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</a:t>
            </a:r>
            <a:r>
              <a:rPr lang="en-US" altLang="zh-CN" sz="1400" dirty="0">
                <a:ea typeface="SimSun" panose="02010600030101010101" pitchFamily="2" charset="-122"/>
              </a:rPr>
              <a:t>Other Topic: Modern Paradigm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zh-CN" altLang="en-US" sz="1400" kern="0" dirty="0">
                <a:ea typeface="SimSun" panose="02010600030101010101" pitchFamily="2" charset="-122"/>
              </a:rPr>
              <a:t>番外：现代范式</a:t>
            </a:r>
            <a:endParaRPr lang="en-US" altLang="zh-CN" sz="1400" kern="0" dirty="0">
              <a:ea typeface="SimSun" panose="02010600030101010101" pitchFamily="2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0267B0-F01C-4347-95CE-720DDB2F3B14}"/>
              </a:ext>
            </a:extLst>
          </p:cNvPr>
          <p:cNvSpPr/>
          <p:nvPr/>
        </p:nvSpPr>
        <p:spPr bwMode="auto">
          <a:xfrm>
            <a:off x="1521709" y="3387328"/>
            <a:ext cx="1163637" cy="106918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D65888-FD5B-425E-A1AB-BE376F7D983E}"/>
              </a:ext>
            </a:extLst>
          </p:cNvPr>
          <p:cNvSpPr txBox="1"/>
          <p:nvPr/>
        </p:nvSpPr>
        <p:spPr>
          <a:xfrm>
            <a:off x="1521709" y="4621789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16x16</a:t>
            </a:r>
            <a:endParaRPr lang="zh-CN" altLang="en-US" sz="2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0832D-4835-4541-B164-073AE581890B}"/>
              </a:ext>
            </a:extLst>
          </p:cNvPr>
          <p:cNvSpPr/>
          <p:nvPr/>
        </p:nvSpPr>
        <p:spPr bwMode="auto">
          <a:xfrm>
            <a:off x="1521709" y="3387328"/>
            <a:ext cx="228600" cy="228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A50ED8-29A3-4189-9ADE-A37597C7707B}"/>
              </a:ext>
            </a:extLst>
          </p:cNvPr>
          <p:cNvSpPr/>
          <p:nvPr/>
        </p:nvSpPr>
        <p:spPr bwMode="auto">
          <a:xfrm>
            <a:off x="3436234" y="3435977"/>
            <a:ext cx="990600" cy="95607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7124BF-D66D-491A-8E5A-14D385B8C0F3}"/>
              </a:ext>
            </a:extLst>
          </p:cNvPr>
          <p:cNvSpPr txBox="1"/>
          <p:nvPr/>
        </p:nvSpPr>
        <p:spPr>
          <a:xfrm>
            <a:off x="793261" y="1852559"/>
            <a:ext cx="267991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32 convolutions </a:t>
            </a:r>
          </a:p>
          <a:p>
            <a:pPr algn="ctr"/>
            <a:r>
              <a:rPr lang="en-US" altLang="zh-CN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→</a:t>
            </a:r>
            <a:r>
              <a:rPr lang="en-US" altLang="zh-CN" sz="2200" dirty="0"/>
              <a:t> 32 new features</a:t>
            </a:r>
          </a:p>
          <a:p>
            <a:pPr algn="ctr"/>
            <a:r>
              <a:rPr lang="en-US" altLang="zh-CN" sz="2200" dirty="0"/>
              <a:t>32</a:t>
            </a:r>
            <a:r>
              <a:rPr lang="zh-CN" altLang="en-US" sz="2200" dirty="0"/>
              <a:t>个卷积 </a:t>
            </a:r>
            <a:endParaRPr lang="en-US" altLang="zh-CN" sz="2200" dirty="0"/>
          </a:p>
          <a:p>
            <a:pPr algn="ctr"/>
            <a:r>
              <a:rPr lang="en-US" altLang="zh-CN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→ </a:t>
            </a:r>
            <a:r>
              <a:rPr lang="en-US" altLang="zh-CN" sz="2200" dirty="0"/>
              <a:t>32</a:t>
            </a:r>
            <a:r>
              <a:rPr lang="zh-CN" altLang="en-US" sz="2200" dirty="0"/>
              <a:t>个新特征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45D9B7-E78F-4CC7-87F0-457EF14D6FC0}"/>
              </a:ext>
            </a:extLst>
          </p:cNvPr>
          <p:cNvSpPr txBox="1"/>
          <p:nvPr/>
        </p:nvSpPr>
        <p:spPr>
          <a:xfrm>
            <a:off x="3129530" y="4458558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14x14</a:t>
            </a:r>
            <a:endParaRPr lang="zh-CN" altLang="en-US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640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3A422-94CE-279F-FEA6-E5970A2F0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26E0D-4F2F-16AC-6214-9114DBB8E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Recall  </a:t>
            </a:r>
            <a:r>
              <a:rPr lang="zh-CN" altLang="en-US" dirty="0">
                <a:ea typeface="ＭＳ Ｐゴシック" panose="020B0600070205080204" pitchFamily="34" charset="-128"/>
              </a:rPr>
              <a:t>回忆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A61449-EDEC-90DA-7B9A-BFD39698976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</a:t>
            </a:r>
            <a:r>
              <a:rPr lang="en-US" altLang="zh-CN" sz="1400" dirty="0">
                <a:ea typeface="SimSun" panose="02010600030101010101" pitchFamily="2" charset="-122"/>
              </a:rPr>
              <a:t>Other Topic: Modern Paradigm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zh-CN" altLang="en-US" sz="1400" kern="0" dirty="0">
                <a:ea typeface="SimSun" panose="02010600030101010101" pitchFamily="2" charset="-122"/>
              </a:rPr>
              <a:t>番外：现代范式</a:t>
            </a:r>
            <a:endParaRPr lang="en-US" altLang="zh-CN" sz="1400" kern="0" dirty="0">
              <a:ea typeface="SimSun" panose="02010600030101010101" pitchFamily="2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309675-8B05-DCF4-B0A1-AB3A3B2D1E81}"/>
              </a:ext>
            </a:extLst>
          </p:cNvPr>
          <p:cNvSpPr/>
          <p:nvPr/>
        </p:nvSpPr>
        <p:spPr bwMode="auto">
          <a:xfrm>
            <a:off x="1521709" y="3387328"/>
            <a:ext cx="1163637" cy="106918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E6FB78-0344-956B-4DBE-5CC3E042A762}"/>
              </a:ext>
            </a:extLst>
          </p:cNvPr>
          <p:cNvSpPr txBox="1"/>
          <p:nvPr/>
        </p:nvSpPr>
        <p:spPr>
          <a:xfrm>
            <a:off x="1521709" y="4621789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16x16</a:t>
            </a:r>
            <a:endParaRPr lang="zh-CN" altLang="en-US" sz="2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218FE6-B6F6-DDF0-9D72-BFB59D3D7D00}"/>
              </a:ext>
            </a:extLst>
          </p:cNvPr>
          <p:cNvSpPr/>
          <p:nvPr/>
        </p:nvSpPr>
        <p:spPr bwMode="auto">
          <a:xfrm>
            <a:off x="1521709" y="3387328"/>
            <a:ext cx="228600" cy="228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075F60-0E86-73A4-467E-E6902EEFE1AC}"/>
              </a:ext>
            </a:extLst>
          </p:cNvPr>
          <p:cNvSpPr/>
          <p:nvPr/>
        </p:nvSpPr>
        <p:spPr bwMode="auto">
          <a:xfrm>
            <a:off x="3436234" y="3435977"/>
            <a:ext cx="990600" cy="95607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7728EE-F489-7193-7D82-39A9E2856632}"/>
              </a:ext>
            </a:extLst>
          </p:cNvPr>
          <p:cNvSpPr txBox="1"/>
          <p:nvPr/>
        </p:nvSpPr>
        <p:spPr>
          <a:xfrm>
            <a:off x="3129530" y="4458558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14x14</a:t>
            </a:r>
            <a:endParaRPr lang="zh-CN" altLang="en-US" sz="2200" dirty="0"/>
          </a:p>
        </p:txBody>
      </p:sp>
      <p:sp>
        <p:nvSpPr>
          <p:cNvPr id="14" name="Cube 13">
            <a:extLst>
              <a:ext uri="{FF2B5EF4-FFF2-40B4-BE49-F238E27FC236}">
                <a16:creationId xmlns:a16="http://schemas.microsoft.com/office/drawing/2014/main" id="{76C68F66-3EB4-40B9-5F17-F5B67B8C4EAD}"/>
              </a:ext>
            </a:extLst>
          </p:cNvPr>
          <p:cNvSpPr/>
          <p:nvPr/>
        </p:nvSpPr>
        <p:spPr bwMode="auto">
          <a:xfrm flipH="1">
            <a:off x="3121910" y="3121880"/>
            <a:ext cx="1304923" cy="1270169"/>
          </a:xfrm>
          <a:prstGeom prst="cube">
            <a:avLst>
              <a:gd name="adj" fmla="val 24902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4AB82A-5B39-17EE-FFE0-1EAEB2C20223}"/>
              </a:ext>
            </a:extLst>
          </p:cNvPr>
          <p:cNvSpPr txBox="1"/>
          <p:nvPr/>
        </p:nvSpPr>
        <p:spPr>
          <a:xfrm>
            <a:off x="3121909" y="4458558"/>
            <a:ext cx="16716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14x14x32</a:t>
            </a:r>
            <a:endParaRPr lang="zh-CN" altLang="en-US" sz="22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B48443E-DD28-4944-3064-1B5443E513B4}"/>
              </a:ext>
            </a:extLst>
          </p:cNvPr>
          <p:cNvCxnSpPr/>
          <p:nvPr/>
        </p:nvCxnSpPr>
        <p:spPr bwMode="auto">
          <a:xfrm>
            <a:off x="1636009" y="3501628"/>
            <a:ext cx="18669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9C8B825-BC03-E157-FD48-A37A7940244F}"/>
              </a:ext>
            </a:extLst>
          </p:cNvPr>
          <p:cNvSpPr txBox="1"/>
          <p:nvPr/>
        </p:nvSpPr>
        <p:spPr>
          <a:xfrm>
            <a:off x="2365979" y="1625548"/>
            <a:ext cx="281678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32 features for each 14x14 location</a:t>
            </a:r>
          </a:p>
          <a:p>
            <a:pPr algn="ctr"/>
            <a:r>
              <a:rPr lang="en-US" altLang="zh-CN" sz="2200" dirty="0"/>
              <a:t>14x14</a:t>
            </a:r>
            <a:r>
              <a:rPr lang="zh-CN" altLang="en-US" sz="2200" dirty="0"/>
              <a:t>的每个位置上都有</a:t>
            </a:r>
            <a:r>
              <a:rPr lang="en-US" altLang="zh-CN" sz="2200" dirty="0"/>
              <a:t>32</a:t>
            </a:r>
            <a:r>
              <a:rPr lang="zh-CN" altLang="en-US" sz="2200" dirty="0"/>
              <a:t>个特征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60C7CC-9345-3E3C-21CF-0F6E9008DE91}"/>
              </a:ext>
            </a:extLst>
          </p:cNvPr>
          <p:cNvSpPr txBox="1"/>
          <p:nvPr/>
        </p:nvSpPr>
        <p:spPr>
          <a:xfrm>
            <a:off x="577587" y="5181821"/>
            <a:ext cx="76984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Each 3x3 convolution operator learned, not prescribed</a:t>
            </a:r>
          </a:p>
          <a:p>
            <a:pPr algn="ctr"/>
            <a:r>
              <a:rPr lang="zh-CN" altLang="en-US" sz="2200" dirty="0"/>
              <a:t>每个</a:t>
            </a:r>
            <a:r>
              <a:rPr lang="en-US" altLang="zh-CN" sz="2200" dirty="0"/>
              <a:t>3x3</a:t>
            </a:r>
            <a:r>
              <a:rPr lang="zh-CN" altLang="en-US" sz="2200" dirty="0"/>
              <a:t>卷积算子都是学习到的，而非人工指定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19974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FC941-CDD7-17E7-08FA-B5D3BCA97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1323C-637D-D5A8-6AA4-111CE9142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Recall  </a:t>
            </a:r>
            <a:r>
              <a:rPr lang="zh-CN" altLang="en-US" dirty="0">
                <a:ea typeface="ＭＳ Ｐゴシック" panose="020B0600070205080204" pitchFamily="34" charset="-128"/>
              </a:rPr>
              <a:t>回忆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B9EB56-91C4-6E79-B77E-0F62752127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</a:t>
            </a:r>
            <a:r>
              <a:rPr lang="en-US" altLang="zh-CN" sz="1400" dirty="0">
                <a:ea typeface="SimSun" panose="02010600030101010101" pitchFamily="2" charset="-122"/>
              </a:rPr>
              <a:t>Other Topic: Modern Paradigm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zh-CN" altLang="en-US" sz="1400" kern="0" dirty="0">
                <a:ea typeface="SimSun" panose="02010600030101010101" pitchFamily="2" charset="-122"/>
              </a:rPr>
              <a:t>番外：现代范式</a:t>
            </a:r>
            <a:endParaRPr lang="en-US" altLang="zh-CN" sz="1400" kern="0" dirty="0">
              <a:ea typeface="SimSun" panose="02010600030101010101" pitchFamily="2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5BAD14-7AF7-5A42-6161-AC4FCB5E6A38}"/>
              </a:ext>
            </a:extLst>
          </p:cNvPr>
          <p:cNvSpPr/>
          <p:nvPr/>
        </p:nvSpPr>
        <p:spPr bwMode="auto">
          <a:xfrm>
            <a:off x="1521709" y="3387328"/>
            <a:ext cx="1163637" cy="106918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3B6DFE-E394-03E7-9D04-46FD71FCF37E}"/>
              </a:ext>
            </a:extLst>
          </p:cNvPr>
          <p:cNvSpPr txBox="1"/>
          <p:nvPr/>
        </p:nvSpPr>
        <p:spPr>
          <a:xfrm>
            <a:off x="1521709" y="4621789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16x16</a:t>
            </a:r>
            <a:endParaRPr lang="zh-CN" altLang="en-US" sz="22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076865-A976-5D03-9520-B07D311337DB}"/>
              </a:ext>
            </a:extLst>
          </p:cNvPr>
          <p:cNvSpPr/>
          <p:nvPr/>
        </p:nvSpPr>
        <p:spPr bwMode="auto">
          <a:xfrm>
            <a:off x="3436234" y="3435977"/>
            <a:ext cx="990600" cy="95607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7D27AD-4355-F914-D4C6-82F6BDD2EB50}"/>
              </a:ext>
            </a:extLst>
          </p:cNvPr>
          <p:cNvSpPr txBox="1"/>
          <p:nvPr/>
        </p:nvSpPr>
        <p:spPr>
          <a:xfrm>
            <a:off x="3129530" y="4458558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14x14</a:t>
            </a:r>
            <a:endParaRPr lang="zh-CN" altLang="en-US" sz="2200" dirty="0"/>
          </a:p>
        </p:txBody>
      </p:sp>
      <p:sp>
        <p:nvSpPr>
          <p:cNvPr id="14" name="Cube 13">
            <a:extLst>
              <a:ext uri="{FF2B5EF4-FFF2-40B4-BE49-F238E27FC236}">
                <a16:creationId xmlns:a16="http://schemas.microsoft.com/office/drawing/2014/main" id="{CEB96CAF-C2D3-B1F0-261D-892BB5DFC4C9}"/>
              </a:ext>
            </a:extLst>
          </p:cNvPr>
          <p:cNvSpPr/>
          <p:nvPr/>
        </p:nvSpPr>
        <p:spPr bwMode="auto">
          <a:xfrm flipH="1">
            <a:off x="3121910" y="3121880"/>
            <a:ext cx="1304923" cy="1270169"/>
          </a:xfrm>
          <a:prstGeom prst="cube">
            <a:avLst>
              <a:gd name="adj" fmla="val 24902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E66BA8-6FE5-F29B-921A-053492A5320F}"/>
              </a:ext>
            </a:extLst>
          </p:cNvPr>
          <p:cNvSpPr txBox="1"/>
          <p:nvPr/>
        </p:nvSpPr>
        <p:spPr>
          <a:xfrm>
            <a:off x="3121909" y="4458558"/>
            <a:ext cx="16716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14x14x32</a:t>
            </a:r>
            <a:endParaRPr lang="zh-CN" altLang="en-US" sz="2200" dirty="0"/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EFC6BA46-D1F1-7D6E-6738-AB19B8F6F432}"/>
              </a:ext>
            </a:extLst>
          </p:cNvPr>
          <p:cNvSpPr/>
          <p:nvPr/>
        </p:nvSpPr>
        <p:spPr bwMode="auto">
          <a:xfrm flipH="1">
            <a:off x="3119648" y="3119236"/>
            <a:ext cx="495300" cy="482685"/>
          </a:xfrm>
          <a:prstGeom prst="cube">
            <a:avLst>
              <a:gd name="adj" fmla="val 63651"/>
            </a:avLst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653D50-7000-7D55-3373-3E78A885C884}"/>
              </a:ext>
            </a:extLst>
          </p:cNvPr>
          <p:cNvSpPr txBox="1"/>
          <p:nvPr/>
        </p:nvSpPr>
        <p:spPr>
          <a:xfrm>
            <a:off x="2143692" y="1656189"/>
            <a:ext cx="31242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 3x3x32 convolution </a:t>
            </a:r>
            <a:r>
              <a:rPr lang="en-US" altLang="zh-CN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→</a:t>
            </a:r>
            <a:r>
              <a:rPr lang="en-US" altLang="zh-CN" sz="2200" dirty="0"/>
              <a:t> 1 new feature</a:t>
            </a:r>
          </a:p>
          <a:p>
            <a:pPr algn="ctr"/>
            <a:r>
              <a:rPr lang="zh-CN" altLang="en-US" sz="2200" dirty="0"/>
              <a:t>一个</a:t>
            </a:r>
            <a:r>
              <a:rPr lang="en-US" altLang="zh-CN" sz="2200" dirty="0"/>
              <a:t>3x3x32</a:t>
            </a:r>
            <a:r>
              <a:rPr lang="zh-CN" altLang="en-US" sz="2200" dirty="0"/>
              <a:t>卷积</a:t>
            </a:r>
            <a:endParaRPr lang="en-US" altLang="zh-CN" sz="2200" dirty="0"/>
          </a:p>
          <a:p>
            <a:pPr algn="ctr"/>
            <a:r>
              <a:rPr lang="en-US" altLang="zh-CN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→ </a:t>
            </a:r>
            <a:r>
              <a:rPr lang="zh-CN" altLang="en-US" sz="2200" dirty="0"/>
              <a:t>一个新特征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786C909-0733-87A8-DB79-93319FC1BB32}"/>
              </a:ext>
            </a:extLst>
          </p:cNvPr>
          <p:cNvSpPr/>
          <p:nvPr/>
        </p:nvSpPr>
        <p:spPr bwMode="auto">
          <a:xfrm>
            <a:off x="5201760" y="3429000"/>
            <a:ext cx="863311" cy="85898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5A0399-E3EE-E3BF-EC0E-05D356193189}"/>
              </a:ext>
            </a:extLst>
          </p:cNvPr>
          <p:cNvSpPr txBox="1"/>
          <p:nvPr/>
        </p:nvSpPr>
        <p:spPr>
          <a:xfrm>
            <a:off x="5032943" y="4325933"/>
            <a:ext cx="990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12x12</a:t>
            </a:r>
            <a:endParaRPr lang="zh-CN" altLang="en-US" sz="22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E96A79D-38F0-B682-04FA-FD4A3EA01D17}"/>
              </a:ext>
            </a:extLst>
          </p:cNvPr>
          <p:cNvCxnSpPr>
            <a:cxnSpLocks/>
          </p:cNvCxnSpPr>
          <p:nvPr/>
        </p:nvCxnSpPr>
        <p:spPr bwMode="auto">
          <a:xfrm>
            <a:off x="3539708" y="3520880"/>
            <a:ext cx="177424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3607542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83CE5-5BDB-B8B0-5883-CDF1FE8D8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3BD2E-6839-3A8F-5CE3-20DB93BA0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Recall  </a:t>
            </a:r>
            <a:r>
              <a:rPr lang="zh-CN" altLang="en-US" dirty="0">
                <a:ea typeface="ＭＳ Ｐゴシック" panose="020B0600070205080204" pitchFamily="34" charset="-128"/>
              </a:rPr>
              <a:t>回忆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FCA61D-94D8-5532-78B3-DD04A7F8C5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</a:t>
            </a:r>
            <a:r>
              <a:rPr lang="en-US" altLang="zh-CN" sz="1400" dirty="0">
                <a:ea typeface="SimSun" panose="02010600030101010101" pitchFamily="2" charset="-122"/>
              </a:rPr>
              <a:t>Other Topic: Modern Paradigm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zh-CN" altLang="en-US" sz="1400" kern="0" dirty="0">
                <a:ea typeface="SimSun" panose="02010600030101010101" pitchFamily="2" charset="-122"/>
              </a:rPr>
              <a:t>番外：现代范式</a:t>
            </a:r>
            <a:endParaRPr lang="en-US" altLang="zh-CN" sz="1400" kern="0" dirty="0">
              <a:ea typeface="SimSun" panose="02010600030101010101" pitchFamily="2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A87CFF-2A5C-78F4-8B76-424A6DC9DAEC}"/>
              </a:ext>
            </a:extLst>
          </p:cNvPr>
          <p:cNvSpPr/>
          <p:nvPr/>
        </p:nvSpPr>
        <p:spPr bwMode="auto">
          <a:xfrm>
            <a:off x="1521709" y="3387328"/>
            <a:ext cx="1163637" cy="106918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8B9BFD-C1B0-7791-C52A-43FC05849324}"/>
              </a:ext>
            </a:extLst>
          </p:cNvPr>
          <p:cNvSpPr txBox="1"/>
          <p:nvPr/>
        </p:nvSpPr>
        <p:spPr>
          <a:xfrm>
            <a:off x="1521709" y="4621789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16x16</a:t>
            </a:r>
            <a:endParaRPr lang="zh-CN" altLang="en-US" sz="22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992B05-BABD-2E92-8A31-69BA7DA12F25}"/>
              </a:ext>
            </a:extLst>
          </p:cNvPr>
          <p:cNvSpPr/>
          <p:nvPr/>
        </p:nvSpPr>
        <p:spPr bwMode="auto">
          <a:xfrm>
            <a:off x="3436234" y="3435977"/>
            <a:ext cx="990600" cy="95607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EE786F-525E-3814-50D9-E6E7541EE5F2}"/>
              </a:ext>
            </a:extLst>
          </p:cNvPr>
          <p:cNvSpPr txBox="1"/>
          <p:nvPr/>
        </p:nvSpPr>
        <p:spPr>
          <a:xfrm>
            <a:off x="3129530" y="4458558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14x14</a:t>
            </a:r>
            <a:endParaRPr lang="zh-CN" altLang="en-US" sz="2200" dirty="0"/>
          </a:p>
        </p:txBody>
      </p:sp>
      <p:sp>
        <p:nvSpPr>
          <p:cNvPr id="14" name="Cube 13">
            <a:extLst>
              <a:ext uri="{FF2B5EF4-FFF2-40B4-BE49-F238E27FC236}">
                <a16:creationId xmlns:a16="http://schemas.microsoft.com/office/drawing/2014/main" id="{F65C0FCD-18ED-E8FD-E2AA-76E5BF47A979}"/>
              </a:ext>
            </a:extLst>
          </p:cNvPr>
          <p:cNvSpPr/>
          <p:nvPr/>
        </p:nvSpPr>
        <p:spPr bwMode="auto">
          <a:xfrm flipH="1">
            <a:off x="3121910" y="3121880"/>
            <a:ext cx="1304923" cy="1270169"/>
          </a:xfrm>
          <a:prstGeom prst="cube">
            <a:avLst>
              <a:gd name="adj" fmla="val 24902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F2C912-225C-D6FC-76E8-434BC4F563CD}"/>
              </a:ext>
            </a:extLst>
          </p:cNvPr>
          <p:cNvSpPr txBox="1"/>
          <p:nvPr/>
        </p:nvSpPr>
        <p:spPr>
          <a:xfrm>
            <a:off x="3121909" y="4458558"/>
            <a:ext cx="16716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14x14x32</a:t>
            </a:r>
            <a:endParaRPr lang="zh-CN" altLang="en-US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6781F2-5276-0AC6-507C-3A036777F9DE}"/>
              </a:ext>
            </a:extLst>
          </p:cNvPr>
          <p:cNvSpPr txBox="1"/>
          <p:nvPr/>
        </p:nvSpPr>
        <p:spPr>
          <a:xfrm>
            <a:off x="2143692" y="1656189"/>
            <a:ext cx="31242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64 convolutions </a:t>
            </a:r>
          </a:p>
          <a:p>
            <a:pPr algn="ctr"/>
            <a:r>
              <a:rPr lang="en-US" altLang="zh-CN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→ </a:t>
            </a:r>
            <a:r>
              <a:rPr lang="en-US" altLang="zh-CN" sz="2200" dirty="0"/>
              <a:t>64 new features</a:t>
            </a:r>
          </a:p>
          <a:p>
            <a:pPr algn="ctr"/>
            <a:r>
              <a:rPr lang="en-US" altLang="zh-CN" sz="2200" dirty="0"/>
              <a:t>64</a:t>
            </a:r>
            <a:r>
              <a:rPr lang="zh-CN" altLang="en-US" sz="2200" dirty="0"/>
              <a:t>个卷积</a:t>
            </a:r>
            <a:endParaRPr lang="en-US" altLang="zh-CN" sz="2200" dirty="0"/>
          </a:p>
          <a:p>
            <a:pPr algn="ctr"/>
            <a:r>
              <a:rPr lang="en-US" altLang="zh-CN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→ </a:t>
            </a:r>
            <a:r>
              <a:rPr lang="en-US" altLang="zh-CN" sz="2200" dirty="0"/>
              <a:t>64</a:t>
            </a:r>
            <a:r>
              <a:rPr lang="zh-CN" altLang="en-US" sz="2200" dirty="0"/>
              <a:t>个新特征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C12A8B-84D9-5EE4-A78F-71DC5CC99A7A}"/>
              </a:ext>
            </a:extLst>
          </p:cNvPr>
          <p:cNvSpPr/>
          <p:nvPr/>
        </p:nvSpPr>
        <p:spPr bwMode="auto">
          <a:xfrm>
            <a:off x="5201760" y="3429000"/>
            <a:ext cx="863311" cy="85898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61690A-1983-CCED-794B-DE226BB18151}"/>
              </a:ext>
            </a:extLst>
          </p:cNvPr>
          <p:cNvSpPr txBox="1"/>
          <p:nvPr/>
        </p:nvSpPr>
        <p:spPr>
          <a:xfrm>
            <a:off x="5032943" y="4325933"/>
            <a:ext cx="990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12x12</a:t>
            </a:r>
            <a:endParaRPr lang="zh-CN" altLang="en-US" sz="2200" dirty="0"/>
          </a:p>
        </p:txBody>
      </p:sp>
      <p:sp>
        <p:nvSpPr>
          <p:cNvPr id="25" name="Cube 24">
            <a:extLst>
              <a:ext uri="{FF2B5EF4-FFF2-40B4-BE49-F238E27FC236}">
                <a16:creationId xmlns:a16="http://schemas.microsoft.com/office/drawing/2014/main" id="{247B1CD3-B37C-16F5-783E-242B57D9E9F5}"/>
              </a:ext>
            </a:extLst>
          </p:cNvPr>
          <p:cNvSpPr/>
          <p:nvPr/>
        </p:nvSpPr>
        <p:spPr bwMode="auto">
          <a:xfrm flipH="1">
            <a:off x="3116194" y="3115529"/>
            <a:ext cx="495300" cy="482685"/>
          </a:xfrm>
          <a:prstGeom prst="cube">
            <a:avLst>
              <a:gd name="adj" fmla="val 63651"/>
            </a:avLst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36930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33831-820F-AC36-F224-59EE59F24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F0213-6790-0A82-5229-8DDC6FD76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Recall  </a:t>
            </a:r>
            <a:r>
              <a:rPr lang="zh-CN" altLang="en-US" dirty="0">
                <a:ea typeface="ＭＳ Ｐゴシック" panose="020B0600070205080204" pitchFamily="34" charset="-128"/>
              </a:rPr>
              <a:t>回忆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661BA8-896D-A30E-46FA-ED4DFE5307F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</a:t>
            </a:r>
            <a:r>
              <a:rPr lang="en-US" altLang="zh-CN" sz="1400" dirty="0">
                <a:ea typeface="SimSun" panose="02010600030101010101" pitchFamily="2" charset="-122"/>
              </a:rPr>
              <a:t>Other Topic: Modern Paradigm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zh-CN" altLang="en-US" sz="1400" kern="0" dirty="0">
                <a:ea typeface="SimSun" panose="02010600030101010101" pitchFamily="2" charset="-122"/>
              </a:rPr>
              <a:t>番外：现代范式</a:t>
            </a:r>
            <a:endParaRPr lang="en-US" altLang="zh-CN" sz="1400" kern="0" dirty="0">
              <a:ea typeface="SimSun" panose="02010600030101010101" pitchFamily="2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2A9F15-3BC8-07C9-D46D-BFFF7C886A10}"/>
              </a:ext>
            </a:extLst>
          </p:cNvPr>
          <p:cNvSpPr/>
          <p:nvPr/>
        </p:nvSpPr>
        <p:spPr bwMode="auto">
          <a:xfrm>
            <a:off x="1521709" y="3387328"/>
            <a:ext cx="1163637" cy="106918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122A31-2E78-F360-ED52-F48102409EB8}"/>
              </a:ext>
            </a:extLst>
          </p:cNvPr>
          <p:cNvSpPr txBox="1"/>
          <p:nvPr/>
        </p:nvSpPr>
        <p:spPr>
          <a:xfrm>
            <a:off x="1521709" y="4621789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16x16</a:t>
            </a:r>
            <a:endParaRPr lang="zh-CN" altLang="en-US" sz="22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55A314-DA52-B314-CE32-EA7F62DB8224}"/>
              </a:ext>
            </a:extLst>
          </p:cNvPr>
          <p:cNvSpPr/>
          <p:nvPr/>
        </p:nvSpPr>
        <p:spPr bwMode="auto">
          <a:xfrm>
            <a:off x="3436234" y="3435977"/>
            <a:ext cx="990600" cy="95607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72A385-070D-7916-4A68-F0600A1ED921}"/>
              </a:ext>
            </a:extLst>
          </p:cNvPr>
          <p:cNvSpPr txBox="1"/>
          <p:nvPr/>
        </p:nvSpPr>
        <p:spPr>
          <a:xfrm>
            <a:off x="3129530" y="4458558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14x14</a:t>
            </a:r>
            <a:endParaRPr lang="zh-CN" altLang="en-US" sz="2200" dirty="0"/>
          </a:p>
        </p:txBody>
      </p:sp>
      <p:sp>
        <p:nvSpPr>
          <p:cNvPr id="14" name="Cube 13">
            <a:extLst>
              <a:ext uri="{FF2B5EF4-FFF2-40B4-BE49-F238E27FC236}">
                <a16:creationId xmlns:a16="http://schemas.microsoft.com/office/drawing/2014/main" id="{8A3FFC6C-5493-B341-09AC-FEEBE0F021E6}"/>
              </a:ext>
            </a:extLst>
          </p:cNvPr>
          <p:cNvSpPr/>
          <p:nvPr/>
        </p:nvSpPr>
        <p:spPr bwMode="auto">
          <a:xfrm flipH="1">
            <a:off x="3121910" y="3121880"/>
            <a:ext cx="1304923" cy="1270169"/>
          </a:xfrm>
          <a:prstGeom prst="cube">
            <a:avLst>
              <a:gd name="adj" fmla="val 24902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E72167-E172-A07B-4848-68A904F406C7}"/>
              </a:ext>
            </a:extLst>
          </p:cNvPr>
          <p:cNvSpPr txBox="1"/>
          <p:nvPr/>
        </p:nvSpPr>
        <p:spPr>
          <a:xfrm>
            <a:off x="3121909" y="4458558"/>
            <a:ext cx="16716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14x14x32</a:t>
            </a:r>
            <a:endParaRPr lang="zh-CN" altLang="en-US" sz="22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3AA481-158E-7A29-D54C-8618B1CBE63C}"/>
              </a:ext>
            </a:extLst>
          </p:cNvPr>
          <p:cNvSpPr/>
          <p:nvPr/>
        </p:nvSpPr>
        <p:spPr bwMode="auto">
          <a:xfrm>
            <a:off x="5201760" y="3429000"/>
            <a:ext cx="863311" cy="85898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F8BF41-F098-FAA8-DB58-9D30E7A1AD87}"/>
              </a:ext>
            </a:extLst>
          </p:cNvPr>
          <p:cNvSpPr txBox="1"/>
          <p:nvPr/>
        </p:nvSpPr>
        <p:spPr>
          <a:xfrm>
            <a:off x="5032943" y="4325933"/>
            <a:ext cx="990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12x12</a:t>
            </a:r>
            <a:endParaRPr lang="zh-CN" altLang="en-US" sz="2200" dirty="0"/>
          </a:p>
        </p:txBody>
      </p:sp>
      <p:sp>
        <p:nvSpPr>
          <p:cNvPr id="25" name="Cube 24">
            <a:extLst>
              <a:ext uri="{FF2B5EF4-FFF2-40B4-BE49-F238E27FC236}">
                <a16:creationId xmlns:a16="http://schemas.microsoft.com/office/drawing/2014/main" id="{B45F7412-938C-8A9D-5C16-AD6F1B5A93A8}"/>
              </a:ext>
            </a:extLst>
          </p:cNvPr>
          <p:cNvSpPr/>
          <p:nvPr/>
        </p:nvSpPr>
        <p:spPr bwMode="auto">
          <a:xfrm flipH="1">
            <a:off x="3116194" y="3121879"/>
            <a:ext cx="495300" cy="482685"/>
          </a:xfrm>
          <a:prstGeom prst="cube">
            <a:avLst>
              <a:gd name="adj" fmla="val 63651"/>
            </a:avLst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9304DAF-8570-7B10-3294-46AD58E1AEF6}"/>
              </a:ext>
            </a:extLst>
          </p:cNvPr>
          <p:cNvCxnSpPr>
            <a:cxnSpLocks/>
          </p:cNvCxnSpPr>
          <p:nvPr/>
        </p:nvCxnSpPr>
        <p:spPr bwMode="auto">
          <a:xfrm>
            <a:off x="3539708" y="3520880"/>
            <a:ext cx="177424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" name="Cube 5">
            <a:extLst>
              <a:ext uri="{FF2B5EF4-FFF2-40B4-BE49-F238E27FC236}">
                <a16:creationId xmlns:a16="http://schemas.microsoft.com/office/drawing/2014/main" id="{6182E1C1-0C0D-630A-99D7-F258BA4DB9DC}"/>
              </a:ext>
            </a:extLst>
          </p:cNvPr>
          <p:cNvSpPr/>
          <p:nvPr/>
        </p:nvSpPr>
        <p:spPr bwMode="auto">
          <a:xfrm flipH="1">
            <a:off x="4878528" y="3114705"/>
            <a:ext cx="1186543" cy="1181101"/>
          </a:xfrm>
          <a:prstGeom prst="cube">
            <a:avLst>
              <a:gd name="adj" fmla="val 277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CB9BF2-C016-F4A6-C586-2F7636A6E2BC}"/>
              </a:ext>
            </a:extLst>
          </p:cNvPr>
          <p:cNvSpPr txBox="1"/>
          <p:nvPr/>
        </p:nvSpPr>
        <p:spPr>
          <a:xfrm>
            <a:off x="5004934" y="4329487"/>
            <a:ext cx="155957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12x12x64</a:t>
            </a:r>
            <a:endParaRPr lang="zh-CN" altLang="en-US" sz="2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FAAE30-742B-FA0F-F807-DB6B6A002BAD}"/>
              </a:ext>
            </a:extLst>
          </p:cNvPr>
          <p:cNvSpPr txBox="1"/>
          <p:nvPr/>
        </p:nvSpPr>
        <p:spPr>
          <a:xfrm>
            <a:off x="4119851" y="1636519"/>
            <a:ext cx="281678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64 features for each 12x12 location</a:t>
            </a:r>
          </a:p>
          <a:p>
            <a:pPr algn="ctr"/>
            <a:r>
              <a:rPr lang="en-US" altLang="zh-CN" sz="2200" dirty="0"/>
              <a:t>12x12</a:t>
            </a:r>
            <a:r>
              <a:rPr lang="zh-CN" altLang="en-US" sz="2200" dirty="0"/>
              <a:t>的每个位置上都有</a:t>
            </a:r>
            <a:r>
              <a:rPr lang="en-US" altLang="zh-CN" sz="2200" dirty="0"/>
              <a:t>64</a:t>
            </a:r>
            <a:r>
              <a:rPr lang="zh-CN" altLang="en-US" sz="2200" dirty="0"/>
              <a:t>个特征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326632-73CE-4150-239D-51A0F75069EC}"/>
              </a:ext>
            </a:extLst>
          </p:cNvPr>
          <p:cNvSpPr txBox="1"/>
          <p:nvPr/>
        </p:nvSpPr>
        <p:spPr>
          <a:xfrm>
            <a:off x="257925" y="5181821"/>
            <a:ext cx="83378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Each 3x3x32 convolution operator learned, not prescribed</a:t>
            </a:r>
          </a:p>
          <a:p>
            <a:pPr algn="ctr"/>
            <a:r>
              <a:rPr lang="zh-CN" altLang="en-US" sz="2200" dirty="0"/>
              <a:t>每个</a:t>
            </a:r>
            <a:r>
              <a:rPr lang="en-US" altLang="zh-CN" sz="2200" dirty="0"/>
              <a:t>3x3x32</a:t>
            </a:r>
            <a:r>
              <a:rPr lang="zh-CN" altLang="en-US" sz="2200" dirty="0"/>
              <a:t>卷积算子都是学习到的，而非人工指定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60147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14305-961E-2695-80DC-E287306B3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6AEDD-4891-33A3-5509-B189E34BD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Another Example  </a:t>
            </a:r>
            <a:r>
              <a:rPr lang="zh-CN" altLang="en-US" dirty="0">
                <a:ea typeface="ＭＳ Ｐゴシック" panose="020B0600070205080204" pitchFamily="34" charset="-128"/>
              </a:rPr>
              <a:t>另一个例子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CD6A7A-40EE-CB8A-A4DA-B6C2C1638E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</a:t>
            </a:r>
            <a:r>
              <a:rPr lang="en-US" altLang="zh-CN" sz="1400" dirty="0">
                <a:ea typeface="SimSun" panose="02010600030101010101" pitchFamily="2" charset="-122"/>
              </a:rPr>
              <a:t>Other Topic: Modern Paradigm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zh-CN" altLang="en-US" sz="1400" kern="0" dirty="0">
                <a:ea typeface="SimSun" panose="02010600030101010101" pitchFamily="2" charset="-122"/>
              </a:rPr>
              <a:t>番外：现代范式</a:t>
            </a:r>
            <a:endParaRPr lang="en-US" altLang="zh-CN" sz="1400" kern="0" dirty="0">
              <a:ea typeface="SimSun" panose="02010600030101010101" pitchFamily="2" charset="-122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0E5D30B-4C88-5C3E-E932-7DA63C997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5410200"/>
          </a:xfrm>
        </p:spPr>
        <p:txBody>
          <a:bodyPr>
            <a:normAutofit/>
          </a:bodyPr>
          <a:lstStyle/>
          <a:p>
            <a:r>
              <a:rPr lang="en-US" altLang="zh-CN" dirty="0"/>
              <a:t>Netflix</a:t>
            </a:r>
            <a:r>
              <a:rPr lang="zh-CN" altLang="en-US" dirty="0"/>
              <a:t> </a:t>
            </a:r>
            <a:r>
              <a:rPr lang="en-US" altLang="zh-CN" dirty="0"/>
              <a:t>User Rating of Films  Netflix</a:t>
            </a:r>
            <a:r>
              <a:rPr lang="zh-CN" altLang="en-US" dirty="0"/>
              <a:t>用户对电影的评分</a:t>
            </a:r>
            <a:endParaRPr lang="en-US" altLang="zh-CN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76A9FB5-2410-5AF2-E284-E0FAE0254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3605592"/>
              </p:ext>
            </p:extLst>
          </p:nvPr>
        </p:nvGraphicFramePr>
        <p:xfrm>
          <a:off x="1905000" y="2713242"/>
          <a:ext cx="48768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153344507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37493183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04719812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516610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Film 1</a:t>
                      </a:r>
                    </a:p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电影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Film 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电影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Film 3</a:t>
                      </a:r>
                    </a:p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电影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6544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User 1   </a:t>
                      </a: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2521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User 2  </a:t>
                      </a: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0478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User 3  </a:t>
                      </a: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419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User 4  </a:t>
                      </a: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170823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" name="Speech Bubble: Rectangle with Corners Rounded 17">
                <a:extLst>
                  <a:ext uri="{FF2B5EF4-FFF2-40B4-BE49-F238E27FC236}">
                    <a16:creationId xmlns:a16="http://schemas.microsoft.com/office/drawing/2014/main" id="{EE668E10-D128-767D-42BA-4BE46883CA3E}"/>
                  </a:ext>
                </a:extLst>
              </p:cNvPr>
              <p:cNvSpPr/>
              <p:nvPr/>
            </p:nvSpPr>
            <p:spPr bwMode="auto">
              <a:xfrm>
                <a:off x="1122363" y="5329238"/>
                <a:ext cx="6992937" cy="842962"/>
              </a:xfrm>
              <a:prstGeom prst="wedgeRoundRectCallout">
                <a:avLst>
                  <a:gd name="adj1" fmla="val 7568"/>
                  <a:gd name="adj2" fmla="val -161949"/>
                  <a:gd name="adj3" fmla="val 16667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zh-CN" altLang="en-US" sz="2000" dirty="0"/>
                  <a:t>：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2000" dirty="0"/>
                  <a:t>th training data, known rating of user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altLang="zh-CN" sz="2000" dirty="0"/>
                  <a:t> for film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altLang="zh-CN" sz="2000" dirty="0"/>
              </a:p>
              <a:p>
                <a:pPr algn="ctr"/>
                <a:r>
                  <a:rPr lang="zh-CN" altLang="en-US" sz="2000" dirty="0"/>
                  <a:t>第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2000" dirty="0"/>
                  <a:t>条训练数据为用户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zh-CN" altLang="en-US" sz="2000" dirty="0"/>
                  <a:t>对电影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2000" dirty="0"/>
                  <a:t>的已知评分</a:t>
                </a:r>
              </a:p>
            </p:txBody>
          </p:sp>
        </mc:Choice>
        <mc:Fallback xmlns="">
          <p:sp>
            <p:nvSpPr>
              <p:cNvPr id="18" name="Speech Bubble: Rectangle with Corners Rounded 17">
                <a:extLst>
                  <a:ext uri="{FF2B5EF4-FFF2-40B4-BE49-F238E27FC236}">
                    <a16:creationId xmlns:a16="http://schemas.microsoft.com/office/drawing/2014/main" id="{EE668E10-D128-767D-42BA-4BE46883CA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22363" y="5329238"/>
                <a:ext cx="6992937" cy="842962"/>
              </a:xfrm>
              <a:prstGeom prst="wedgeRoundRectCallout">
                <a:avLst>
                  <a:gd name="adj1" fmla="val 7568"/>
                  <a:gd name="adj2" fmla="val -161949"/>
                  <a:gd name="adj3" fmla="val 16667"/>
                </a:avLst>
              </a:prstGeom>
              <a:blipFill>
                <a:blip r:embed="rId4"/>
                <a:stretch>
                  <a:fillRect b="-5051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007598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3EC2F-6BEA-05D0-DEE6-FD1DD9D1E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6605D-4B72-7EE9-C5E5-BC0D8B6FA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Another Example  </a:t>
            </a:r>
            <a:r>
              <a:rPr lang="zh-CN" altLang="en-US" dirty="0">
                <a:ea typeface="ＭＳ Ｐゴシック" panose="020B0600070205080204" pitchFamily="34" charset="-128"/>
              </a:rPr>
              <a:t>另一个例子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4208E9-A0F7-1D63-8DB4-FE94BD514D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</a:t>
            </a:r>
            <a:r>
              <a:rPr lang="en-US" altLang="zh-CN" sz="1400" dirty="0">
                <a:ea typeface="SimSun" panose="02010600030101010101" pitchFamily="2" charset="-122"/>
              </a:rPr>
              <a:t>Other Topic: Modern Paradigm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zh-CN" altLang="en-US" sz="1400" kern="0" dirty="0">
                <a:ea typeface="SimSun" panose="02010600030101010101" pitchFamily="2" charset="-122"/>
              </a:rPr>
              <a:t>番外：现代范式</a:t>
            </a:r>
            <a:endParaRPr lang="en-US" altLang="zh-CN" sz="1400" kern="0" dirty="0">
              <a:ea typeface="SimSun" panose="02010600030101010101" pitchFamily="2" charset="-122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A6D622C-FE93-A080-0669-97400D3E3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5410200"/>
          </a:xfrm>
        </p:spPr>
        <p:txBody>
          <a:bodyPr>
            <a:normAutofit/>
          </a:bodyPr>
          <a:lstStyle/>
          <a:p>
            <a:r>
              <a:rPr lang="en-US" altLang="zh-CN" dirty="0"/>
              <a:t>Netflix</a:t>
            </a:r>
            <a:r>
              <a:rPr lang="zh-CN" altLang="en-US" dirty="0"/>
              <a:t> </a:t>
            </a:r>
            <a:r>
              <a:rPr lang="en-US" altLang="zh-CN" dirty="0"/>
              <a:t>User Rating of Films  Netflix</a:t>
            </a:r>
            <a:r>
              <a:rPr lang="zh-CN" altLang="en-US" dirty="0"/>
              <a:t>用户对电影的评分</a:t>
            </a:r>
            <a:endParaRPr lang="en-US" altLang="zh-CN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294051A-ADB2-A34D-F17E-CE6AE9D1F4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516843"/>
              </p:ext>
            </p:extLst>
          </p:nvPr>
        </p:nvGraphicFramePr>
        <p:xfrm>
          <a:off x="1905000" y="2713242"/>
          <a:ext cx="48768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153344507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37493183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04719812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516610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Film 1</a:t>
                      </a:r>
                    </a:p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电影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Film 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电影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Film 3</a:t>
                      </a:r>
                    </a:p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电影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6544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User 1   </a:t>
                      </a: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2521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User 2  </a:t>
                      </a: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0478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User 3  </a:t>
                      </a: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419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User 4  </a:t>
                      </a: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170823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" name="Speech Bubble: Rectangle with Corners Rounded 17">
                <a:extLst>
                  <a:ext uri="{FF2B5EF4-FFF2-40B4-BE49-F238E27FC236}">
                    <a16:creationId xmlns:a16="http://schemas.microsoft.com/office/drawing/2014/main" id="{C4E38B13-8F9C-2164-77C6-D8C43BDD2DB7}"/>
                  </a:ext>
                </a:extLst>
              </p:cNvPr>
              <p:cNvSpPr/>
              <p:nvPr/>
            </p:nvSpPr>
            <p:spPr bwMode="auto">
              <a:xfrm>
                <a:off x="1905000" y="5329238"/>
                <a:ext cx="6210300" cy="842962"/>
              </a:xfrm>
              <a:prstGeom prst="wedgeRoundRectCallout">
                <a:avLst>
                  <a:gd name="adj1" fmla="val 3872"/>
                  <a:gd name="adj2" fmla="val -123208"/>
                  <a:gd name="adj3" fmla="val 16667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altLang="zh-CN" sz="2000" dirty="0"/>
                  <a:t>Predict unknown rating of user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altLang="zh-CN" sz="2000" dirty="0"/>
                  <a:t> for film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altLang="zh-CN" sz="2000" dirty="0"/>
              </a:p>
              <a:p>
                <a:pPr algn="ctr"/>
                <a:r>
                  <a:rPr lang="zh-CN" altLang="en-US" sz="2000" dirty="0"/>
                  <a:t>预测用户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zh-CN" altLang="en-US" sz="2000" dirty="0"/>
                  <a:t>对电影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2000" dirty="0"/>
                  <a:t>的未知评分</a:t>
                </a:r>
              </a:p>
            </p:txBody>
          </p:sp>
        </mc:Choice>
        <mc:Fallback xmlns="">
          <p:sp>
            <p:nvSpPr>
              <p:cNvPr id="18" name="Speech Bubble: Rectangle with Corners Rounded 17">
                <a:extLst>
                  <a:ext uri="{FF2B5EF4-FFF2-40B4-BE49-F238E27FC236}">
                    <a16:creationId xmlns:a16="http://schemas.microsoft.com/office/drawing/2014/main" id="{C4E38B13-8F9C-2164-77C6-D8C43BDD2D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5000" y="5329238"/>
                <a:ext cx="6210300" cy="842962"/>
              </a:xfrm>
              <a:prstGeom prst="wedgeRoundRectCallout">
                <a:avLst>
                  <a:gd name="adj1" fmla="val 3872"/>
                  <a:gd name="adj2" fmla="val -123208"/>
                  <a:gd name="adj3" fmla="val 16667"/>
                </a:avLst>
              </a:prstGeom>
              <a:blipFill>
                <a:blip r:embed="rId4"/>
                <a:stretch>
                  <a:fillRect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674318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815A8-BBE5-51E6-E428-40832638C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D74AE-9B5C-E91B-5AA9-1C1515AAC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High Dimensional Features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高维特征属性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273247-5CB2-326A-4F54-D023AA8E82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</a:t>
            </a:r>
            <a:r>
              <a:rPr lang="en-US" altLang="zh-CN" sz="1400" dirty="0">
                <a:ea typeface="SimSun" panose="02010600030101010101" pitchFamily="2" charset="-122"/>
              </a:rPr>
              <a:t>Other Topic: Modern Paradigm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zh-CN" altLang="en-US" sz="1400" kern="0" dirty="0">
                <a:ea typeface="SimSun" panose="02010600030101010101" pitchFamily="2" charset="-122"/>
              </a:rPr>
              <a:t>番外：现代范式</a:t>
            </a:r>
            <a:endParaRPr lang="en-US" altLang="zh-CN" sz="1400" kern="0" dirty="0">
              <a:ea typeface="SimSun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D4E894C-C239-0F84-AD01-06BDCD0FB7B9}"/>
                  </a:ext>
                </a:extLst>
              </p:cNvPr>
              <p:cNvSpPr txBox="1"/>
              <p:nvPr/>
            </p:nvSpPr>
            <p:spPr>
              <a:xfrm>
                <a:off x="342898" y="1463872"/>
                <a:ext cx="845820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0" dirty="0"/>
                  <a:t>Imagining 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000" b="0" dirty="0"/>
                  <a:t>dimensions, each represents a perspective </a:t>
                </a:r>
              </a:p>
              <a:p>
                <a:pPr algn="ctr"/>
                <a:r>
                  <a:rPr lang="en-US" altLang="zh-CN" sz="2000" b="0" dirty="0"/>
                  <a:t>inherent to the film or the user’s preference </a:t>
                </a:r>
              </a:p>
              <a:p>
                <a:pPr algn="ctr"/>
                <a:r>
                  <a:rPr lang="zh-CN" altLang="en-US" sz="2000" b="0" dirty="0"/>
                  <a:t>想象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000" dirty="0"/>
                  <a:t>个维度，每个维度表示一个电影本身和用户关注的某个特性或方面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D4E894C-C239-0F84-AD01-06BDCD0FB7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898" y="1463872"/>
                <a:ext cx="8458200" cy="1015663"/>
              </a:xfrm>
              <a:prstGeom prst="rect">
                <a:avLst/>
              </a:prstGeom>
              <a:blipFill>
                <a:blip r:embed="rId4"/>
                <a:stretch>
                  <a:fillRect t="-2994" b="-7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D92AE00-F4B0-0532-A228-378BA550A7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7829167"/>
              </p:ext>
            </p:extLst>
          </p:nvPr>
        </p:nvGraphicFramePr>
        <p:xfrm>
          <a:off x="1104897" y="2514600"/>
          <a:ext cx="6934201" cy="101092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780098">
                  <a:extLst>
                    <a:ext uri="{9D8B030D-6E8A-4147-A177-3AD203B41FA5}">
                      <a16:colId xmlns:a16="http://schemas.microsoft.com/office/drawing/2014/main" val="276852107"/>
                    </a:ext>
                  </a:extLst>
                </a:gridCol>
                <a:gridCol w="2947035">
                  <a:extLst>
                    <a:ext uri="{9D8B030D-6E8A-4147-A177-3AD203B41FA5}">
                      <a16:colId xmlns:a16="http://schemas.microsoft.com/office/drawing/2014/main" val="748298925"/>
                    </a:ext>
                  </a:extLst>
                </a:gridCol>
                <a:gridCol w="3207068">
                  <a:extLst>
                    <a:ext uri="{9D8B030D-6E8A-4147-A177-3AD203B41FA5}">
                      <a16:colId xmlns:a16="http://schemas.microsoft.com/office/drawing/2014/main" val="26446168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电影本身 </a:t>
                      </a:r>
                      <a:r>
                        <a:rPr lang="en-US" altLang="zh-CN" dirty="0"/>
                        <a:t>Film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用户关注 </a:t>
                      </a:r>
                      <a:r>
                        <a:rPr lang="en-US" altLang="zh-CN" dirty="0"/>
                        <a:t>User preference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4067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Horror film?</a:t>
                      </a:r>
                    </a:p>
                    <a:p>
                      <a:pPr algn="ctr"/>
                      <a:r>
                        <a:rPr lang="zh-CN" altLang="en-US" dirty="0"/>
                        <a:t>是否为恐怖片</a:t>
                      </a:r>
                      <a:r>
                        <a:rPr lang="en-US" altLang="zh-CN" dirty="0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Prefer horror films?</a:t>
                      </a:r>
                    </a:p>
                    <a:p>
                      <a:pPr algn="ctr"/>
                      <a:r>
                        <a:rPr lang="zh-CN" altLang="en-US" dirty="0"/>
                        <a:t>是否喜欢恐怖片</a:t>
                      </a:r>
                      <a:r>
                        <a:rPr lang="en-US" altLang="zh-CN" dirty="0"/>
                        <a:t>?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166310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544256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8663E-C91F-3147-A20D-42449266E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B8674-64ED-1592-6506-F41C62E5B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High Dimensional Features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高维特征属性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F9EF62-CBB5-F000-530B-7549764A713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</a:t>
            </a:r>
            <a:r>
              <a:rPr lang="en-US" altLang="zh-CN" sz="1400" dirty="0">
                <a:ea typeface="SimSun" panose="02010600030101010101" pitchFamily="2" charset="-122"/>
              </a:rPr>
              <a:t>Other Topic: Modern Paradigm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zh-CN" altLang="en-US" sz="1400" kern="0" dirty="0">
                <a:ea typeface="SimSun" panose="02010600030101010101" pitchFamily="2" charset="-122"/>
              </a:rPr>
              <a:t>番外：现代范式</a:t>
            </a:r>
            <a:endParaRPr lang="en-US" altLang="zh-CN" sz="1400" kern="0" dirty="0">
              <a:ea typeface="SimSun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87E4E79-5690-A713-B9E0-194E61830C46}"/>
                  </a:ext>
                </a:extLst>
              </p:cNvPr>
              <p:cNvSpPr txBox="1"/>
              <p:nvPr/>
            </p:nvSpPr>
            <p:spPr>
              <a:xfrm>
                <a:off x="342898" y="1463872"/>
                <a:ext cx="845820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0" dirty="0"/>
                  <a:t>Imagining 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000" b="0" dirty="0"/>
                  <a:t>dimensions, each represents a perspective </a:t>
                </a:r>
              </a:p>
              <a:p>
                <a:pPr algn="ctr"/>
                <a:r>
                  <a:rPr lang="en-US" altLang="zh-CN" sz="2000" b="0" dirty="0"/>
                  <a:t>inherent to the film or the user’s preference </a:t>
                </a:r>
              </a:p>
              <a:p>
                <a:pPr algn="ctr"/>
                <a:r>
                  <a:rPr lang="zh-CN" altLang="en-US" sz="2000" b="0" dirty="0"/>
                  <a:t>想象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000" dirty="0"/>
                  <a:t>个维度，每个维度表示一个电影本身和用户关注的某个特性或方面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87E4E79-5690-A713-B9E0-194E61830C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898" y="1463872"/>
                <a:ext cx="8458200" cy="1015663"/>
              </a:xfrm>
              <a:prstGeom prst="rect">
                <a:avLst/>
              </a:prstGeom>
              <a:blipFill>
                <a:blip r:embed="rId4"/>
                <a:stretch>
                  <a:fillRect t="-2994" b="-7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4F40B43-4BF8-EEBE-47C4-7DCEDAAB25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4662072"/>
              </p:ext>
            </p:extLst>
          </p:nvPr>
        </p:nvGraphicFramePr>
        <p:xfrm>
          <a:off x="1104897" y="2514600"/>
          <a:ext cx="6934201" cy="192532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780098">
                  <a:extLst>
                    <a:ext uri="{9D8B030D-6E8A-4147-A177-3AD203B41FA5}">
                      <a16:colId xmlns:a16="http://schemas.microsoft.com/office/drawing/2014/main" val="276852107"/>
                    </a:ext>
                  </a:extLst>
                </a:gridCol>
                <a:gridCol w="2947035">
                  <a:extLst>
                    <a:ext uri="{9D8B030D-6E8A-4147-A177-3AD203B41FA5}">
                      <a16:colId xmlns:a16="http://schemas.microsoft.com/office/drawing/2014/main" val="748298925"/>
                    </a:ext>
                  </a:extLst>
                </a:gridCol>
                <a:gridCol w="3207068">
                  <a:extLst>
                    <a:ext uri="{9D8B030D-6E8A-4147-A177-3AD203B41FA5}">
                      <a16:colId xmlns:a16="http://schemas.microsoft.com/office/drawing/2014/main" val="26446168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电影本身 </a:t>
                      </a:r>
                      <a:r>
                        <a:rPr lang="en-US" altLang="zh-CN" dirty="0"/>
                        <a:t>Film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用户关注 </a:t>
                      </a:r>
                      <a:r>
                        <a:rPr lang="en-US" altLang="zh-CN" dirty="0"/>
                        <a:t>User preference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4067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Horror film?</a:t>
                      </a:r>
                    </a:p>
                    <a:p>
                      <a:pPr algn="ctr"/>
                      <a:r>
                        <a:rPr lang="zh-CN" altLang="en-US" dirty="0"/>
                        <a:t>是否为恐怖片</a:t>
                      </a:r>
                      <a:r>
                        <a:rPr lang="en-US" altLang="zh-CN" dirty="0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Prefer horror films?</a:t>
                      </a:r>
                    </a:p>
                    <a:p>
                      <a:pPr algn="ctr"/>
                      <a:r>
                        <a:rPr lang="zh-CN" altLang="en-US" dirty="0"/>
                        <a:t>是否喜欢恐怖片</a:t>
                      </a:r>
                      <a:r>
                        <a:rPr lang="en-US" altLang="zh-CN" dirty="0"/>
                        <a:t>?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166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 certain  actor’s presence &amp; performance</a:t>
                      </a:r>
                    </a:p>
                    <a:p>
                      <a:pPr algn="ctr"/>
                      <a:r>
                        <a:rPr lang="zh-CN" altLang="en-US" dirty="0"/>
                        <a:t>某个演员出镜率和表现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Favor the actor?</a:t>
                      </a:r>
                    </a:p>
                    <a:p>
                      <a:pPr algn="ctr"/>
                      <a:r>
                        <a:rPr lang="zh-CN" altLang="en-US" dirty="0"/>
                        <a:t>是否关注某个演员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512512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7619966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51FA0-0500-6AE1-BF7B-B3C13148D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13C78-ADAB-330F-1257-8BDCCB525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High Dimensional Features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高维特征属性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EFC311-A2CB-FDE9-B309-6E7315BA220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</a:t>
            </a:r>
            <a:r>
              <a:rPr lang="en-US" altLang="zh-CN" sz="1400" dirty="0">
                <a:ea typeface="SimSun" panose="02010600030101010101" pitchFamily="2" charset="-122"/>
              </a:rPr>
              <a:t>Other Topic: Modern Paradigm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zh-CN" altLang="en-US" sz="1400" kern="0" dirty="0">
                <a:ea typeface="SimSun" panose="02010600030101010101" pitchFamily="2" charset="-122"/>
              </a:rPr>
              <a:t>番外：现代范式</a:t>
            </a:r>
            <a:endParaRPr lang="en-US" altLang="zh-CN" sz="1400" kern="0" dirty="0">
              <a:ea typeface="SimSun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189D6DE-8E6C-3BF5-F043-A29DCBAF29F8}"/>
                  </a:ext>
                </a:extLst>
              </p:cNvPr>
              <p:cNvSpPr txBox="1"/>
              <p:nvPr/>
            </p:nvSpPr>
            <p:spPr>
              <a:xfrm>
                <a:off x="342898" y="1463872"/>
                <a:ext cx="845820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0" dirty="0"/>
                  <a:t>Imagining 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000" b="0" dirty="0"/>
                  <a:t>dimensions, each represents a perspective </a:t>
                </a:r>
              </a:p>
              <a:p>
                <a:pPr algn="ctr"/>
                <a:r>
                  <a:rPr lang="en-US" altLang="zh-CN" sz="2000" b="0" dirty="0"/>
                  <a:t>inherent to the film or the user’s preference </a:t>
                </a:r>
              </a:p>
              <a:p>
                <a:pPr algn="ctr"/>
                <a:r>
                  <a:rPr lang="zh-CN" altLang="en-US" sz="2000" b="0" dirty="0"/>
                  <a:t>想象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000" dirty="0"/>
                  <a:t>个维度，每个维度表示一个电影本身和用户关注的某个特性或方面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189D6DE-8E6C-3BF5-F043-A29DCBAF29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898" y="1463872"/>
                <a:ext cx="8458200" cy="1015663"/>
              </a:xfrm>
              <a:prstGeom prst="rect">
                <a:avLst/>
              </a:prstGeom>
              <a:blipFill>
                <a:blip r:embed="rId4"/>
                <a:stretch>
                  <a:fillRect t="-2994" b="-7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85D5FD5-8D0D-BC8B-CCE3-6E13C129C7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1456702"/>
              </p:ext>
            </p:extLst>
          </p:nvPr>
        </p:nvGraphicFramePr>
        <p:xfrm>
          <a:off x="1104897" y="2514600"/>
          <a:ext cx="6934201" cy="293624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780098">
                  <a:extLst>
                    <a:ext uri="{9D8B030D-6E8A-4147-A177-3AD203B41FA5}">
                      <a16:colId xmlns:a16="http://schemas.microsoft.com/office/drawing/2014/main" val="276852107"/>
                    </a:ext>
                  </a:extLst>
                </a:gridCol>
                <a:gridCol w="2947035">
                  <a:extLst>
                    <a:ext uri="{9D8B030D-6E8A-4147-A177-3AD203B41FA5}">
                      <a16:colId xmlns:a16="http://schemas.microsoft.com/office/drawing/2014/main" val="748298925"/>
                    </a:ext>
                  </a:extLst>
                </a:gridCol>
                <a:gridCol w="3207068">
                  <a:extLst>
                    <a:ext uri="{9D8B030D-6E8A-4147-A177-3AD203B41FA5}">
                      <a16:colId xmlns:a16="http://schemas.microsoft.com/office/drawing/2014/main" val="26446168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电影本身 </a:t>
                      </a:r>
                      <a:r>
                        <a:rPr lang="en-US" altLang="zh-CN" dirty="0"/>
                        <a:t>Film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用户关注 </a:t>
                      </a:r>
                      <a:r>
                        <a:rPr lang="en-US" altLang="zh-CN" dirty="0"/>
                        <a:t>User preference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4067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Horror film?</a:t>
                      </a:r>
                    </a:p>
                    <a:p>
                      <a:pPr algn="ctr"/>
                      <a:r>
                        <a:rPr lang="zh-CN" altLang="en-US" dirty="0"/>
                        <a:t>是否为恐怖片</a:t>
                      </a:r>
                      <a:r>
                        <a:rPr lang="en-US" altLang="zh-CN" dirty="0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Prefer horror films?</a:t>
                      </a:r>
                    </a:p>
                    <a:p>
                      <a:pPr algn="ctr"/>
                      <a:r>
                        <a:rPr lang="zh-CN" altLang="en-US" dirty="0"/>
                        <a:t>是否喜欢恐怖片</a:t>
                      </a:r>
                      <a:r>
                        <a:rPr lang="en-US" altLang="zh-CN" dirty="0"/>
                        <a:t>?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166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 certain  actor’s presence &amp; performance</a:t>
                      </a:r>
                    </a:p>
                    <a:p>
                      <a:pPr algn="ctr"/>
                      <a:r>
                        <a:rPr lang="zh-CN" altLang="en-US" dirty="0"/>
                        <a:t>某个演员出镜率和表现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Favor the actor?</a:t>
                      </a:r>
                    </a:p>
                    <a:p>
                      <a:pPr algn="ctr"/>
                      <a:r>
                        <a:rPr lang="zh-CN" altLang="en-US" dirty="0"/>
                        <a:t>是否关注某个演员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5125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 certain director</a:t>
                      </a:r>
                    </a:p>
                    <a:p>
                      <a:pPr algn="ctr"/>
                      <a:r>
                        <a:rPr lang="zh-CN" altLang="en-US" dirty="0"/>
                        <a:t>为某个导演执导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Favor the director?</a:t>
                      </a:r>
                    </a:p>
                    <a:p>
                      <a:pPr algn="ctr"/>
                      <a:r>
                        <a:rPr lang="zh-CN" altLang="en-US" dirty="0"/>
                        <a:t>偏好某个导演的影片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3738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193768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1D73B95-1521-FD99-5CE4-3305F0295302}"/>
              </a:ext>
            </a:extLst>
          </p:cNvPr>
          <p:cNvSpPr txBox="1"/>
          <p:nvPr/>
        </p:nvSpPr>
        <p:spPr>
          <a:xfrm>
            <a:off x="13886" y="5493296"/>
            <a:ext cx="91162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0" dirty="0"/>
              <a:t>Imagination here. Feature semantics learned automatically, not prescribed  </a:t>
            </a:r>
            <a:r>
              <a:rPr lang="zh-CN" altLang="en-US" sz="2000" b="0" dirty="0"/>
              <a:t>这里只是想象。</a:t>
            </a:r>
            <a:r>
              <a:rPr lang="zh-CN" altLang="en-US" sz="2000" dirty="0"/>
              <a:t>特征语义自动习得，并非事先预设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9706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1AB97-B15A-11F6-1032-12C74F30F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6FF54-0A6B-41DF-64EE-EC2C3720F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Model  </a:t>
            </a:r>
            <a:r>
              <a:rPr lang="zh-CN" altLang="en-US" dirty="0">
                <a:ea typeface="ＭＳ Ｐゴシック" panose="020B0600070205080204" pitchFamily="34" charset="-128"/>
              </a:rPr>
              <a:t>模型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4CFCCC-5614-A5BC-3672-2CF6E1EED8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</a:t>
            </a:r>
            <a:r>
              <a:rPr lang="en-US" altLang="zh-CN" sz="1400" dirty="0">
                <a:ea typeface="SimSun" panose="02010600030101010101" pitchFamily="2" charset="-122"/>
              </a:rPr>
              <a:t>Other Topic: Modern Paradigm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zh-CN" altLang="en-US" sz="1400" kern="0" dirty="0">
                <a:ea typeface="SimSun" panose="02010600030101010101" pitchFamily="2" charset="-122"/>
              </a:rPr>
              <a:t>番外：现代范式</a:t>
            </a:r>
            <a:endParaRPr lang="en-US" altLang="zh-CN" sz="1400" kern="0" dirty="0">
              <a:ea typeface="SimSun" panose="02010600030101010101" pitchFamily="2" charset="-122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CA357E1-3ECD-AC05-1847-97D98798E7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1408873"/>
              </p:ext>
            </p:extLst>
          </p:nvPr>
        </p:nvGraphicFramePr>
        <p:xfrm>
          <a:off x="2743200" y="3429000"/>
          <a:ext cx="48768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153344507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37493183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04719812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516610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Film 1</a:t>
                      </a:r>
                    </a:p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电影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Film 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电影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Film 3</a:t>
                      </a:r>
                    </a:p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电影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6544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User 1   </a:t>
                      </a: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2521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User 2  </a:t>
                      </a: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0478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User 3  </a:t>
                      </a: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419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User 4  </a:t>
                      </a: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170823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EE8186CF-CF1A-DEC9-F341-52788B0289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5961242"/>
                  </p:ext>
                </p:extLst>
              </p:nvPr>
            </p:nvGraphicFramePr>
            <p:xfrm>
              <a:off x="5856514" y="1741169"/>
              <a:ext cx="457200" cy="148336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457200">
                      <a:extLst>
                        <a:ext uri="{9D8B030D-6E8A-4147-A177-3AD203B41FA5}">
                          <a16:colId xmlns:a16="http://schemas.microsoft.com/office/drawing/2014/main" val="684091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43807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759175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081262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572393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EE8186CF-CF1A-DEC9-F341-52788B0289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5961242"/>
                  </p:ext>
                </p:extLst>
              </p:nvPr>
            </p:nvGraphicFramePr>
            <p:xfrm>
              <a:off x="5856514" y="1741169"/>
              <a:ext cx="457200" cy="148336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457200">
                      <a:extLst>
                        <a:ext uri="{9D8B030D-6E8A-4147-A177-3AD203B41FA5}">
                          <a16:colId xmlns:a16="http://schemas.microsoft.com/office/drawing/2014/main" val="684091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16" t="-1639" r="-2632" b="-3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3807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16" t="-101639" r="-2632" b="-2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59175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16" t="-201639" r="-2632" b="-1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81262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16" t="-301639" r="-2632" b="-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723936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4AE5A5F7-0498-C144-BAA1-0AF47DA794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0154510"/>
                  </p:ext>
                </p:extLst>
              </p:nvPr>
            </p:nvGraphicFramePr>
            <p:xfrm>
              <a:off x="762000" y="4811486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4AE5A5F7-0498-C144-BAA1-0AF47DA794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0154510"/>
                  </p:ext>
                </p:extLst>
              </p:nvPr>
            </p:nvGraphicFramePr>
            <p:xfrm>
              <a:off x="762000" y="4811486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778" t="-1587" r="-302778" b="-12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2778" t="-1587" r="-202778" b="-12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2778" t="-1587" r="-102778" b="-12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2778" t="-1587" r="-2778" b="-126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59E49174-D6EF-F3C4-5B43-E29FCA00B77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13220275"/>
                  </p:ext>
                </p:extLst>
              </p:nvPr>
            </p:nvGraphicFramePr>
            <p:xfrm>
              <a:off x="762000" y="4430487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59E49174-D6EF-F3C4-5B43-E29FCA00B77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13220275"/>
                  </p:ext>
                </p:extLst>
              </p:nvPr>
            </p:nvGraphicFramePr>
            <p:xfrm>
              <a:off x="762000" y="4430487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778" t="-1563" r="-302778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2778" t="-1563" r="-202778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02778" t="-1563" r="-102778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02778" t="-1563" r="-2778" b="-1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CC29585A-AB99-026F-3B34-C23CB95535E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85874370"/>
                  </p:ext>
                </p:extLst>
              </p:nvPr>
            </p:nvGraphicFramePr>
            <p:xfrm>
              <a:off x="762000" y="4049488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CC29585A-AB99-026F-3B34-C23CB95535E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85874370"/>
                  </p:ext>
                </p:extLst>
              </p:nvPr>
            </p:nvGraphicFramePr>
            <p:xfrm>
              <a:off x="762000" y="4049488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778" t="-1587" r="-302778" b="-12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02778" t="-1587" r="-202778" b="-12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02778" t="-1587" r="-102778" b="-12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02778" t="-1587" r="-2778" b="-126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059239D0-D915-D480-E412-B9A226C44E4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0047858"/>
                  </p:ext>
                </p:extLst>
              </p:nvPr>
            </p:nvGraphicFramePr>
            <p:xfrm>
              <a:off x="762000" y="5192485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(4)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(4)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(4)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059239D0-D915-D480-E412-B9A226C44E4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0047858"/>
                  </p:ext>
                </p:extLst>
              </p:nvPr>
            </p:nvGraphicFramePr>
            <p:xfrm>
              <a:off x="762000" y="5192485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2778" t="-1563" r="-302778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102778" t="-1563" r="-202778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202778" t="-1563" r="-102778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302778" t="-1563" r="-2778" b="-1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A81A6872-57DC-943E-0730-D3A01A0296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7590145"/>
                  </p:ext>
                </p:extLst>
              </p:nvPr>
            </p:nvGraphicFramePr>
            <p:xfrm>
              <a:off x="4757057" y="1741169"/>
              <a:ext cx="457200" cy="148336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457200">
                      <a:extLst>
                        <a:ext uri="{9D8B030D-6E8A-4147-A177-3AD203B41FA5}">
                          <a16:colId xmlns:a16="http://schemas.microsoft.com/office/drawing/2014/main" val="684091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43807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759175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081262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572393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A81A6872-57DC-943E-0730-D3A01A0296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7590145"/>
                  </p:ext>
                </p:extLst>
              </p:nvPr>
            </p:nvGraphicFramePr>
            <p:xfrm>
              <a:off x="4757057" y="1741169"/>
              <a:ext cx="457200" cy="148336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457200">
                      <a:extLst>
                        <a:ext uri="{9D8B030D-6E8A-4147-A177-3AD203B41FA5}">
                          <a16:colId xmlns:a16="http://schemas.microsoft.com/office/drawing/2014/main" val="684091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1316" t="-1639" r="-2632" b="-3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3807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1316" t="-101639" r="-2632" b="-2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59175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1316" t="-201639" r="-2632" b="-1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81262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1316" t="-301639" r="-2632" b="-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723936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B38E5075-8E84-186B-61EB-F84CA7C32A5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2585537"/>
                  </p:ext>
                </p:extLst>
              </p:nvPr>
            </p:nvGraphicFramePr>
            <p:xfrm>
              <a:off x="6868884" y="1748087"/>
              <a:ext cx="457200" cy="148336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457200">
                      <a:extLst>
                        <a:ext uri="{9D8B030D-6E8A-4147-A177-3AD203B41FA5}">
                          <a16:colId xmlns:a16="http://schemas.microsoft.com/office/drawing/2014/main" val="684091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43807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759175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081262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572393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B38E5075-8E84-186B-61EB-F84CA7C32A5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2585537"/>
                  </p:ext>
                </p:extLst>
              </p:nvPr>
            </p:nvGraphicFramePr>
            <p:xfrm>
              <a:off x="6868884" y="1748087"/>
              <a:ext cx="457200" cy="148336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457200">
                      <a:extLst>
                        <a:ext uri="{9D8B030D-6E8A-4147-A177-3AD203B41FA5}">
                          <a16:colId xmlns:a16="http://schemas.microsoft.com/office/drawing/2014/main" val="684091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1316" t="-1639" r="-2632" b="-3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3807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1316" t="-100000" r="-2632" b="-2096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59175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1316" t="-203279" r="-2632" b="-113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81262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1316" t="-303279" r="-2632" b="-13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723936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D24B76D-488B-BB3A-89A4-0EB64FAD0409}"/>
                  </a:ext>
                </a:extLst>
              </p:cNvPr>
              <p:cNvSpPr txBox="1"/>
              <p:nvPr/>
            </p:nvSpPr>
            <p:spPr>
              <a:xfrm>
                <a:off x="39233" y="3099733"/>
                <a:ext cx="263865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000" b="0" dirty="0"/>
                  <a:t>features per user</a:t>
                </a:r>
              </a:p>
              <a:p>
                <a:pPr algn="ctr"/>
                <a:r>
                  <a:rPr lang="zh-CN" altLang="en-US" sz="2000" b="0" dirty="0"/>
                  <a:t>每个用户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000" dirty="0"/>
                  <a:t>个属性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D24B76D-488B-BB3A-89A4-0EB64FAD04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3" y="3099733"/>
                <a:ext cx="2638653" cy="707886"/>
              </a:xfrm>
              <a:prstGeom prst="rect">
                <a:avLst/>
              </a:prstGeom>
              <a:blipFill>
                <a:blip r:embed="rId11"/>
                <a:stretch>
                  <a:fillRect t="-4274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233DC54-F5E8-2EF0-8700-A826333CA42D}"/>
                  </a:ext>
                </a:extLst>
              </p:cNvPr>
              <p:cNvSpPr txBox="1"/>
              <p:nvPr/>
            </p:nvSpPr>
            <p:spPr>
              <a:xfrm>
                <a:off x="2009547" y="2059313"/>
                <a:ext cx="263865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000" b="0" dirty="0"/>
                  <a:t>features per film</a:t>
                </a:r>
              </a:p>
              <a:p>
                <a:pPr algn="ctr"/>
                <a:r>
                  <a:rPr lang="zh-CN" altLang="en-US" sz="2000" b="0" dirty="0"/>
                  <a:t>每部电影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000" dirty="0"/>
                  <a:t>个属性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233DC54-F5E8-2EF0-8700-A826333CA4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9547" y="2059313"/>
                <a:ext cx="2638653" cy="707886"/>
              </a:xfrm>
              <a:prstGeom prst="rect">
                <a:avLst/>
              </a:prstGeom>
              <a:blipFill>
                <a:blip r:embed="rId12"/>
                <a:stretch>
                  <a:fillRect t="-5172" b="-12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871951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22F39-C814-DF72-7CA4-83D968264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6DA01-2259-4689-CE8E-6720DB0CA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Model  </a:t>
            </a:r>
            <a:r>
              <a:rPr lang="zh-CN" altLang="en-US" dirty="0">
                <a:ea typeface="ＭＳ Ｐゴシック" panose="020B0600070205080204" pitchFamily="34" charset="-128"/>
              </a:rPr>
              <a:t>模型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774E08-16A5-5482-9346-E41599214D7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</a:t>
            </a:r>
            <a:r>
              <a:rPr lang="en-US" altLang="zh-CN" sz="1400" dirty="0">
                <a:ea typeface="SimSun" panose="02010600030101010101" pitchFamily="2" charset="-122"/>
              </a:rPr>
              <a:t>Other Topic: Modern Paradigm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zh-CN" altLang="en-US" sz="1400" kern="0" dirty="0">
                <a:ea typeface="SimSun" panose="02010600030101010101" pitchFamily="2" charset="-122"/>
              </a:rPr>
              <a:t>番外：现代范式</a:t>
            </a:r>
            <a:endParaRPr lang="en-US" altLang="zh-CN" sz="1400" kern="0" dirty="0">
              <a:ea typeface="SimSun" panose="02010600030101010101" pitchFamily="2" charset="-122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0E5B041-BFA1-AD7F-F37F-6C3028537D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9811503"/>
              </p:ext>
            </p:extLst>
          </p:nvPr>
        </p:nvGraphicFramePr>
        <p:xfrm>
          <a:off x="2743200" y="3429000"/>
          <a:ext cx="48768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153344507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37493183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04719812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516610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Film 1</a:t>
                      </a:r>
                    </a:p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电影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Film 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电影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Film 3</a:t>
                      </a:r>
                    </a:p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电影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6544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User 1   </a:t>
                      </a: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2521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User 2  </a:t>
                      </a: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0478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User 3  </a:t>
                      </a: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419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User 4  </a:t>
                      </a: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170823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FE84CA6A-A759-0B48-4F71-C4CACD11711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56514" y="1741169"/>
              <a:ext cx="457200" cy="148336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457200">
                      <a:extLst>
                        <a:ext uri="{9D8B030D-6E8A-4147-A177-3AD203B41FA5}">
                          <a16:colId xmlns:a16="http://schemas.microsoft.com/office/drawing/2014/main" val="684091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43807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759175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081262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572393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EE8186CF-CF1A-DEC9-F341-52788B0289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5961242"/>
                  </p:ext>
                </p:extLst>
              </p:nvPr>
            </p:nvGraphicFramePr>
            <p:xfrm>
              <a:off x="5856514" y="1741169"/>
              <a:ext cx="457200" cy="148336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457200">
                      <a:extLst>
                        <a:ext uri="{9D8B030D-6E8A-4147-A177-3AD203B41FA5}">
                          <a16:colId xmlns:a16="http://schemas.microsoft.com/office/drawing/2014/main" val="684091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16" t="-1639" r="-2632" b="-3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3807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16" t="-101639" r="-2632" b="-2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59175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16" t="-201639" r="-2632" b="-1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81262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16" t="-301639" r="-2632" b="-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723936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19633197-31F6-0BF2-8D0D-75089BA8488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2000" y="4811486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4AE5A5F7-0498-C144-BAA1-0AF47DA794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0154510"/>
                  </p:ext>
                </p:extLst>
              </p:nvPr>
            </p:nvGraphicFramePr>
            <p:xfrm>
              <a:off x="762000" y="4811486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778" t="-1587" r="-302778" b="-12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2778" t="-1587" r="-202778" b="-12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2778" t="-1587" r="-102778" b="-12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2778" t="-1587" r="-2778" b="-126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C6D295C1-2694-4C42-E1C0-AC59716B5D8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2000" y="4430487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59E49174-D6EF-F3C4-5B43-E29FCA00B77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13220275"/>
                  </p:ext>
                </p:extLst>
              </p:nvPr>
            </p:nvGraphicFramePr>
            <p:xfrm>
              <a:off x="762000" y="4430487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778" t="-1563" r="-302778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2778" t="-1563" r="-202778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02778" t="-1563" r="-102778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02778" t="-1563" r="-2778" b="-1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83AF9BD5-5135-1ECC-2A79-E71321E1C0E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2000" y="4049488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CC29585A-AB99-026F-3B34-C23CB95535E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85874370"/>
                  </p:ext>
                </p:extLst>
              </p:nvPr>
            </p:nvGraphicFramePr>
            <p:xfrm>
              <a:off x="762000" y="4049488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778" t="-1587" r="-302778" b="-12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02778" t="-1587" r="-202778" b="-12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02778" t="-1587" r="-102778" b="-12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02778" t="-1587" r="-2778" b="-126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ABCB8576-7894-DB9D-237E-DE5D7FF934A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2000" y="5192485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(4)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(4)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(4)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059239D0-D915-D480-E412-B9A226C44E4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0047858"/>
                  </p:ext>
                </p:extLst>
              </p:nvPr>
            </p:nvGraphicFramePr>
            <p:xfrm>
              <a:off x="762000" y="5192485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2778" t="-1563" r="-302778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102778" t="-1563" r="-202778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202778" t="-1563" r="-102778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302778" t="-1563" r="-2778" b="-1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F9DDC656-4864-B41E-8B6B-E08B721A9AA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757057" y="1741169"/>
              <a:ext cx="457200" cy="148336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457200">
                      <a:extLst>
                        <a:ext uri="{9D8B030D-6E8A-4147-A177-3AD203B41FA5}">
                          <a16:colId xmlns:a16="http://schemas.microsoft.com/office/drawing/2014/main" val="684091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43807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759175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081262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572393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A81A6872-57DC-943E-0730-D3A01A0296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7590145"/>
                  </p:ext>
                </p:extLst>
              </p:nvPr>
            </p:nvGraphicFramePr>
            <p:xfrm>
              <a:off x="4757057" y="1741169"/>
              <a:ext cx="457200" cy="148336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457200">
                      <a:extLst>
                        <a:ext uri="{9D8B030D-6E8A-4147-A177-3AD203B41FA5}">
                          <a16:colId xmlns:a16="http://schemas.microsoft.com/office/drawing/2014/main" val="684091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1316" t="-1639" r="-2632" b="-3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3807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1316" t="-101639" r="-2632" b="-2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59175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1316" t="-201639" r="-2632" b="-1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81262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1316" t="-301639" r="-2632" b="-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723936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EBC841EC-E624-220D-1222-36E693C3091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868884" y="1748087"/>
              <a:ext cx="457200" cy="148336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457200">
                      <a:extLst>
                        <a:ext uri="{9D8B030D-6E8A-4147-A177-3AD203B41FA5}">
                          <a16:colId xmlns:a16="http://schemas.microsoft.com/office/drawing/2014/main" val="684091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43807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759175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081262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572393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B38E5075-8E84-186B-61EB-F84CA7C32A5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2585537"/>
                  </p:ext>
                </p:extLst>
              </p:nvPr>
            </p:nvGraphicFramePr>
            <p:xfrm>
              <a:off x="6868884" y="1748087"/>
              <a:ext cx="457200" cy="148336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457200">
                      <a:extLst>
                        <a:ext uri="{9D8B030D-6E8A-4147-A177-3AD203B41FA5}">
                          <a16:colId xmlns:a16="http://schemas.microsoft.com/office/drawing/2014/main" val="684091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1316" t="-1639" r="-2632" b="-3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3807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1316" t="-100000" r="-2632" b="-2096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59175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1316" t="-203279" r="-2632" b="-113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81262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1316" t="-303279" r="-2632" b="-13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723936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EE393E27-1F24-98B0-6C54-3C0F6D1CACDD}"/>
              </a:ext>
            </a:extLst>
          </p:cNvPr>
          <p:cNvSpPr txBox="1"/>
          <p:nvPr/>
        </p:nvSpPr>
        <p:spPr>
          <a:xfrm>
            <a:off x="898072" y="2123905"/>
            <a:ext cx="3581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b="0" dirty="0"/>
              <a:t>Rating of user 3 for film 2  </a:t>
            </a:r>
          </a:p>
          <a:p>
            <a:pPr algn="ctr"/>
            <a:r>
              <a:rPr lang="zh-CN" altLang="en-US" dirty="0"/>
              <a:t>用户</a:t>
            </a:r>
            <a:r>
              <a:rPr lang="en-US" altLang="zh-CN" dirty="0"/>
              <a:t>3</a:t>
            </a:r>
            <a:r>
              <a:rPr lang="zh-CN" altLang="en-US" dirty="0"/>
              <a:t>对电影的评分</a:t>
            </a:r>
            <a:endParaRPr lang="en-US" altLang="zh-CN" sz="1800" b="0" i="1" dirty="0">
              <a:latin typeface="Cambria Math" panose="020405030504060302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100187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E9324-6C4A-C2F7-9874-A5D5C3B3C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D59C0-C83C-B32E-D619-F7F580D81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Model  </a:t>
            </a:r>
            <a:r>
              <a:rPr lang="zh-CN" altLang="en-US" dirty="0">
                <a:ea typeface="ＭＳ Ｐゴシック" panose="020B0600070205080204" pitchFamily="34" charset="-128"/>
              </a:rPr>
              <a:t>模型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96D05A-B217-D753-9761-75DF00293C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</a:t>
            </a:r>
            <a:r>
              <a:rPr lang="en-US" altLang="zh-CN" sz="1400" dirty="0">
                <a:ea typeface="SimSun" panose="02010600030101010101" pitchFamily="2" charset="-122"/>
              </a:rPr>
              <a:t>Other Topic: Modern Paradigm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zh-CN" altLang="en-US" sz="1400" kern="0" dirty="0">
                <a:ea typeface="SimSun" panose="02010600030101010101" pitchFamily="2" charset="-122"/>
              </a:rPr>
              <a:t>番外：现代范式</a:t>
            </a:r>
            <a:endParaRPr lang="en-US" altLang="zh-CN" sz="1400" kern="0" dirty="0">
              <a:ea typeface="SimSun" panose="02010600030101010101" pitchFamily="2" charset="-122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FD7AD09-4456-F546-E55B-38F9F282A886}"/>
              </a:ext>
            </a:extLst>
          </p:cNvPr>
          <p:cNvGraphicFramePr>
            <a:graphicFrameLocks noGrp="1"/>
          </p:cNvGraphicFramePr>
          <p:nvPr/>
        </p:nvGraphicFramePr>
        <p:xfrm>
          <a:off x="2743200" y="3429000"/>
          <a:ext cx="48768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153344507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37493183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04719812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516610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Film 1</a:t>
                      </a:r>
                    </a:p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电影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Film 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电影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Film 3</a:t>
                      </a:r>
                    </a:p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电影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6544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User 1   </a:t>
                      </a: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2521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User 2  </a:t>
                      </a: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0478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User 3  </a:t>
                      </a: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419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User 4  </a:t>
                      </a: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170823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71880B93-F7DD-6789-1C65-8E4420BAAFB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06787421"/>
                  </p:ext>
                </p:extLst>
              </p:nvPr>
            </p:nvGraphicFramePr>
            <p:xfrm>
              <a:off x="5856514" y="1741169"/>
              <a:ext cx="457200" cy="148336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457200">
                      <a:extLst>
                        <a:ext uri="{9D8B030D-6E8A-4147-A177-3AD203B41FA5}">
                          <a16:colId xmlns:a16="http://schemas.microsoft.com/office/drawing/2014/main" val="684091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3807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59175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81262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72393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71880B93-F7DD-6789-1C65-8E4420BAAFB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06787421"/>
                  </p:ext>
                </p:extLst>
              </p:nvPr>
            </p:nvGraphicFramePr>
            <p:xfrm>
              <a:off x="5856514" y="1741169"/>
              <a:ext cx="457200" cy="148336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457200">
                      <a:extLst>
                        <a:ext uri="{9D8B030D-6E8A-4147-A177-3AD203B41FA5}">
                          <a16:colId xmlns:a16="http://schemas.microsoft.com/office/drawing/2014/main" val="684091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16" t="-1639" r="-2632" b="-3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3807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16" t="-101639" r="-2632" b="-2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59175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16" t="-201639" r="-2632" b="-1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81262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16" t="-301639" r="-2632" b="-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723936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B1D5F39F-43A8-D2E7-DA90-2C811CE7287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02784935"/>
                  </p:ext>
                </p:extLst>
              </p:nvPr>
            </p:nvGraphicFramePr>
            <p:xfrm>
              <a:off x="762000" y="4811486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B1D5F39F-43A8-D2E7-DA90-2C811CE7287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02784935"/>
                  </p:ext>
                </p:extLst>
              </p:nvPr>
            </p:nvGraphicFramePr>
            <p:xfrm>
              <a:off x="762000" y="4811486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778" t="-1587" r="-302778" b="-12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2778" t="-1587" r="-202778" b="-12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2778" t="-1587" r="-102778" b="-12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2778" t="-1587" r="-2778" b="-126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0AC12020-72BD-06CF-31FD-B2F65DCB415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2000" y="4430487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59E49174-D6EF-F3C4-5B43-E29FCA00B77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13220275"/>
                  </p:ext>
                </p:extLst>
              </p:nvPr>
            </p:nvGraphicFramePr>
            <p:xfrm>
              <a:off x="762000" y="4430487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778" t="-1563" r="-302778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2778" t="-1563" r="-202778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02778" t="-1563" r="-102778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02778" t="-1563" r="-2778" b="-1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067F25F0-E31E-F477-DC75-CAA0E63CB42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2000" y="4049488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CC29585A-AB99-026F-3B34-C23CB95535E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85874370"/>
                  </p:ext>
                </p:extLst>
              </p:nvPr>
            </p:nvGraphicFramePr>
            <p:xfrm>
              <a:off x="762000" y="4049488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778" t="-1587" r="-302778" b="-12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02778" t="-1587" r="-202778" b="-12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02778" t="-1587" r="-102778" b="-12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02778" t="-1587" r="-2778" b="-126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D78E22FC-E3BA-93DA-4849-F003F4358A8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2000" y="5192485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(4)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(4)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(4)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059239D0-D915-D480-E412-B9A226C44E4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0047858"/>
                  </p:ext>
                </p:extLst>
              </p:nvPr>
            </p:nvGraphicFramePr>
            <p:xfrm>
              <a:off x="762000" y="5192485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2778" t="-1563" r="-302778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102778" t="-1563" r="-202778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202778" t="-1563" r="-102778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302778" t="-1563" r="-2778" b="-1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40685853-BFB4-699E-DFBE-9E2B0F0D34F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757057" y="1741169"/>
              <a:ext cx="457200" cy="148336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457200">
                      <a:extLst>
                        <a:ext uri="{9D8B030D-6E8A-4147-A177-3AD203B41FA5}">
                          <a16:colId xmlns:a16="http://schemas.microsoft.com/office/drawing/2014/main" val="684091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43807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759175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081262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572393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A81A6872-57DC-943E-0730-D3A01A0296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7590145"/>
                  </p:ext>
                </p:extLst>
              </p:nvPr>
            </p:nvGraphicFramePr>
            <p:xfrm>
              <a:off x="4757057" y="1741169"/>
              <a:ext cx="457200" cy="148336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457200">
                      <a:extLst>
                        <a:ext uri="{9D8B030D-6E8A-4147-A177-3AD203B41FA5}">
                          <a16:colId xmlns:a16="http://schemas.microsoft.com/office/drawing/2014/main" val="684091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1316" t="-1639" r="-2632" b="-3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3807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1316" t="-101639" r="-2632" b="-2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59175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1316" t="-201639" r="-2632" b="-1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81262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1316" t="-301639" r="-2632" b="-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723936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F4B789C3-56F5-19BA-65BF-47D128408B7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868884" y="1748087"/>
              <a:ext cx="457200" cy="148336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457200">
                      <a:extLst>
                        <a:ext uri="{9D8B030D-6E8A-4147-A177-3AD203B41FA5}">
                          <a16:colId xmlns:a16="http://schemas.microsoft.com/office/drawing/2014/main" val="684091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43807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759175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081262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572393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B38E5075-8E84-186B-61EB-F84CA7C32A5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2585537"/>
                  </p:ext>
                </p:extLst>
              </p:nvPr>
            </p:nvGraphicFramePr>
            <p:xfrm>
              <a:off x="6868884" y="1748087"/>
              <a:ext cx="457200" cy="148336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457200">
                      <a:extLst>
                        <a:ext uri="{9D8B030D-6E8A-4147-A177-3AD203B41FA5}">
                          <a16:colId xmlns:a16="http://schemas.microsoft.com/office/drawing/2014/main" val="684091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1316" t="-1639" r="-2632" b="-3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3807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1316" t="-100000" r="-2632" b="-2096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59175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1316" t="-203279" r="-2632" b="-113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81262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1316" t="-303279" r="-2632" b="-13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723936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CEFB69EC-E9B0-630D-6534-BFFB9F245CB8}"/>
              </a:ext>
            </a:extLst>
          </p:cNvPr>
          <p:cNvSpPr txBox="1"/>
          <p:nvPr/>
        </p:nvSpPr>
        <p:spPr>
          <a:xfrm>
            <a:off x="898072" y="2123905"/>
            <a:ext cx="3581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b="0" dirty="0"/>
              <a:t>Rating of user 3 for film 2  </a:t>
            </a:r>
          </a:p>
          <a:p>
            <a:pPr algn="ctr"/>
            <a:r>
              <a:rPr lang="zh-CN" altLang="en-US" dirty="0"/>
              <a:t>用户</a:t>
            </a:r>
            <a:r>
              <a:rPr lang="en-US" altLang="zh-CN" dirty="0"/>
              <a:t>3</a:t>
            </a:r>
            <a:r>
              <a:rPr lang="zh-CN" altLang="en-US" dirty="0"/>
              <a:t>对电影的评分</a:t>
            </a:r>
            <a:endParaRPr lang="en-US" altLang="zh-CN" sz="1800" b="0" i="1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C859C5C-6D28-73FE-B536-F2C5830419C3}"/>
                  </a:ext>
                </a:extLst>
              </p:cNvPr>
              <p:cNvSpPr txBox="1"/>
              <p:nvPr/>
            </p:nvSpPr>
            <p:spPr>
              <a:xfrm>
                <a:off x="1981200" y="5678780"/>
                <a:ext cx="6705600" cy="4385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3,2</m:t>
                          </m:r>
                        </m:sub>
                      </m:sSub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C859C5C-6D28-73FE-B536-F2C5830419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5678780"/>
                <a:ext cx="6705600" cy="438518"/>
              </a:xfrm>
              <a:prstGeom prst="rect">
                <a:avLst/>
              </a:prstGeom>
              <a:blipFill>
                <a:blip r:embed="rId11"/>
                <a:stretch>
                  <a:fillRect b="-42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141198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EB895-1E96-C5E5-493B-7459A5EE2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1418F-8ADD-9468-CFE0-6C5402F5B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Training  </a:t>
            </a:r>
            <a:r>
              <a:rPr lang="zh-CN" altLang="en-US" dirty="0">
                <a:ea typeface="ＭＳ Ｐゴシック" panose="020B0600070205080204" pitchFamily="34" charset="-128"/>
              </a:rPr>
              <a:t>训练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04669E-4F54-D82E-12EF-E952E91783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</a:t>
            </a:r>
            <a:r>
              <a:rPr lang="en-US" altLang="zh-CN" sz="1400" dirty="0">
                <a:ea typeface="SimSun" panose="02010600030101010101" pitchFamily="2" charset="-122"/>
              </a:rPr>
              <a:t>Other Topic: Modern Paradigm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zh-CN" altLang="en-US" sz="1400" kern="0" dirty="0">
                <a:ea typeface="SimSun" panose="02010600030101010101" pitchFamily="2" charset="-122"/>
              </a:rPr>
              <a:t>番外：现代范式</a:t>
            </a:r>
            <a:endParaRPr lang="en-US" altLang="zh-CN" sz="1400" kern="0" dirty="0">
              <a:ea typeface="SimSun" panose="02010600030101010101" pitchFamily="2" charset="-122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52371FE-C1CB-BC90-7306-BD33D65746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924825"/>
              </p:ext>
            </p:extLst>
          </p:nvPr>
        </p:nvGraphicFramePr>
        <p:xfrm>
          <a:off x="2743200" y="3429000"/>
          <a:ext cx="48768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153344507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37493183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04719812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516610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Film 1</a:t>
                      </a:r>
                    </a:p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电影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Film 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电影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Film 3</a:t>
                      </a:r>
                    </a:p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电影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6544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User 1   </a:t>
                      </a: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2521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User 2  </a:t>
                      </a: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478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User 3  </a:t>
                      </a: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419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User 4  </a:t>
                      </a: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170823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5D7BB008-E172-F732-96E6-C7A41C28807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56514" y="1741169"/>
              <a:ext cx="457200" cy="148336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457200">
                      <a:extLst>
                        <a:ext uri="{9D8B030D-6E8A-4147-A177-3AD203B41FA5}">
                          <a16:colId xmlns:a16="http://schemas.microsoft.com/office/drawing/2014/main" val="684091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43807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759175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081262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572393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EE8186CF-CF1A-DEC9-F341-52788B0289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5961242"/>
                  </p:ext>
                </p:extLst>
              </p:nvPr>
            </p:nvGraphicFramePr>
            <p:xfrm>
              <a:off x="5856514" y="1741169"/>
              <a:ext cx="457200" cy="148336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457200">
                      <a:extLst>
                        <a:ext uri="{9D8B030D-6E8A-4147-A177-3AD203B41FA5}">
                          <a16:colId xmlns:a16="http://schemas.microsoft.com/office/drawing/2014/main" val="684091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16" t="-1639" r="-2632" b="-3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3807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16" t="-101639" r="-2632" b="-2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59175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16" t="-201639" r="-2632" b="-1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81262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16" t="-301639" r="-2632" b="-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723936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65536BB1-AD9D-97ED-9A5E-2F5E0673C50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2000" y="4811486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4AE5A5F7-0498-C144-BAA1-0AF47DA794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0154510"/>
                  </p:ext>
                </p:extLst>
              </p:nvPr>
            </p:nvGraphicFramePr>
            <p:xfrm>
              <a:off x="762000" y="4811486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778" t="-1587" r="-302778" b="-12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2778" t="-1587" r="-202778" b="-12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2778" t="-1587" r="-102778" b="-12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2778" t="-1587" r="-2778" b="-126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DFAAF460-ACE8-97FC-319A-0D4B5A0F64E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2000" y="4430487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59E49174-D6EF-F3C4-5B43-E29FCA00B77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13220275"/>
                  </p:ext>
                </p:extLst>
              </p:nvPr>
            </p:nvGraphicFramePr>
            <p:xfrm>
              <a:off x="762000" y="4430487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778" t="-1563" r="-302778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2778" t="-1563" r="-202778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02778" t="-1563" r="-102778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02778" t="-1563" r="-2778" b="-1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6BFF9944-FA6B-24F1-DA54-CC60737A9AE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2000" y="4049488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CC29585A-AB99-026F-3B34-C23CB95535E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85874370"/>
                  </p:ext>
                </p:extLst>
              </p:nvPr>
            </p:nvGraphicFramePr>
            <p:xfrm>
              <a:off x="762000" y="4049488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778" t="-1587" r="-302778" b="-12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02778" t="-1587" r="-202778" b="-12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02778" t="-1587" r="-102778" b="-12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02778" t="-1587" r="-2778" b="-126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E68EE304-8816-D508-2D45-E546A67FAB5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2000" y="5192485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(4)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(4)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(4)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059239D0-D915-D480-E412-B9A226C44E4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0047858"/>
                  </p:ext>
                </p:extLst>
              </p:nvPr>
            </p:nvGraphicFramePr>
            <p:xfrm>
              <a:off x="762000" y="5192485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2778" t="-1563" r="-302778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102778" t="-1563" r="-202778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202778" t="-1563" r="-102778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302778" t="-1563" r="-2778" b="-1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69396CE8-9AEA-CCB0-97F9-46A36F62FD9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757057" y="1741169"/>
              <a:ext cx="457200" cy="148336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457200">
                      <a:extLst>
                        <a:ext uri="{9D8B030D-6E8A-4147-A177-3AD203B41FA5}">
                          <a16:colId xmlns:a16="http://schemas.microsoft.com/office/drawing/2014/main" val="684091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43807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759175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081262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572393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A81A6872-57DC-943E-0730-D3A01A0296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7590145"/>
                  </p:ext>
                </p:extLst>
              </p:nvPr>
            </p:nvGraphicFramePr>
            <p:xfrm>
              <a:off x="4757057" y="1741169"/>
              <a:ext cx="457200" cy="148336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457200">
                      <a:extLst>
                        <a:ext uri="{9D8B030D-6E8A-4147-A177-3AD203B41FA5}">
                          <a16:colId xmlns:a16="http://schemas.microsoft.com/office/drawing/2014/main" val="684091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1316" t="-1639" r="-2632" b="-3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3807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1316" t="-101639" r="-2632" b="-2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59175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1316" t="-201639" r="-2632" b="-1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81262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1316" t="-301639" r="-2632" b="-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723936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4F3D39CA-2BDC-CBBE-3140-790CC9FDD05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868884" y="1748087"/>
              <a:ext cx="457200" cy="148336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457200">
                      <a:extLst>
                        <a:ext uri="{9D8B030D-6E8A-4147-A177-3AD203B41FA5}">
                          <a16:colId xmlns:a16="http://schemas.microsoft.com/office/drawing/2014/main" val="684091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43807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759175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081262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572393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B38E5075-8E84-186B-61EB-F84CA7C32A5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2585537"/>
                  </p:ext>
                </p:extLst>
              </p:nvPr>
            </p:nvGraphicFramePr>
            <p:xfrm>
              <a:off x="6868884" y="1748087"/>
              <a:ext cx="457200" cy="148336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457200">
                      <a:extLst>
                        <a:ext uri="{9D8B030D-6E8A-4147-A177-3AD203B41FA5}">
                          <a16:colId xmlns:a16="http://schemas.microsoft.com/office/drawing/2014/main" val="684091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1316" t="-1639" r="-2632" b="-3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3807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1316" t="-100000" r="-2632" b="-2096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59175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1316" t="-203279" r="-2632" b="-113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81262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1316" t="-303279" r="-2632" b="-13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7239360"/>
                      </a:ext>
                    </a:extLst>
                  </a:tr>
                </a:tbl>
              </a:graphicData>
            </a:graphic>
          </p:graphicFrame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9594580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563B1-49F0-08E0-AC97-2FB90B552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060D3-A570-FB9C-AFB3-8D0228B5B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Training  </a:t>
            </a:r>
            <a:r>
              <a:rPr lang="zh-CN" altLang="en-US" dirty="0">
                <a:ea typeface="ＭＳ Ｐゴシック" panose="020B0600070205080204" pitchFamily="34" charset="-128"/>
              </a:rPr>
              <a:t>训练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0A8E3C-D960-5C45-5EB1-C2C3391A39F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</a:t>
            </a:r>
            <a:r>
              <a:rPr lang="en-US" altLang="zh-CN" sz="1400" dirty="0">
                <a:ea typeface="SimSun" panose="02010600030101010101" pitchFamily="2" charset="-122"/>
              </a:rPr>
              <a:t>Other Topic: Modern Paradigm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zh-CN" altLang="en-US" sz="1400" kern="0" dirty="0">
                <a:ea typeface="SimSun" panose="02010600030101010101" pitchFamily="2" charset="-122"/>
              </a:rPr>
              <a:t>番外：现代范式</a:t>
            </a:r>
            <a:endParaRPr lang="en-US" altLang="zh-CN" sz="1400" kern="0" dirty="0">
              <a:ea typeface="SimSun" panose="02010600030101010101" pitchFamily="2" charset="-122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A2C8E24-EF52-52E7-4703-2C019B97092C}"/>
              </a:ext>
            </a:extLst>
          </p:cNvPr>
          <p:cNvGraphicFramePr>
            <a:graphicFrameLocks noGrp="1"/>
          </p:cNvGraphicFramePr>
          <p:nvPr/>
        </p:nvGraphicFramePr>
        <p:xfrm>
          <a:off x="2743200" y="3429000"/>
          <a:ext cx="48768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153344507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37493183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04719812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516610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Film 1</a:t>
                      </a:r>
                    </a:p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电影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Film 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电影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Film 3</a:t>
                      </a:r>
                    </a:p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电影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6544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User 1   </a:t>
                      </a: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2521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User 2  </a:t>
                      </a: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478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User 3  </a:t>
                      </a: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419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User 4  </a:t>
                      </a: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170823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7903A31-C34D-7CC8-441F-D45A9C5A595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8250150"/>
                  </p:ext>
                </p:extLst>
              </p:nvPr>
            </p:nvGraphicFramePr>
            <p:xfrm>
              <a:off x="5856514" y="1741169"/>
              <a:ext cx="457200" cy="148336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457200">
                      <a:extLst>
                        <a:ext uri="{9D8B030D-6E8A-4147-A177-3AD203B41FA5}">
                          <a16:colId xmlns:a16="http://schemas.microsoft.com/office/drawing/2014/main" val="684091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3807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59175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81262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72393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7903A31-C34D-7CC8-441F-D45A9C5A595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8250150"/>
                  </p:ext>
                </p:extLst>
              </p:nvPr>
            </p:nvGraphicFramePr>
            <p:xfrm>
              <a:off x="5856514" y="1741169"/>
              <a:ext cx="457200" cy="148336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457200">
                      <a:extLst>
                        <a:ext uri="{9D8B030D-6E8A-4147-A177-3AD203B41FA5}">
                          <a16:colId xmlns:a16="http://schemas.microsoft.com/office/drawing/2014/main" val="684091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16" t="-1639" r="-2632" b="-3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3807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16" t="-101639" r="-2632" b="-2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59175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16" t="-201639" r="-2632" b="-1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81262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16" t="-301639" r="-2632" b="-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723936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F08B06A0-4FA3-63AF-3EA8-DCCB9B1CD7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7503462"/>
                  </p:ext>
                </p:extLst>
              </p:nvPr>
            </p:nvGraphicFramePr>
            <p:xfrm>
              <a:off x="762000" y="4811486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F08B06A0-4FA3-63AF-3EA8-DCCB9B1CD7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7503462"/>
                  </p:ext>
                </p:extLst>
              </p:nvPr>
            </p:nvGraphicFramePr>
            <p:xfrm>
              <a:off x="762000" y="4811486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778" t="-1587" r="-302778" b="-12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2778" t="-1587" r="-202778" b="-12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2778" t="-1587" r="-102778" b="-12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2778" t="-1587" r="-2778" b="-126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15EE1C7F-8E0F-07E8-A181-B038883B6D9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7653479"/>
                  </p:ext>
                </p:extLst>
              </p:nvPr>
            </p:nvGraphicFramePr>
            <p:xfrm>
              <a:off x="762000" y="4430487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15EE1C7F-8E0F-07E8-A181-B038883B6D9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7653479"/>
                  </p:ext>
                </p:extLst>
              </p:nvPr>
            </p:nvGraphicFramePr>
            <p:xfrm>
              <a:off x="762000" y="4430487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778" t="-1563" r="-302778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2778" t="-1563" r="-202778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02778" t="-1563" r="-102778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02778" t="-1563" r="-2778" b="-1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C64AD7A7-6375-09A5-3399-59838A04DCF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73991173"/>
                  </p:ext>
                </p:extLst>
              </p:nvPr>
            </p:nvGraphicFramePr>
            <p:xfrm>
              <a:off x="762000" y="4049488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C64AD7A7-6375-09A5-3399-59838A04DCF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73991173"/>
                  </p:ext>
                </p:extLst>
              </p:nvPr>
            </p:nvGraphicFramePr>
            <p:xfrm>
              <a:off x="762000" y="4049488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778" t="-1587" r="-302778" b="-12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02778" t="-1587" r="-202778" b="-12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02778" t="-1587" r="-102778" b="-12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02778" t="-1587" r="-2778" b="-126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02C7093C-C1B3-4AD2-9ADF-EC12A0F333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66563317"/>
                  </p:ext>
                </p:extLst>
              </p:nvPr>
            </p:nvGraphicFramePr>
            <p:xfrm>
              <a:off x="762000" y="5192485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(4)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(4)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(4)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02C7093C-C1B3-4AD2-9ADF-EC12A0F333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66563317"/>
                  </p:ext>
                </p:extLst>
              </p:nvPr>
            </p:nvGraphicFramePr>
            <p:xfrm>
              <a:off x="762000" y="5192485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2778" t="-1563" r="-302778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102778" t="-1563" r="-202778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202778" t="-1563" r="-102778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302778" t="-1563" r="-2778" b="-1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FE788A71-6F5A-51CF-AF7D-292EBE919A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633212"/>
                  </p:ext>
                </p:extLst>
              </p:nvPr>
            </p:nvGraphicFramePr>
            <p:xfrm>
              <a:off x="4757057" y="1741169"/>
              <a:ext cx="457200" cy="148336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457200">
                      <a:extLst>
                        <a:ext uri="{9D8B030D-6E8A-4147-A177-3AD203B41FA5}">
                          <a16:colId xmlns:a16="http://schemas.microsoft.com/office/drawing/2014/main" val="684091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3807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59175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81262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72393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FE788A71-6F5A-51CF-AF7D-292EBE919A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633212"/>
                  </p:ext>
                </p:extLst>
              </p:nvPr>
            </p:nvGraphicFramePr>
            <p:xfrm>
              <a:off x="4757057" y="1741169"/>
              <a:ext cx="457200" cy="148336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457200">
                      <a:extLst>
                        <a:ext uri="{9D8B030D-6E8A-4147-A177-3AD203B41FA5}">
                          <a16:colId xmlns:a16="http://schemas.microsoft.com/office/drawing/2014/main" val="684091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1316" t="-1639" r="-2632" b="-3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3807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1316" t="-101639" r="-2632" b="-2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59175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1316" t="-201639" r="-2632" b="-1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81262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1316" t="-301639" r="-2632" b="-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723936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0EAA119D-6AB2-3F42-658D-A079990123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8429595"/>
                  </p:ext>
                </p:extLst>
              </p:nvPr>
            </p:nvGraphicFramePr>
            <p:xfrm>
              <a:off x="6868884" y="1748087"/>
              <a:ext cx="457200" cy="148336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457200">
                      <a:extLst>
                        <a:ext uri="{9D8B030D-6E8A-4147-A177-3AD203B41FA5}">
                          <a16:colId xmlns:a16="http://schemas.microsoft.com/office/drawing/2014/main" val="684091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3807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59175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81262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72393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0EAA119D-6AB2-3F42-658D-A079990123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8429595"/>
                  </p:ext>
                </p:extLst>
              </p:nvPr>
            </p:nvGraphicFramePr>
            <p:xfrm>
              <a:off x="6868884" y="1748087"/>
              <a:ext cx="457200" cy="148336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457200">
                      <a:extLst>
                        <a:ext uri="{9D8B030D-6E8A-4147-A177-3AD203B41FA5}">
                          <a16:colId xmlns:a16="http://schemas.microsoft.com/office/drawing/2014/main" val="684091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1316" t="-1639" r="-2632" b="-3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3807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1316" t="-100000" r="-2632" b="-2096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59175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1316" t="-203279" r="-2632" b="-113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81262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1316" t="-303279" r="-2632" b="-13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723936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FBB16A0-3B08-B332-E163-CF6A4CB9AB23}"/>
                  </a:ext>
                </a:extLst>
              </p:cNvPr>
              <p:cNvSpPr txBox="1"/>
              <p:nvPr/>
            </p:nvSpPr>
            <p:spPr>
              <a:xfrm>
                <a:off x="685799" y="1905390"/>
                <a:ext cx="3516087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800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1800" b="0" dirty="0"/>
                  <a:t>-dimensional features learned automatically from the data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1800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维特征从数据中自动习得</a:t>
                </a:r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FBB16A0-3B08-B332-E163-CF6A4CB9AB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799" y="1905390"/>
                <a:ext cx="3516087" cy="923330"/>
              </a:xfrm>
              <a:prstGeom prst="rect">
                <a:avLst/>
              </a:prstGeom>
              <a:blipFill>
                <a:blip r:embed="rId11"/>
                <a:stretch>
                  <a:fillRect t="-3311" r="-3120" b="-7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1319671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E0CDA-59DB-ADFF-4DAF-8143BAEC7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BA05A-3EB8-0010-1867-DA4CD9935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Prediction  </a:t>
            </a:r>
            <a:r>
              <a:rPr lang="zh-CN" altLang="en-US" dirty="0">
                <a:ea typeface="ＭＳ Ｐゴシック" panose="020B0600070205080204" pitchFamily="34" charset="-128"/>
              </a:rPr>
              <a:t>预测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55446B-174E-7536-B4A9-27C24B2402C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</a:t>
            </a:r>
            <a:r>
              <a:rPr lang="en-US" altLang="zh-CN" sz="1400" dirty="0">
                <a:ea typeface="SimSun" panose="02010600030101010101" pitchFamily="2" charset="-122"/>
              </a:rPr>
              <a:t>Other Topic: Modern Paradigm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zh-CN" altLang="en-US" sz="1400" kern="0" dirty="0">
                <a:ea typeface="SimSun" panose="02010600030101010101" pitchFamily="2" charset="-122"/>
              </a:rPr>
              <a:t>番外：现代范式</a:t>
            </a:r>
            <a:endParaRPr lang="en-US" altLang="zh-CN" sz="1400" kern="0" dirty="0">
              <a:ea typeface="SimSun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33921449-1E63-A958-F2F6-1610B7F3D1E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56514" y="1741169"/>
              <a:ext cx="457200" cy="148336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457200">
                      <a:extLst>
                        <a:ext uri="{9D8B030D-6E8A-4147-A177-3AD203B41FA5}">
                          <a16:colId xmlns:a16="http://schemas.microsoft.com/office/drawing/2014/main" val="684091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3807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59175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81262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72393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33921449-1E63-A958-F2F6-1610B7F3D1E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56514" y="1741169"/>
              <a:ext cx="457200" cy="148336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457200">
                      <a:extLst>
                        <a:ext uri="{9D8B030D-6E8A-4147-A177-3AD203B41FA5}">
                          <a16:colId xmlns:a16="http://schemas.microsoft.com/office/drawing/2014/main" val="684091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16" t="-1639" r="-2632" b="-3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3807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16" t="-101639" r="-2632" b="-2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59175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16" t="-201639" r="-2632" b="-1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81262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16" t="-301639" r="-2632" b="-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723936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19509F77-8CF0-B88B-15A1-EF3ECB07692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2000" y="4811486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19509F77-8CF0-B88B-15A1-EF3ECB07692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2000" y="4811486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778" t="-1587" r="-302778" b="-12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2778" t="-1587" r="-202778" b="-12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2778" t="-1587" r="-102778" b="-12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2778" t="-1587" r="-2778" b="-126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F4A1A916-D6FC-B4FA-6862-0EC33B826EE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2000" y="4430487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F4A1A916-D6FC-B4FA-6862-0EC33B826EE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2000" y="4430487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778" t="-1563" r="-302778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2778" t="-1563" r="-202778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02778" t="-1563" r="-102778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02778" t="-1563" r="-2778" b="-1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1C0E3439-8274-3F4E-942A-2C6BB30B7F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47306228"/>
                  </p:ext>
                </p:extLst>
              </p:nvPr>
            </p:nvGraphicFramePr>
            <p:xfrm>
              <a:off x="762000" y="4049488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1C0E3439-8274-3F4E-942A-2C6BB30B7F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47306228"/>
                  </p:ext>
                </p:extLst>
              </p:nvPr>
            </p:nvGraphicFramePr>
            <p:xfrm>
              <a:off x="762000" y="4049488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778" t="-1587" r="-302778" b="-12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02778" t="-1587" r="-202778" b="-12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02778" t="-1587" r="-102778" b="-12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02778" t="-1587" r="-2778" b="-126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70A70720-E3B5-7FD3-469C-8970E4B7E69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2000" y="5192485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(4)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(4)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(4)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70A70720-E3B5-7FD3-469C-8970E4B7E69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2000" y="5192485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2778" t="-1563" r="-302778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102778" t="-1563" r="-202778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202778" t="-1563" r="-102778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302778" t="-1563" r="-2778" b="-1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4C465215-6192-4B46-A348-61582598553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757057" y="1741169"/>
              <a:ext cx="457200" cy="148336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457200">
                      <a:extLst>
                        <a:ext uri="{9D8B030D-6E8A-4147-A177-3AD203B41FA5}">
                          <a16:colId xmlns:a16="http://schemas.microsoft.com/office/drawing/2014/main" val="684091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3807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59175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81262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72393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4C465215-6192-4B46-A348-61582598553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757057" y="1741169"/>
              <a:ext cx="457200" cy="148336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457200">
                      <a:extLst>
                        <a:ext uri="{9D8B030D-6E8A-4147-A177-3AD203B41FA5}">
                          <a16:colId xmlns:a16="http://schemas.microsoft.com/office/drawing/2014/main" val="684091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1316" t="-1639" r="-2632" b="-3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3807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1316" t="-101639" r="-2632" b="-2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59175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1316" t="-201639" r="-2632" b="-1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81262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1316" t="-301639" r="-2632" b="-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723936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D421A28C-808C-DEF4-0CB8-7F28C7B3F07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42563809"/>
                  </p:ext>
                </p:extLst>
              </p:nvPr>
            </p:nvGraphicFramePr>
            <p:xfrm>
              <a:off x="6868884" y="1748087"/>
              <a:ext cx="457200" cy="148336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457200">
                      <a:extLst>
                        <a:ext uri="{9D8B030D-6E8A-4147-A177-3AD203B41FA5}">
                          <a16:colId xmlns:a16="http://schemas.microsoft.com/office/drawing/2014/main" val="684091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3807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59175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81262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72393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D421A28C-808C-DEF4-0CB8-7F28C7B3F07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42563809"/>
                  </p:ext>
                </p:extLst>
              </p:nvPr>
            </p:nvGraphicFramePr>
            <p:xfrm>
              <a:off x="6868884" y="1748087"/>
              <a:ext cx="457200" cy="148336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457200">
                      <a:extLst>
                        <a:ext uri="{9D8B030D-6E8A-4147-A177-3AD203B41FA5}">
                          <a16:colId xmlns:a16="http://schemas.microsoft.com/office/drawing/2014/main" val="684091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1316" t="-1639" r="-2632" b="-3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3807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1316" t="-100000" r="-2632" b="-2096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59175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1316" t="-203279" r="-2632" b="-113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81262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1316" t="-303279" r="-2632" b="-13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723936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1FAECDE-7C56-83E1-9D65-7BCEFDCC7802}"/>
                  </a:ext>
                </a:extLst>
              </p:cNvPr>
              <p:cNvSpPr txBox="1"/>
              <p:nvPr/>
            </p:nvSpPr>
            <p:spPr>
              <a:xfrm>
                <a:off x="1981200" y="5678780"/>
                <a:ext cx="6705600" cy="4385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1,3</m:t>
                          </m:r>
                        </m:sub>
                      </m:sSub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1FAECDE-7C56-83E1-9D65-7BCEFDCC7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5678780"/>
                <a:ext cx="6705600" cy="438518"/>
              </a:xfrm>
              <a:prstGeom prst="rect">
                <a:avLst/>
              </a:prstGeom>
              <a:blipFill>
                <a:blip r:embed="rId11"/>
                <a:stretch>
                  <a:fillRect b="-42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76215F6-681D-FA3B-E294-B2C8B97D83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7835631"/>
              </p:ext>
            </p:extLst>
          </p:nvPr>
        </p:nvGraphicFramePr>
        <p:xfrm>
          <a:off x="2743200" y="3429000"/>
          <a:ext cx="48768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153344507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37493183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04719812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516610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Film 1</a:t>
                      </a:r>
                    </a:p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电影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Film 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电影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Film 3</a:t>
                      </a:r>
                    </a:p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电影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6544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User 1   </a:t>
                      </a: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?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2521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User 2  </a:t>
                      </a: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0478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User 3  </a:t>
                      </a: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419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User 4  </a:t>
                      </a: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170823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384864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1975F-2C91-9365-A987-09E2646DB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42496-547E-C273-6578-0D4BFFBF4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Prediction  </a:t>
            </a:r>
            <a:r>
              <a:rPr lang="zh-CN" altLang="en-US" dirty="0">
                <a:ea typeface="ＭＳ Ｐゴシック" panose="020B0600070205080204" pitchFamily="34" charset="-128"/>
              </a:rPr>
              <a:t>预测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230B4-4F64-A10F-DC4E-948BF553258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</a:t>
            </a:r>
            <a:r>
              <a:rPr lang="en-US" altLang="zh-CN" sz="1400" dirty="0">
                <a:ea typeface="SimSun" panose="02010600030101010101" pitchFamily="2" charset="-122"/>
              </a:rPr>
              <a:t>Other Topic: Modern Paradigm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zh-CN" altLang="en-US" sz="1400" kern="0" dirty="0">
                <a:ea typeface="SimSun" panose="02010600030101010101" pitchFamily="2" charset="-122"/>
              </a:rPr>
              <a:t>番外：现代范式</a:t>
            </a:r>
            <a:endParaRPr lang="en-US" altLang="zh-CN" sz="1400" kern="0" dirty="0">
              <a:ea typeface="SimSun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4BBC12ED-26CE-BD01-CBF5-69FD51A8D64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60522694"/>
                  </p:ext>
                </p:extLst>
              </p:nvPr>
            </p:nvGraphicFramePr>
            <p:xfrm>
              <a:off x="5856514" y="1741169"/>
              <a:ext cx="457200" cy="148336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457200">
                      <a:extLst>
                        <a:ext uri="{9D8B030D-6E8A-4147-A177-3AD203B41FA5}">
                          <a16:colId xmlns:a16="http://schemas.microsoft.com/office/drawing/2014/main" val="684091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3807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59175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81262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72393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4BBC12ED-26CE-BD01-CBF5-69FD51A8D64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60522694"/>
                  </p:ext>
                </p:extLst>
              </p:nvPr>
            </p:nvGraphicFramePr>
            <p:xfrm>
              <a:off x="5856514" y="1741169"/>
              <a:ext cx="457200" cy="148336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457200">
                      <a:extLst>
                        <a:ext uri="{9D8B030D-6E8A-4147-A177-3AD203B41FA5}">
                          <a16:colId xmlns:a16="http://schemas.microsoft.com/office/drawing/2014/main" val="684091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16" t="-1639" r="-2632" b="-3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3807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16" t="-101639" r="-2632" b="-2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59175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16" t="-201639" r="-2632" b="-1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81262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16" t="-301639" r="-2632" b="-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723936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D5331E3D-F8A4-F2B6-3B73-FC5144CD681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2000" y="4811486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D5331E3D-F8A4-F2B6-3B73-FC5144CD681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2000" y="4811486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778" t="-1587" r="-302778" b="-12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2778" t="-1587" r="-202778" b="-12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2778" t="-1587" r="-102778" b="-12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2778" t="-1587" r="-2778" b="-126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C1727028-04B7-F2E6-D4E5-57240DFC253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2000" y="4430487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C1727028-04B7-F2E6-D4E5-57240DFC253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2000" y="4430487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778" t="-1563" r="-302778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2778" t="-1563" r="-202778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02778" t="-1563" r="-102778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02778" t="-1563" r="-2778" b="-1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7EDB82C3-C001-34CE-07B6-4DCF26FAF57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69500752"/>
                  </p:ext>
                </p:extLst>
              </p:nvPr>
            </p:nvGraphicFramePr>
            <p:xfrm>
              <a:off x="762000" y="4049488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7EDB82C3-C001-34CE-07B6-4DCF26FAF57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69500752"/>
                  </p:ext>
                </p:extLst>
              </p:nvPr>
            </p:nvGraphicFramePr>
            <p:xfrm>
              <a:off x="762000" y="4049488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778" t="-1587" r="-302778" b="-12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02778" t="-1587" r="-202778" b="-12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02778" t="-1587" r="-102778" b="-12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02778" t="-1587" r="-2778" b="-126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2583F69D-1D53-A4B6-B100-F86DE640E9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3153613"/>
                  </p:ext>
                </p:extLst>
              </p:nvPr>
            </p:nvGraphicFramePr>
            <p:xfrm>
              <a:off x="762000" y="5192485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(4)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(4)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(4)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2583F69D-1D53-A4B6-B100-F86DE640E9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3153613"/>
                  </p:ext>
                </p:extLst>
              </p:nvPr>
            </p:nvGraphicFramePr>
            <p:xfrm>
              <a:off x="762000" y="5192485"/>
              <a:ext cx="1752600" cy="38099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8150">
                      <a:extLst>
                        <a:ext uri="{9D8B030D-6E8A-4147-A177-3AD203B41FA5}">
                          <a16:colId xmlns:a16="http://schemas.microsoft.com/office/drawing/2014/main" val="1903460651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385028216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2693874787"/>
                        </a:ext>
                      </a:extLst>
                    </a:gridCol>
                    <a:gridCol w="438150">
                      <a:extLst>
                        <a:ext uri="{9D8B030D-6E8A-4147-A177-3AD203B41FA5}">
                          <a16:colId xmlns:a16="http://schemas.microsoft.com/office/drawing/2014/main" val="3566536743"/>
                        </a:ext>
                      </a:extLst>
                    </a:gridCol>
                  </a:tblGrid>
                  <a:tr h="3809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2778" t="-1563" r="-302778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102778" t="-1563" r="-202778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202778" t="-1563" r="-102778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302778" t="-1563" r="-2778" b="-1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803880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DAAA5806-555C-8C39-F6E7-FDB39C5A26C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757057" y="1741169"/>
              <a:ext cx="457200" cy="148336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457200">
                      <a:extLst>
                        <a:ext uri="{9D8B030D-6E8A-4147-A177-3AD203B41FA5}">
                          <a16:colId xmlns:a16="http://schemas.microsoft.com/office/drawing/2014/main" val="684091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3807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59175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81262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72393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DAAA5806-555C-8C39-F6E7-FDB39C5A26C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757057" y="1741169"/>
              <a:ext cx="457200" cy="148336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457200">
                      <a:extLst>
                        <a:ext uri="{9D8B030D-6E8A-4147-A177-3AD203B41FA5}">
                          <a16:colId xmlns:a16="http://schemas.microsoft.com/office/drawing/2014/main" val="684091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1316" t="-1639" r="-2632" b="-3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3807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1316" t="-101639" r="-2632" b="-2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59175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1316" t="-201639" r="-2632" b="-1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81262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1316" t="-301639" r="-2632" b="-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723936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D9DB160C-1967-5777-480A-E757FDCA9D4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6093183"/>
                  </p:ext>
                </p:extLst>
              </p:nvPr>
            </p:nvGraphicFramePr>
            <p:xfrm>
              <a:off x="6868884" y="1748087"/>
              <a:ext cx="457200" cy="148336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457200">
                      <a:extLst>
                        <a:ext uri="{9D8B030D-6E8A-4147-A177-3AD203B41FA5}">
                          <a16:colId xmlns:a16="http://schemas.microsoft.com/office/drawing/2014/main" val="684091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3807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59175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81262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7F5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72393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D9DB160C-1967-5777-480A-E757FDCA9D4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6093183"/>
                  </p:ext>
                </p:extLst>
              </p:nvPr>
            </p:nvGraphicFramePr>
            <p:xfrm>
              <a:off x="6868884" y="1748087"/>
              <a:ext cx="457200" cy="148336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457200">
                      <a:extLst>
                        <a:ext uri="{9D8B030D-6E8A-4147-A177-3AD203B41FA5}">
                          <a16:colId xmlns:a16="http://schemas.microsoft.com/office/drawing/2014/main" val="684091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1316" t="-1639" r="-2632" b="-3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3807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1316" t="-100000" r="-2632" b="-2096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59175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1316" t="-203279" r="-2632" b="-113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81262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1316" t="-303279" r="-2632" b="-13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723936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7C58563-AF7C-048A-86B0-9B1C3238227C}"/>
                  </a:ext>
                </a:extLst>
              </p:cNvPr>
              <p:cNvSpPr txBox="1"/>
              <p:nvPr/>
            </p:nvSpPr>
            <p:spPr>
              <a:xfrm>
                <a:off x="1981200" y="5678780"/>
                <a:ext cx="6705600" cy="4385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4,2</m:t>
                          </m:r>
                        </m:sub>
                      </m:sSub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7C58563-AF7C-048A-86B0-9B1C323822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5678780"/>
                <a:ext cx="6705600" cy="438518"/>
              </a:xfrm>
              <a:prstGeom prst="rect">
                <a:avLst/>
              </a:prstGeom>
              <a:blipFill>
                <a:blip r:embed="rId11"/>
                <a:stretch>
                  <a:fillRect b="-42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5FE424C-367E-58D5-9B33-55AEF83A3F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4831001"/>
              </p:ext>
            </p:extLst>
          </p:nvPr>
        </p:nvGraphicFramePr>
        <p:xfrm>
          <a:off x="2743200" y="3429000"/>
          <a:ext cx="48768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153344507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37493183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04719812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516610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Film 1</a:t>
                      </a:r>
                    </a:p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电影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Film 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电影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Film 3</a:t>
                      </a:r>
                    </a:p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电影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6544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User 1   </a:t>
                      </a: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2521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User 2  </a:t>
                      </a: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0478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User 3  </a:t>
                      </a: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419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User 4  </a:t>
                      </a: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?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170823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578533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3F41C-F949-0149-A925-680EC6F3A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406DA-3693-8646-B73A-53828C3BF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Learning Residual  </a:t>
            </a:r>
            <a:r>
              <a:rPr lang="zh-CN" altLang="en-US" dirty="0"/>
              <a:t>学习残差 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52855-AED2-6942-D5CD-5CFBC2809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5100638"/>
          </a:xfrm>
        </p:spPr>
        <p:txBody>
          <a:bodyPr>
            <a:normAutofit lnSpcReduction="10000"/>
          </a:bodyPr>
          <a:lstStyle/>
          <a:p>
            <a:pPr>
              <a:spcBef>
                <a:spcPts val="500"/>
              </a:spcBef>
            </a:pPr>
            <a:r>
              <a:rPr lang="en-US" altLang="zh-CN" dirty="0"/>
              <a:t>In CNN for USPS Dataset         </a:t>
            </a:r>
            <a:r>
              <a:rPr lang="zh-CN" altLang="en-US" dirty="0"/>
              <a:t>用于</a:t>
            </a:r>
            <a:r>
              <a:rPr lang="en-US" altLang="zh-CN" dirty="0"/>
              <a:t>USPS</a:t>
            </a:r>
            <a:r>
              <a:rPr lang="zh-CN" altLang="en-US" dirty="0"/>
              <a:t>数据集的卷积神经网络</a:t>
            </a:r>
            <a:endParaRPr lang="en-US" altLang="zh-CN" dirty="0"/>
          </a:p>
          <a:p>
            <a:pPr lvl="1">
              <a:spcBef>
                <a:spcPts val="250"/>
              </a:spcBef>
            </a:pPr>
            <a:r>
              <a:rPr lang="en-US" altLang="zh-CN" dirty="0"/>
              <a:t>1</a:t>
            </a:r>
            <a:r>
              <a:rPr lang="en-US" altLang="zh-CN" baseline="30000" dirty="0"/>
              <a:t>st</a:t>
            </a:r>
            <a:r>
              <a:rPr lang="en-US" altLang="zh-CN" dirty="0"/>
              <a:t> layer: strokes composed of local patterns  </a:t>
            </a:r>
            <a:r>
              <a:rPr lang="zh-CN" altLang="en-US" dirty="0"/>
              <a:t>第一层：局部模式构成的笔画</a:t>
            </a:r>
            <a:endParaRPr lang="en-US" altLang="zh-CN" dirty="0"/>
          </a:p>
          <a:p>
            <a:pPr lvl="1">
              <a:spcBef>
                <a:spcPts val="250"/>
              </a:spcBef>
            </a:pPr>
            <a:r>
              <a:rPr lang="en-US" altLang="zh-CN" dirty="0"/>
              <a:t>2</a:t>
            </a:r>
            <a:r>
              <a:rPr lang="en-US" altLang="zh-CN" baseline="30000" dirty="0"/>
              <a:t>nd</a:t>
            </a:r>
            <a:r>
              <a:rPr lang="en-US" altLang="zh-CN" dirty="0"/>
              <a:t> layer: high-level patterns constructed from local patterns           </a:t>
            </a:r>
            <a:r>
              <a:rPr lang="zh-CN" altLang="en-US" dirty="0"/>
              <a:t>第二层：局部模式构建而成的高层次模式</a:t>
            </a:r>
            <a:endParaRPr lang="en-US" altLang="zh-CN" dirty="0"/>
          </a:p>
          <a:p>
            <a:pPr>
              <a:spcBef>
                <a:spcPts val="500"/>
              </a:spcBef>
            </a:pPr>
            <a:r>
              <a:rPr lang="en-US" altLang="zh-CN" dirty="0"/>
              <a:t>Residual Network  </a:t>
            </a:r>
            <a:r>
              <a:rPr lang="zh-CN" altLang="en-US" dirty="0"/>
              <a:t>残差网络</a:t>
            </a:r>
            <a:endParaRPr lang="en-US" altLang="zh-CN" dirty="0"/>
          </a:p>
          <a:p>
            <a:pPr lvl="1">
              <a:spcBef>
                <a:spcPts val="250"/>
              </a:spcBef>
            </a:pPr>
            <a:r>
              <a:rPr lang="en-US" altLang="zh-CN" dirty="0"/>
              <a:t>Not explicitly discriminating high-level or low-level features  </a:t>
            </a:r>
            <a:r>
              <a:rPr lang="zh-CN" altLang="en-US" dirty="0"/>
              <a:t>不明确区分高低层次和低层次特征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5E5ED5-B6D9-5BA3-3238-0C10A71DAF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</a:t>
            </a:r>
            <a:r>
              <a:rPr lang="en-US" altLang="zh-CN" sz="1400" dirty="0">
                <a:ea typeface="SimSun" panose="02010600030101010101" pitchFamily="2" charset="-122"/>
              </a:rPr>
              <a:t>Other Topic: Modern Paradigm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zh-CN" altLang="en-US" sz="1400" kern="0" dirty="0">
                <a:ea typeface="SimSun" panose="02010600030101010101" pitchFamily="2" charset="-122"/>
              </a:rPr>
              <a:t>番外：现代范式</a:t>
            </a:r>
            <a:endParaRPr lang="en-US" altLang="zh-CN" sz="1400" kern="0" dirty="0">
              <a:ea typeface="SimSun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09465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7D606-7BC4-27F4-7AD2-EAFF261E4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06446-5260-8610-BF5B-22B1B959C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Learning Residual  </a:t>
            </a:r>
            <a:r>
              <a:rPr lang="zh-CN" altLang="en-US" dirty="0"/>
              <a:t>学习残差 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9873F-6E11-826A-738E-7D852AD1E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5100638"/>
          </a:xfrm>
        </p:spPr>
        <p:txBody>
          <a:bodyPr>
            <a:normAutofit/>
          </a:bodyPr>
          <a:lstStyle/>
          <a:p>
            <a:r>
              <a:rPr lang="en-US" altLang="zh-CN" dirty="0"/>
              <a:t>Learning Residual  </a:t>
            </a:r>
            <a:r>
              <a:rPr lang="zh-CN" altLang="en-US" dirty="0"/>
              <a:t>学习残差</a:t>
            </a:r>
            <a:endParaRPr lang="en-US" altLang="zh-CN" dirty="0"/>
          </a:p>
          <a:p>
            <a:pPr lvl="1"/>
            <a:r>
              <a:rPr lang="en-US" altLang="zh-CN" dirty="0"/>
              <a:t>Each layer: iteratively update the high dimensional features                             </a:t>
            </a:r>
            <a:r>
              <a:rPr lang="zh-CN" altLang="en-US" dirty="0"/>
              <a:t>每一层：递进地更新高维特征</a:t>
            </a:r>
            <a:endParaRPr lang="en-US" altLang="zh-CN" dirty="0"/>
          </a:p>
          <a:p>
            <a:pPr lvl="2"/>
            <a:r>
              <a:rPr lang="en-US" altLang="zh-CN" dirty="0"/>
              <a:t>Modify existing feature values                    </a:t>
            </a:r>
            <a:r>
              <a:rPr lang="zh-CN" altLang="en-US" dirty="0"/>
              <a:t>更改已有的特征属性值</a:t>
            </a:r>
            <a:endParaRPr lang="en-US" altLang="zh-CN" dirty="0"/>
          </a:p>
          <a:p>
            <a:pPr lvl="2"/>
            <a:r>
              <a:rPr lang="en-US" altLang="zh-CN" dirty="0"/>
              <a:t>Create new features  </a:t>
            </a:r>
            <a:r>
              <a:rPr lang="zh-CN" altLang="en-US" dirty="0"/>
              <a:t>构建新的特征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92BF92-3E08-05E3-C5FE-3D0B8B06A35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</a:t>
            </a:r>
            <a:r>
              <a:rPr lang="en-US" altLang="zh-CN" sz="1400" dirty="0">
                <a:ea typeface="SimSun" panose="02010600030101010101" pitchFamily="2" charset="-122"/>
              </a:rPr>
              <a:t>Other Topic: Modern Paradigm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zh-CN" altLang="en-US" sz="1400" kern="0" dirty="0">
                <a:ea typeface="SimSun" panose="02010600030101010101" pitchFamily="2" charset="-122"/>
              </a:rPr>
              <a:t>番外：现代范式</a:t>
            </a:r>
            <a:endParaRPr lang="en-US" altLang="zh-CN" sz="1400" kern="0" dirty="0">
              <a:ea typeface="SimSun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65281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D781A-5ED3-8935-2DE8-5A9313BB7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3B262-3CA3-75F4-5D09-19E1286FE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Residual Network  </a:t>
            </a:r>
            <a:r>
              <a:rPr lang="zh-CN" altLang="en-US" dirty="0">
                <a:ea typeface="ＭＳ Ｐゴシック" panose="020B0600070205080204" pitchFamily="34" charset="-128"/>
              </a:rPr>
              <a:t>残差网络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EED760-1E88-67F0-C470-184A42B783E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</a:t>
            </a:r>
            <a:r>
              <a:rPr lang="en-US" altLang="zh-CN" sz="1400" dirty="0">
                <a:ea typeface="SimSun" panose="02010600030101010101" pitchFamily="2" charset="-122"/>
              </a:rPr>
              <a:t>Other Topic: Modern Paradigm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zh-CN" altLang="en-US" sz="1400" kern="0" dirty="0">
                <a:ea typeface="SimSun" panose="02010600030101010101" pitchFamily="2" charset="-122"/>
              </a:rPr>
              <a:t>番外：现代范式</a:t>
            </a:r>
            <a:endParaRPr lang="en-US" altLang="zh-CN" sz="1400" kern="0" dirty="0">
              <a:ea typeface="SimSun" panose="02010600030101010101" pitchFamily="2" charset="-122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8BDBA52-10B0-2CD9-2CFB-00383AE34F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042257"/>
              </p:ext>
            </p:extLst>
          </p:nvPr>
        </p:nvGraphicFramePr>
        <p:xfrm>
          <a:off x="799285" y="2274352"/>
          <a:ext cx="685800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6886835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solidFill>
                            <a:schemeClr val="tx1"/>
                          </a:solidFill>
                        </a:rPr>
                        <a:t>我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209372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来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610151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举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67994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一个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079301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例子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25129747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E939C96-E0DE-C211-5D0C-A92E74587059}"/>
              </a:ext>
            </a:extLst>
          </p:cNvPr>
          <p:cNvSpPr txBox="1"/>
          <p:nvPr/>
        </p:nvSpPr>
        <p:spPr>
          <a:xfrm>
            <a:off x="2667000" y="1644134"/>
            <a:ext cx="35160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dirty="0"/>
              <a:t>Text processin</a:t>
            </a:r>
            <a:r>
              <a:rPr lang="en-US" altLang="zh-CN" dirty="0"/>
              <a:t>g  </a:t>
            </a:r>
            <a:r>
              <a:rPr lang="zh-CN" altLang="en-US" b="0" dirty="0"/>
              <a:t>句子处理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0AE10D5-866D-BF82-9514-3639C8167F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4127243"/>
              </p:ext>
            </p:extLst>
          </p:nvPr>
        </p:nvGraphicFramePr>
        <p:xfrm>
          <a:off x="1637485" y="2285006"/>
          <a:ext cx="1371600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34248753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970927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56794787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41663679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69255547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11806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4B6A50D-9811-9B79-F6DB-A3A9153BC9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6505737"/>
              </p:ext>
            </p:extLst>
          </p:nvPr>
        </p:nvGraphicFramePr>
        <p:xfrm>
          <a:off x="1637485" y="2644698"/>
          <a:ext cx="1371600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34248753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970927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56794787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41663679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69255547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11806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0A78A25-6E35-0B65-3BFF-D0EB5ABA8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8312733"/>
              </p:ext>
            </p:extLst>
          </p:nvPr>
        </p:nvGraphicFramePr>
        <p:xfrm>
          <a:off x="1635820" y="3006369"/>
          <a:ext cx="1371600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34248753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970927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56794787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41663679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69255547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118066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16B5A10-E1F4-4543-85EB-1FF7CAF211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8518247"/>
              </p:ext>
            </p:extLst>
          </p:nvPr>
        </p:nvGraphicFramePr>
        <p:xfrm>
          <a:off x="1626526" y="3378075"/>
          <a:ext cx="1371600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34248753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970927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56794787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41663679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69255547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118066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37609C2-87B3-0280-C837-526763CD60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427922"/>
              </p:ext>
            </p:extLst>
          </p:nvPr>
        </p:nvGraphicFramePr>
        <p:xfrm>
          <a:off x="1626526" y="3744951"/>
          <a:ext cx="1371600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34248753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970927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56794787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41663679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69255547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F5E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11806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BCB812B-8C57-D63F-2EE2-5C6130DD95C9}"/>
              </a:ext>
            </a:extLst>
          </p:cNvPr>
          <p:cNvSpPr txBox="1"/>
          <p:nvPr/>
        </p:nvSpPr>
        <p:spPr>
          <a:xfrm>
            <a:off x="1322559" y="4220822"/>
            <a:ext cx="197953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dirty="0"/>
              <a:t>Initial feature representation from a table</a:t>
            </a:r>
            <a:r>
              <a:rPr lang="en-US" altLang="zh-CN" dirty="0"/>
              <a:t>  </a:t>
            </a:r>
          </a:p>
          <a:p>
            <a:pPr algn="ctr"/>
            <a:r>
              <a:rPr lang="zh-CN" altLang="en-US" b="0" dirty="0"/>
              <a:t>初始特征表示来自一张表格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9AED8DE-C302-A311-DC12-88A83ABE348F}"/>
              </a:ext>
            </a:extLst>
          </p:cNvPr>
          <p:cNvCxnSpPr>
            <a:cxnSpLocks/>
            <a:stCxn id="8" idx="3"/>
          </p:cNvCxnSpPr>
          <p:nvPr/>
        </p:nvCxnSpPr>
        <p:spPr bwMode="auto">
          <a:xfrm>
            <a:off x="3009085" y="2414546"/>
            <a:ext cx="5334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26471B9-9FCD-A69A-1288-84036F096118}"/>
              </a:ext>
            </a:extLst>
          </p:cNvPr>
          <p:cNvCxnSpPr>
            <a:cxnSpLocks/>
            <a:stCxn id="9" idx="3"/>
          </p:cNvCxnSpPr>
          <p:nvPr/>
        </p:nvCxnSpPr>
        <p:spPr bwMode="auto">
          <a:xfrm flipV="1">
            <a:off x="3009085" y="2768547"/>
            <a:ext cx="457200" cy="569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4BEB5ED-DB93-08BF-4D63-3D314F49BE61}"/>
              </a:ext>
            </a:extLst>
          </p:cNvPr>
          <p:cNvCxnSpPr>
            <a:cxnSpLocks/>
            <a:stCxn id="10" idx="3"/>
          </p:cNvCxnSpPr>
          <p:nvPr/>
        </p:nvCxnSpPr>
        <p:spPr bwMode="auto">
          <a:xfrm>
            <a:off x="3007420" y="3135909"/>
            <a:ext cx="382665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81E7146-443B-960A-D8B5-F830472D755E}"/>
              </a:ext>
            </a:extLst>
          </p:cNvPr>
          <p:cNvCxnSpPr>
            <a:cxnSpLocks/>
            <a:stCxn id="11" idx="3"/>
          </p:cNvCxnSpPr>
          <p:nvPr/>
        </p:nvCxnSpPr>
        <p:spPr bwMode="auto">
          <a:xfrm>
            <a:off x="2998126" y="3507615"/>
            <a:ext cx="30396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5F0D513-BC9B-6D63-5B2D-1C802CCBFF43}"/>
              </a:ext>
            </a:extLst>
          </p:cNvPr>
          <p:cNvCxnSpPr>
            <a:cxnSpLocks/>
            <a:stCxn id="12" idx="3"/>
          </p:cNvCxnSpPr>
          <p:nvPr/>
        </p:nvCxnSpPr>
        <p:spPr bwMode="auto">
          <a:xfrm>
            <a:off x="2998126" y="3874491"/>
            <a:ext cx="239559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A0B2FE6-CAEA-A699-308E-02ECBF8F18AA}"/>
              </a:ext>
            </a:extLst>
          </p:cNvPr>
          <p:cNvCxnSpPr/>
          <p:nvPr/>
        </p:nvCxnSpPr>
        <p:spPr bwMode="auto">
          <a:xfrm>
            <a:off x="3237685" y="3874491"/>
            <a:ext cx="0" cy="130710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6F076E1-7B1D-C3B6-3C20-62F7F1703632}"/>
              </a:ext>
            </a:extLst>
          </p:cNvPr>
          <p:cNvCxnSpPr>
            <a:cxnSpLocks/>
          </p:cNvCxnSpPr>
          <p:nvPr/>
        </p:nvCxnSpPr>
        <p:spPr bwMode="auto">
          <a:xfrm flipH="1">
            <a:off x="3301185" y="3507615"/>
            <a:ext cx="908" cy="157873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C18043E-CEB2-002F-9E81-49B9F5D9A0D0}"/>
              </a:ext>
            </a:extLst>
          </p:cNvPr>
          <p:cNvCxnSpPr>
            <a:cxnSpLocks/>
          </p:cNvCxnSpPr>
          <p:nvPr/>
        </p:nvCxnSpPr>
        <p:spPr bwMode="auto">
          <a:xfrm>
            <a:off x="3390085" y="3128238"/>
            <a:ext cx="0" cy="183124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72FFBBC-172B-9959-FE40-B689A86B32C6}"/>
              </a:ext>
            </a:extLst>
          </p:cNvPr>
          <p:cNvCxnSpPr>
            <a:cxnSpLocks/>
          </p:cNvCxnSpPr>
          <p:nvPr/>
        </p:nvCxnSpPr>
        <p:spPr bwMode="auto">
          <a:xfrm>
            <a:off x="3466285" y="2768547"/>
            <a:ext cx="0" cy="207245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966FD01-6ACC-4C61-7638-49A05AB7BDA0}"/>
              </a:ext>
            </a:extLst>
          </p:cNvPr>
          <p:cNvCxnSpPr>
            <a:cxnSpLocks/>
          </p:cNvCxnSpPr>
          <p:nvPr/>
        </p:nvCxnSpPr>
        <p:spPr bwMode="auto">
          <a:xfrm flipH="1">
            <a:off x="3535757" y="2414546"/>
            <a:ext cx="6728" cy="233494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4019B6A-59D8-C7D1-7928-C3ADA6A9019E}"/>
              </a:ext>
            </a:extLst>
          </p:cNvPr>
          <p:cNvCxnSpPr>
            <a:cxnSpLocks/>
          </p:cNvCxnSpPr>
          <p:nvPr/>
        </p:nvCxnSpPr>
        <p:spPr bwMode="auto">
          <a:xfrm>
            <a:off x="3237685" y="5181600"/>
            <a:ext cx="5334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B3BAB5A-1D84-1BB4-42E0-0C2A33B058BB}"/>
              </a:ext>
            </a:extLst>
          </p:cNvPr>
          <p:cNvCxnSpPr>
            <a:cxnSpLocks/>
          </p:cNvCxnSpPr>
          <p:nvPr/>
        </p:nvCxnSpPr>
        <p:spPr bwMode="auto">
          <a:xfrm flipV="1">
            <a:off x="3306265" y="5069617"/>
            <a:ext cx="457200" cy="569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E877D362-7FF7-E4E2-ADC4-451A79B58CFF}"/>
              </a:ext>
            </a:extLst>
          </p:cNvPr>
          <p:cNvCxnSpPr>
            <a:cxnSpLocks/>
          </p:cNvCxnSpPr>
          <p:nvPr/>
        </p:nvCxnSpPr>
        <p:spPr bwMode="auto">
          <a:xfrm>
            <a:off x="3380800" y="4959486"/>
            <a:ext cx="382665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7C9C027-35B3-D785-4E72-4D8349408C29}"/>
              </a:ext>
            </a:extLst>
          </p:cNvPr>
          <p:cNvCxnSpPr>
            <a:cxnSpLocks/>
          </p:cNvCxnSpPr>
          <p:nvPr/>
        </p:nvCxnSpPr>
        <p:spPr bwMode="auto">
          <a:xfrm>
            <a:off x="3466285" y="4841000"/>
            <a:ext cx="30396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E085D63-E070-381B-0EC4-4A09A5B86E5F}"/>
              </a:ext>
            </a:extLst>
          </p:cNvPr>
          <p:cNvCxnSpPr>
            <a:cxnSpLocks/>
          </p:cNvCxnSpPr>
          <p:nvPr/>
        </p:nvCxnSpPr>
        <p:spPr bwMode="auto">
          <a:xfrm>
            <a:off x="3542485" y="4749488"/>
            <a:ext cx="22776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F1DD094C-ADEE-5891-8138-60FA8AF2EED3}"/>
              </a:ext>
            </a:extLst>
          </p:cNvPr>
          <p:cNvSpPr/>
          <p:nvPr/>
        </p:nvSpPr>
        <p:spPr bwMode="auto">
          <a:xfrm>
            <a:off x="3782045" y="4501044"/>
            <a:ext cx="1271740" cy="9906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Complex network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/>
              <a:t>复杂网络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E8838BB-3A7B-A9EA-E65A-EA4FE594BA2B}"/>
              </a:ext>
            </a:extLst>
          </p:cNvPr>
          <p:cNvCxnSpPr>
            <a:cxnSpLocks/>
          </p:cNvCxnSpPr>
          <p:nvPr/>
        </p:nvCxnSpPr>
        <p:spPr bwMode="auto">
          <a:xfrm>
            <a:off x="5053785" y="4749488"/>
            <a:ext cx="239559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7385C26F-1318-223D-9E1E-47ACAE35AB2B}"/>
              </a:ext>
            </a:extLst>
          </p:cNvPr>
          <p:cNvCxnSpPr>
            <a:cxnSpLocks/>
          </p:cNvCxnSpPr>
          <p:nvPr/>
        </p:nvCxnSpPr>
        <p:spPr bwMode="auto">
          <a:xfrm>
            <a:off x="5053785" y="4851882"/>
            <a:ext cx="30396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AB4F3342-A120-ABFB-C271-D55093F82FD4}"/>
              </a:ext>
            </a:extLst>
          </p:cNvPr>
          <p:cNvCxnSpPr>
            <a:cxnSpLocks/>
          </p:cNvCxnSpPr>
          <p:nvPr/>
        </p:nvCxnSpPr>
        <p:spPr bwMode="auto">
          <a:xfrm>
            <a:off x="5054612" y="4954262"/>
            <a:ext cx="382665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B513C252-2D2B-7B8D-3DA5-AC2F0472C221}"/>
              </a:ext>
            </a:extLst>
          </p:cNvPr>
          <p:cNvCxnSpPr>
            <a:cxnSpLocks/>
          </p:cNvCxnSpPr>
          <p:nvPr/>
        </p:nvCxnSpPr>
        <p:spPr bwMode="auto">
          <a:xfrm flipV="1">
            <a:off x="5048645" y="5053796"/>
            <a:ext cx="457200" cy="569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9BAC239A-F21B-6019-4142-63763CC51D55}"/>
              </a:ext>
            </a:extLst>
          </p:cNvPr>
          <p:cNvCxnSpPr>
            <a:cxnSpLocks/>
          </p:cNvCxnSpPr>
          <p:nvPr/>
        </p:nvCxnSpPr>
        <p:spPr bwMode="auto">
          <a:xfrm>
            <a:off x="5056166" y="5181600"/>
            <a:ext cx="5334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B3A1C64D-39E3-E68A-966C-86250842F72A}"/>
              </a:ext>
            </a:extLst>
          </p:cNvPr>
          <p:cNvCxnSpPr>
            <a:cxnSpLocks/>
          </p:cNvCxnSpPr>
          <p:nvPr/>
        </p:nvCxnSpPr>
        <p:spPr bwMode="auto">
          <a:xfrm flipH="1">
            <a:off x="5293344" y="2414546"/>
            <a:ext cx="29522" cy="233494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2DDB440-D52B-3784-3F9D-8FFDBFD56E83}"/>
              </a:ext>
            </a:extLst>
          </p:cNvPr>
          <p:cNvCxnSpPr>
            <a:cxnSpLocks/>
          </p:cNvCxnSpPr>
          <p:nvPr/>
        </p:nvCxnSpPr>
        <p:spPr bwMode="auto">
          <a:xfrm>
            <a:off x="5366219" y="2786532"/>
            <a:ext cx="0" cy="207245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A136969A-9103-29C1-E559-8CE62C0F4D80}"/>
              </a:ext>
            </a:extLst>
          </p:cNvPr>
          <p:cNvCxnSpPr>
            <a:cxnSpLocks/>
          </p:cNvCxnSpPr>
          <p:nvPr/>
        </p:nvCxnSpPr>
        <p:spPr bwMode="auto">
          <a:xfrm flipH="1">
            <a:off x="5437277" y="3128238"/>
            <a:ext cx="8467" cy="182602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D2C9A1D-56F0-7910-7B00-D80537B4A077}"/>
              </a:ext>
            </a:extLst>
          </p:cNvPr>
          <p:cNvCxnSpPr>
            <a:cxnSpLocks/>
          </p:cNvCxnSpPr>
          <p:nvPr/>
        </p:nvCxnSpPr>
        <p:spPr bwMode="auto">
          <a:xfrm flipH="1">
            <a:off x="5501496" y="3504922"/>
            <a:ext cx="25455" cy="154887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0FABBB0B-D712-F54C-593F-C86E3E62301A}"/>
              </a:ext>
            </a:extLst>
          </p:cNvPr>
          <p:cNvCxnSpPr/>
          <p:nvPr/>
        </p:nvCxnSpPr>
        <p:spPr bwMode="auto">
          <a:xfrm>
            <a:off x="5598033" y="3874491"/>
            <a:ext cx="0" cy="130710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67932A5E-6D54-7BE3-64B9-32F369D3895E}"/>
              </a:ext>
            </a:extLst>
          </p:cNvPr>
          <p:cNvSpPr txBox="1"/>
          <p:nvPr/>
        </p:nvSpPr>
        <p:spPr>
          <a:xfrm>
            <a:off x="5281186" y="2303583"/>
            <a:ext cx="3336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dirty="0"/>
              <a:t>+</a:t>
            </a:r>
            <a:endParaRPr lang="en-US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D00DB783-0CE4-A6C7-AC84-78FEFC528A8B}"/>
              </a:ext>
            </a:extLst>
          </p:cNvPr>
          <p:cNvCxnSpPr>
            <a:cxnSpLocks/>
            <a:endCxn id="98" idx="1"/>
          </p:cNvCxnSpPr>
          <p:nvPr/>
        </p:nvCxnSpPr>
        <p:spPr bwMode="auto">
          <a:xfrm>
            <a:off x="3554278" y="2411059"/>
            <a:ext cx="2883807" cy="137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graphicFrame>
        <p:nvGraphicFramePr>
          <p:cNvPr id="80" name="Table 79">
            <a:extLst>
              <a:ext uri="{FF2B5EF4-FFF2-40B4-BE49-F238E27FC236}">
                <a16:creationId xmlns:a16="http://schemas.microsoft.com/office/drawing/2014/main" id="{D1D85F4A-090C-5C56-C3B1-68CE755E88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1273554"/>
              </p:ext>
            </p:extLst>
          </p:nvPr>
        </p:nvGraphicFramePr>
        <p:xfrm>
          <a:off x="4982111" y="4142508"/>
          <a:ext cx="647965" cy="1145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93">
                  <a:extLst>
                    <a:ext uri="{9D8B030D-6E8A-4147-A177-3AD203B41FA5}">
                      <a16:colId xmlns:a16="http://schemas.microsoft.com/office/drawing/2014/main" val="342487538"/>
                    </a:ext>
                  </a:extLst>
                </a:gridCol>
                <a:gridCol w="129593">
                  <a:extLst>
                    <a:ext uri="{9D8B030D-6E8A-4147-A177-3AD203B41FA5}">
                      <a16:colId xmlns:a16="http://schemas.microsoft.com/office/drawing/2014/main" val="3697092706"/>
                    </a:ext>
                  </a:extLst>
                </a:gridCol>
                <a:gridCol w="129593">
                  <a:extLst>
                    <a:ext uri="{9D8B030D-6E8A-4147-A177-3AD203B41FA5}">
                      <a16:colId xmlns:a16="http://schemas.microsoft.com/office/drawing/2014/main" val="2567947874"/>
                    </a:ext>
                  </a:extLst>
                </a:gridCol>
                <a:gridCol w="129593">
                  <a:extLst>
                    <a:ext uri="{9D8B030D-6E8A-4147-A177-3AD203B41FA5}">
                      <a16:colId xmlns:a16="http://schemas.microsoft.com/office/drawing/2014/main" val="1416636791"/>
                    </a:ext>
                  </a:extLst>
                </a:gridCol>
                <a:gridCol w="129593">
                  <a:extLst>
                    <a:ext uri="{9D8B030D-6E8A-4147-A177-3AD203B41FA5}">
                      <a16:colId xmlns:a16="http://schemas.microsoft.com/office/drawing/2014/main" val="3969255547"/>
                    </a:ext>
                  </a:extLst>
                </a:gridCol>
              </a:tblGrid>
              <a:tr h="114588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118066"/>
                  </a:ext>
                </a:extLst>
              </a:tr>
            </a:tbl>
          </a:graphicData>
        </a:graphic>
      </p:graphicFrame>
      <p:graphicFrame>
        <p:nvGraphicFramePr>
          <p:cNvPr id="81" name="Table 80">
            <a:extLst>
              <a:ext uri="{FF2B5EF4-FFF2-40B4-BE49-F238E27FC236}">
                <a16:creationId xmlns:a16="http://schemas.microsoft.com/office/drawing/2014/main" id="{E02D21E6-2C8A-80E0-83A1-1461F7F5ED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2815793"/>
              </p:ext>
            </p:extLst>
          </p:nvPr>
        </p:nvGraphicFramePr>
        <p:xfrm>
          <a:off x="5052377" y="4308293"/>
          <a:ext cx="647965" cy="1145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93">
                  <a:extLst>
                    <a:ext uri="{9D8B030D-6E8A-4147-A177-3AD203B41FA5}">
                      <a16:colId xmlns:a16="http://schemas.microsoft.com/office/drawing/2014/main" val="342487538"/>
                    </a:ext>
                  </a:extLst>
                </a:gridCol>
                <a:gridCol w="129593">
                  <a:extLst>
                    <a:ext uri="{9D8B030D-6E8A-4147-A177-3AD203B41FA5}">
                      <a16:colId xmlns:a16="http://schemas.microsoft.com/office/drawing/2014/main" val="3697092706"/>
                    </a:ext>
                  </a:extLst>
                </a:gridCol>
                <a:gridCol w="129593">
                  <a:extLst>
                    <a:ext uri="{9D8B030D-6E8A-4147-A177-3AD203B41FA5}">
                      <a16:colId xmlns:a16="http://schemas.microsoft.com/office/drawing/2014/main" val="2567947874"/>
                    </a:ext>
                  </a:extLst>
                </a:gridCol>
                <a:gridCol w="129593">
                  <a:extLst>
                    <a:ext uri="{9D8B030D-6E8A-4147-A177-3AD203B41FA5}">
                      <a16:colId xmlns:a16="http://schemas.microsoft.com/office/drawing/2014/main" val="1416636791"/>
                    </a:ext>
                  </a:extLst>
                </a:gridCol>
                <a:gridCol w="129593">
                  <a:extLst>
                    <a:ext uri="{9D8B030D-6E8A-4147-A177-3AD203B41FA5}">
                      <a16:colId xmlns:a16="http://schemas.microsoft.com/office/drawing/2014/main" val="3969255547"/>
                    </a:ext>
                  </a:extLst>
                </a:gridCol>
              </a:tblGrid>
              <a:tr h="114588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118066"/>
                  </a:ext>
                </a:extLst>
              </a:tr>
            </a:tbl>
          </a:graphicData>
        </a:graphic>
      </p:graphicFrame>
      <p:graphicFrame>
        <p:nvGraphicFramePr>
          <p:cNvPr id="82" name="Table 81">
            <a:extLst>
              <a:ext uri="{FF2B5EF4-FFF2-40B4-BE49-F238E27FC236}">
                <a16:creationId xmlns:a16="http://schemas.microsoft.com/office/drawing/2014/main" id="{21031BFD-C4CE-6BA7-EBF2-8F83668F6A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4342354"/>
              </p:ext>
            </p:extLst>
          </p:nvPr>
        </p:nvGraphicFramePr>
        <p:xfrm>
          <a:off x="5113294" y="4467981"/>
          <a:ext cx="647965" cy="1145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93">
                  <a:extLst>
                    <a:ext uri="{9D8B030D-6E8A-4147-A177-3AD203B41FA5}">
                      <a16:colId xmlns:a16="http://schemas.microsoft.com/office/drawing/2014/main" val="342487538"/>
                    </a:ext>
                  </a:extLst>
                </a:gridCol>
                <a:gridCol w="129593">
                  <a:extLst>
                    <a:ext uri="{9D8B030D-6E8A-4147-A177-3AD203B41FA5}">
                      <a16:colId xmlns:a16="http://schemas.microsoft.com/office/drawing/2014/main" val="3697092706"/>
                    </a:ext>
                  </a:extLst>
                </a:gridCol>
                <a:gridCol w="129593">
                  <a:extLst>
                    <a:ext uri="{9D8B030D-6E8A-4147-A177-3AD203B41FA5}">
                      <a16:colId xmlns:a16="http://schemas.microsoft.com/office/drawing/2014/main" val="2567947874"/>
                    </a:ext>
                  </a:extLst>
                </a:gridCol>
                <a:gridCol w="129593">
                  <a:extLst>
                    <a:ext uri="{9D8B030D-6E8A-4147-A177-3AD203B41FA5}">
                      <a16:colId xmlns:a16="http://schemas.microsoft.com/office/drawing/2014/main" val="1416636791"/>
                    </a:ext>
                  </a:extLst>
                </a:gridCol>
                <a:gridCol w="129593">
                  <a:extLst>
                    <a:ext uri="{9D8B030D-6E8A-4147-A177-3AD203B41FA5}">
                      <a16:colId xmlns:a16="http://schemas.microsoft.com/office/drawing/2014/main" val="3969255547"/>
                    </a:ext>
                  </a:extLst>
                </a:gridCol>
              </a:tblGrid>
              <a:tr h="114588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118066"/>
                  </a:ext>
                </a:extLst>
              </a:tr>
            </a:tbl>
          </a:graphicData>
        </a:graphic>
      </p:graphicFrame>
      <p:graphicFrame>
        <p:nvGraphicFramePr>
          <p:cNvPr id="83" name="Table 82">
            <a:extLst>
              <a:ext uri="{FF2B5EF4-FFF2-40B4-BE49-F238E27FC236}">
                <a16:creationId xmlns:a16="http://schemas.microsoft.com/office/drawing/2014/main" id="{11320966-F37F-20CD-FC88-94810E897D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2478153"/>
              </p:ext>
            </p:extLst>
          </p:nvPr>
        </p:nvGraphicFramePr>
        <p:xfrm>
          <a:off x="5180520" y="4620552"/>
          <a:ext cx="647965" cy="1145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93">
                  <a:extLst>
                    <a:ext uri="{9D8B030D-6E8A-4147-A177-3AD203B41FA5}">
                      <a16:colId xmlns:a16="http://schemas.microsoft.com/office/drawing/2014/main" val="342487538"/>
                    </a:ext>
                  </a:extLst>
                </a:gridCol>
                <a:gridCol w="129593">
                  <a:extLst>
                    <a:ext uri="{9D8B030D-6E8A-4147-A177-3AD203B41FA5}">
                      <a16:colId xmlns:a16="http://schemas.microsoft.com/office/drawing/2014/main" val="3697092706"/>
                    </a:ext>
                  </a:extLst>
                </a:gridCol>
                <a:gridCol w="129593">
                  <a:extLst>
                    <a:ext uri="{9D8B030D-6E8A-4147-A177-3AD203B41FA5}">
                      <a16:colId xmlns:a16="http://schemas.microsoft.com/office/drawing/2014/main" val="2567947874"/>
                    </a:ext>
                  </a:extLst>
                </a:gridCol>
                <a:gridCol w="129593">
                  <a:extLst>
                    <a:ext uri="{9D8B030D-6E8A-4147-A177-3AD203B41FA5}">
                      <a16:colId xmlns:a16="http://schemas.microsoft.com/office/drawing/2014/main" val="1416636791"/>
                    </a:ext>
                  </a:extLst>
                </a:gridCol>
                <a:gridCol w="129593">
                  <a:extLst>
                    <a:ext uri="{9D8B030D-6E8A-4147-A177-3AD203B41FA5}">
                      <a16:colId xmlns:a16="http://schemas.microsoft.com/office/drawing/2014/main" val="3969255547"/>
                    </a:ext>
                  </a:extLst>
                </a:gridCol>
              </a:tblGrid>
              <a:tr h="114588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118066"/>
                  </a:ext>
                </a:extLst>
              </a:tr>
            </a:tbl>
          </a:graphicData>
        </a:graphic>
      </p:graphicFrame>
      <p:graphicFrame>
        <p:nvGraphicFramePr>
          <p:cNvPr id="84" name="Table 83">
            <a:extLst>
              <a:ext uri="{FF2B5EF4-FFF2-40B4-BE49-F238E27FC236}">
                <a16:creationId xmlns:a16="http://schemas.microsoft.com/office/drawing/2014/main" id="{0FABDB73-F28D-7FD0-D99A-86AF109941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12872"/>
              </p:ext>
            </p:extLst>
          </p:nvPr>
        </p:nvGraphicFramePr>
        <p:xfrm>
          <a:off x="5283293" y="4780240"/>
          <a:ext cx="647965" cy="1145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93">
                  <a:extLst>
                    <a:ext uri="{9D8B030D-6E8A-4147-A177-3AD203B41FA5}">
                      <a16:colId xmlns:a16="http://schemas.microsoft.com/office/drawing/2014/main" val="342487538"/>
                    </a:ext>
                  </a:extLst>
                </a:gridCol>
                <a:gridCol w="129593">
                  <a:extLst>
                    <a:ext uri="{9D8B030D-6E8A-4147-A177-3AD203B41FA5}">
                      <a16:colId xmlns:a16="http://schemas.microsoft.com/office/drawing/2014/main" val="3697092706"/>
                    </a:ext>
                  </a:extLst>
                </a:gridCol>
                <a:gridCol w="129593">
                  <a:extLst>
                    <a:ext uri="{9D8B030D-6E8A-4147-A177-3AD203B41FA5}">
                      <a16:colId xmlns:a16="http://schemas.microsoft.com/office/drawing/2014/main" val="2567947874"/>
                    </a:ext>
                  </a:extLst>
                </a:gridCol>
                <a:gridCol w="129593">
                  <a:extLst>
                    <a:ext uri="{9D8B030D-6E8A-4147-A177-3AD203B41FA5}">
                      <a16:colId xmlns:a16="http://schemas.microsoft.com/office/drawing/2014/main" val="1416636791"/>
                    </a:ext>
                  </a:extLst>
                </a:gridCol>
                <a:gridCol w="129593">
                  <a:extLst>
                    <a:ext uri="{9D8B030D-6E8A-4147-A177-3AD203B41FA5}">
                      <a16:colId xmlns:a16="http://schemas.microsoft.com/office/drawing/2014/main" val="3969255547"/>
                    </a:ext>
                  </a:extLst>
                </a:gridCol>
              </a:tblGrid>
              <a:tr h="114588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118066"/>
                  </a:ext>
                </a:extLst>
              </a:tr>
            </a:tbl>
          </a:graphicData>
        </a:graphic>
      </p:graphicFrame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A39DFC5B-20CA-CC23-ECEA-CC81802F0D17}"/>
              </a:ext>
            </a:extLst>
          </p:cNvPr>
          <p:cNvCxnSpPr>
            <a:cxnSpLocks/>
            <a:endCxn id="99" idx="1"/>
          </p:cNvCxnSpPr>
          <p:nvPr/>
        </p:nvCxnSpPr>
        <p:spPr bwMode="auto">
          <a:xfrm flipV="1">
            <a:off x="3456067" y="2766060"/>
            <a:ext cx="2982018" cy="479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D19A8303-88DA-C222-1336-A5FB0BE7EF87}"/>
              </a:ext>
            </a:extLst>
          </p:cNvPr>
          <p:cNvCxnSpPr>
            <a:cxnSpLocks/>
            <a:endCxn id="100" idx="1"/>
          </p:cNvCxnSpPr>
          <p:nvPr/>
        </p:nvCxnSpPr>
        <p:spPr bwMode="auto">
          <a:xfrm>
            <a:off x="3390085" y="3137623"/>
            <a:ext cx="3048000" cy="1123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5ED64046-7B22-2006-F5AB-B089A6430D80}"/>
              </a:ext>
            </a:extLst>
          </p:cNvPr>
          <p:cNvCxnSpPr>
            <a:cxnSpLocks/>
            <a:endCxn id="101" idx="1"/>
          </p:cNvCxnSpPr>
          <p:nvPr/>
        </p:nvCxnSpPr>
        <p:spPr bwMode="auto">
          <a:xfrm>
            <a:off x="3301185" y="3504922"/>
            <a:ext cx="3136900" cy="620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00A884FC-71C0-B7C6-0D67-1359E503FD9B}"/>
              </a:ext>
            </a:extLst>
          </p:cNvPr>
          <p:cNvCxnSpPr>
            <a:cxnSpLocks/>
          </p:cNvCxnSpPr>
          <p:nvPr/>
        </p:nvCxnSpPr>
        <p:spPr bwMode="auto">
          <a:xfrm flipV="1">
            <a:off x="3237685" y="3863340"/>
            <a:ext cx="3200400" cy="900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D1E69FEC-9FA4-1E63-5453-68DDE107D708}"/>
              </a:ext>
            </a:extLst>
          </p:cNvPr>
          <p:cNvSpPr txBox="1"/>
          <p:nvPr/>
        </p:nvSpPr>
        <p:spPr>
          <a:xfrm>
            <a:off x="5445744" y="4995967"/>
            <a:ext cx="12699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dirty="0"/>
              <a:t>Residual</a:t>
            </a:r>
            <a:endParaRPr lang="en-US" altLang="zh-CN" dirty="0"/>
          </a:p>
          <a:p>
            <a:pPr algn="ctr"/>
            <a:r>
              <a:rPr lang="zh-CN" altLang="en-US" dirty="0"/>
              <a:t>残差</a:t>
            </a:r>
            <a:endParaRPr 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15DC39E-AB48-86A2-BA9C-8455614A3E3B}"/>
              </a:ext>
            </a:extLst>
          </p:cNvPr>
          <p:cNvSpPr txBox="1"/>
          <p:nvPr/>
        </p:nvSpPr>
        <p:spPr>
          <a:xfrm>
            <a:off x="5302026" y="2685273"/>
            <a:ext cx="3336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dirty="0"/>
              <a:t>+</a:t>
            </a:r>
            <a:endParaRPr lang="en-US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780BE88-D782-88F8-040B-56B5F0F30297}"/>
              </a:ext>
            </a:extLst>
          </p:cNvPr>
          <p:cNvSpPr txBox="1"/>
          <p:nvPr/>
        </p:nvSpPr>
        <p:spPr>
          <a:xfrm>
            <a:off x="5378520" y="3040395"/>
            <a:ext cx="3336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dirty="0"/>
              <a:t>+</a:t>
            </a:r>
            <a:endParaRPr lang="en-US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C71D316-6D12-4EA3-B629-C16DAFCE5A51}"/>
              </a:ext>
            </a:extLst>
          </p:cNvPr>
          <p:cNvSpPr txBox="1"/>
          <p:nvPr/>
        </p:nvSpPr>
        <p:spPr>
          <a:xfrm>
            <a:off x="5435690" y="3377693"/>
            <a:ext cx="3336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dirty="0"/>
              <a:t>+</a:t>
            </a:r>
            <a:endParaRPr lang="en-US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0FF6CEF-E02B-8ED0-094D-6E341704AF19}"/>
              </a:ext>
            </a:extLst>
          </p:cNvPr>
          <p:cNvSpPr txBox="1"/>
          <p:nvPr/>
        </p:nvSpPr>
        <p:spPr>
          <a:xfrm>
            <a:off x="5526951" y="3779993"/>
            <a:ext cx="3336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dirty="0"/>
              <a:t>+</a:t>
            </a:r>
            <a:endParaRPr lang="en-US" dirty="0"/>
          </a:p>
        </p:txBody>
      </p:sp>
      <p:graphicFrame>
        <p:nvGraphicFramePr>
          <p:cNvPr id="98" name="Table 97">
            <a:extLst>
              <a:ext uri="{FF2B5EF4-FFF2-40B4-BE49-F238E27FC236}">
                <a16:creationId xmlns:a16="http://schemas.microsoft.com/office/drawing/2014/main" id="{3C1BF062-A9F9-B33D-B3D1-F6C2083BEA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2979274"/>
              </p:ext>
            </p:extLst>
          </p:nvPr>
        </p:nvGraphicFramePr>
        <p:xfrm>
          <a:off x="6438085" y="2282898"/>
          <a:ext cx="1371600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34248753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970927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56794787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41663679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69255547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118066"/>
                  </a:ext>
                </a:extLst>
              </a:tr>
            </a:tbl>
          </a:graphicData>
        </a:graphic>
      </p:graphicFrame>
      <p:graphicFrame>
        <p:nvGraphicFramePr>
          <p:cNvPr id="99" name="Table 98">
            <a:extLst>
              <a:ext uri="{FF2B5EF4-FFF2-40B4-BE49-F238E27FC236}">
                <a16:creationId xmlns:a16="http://schemas.microsoft.com/office/drawing/2014/main" id="{3A15B9B4-7515-139C-5514-C1A21ACE72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854913"/>
              </p:ext>
            </p:extLst>
          </p:nvPr>
        </p:nvGraphicFramePr>
        <p:xfrm>
          <a:off x="6438085" y="2636520"/>
          <a:ext cx="1371600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34248753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970927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56794787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41663679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69255547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118066"/>
                  </a:ext>
                </a:extLst>
              </a:tr>
            </a:tbl>
          </a:graphicData>
        </a:graphic>
      </p:graphicFrame>
      <p:graphicFrame>
        <p:nvGraphicFramePr>
          <p:cNvPr id="100" name="Table 99">
            <a:extLst>
              <a:ext uri="{FF2B5EF4-FFF2-40B4-BE49-F238E27FC236}">
                <a16:creationId xmlns:a16="http://schemas.microsoft.com/office/drawing/2014/main" id="{13483CB4-AA5B-B25C-C3C3-454BF0A97B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389808"/>
              </p:ext>
            </p:extLst>
          </p:nvPr>
        </p:nvGraphicFramePr>
        <p:xfrm>
          <a:off x="6438085" y="3019318"/>
          <a:ext cx="1371600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34248753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970927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56794787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41663679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69255547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118066"/>
                  </a:ext>
                </a:extLst>
              </a:tr>
            </a:tbl>
          </a:graphicData>
        </a:graphic>
      </p:graphicFrame>
      <p:graphicFrame>
        <p:nvGraphicFramePr>
          <p:cNvPr id="101" name="Table 100">
            <a:extLst>
              <a:ext uri="{FF2B5EF4-FFF2-40B4-BE49-F238E27FC236}">
                <a16:creationId xmlns:a16="http://schemas.microsoft.com/office/drawing/2014/main" id="{3BAEB632-C0BF-3D4F-7639-9D9217A1D0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6193613"/>
              </p:ext>
            </p:extLst>
          </p:nvPr>
        </p:nvGraphicFramePr>
        <p:xfrm>
          <a:off x="6438085" y="3381586"/>
          <a:ext cx="1371600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34248753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970927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56794787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41663679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69255547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118066"/>
                  </a:ext>
                </a:extLst>
              </a:tr>
            </a:tbl>
          </a:graphicData>
        </a:graphic>
      </p:graphicFrame>
      <p:graphicFrame>
        <p:nvGraphicFramePr>
          <p:cNvPr id="102" name="Table 101">
            <a:extLst>
              <a:ext uri="{FF2B5EF4-FFF2-40B4-BE49-F238E27FC236}">
                <a16:creationId xmlns:a16="http://schemas.microsoft.com/office/drawing/2014/main" id="{A4251C8A-B42F-B138-FBF4-969399D565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5782111"/>
              </p:ext>
            </p:extLst>
          </p:nvPr>
        </p:nvGraphicFramePr>
        <p:xfrm>
          <a:off x="6438085" y="3740727"/>
          <a:ext cx="1371600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34248753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970927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56794787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41663679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69255547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F5E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118066"/>
                  </a:ext>
                </a:extLst>
              </a:tr>
            </a:tbl>
          </a:graphicData>
        </a:graphic>
      </p:graphicFrame>
      <p:sp>
        <p:nvSpPr>
          <p:cNvPr id="103" name="TextBox 102">
            <a:extLst>
              <a:ext uri="{FF2B5EF4-FFF2-40B4-BE49-F238E27FC236}">
                <a16:creationId xmlns:a16="http://schemas.microsoft.com/office/drawing/2014/main" id="{6F32E613-B0F6-CFE4-D2DE-3ABC7510251B}"/>
              </a:ext>
            </a:extLst>
          </p:cNvPr>
          <p:cNvSpPr txBox="1"/>
          <p:nvPr/>
        </p:nvSpPr>
        <p:spPr>
          <a:xfrm>
            <a:off x="5950115" y="4078951"/>
            <a:ext cx="22794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dirty="0"/>
              <a:t>Updated feature representation</a:t>
            </a:r>
          </a:p>
          <a:p>
            <a:pPr algn="ctr"/>
            <a:r>
              <a:rPr lang="zh-CN" altLang="en-US" dirty="0"/>
              <a:t>更新后的特征表示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20110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  <p:bldP spid="65" grpId="0" animBg="1"/>
      <p:bldP spid="77" grpId="0"/>
      <p:bldP spid="93" grpId="0"/>
      <p:bldP spid="93" grpId="1"/>
      <p:bldP spid="94" grpId="0"/>
      <p:bldP spid="95" grpId="0"/>
      <p:bldP spid="96" grpId="0"/>
      <p:bldP spid="97" grpId="0"/>
      <p:bldP spid="10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A9E10-7309-5B27-19A4-2290DF588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13C03-4EED-B831-17D4-41817B1F7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6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More Residual Layers </a:t>
            </a:r>
            <a:r>
              <a:rPr lang="zh-CN" altLang="en-US" dirty="0">
                <a:ea typeface="ＭＳ Ｐゴシック" panose="020B0600070205080204" pitchFamily="34" charset="-128"/>
              </a:rPr>
              <a:t>更多残差层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1F7CA9-3110-0542-1335-B084814F54C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</a:t>
            </a:r>
            <a:r>
              <a:rPr lang="en-US" altLang="zh-CN" sz="1400" dirty="0">
                <a:ea typeface="SimSun" panose="02010600030101010101" pitchFamily="2" charset="-122"/>
              </a:rPr>
              <a:t>Other Topic: Modern Paradigm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zh-CN" altLang="en-US" sz="1400" kern="0" dirty="0">
                <a:ea typeface="SimSun" panose="02010600030101010101" pitchFamily="2" charset="-122"/>
              </a:rPr>
              <a:t>番外：现代范式</a:t>
            </a:r>
            <a:endParaRPr lang="en-US" altLang="zh-CN" sz="1400" kern="0" dirty="0">
              <a:ea typeface="SimSun" panose="02010600030101010101" pitchFamily="2" charset="-122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F8FBD3F-5252-F3F0-9225-660EED9974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4269990"/>
              </p:ext>
            </p:extLst>
          </p:nvPr>
        </p:nvGraphicFramePr>
        <p:xfrm>
          <a:off x="304800" y="1702594"/>
          <a:ext cx="1163635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727">
                  <a:extLst>
                    <a:ext uri="{9D8B030D-6E8A-4147-A177-3AD203B41FA5}">
                      <a16:colId xmlns:a16="http://schemas.microsoft.com/office/drawing/2014/main" val="342487538"/>
                    </a:ext>
                  </a:extLst>
                </a:gridCol>
                <a:gridCol w="232727">
                  <a:extLst>
                    <a:ext uri="{9D8B030D-6E8A-4147-A177-3AD203B41FA5}">
                      <a16:colId xmlns:a16="http://schemas.microsoft.com/office/drawing/2014/main" val="3697092706"/>
                    </a:ext>
                  </a:extLst>
                </a:gridCol>
                <a:gridCol w="232727">
                  <a:extLst>
                    <a:ext uri="{9D8B030D-6E8A-4147-A177-3AD203B41FA5}">
                      <a16:colId xmlns:a16="http://schemas.microsoft.com/office/drawing/2014/main" val="2567947874"/>
                    </a:ext>
                  </a:extLst>
                </a:gridCol>
                <a:gridCol w="232727">
                  <a:extLst>
                    <a:ext uri="{9D8B030D-6E8A-4147-A177-3AD203B41FA5}">
                      <a16:colId xmlns:a16="http://schemas.microsoft.com/office/drawing/2014/main" val="1416636791"/>
                    </a:ext>
                  </a:extLst>
                </a:gridCol>
                <a:gridCol w="232727">
                  <a:extLst>
                    <a:ext uri="{9D8B030D-6E8A-4147-A177-3AD203B41FA5}">
                      <a16:colId xmlns:a16="http://schemas.microsoft.com/office/drawing/2014/main" val="3969255547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11806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71449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01048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111994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4510159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6FA9B45-3E8C-53CB-DF5F-43945CC5AAFB}"/>
              </a:ext>
            </a:extLst>
          </p:cNvPr>
          <p:cNvCxnSpPr>
            <a:cxnSpLocks/>
          </p:cNvCxnSpPr>
          <p:nvPr/>
        </p:nvCxnSpPr>
        <p:spPr bwMode="auto">
          <a:xfrm flipV="1">
            <a:off x="1468435" y="2274094"/>
            <a:ext cx="207965" cy="238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81413B8-3854-CF6B-7741-2974056E41A3}"/>
              </a:ext>
            </a:extLst>
          </p:cNvPr>
          <p:cNvCxnSpPr>
            <a:cxnSpLocks/>
          </p:cNvCxnSpPr>
          <p:nvPr/>
        </p:nvCxnSpPr>
        <p:spPr bwMode="auto">
          <a:xfrm>
            <a:off x="1676400" y="2276475"/>
            <a:ext cx="0" cy="1752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A8A1DB9-6511-E57B-51AD-22F23BD6D11F}"/>
              </a:ext>
            </a:extLst>
          </p:cNvPr>
          <p:cNvCxnSpPr>
            <a:cxnSpLocks/>
          </p:cNvCxnSpPr>
          <p:nvPr/>
        </p:nvCxnSpPr>
        <p:spPr bwMode="auto">
          <a:xfrm>
            <a:off x="1676400" y="4028763"/>
            <a:ext cx="22776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528E5304-6801-704A-2D49-A9926F68D6C8}"/>
              </a:ext>
            </a:extLst>
          </p:cNvPr>
          <p:cNvSpPr/>
          <p:nvPr/>
        </p:nvSpPr>
        <p:spPr bwMode="auto">
          <a:xfrm>
            <a:off x="1904167" y="3569495"/>
            <a:ext cx="1271740" cy="9906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Complex network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/>
              <a:t>复杂网络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4248A39-5478-0024-6A14-26B6EE1A970C}"/>
              </a:ext>
            </a:extLst>
          </p:cNvPr>
          <p:cNvCxnSpPr>
            <a:cxnSpLocks/>
          </p:cNvCxnSpPr>
          <p:nvPr/>
        </p:nvCxnSpPr>
        <p:spPr bwMode="auto">
          <a:xfrm>
            <a:off x="3175907" y="4064795"/>
            <a:ext cx="176893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2122D7C-0445-1D6C-58DA-F0653D6B90D1}"/>
              </a:ext>
            </a:extLst>
          </p:cNvPr>
          <p:cNvCxnSpPr>
            <a:cxnSpLocks/>
          </p:cNvCxnSpPr>
          <p:nvPr/>
        </p:nvCxnSpPr>
        <p:spPr bwMode="auto">
          <a:xfrm flipH="1">
            <a:off x="3340100" y="2272214"/>
            <a:ext cx="12700" cy="179258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A90D3040-FF9F-5DC1-F130-8C72B415F0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3596354"/>
              </p:ext>
            </p:extLst>
          </p:nvPr>
        </p:nvGraphicFramePr>
        <p:xfrm>
          <a:off x="3041467" y="2940783"/>
          <a:ext cx="622665" cy="605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533">
                  <a:extLst>
                    <a:ext uri="{9D8B030D-6E8A-4147-A177-3AD203B41FA5}">
                      <a16:colId xmlns:a16="http://schemas.microsoft.com/office/drawing/2014/main" val="342487538"/>
                    </a:ext>
                  </a:extLst>
                </a:gridCol>
                <a:gridCol w="124533">
                  <a:extLst>
                    <a:ext uri="{9D8B030D-6E8A-4147-A177-3AD203B41FA5}">
                      <a16:colId xmlns:a16="http://schemas.microsoft.com/office/drawing/2014/main" val="3697092706"/>
                    </a:ext>
                  </a:extLst>
                </a:gridCol>
                <a:gridCol w="124533">
                  <a:extLst>
                    <a:ext uri="{9D8B030D-6E8A-4147-A177-3AD203B41FA5}">
                      <a16:colId xmlns:a16="http://schemas.microsoft.com/office/drawing/2014/main" val="2567947874"/>
                    </a:ext>
                  </a:extLst>
                </a:gridCol>
                <a:gridCol w="124533">
                  <a:extLst>
                    <a:ext uri="{9D8B030D-6E8A-4147-A177-3AD203B41FA5}">
                      <a16:colId xmlns:a16="http://schemas.microsoft.com/office/drawing/2014/main" val="1416636791"/>
                    </a:ext>
                  </a:extLst>
                </a:gridCol>
                <a:gridCol w="124533">
                  <a:extLst>
                    <a:ext uri="{9D8B030D-6E8A-4147-A177-3AD203B41FA5}">
                      <a16:colId xmlns:a16="http://schemas.microsoft.com/office/drawing/2014/main" val="3969255547"/>
                    </a:ext>
                  </a:extLst>
                </a:gridCol>
              </a:tblGrid>
              <a:tr h="121030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118066"/>
                  </a:ext>
                </a:extLst>
              </a:tr>
              <a:tr h="121030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714496"/>
                  </a:ext>
                </a:extLst>
              </a:tr>
              <a:tr h="121030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010480"/>
                  </a:ext>
                </a:extLst>
              </a:tr>
              <a:tr h="121030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1119944"/>
                  </a:ext>
                </a:extLst>
              </a:tr>
              <a:tr h="121030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4510159"/>
                  </a:ext>
                </a:extLst>
              </a:tr>
            </a:tbl>
          </a:graphicData>
        </a:graphic>
      </p:graphicFrame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8319EDF-724C-CA3F-BC15-87677672FD73}"/>
              </a:ext>
            </a:extLst>
          </p:cNvPr>
          <p:cNvCxnSpPr>
            <a:cxnSpLocks/>
          </p:cNvCxnSpPr>
          <p:nvPr/>
        </p:nvCxnSpPr>
        <p:spPr bwMode="auto">
          <a:xfrm flipV="1">
            <a:off x="1663700" y="2279584"/>
            <a:ext cx="1917700" cy="25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0FFE51C-3612-ED5C-ACD8-85A8CE1A3A17}"/>
              </a:ext>
            </a:extLst>
          </p:cNvPr>
          <p:cNvSpPr txBox="1"/>
          <p:nvPr/>
        </p:nvSpPr>
        <p:spPr>
          <a:xfrm>
            <a:off x="3277053" y="2225364"/>
            <a:ext cx="3336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dirty="0"/>
              <a:t>+</a:t>
            </a:r>
            <a:endParaRPr lang="en-US" dirty="0"/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D89A0622-F7B0-C208-C06A-8B0F1D499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0633670"/>
              </p:ext>
            </p:extLst>
          </p:nvPr>
        </p:nvGraphicFramePr>
        <p:xfrm>
          <a:off x="3594100" y="1700464"/>
          <a:ext cx="1163635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727">
                  <a:extLst>
                    <a:ext uri="{9D8B030D-6E8A-4147-A177-3AD203B41FA5}">
                      <a16:colId xmlns:a16="http://schemas.microsoft.com/office/drawing/2014/main" val="342487538"/>
                    </a:ext>
                  </a:extLst>
                </a:gridCol>
                <a:gridCol w="232727">
                  <a:extLst>
                    <a:ext uri="{9D8B030D-6E8A-4147-A177-3AD203B41FA5}">
                      <a16:colId xmlns:a16="http://schemas.microsoft.com/office/drawing/2014/main" val="3697092706"/>
                    </a:ext>
                  </a:extLst>
                </a:gridCol>
                <a:gridCol w="232727">
                  <a:extLst>
                    <a:ext uri="{9D8B030D-6E8A-4147-A177-3AD203B41FA5}">
                      <a16:colId xmlns:a16="http://schemas.microsoft.com/office/drawing/2014/main" val="2567947874"/>
                    </a:ext>
                  </a:extLst>
                </a:gridCol>
                <a:gridCol w="232727">
                  <a:extLst>
                    <a:ext uri="{9D8B030D-6E8A-4147-A177-3AD203B41FA5}">
                      <a16:colId xmlns:a16="http://schemas.microsoft.com/office/drawing/2014/main" val="1416636791"/>
                    </a:ext>
                  </a:extLst>
                </a:gridCol>
                <a:gridCol w="232727">
                  <a:extLst>
                    <a:ext uri="{9D8B030D-6E8A-4147-A177-3AD203B41FA5}">
                      <a16:colId xmlns:a16="http://schemas.microsoft.com/office/drawing/2014/main" val="3969255547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11806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71449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01048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111994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4510159"/>
                  </a:ext>
                </a:extLst>
              </a:tr>
            </a:tbl>
          </a:graphicData>
        </a:graphic>
      </p:graphicFrame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DD36ED7-0BCC-9905-53AA-0D3FD8D66819}"/>
              </a:ext>
            </a:extLst>
          </p:cNvPr>
          <p:cNvCxnSpPr>
            <a:cxnSpLocks/>
          </p:cNvCxnSpPr>
          <p:nvPr/>
        </p:nvCxnSpPr>
        <p:spPr bwMode="auto">
          <a:xfrm flipV="1">
            <a:off x="4740275" y="2250030"/>
            <a:ext cx="207965" cy="238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163CEA0-18B6-1904-73C0-4145AB5C1DC3}"/>
              </a:ext>
            </a:extLst>
          </p:cNvPr>
          <p:cNvCxnSpPr>
            <a:cxnSpLocks/>
          </p:cNvCxnSpPr>
          <p:nvPr/>
        </p:nvCxnSpPr>
        <p:spPr bwMode="auto">
          <a:xfrm>
            <a:off x="4948240" y="2252411"/>
            <a:ext cx="0" cy="1752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F6ADDC5-1B7C-0317-AED1-65FAEDF13894}"/>
              </a:ext>
            </a:extLst>
          </p:cNvPr>
          <p:cNvCxnSpPr>
            <a:cxnSpLocks/>
          </p:cNvCxnSpPr>
          <p:nvPr/>
        </p:nvCxnSpPr>
        <p:spPr bwMode="auto">
          <a:xfrm>
            <a:off x="4948240" y="4004699"/>
            <a:ext cx="22776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E9322CD3-BEAE-CDAB-BEE6-E71EDAF35404}"/>
              </a:ext>
            </a:extLst>
          </p:cNvPr>
          <p:cNvSpPr/>
          <p:nvPr/>
        </p:nvSpPr>
        <p:spPr bwMode="auto">
          <a:xfrm>
            <a:off x="5176007" y="3545431"/>
            <a:ext cx="1271740" cy="9906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Complex network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/>
              <a:t>复杂网络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F2D6D6D-7A07-A45E-5B5D-CF2410D1EBCE}"/>
              </a:ext>
            </a:extLst>
          </p:cNvPr>
          <p:cNvCxnSpPr>
            <a:cxnSpLocks/>
          </p:cNvCxnSpPr>
          <p:nvPr/>
        </p:nvCxnSpPr>
        <p:spPr bwMode="auto">
          <a:xfrm>
            <a:off x="6447747" y="4040731"/>
            <a:ext cx="176893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FBD6D1F-7608-B53C-5657-4E43303D898A}"/>
              </a:ext>
            </a:extLst>
          </p:cNvPr>
          <p:cNvCxnSpPr>
            <a:cxnSpLocks/>
          </p:cNvCxnSpPr>
          <p:nvPr/>
        </p:nvCxnSpPr>
        <p:spPr bwMode="auto">
          <a:xfrm flipH="1">
            <a:off x="6611940" y="2248150"/>
            <a:ext cx="12700" cy="179258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E42B3E90-68EC-A747-070E-FB9CA9E3BC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1576639"/>
              </p:ext>
            </p:extLst>
          </p:nvPr>
        </p:nvGraphicFramePr>
        <p:xfrm>
          <a:off x="6313307" y="2916719"/>
          <a:ext cx="622665" cy="605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533">
                  <a:extLst>
                    <a:ext uri="{9D8B030D-6E8A-4147-A177-3AD203B41FA5}">
                      <a16:colId xmlns:a16="http://schemas.microsoft.com/office/drawing/2014/main" val="342487538"/>
                    </a:ext>
                  </a:extLst>
                </a:gridCol>
                <a:gridCol w="124533">
                  <a:extLst>
                    <a:ext uri="{9D8B030D-6E8A-4147-A177-3AD203B41FA5}">
                      <a16:colId xmlns:a16="http://schemas.microsoft.com/office/drawing/2014/main" val="3697092706"/>
                    </a:ext>
                  </a:extLst>
                </a:gridCol>
                <a:gridCol w="124533">
                  <a:extLst>
                    <a:ext uri="{9D8B030D-6E8A-4147-A177-3AD203B41FA5}">
                      <a16:colId xmlns:a16="http://schemas.microsoft.com/office/drawing/2014/main" val="2567947874"/>
                    </a:ext>
                  </a:extLst>
                </a:gridCol>
                <a:gridCol w="124533">
                  <a:extLst>
                    <a:ext uri="{9D8B030D-6E8A-4147-A177-3AD203B41FA5}">
                      <a16:colId xmlns:a16="http://schemas.microsoft.com/office/drawing/2014/main" val="1416636791"/>
                    </a:ext>
                  </a:extLst>
                </a:gridCol>
                <a:gridCol w="124533">
                  <a:extLst>
                    <a:ext uri="{9D8B030D-6E8A-4147-A177-3AD203B41FA5}">
                      <a16:colId xmlns:a16="http://schemas.microsoft.com/office/drawing/2014/main" val="3969255547"/>
                    </a:ext>
                  </a:extLst>
                </a:gridCol>
              </a:tblGrid>
              <a:tr h="121030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118066"/>
                  </a:ext>
                </a:extLst>
              </a:tr>
              <a:tr h="121030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714496"/>
                  </a:ext>
                </a:extLst>
              </a:tr>
              <a:tr h="121030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010480"/>
                  </a:ext>
                </a:extLst>
              </a:tr>
              <a:tr h="121030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1119944"/>
                  </a:ext>
                </a:extLst>
              </a:tr>
              <a:tr h="121030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4510159"/>
                  </a:ext>
                </a:extLst>
              </a:tr>
            </a:tbl>
          </a:graphicData>
        </a:graphic>
      </p:graphicFrame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F354BCD-4FD8-D5C8-4CD3-1A1F998E8953}"/>
              </a:ext>
            </a:extLst>
          </p:cNvPr>
          <p:cNvCxnSpPr>
            <a:cxnSpLocks/>
          </p:cNvCxnSpPr>
          <p:nvPr/>
        </p:nvCxnSpPr>
        <p:spPr bwMode="auto">
          <a:xfrm flipV="1">
            <a:off x="4935540" y="2248593"/>
            <a:ext cx="1917700" cy="25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13F178E5-0D97-5FCC-2076-C648CD48D1CB}"/>
              </a:ext>
            </a:extLst>
          </p:cNvPr>
          <p:cNvSpPr txBox="1"/>
          <p:nvPr/>
        </p:nvSpPr>
        <p:spPr>
          <a:xfrm>
            <a:off x="6548893" y="2201300"/>
            <a:ext cx="3336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dirty="0"/>
              <a:t>+</a:t>
            </a:r>
            <a:endParaRPr lang="en-US" dirty="0"/>
          </a:p>
        </p:txBody>
      </p:sp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2A090F76-8F09-32C3-B271-E0C852345F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2086605"/>
              </p:ext>
            </p:extLst>
          </p:nvPr>
        </p:nvGraphicFramePr>
        <p:xfrm>
          <a:off x="6865940" y="1676400"/>
          <a:ext cx="1163635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727">
                  <a:extLst>
                    <a:ext uri="{9D8B030D-6E8A-4147-A177-3AD203B41FA5}">
                      <a16:colId xmlns:a16="http://schemas.microsoft.com/office/drawing/2014/main" val="342487538"/>
                    </a:ext>
                  </a:extLst>
                </a:gridCol>
                <a:gridCol w="232727">
                  <a:extLst>
                    <a:ext uri="{9D8B030D-6E8A-4147-A177-3AD203B41FA5}">
                      <a16:colId xmlns:a16="http://schemas.microsoft.com/office/drawing/2014/main" val="3697092706"/>
                    </a:ext>
                  </a:extLst>
                </a:gridCol>
                <a:gridCol w="232727">
                  <a:extLst>
                    <a:ext uri="{9D8B030D-6E8A-4147-A177-3AD203B41FA5}">
                      <a16:colId xmlns:a16="http://schemas.microsoft.com/office/drawing/2014/main" val="2567947874"/>
                    </a:ext>
                  </a:extLst>
                </a:gridCol>
                <a:gridCol w="232727">
                  <a:extLst>
                    <a:ext uri="{9D8B030D-6E8A-4147-A177-3AD203B41FA5}">
                      <a16:colId xmlns:a16="http://schemas.microsoft.com/office/drawing/2014/main" val="1416636791"/>
                    </a:ext>
                  </a:extLst>
                </a:gridCol>
                <a:gridCol w="232727">
                  <a:extLst>
                    <a:ext uri="{9D8B030D-6E8A-4147-A177-3AD203B41FA5}">
                      <a16:colId xmlns:a16="http://schemas.microsoft.com/office/drawing/2014/main" val="3969255547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11806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71449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01048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111994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4510159"/>
                  </a:ext>
                </a:extLst>
              </a:tr>
            </a:tbl>
          </a:graphicData>
        </a:graphic>
      </p:graphicFrame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E6C4C13-C732-C4A9-989B-9BF4B8121653}"/>
              </a:ext>
            </a:extLst>
          </p:cNvPr>
          <p:cNvCxnSpPr>
            <a:cxnSpLocks/>
          </p:cNvCxnSpPr>
          <p:nvPr/>
        </p:nvCxnSpPr>
        <p:spPr bwMode="auto">
          <a:xfrm>
            <a:off x="8036651" y="2225614"/>
            <a:ext cx="22152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89131496-CA54-CA89-96DA-73992CF7AC8C}"/>
              </a:ext>
            </a:extLst>
          </p:cNvPr>
          <p:cNvSpPr txBox="1"/>
          <p:nvPr/>
        </p:nvSpPr>
        <p:spPr>
          <a:xfrm>
            <a:off x="8134713" y="1907090"/>
            <a:ext cx="5740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/>
              <a:t>…</a:t>
            </a:r>
            <a:endParaRPr lang="en-US" sz="2400" b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47BCB3D-A3B0-F738-CAC9-8A8328928327}"/>
              </a:ext>
            </a:extLst>
          </p:cNvPr>
          <p:cNvSpPr txBox="1"/>
          <p:nvPr/>
        </p:nvSpPr>
        <p:spPr>
          <a:xfrm>
            <a:off x="609599" y="4606830"/>
            <a:ext cx="77930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0" dirty="0"/>
              <a:t>Each layer iteratively updates the feature representation</a:t>
            </a:r>
            <a:endParaRPr lang="en-US" altLang="zh-CN" sz="2000" dirty="0"/>
          </a:p>
          <a:p>
            <a:pPr algn="ctr"/>
            <a:r>
              <a:rPr lang="zh-CN" altLang="en-US" sz="2000" dirty="0"/>
              <a:t>每一层都递进地更新了特征表示</a:t>
            </a: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5447C1-FCB3-098A-9A97-3C44C6B70BD3}"/>
              </a:ext>
            </a:extLst>
          </p:cNvPr>
          <p:cNvSpPr txBox="1"/>
          <p:nvPr/>
        </p:nvSpPr>
        <p:spPr>
          <a:xfrm>
            <a:off x="675481" y="5248375"/>
            <a:ext cx="779303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0" dirty="0"/>
              <a:t>Flexible number of layers, no need to consider which layer corresponds to which level of feature representation</a:t>
            </a:r>
            <a:endParaRPr lang="en-US" altLang="zh-CN" sz="2000" dirty="0"/>
          </a:p>
          <a:p>
            <a:pPr algn="ctr"/>
            <a:r>
              <a:rPr lang="zh-CN" altLang="en-US" sz="2000" dirty="0"/>
              <a:t>灵活的层数，无需考虑哪一层对应于哪一级别的特征表示</a:t>
            </a:r>
            <a:endParaRPr lang="en-US" sz="2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26802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35" grpId="0"/>
      <p:bldP spid="44" grpId="0" animBg="1"/>
      <p:bldP spid="50" grpId="0"/>
      <p:bldP spid="60" grpId="0"/>
      <p:bldP spid="61" grpId="0"/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1DA86-C9C9-002A-1107-1F197F356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702D2-1AA0-40D8-09F9-E6782CFA7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Language Model </a:t>
            </a:r>
            <a:r>
              <a:rPr lang="zh-CN" altLang="en-US" dirty="0"/>
              <a:t> 语言模型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6E3BC0-3A97-866F-113C-586B12E721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</a:t>
            </a:r>
            <a:r>
              <a:rPr lang="en-US" altLang="zh-CN" sz="1400" dirty="0">
                <a:ea typeface="SimSun" panose="02010600030101010101" pitchFamily="2" charset="-122"/>
              </a:rPr>
              <a:t>Other Topic: Modern Paradigm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zh-CN" altLang="en-US" sz="1400" kern="0" dirty="0">
                <a:ea typeface="SimSun" panose="02010600030101010101" pitchFamily="2" charset="-122"/>
              </a:rPr>
              <a:t>番外：现代范式</a:t>
            </a:r>
            <a:endParaRPr lang="en-US" altLang="zh-CN" sz="1400" kern="0" dirty="0">
              <a:ea typeface="SimSun" panose="02010600030101010101" pitchFamily="2" charset="-122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7184FB-4768-8CCD-CF30-7CC1CF94E6CE}"/>
              </a:ext>
            </a:extLst>
          </p:cNvPr>
          <p:cNvSpPr txBox="1"/>
          <p:nvPr/>
        </p:nvSpPr>
        <p:spPr>
          <a:xfrm>
            <a:off x="604440" y="1653715"/>
            <a:ext cx="80875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Predict the next word w/ probability </a:t>
            </a:r>
            <a:r>
              <a:rPr lang="zh-CN" altLang="en-US" sz="2200" dirty="0"/>
              <a:t>预测下一个词及其概率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93DEF74-52E4-E510-8EC6-A90F91333527}"/>
              </a:ext>
            </a:extLst>
          </p:cNvPr>
          <p:cNvGrpSpPr/>
          <p:nvPr/>
        </p:nvGrpSpPr>
        <p:grpSpPr>
          <a:xfrm>
            <a:off x="5499568" y="2273800"/>
            <a:ext cx="915950" cy="2831600"/>
            <a:chOff x="6642568" y="3058044"/>
            <a:chExt cx="915950" cy="283160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2BE6614-0ED1-F037-3779-BBF329CBAA72}"/>
                </a:ext>
              </a:extLst>
            </p:cNvPr>
            <p:cNvSpPr txBox="1"/>
            <p:nvPr/>
          </p:nvSpPr>
          <p:spPr>
            <a:xfrm>
              <a:off x="6652902" y="3271251"/>
              <a:ext cx="89309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200" dirty="0"/>
                <a:t>幸运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7E56454-825F-E8B5-F3AB-6C2F536CD265}"/>
                </a:ext>
              </a:extLst>
            </p:cNvPr>
            <p:cNvSpPr txBox="1"/>
            <p:nvPr/>
          </p:nvSpPr>
          <p:spPr>
            <a:xfrm>
              <a:off x="6934200" y="3058044"/>
              <a:ext cx="461665" cy="38400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F641295-E149-A649-3DF8-51B221B1F239}"/>
                </a:ext>
              </a:extLst>
            </p:cNvPr>
            <p:cNvSpPr txBox="1"/>
            <p:nvPr/>
          </p:nvSpPr>
          <p:spPr>
            <a:xfrm>
              <a:off x="6934200" y="3679531"/>
              <a:ext cx="461665" cy="38400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CCBA0D7-4BB3-E644-5AEB-66FDBC9057BB}"/>
                </a:ext>
              </a:extLst>
            </p:cNvPr>
            <p:cNvSpPr txBox="1"/>
            <p:nvPr/>
          </p:nvSpPr>
          <p:spPr>
            <a:xfrm>
              <a:off x="6652902" y="3907115"/>
              <a:ext cx="89309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200" dirty="0"/>
                <a:t>挑战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D079C11-E89E-1648-43A7-21DA826DEC66}"/>
                </a:ext>
              </a:extLst>
            </p:cNvPr>
            <p:cNvSpPr txBox="1"/>
            <p:nvPr/>
          </p:nvSpPr>
          <p:spPr>
            <a:xfrm>
              <a:off x="6937355" y="4338204"/>
              <a:ext cx="461665" cy="38400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4BBCF8F-37BB-ECC6-02F5-C2DB409A9D33}"/>
                </a:ext>
              </a:extLst>
            </p:cNvPr>
            <p:cNvSpPr txBox="1"/>
            <p:nvPr/>
          </p:nvSpPr>
          <p:spPr>
            <a:xfrm>
              <a:off x="6665428" y="4521475"/>
              <a:ext cx="89309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200" dirty="0"/>
                <a:t>机遇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9F506D8-C5C0-35C3-3C2B-C37354139ADB}"/>
                </a:ext>
              </a:extLst>
            </p:cNvPr>
            <p:cNvSpPr txBox="1"/>
            <p:nvPr/>
          </p:nvSpPr>
          <p:spPr>
            <a:xfrm>
              <a:off x="6929734" y="4939130"/>
              <a:ext cx="461665" cy="38400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B9FE5B1-08DF-EEB3-DCB6-8C6164E6C868}"/>
                </a:ext>
              </a:extLst>
            </p:cNvPr>
            <p:cNvSpPr txBox="1"/>
            <p:nvPr/>
          </p:nvSpPr>
          <p:spPr>
            <a:xfrm>
              <a:off x="6642568" y="5131713"/>
              <a:ext cx="89309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200" dirty="0"/>
                <a:t>问题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EABD0BA-5E0D-75CD-2DE6-B53F5CBE8E87}"/>
                </a:ext>
              </a:extLst>
            </p:cNvPr>
            <p:cNvSpPr txBox="1"/>
            <p:nvPr/>
          </p:nvSpPr>
          <p:spPr>
            <a:xfrm>
              <a:off x="6929735" y="5505637"/>
              <a:ext cx="461665" cy="38400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B4B1C800-D173-A357-715A-122F749B5E8C}"/>
              </a:ext>
            </a:extLst>
          </p:cNvPr>
          <p:cNvSpPr txBox="1"/>
          <p:nvPr/>
        </p:nvSpPr>
        <p:spPr>
          <a:xfrm>
            <a:off x="1295400" y="3373812"/>
            <a:ext cx="38784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dirty="0"/>
              <a:t>气候变化是全世界面临的</a:t>
            </a:r>
          </a:p>
        </p:txBody>
      </p:sp>
      <p:sp>
        <p:nvSpPr>
          <p:cNvPr id="34" name="Text Box 184">
            <a:extLst>
              <a:ext uri="{FF2B5EF4-FFF2-40B4-BE49-F238E27FC236}">
                <a16:creationId xmlns:a16="http://schemas.microsoft.com/office/drawing/2014/main" id="{907EB16C-102F-33F1-4054-D4FDA76469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4027" y="3168556"/>
            <a:ext cx="920029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l" eaLnBrk="1" hangingPunct="1">
              <a:lnSpc>
                <a:spcPct val="90000"/>
              </a:lnSpc>
            </a:pPr>
            <a:r>
              <a:rPr lang="en-US" altLang="zh-CN" sz="2400" b="1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0.3</a:t>
            </a:r>
            <a:endParaRPr lang="en-US" altLang="zh-CN" sz="2400" b="1" dirty="0">
              <a:solidFill>
                <a:srgbClr val="00B050"/>
              </a:solidFill>
              <a:latin typeface="Trebuchet MS" panose="020B0603020202020204" pitchFamily="34" charset="0"/>
            </a:endParaRPr>
          </a:p>
        </p:txBody>
      </p:sp>
      <p:sp>
        <p:nvSpPr>
          <p:cNvPr id="35" name="Text Box 184">
            <a:extLst>
              <a:ext uri="{FF2B5EF4-FFF2-40B4-BE49-F238E27FC236}">
                <a16:creationId xmlns:a16="http://schemas.microsoft.com/office/drawing/2014/main" id="{73B7D6BE-3DA0-26AF-5A7C-F929B6AF89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9656" y="3749447"/>
            <a:ext cx="1262744" cy="68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l" eaLnBrk="1" hangingPunct="1">
              <a:lnSpc>
                <a:spcPct val="9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rebuchet MS" panose="020B0603020202020204" pitchFamily="34" charset="0"/>
              </a:rPr>
              <a:t>0.0015</a:t>
            </a:r>
          </a:p>
        </p:txBody>
      </p:sp>
      <p:sp>
        <p:nvSpPr>
          <p:cNvPr id="36" name="Text Box 184">
            <a:extLst>
              <a:ext uri="{FF2B5EF4-FFF2-40B4-BE49-F238E27FC236}">
                <a16:creationId xmlns:a16="http://schemas.microsoft.com/office/drawing/2014/main" id="{6C680C42-7E9D-8C2C-77C1-1C0CB63F50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4914" y="4382048"/>
            <a:ext cx="82205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l" eaLnBrk="1" hangingPunct="1">
              <a:lnSpc>
                <a:spcPct val="90000"/>
              </a:lnSpc>
            </a:pPr>
            <a:r>
              <a:rPr lang="en-US" altLang="zh-CN" sz="2400" b="1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0.4</a:t>
            </a:r>
            <a:endParaRPr lang="en-US" altLang="zh-CN" sz="2400" b="1" dirty="0">
              <a:solidFill>
                <a:srgbClr val="00B050"/>
              </a:solidFill>
              <a:latin typeface="Trebuchet MS" panose="020B0603020202020204" pitchFamily="34" charset="0"/>
            </a:endParaRPr>
          </a:p>
        </p:txBody>
      </p:sp>
      <p:sp>
        <p:nvSpPr>
          <p:cNvPr id="37" name="Text Box 184">
            <a:extLst>
              <a:ext uri="{FF2B5EF4-FFF2-40B4-BE49-F238E27FC236}">
                <a16:creationId xmlns:a16="http://schemas.microsoft.com/office/drawing/2014/main" id="{580B76F6-8EC7-261B-1548-06A5ED155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3141" y="2499813"/>
            <a:ext cx="1055817" cy="68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l" eaLnBrk="1" hangingPunct="1">
              <a:lnSpc>
                <a:spcPct val="9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rebuchet MS" panose="020B0603020202020204" pitchFamily="34" charset="0"/>
              </a:rPr>
              <a:t>0.001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7399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3" grpId="0"/>
      <p:bldP spid="34" grpId="0"/>
      <p:bldP spid="35" grpId="0"/>
      <p:bldP spid="36" grpId="0"/>
      <p:bldP spid="3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48023-8ED3-A44A-B18B-C3F5FE58E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E43C9-14A3-8903-3307-39D631CA3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Why Predicting the Next Word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为什么要预测下一个词 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B3DEB8-0128-B0F4-8092-DEC5DF9E9B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</a:t>
            </a:r>
            <a:r>
              <a:rPr lang="en-US" altLang="zh-CN" sz="1400" dirty="0">
                <a:ea typeface="SimSun" panose="02010600030101010101" pitchFamily="2" charset="-122"/>
              </a:rPr>
              <a:t>Other Topic: Modern Paradigm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zh-CN" altLang="en-US" sz="1400" kern="0" dirty="0">
                <a:ea typeface="SimSun" panose="02010600030101010101" pitchFamily="2" charset="-122"/>
              </a:rPr>
              <a:t>番外：现代范式</a:t>
            </a:r>
            <a:endParaRPr lang="en-US" altLang="zh-CN" sz="1400" kern="0" dirty="0">
              <a:ea typeface="SimSun" panose="02010600030101010101" pitchFamily="2" charset="-122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9B513-9B35-6F1C-8C7D-C73D55BAE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5100638"/>
          </a:xfrm>
        </p:spPr>
        <p:txBody>
          <a:bodyPr>
            <a:normAutofit/>
          </a:bodyPr>
          <a:lstStyle/>
          <a:p>
            <a:pPr>
              <a:spcBef>
                <a:spcPts val="500"/>
              </a:spcBef>
            </a:pPr>
            <a:r>
              <a:rPr lang="en-US" altLang="zh-CN" dirty="0"/>
              <a:t>Linguistic Capability  </a:t>
            </a:r>
            <a:r>
              <a:rPr lang="zh-CN" altLang="en-US" dirty="0"/>
              <a:t>语言学能力</a:t>
            </a:r>
            <a:endParaRPr lang="en-US" altLang="zh-CN" dirty="0"/>
          </a:p>
          <a:p>
            <a:pPr lvl="1">
              <a:spcBef>
                <a:spcPts val="500"/>
              </a:spcBef>
            </a:pPr>
            <a:r>
              <a:rPr lang="en-US" altLang="zh-CN" dirty="0"/>
              <a:t>Gramar, sentence structure, word semantics, etc.                                      </a:t>
            </a:r>
            <a:r>
              <a:rPr lang="zh-CN" altLang="en-US" dirty="0"/>
              <a:t>语法，句子结构，词汇语义等</a:t>
            </a:r>
            <a:endParaRPr lang="en-US" altLang="zh-CN" dirty="0"/>
          </a:p>
          <a:p>
            <a:pPr>
              <a:spcBef>
                <a:spcPts val="500"/>
              </a:spcBef>
            </a:pPr>
            <a:r>
              <a:rPr lang="en-US" altLang="zh-CN" dirty="0"/>
              <a:t>Knowledge  </a:t>
            </a:r>
            <a:r>
              <a:rPr lang="zh-CN" altLang="en-US" dirty="0"/>
              <a:t>知识</a:t>
            </a:r>
            <a:endParaRPr lang="en-US" altLang="zh-CN" dirty="0"/>
          </a:p>
          <a:p>
            <a:pPr lvl="1">
              <a:spcBef>
                <a:spcPts val="500"/>
              </a:spcBef>
            </a:pPr>
            <a:r>
              <a:rPr lang="en-US" altLang="zh-CN" dirty="0"/>
              <a:t>Examples  </a:t>
            </a:r>
            <a:r>
              <a:rPr lang="zh-CN" altLang="en-US" dirty="0"/>
              <a:t>例子</a:t>
            </a:r>
            <a:endParaRPr lang="en-US" altLang="zh-CN" dirty="0"/>
          </a:p>
          <a:p>
            <a:pPr lvl="2">
              <a:spcBef>
                <a:spcPts val="500"/>
              </a:spcBef>
            </a:pPr>
            <a:r>
              <a:rPr lang="en-US" dirty="0"/>
              <a:t>Einstein developed </a:t>
            </a:r>
            <a:r>
              <a:rPr lang="en-US" dirty="0">
                <a:solidFill>
                  <a:srgbClr val="339933"/>
                </a:solidFill>
              </a:rPr>
              <a:t>relativity</a:t>
            </a:r>
            <a:r>
              <a:rPr lang="en-US" dirty="0"/>
              <a:t>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(vs painting)</a:t>
            </a:r>
          </a:p>
          <a:p>
            <a:pPr lvl="2">
              <a:spcBef>
                <a:spcPts val="500"/>
              </a:spcBef>
            </a:pPr>
            <a:r>
              <a:rPr lang="en-US" dirty="0"/>
              <a:t>In 1969, Neil Armstrong became the first person to </a:t>
            </a:r>
            <a:r>
              <a:rPr lang="en-US" dirty="0">
                <a:solidFill>
                  <a:srgbClr val="339933"/>
                </a:solidFill>
              </a:rPr>
              <a:t>walk on the moon</a:t>
            </a:r>
            <a:endParaRPr lang="en-US" altLang="zh-CN" dirty="0">
              <a:solidFill>
                <a:srgbClr val="339933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44600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B9700-E4FD-81AA-6110-7E046B761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45FAB-E9A7-0CD0-9ACB-366AE06C5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Why Predicting the Next Word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为什么要预测下一个词 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5814A4-24D3-EA81-5CB2-D5CB40AC71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</a:t>
            </a:r>
            <a:r>
              <a:rPr lang="en-US" altLang="zh-CN" sz="1400" dirty="0">
                <a:ea typeface="SimSun" panose="02010600030101010101" pitchFamily="2" charset="-122"/>
              </a:rPr>
              <a:t>Other Topic: Modern Paradigm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zh-CN" altLang="en-US" sz="1400" kern="0" dirty="0">
                <a:ea typeface="SimSun" panose="02010600030101010101" pitchFamily="2" charset="-122"/>
              </a:rPr>
              <a:t>番外：现代范式</a:t>
            </a:r>
            <a:endParaRPr lang="en-US" altLang="zh-CN" sz="1400" kern="0" dirty="0">
              <a:ea typeface="SimSun" panose="02010600030101010101" pitchFamily="2" charset="-122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8004F-F8BB-E32D-B796-CD81679C15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5100638"/>
          </a:xfrm>
        </p:spPr>
        <p:txBody>
          <a:bodyPr>
            <a:normAutofit/>
          </a:bodyPr>
          <a:lstStyle/>
          <a:p>
            <a:pPr>
              <a:spcBef>
                <a:spcPts val="500"/>
              </a:spcBef>
            </a:pPr>
            <a:r>
              <a:rPr lang="en-US" altLang="zh-CN" dirty="0"/>
              <a:t>Logic &amp; Reasoning  </a:t>
            </a:r>
            <a:r>
              <a:rPr lang="zh-CN" altLang="en-US"/>
              <a:t>逻辑和推</a:t>
            </a:r>
            <a:r>
              <a:rPr lang="zh-CN" altLang="en-US" dirty="0"/>
              <a:t>理</a:t>
            </a:r>
            <a:endParaRPr lang="en-US" altLang="zh-CN" dirty="0"/>
          </a:p>
          <a:p>
            <a:pPr lvl="1">
              <a:spcBef>
                <a:spcPts val="500"/>
              </a:spcBef>
            </a:pPr>
            <a:r>
              <a:rPr lang="en-US" altLang="zh-CN" dirty="0"/>
              <a:t>Continuous generation of words as an answer to a question                              </a:t>
            </a:r>
            <a:r>
              <a:rPr lang="zh-CN" altLang="en-US" dirty="0"/>
              <a:t>针对一个问题，持续生成后续词构成回答</a:t>
            </a:r>
            <a:endParaRPr lang="en-US" altLang="zh-CN" dirty="0"/>
          </a:p>
          <a:p>
            <a:pPr>
              <a:spcBef>
                <a:spcPts val="500"/>
              </a:spcBef>
            </a:pPr>
            <a:r>
              <a:rPr lang="en-US" altLang="zh-CN" dirty="0"/>
              <a:t>Abundance of Training Data        </a:t>
            </a:r>
            <a:r>
              <a:rPr lang="zh-CN" altLang="en-US" dirty="0"/>
              <a:t>充裕的训练数据</a:t>
            </a:r>
            <a:endParaRPr lang="en-US" altLang="zh-CN" dirty="0"/>
          </a:p>
          <a:p>
            <a:pPr lvl="1">
              <a:spcBef>
                <a:spcPts val="500"/>
              </a:spcBef>
            </a:pPr>
            <a:r>
              <a:rPr lang="en-US" altLang="zh-CN" dirty="0"/>
              <a:t>Texts everywhere  </a:t>
            </a:r>
            <a:r>
              <a:rPr lang="zh-CN" altLang="en-US" dirty="0"/>
              <a:t>到处都是文本</a:t>
            </a:r>
            <a:endParaRPr lang="en-US" altLang="zh-CN" dirty="0"/>
          </a:p>
          <a:p>
            <a:pPr lvl="2">
              <a:spcBef>
                <a:spcPts val="500"/>
              </a:spcBef>
            </a:pPr>
            <a:r>
              <a:rPr lang="en-US" altLang="zh-CN" dirty="0"/>
              <a:t>But need curation w/ quality                        </a:t>
            </a:r>
            <a:r>
              <a:rPr lang="zh-CN" altLang="en-US" dirty="0"/>
              <a:t>但需要高质量的甄筛和管理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2649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B792E-41FA-A330-17A4-4B382F675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A1229-BB2B-2B0D-3B06-A5A312A49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Iterative Generation </a:t>
            </a:r>
            <a:r>
              <a:rPr lang="zh-CN" altLang="en-US" dirty="0"/>
              <a:t> 反复生成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3127D8-000F-738F-1240-FEB088C9FB3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</a:t>
            </a:r>
            <a:r>
              <a:rPr lang="en-US" altLang="zh-CN" sz="1400" dirty="0">
                <a:ea typeface="SimSun" panose="02010600030101010101" pitchFamily="2" charset="-122"/>
              </a:rPr>
              <a:t>Other Topic: Modern Paradigm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zh-CN" altLang="en-US" sz="1400" kern="0" dirty="0">
                <a:ea typeface="SimSun" panose="02010600030101010101" pitchFamily="2" charset="-122"/>
              </a:rPr>
              <a:t>番外：现代范式</a:t>
            </a:r>
            <a:endParaRPr lang="en-US" altLang="zh-CN" sz="1400" kern="0" dirty="0">
              <a:ea typeface="SimSun" panose="02010600030101010101" pitchFamily="2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CA4833-74F7-3E9E-5039-9470939A2EAA}"/>
              </a:ext>
            </a:extLst>
          </p:cNvPr>
          <p:cNvSpPr txBox="1"/>
          <p:nvPr/>
        </p:nvSpPr>
        <p:spPr>
          <a:xfrm>
            <a:off x="-1" y="5035374"/>
            <a:ext cx="8915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… In 1969, Neil Armstrong became the first person to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7A544F9-4ED2-F301-A565-D3366DD0A87E}"/>
              </a:ext>
            </a:extLst>
          </p:cNvPr>
          <p:cNvCxnSpPr>
            <a:cxnSpLocks/>
            <a:stCxn id="11" idx="2"/>
            <a:endCxn id="5" idx="0"/>
          </p:cNvCxnSpPr>
          <p:nvPr/>
        </p:nvCxnSpPr>
        <p:spPr bwMode="auto">
          <a:xfrm flipH="1">
            <a:off x="4457699" y="4239305"/>
            <a:ext cx="1" cy="79606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A5852F45-8A62-63D4-AB71-CF8886D6DC0B}"/>
              </a:ext>
            </a:extLst>
          </p:cNvPr>
          <p:cNvSpPr/>
          <p:nvPr/>
        </p:nvSpPr>
        <p:spPr bwMode="auto">
          <a:xfrm>
            <a:off x="3821830" y="3248705"/>
            <a:ext cx="1271740" cy="9906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Complex network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/>
              <a:t>复杂网络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4" name="Flowchart: Magnetic Disk 13">
            <a:extLst>
              <a:ext uri="{FF2B5EF4-FFF2-40B4-BE49-F238E27FC236}">
                <a16:creationId xmlns:a16="http://schemas.microsoft.com/office/drawing/2014/main" id="{D56D1F47-0329-B4BA-32E4-B5972C889FEE}"/>
              </a:ext>
            </a:extLst>
          </p:cNvPr>
          <p:cNvSpPr/>
          <p:nvPr/>
        </p:nvSpPr>
        <p:spPr bwMode="auto">
          <a:xfrm>
            <a:off x="6324599" y="3023558"/>
            <a:ext cx="1855069" cy="1440894"/>
          </a:xfrm>
          <a:prstGeom prst="flowChartMagneticDisk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Preceding text information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/>
              <a:t>前文信息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57E7893-AED1-073F-044E-56F06F6B2956}"/>
              </a:ext>
            </a:extLst>
          </p:cNvPr>
          <p:cNvCxnSpPr>
            <a:cxnSpLocks/>
            <a:stCxn id="14" idx="2"/>
            <a:endCxn id="11" idx="3"/>
          </p:cNvCxnSpPr>
          <p:nvPr/>
        </p:nvCxnSpPr>
        <p:spPr bwMode="auto">
          <a:xfrm flipH="1">
            <a:off x="5093570" y="3744005"/>
            <a:ext cx="1231029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5FBE31A-B450-8C7E-1FD5-EEBC681FBE0A}"/>
              </a:ext>
            </a:extLst>
          </p:cNvPr>
          <p:cNvCxnSpPr>
            <a:cxnSpLocks/>
          </p:cNvCxnSpPr>
          <p:nvPr/>
        </p:nvCxnSpPr>
        <p:spPr bwMode="auto">
          <a:xfrm>
            <a:off x="4457699" y="2535742"/>
            <a:ext cx="0" cy="71296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A1E2816-87B6-1260-E06B-1D27A56E96AA}"/>
              </a:ext>
            </a:extLst>
          </p:cNvPr>
          <p:cNvSpPr txBox="1"/>
          <p:nvPr/>
        </p:nvSpPr>
        <p:spPr>
          <a:xfrm>
            <a:off x="3711084" y="2166410"/>
            <a:ext cx="1447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walk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76452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 animBg="1"/>
      <p:bldP spid="14" grpId="0" animBg="1"/>
      <p:bldP spid="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BC6FD-279E-9710-6890-85A29308B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ADDDC-DC13-89A4-8714-5703371C0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Iterative Generation </a:t>
            </a:r>
            <a:r>
              <a:rPr lang="zh-CN" altLang="en-US" dirty="0"/>
              <a:t> 反复生成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F2BC4D-23C6-951D-CA63-282678F02FE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</a:t>
            </a:r>
            <a:r>
              <a:rPr lang="en-US" altLang="zh-CN" sz="1400" dirty="0">
                <a:ea typeface="SimSun" panose="02010600030101010101" pitchFamily="2" charset="-122"/>
              </a:rPr>
              <a:t>Other Topic: Modern Paradigm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zh-CN" altLang="en-US" sz="1400" kern="0" dirty="0">
                <a:ea typeface="SimSun" panose="02010600030101010101" pitchFamily="2" charset="-122"/>
              </a:rPr>
              <a:t>番外：现代范式</a:t>
            </a:r>
            <a:endParaRPr lang="en-US" altLang="zh-CN" sz="1400" kern="0" dirty="0">
              <a:ea typeface="SimSun" panose="02010600030101010101" pitchFamily="2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9248C2-E70C-E3EA-309F-160CD43C2247}"/>
              </a:ext>
            </a:extLst>
          </p:cNvPr>
          <p:cNvSpPr txBox="1"/>
          <p:nvPr/>
        </p:nvSpPr>
        <p:spPr>
          <a:xfrm>
            <a:off x="3733800" y="5040868"/>
            <a:ext cx="1447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walk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2A0E260-DF32-AA14-4F17-7B2CF9ADFC9C}"/>
              </a:ext>
            </a:extLst>
          </p:cNvPr>
          <p:cNvCxnSpPr>
            <a:cxnSpLocks/>
            <a:stCxn id="11" idx="2"/>
            <a:endCxn id="5" idx="0"/>
          </p:cNvCxnSpPr>
          <p:nvPr/>
        </p:nvCxnSpPr>
        <p:spPr bwMode="auto">
          <a:xfrm>
            <a:off x="4457700" y="4239305"/>
            <a:ext cx="0" cy="80156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8FD5B40F-7F90-8DA1-714A-B3BBBED9135F}"/>
              </a:ext>
            </a:extLst>
          </p:cNvPr>
          <p:cNvSpPr/>
          <p:nvPr/>
        </p:nvSpPr>
        <p:spPr bwMode="auto">
          <a:xfrm>
            <a:off x="3821830" y="3248705"/>
            <a:ext cx="1271740" cy="9906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Complex network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/>
              <a:t>复杂网络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4" name="Flowchart: Magnetic Disk 13">
            <a:extLst>
              <a:ext uri="{FF2B5EF4-FFF2-40B4-BE49-F238E27FC236}">
                <a16:creationId xmlns:a16="http://schemas.microsoft.com/office/drawing/2014/main" id="{DA2F0129-434E-40CA-D247-D1D986855861}"/>
              </a:ext>
            </a:extLst>
          </p:cNvPr>
          <p:cNvSpPr/>
          <p:nvPr/>
        </p:nvSpPr>
        <p:spPr bwMode="auto">
          <a:xfrm>
            <a:off x="6324599" y="3023558"/>
            <a:ext cx="1855069" cy="1440894"/>
          </a:xfrm>
          <a:prstGeom prst="flowChartMagneticDisk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Preceding text information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/>
              <a:t>前文信息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2BE0AB8-9971-FC2F-AD79-907BFFE4542D}"/>
              </a:ext>
            </a:extLst>
          </p:cNvPr>
          <p:cNvCxnSpPr>
            <a:cxnSpLocks/>
            <a:stCxn id="11" idx="3"/>
            <a:endCxn id="14" idx="2"/>
          </p:cNvCxnSpPr>
          <p:nvPr/>
        </p:nvCxnSpPr>
        <p:spPr bwMode="auto">
          <a:xfrm>
            <a:off x="5093570" y="3744005"/>
            <a:ext cx="1231029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361AD2A-10C6-DCE8-2C71-6C794AED01F1}"/>
              </a:ext>
            </a:extLst>
          </p:cNvPr>
          <p:cNvCxnSpPr>
            <a:stCxn id="11" idx="0"/>
          </p:cNvCxnSpPr>
          <p:nvPr/>
        </p:nvCxnSpPr>
        <p:spPr bwMode="auto">
          <a:xfrm flipV="1">
            <a:off x="4457700" y="2819400"/>
            <a:ext cx="0" cy="42930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7ED3B5F-259E-EE88-2869-7AC5B0393880}"/>
              </a:ext>
            </a:extLst>
          </p:cNvPr>
          <p:cNvCxnSpPr/>
          <p:nvPr/>
        </p:nvCxnSpPr>
        <p:spPr bwMode="auto">
          <a:xfrm flipH="1">
            <a:off x="3581400" y="2819400"/>
            <a:ext cx="8763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795BE87-E0AA-BCE8-F4E2-A49888232638}"/>
              </a:ext>
            </a:extLst>
          </p:cNvPr>
          <p:cNvCxnSpPr>
            <a:cxnSpLocks/>
          </p:cNvCxnSpPr>
          <p:nvPr/>
        </p:nvCxnSpPr>
        <p:spPr bwMode="auto">
          <a:xfrm>
            <a:off x="3581400" y="2819400"/>
            <a:ext cx="0" cy="222146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59AD3C7-DA2B-1C9F-F45F-9BD3DB95B08F}"/>
              </a:ext>
            </a:extLst>
          </p:cNvPr>
          <p:cNvCxnSpPr>
            <a:endCxn id="5" idx="0"/>
          </p:cNvCxnSpPr>
          <p:nvPr/>
        </p:nvCxnSpPr>
        <p:spPr bwMode="auto">
          <a:xfrm>
            <a:off x="3581400" y="5040868"/>
            <a:ext cx="8763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250855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D5511-95E0-86EA-EC3F-C50C01C01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8D9B8-C6BA-3773-5C7F-E47809DC7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Iterative Generation </a:t>
            </a:r>
            <a:r>
              <a:rPr lang="zh-CN" altLang="en-US" dirty="0"/>
              <a:t> 反复生成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B7D206-8711-7507-3BD4-379BCC6B2B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</a:t>
            </a:r>
            <a:r>
              <a:rPr lang="en-US" altLang="zh-CN" sz="1400" dirty="0">
                <a:ea typeface="SimSun" panose="02010600030101010101" pitchFamily="2" charset="-122"/>
              </a:rPr>
              <a:t>Other Topic: Modern Paradigm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zh-CN" altLang="en-US" sz="1400" kern="0" dirty="0">
                <a:ea typeface="SimSun" panose="02010600030101010101" pitchFamily="2" charset="-122"/>
              </a:rPr>
              <a:t>番外：现代范式</a:t>
            </a:r>
            <a:endParaRPr lang="en-US" altLang="zh-CN" sz="1400" kern="0" dirty="0">
              <a:ea typeface="SimSun" panose="02010600030101010101" pitchFamily="2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5CF9F1-B2DD-5FB0-A375-7526E560CDA5}"/>
              </a:ext>
            </a:extLst>
          </p:cNvPr>
          <p:cNvSpPr txBox="1"/>
          <p:nvPr/>
        </p:nvSpPr>
        <p:spPr>
          <a:xfrm>
            <a:off x="3733800" y="5040868"/>
            <a:ext cx="1447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walk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9AA3ECD-59E3-250A-6D56-A36CB404F11F}"/>
              </a:ext>
            </a:extLst>
          </p:cNvPr>
          <p:cNvCxnSpPr>
            <a:cxnSpLocks/>
            <a:stCxn id="11" idx="2"/>
            <a:endCxn id="5" idx="0"/>
          </p:cNvCxnSpPr>
          <p:nvPr/>
        </p:nvCxnSpPr>
        <p:spPr bwMode="auto">
          <a:xfrm>
            <a:off x="4457700" y="4239305"/>
            <a:ext cx="0" cy="80156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94849BD-D2D1-9573-1211-472AF045F56F}"/>
              </a:ext>
            </a:extLst>
          </p:cNvPr>
          <p:cNvSpPr/>
          <p:nvPr/>
        </p:nvSpPr>
        <p:spPr bwMode="auto">
          <a:xfrm>
            <a:off x="3821830" y="3248705"/>
            <a:ext cx="1271740" cy="9906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Complex network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/>
              <a:t>复杂网络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4" name="Flowchart: Magnetic Disk 13">
            <a:extLst>
              <a:ext uri="{FF2B5EF4-FFF2-40B4-BE49-F238E27FC236}">
                <a16:creationId xmlns:a16="http://schemas.microsoft.com/office/drawing/2014/main" id="{D49C130D-80D4-546A-16AA-DB2818FDBA24}"/>
              </a:ext>
            </a:extLst>
          </p:cNvPr>
          <p:cNvSpPr/>
          <p:nvPr/>
        </p:nvSpPr>
        <p:spPr bwMode="auto">
          <a:xfrm>
            <a:off x="6324599" y="3023558"/>
            <a:ext cx="1855069" cy="1440894"/>
          </a:xfrm>
          <a:prstGeom prst="flowChartMagneticDisk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Preceding text information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/>
              <a:t>前文信息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489295C-9465-B203-A6CB-46EBE3AC2C25}"/>
              </a:ext>
            </a:extLst>
          </p:cNvPr>
          <p:cNvCxnSpPr>
            <a:cxnSpLocks/>
            <a:stCxn id="14" idx="2"/>
            <a:endCxn id="11" idx="3"/>
          </p:cNvCxnSpPr>
          <p:nvPr/>
        </p:nvCxnSpPr>
        <p:spPr bwMode="auto">
          <a:xfrm flipH="1">
            <a:off x="5093570" y="3744005"/>
            <a:ext cx="1231029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861F257-7B4C-1AF0-9972-A4D6C777F4F6}"/>
              </a:ext>
            </a:extLst>
          </p:cNvPr>
          <p:cNvCxnSpPr>
            <a:cxnSpLocks/>
          </p:cNvCxnSpPr>
          <p:nvPr/>
        </p:nvCxnSpPr>
        <p:spPr bwMode="auto">
          <a:xfrm>
            <a:off x="4457699" y="2535742"/>
            <a:ext cx="0" cy="71296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A5BD0B4-7CF4-3972-E47D-50BC1759E7FD}"/>
              </a:ext>
            </a:extLst>
          </p:cNvPr>
          <p:cNvCxnSpPr>
            <a:stCxn id="11" idx="0"/>
          </p:cNvCxnSpPr>
          <p:nvPr/>
        </p:nvCxnSpPr>
        <p:spPr bwMode="auto">
          <a:xfrm flipV="1">
            <a:off x="4457700" y="2819400"/>
            <a:ext cx="0" cy="42930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0187EA6-5365-DF2B-1289-EA6B476759E2}"/>
              </a:ext>
            </a:extLst>
          </p:cNvPr>
          <p:cNvCxnSpPr/>
          <p:nvPr/>
        </p:nvCxnSpPr>
        <p:spPr bwMode="auto">
          <a:xfrm flipH="1">
            <a:off x="3581400" y="2819400"/>
            <a:ext cx="8763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15EE7AD-F72B-6DCE-C292-12FB48646A0E}"/>
              </a:ext>
            </a:extLst>
          </p:cNvPr>
          <p:cNvCxnSpPr>
            <a:cxnSpLocks/>
          </p:cNvCxnSpPr>
          <p:nvPr/>
        </p:nvCxnSpPr>
        <p:spPr bwMode="auto">
          <a:xfrm>
            <a:off x="3581400" y="2819400"/>
            <a:ext cx="0" cy="222146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21340D5-3F30-ABD4-C11E-BDEA372A8954}"/>
              </a:ext>
            </a:extLst>
          </p:cNvPr>
          <p:cNvCxnSpPr>
            <a:endCxn id="5" idx="0"/>
          </p:cNvCxnSpPr>
          <p:nvPr/>
        </p:nvCxnSpPr>
        <p:spPr bwMode="auto">
          <a:xfrm>
            <a:off x="3581400" y="5040868"/>
            <a:ext cx="8763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FF8D364-1513-2AC0-17FD-25A24D20344B}"/>
              </a:ext>
            </a:extLst>
          </p:cNvPr>
          <p:cNvSpPr txBox="1"/>
          <p:nvPr/>
        </p:nvSpPr>
        <p:spPr>
          <a:xfrm>
            <a:off x="3711084" y="2166410"/>
            <a:ext cx="1447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34435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B6D01-CBBC-87F8-F064-01ACE2DAB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D579B-4F60-84DF-81FF-C6F360B3C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Iterative Generation </a:t>
            </a:r>
            <a:r>
              <a:rPr lang="zh-CN" altLang="en-US" dirty="0"/>
              <a:t> 反复生成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139540-7546-F206-3C65-BFA87C2610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</a:t>
            </a:r>
            <a:r>
              <a:rPr lang="en-US" altLang="zh-CN" sz="1400" dirty="0">
                <a:ea typeface="SimSun" panose="02010600030101010101" pitchFamily="2" charset="-122"/>
              </a:rPr>
              <a:t>Other Topic: Modern Paradigm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zh-CN" altLang="en-US" sz="1400" kern="0" dirty="0">
                <a:ea typeface="SimSun" panose="02010600030101010101" pitchFamily="2" charset="-122"/>
              </a:rPr>
              <a:t>番外：现代范式</a:t>
            </a:r>
            <a:endParaRPr lang="en-US" altLang="zh-CN" sz="1400" kern="0" dirty="0">
              <a:ea typeface="SimSun" panose="02010600030101010101" pitchFamily="2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EA557A-A85C-66C1-5996-6B4CC7FC6B80}"/>
              </a:ext>
            </a:extLst>
          </p:cNvPr>
          <p:cNvSpPr txBox="1"/>
          <p:nvPr/>
        </p:nvSpPr>
        <p:spPr>
          <a:xfrm>
            <a:off x="3733800" y="5040868"/>
            <a:ext cx="1447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3C0BE48-6255-1D77-BDFB-46D32DEBB81B}"/>
              </a:ext>
            </a:extLst>
          </p:cNvPr>
          <p:cNvCxnSpPr>
            <a:cxnSpLocks/>
            <a:stCxn id="11" idx="2"/>
            <a:endCxn id="5" idx="0"/>
          </p:cNvCxnSpPr>
          <p:nvPr/>
        </p:nvCxnSpPr>
        <p:spPr bwMode="auto">
          <a:xfrm>
            <a:off x="4457700" y="4239305"/>
            <a:ext cx="0" cy="80156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431E6008-5B77-7E08-3E4E-AD767C881406}"/>
              </a:ext>
            </a:extLst>
          </p:cNvPr>
          <p:cNvSpPr/>
          <p:nvPr/>
        </p:nvSpPr>
        <p:spPr bwMode="auto">
          <a:xfrm>
            <a:off x="3821830" y="3248705"/>
            <a:ext cx="1271740" cy="9906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Complex network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/>
              <a:t>复杂网络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4" name="Flowchart: Magnetic Disk 13">
            <a:extLst>
              <a:ext uri="{FF2B5EF4-FFF2-40B4-BE49-F238E27FC236}">
                <a16:creationId xmlns:a16="http://schemas.microsoft.com/office/drawing/2014/main" id="{ED076E48-5BF4-63C4-C438-1AF4FD54B0AC}"/>
              </a:ext>
            </a:extLst>
          </p:cNvPr>
          <p:cNvSpPr/>
          <p:nvPr/>
        </p:nvSpPr>
        <p:spPr bwMode="auto">
          <a:xfrm>
            <a:off x="6324599" y="3023558"/>
            <a:ext cx="1855069" cy="1440894"/>
          </a:xfrm>
          <a:prstGeom prst="flowChartMagneticDisk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Preceding text information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/>
              <a:t>前文信息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C718E2-3A92-4EE2-4F8B-6E47F9C626BA}"/>
              </a:ext>
            </a:extLst>
          </p:cNvPr>
          <p:cNvCxnSpPr>
            <a:cxnSpLocks/>
            <a:stCxn id="11" idx="3"/>
            <a:endCxn id="14" idx="2"/>
          </p:cNvCxnSpPr>
          <p:nvPr/>
        </p:nvCxnSpPr>
        <p:spPr bwMode="auto">
          <a:xfrm>
            <a:off x="5093570" y="3744005"/>
            <a:ext cx="1231029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4164D35-9BAC-378A-8B73-1D5E01B0BBB1}"/>
              </a:ext>
            </a:extLst>
          </p:cNvPr>
          <p:cNvCxnSpPr>
            <a:stCxn id="11" idx="0"/>
          </p:cNvCxnSpPr>
          <p:nvPr/>
        </p:nvCxnSpPr>
        <p:spPr bwMode="auto">
          <a:xfrm flipV="1">
            <a:off x="4457700" y="2819400"/>
            <a:ext cx="0" cy="42930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91629B1-DD47-3CFC-0621-622006FBF47E}"/>
              </a:ext>
            </a:extLst>
          </p:cNvPr>
          <p:cNvCxnSpPr/>
          <p:nvPr/>
        </p:nvCxnSpPr>
        <p:spPr bwMode="auto">
          <a:xfrm flipH="1">
            <a:off x="3581400" y="2819400"/>
            <a:ext cx="8763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5DBA466-7BB1-E758-2582-54F11BC35C51}"/>
              </a:ext>
            </a:extLst>
          </p:cNvPr>
          <p:cNvCxnSpPr>
            <a:cxnSpLocks/>
          </p:cNvCxnSpPr>
          <p:nvPr/>
        </p:nvCxnSpPr>
        <p:spPr bwMode="auto">
          <a:xfrm>
            <a:off x="3581400" y="2819400"/>
            <a:ext cx="0" cy="222146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9D3DAD0-7079-814D-D2D9-E6611687C227}"/>
              </a:ext>
            </a:extLst>
          </p:cNvPr>
          <p:cNvCxnSpPr>
            <a:endCxn id="5" idx="0"/>
          </p:cNvCxnSpPr>
          <p:nvPr/>
        </p:nvCxnSpPr>
        <p:spPr bwMode="auto">
          <a:xfrm>
            <a:off x="3581400" y="5040868"/>
            <a:ext cx="8763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299502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526CB-5762-AF11-C7AD-0C51161FE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5AB88-0574-6600-6D78-578468EDE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Iterative Generation </a:t>
            </a:r>
            <a:r>
              <a:rPr lang="zh-CN" altLang="en-US" dirty="0"/>
              <a:t> 反复生成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A7C163-1FF7-6208-185B-73F2D253AF6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</a:t>
            </a:r>
            <a:r>
              <a:rPr lang="en-US" altLang="zh-CN" sz="1400" dirty="0">
                <a:ea typeface="SimSun" panose="02010600030101010101" pitchFamily="2" charset="-122"/>
              </a:rPr>
              <a:t>Other Topic: Modern Paradigm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zh-CN" altLang="en-US" sz="1400" kern="0" dirty="0">
                <a:ea typeface="SimSun" panose="02010600030101010101" pitchFamily="2" charset="-122"/>
              </a:rPr>
              <a:t>番外：现代范式</a:t>
            </a:r>
            <a:endParaRPr lang="en-US" altLang="zh-CN" sz="1400" kern="0" dirty="0">
              <a:ea typeface="SimSun" panose="02010600030101010101" pitchFamily="2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767935-59FF-14A1-CBEB-8197A4793B84}"/>
              </a:ext>
            </a:extLst>
          </p:cNvPr>
          <p:cNvSpPr txBox="1"/>
          <p:nvPr/>
        </p:nvSpPr>
        <p:spPr>
          <a:xfrm>
            <a:off x="3733800" y="5040868"/>
            <a:ext cx="1447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FF3243A-56CB-47B4-DB79-FF683911D489}"/>
              </a:ext>
            </a:extLst>
          </p:cNvPr>
          <p:cNvCxnSpPr>
            <a:cxnSpLocks/>
            <a:stCxn id="11" idx="2"/>
            <a:endCxn id="5" idx="0"/>
          </p:cNvCxnSpPr>
          <p:nvPr/>
        </p:nvCxnSpPr>
        <p:spPr bwMode="auto">
          <a:xfrm>
            <a:off x="4457700" y="4239305"/>
            <a:ext cx="0" cy="80156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1768813A-7AB0-FD03-29F1-53025D78BFB9}"/>
              </a:ext>
            </a:extLst>
          </p:cNvPr>
          <p:cNvSpPr/>
          <p:nvPr/>
        </p:nvSpPr>
        <p:spPr bwMode="auto">
          <a:xfrm>
            <a:off x="3821830" y="3248705"/>
            <a:ext cx="1271740" cy="9906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Complex network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/>
              <a:t>复杂网络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4" name="Flowchart: Magnetic Disk 13">
            <a:extLst>
              <a:ext uri="{FF2B5EF4-FFF2-40B4-BE49-F238E27FC236}">
                <a16:creationId xmlns:a16="http://schemas.microsoft.com/office/drawing/2014/main" id="{CB0023F0-617E-1193-765C-5ED494D76E0F}"/>
              </a:ext>
            </a:extLst>
          </p:cNvPr>
          <p:cNvSpPr/>
          <p:nvPr/>
        </p:nvSpPr>
        <p:spPr bwMode="auto">
          <a:xfrm>
            <a:off x="6324599" y="3023558"/>
            <a:ext cx="1855069" cy="1440894"/>
          </a:xfrm>
          <a:prstGeom prst="flowChartMagneticDisk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Preceding text information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/>
              <a:t>前文信息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ED10776-3F4B-58BF-6666-BB865459B862}"/>
              </a:ext>
            </a:extLst>
          </p:cNvPr>
          <p:cNvCxnSpPr>
            <a:cxnSpLocks/>
            <a:stCxn id="14" idx="2"/>
            <a:endCxn id="11" idx="3"/>
          </p:cNvCxnSpPr>
          <p:nvPr/>
        </p:nvCxnSpPr>
        <p:spPr bwMode="auto">
          <a:xfrm flipH="1">
            <a:off x="5093570" y="3744005"/>
            <a:ext cx="1231029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265DECB-1C99-521D-7BDE-4D6DBE47C15D}"/>
              </a:ext>
            </a:extLst>
          </p:cNvPr>
          <p:cNvCxnSpPr>
            <a:cxnSpLocks/>
          </p:cNvCxnSpPr>
          <p:nvPr/>
        </p:nvCxnSpPr>
        <p:spPr bwMode="auto">
          <a:xfrm>
            <a:off x="4457699" y="2535742"/>
            <a:ext cx="0" cy="71296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30B903C-A606-DD62-A05C-D4681F396155}"/>
              </a:ext>
            </a:extLst>
          </p:cNvPr>
          <p:cNvCxnSpPr>
            <a:stCxn id="11" idx="0"/>
          </p:cNvCxnSpPr>
          <p:nvPr/>
        </p:nvCxnSpPr>
        <p:spPr bwMode="auto">
          <a:xfrm flipV="1">
            <a:off x="4457700" y="2819400"/>
            <a:ext cx="0" cy="42930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0095483-A061-A4C7-1D3F-C07D68A60DC0}"/>
              </a:ext>
            </a:extLst>
          </p:cNvPr>
          <p:cNvCxnSpPr/>
          <p:nvPr/>
        </p:nvCxnSpPr>
        <p:spPr bwMode="auto">
          <a:xfrm flipH="1">
            <a:off x="3581400" y="2819400"/>
            <a:ext cx="8763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A1F4E5D-C3C6-C08E-124C-B0A7F7F9975E}"/>
              </a:ext>
            </a:extLst>
          </p:cNvPr>
          <p:cNvCxnSpPr>
            <a:cxnSpLocks/>
          </p:cNvCxnSpPr>
          <p:nvPr/>
        </p:nvCxnSpPr>
        <p:spPr bwMode="auto">
          <a:xfrm>
            <a:off x="3581400" y="2819400"/>
            <a:ext cx="0" cy="222146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1818ADD-09E1-9914-C6B9-B51109D35725}"/>
              </a:ext>
            </a:extLst>
          </p:cNvPr>
          <p:cNvCxnSpPr>
            <a:endCxn id="5" idx="0"/>
          </p:cNvCxnSpPr>
          <p:nvPr/>
        </p:nvCxnSpPr>
        <p:spPr bwMode="auto">
          <a:xfrm>
            <a:off x="3581400" y="5040868"/>
            <a:ext cx="8763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DF9BDBE-C79F-31B8-97AD-A5DF7A7CEB4D}"/>
              </a:ext>
            </a:extLst>
          </p:cNvPr>
          <p:cNvSpPr txBox="1"/>
          <p:nvPr/>
        </p:nvSpPr>
        <p:spPr>
          <a:xfrm>
            <a:off x="3711084" y="2166410"/>
            <a:ext cx="1447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the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880752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BA1D1-0E9C-D3B3-DA52-E80539808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9F591-615D-DCA0-93B7-20566177C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Iterative Generation </a:t>
            </a:r>
            <a:r>
              <a:rPr lang="zh-CN" altLang="en-US" dirty="0"/>
              <a:t> 反复生成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5BCCE9-834E-B58D-4C91-C81C268B99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</a:t>
            </a:r>
            <a:r>
              <a:rPr lang="en-US" altLang="zh-CN" sz="1400" dirty="0">
                <a:ea typeface="SimSun" panose="02010600030101010101" pitchFamily="2" charset="-122"/>
              </a:rPr>
              <a:t>Other Topic: Modern Paradigm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zh-CN" altLang="en-US" sz="1400" kern="0" dirty="0">
                <a:ea typeface="SimSun" panose="02010600030101010101" pitchFamily="2" charset="-122"/>
              </a:rPr>
              <a:t>番外：现代范式</a:t>
            </a:r>
            <a:endParaRPr lang="en-US" altLang="zh-CN" sz="1400" kern="0" dirty="0">
              <a:ea typeface="SimSun" panose="02010600030101010101" pitchFamily="2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662CE9-856B-67C2-59D8-6CE331C7E384}"/>
              </a:ext>
            </a:extLst>
          </p:cNvPr>
          <p:cNvSpPr txBox="1"/>
          <p:nvPr/>
        </p:nvSpPr>
        <p:spPr>
          <a:xfrm>
            <a:off x="3733800" y="5040868"/>
            <a:ext cx="1447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the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AA0BC03-909D-BE3A-506E-00ED81A3A089}"/>
              </a:ext>
            </a:extLst>
          </p:cNvPr>
          <p:cNvCxnSpPr>
            <a:cxnSpLocks/>
            <a:stCxn id="11" idx="2"/>
            <a:endCxn id="5" idx="0"/>
          </p:cNvCxnSpPr>
          <p:nvPr/>
        </p:nvCxnSpPr>
        <p:spPr bwMode="auto">
          <a:xfrm>
            <a:off x="4457700" y="4239305"/>
            <a:ext cx="0" cy="80156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A4D51CE2-AA19-76CC-0EA5-31B0D7AE1553}"/>
              </a:ext>
            </a:extLst>
          </p:cNvPr>
          <p:cNvSpPr/>
          <p:nvPr/>
        </p:nvSpPr>
        <p:spPr bwMode="auto">
          <a:xfrm>
            <a:off x="3821830" y="3248705"/>
            <a:ext cx="1271740" cy="9906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Complex network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/>
              <a:t>复杂网络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4" name="Flowchart: Magnetic Disk 13">
            <a:extLst>
              <a:ext uri="{FF2B5EF4-FFF2-40B4-BE49-F238E27FC236}">
                <a16:creationId xmlns:a16="http://schemas.microsoft.com/office/drawing/2014/main" id="{D5DE3486-5789-DFAB-6562-AC1CE8C5BC0E}"/>
              </a:ext>
            </a:extLst>
          </p:cNvPr>
          <p:cNvSpPr/>
          <p:nvPr/>
        </p:nvSpPr>
        <p:spPr bwMode="auto">
          <a:xfrm>
            <a:off x="6324599" y="3023558"/>
            <a:ext cx="1855069" cy="1440894"/>
          </a:xfrm>
          <a:prstGeom prst="flowChartMagneticDisk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Preceding text information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/>
              <a:t>前文信息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F8B440F-0D16-C879-AE0B-149586A2F99E}"/>
              </a:ext>
            </a:extLst>
          </p:cNvPr>
          <p:cNvCxnSpPr>
            <a:cxnSpLocks/>
            <a:stCxn id="11" idx="3"/>
            <a:endCxn id="14" idx="2"/>
          </p:cNvCxnSpPr>
          <p:nvPr/>
        </p:nvCxnSpPr>
        <p:spPr bwMode="auto">
          <a:xfrm>
            <a:off x="5093570" y="3744005"/>
            <a:ext cx="1231029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C6BE0A-905C-E1E2-D69F-0613A9616207}"/>
              </a:ext>
            </a:extLst>
          </p:cNvPr>
          <p:cNvCxnSpPr>
            <a:stCxn id="11" idx="0"/>
          </p:cNvCxnSpPr>
          <p:nvPr/>
        </p:nvCxnSpPr>
        <p:spPr bwMode="auto">
          <a:xfrm flipV="1">
            <a:off x="4457700" y="2819400"/>
            <a:ext cx="0" cy="42930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341BC79-44AA-4ED9-D6CC-2093B95D695F}"/>
              </a:ext>
            </a:extLst>
          </p:cNvPr>
          <p:cNvCxnSpPr/>
          <p:nvPr/>
        </p:nvCxnSpPr>
        <p:spPr bwMode="auto">
          <a:xfrm flipH="1">
            <a:off x="3581400" y="2819400"/>
            <a:ext cx="8763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BB1502B-CDD3-829C-513E-E38B3981581D}"/>
              </a:ext>
            </a:extLst>
          </p:cNvPr>
          <p:cNvCxnSpPr>
            <a:cxnSpLocks/>
          </p:cNvCxnSpPr>
          <p:nvPr/>
        </p:nvCxnSpPr>
        <p:spPr bwMode="auto">
          <a:xfrm>
            <a:off x="3581400" y="2819400"/>
            <a:ext cx="0" cy="222146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B59EECD-8AAB-2CCB-AEAD-664883B96110}"/>
              </a:ext>
            </a:extLst>
          </p:cNvPr>
          <p:cNvCxnSpPr>
            <a:endCxn id="5" idx="0"/>
          </p:cNvCxnSpPr>
          <p:nvPr/>
        </p:nvCxnSpPr>
        <p:spPr bwMode="auto">
          <a:xfrm>
            <a:off x="3581400" y="5040868"/>
            <a:ext cx="8763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913312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61CE2-86A6-9D59-DCBB-F1D373F15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BF4AA-1F6E-7FF4-EFC8-FD5B76962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Iterative Generation </a:t>
            </a:r>
            <a:r>
              <a:rPr lang="zh-CN" altLang="en-US" dirty="0"/>
              <a:t> 反复生成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22546B-FE9E-C9C9-062B-56A4EF810AE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</a:t>
            </a:r>
            <a:r>
              <a:rPr lang="en-US" altLang="zh-CN" sz="1400" dirty="0">
                <a:ea typeface="SimSun" panose="02010600030101010101" pitchFamily="2" charset="-122"/>
              </a:rPr>
              <a:t>Other Topic: Modern Paradigm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zh-CN" altLang="en-US" sz="1400" kern="0" dirty="0">
                <a:ea typeface="SimSun" panose="02010600030101010101" pitchFamily="2" charset="-122"/>
              </a:rPr>
              <a:t>番外：现代范式</a:t>
            </a:r>
            <a:endParaRPr lang="en-US" altLang="zh-CN" sz="1400" kern="0" dirty="0">
              <a:ea typeface="SimSun" panose="02010600030101010101" pitchFamily="2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047E9-400F-83ED-71F8-FBEE2703181F}"/>
              </a:ext>
            </a:extLst>
          </p:cNvPr>
          <p:cNvSpPr txBox="1"/>
          <p:nvPr/>
        </p:nvSpPr>
        <p:spPr>
          <a:xfrm>
            <a:off x="3733800" y="5040868"/>
            <a:ext cx="1447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the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CF5F6F8-CF9B-C206-C5B8-3F6AF3CBFAF8}"/>
              </a:ext>
            </a:extLst>
          </p:cNvPr>
          <p:cNvCxnSpPr>
            <a:cxnSpLocks/>
            <a:stCxn id="11" idx="2"/>
            <a:endCxn id="5" idx="0"/>
          </p:cNvCxnSpPr>
          <p:nvPr/>
        </p:nvCxnSpPr>
        <p:spPr bwMode="auto">
          <a:xfrm>
            <a:off x="4457700" y="4239305"/>
            <a:ext cx="0" cy="80156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8E4F4ACB-0048-5092-5428-5A42D1A97734}"/>
              </a:ext>
            </a:extLst>
          </p:cNvPr>
          <p:cNvSpPr/>
          <p:nvPr/>
        </p:nvSpPr>
        <p:spPr bwMode="auto">
          <a:xfrm>
            <a:off x="3821830" y="3248705"/>
            <a:ext cx="1271740" cy="9906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Complex network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/>
              <a:t>复杂网络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4" name="Flowchart: Magnetic Disk 13">
            <a:extLst>
              <a:ext uri="{FF2B5EF4-FFF2-40B4-BE49-F238E27FC236}">
                <a16:creationId xmlns:a16="http://schemas.microsoft.com/office/drawing/2014/main" id="{C314F75B-5150-DAF3-B9E4-27C80E706096}"/>
              </a:ext>
            </a:extLst>
          </p:cNvPr>
          <p:cNvSpPr/>
          <p:nvPr/>
        </p:nvSpPr>
        <p:spPr bwMode="auto">
          <a:xfrm>
            <a:off x="6324599" y="3023558"/>
            <a:ext cx="1855069" cy="1440894"/>
          </a:xfrm>
          <a:prstGeom prst="flowChartMagneticDisk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Preceding text information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/>
              <a:t>前文信息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66B1B51-23CA-F6F8-2D31-7284640C2A5B}"/>
              </a:ext>
            </a:extLst>
          </p:cNvPr>
          <p:cNvCxnSpPr>
            <a:cxnSpLocks/>
            <a:stCxn id="14" idx="2"/>
            <a:endCxn id="11" idx="3"/>
          </p:cNvCxnSpPr>
          <p:nvPr/>
        </p:nvCxnSpPr>
        <p:spPr bwMode="auto">
          <a:xfrm flipH="1">
            <a:off x="5093570" y="3744005"/>
            <a:ext cx="1231029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38267AF-7746-1D14-523A-B8E7AB5D8B6B}"/>
              </a:ext>
            </a:extLst>
          </p:cNvPr>
          <p:cNvCxnSpPr>
            <a:cxnSpLocks/>
          </p:cNvCxnSpPr>
          <p:nvPr/>
        </p:nvCxnSpPr>
        <p:spPr bwMode="auto">
          <a:xfrm>
            <a:off x="4457699" y="2535742"/>
            <a:ext cx="0" cy="71296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5EF99F3-1310-48E0-81DE-19E7619BEB64}"/>
              </a:ext>
            </a:extLst>
          </p:cNvPr>
          <p:cNvCxnSpPr>
            <a:stCxn id="11" idx="0"/>
          </p:cNvCxnSpPr>
          <p:nvPr/>
        </p:nvCxnSpPr>
        <p:spPr bwMode="auto">
          <a:xfrm flipV="1">
            <a:off x="4457700" y="2819400"/>
            <a:ext cx="0" cy="42930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CF3D4A4-EDE4-2229-C7A4-3AD3A1746FE7}"/>
              </a:ext>
            </a:extLst>
          </p:cNvPr>
          <p:cNvCxnSpPr/>
          <p:nvPr/>
        </p:nvCxnSpPr>
        <p:spPr bwMode="auto">
          <a:xfrm flipH="1">
            <a:off x="3581400" y="2819400"/>
            <a:ext cx="8763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0F3936E-703F-0841-BC60-E34D231D2B61}"/>
              </a:ext>
            </a:extLst>
          </p:cNvPr>
          <p:cNvCxnSpPr>
            <a:cxnSpLocks/>
          </p:cNvCxnSpPr>
          <p:nvPr/>
        </p:nvCxnSpPr>
        <p:spPr bwMode="auto">
          <a:xfrm>
            <a:off x="3581400" y="2819400"/>
            <a:ext cx="0" cy="222146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77D1EB7-FE70-4876-C6A5-6310ECF637F0}"/>
              </a:ext>
            </a:extLst>
          </p:cNvPr>
          <p:cNvCxnSpPr>
            <a:endCxn id="5" idx="0"/>
          </p:cNvCxnSpPr>
          <p:nvPr/>
        </p:nvCxnSpPr>
        <p:spPr bwMode="auto">
          <a:xfrm>
            <a:off x="3581400" y="5040868"/>
            <a:ext cx="8763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68C7CDA-4F95-1AF1-73E3-666ADFDEA9F7}"/>
              </a:ext>
            </a:extLst>
          </p:cNvPr>
          <p:cNvSpPr txBox="1"/>
          <p:nvPr/>
        </p:nvSpPr>
        <p:spPr>
          <a:xfrm>
            <a:off x="3711084" y="2166410"/>
            <a:ext cx="1447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moon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722922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3DDE9-89AF-A4DD-3091-583457D6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C6863-8042-1517-DC7B-B3AE7F5EE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Iterative Generation </a:t>
            </a:r>
            <a:r>
              <a:rPr lang="zh-CN" altLang="en-US" dirty="0"/>
              <a:t> 反复生成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814A23-3DB3-2984-DD5C-9E32C2787C2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</a:t>
            </a:r>
            <a:r>
              <a:rPr lang="en-US" altLang="zh-CN" sz="1400" dirty="0">
                <a:ea typeface="SimSun" panose="02010600030101010101" pitchFamily="2" charset="-122"/>
              </a:rPr>
              <a:t>Other Topic: Modern Paradigm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zh-CN" altLang="en-US" sz="1400" kern="0" dirty="0">
                <a:ea typeface="SimSun" panose="02010600030101010101" pitchFamily="2" charset="-122"/>
              </a:rPr>
              <a:t>番外：现代范式</a:t>
            </a:r>
            <a:endParaRPr lang="en-US" altLang="zh-CN" sz="1400" kern="0" dirty="0">
              <a:ea typeface="SimSun" panose="02010600030101010101" pitchFamily="2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6639B8-67AE-3EC4-2A36-8C57EDE0373D}"/>
              </a:ext>
            </a:extLst>
          </p:cNvPr>
          <p:cNvSpPr txBox="1"/>
          <p:nvPr/>
        </p:nvSpPr>
        <p:spPr>
          <a:xfrm>
            <a:off x="3733800" y="5040868"/>
            <a:ext cx="1447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moon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E479B09-A932-6E75-360E-2FC3F2463BB5}"/>
              </a:ext>
            </a:extLst>
          </p:cNvPr>
          <p:cNvCxnSpPr>
            <a:cxnSpLocks/>
            <a:stCxn id="11" idx="2"/>
            <a:endCxn id="5" idx="0"/>
          </p:cNvCxnSpPr>
          <p:nvPr/>
        </p:nvCxnSpPr>
        <p:spPr bwMode="auto">
          <a:xfrm>
            <a:off x="4457700" y="4239305"/>
            <a:ext cx="0" cy="80156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10AB6EBF-DC5F-63C0-8AE2-28619C50EFBC}"/>
              </a:ext>
            </a:extLst>
          </p:cNvPr>
          <p:cNvSpPr/>
          <p:nvPr/>
        </p:nvSpPr>
        <p:spPr bwMode="auto">
          <a:xfrm>
            <a:off x="3821830" y="3248705"/>
            <a:ext cx="1271740" cy="9906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Complex network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/>
              <a:t>复杂网络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4" name="Flowchart: Magnetic Disk 13">
            <a:extLst>
              <a:ext uri="{FF2B5EF4-FFF2-40B4-BE49-F238E27FC236}">
                <a16:creationId xmlns:a16="http://schemas.microsoft.com/office/drawing/2014/main" id="{89B67DA7-451E-ABE2-D645-B3D71151AB8A}"/>
              </a:ext>
            </a:extLst>
          </p:cNvPr>
          <p:cNvSpPr/>
          <p:nvPr/>
        </p:nvSpPr>
        <p:spPr bwMode="auto">
          <a:xfrm>
            <a:off x="6324599" y="3023558"/>
            <a:ext cx="1855069" cy="1440894"/>
          </a:xfrm>
          <a:prstGeom prst="flowChartMagneticDisk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Preceding text information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/>
              <a:t>前文信息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041D631-D6E1-8D64-DEBB-47E1C66D7C86}"/>
              </a:ext>
            </a:extLst>
          </p:cNvPr>
          <p:cNvCxnSpPr>
            <a:cxnSpLocks/>
            <a:stCxn id="11" idx="3"/>
            <a:endCxn id="14" idx="2"/>
          </p:cNvCxnSpPr>
          <p:nvPr/>
        </p:nvCxnSpPr>
        <p:spPr bwMode="auto">
          <a:xfrm>
            <a:off x="5093570" y="3744005"/>
            <a:ext cx="1231029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4481F27-83E6-68B2-2049-D64A45915D6F}"/>
              </a:ext>
            </a:extLst>
          </p:cNvPr>
          <p:cNvCxnSpPr>
            <a:stCxn id="11" idx="0"/>
          </p:cNvCxnSpPr>
          <p:nvPr/>
        </p:nvCxnSpPr>
        <p:spPr bwMode="auto">
          <a:xfrm flipV="1">
            <a:off x="4457700" y="2819400"/>
            <a:ext cx="0" cy="42930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B3D670F-C65C-E7A7-47E6-555A848948AE}"/>
              </a:ext>
            </a:extLst>
          </p:cNvPr>
          <p:cNvCxnSpPr/>
          <p:nvPr/>
        </p:nvCxnSpPr>
        <p:spPr bwMode="auto">
          <a:xfrm flipH="1">
            <a:off x="3581400" y="2819400"/>
            <a:ext cx="8763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05963C7-1D6B-DBA4-81B1-7F61E50EC4F6}"/>
              </a:ext>
            </a:extLst>
          </p:cNvPr>
          <p:cNvCxnSpPr>
            <a:cxnSpLocks/>
          </p:cNvCxnSpPr>
          <p:nvPr/>
        </p:nvCxnSpPr>
        <p:spPr bwMode="auto">
          <a:xfrm>
            <a:off x="3581400" y="2819400"/>
            <a:ext cx="0" cy="222146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BB27F07-BE42-BCF4-6DBB-A04E18A6C3FD}"/>
              </a:ext>
            </a:extLst>
          </p:cNvPr>
          <p:cNvCxnSpPr>
            <a:endCxn id="5" idx="0"/>
          </p:cNvCxnSpPr>
          <p:nvPr/>
        </p:nvCxnSpPr>
        <p:spPr bwMode="auto">
          <a:xfrm>
            <a:off x="3581400" y="5040868"/>
            <a:ext cx="8763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2795978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68DB6-A8E8-C51A-CA94-194391AD3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32E88-C29B-A400-7A50-E9CA17A76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Iterative Generation </a:t>
            </a:r>
            <a:r>
              <a:rPr lang="zh-CN" altLang="en-US" dirty="0"/>
              <a:t> 反复生成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DE73E6-B759-6B6D-904A-78693CDBED2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</a:t>
            </a:r>
            <a:r>
              <a:rPr lang="en-US" altLang="zh-CN" sz="1400" dirty="0">
                <a:ea typeface="SimSun" panose="02010600030101010101" pitchFamily="2" charset="-122"/>
              </a:rPr>
              <a:t>Other Topic: Modern Paradigm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zh-CN" altLang="en-US" sz="1400" kern="0" dirty="0">
                <a:ea typeface="SimSun" panose="02010600030101010101" pitchFamily="2" charset="-122"/>
              </a:rPr>
              <a:t>番外：现代范式</a:t>
            </a:r>
            <a:endParaRPr lang="en-US" altLang="zh-CN" sz="1400" kern="0" dirty="0">
              <a:ea typeface="SimSun" panose="02010600030101010101" pitchFamily="2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021DE8-E61A-71E1-A69B-C0EA3DF478E0}"/>
              </a:ext>
            </a:extLst>
          </p:cNvPr>
          <p:cNvSpPr txBox="1"/>
          <p:nvPr/>
        </p:nvSpPr>
        <p:spPr>
          <a:xfrm>
            <a:off x="3733800" y="5040868"/>
            <a:ext cx="1447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moon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EB1DB7C-1AE4-B00A-51D9-657663033CD0}"/>
              </a:ext>
            </a:extLst>
          </p:cNvPr>
          <p:cNvCxnSpPr>
            <a:cxnSpLocks/>
            <a:stCxn id="11" idx="2"/>
            <a:endCxn id="5" idx="0"/>
          </p:cNvCxnSpPr>
          <p:nvPr/>
        </p:nvCxnSpPr>
        <p:spPr bwMode="auto">
          <a:xfrm>
            <a:off x="4457700" y="4239305"/>
            <a:ext cx="0" cy="80156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47ED861C-335E-3D60-270B-16EE3B408F48}"/>
              </a:ext>
            </a:extLst>
          </p:cNvPr>
          <p:cNvSpPr/>
          <p:nvPr/>
        </p:nvSpPr>
        <p:spPr bwMode="auto">
          <a:xfrm>
            <a:off x="3821830" y="3248705"/>
            <a:ext cx="1271740" cy="9906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Complex network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/>
              <a:t>复杂网络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4" name="Flowchart: Magnetic Disk 13">
            <a:extLst>
              <a:ext uri="{FF2B5EF4-FFF2-40B4-BE49-F238E27FC236}">
                <a16:creationId xmlns:a16="http://schemas.microsoft.com/office/drawing/2014/main" id="{EE8094B1-C9B9-0267-E78B-4F6A9D2671D7}"/>
              </a:ext>
            </a:extLst>
          </p:cNvPr>
          <p:cNvSpPr/>
          <p:nvPr/>
        </p:nvSpPr>
        <p:spPr bwMode="auto">
          <a:xfrm>
            <a:off x="6324599" y="3023558"/>
            <a:ext cx="1855069" cy="1440894"/>
          </a:xfrm>
          <a:prstGeom prst="flowChartMagneticDisk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Preceding text information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/>
              <a:t>前文信息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84A5E93-E141-FCDE-1F98-5C9CDEE710F3}"/>
              </a:ext>
            </a:extLst>
          </p:cNvPr>
          <p:cNvCxnSpPr>
            <a:cxnSpLocks/>
            <a:stCxn id="14" idx="2"/>
            <a:endCxn id="11" idx="3"/>
          </p:cNvCxnSpPr>
          <p:nvPr/>
        </p:nvCxnSpPr>
        <p:spPr bwMode="auto">
          <a:xfrm flipH="1">
            <a:off x="5093570" y="3744005"/>
            <a:ext cx="1231029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D59228E-8215-D885-6386-D499EB3AB63E}"/>
              </a:ext>
            </a:extLst>
          </p:cNvPr>
          <p:cNvCxnSpPr>
            <a:cxnSpLocks/>
          </p:cNvCxnSpPr>
          <p:nvPr/>
        </p:nvCxnSpPr>
        <p:spPr bwMode="auto">
          <a:xfrm>
            <a:off x="4457699" y="2535742"/>
            <a:ext cx="0" cy="71296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83CD755-D5F2-2F75-A2AD-0565E8B62D1F}"/>
              </a:ext>
            </a:extLst>
          </p:cNvPr>
          <p:cNvCxnSpPr>
            <a:stCxn id="11" idx="0"/>
          </p:cNvCxnSpPr>
          <p:nvPr/>
        </p:nvCxnSpPr>
        <p:spPr bwMode="auto">
          <a:xfrm flipV="1">
            <a:off x="4457700" y="2819400"/>
            <a:ext cx="0" cy="42930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5FDDED7-E901-2AD0-5D8C-687E8879D1FD}"/>
              </a:ext>
            </a:extLst>
          </p:cNvPr>
          <p:cNvCxnSpPr/>
          <p:nvPr/>
        </p:nvCxnSpPr>
        <p:spPr bwMode="auto">
          <a:xfrm flipH="1">
            <a:off x="3581400" y="2819400"/>
            <a:ext cx="8763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6C336A9-032A-9E9D-A0A9-098172E2F2E1}"/>
              </a:ext>
            </a:extLst>
          </p:cNvPr>
          <p:cNvCxnSpPr>
            <a:cxnSpLocks/>
          </p:cNvCxnSpPr>
          <p:nvPr/>
        </p:nvCxnSpPr>
        <p:spPr bwMode="auto">
          <a:xfrm>
            <a:off x="3581400" y="2819400"/>
            <a:ext cx="0" cy="222146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E4E77F0-04C9-CDD6-084C-8C84ECE3F35A}"/>
              </a:ext>
            </a:extLst>
          </p:cNvPr>
          <p:cNvCxnSpPr>
            <a:endCxn id="5" idx="0"/>
          </p:cNvCxnSpPr>
          <p:nvPr/>
        </p:nvCxnSpPr>
        <p:spPr bwMode="auto">
          <a:xfrm>
            <a:off x="3581400" y="5040868"/>
            <a:ext cx="8763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72E4DA5-9119-B28E-3606-E329036BF0E1}"/>
              </a:ext>
            </a:extLst>
          </p:cNvPr>
          <p:cNvSpPr txBox="1"/>
          <p:nvPr/>
        </p:nvSpPr>
        <p:spPr>
          <a:xfrm>
            <a:off x="3086100" y="2157855"/>
            <a:ext cx="27431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End-of-sequence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196902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27624-656C-FFE2-A92D-67024F168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A2825-043D-700B-1A2E-EF3288387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4" y="457200"/>
            <a:ext cx="7640636" cy="914400"/>
          </a:xfrm>
        </p:spPr>
        <p:txBody>
          <a:bodyPr/>
          <a:lstStyle/>
          <a:p>
            <a:r>
              <a:rPr lang="en-US" altLang="zh-CN" dirty="0"/>
              <a:t>Attention Mechanism </a:t>
            </a:r>
            <a:r>
              <a:rPr lang="zh-CN" altLang="en-US" dirty="0"/>
              <a:t> </a:t>
            </a:r>
            <a:br>
              <a:rPr lang="en-US" altLang="zh-CN" dirty="0"/>
            </a:br>
            <a:r>
              <a:rPr lang="zh-CN" altLang="en-US" dirty="0"/>
              <a:t>注意力机制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D5BF14-F1D1-31C6-85D7-ED5B2C50CB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</a:t>
            </a:r>
            <a:r>
              <a:rPr lang="en-US" altLang="zh-CN" sz="1400" dirty="0">
                <a:ea typeface="SimSun" panose="02010600030101010101" pitchFamily="2" charset="-122"/>
              </a:rPr>
              <a:t>Other Topic: Modern Paradigm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zh-CN" altLang="en-US" sz="1400" kern="0" dirty="0">
                <a:ea typeface="SimSun" panose="02010600030101010101" pitchFamily="2" charset="-122"/>
              </a:rPr>
              <a:t>番外：现代范式</a:t>
            </a:r>
            <a:endParaRPr lang="en-US" altLang="zh-CN" sz="1400" kern="0" dirty="0">
              <a:ea typeface="SimSun" panose="02010600030101010101" pitchFamily="2" charset="-12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2B1C50-4301-EB42-C9E3-D1082AED901D}"/>
              </a:ext>
            </a:extLst>
          </p:cNvPr>
          <p:cNvSpPr txBox="1"/>
          <p:nvPr/>
        </p:nvSpPr>
        <p:spPr>
          <a:xfrm>
            <a:off x="152400" y="1828800"/>
            <a:ext cx="16764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/>
              <a:t>In </a:t>
            </a:r>
          </a:p>
          <a:p>
            <a:pPr algn="ctr"/>
            <a:r>
              <a:rPr lang="en-US" sz="2200" dirty="0"/>
              <a:t>1969</a:t>
            </a:r>
          </a:p>
          <a:p>
            <a:pPr algn="ctr"/>
            <a:r>
              <a:rPr lang="en-US" sz="2200" dirty="0"/>
              <a:t>Neil</a:t>
            </a:r>
          </a:p>
          <a:p>
            <a:pPr algn="ctr"/>
            <a:r>
              <a:rPr lang="en-US" sz="2200" dirty="0"/>
              <a:t>Armstrong</a:t>
            </a:r>
          </a:p>
          <a:p>
            <a:pPr algn="ctr"/>
            <a:r>
              <a:rPr lang="en-US" sz="2200" dirty="0"/>
              <a:t>became</a:t>
            </a:r>
          </a:p>
          <a:p>
            <a:pPr algn="ctr"/>
            <a:r>
              <a:rPr lang="en-US" sz="2200" dirty="0"/>
              <a:t>the</a:t>
            </a:r>
          </a:p>
          <a:p>
            <a:pPr algn="ctr"/>
            <a:r>
              <a:rPr lang="en-US" sz="2200" dirty="0"/>
              <a:t>first</a:t>
            </a:r>
          </a:p>
          <a:p>
            <a:pPr algn="ctr"/>
            <a:r>
              <a:rPr lang="en-US" sz="2200" dirty="0"/>
              <a:t>person</a:t>
            </a:r>
          </a:p>
          <a:p>
            <a:pPr algn="ctr"/>
            <a:r>
              <a:rPr lang="en-US" sz="2200" dirty="0"/>
              <a:t>to</a:t>
            </a:r>
          </a:p>
          <a:p>
            <a:pPr algn="ctr"/>
            <a:r>
              <a:rPr lang="en-US" altLang="zh-CN" sz="2200" dirty="0">
                <a:solidFill>
                  <a:srgbClr val="339933"/>
                </a:solidFill>
              </a:rPr>
              <a:t>walk</a:t>
            </a:r>
            <a:endParaRPr lang="en-US" sz="2200" dirty="0">
              <a:solidFill>
                <a:srgbClr val="339933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BD038AF-C475-699F-E0A6-093A2712EB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2292975"/>
              </p:ext>
            </p:extLst>
          </p:nvPr>
        </p:nvGraphicFramePr>
        <p:xfrm>
          <a:off x="2006148" y="4895075"/>
          <a:ext cx="1801240" cy="369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248">
                  <a:extLst>
                    <a:ext uri="{9D8B030D-6E8A-4147-A177-3AD203B41FA5}">
                      <a16:colId xmlns:a16="http://schemas.microsoft.com/office/drawing/2014/main" val="342487538"/>
                    </a:ext>
                  </a:extLst>
                </a:gridCol>
                <a:gridCol w="360248">
                  <a:extLst>
                    <a:ext uri="{9D8B030D-6E8A-4147-A177-3AD203B41FA5}">
                      <a16:colId xmlns:a16="http://schemas.microsoft.com/office/drawing/2014/main" val="3697092706"/>
                    </a:ext>
                  </a:extLst>
                </a:gridCol>
                <a:gridCol w="360248">
                  <a:extLst>
                    <a:ext uri="{9D8B030D-6E8A-4147-A177-3AD203B41FA5}">
                      <a16:colId xmlns:a16="http://schemas.microsoft.com/office/drawing/2014/main" val="2567947874"/>
                    </a:ext>
                  </a:extLst>
                </a:gridCol>
                <a:gridCol w="360248">
                  <a:extLst>
                    <a:ext uri="{9D8B030D-6E8A-4147-A177-3AD203B41FA5}">
                      <a16:colId xmlns:a16="http://schemas.microsoft.com/office/drawing/2014/main" val="1416636791"/>
                    </a:ext>
                  </a:extLst>
                </a:gridCol>
                <a:gridCol w="360248">
                  <a:extLst>
                    <a:ext uri="{9D8B030D-6E8A-4147-A177-3AD203B41FA5}">
                      <a16:colId xmlns:a16="http://schemas.microsoft.com/office/drawing/2014/main" val="3969255547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11806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83C679D-6C26-1A79-3C89-4B3B50CD238D}"/>
              </a:ext>
            </a:extLst>
          </p:cNvPr>
          <p:cNvSpPr txBox="1"/>
          <p:nvPr/>
        </p:nvSpPr>
        <p:spPr>
          <a:xfrm>
            <a:off x="1752600" y="5297269"/>
            <a:ext cx="21854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Target word </a:t>
            </a:r>
            <a:r>
              <a:rPr lang="en-US" altLang="zh-CN" dirty="0">
                <a:solidFill>
                  <a:srgbClr val="C00000"/>
                </a:solidFill>
              </a:rPr>
              <a:t>query</a:t>
            </a:r>
            <a:endParaRPr lang="en-US" altLang="zh-CN" sz="1800" b="0" dirty="0">
              <a:solidFill>
                <a:srgbClr val="C00000"/>
              </a:solidFill>
            </a:endParaRPr>
          </a:p>
          <a:p>
            <a:pPr algn="ctr"/>
            <a:r>
              <a:rPr lang="zh-CN" altLang="en-US" dirty="0"/>
              <a:t>目标词</a:t>
            </a:r>
            <a:r>
              <a:rPr lang="zh-CN" altLang="en-US" dirty="0">
                <a:solidFill>
                  <a:srgbClr val="C00000"/>
                </a:solidFill>
              </a:rPr>
              <a:t>查询</a:t>
            </a:r>
            <a:endParaRPr lang="en-US" dirty="0">
              <a:solidFill>
                <a:srgbClr val="C00000"/>
              </a:solidFill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4C0AC48-FBCF-1498-7CBB-45EA1DF85C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687432"/>
              </p:ext>
            </p:extLst>
          </p:nvPr>
        </p:nvGraphicFramePr>
        <p:xfrm>
          <a:off x="4294760" y="1904999"/>
          <a:ext cx="1801240" cy="3333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248">
                  <a:extLst>
                    <a:ext uri="{9D8B030D-6E8A-4147-A177-3AD203B41FA5}">
                      <a16:colId xmlns:a16="http://schemas.microsoft.com/office/drawing/2014/main" val="342487538"/>
                    </a:ext>
                  </a:extLst>
                </a:gridCol>
                <a:gridCol w="360248">
                  <a:extLst>
                    <a:ext uri="{9D8B030D-6E8A-4147-A177-3AD203B41FA5}">
                      <a16:colId xmlns:a16="http://schemas.microsoft.com/office/drawing/2014/main" val="3697092706"/>
                    </a:ext>
                  </a:extLst>
                </a:gridCol>
                <a:gridCol w="360248">
                  <a:extLst>
                    <a:ext uri="{9D8B030D-6E8A-4147-A177-3AD203B41FA5}">
                      <a16:colId xmlns:a16="http://schemas.microsoft.com/office/drawing/2014/main" val="2567947874"/>
                    </a:ext>
                  </a:extLst>
                </a:gridCol>
                <a:gridCol w="360248">
                  <a:extLst>
                    <a:ext uri="{9D8B030D-6E8A-4147-A177-3AD203B41FA5}">
                      <a16:colId xmlns:a16="http://schemas.microsoft.com/office/drawing/2014/main" val="1416636791"/>
                    </a:ext>
                  </a:extLst>
                </a:gridCol>
                <a:gridCol w="360248">
                  <a:extLst>
                    <a:ext uri="{9D8B030D-6E8A-4147-A177-3AD203B41FA5}">
                      <a16:colId xmlns:a16="http://schemas.microsoft.com/office/drawing/2014/main" val="3969255547"/>
                    </a:ext>
                  </a:extLst>
                </a:gridCol>
              </a:tblGrid>
              <a:tr h="333394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118066"/>
                  </a:ext>
                </a:extLst>
              </a:tr>
              <a:tr h="333394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714496"/>
                  </a:ext>
                </a:extLst>
              </a:tr>
              <a:tr h="333394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010480"/>
                  </a:ext>
                </a:extLst>
              </a:tr>
              <a:tr h="333394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1119944"/>
                  </a:ext>
                </a:extLst>
              </a:tr>
              <a:tr h="333394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4510159"/>
                  </a:ext>
                </a:extLst>
              </a:tr>
              <a:tr h="333394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4161702"/>
                  </a:ext>
                </a:extLst>
              </a:tr>
              <a:tr h="333394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8857423"/>
                  </a:ext>
                </a:extLst>
              </a:tr>
              <a:tr h="333394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3216567"/>
                  </a:ext>
                </a:extLst>
              </a:tr>
              <a:tr h="333394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625158"/>
                  </a:ext>
                </a:extLst>
              </a:tr>
              <a:tr h="333394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355047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465572B2-679C-B42D-27E2-493F3CD568F3}"/>
              </a:ext>
            </a:extLst>
          </p:cNvPr>
          <p:cNvSpPr txBox="1"/>
          <p:nvPr/>
        </p:nvSpPr>
        <p:spPr>
          <a:xfrm>
            <a:off x="2667000" y="1472493"/>
            <a:ext cx="52787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Preceding text information  </a:t>
            </a:r>
            <a:r>
              <a:rPr lang="zh-CN" altLang="en-US" dirty="0"/>
              <a:t>前文信息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F266F7-B58D-D0C2-C20D-18C2E1A9970B}"/>
              </a:ext>
            </a:extLst>
          </p:cNvPr>
          <p:cNvSpPr txBox="1"/>
          <p:nvPr/>
        </p:nvSpPr>
        <p:spPr>
          <a:xfrm>
            <a:off x="4093595" y="5311862"/>
            <a:ext cx="23072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Source word </a:t>
            </a:r>
            <a:r>
              <a:rPr lang="en-US" altLang="zh-CN" dirty="0">
                <a:solidFill>
                  <a:srgbClr val="C00000"/>
                </a:solidFill>
              </a:rPr>
              <a:t>keys</a:t>
            </a:r>
            <a:endParaRPr lang="en-US" altLang="zh-CN" sz="1800" b="0" dirty="0">
              <a:solidFill>
                <a:srgbClr val="C00000"/>
              </a:solidFill>
            </a:endParaRPr>
          </a:p>
          <a:p>
            <a:pPr algn="ctr"/>
            <a:r>
              <a:rPr lang="zh-CN" altLang="en-US" dirty="0"/>
              <a:t>源词</a:t>
            </a:r>
            <a:r>
              <a:rPr lang="zh-CN" altLang="en-US" dirty="0">
                <a:solidFill>
                  <a:srgbClr val="C00000"/>
                </a:solidFill>
              </a:rPr>
              <a:t>键名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CD84881-7934-B4AD-5797-9F349B51354A}"/>
              </a:ext>
            </a:extLst>
          </p:cNvPr>
          <p:cNvCxnSpPr>
            <a:cxnSpLocks/>
            <a:stCxn id="9" idx="3"/>
          </p:cNvCxnSpPr>
          <p:nvPr/>
        </p:nvCxnSpPr>
        <p:spPr bwMode="auto">
          <a:xfrm flipV="1">
            <a:off x="3807388" y="1962925"/>
            <a:ext cx="487372" cy="311681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8EAA821-5737-BB5E-A2EB-CF67F03D9840}"/>
              </a:ext>
            </a:extLst>
          </p:cNvPr>
          <p:cNvSpPr txBox="1"/>
          <p:nvPr/>
        </p:nvSpPr>
        <p:spPr>
          <a:xfrm>
            <a:off x="2133600" y="3694152"/>
            <a:ext cx="23072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Dot product</a:t>
            </a:r>
          </a:p>
          <a:p>
            <a:pPr algn="ctr"/>
            <a:r>
              <a:rPr lang="zh-CN" altLang="en-US" dirty="0"/>
              <a:t>点乘</a:t>
            </a:r>
            <a:endParaRPr lang="en-US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CE30707-1336-5C69-8B00-E906BA18FA5C}"/>
              </a:ext>
            </a:extLst>
          </p:cNvPr>
          <p:cNvCxnSpPr>
            <a:cxnSpLocks/>
            <a:stCxn id="9" idx="3"/>
          </p:cNvCxnSpPr>
          <p:nvPr/>
        </p:nvCxnSpPr>
        <p:spPr bwMode="auto">
          <a:xfrm flipV="1">
            <a:off x="3807388" y="2308563"/>
            <a:ext cx="487372" cy="277117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EBAB7FE-6F89-A84E-659B-D36927CFCD58}"/>
              </a:ext>
            </a:extLst>
          </p:cNvPr>
          <p:cNvCxnSpPr>
            <a:cxnSpLocks/>
            <a:stCxn id="9" idx="3"/>
          </p:cNvCxnSpPr>
          <p:nvPr/>
        </p:nvCxnSpPr>
        <p:spPr bwMode="auto">
          <a:xfrm flipV="1">
            <a:off x="3807388" y="2627944"/>
            <a:ext cx="487372" cy="245179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FC09DE1-882F-7430-60A0-37006668EF8E}"/>
              </a:ext>
            </a:extLst>
          </p:cNvPr>
          <p:cNvCxnSpPr>
            <a:cxnSpLocks/>
            <a:stCxn id="9" idx="3"/>
          </p:cNvCxnSpPr>
          <p:nvPr/>
        </p:nvCxnSpPr>
        <p:spPr bwMode="auto">
          <a:xfrm flipV="1">
            <a:off x="3807388" y="3025227"/>
            <a:ext cx="481253" cy="205451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BFB7E765-0305-1FE1-FD0B-EF6EEA66E981}"/>
              </a:ext>
            </a:extLst>
          </p:cNvPr>
          <p:cNvSpPr txBox="1"/>
          <p:nvPr/>
        </p:nvSpPr>
        <p:spPr>
          <a:xfrm>
            <a:off x="5962429" y="1904999"/>
            <a:ext cx="16764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/>
              <a:t>0.02 </a:t>
            </a:r>
          </a:p>
          <a:p>
            <a:pPr algn="ctr"/>
            <a:r>
              <a:rPr lang="en-US" sz="2200" dirty="0"/>
              <a:t>1.2</a:t>
            </a:r>
          </a:p>
          <a:p>
            <a:pPr algn="ctr"/>
            <a:r>
              <a:rPr lang="en-US" sz="2200" dirty="0"/>
              <a:t>0.9</a:t>
            </a:r>
          </a:p>
          <a:p>
            <a:pPr algn="ctr"/>
            <a:r>
              <a:rPr lang="en-US" sz="2200" dirty="0"/>
              <a:t>1.3</a:t>
            </a:r>
          </a:p>
          <a:p>
            <a:pPr algn="ctr"/>
            <a:r>
              <a:rPr lang="en-US" sz="2200" dirty="0"/>
              <a:t>0.5</a:t>
            </a:r>
          </a:p>
          <a:p>
            <a:pPr algn="ctr"/>
            <a:r>
              <a:rPr lang="en-US" sz="2200" dirty="0"/>
              <a:t>0.01</a:t>
            </a:r>
          </a:p>
          <a:p>
            <a:pPr algn="ctr"/>
            <a:r>
              <a:rPr lang="en-US" sz="2200" dirty="0"/>
              <a:t>1.1</a:t>
            </a:r>
          </a:p>
          <a:p>
            <a:pPr algn="ctr"/>
            <a:r>
              <a:rPr lang="en-US" sz="2200" dirty="0"/>
              <a:t>0.6</a:t>
            </a:r>
          </a:p>
          <a:p>
            <a:pPr algn="ctr"/>
            <a:r>
              <a:rPr lang="en-US" sz="2200" dirty="0"/>
              <a:t>0.05</a:t>
            </a:r>
          </a:p>
          <a:p>
            <a:pPr algn="ctr"/>
            <a:r>
              <a:rPr lang="en-US" altLang="zh-CN" sz="2200" dirty="0"/>
              <a:t>0.3</a:t>
            </a:r>
            <a:endParaRPr lang="en-US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91177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6" grpId="0"/>
      <p:bldP spid="18" grpId="0"/>
      <p:bldP spid="27" grpId="0"/>
      <p:bldP spid="27" grpId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24C23-30BE-01B3-724E-AEC909AD2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C6476-50AD-91B0-C20B-5BD1617A5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4" y="457200"/>
            <a:ext cx="7640636" cy="914400"/>
          </a:xfrm>
        </p:spPr>
        <p:txBody>
          <a:bodyPr/>
          <a:lstStyle/>
          <a:p>
            <a:r>
              <a:rPr lang="en-US" altLang="zh-CN" dirty="0"/>
              <a:t>Attention Mechanism </a:t>
            </a:r>
            <a:r>
              <a:rPr lang="zh-CN" altLang="en-US" dirty="0"/>
              <a:t> </a:t>
            </a:r>
            <a:br>
              <a:rPr lang="en-US" altLang="zh-CN" dirty="0"/>
            </a:br>
            <a:r>
              <a:rPr lang="zh-CN" altLang="en-US" dirty="0"/>
              <a:t>注意力机制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EE674A-E712-B023-C9F5-8C221E915A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</a:t>
            </a:r>
            <a:r>
              <a:rPr lang="en-US" altLang="zh-CN" sz="1400" dirty="0">
                <a:ea typeface="SimSun" panose="02010600030101010101" pitchFamily="2" charset="-122"/>
              </a:rPr>
              <a:t>Other Topic: Modern Paradigm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zh-CN" altLang="en-US" sz="1400" kern="0" dirty="0">
                <a:ea typeface="SimSun" panose="02010600030101010101" pitchFamily="2" charset="-122"/>
              </a:rPr>
              <a:t>番外：现代范式</a:t>
            </a:r>
            <a:endParaRPr lang="en-US" altLang="zh-CN" sz="1400" kern="0" dirty="0">
              <a:ea typeface="SimSun" panose="02010600030101010101" pitchFamily="2" charset="-12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B4B23D-0B7A-5C4B-302C-9B31EFA4A0FC}"/>
              </a:ext>
            </a:extLst>
          </p:cNvPr>
          <p:cNvSpPr txBox="1"/>
          <p:nvPr/>
        </p:nvSpPr>
        <p:spPr>
          <a:xfrm>
            <a:off x="152400" y="1828800"/>
            <a:ext cx="16764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/>
              <a:t>In </a:t>
            </a:r>
          </a:p>
          <a:p>
            <a:pPr algn="ctr"/>
            <a:r>
              <a:rPr lang="en-US" sz="2200" dirty="0"/>
              <a:t>1969</a:t>
            </a:r>
          </a:p>
          <a:p>
            <a:pPr algn="ctr"/>
            <a:r>
              <a:rPr lang="en-US" sz="2200" dirty="0"/>
              <a:t>Neil</a:t>
            </a:r>
          </a:p>
          <a:p>
            <a:pPr algn="ctr"/>
            <a:r>
              <a:rPr lang="en-US" sz="2200" dirty="0"/>
              <a:t>Armstrong</a:t>
            </a:r>
          </a:p>
          <a:p>
            <a:pPr algn="ctr"/>
            <a:r>
              <a:rPr lang="en-US" sz="2200" dirty="0"/>
              <a:t>became</a:t>
            </a:r>
          </a:p>
          <a:p>
            <a:pPr algn="ctr"/>
            <a:r>
              <a:rPr lang="en-US" sz="2200" dirty="0"/>
              <a:t>the</a:t>
            </a:r>
          </a:p>
          <a:p>
            <a:pPr algn="ctr"/>
            <a:r>
              <a:rPr lang="en-US" sz="2200" dirty="0"/>
              <a:t>first</a:t>
            </a:r>
          </a:p>
          <a:p>
            <a:pPr algn="ctr"/>
            <a:r>
              <a:rPr lang="en-US" sz="2200" dirty="0"/>
              <a:t>person</a:t>
            </a:r>
          </a:p>
          <a:p>
            <a:pPr algn="ctr"/>
            <a:r>
              <a:rPr lang="en-US" sz="2200" dirty="0"/>
              <a:t>to</a:t>
            </a:r>
          </a:p>
          <a:p>
            <a:pPr algn="ctr"/>
            <a:r>
              <a:rPr lang="en-US" altLang="zh-CN" sz="2200" dirty="0">
                <a:solidFill>
                  <a:srgbClr val="339933"/>
                </a:solidFill>
              </a:rPr>
              <a:t>walk</a:t>
            </a:r>
            <a:endParaRPr lang="en-US" sz="2200" dirty="0">
              <a:solidFill>
                <a:srgbClr val="339933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4E29CF4-1A30-CE95-B9F1-3DCD26E6B138}"/>
              </a:ext>
            </a:extLst>
          </p:cNvPr>
          <p:cNvSpPr txBox="1"/>
          <p:nvPr/>
        </p:nvSpPr>
        <p:spPr>
          <a:xfrm>
            <a:off x="5962429" y="1904999"/>
            <a:ext cx="16764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/>
              <a:t>0.02 </a:t>
            </a:r>
          </a:p>
          <a:p>
            <a:pPr algn="ctr"/>
            <a:r>
              <a:rPr lang="en-US" sz="2200" dirty="0"/>
              <a:t>1.2</a:t>
            </a:r>
          </a:p>
          <a:p>
            <a:pPr algn="ctr"/>
            <a:r>
              <a:rPr lang="en-US" sz="2200" dirty="0"/>
              <a:t>0.9</a:t>
            </a:r>
          </a:p>
          <a:p>
            <a:pPr algn="ctr"/>
            <a:r>
              <a:rPr lang="en-US" sz="2200" dirty="0"/>
              <a:t>1.3</a:t>
            </a:r>
          </a:p>
          <a:p>
            <a:pPr algn="ctr"/>
            <a:r>
              <a:rPr lang="en-US" sz="2200" dirty="0"/>
              <a:t>0.5</a:t>
            </a:r>
          </a:p>
          <a:p>
            <a:pPr algn="ctr"/>
            <a:r>
              <a:rPr lang="en-US" sz="2200" dirty="0"/>
              <a:t>0.01</a:t>
            </a:r>
          </a:p>
          <a:p>
            <a:pPr algn="ctr"/>
            <a:r>
              <a:rPr lang="en-US" sz="2200" dirty="0"/>
              <a:t>1.1</a:t>
            </a:r>
          </a:p>
          <a:p>
            <a:pPr algn="ctr"/>
            <a:r>
              <a:rPr lang="en-US" sz="2200" dirty="0"/>
              <a:t>0.6</a:t>
            </a:r>
          </a:p>
          <a:p>
            <a:pPr algn="ctr"/>
            <a:r>
              <a:rPr lang="en-US" sz="2200" dirty="0"/>
              <a:t>0.05</a:t>
            </a:r>
          </a:p>
          <a:p>
            <a:pPr algn="ctr"/>
            <a:r>
              <a:rPr lang="en-US" altLang="zh-CN" sz="2200" dirty="0"/>
              <a:t>0.3</a:t>
            </a:r>
            <a:endParaRPr lang="en-US" sz="220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9497BAE-2D38-BDD7-2418-8FC75D75848A}"/>
              </a:ext>
            </a:extLst>
          </p:cNvPr>
          <p:cNvSpPr/>
          <p:nvPr/>
        </p:nvSpPr>
        <p:spPr bwMode="auto">
          <a:xfrm>
            <a:off x="6400800" y="1828800"/>
            <a:ext cx="737052" cy="3554074"/>
          </a:xfrm>
          <a:prstGeom prst="rect">
            <a:avLst/>
          </a:prstGeom>
          <a:noFill/>
          <a:ln w="9525" cap="flat" cmpd="sng" algn="ctr">
            <a:solidFill>
              <a:srgbClr val="339933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F7665B-BFC9-DAD2-9B23-275D4FFD065E}"/>
              </a:ext>
            </a:extLst>
          </p:cNvPr>
          <p:cNvSpPr txBox="1"/>
          <p:nvPr/>
        </p:nvSpPr>
        <p:spPr>
          <a:xfrm>
            <a:off x="4961226" y="5382874"/>
            <a:ext cx="36788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/>
              <a:t>Softmax</a:t>
            </a:r>
            <a:r>
              <a:rPr lang="en-US" altLang="zh-CN" dirty="0"/>
              <a:t> to probabilities</a:t>
            </a:r>
            <a:endParaRPr lang="en-US" altLang="zh-CN" sz="1800" b="0" dirty="0"/>
          </a:p>
          <a:p>
            <a:pPr algn="ctr"/>
            <a:r>
              <a:rPr lang="zh-CN" altLang="en-US" dirty="0"/>
              <a:t>指数归一化为概率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C8A5C6-B554-CC7D-3607-D4D4AA46DA44}"/>
              </a:ext>
            </a:extLst>
          </p:cNvPr>
          <p:cNvSpPr txBox="1"/>
          <p:nvPr/>
        </p:nvSpPr>
        <p:spPr>
          <a:xfrm>
            <a:off x="3064028" y="1828799"/>
            <a:ext cx="1159489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0.0501</a:t>
            </a:r>
            <a:r>
              <a:rPr lang="en-US" sz="2200" dirty="0"/>
              <a:t> </a:t>
            </a:r>
          </a:p>
          <a:p>
            <a:pPr algn="ctr"/>
            <a:r>
              <a:rPr lang="en-US" sz="2200" dirty="0"/>
              <a:t>0.1631</a:t>
            </a:r>
          </a:p>
          <a:p>
            <a:pPr algn="ctr"/>
            <a:r>
              <a:rPr lang="en-US" sz="2200" dirty="0"/>
              <a:t>0.1208</a:t>
            </a:r>
          </a:p>
          <a:p>
            <a:pPr algn="ctr"/>
            <a:r>
              <a:rPr lang="en-US" sz="2200" dirty="0"/>
              <a:t>0.1803</a:t>
            </a:r>
          </a:p>
          <a:p>
            <a:pPr algn="ctr"/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0.0810</a:t>
            </a:r>
          </a:p>
          <a:p>
            <a:pPr algn="ctr"/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0.0490</a:t>
            </a:r>
            <a:r>
              <a:rPr lang="en-US" sz="2200" dirty="0"/>
              <a:t>0.1476</a:t>
            </a:r>
          </a:p>
          <a:p>
            <a:pPr algn="ctr"/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0.0895</a:t>
            </a:r>
          </a:p>
          <a:p>
            <a:pPr algn="ctr"/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0.0516</a:t>
            </a:r>
          </a:p>
          <a:p>
            <a:pPr algn="ctr"/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0.0663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CB6BB6D-7A22-73D2-121F-628E55D01286}"/>
              </a:ext>
            </a:extLst>
          </p:cNvPr>
          <p:cNvCxnSpPr>
            <a:endCxn id="5" idx="3"/>
          </p:cNvCxnSpPr>
          <p:nvPr/>
        </p:nvCxnSpPr>
        <p:spPr bwMode="auto">
          <a:xfrm flipH="1">
            <a:off x="4223517" y="3567736"/>
            <a:ext cx="2177283" cy="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A2D6B3-6547-F29A-706B-86F73050BBF7}"/>
              </a:ext>
            </a:extLst>
          </p:cNvPr>
          <p:cNvCxnSpPr/>
          <p:nvPr/>
        </p:nvCxnSpPr>
        <p:spPr bwMode="auto">
          <a:xfrm>
            <a:off x="1447800" y="2362200"/>
            <a:ext cx="9144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85E25DB-0341-FC0B-4202-51DBE095C64A}"/>
              </a:ext>
            </a:extLst>
          </p:cNvPr>
          <p:cNvCxnSpPr/>
          <p:nvPr/>
        </p:nvCxnSpPr>
        <p:spPr bwMode="auto">
          <a:xfrm>
            <a:off x="1752600" y="3091542"/>
            <a:ext cx="6096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9AF6158-FCBB-2374-3D22-E1F0333A1B36}"/>
              </a:ext>
            </a:extLst>
          </p:cNvPr>
          <p:cNvCxnSpPr/>
          <p:nvPr/>
        </p:nvCxnSpPr>
        <p:spPr bwMode="auto">
          <a:xfrm>
            <a:off x="1371600" y="2743200"/>
            <a:ext cx="9906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638BCD2-4160-81BC-F3B8-7182D1540F34}"/>
              </a:ext>
            </a:extLst>
          </p:cNvPr>
          <p:cNvCxnSpPr>
            <a:cxnSpLocks/>
          </p:cNvCxnSpPr>
          <p:nvPr/>
        </p:nvCxnSpPr>
        <p:spPr bwMode="auto">
          <a:xfrm>
            <a:off x="1371600" y="4038600"/>
            <a:ext cx="9906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8E552FC-471F-428B-33E7-C0B3CCCC8622}"/>
              </a:ext>
            </a:extLst>
          </p:cNvPr>
          <p:cNvCxnSpPr>
            <a:cxnSpLocks/>
          </p:cNvCxnSpPr>
          <p:nvPr/>
        </p:nvCxnSpPr>
        <p:spPr bwMode="auto">
          <a:xfrm flipH="1">
            <a:off x="1447800" y="5029200"/>
            <a:ext cx="9144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03EE33A-BCA7-3AE6-3E64-2F59E7B44D15}"/>
              </a:ext>
            </a:extLst>
          </p:cNvPr>
          <p:cNvCxnSpPr/>
          <p:nvPr/>
        </p:nvCxnSpPr>
        <p:spPr bwMode="auto">
          <a:xfrm>
            <a:off x="2362200" y="2362200"/>
            <a:ext cx="0" cy="26670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676780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6" grpId="0" animBg="1"/>
      <p:bldP spid="3" grpId="0"/>
      <p:bldP spid="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05BDA-E0C7-D0FF-695C-9AA1D4993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248AB-CE06-373E-1065-645ED3035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4" y="457200"/>
            <a:ext cx="7640636" cy="914400"/>
          </a:xfrm>
        </p:spPr>
        <p:txBody>
          <a:bodyPr/>
          <a:lstStyle/>
          <a:p>
            <a:r>
              <a:rPr lang="en-US" altLang="zh-CN" dirty="0"/>
              <a:t>Attention Mechanism </a:t>
            </a:r>
            <a:r>
              <a:rPr lang="zh-CN" altLang="en-US" dirty="0"/>
              <a:t> </a:t>
            </a:r>
            <a:br>
              <a:rPr lang="en-US" altLang="zh-CN" dirty="0"/>
            </a:br>
            <a:r>
              <a:rPr lang="zh-CN" altLang="en-US" dirty="0"/>
              <a:t>注意力机制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9898D3-501E-E6AE-2C6B-49D53D52FD6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</a:t>
            </a:r>
            <a:r>
              <a:rPr lang="en-US" altLang="zh-CN" sz="1400" dirty="0">
                <a:ea typeface="SimSun" panose="02010600030101010101" pitchFamily="2" charset="-122"/>
              </a:rPr>
              <a:t>Other Topic: Modern Paradigm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zh-CN" altLang="en-US" sz="1400" kern="0" dirty="0">
                <a:ea typeface="SimSun" panose="02010600030101010101" pitchFamily="2" charset="-122"/>
              </a:rPr>
              <a:t>番外：现代范式</a:t>
            </a:r>
            <a:endParaRPr lang="en-US" altLang="zh-CN" sz="1400" kern="0" dirty="0">
              <a:ea typeface="SimSun" panose="02010600030101010101" pitchFamily="2" charset="-12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97D787-AC65-170F-C8B0-8ABF974E78BB}"/>
              </a:ext>
            </a:extLst>
          </p:cNvPr>
          <p:cNvSpPr txBox="1"/>
          <p:nvPr/>
        </p:nvSpPr>
        <p:spPr>
          <a:xfrm>
            <a:off x="152400" y="1828800"/>
            <a:ext cx="16764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/>
              <a:t>In </a:t>
            </a:r>
          </a:p>
          <a:p>
            <a:pPr algn="ctr"/>
            <a:r>
              <a:rPr lang="en-US" sz="2200" dirty="0"/>
              <a:t>1969</a:t>
            </a:r>
          </a:p>
          <a:p>
            <a:pPr algn="ctr"/>
            <a:r>
              <a:rPr lang="en-US" sz="2200" dirty="0"/>
              <a:t>Neil</a:t>
            </a:r>
          </a:p>
          <a:p>
            <a:pPr algn="ctr"/>
            <a:r>
              <a:rPr lang="en-US" sz="2200" dirty="0"/>
              <a:t>Armstrong</a:t>
            </a:r>
          </a:p>
          <a:p>
            <a:pPr algn="ctr"/>
            <a:r>
              <a:rPr lang="en-US" sz="2200" dirty="0"/>
              <a:t>became</a:t>
            </a:r>
          </a:p>
          <a:p>
            <a:pPr algn="ctr"/>
            <a:r>
              <a:rPr lang="en-US" sz="2200" dirty="0"/>
              <a:t>the</a:t>
            </a:r>
          </a:p>
          <a:p>
            <a:pPr algn="ctr"/>
            <a:r>
              <a:rPr lang="en-US" sz="2200" dirty="0"/>
              <a:t>first</a:t>
            </a:r>
          </a:p>
          <a:p>
            <a:pPr algn="ctr"/>
            <a:r>
              <a:rPr lang="en-US" sz="2200" dirty="0"/>
              <a:t>person</a:t>
            </a:r>
          </a:p>
          <a:p>
            <a:pPr algn="ctr"/>
            <a:r>
              <a:rPr lang="en-US" sz="2200" dirty="0"/>
              <a:t>to</a:t>
            </a:r>
          </a:p>
          <a:p>
            <a:pPr algn="ctr"/>
            <a:r>
              <a:rPr lang="en-US" altLang="zh-CN" sz="2200" dirty="0">
                <a:solidFill>
                  <a:srgbClr val="339933"/>
                </a:solidFill>
              </a:rPr>
              <a:t>walk</a:t>
            </a:r>
            <a:endParaRPr lang="en-US" sz="2200" dirty="0">
              <a:solidFill>
                <a:srgbClr val="33993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B85BF3-E7FC-61E7-EF6F-D46C90FEA711}"/>
              </a:ext>
            </a:extLst>
          </p:cNvPr>
          <p:cNvSpPr txBox="1"/>
          <p:nvPr/>
        </p:nvSpPr>
        <p:spPr>
          <a:xfrm>
            <a:off x="3064028" y="1828799"/>
            <a:ext cx="1159489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0.0501</a:t>
            </a:r>
            <a:r>
              <a:rPr lang="en-US" sz="2200" dirty="0"/>
              <a:t> </a:t>
            </a:r>
          </a:p>
          <a:p>
            <a:pPr algn="ctr"/>
            <a:r>
              <a:rPr lang="en-US" sz="2200" dirty="0"/>
              <a:t>0.1631</a:t>
            </a:r>
          </a:p>
          <a:p>
            <a:pPr algn="ctr"/>
            <a:r>
              <a:rPr lang="en-US" sz="2200" dirty="0"/>
              <a:t>0.1208</a:t>
            </a:r>
          </a:p>
          <a:p>
            <a:pPr algn="ctr"/>
            <a:r>
              <a:rPr lang="en-US" sz="2200" dirty="0"/>
              <a:t>0.1803</a:t>
            </a:r>
          </a:p>
          <a:p>
            <a:pPr algn="ctr"/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0.0810</a:t>
            </a:r>
          </a:p>
          <a:p>
            <a:pPr algn="ctr"/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0.0490</a:t>
            </a:r>
            <a:r>
              <a:rPr lang="en-US" sz="2200" dirty="0"/>
              <a:t>0.1476</a:t>
            </a:r>
          </a:p>
          <a:p>
            <a:pPr algn="ctr"/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0.0895</a:t>
            </a:r>
          </a:p>
          <a:p>
            <a:pPr algn="ctr"/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0.0516</a:t>
            </a:r>
          </a:p>
          <a:p>
            <a:pPr algn="ctr"/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0.0663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162C939-8054-B081-43BC-145F0B05D27F}"/>
              </a:ext>
            </a:extLst>
          </p:cNvPr>
          <p:cNvCxnSpPr/>
          <p:nvPr/>
        </p:nvCxnSpPr>
        <p:spPr bwMode="auto">
          <a:xfrm>
            <a:off x="1447800" y="2362200"/>
            <a:ext cx="9144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E57064-F7E7-A76A-7F8B-E8B46879E42B}"/>
              </a:ext>
            </a:extLst>
          </p:cNvPr>
          <p:cNvCxnSpPr/>
          <p:nvPr/>
        </p:nvCxnSpPr>
        <p:spPr bwMode="auto">
          <a:xfrm>
            <a:off x="1752600" y="3091542"/>
            <a:ext cx="6096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992AD3E-6056-3803-3F44-F746AB137F39}"/>
              </a:ext>
            </a:extLst>
          </p:cNvPr>
          <p:cNvCxnSpPr/>
          <p:nvPr/>
        </p:nvCxnSpPr>
        <p:spPr bwMode="auto">
          <a:xfrm>
            <a:off x="1371600" y="2743200"/>
            <a:ext cx="9906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1F94928-5437-4BFB-A1EB-F18F69DAD4AA}"/>
              </a:ext>
            </a:extLst>
          </p:cNvPr>
          <p:cNvCxnSpPr>
            <a:cxnSpLocks/>
          </p:cNvCxnSpPr>
          <p:nvPr/>
        </p:nvCxnSpPr>
        <p:spPr bwMode="auto">
          <a:xfrm>
            <a:off x="1371600" y="4038600"/>
            <a:ext cx="9906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7ED58F9-0F3C-7ED8-2DD6-FEC341203134}"/>
              </a:ext>
            </a:extLst>
          </p:cNvPr>
          <p:cNvCxnSpPr>
            <a:cxnSpLocks/>
          </p:cNvCxnSpPr>
          <p:nvPr/>
        </p:nvCxnSpPr>
        <p:spPr bwMode="auto">
          <a:xfrm flipH="1">
            <a:off x="1447800" y="5029200"/>
            <a:ext cx="9144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9996FB7-9760-ADEA-48D0-2D90881B5D2E}"/>
              </a:ext>
            </a:extLst>
          </p:cNvPr>
          <p:cNvCxnSpPr/>
          <p:nvPr/>
        </p:nvCxnSpPr>
        <p:spPr bwMode="auto">
          <a:xfrm>
            <a:off x="2362200" y="2362200"/>
            <a:ext cx="0" cy="26670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7FFB520-61D6-85D0-43D9-BCB0C11F1E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455200"/>
              </p:ext>
            </p:extLst>
          </p:nvPr>
        </p:nvGraphicFramePr>
        <p:xfrm>
          <a:off x="4370960" y="1904999"/>
          <a:ext cx="1801240" cy="3333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248">
                  <a:extLst>
                    <a:ext uri="{9D8B030D-6E8A-4147-A177-3AD203B41FA5}">
                      <a16:colId xmlns:a16="http://schemas.microsoft.com/office/drawing/2014/main" val="342487538"/>
                    </a:ext>
                  </a:extLst>
                </a:gridCol>
                <a:gridCol w="360248">
                  <a:extLst>
                    <a:ext uri="{9D8B030D-6E8A-4147-A177-3AD203B41FA5}">
                      <a16:colId xmlns:a16="http://schemas.microsoft.com/office/drawing/2014/main" val="3697092706"/>
                    </a:ext>
                  </a:extLst>
                </a:gridCol>
                <a:gridCol w="360248">
                  <a:extLst>
                    <a:ext uri="{9D8B030D-6E8A-4147-A177-3AD203B41FA5}">
                      <a16:colId xmlns:a16="http://schemas.microsoft.com/office/drawing/2014/main" val="2567947874"/>
                    </a:ext>
                  </a:extLst>
                </a:gridCol>
                <a:gridCol w="360248">
                  <a:extLst>
                    <a:ext uri="{9D8B030D-6E8A-4147-A177-3AD203B41FA5}">
                      <a16:colId xmlns:a16="http://schemas.microsoft.com/office/drawing/2014/main" val="1416636791"/>
                    </a:ext>
                  </a:extLst>
                </a:gridCol>
                <a:gridCol w="360248">
                  <a:extLst>
                    <a:ext uri="{9D8B030D-6E8A-4147-A177-3AD203B41FA5}">
                      <a16:colId xmlns:a16="http://schemas.microsoft.com/office/drawing/2014/main" val="3969255547"/>
                    </a:ext>
                  </a:extLst>
                </a:gridCol>
              </a:tblGrid>
              <a:tr h="333394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118066"/>
                  </a:ext>
                </a:extLst>
              </a:tr>
              <a:tr h="333394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714496"/>
                  </a:ext>
                </a:extLst>
              </a:tr>
              <a:tr h="333394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010480"/>
                  </a:ext>
                </a:extLst>
              </a:tr>
              <a:tr h="333394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1119944"/>
                  </a:ext>
                </a:extLst>
              </a:tr>
              <a:tr h="333394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4510159"/>
                  </a:ext>
                </a:extLst>
              </a:tr>
              <a:tr h="333394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4161702"/>
                  </a:ext>
                </a:extLst>
              </a:tr>
              <a:tr h="333394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8857423"/>
                  </a:ext>
                </a:extLst>
              </a:tr>
              <a:tr h="333394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3216567"/>
                  </a:ext>
                </a:extLst>
              </a:tr>
              <a:tr h="333394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625158"/>
                  </a:ext>
                </a:extLst>
              </a:tr>
              <a:tr h="333394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355047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EE96F94-C16A-C66E-10AD-0C235A3901AA}"/>
              </a:ext>
            </a:extLst>
          </p:cNvPr>
          <p:cNvSpPr txBox="1"/>
          <p:nvPr/>
        </p:nvSpPr>
        <p:spPr>
          <a:xfrm>
            <a:off x="2133600" y="1472493"/>
            <a:ext cx="5888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rgbClr val="C00000"/>
                </a:solidFill>
              </a:rPr>
              <a:t>Another</a:t>
            </a:r>
            <a:r>
              <a:rPr lang="en-US" altLang="zh-CN" dirty="0"/>
              <a:t> preceding text information  </a:t>
            </a:r>
            <a:r>
              <a:rPr lang="zh-CN" altLang="en-US" dirty="0">
                <a:solidFill>
                  <a:srgbClr val="C00000"/>
                </a:solidFill>
              </a:rPr>
              <a:t>另一种</a:t>
            </a:r>
            <a:r>
              <a:rPr lang="zh-CN" altLang="en-US" dirty="0"/>
              <a:t>前文信息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E0A21B-65BF-EB9D-D407-3699733CF5D2}"/>
              </a:ext>
            </a:extLst>
          </p:cNvPr>
          <p:cNvSpPr txBox="1"/>
          <p:nvPr/>
        </p:nvSpPr>
        <p:spPr>
          <a:xfrm>
            <a:off x="4169795" y="5311862"/>
            <a:ext cx="23072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Source word </a:t>
            </a:r>
            <a:r>
              <a:rPr lang="en-US" altLang="zh-CN" dirty="0">
                <a:solidFill>
                  <a:srgbClr val="C00000"/>
                </a:solidFill>
              </a:rPr>
              <a:t>values</a:t>
            </a:r>
            <a:endParaRPr lang="en-US" altLang="zh-CN" sz="1800" b="0" dirty="0">
              <a:solidFill>
                <a:srgbClr val="C00000"/>
              </a:solidFill>
            </a:endParaRPr>
          </a:p>
          <a:p>
            <a:pPr algn="ctr"/>
            <a:r>
              <a:rPr lang="zh-CN" altLang="en-US" dirty="0"/>
              <a:t>源词</a:t>
            </a:r>
            <a:r>
              <a:rPr lang="zh-CN" altLang="en-US" dirty="0">
                <a:solidFill>
                  <a:srgbClr val="C00000"/>
                </a:solidFill>
              </a:rPr>
              <a:t>键值</a:t>
            </a:r>
            <a:endParaRPr lang="en-US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8505F12-75A9-7835-901B-44C3E508C902}"/>
                  </a:ext>
                </a:extLst>
              </p:cNvPr>
              <p:cNvSpPr txBox="1"/>
              <p:nvPr/>
            </p:nvSpPr>
            <p:spPr>
              <a:xfrm>
                <a:off x="3681688" y="1833569"/>
                <a:ext cx="1159489" cy="34778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2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22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2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2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2200" dirty="0"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2200" dirty="0">
                  <a:solidFill>
                    <a:schemeClr val="bg1">
                      <a:lumMod val="65000"/>
                    </a:schemeClr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2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2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2200" dirty="0"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2200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8505F12-75A9-7835-901B-44C3E508C9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1688" y="1833569"/>
                <a:ext cx="1159489" cy="34778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57318C3-44E4-EF41-9689-79A8EEBE4541}"/>
                  </a:ext>
                </a:extLst>
              </p:cNvPr>
              <p:cNvSpPr txBox="1"/>
              <p:nvPr/>
            </p:nvSpPr>
            <p:spPr>
              <a:xfrm>
                <a:off x="2468255" y="2159144"/>
                <a:ext cx="1159489" cy="31393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2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200" dirty="0"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200" dirty="0">
                  <a:solidFill>
                    <a:schemeClr val="bg1">
                      <a:lumMod val="65000"/>
                    </a:schemeClr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2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57318C3-44E4-EF41-9689-79A8EEBE45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255" y="2159144"/>
                <a:ext cx="1159489" cy="31393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647014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19CC5-EB10-A391-3BF0-9CB19ECA4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D9DC5-4184-7B1B-CCB7-CDD1C8C24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4" y="457200"/>
            <a:ext cx="7640636" cy="914400"/>
          </a:xfrm>
        </p:spPr>
        <p:txBody>
          <a:bodyPr/>
          <a:lstStyle/>
          <a:p>
            <a:r>
              <a:rPr lang="en-US" altLang="zh-CN" dirty="0"/>
              <a:t>Attention Mechanism </a:t>
            </a:r>
            <a:r>
              <a:rPr lang="zh-CN" altLang="en-US" dirty="0"/>
              <a:t> </a:t>
            </a:r>
            <a:br>
              <a:rPr lang="en-US" altLang="zh-CN" dirty="0"/>
            </a:br>
            <a:r>
              <a:rPr lang="zh-CN" altLang="en-US" dirty="0"/>
              <a:t>注意力机制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7F62FE-47EB-52A2-8052-D9AB51C01A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</a:t>
            </a:r>
            <a:r>
              <a:rPr lang="en-US" altLang="zh-CN" sz="1400" dirty="0">
                <a:ea typeface="SimSun" panose="02010600030101010101" pitchFamily="2" charset="-122"/>
              </a:rPr>
              <a:t>Other Topic: Modern Paradigm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zh-CN" altLang="en-US" sz="1400" kern="0" dirty="0">
                <a:ea typeface="SimSun" panose="02010600030101010101" pitchFamily="2" charset="-122"/>
              </a:rPr>
              <a:t>番外：现代范式</a:t>
            </a:r>
            <a:endParaRPr lang="en-US" altLang="zh-CN" sz="1400" kern="0" dirty="0">
              <a:ea typeface="SimSun" panose="02010600030101010101" pitchFamily="2" charset="-12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081C0C-54FE-59F2-9AE5-2F1772F4A7EA}"/>
              </a:ext>
            </a:extLst>
          </p:cNvPr>
          <p:cNvSpPr txBox="1"/>
          <p:nvPr/>
        </p:nvSpPr>
        <p:spPr>
          <a:xfrm>
            <a:off x="152400" y="1828800"/>
            <a:ext cx="16764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/>
              <a:t>In </a:t>
            </a:r>
          </a:p>
          <a:p>
            <a:pPr algn="ctr"/>
            <a:r>
              <a:rPr lang="en-US" sz="2200" dirty="0"/>
              <a:t>1969</a:t>
            </a:r>
          </a:p>
          <a:p>
            <a:pPr algn="ctr"/>
            <a:r>
              <a:rPr lang="en-US" sz="2200" dirty="0"/>
              <a:t>Neil</a:t>
            </a:r>
          </a:p>
          <a:p>
            <a:pPr algn="ctr"/>
            <a:r>
              <a:rPr lang="en-US" sz="2200" dirty="0"/>
              <a:t>Armstrong</a:t>
            </a:r>
          </a:p>
          <a:p>
            <a:pPr algn="ctr"/>
            <a:r>
              <a:rPr lang="en-US" sz="2200" dirty="0"/>
              <a:t>became</a:t>
            </a:r>
          </a:p>
          <a:p>
            <a:pPr algn="ctr"/>
            <a:r>
              <a:rPr lang="en-US" sz="2200" dirty="0"/>
              <a:t>the</a:t>
            </a:r>
          </a:p>
          <a:p>
            <a:pPr algn="ctr"/>
            <a:r>
              <a:rPr lang="en-US" sz="2200" dirty="0"/>
              <a:t>first</a:t>
            </a:r>
          </a:p>
          <a:p>
            <a:pPr algn="ctr"/>
            <a:r>
              <a:rPr lang="en-US" sz="2200" dirty="0"/>
              <a:t>person</a:t>
            </a:r>
          </a:p>
          <a:p>
            <a:pPr algn="ctr"/>
            <a:r>
              <a:rPr lang="en-US" sz="2200" dirty="0"/>
              <a:t>to</a:t>
            </a:r>
          </a:p>
          <a:p>
            <a:pPr algn="ctr"/>
            <a:r>
              <a:rPr lang="en-US" altLang="zh-CN" sz="2200" dirty="0">
                <a:solidFill>
                  <a:srgbClr val="339933"/>
                </a:solidFill>
              </a:rPr>
              <a:t>walk</a:t>
            </a:r>
            <a:endParaRPr lang="en-US" sz="2200" dirty="0">
              <a:solidFill>
                <a:srgbClr val="33993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0D7429-9C6B-1F22-28B8-2E9F236BB022}"/>
              </a:ext>
            </a:extLst>
          </p:cNvPr>
          <p:cNvSpPr txBox="1"/>
          <p:nvPr/>
        </p:nvSpPr>
        <p:spPr>
          <a:xfrm>
            <a:off x="3064028" y="1828799"/>
            <a:ext cx="1159489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0.0501</a:t>
            </a:r>
            <a:r>
              <a:rPr lang="en-US" sz="2200" dirty="0"/>
              <a:t> </a:t>
            </a:r>
          </a:p>
          <a:p>
            <a:pPr algn="ctr"/>
            <a:r>
              <a:rPr lang="en-US" sz="2200" dirty="0"/>
              <a:t>0.1631</a:t>
            </a:r>
          </a:p>
          <a:p>
            <a:pPr algn="ctr"/>
            <a:r>
              <a:rPr lang="en-US" sz="2200" dirty="0"/>
              <a:t>0.1208</a:t>
            </a:r>
          </a:p>
          <a:p>
            <a:pPr algn="ctr"/>
            <a:r>
              <a:rPr lang="en-US" sz="2200" dirty="0"/>
              <a:t>0.1803</a:t>
            </a:r>
          </a:p>
          <a:p>
            <a:pPr algn="ctr"/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0.0810</a:t>
            </a:r>
          </a:p>
          <a:p>
            <a:pPr algn="ctr"/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0.0490</a:t>
            </a:r>
            <a:r>
              <a:rPr lang="en-US" sz="2200" dirty="0"/>
              <a:t>0.1476</a:t>
            </a:r>
          </a:p>
          <a:p>
            <a:pPr algn="ctr"/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0.0895</a:t>
            </a:r>
          </a:p>
          <a:p>
            <a:pPr algn="ctr"/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0.0516</a:t>
            </a:r>
          </a:p>
          <a:p>
            <a:pPr algn="ctr"/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0.0663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F6F806C-A872-2158-C215-57B7D3A010C0}"/>
              </a:ext>
            </a:extLst>
          </p:cNvPr>
          <p:cNvCxnSpPr/>
          <p:nvPr/>
        </p:nvCxnSpPr>
        <p:spPr bwMode="auto">
          <a:xfrm>
            <a:off x="1447800" y="2362200"/>
            <a:ext cx="9144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E4091CB-BB4C-F876-BF6A-238FFF436E9B}"/>
              </a:ext>
            </a:extLst>
          </p:cNvPr>
          <p:cNvCxnSpPr/>
          <p:nvPr/>
        </p:nvCxnSpPr>
        <p:spPr bwMode="auto">
          <a:xfrm>
            <a:off x="1752600" y="3091542"/>
            <a:ext cx="6096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BFF23B0-E5EA-0952-DE3A-082851EA301D}"/>
              </a:ext>
            </a:extLst>
          </p:cNvPr>
          <p:cNvCxnSpPr/>
          <p:nvPr/>
        </p:nvCxnSpPr>
        <p:spPr bwMode="auto">
          <a:xfrm>
            <a:off x="1371600" y="2743200"/>
            <a:ext cx="9906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4F9FCB2-029B-4010-1F87-903D04DEAEA5}"/>
              </a:ext>
            </a:extLst>
          </p:cNvPr>
          <p:cNvCxnSpPr>
            <a:cxnSpLocks/>
          </p:cNvCxnSpPr>
          <p:nvPr/>
        </p:nvCxnSpPr>
        <p:spPr bwMode="auto">
          <a:xfrm>
            <a:off x="1371600" y="4038600"/>
            <a:ext cx="9906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4FCA149-CE49-7BBD-ED80-A9D0AC75D597}"/>
              </a:ext>
            </a:extLst>
          </p:cNvPr>
          <p:cNvCxnSpPr>
            <a:cxnSpLocks/>
          </p:cNvCxnSpPr>
          <p:nvPr/>
        </p:nvCxnSpPr>
        <p:spPr bwMode="auto">
          <a:xfrm flipH="1">
            <a:off x="1447800" y="5029200"/>
            <a:ext cx="9144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85F7A1B-E9B7-D1B4-D87C-C1438A31C8B4}"/>
              </a:ext>
            </a:extLst>
          </p:cNvPr>
          <p:cNvCxnSpPr/>
          <p:nvPr/>
        </p:nvCxnSpPr>
        <p:spPr bwMode="auto">
          <a:xfrm>
            <a:off x="2362200" y="2362200"/>
            <a:ext cx="0" cy="26670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CBCEE9B-54CF-7DF9-F8F4-65DE3DFB69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4491344"/>
              </p:ext>
            </p:extLst>
          </p:nvPr>
        </p:nvGraphicFramePr>
        <p:xfrm>
          <a:off x="4370960" y="1904999"/>
          <a:ext cx="1801240" cy="3333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248">
                  <a:extLst>
                    <a:ext uri="{9D8B030D-6E8A-4147-A177-3AD203B41FA5}">
                      <a16:colId xmlns:a16="http://schemas.microsoft.com/office/drawing/2014/main" val="342487538"/>
                    </a:ext>
                  </a:extLst>
                </a:gridCol>
                <a:gridCol w="360248">
                  <a:extLst>
                    <a:ext uri="{9D8B030D-6E8A-4147-A177-3AD203B41FA5}">
                      <a16:colId xmlns:a16="http://schemas.microsoft.com/office/drawing/2014/main" val="3697092706"/>
                    </a:ext>
                  </a:extLst>
                </a:gridCol>
                <a:gridCol w="360248">
                  <a:extLst>
                    <a:ext uri="{9D8B030D-6E8A-4147-A177-3AD203B41FA5}">
                      <a16:colId xmlns:a16="http://schemas.microsoft.com/office/drawing/2014/main" val="2567947874"/>
                    </a:ext>
                  </a:extLst>
                </a:gridCol>
                <a:gridCol w="360248">
                  <a:extLst>
                    <a:ext uri="{9D8B030D-6E8A-4147-A177-3AD203B41FA5}">
                      <a16:colId xmlns:a16="http://schemas.microsoft.com/office/drawing/2014/main" val="1416636791"/>
                    </a:ext>
                  </a:extLst>
                </a:gridCol>
                <a:gridCol w="360248">
                  <a:extLst>
                    <a:ext uri="{9D8B030D-6E8A-4147-A177-3AD203B41FA5}">
                      <a16:colId xmlns:a16="http://schemas.microsoft.com/office/drawing/2014/main" val="3969255547"/>
                    </a:ext>
                  </a:extLst>
                </a:gridCol>
              </a:tblGrid>
              <a:tr h="333394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118066"/>
                  </a:ext>
                </a:extLst>
              </a:tr>
              <a:tr h="333394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714496"/>
                  </a:ext>
                </a:extLst>
              </a:tr>
              <a:tr h="333394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010480"/>
                  </a:ext>
                </a:extLst>
              </a:tr>
              <a:tr h="333394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1119944"/>
                  </a:ext>
                </a:extLst>
              </a:tr>
              <a:tr h="333394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4510159"/>
                  </a:ext>
                </a:extLst>
              </a:tr>
              <a:tr h="333394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4161702"/>
                  </a:ext>
                </a:extLst>
              </a:tr>
              <a:tr h="333394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8857423"/>
                  </a:ext>
                </a:extLst>
              </a:tr>
              <a:tr h="333394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3216567"/>
                  </a:ext>
                </a:extLst>
              </a:tr>
              <a:tr h="333394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625158"/>
                  </a:ext>
                </a:extLst>
              </a:tr>
              <a:tr h="333394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355047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1DC298D-AC76-5765-99F6-240BABAB4179}"/>
              </a:ext>
            </a:extLst>
          </p:cNvPr>
          <p:cNvSpPr txBox="1"/>
          <p:nvPr/>
        </p:nvSpPr>
        <p:spPr>
          <a:xfrm>
            <a:off x="290718" y="5860206"/>
            <a:ext cx="84722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Contribution from preceding text to ‘walk’  </a:t>
            </a:r>
            <a:r>
              <a:rPr lang="zh-CN" altLang="en-US" dirty="0"/>
              <a:t>来自前文的对</a:t>
            </a:r>
            <a:r>
              <a:rPr lang="en-US" altLang="zh-CN" dirty="0"/>
              <a:t>’walk’</a:t>
            </a:r>
            <a:r>
              <a:rPr lang="zh-CN" altLang="en-US" dirty="0"/>
              <a:t>的贡献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922B867-6584-BDFE-8486-5ECF1763ADAA}"/>
                  </a:ext>
                </a:extLst>
              </p:cNvPr>
              <p:cNvSpPr txBox="1"/>
              <p:nvPr/>
            </p:nvSpPr>
            <p:spPr>
              <a:xfrm>
                <a:off x="3681688" y="1833569"/>
                <a:ext cx="1159489" cy="34778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2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22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2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2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2200" dirty="0"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2200" dirty="0">
                  <a:solidFill>
                    <a:schemeClr val="bg1">
                      <a:lumMod val="65000"/>
                    </a:schemeClr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2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2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2200" dirty="0"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2200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922B867-6584-BDFE-8486-5ECF1763A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1688" y="1833569"/>
                <a:ext cx="1159489" cy="34778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F767E56-E2E6-CEED-73AA-4A48D032E0F7}"/>
                  </a:ext>
                </a:extLst>
              </p:cNvPr>
              <p:cNvSpPr txBox="1"/>
              <p:nvPr/>
            </p:nvSpPr>
            <p:spPr>
              <a:xfrm>
                <a:off x="2468255" y="2159144"/>
                <a:ext cx="1159489" cy="31393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2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200" dirty="0"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200" dirty="0">
                  <a:solidFill>
                    <a:schemeClr val="bg1">
                      <a:lumMod val="65000"/>
                    </a:schemeClr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2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F767E56-E2E6-CEED-73AA-4A48D032E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255" y="2159144"/>
                <a:ext cx="1159489" cy="31393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771498B-716F-AA7C-203A-C38E38E4D640}"/>
                  </a:ext>
                </a:extLst>
              </p:cNvPr>
              <p:cNvSpPr txBox="1"/>
              <p:nvPr/>
            </p:nvSpPr>
            <p:spPr>
              <a:xfrm>
                <a:off x="4068118" y="5404081"/>
                <a:ext cx="38662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1800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771498B-716F-AA7C-203A-C38E38E4D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118" y="5404081"/>
                <a:ext cx="38662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DD3A4D0-663B-9051-83F7-BE31D34BE9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872432"/>
              </p:ext>
            </p:extLst>
          </p:nvPr>
        </p:nvGraphicFramePr>
        <p:xfrm>
          <a:off x="4370960" y="5415531"/>
          <a:ext cx="1801240" cy="369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248">
                  <a:extLst>
                    <a:ext uri="{9D8B030D-6E8A-4147-A177-3AD203B41FA5}">
                      <a16:colId xmlns:a16="http://schemas.microsoft.com/office/drawing/2014/main" val="342487538"/>
                    </a:ext>
                  </a:extLst>
                </a:gridCol>
                <a:gridCol w="360248">
                  <a:extLst>
                    <a:ext uri="{9D8B030D-6E8A-4147-A177-3AD203B41FA5}">
                      <a16:colId xmlns:a16="http://schemas.microsoft.com/office/drawing/2014/main" val="3697092706"/>
                    </a:ext>
                  </a:extLst>
                </a:gridCol>
                <a:gridCol w="360248">
                  <a:extLst>
                    <a:ext uri="{9D8B030D-6E8A-4147-A177-3AD203B41FA5}">
                      <a16:colId xmlns:a16="http://schemas.microsoft.com/office/drawing/2014/main" val="2567947874"/>
                    </a:ext>
                  </a:extLst>
                </a:gridCol>
                <a:gridCol w="360248">
                  <a:extLst>
                    <a:ext uri="{9D8B030D-6E8A-4147-A177-3AD203B41FA5}">
                      <a16:colId xmlns:a16="http://schemas.microsoft.com/office/drawing/2014/main" val="1416636791"/>
                    </a:ext>
                  </a:extLst>
                </a:gridCol>
                <a:gridCol w="360248">
                  <a:extLst>
                    <a:ext uri="{9D8B030D-6E8A-4147-A177-3AD203B41FA5}">
                      <a16:colId xmlns:a16="http://schemas.microsoft.com/office/drawing/2014/main" val="3969255547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118066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06362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3F30B-34DF-4B50-EB22-BD3056FCC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C7FD2-FD10-7783-E522-7E688C486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4" y="457200"/>
            <a:ext cx="7640636" cy="914400"/>
          </a:xfrm>
        </p:spPr>
        <p:txBody>
          <a:bodyPr/>
          <a:lstStyle/>
          <a:p>
            <a:r>
              <a:rPr lang="en-US" altLang="zh-CN" dirty="0"/>
              <a:t>Contemporary LLMs </a:t>
            </a:r>
            <a:r>
              <a:rPr lang="zh-CN" altLang="en-US" dirty="0"/>
              <a:t> </a:t>
            </a:r>
            <a:br>
              <a:rPr lang="en-US" altLang="zh-CN" dirty="0"/>
            </a:br>
            <a:r>
              <a:rPr lang="zh-CN" altLang="en-US" dirty="0"/>
              <a:t>当代大规模语言模型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07B21A-C161-35E1-31E8-60B77588FF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</a:t>
            </a:r>
            <a:r>
              <a:rPr lang="en-US" altLang="zh-CN" sz="1400" dirty="0">
                <a:ea typeface="SimSun" panose="02010600030101010101" pitchFamily="2" charset="-122"/>
              </a:rPr>
              <a:t>Other Topic: Modern Paradigm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zh-CN" altLang="en-US" sz="1400" kern="0" dirty="0">
                <a:ea typeface="SimSun" panose="02010600030101010101" pitchFamily="2" charset="-122"/>
              </a:rPr>
              <a:t>番外：现代范式</a:t>
            </a:r>
            <a:endParaRPr lang="en-US" altLang="zh-CN" sz="1400" kern="0" dirty="0">
              <a:ea typeface="SimSun" panose="02010600030101010101" pitchFamily="2" charset="-122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493909D-5AB2-449B-518A-5F4307CFAAA5}"/>
              </a:ext>
            </a:extLst>
          </p:cNvPr>
          <p:cNvCxnSpPr>
            <a:cxnSpLocks/>
            <a:stCxn id="10" idx="0"/>
            <a:endCxn id="14" idx="2"/>
          </p:cNvCxnSpPr>
          <p:nvPr/>
        </p:nvCxnSpPr>
        <p:spPr bwMode="auto">
          <a:xfrm flipV="1">
            <a:off x="4519193" y="5710480"/>
            <a:ext cx="1472" cy="17917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0A840B8-21AA-7362-34E8-2357E54CB2D6}"/>
              </a:ext>
            </a:extLst>
          </p:cNvPr>
          <p:cNvSpPr txBox="1"/>
          <p:nvPr/>
        </p:nvSpPr>
        <p:spPr>
          <a:xfrm>
            <a:off x="2645252" y="5889653"/>
            <a:ext cx="374788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dirty="0"/>
              <a:t>Input word token(s)  </a:t>
            </a:r>
            <a:r>
              <a:rPr lang="zh-CN" altLang="en-US" dirty="0"/>
              <a:t>输入词符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53D830-749B-AE27-8B4F-F924902FCFA6}"/>
              </a:ext>
            </a:extLst>
          </p:cNvPr>
          <p:cNvSpPr/>
          <p:nvPr/>
        </p:nvSpPr>
        <p:spPr bwMode="auto">
          <a:xfrm>
            <a:off x="2418886" y="5376717"/>
            <a:ext cx="4203557" cy="33376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Embedding layer  </a:t>
            </a:r>
            <a:r>
              <a:rPr lang="zh-CN" altLang="en-US" dirty="0"/>
              <a:t>特征表示层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E798C75-6AD7-0CA0-0DFD-03A9587EB9A4}"/>
              </a:ext>
            </a:extLst>
          </p:cNvPr>
          <p:cNvSpPr txBox="1"/>
          <p:nvPr/>
        </p:nvSpPr>
        <p:spPr>
          <a:xfrm>
            <a:off x="1582831" y="5050530"/>
            <a:ext cx="42083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High dimensional features  </a:t>
            </a:r>
            <a:r>
              <a:rPr lang="zh-CN" altLang="en-US" sz="1600" dirty="0"/>
              <a:t>高维特征</a:t>
            </a:r>
            <a:endParaRPr lang="en-US" sz="1600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CDC297F-F215-B647-A029-A27A91546F62}"/>
              </a:ext>
            </a:extLst>
          </p:cNvPr>
          <p:cNvCxnSpPr>
            <a:cxnSpLocks/>
            <a:stCxn id="14" idx="0"/>
            <a:endCxn id="55" idx="2"/>
          </p:cNvCxnSpPr>
          <p:nvPr/>
        </p:nvCxnSpPr>
        <p:spPr bwMode="auto">
          <a:xfrm flipV="1">
            <a:off x="4520665" y="5024547"/>
            <a:ext cx="0" cy="35217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F424935-8786-329B-61F8-DED95550F2BE}"/>
              </a:ext>
            </a:extLst>
          </p:cNvPr>
          <p:cNvSpPr txBox="1"/>
          <p:nvPr/>
        </p:nvSpPr>
        <p:spPr>
          <a:xfrm>
            <a:off x="1580336" y="4359540"/>
            <a:ext cx="42108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High dimensional features  </a:t>
            </a:r>
            <a:r>
              <a:rPr lang="zh-CN" altLang="en-US" sz="1600" dirty="0"/>
              <a:t>高维特征</a:t>
            </a:r>
            <a:endParaRPr lang="en-US" sz="1600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19BB691-2730-7DC2-0EFC-6346F331AE36}"/>
              </a:ext>
            </a:extLst>
          </p:cNvPr>
          <p:cNvCxnSpPr>
            <a:cxnSpLocks/>
            <a:stCxn id="55" idx="0"/>
            <a:endCxn id="78" idx="2"/>
          </p:cNvCxnSpPr>
          <p:nvPr/>
        </p:nvCxnSpPr>
        <p:spPr bwMode="auto">
          <a:xfrm flipH="1" flipV="1">
            <a:off x="4518916" y="4373880"/>
            <a:ext cx="1749" cy="3069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171A748-C96D-0A8C-92F1-7629A0915BBF}"/>
              </a:ext>
            </a:extLst>
          </p:cNvPr>
          <p:cNvCxnSpPr>
            <a:cxnSpLocks/>
            <a:endCxn id="71" idx="2"/>
          </p:cNvCxnSpPr>
          <p:nvPr/>
        </p:nvCxnSpPr>
        <p:spPr bwMode="auto">
          <a:xfrm flipV="1">
            <a:off x="4518559" y="3155949"/>
            <a:ext cx="0" cy="2795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C5FEFA18-415B-5BB4-4C30-E750EF066470}"/>
              </a:ext>
            </a:extLst>
          </p:cNvPr>
          <p:cNvSpPr txBox="1"/>
          <p:nvPr/>
        </p:nvSpPr>
        <p:spPr>
          <a:xfrm>
            <a:off x="1582831" y="2458500"/>
            <a:ext cx="42083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High dimensional features  </a:t>
            </a:r>
            <a:r>
              <a:rPr lang="zh-CN" altLang="en-US" sz="1600" dirty="0"/>
              <a:t>高维特征</a:t>
            </a:r>
            <a:endParaRPr lang="en-US" sz="1600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82642D3-3170-96F4-D403-E675753D1B97}"/>
              </a:ext>
            </a:extLst>
          </p:cNvPr>
          <p:cNvCxnSpPr>
            <a:cxnSpLocks/>
            <a:stCxn id="71" idx="0"/>
            <a:endCxn id="40" idx="2"/>
          </p:cNvCxnSpPr>
          <p:nvPr/>
        </p:nvCxnSpPr>
        <p:spPr bwMode="auto">
          <a:xfrm flipV="1">
            <a:off x="4518559" y="2426720"/>
            <a:ext cx="2106" cy="3936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46C4FCFF-7594-7758-26E2-F3283867E8CF}"/>
              </a:ext>
            </a:extLst>
          </p:cNvPr>
          <p:cNvSpPr/>
          <p:nvPr/>
        </p:nvSpPr>
        <p:spPr bwMode="auto">
          <a:xfrm>
            <a:off x="2418887" y="2124169"/>
            <a:ext cx="4203556" cy="302551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Output layer  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输出</a:t>
            </a:r>
            <a:r>
              <a:rPr lang="zh-CN" altLang="en-US" dirty="0"/>
              <a:t>层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B23AE75-83F1-1614-412D-F418721B4ED3}"/>
              </a:ext>
            </a:extLst>
          </p:cNvPr>
          <p:cNvCxnSpPr>
            <a:cxnSpLocks/>
            <a:stCxn id="40" idx="0"/>
            <a:endCxn id="50" idx="2"/>
          </p:cNvCxnSpPr>
          <p:nvPr/>
        </p:nvCxnSpPr>
        <p:spPr bwMode="auto">
          <a:xfrm flipH="1" flipV="1">
            <a:off x="4519192" y="1886384"/>
            <a:ext cx="1473" cy="23778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65BA38A2-56DD-E3A6-55EA-746D8D203A03}"/>
              </a:ext>
            </a:extLst>
          </p:cNvPr>
          <p:cNvSpPr txBox="1"/>
          <p:nvPr/>
        </p:nvSpPr>
        <p:spPr>
          <a:xfrm>
            <a:off x="2209800" y="1609385"/>
            <a:ext cx="4618784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dirty="0"/>
              <a:t>Next token probabilities  </a:t>
            </a:r>
            <a:r>
              <a:rPr lang="zh-CN" altLang="en-US" dirty="0"/>
              <a:t>下一个词符概率</a:t>
            </a:r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16EBFBA-A8DC-5FA6-5D5A-B37A56BF95DB}"/>
              </a:ext>
            </a:extLst>
          </p:cNvPr>
          <p:cNvSpPr/>
          <p:nvPr/>
        </p:nvSpPr>
        <p:spPr bwMode="auto">
          <a:xfrm>
            <a:off x="2418886" y="4680868"/>
            <a:ext cx="4203557" cy="343679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Transformer </a:t>
            </a:r>
            <a:r>
              <a:rPr lang="en-US" altLang="zh-CN" dirty="0"/>
              <a:t>module  Transformer</a:t>
            </a:r>
            <a:r>
              <a:rPr lang="zh-CN" altLang="en-US" dirty="0"/>
              <a:t>模块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95FBA49-74AD-2005-709B-2C511B7C57F6}"/>
              </a:ext>
            </a:extLst>
          </p:cNvPr>
          <p:cNvSpPr/>
          <p:nvPr/>
        </p:nvSpPr>
        <p:spPr bwMode="auto">
          <a:xfrm>
            <a:off x="2416780" y="2820380"/>
            <a:ext cx="4203557" cy="335569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Transformer </a:t>
            </a:r>
            <a:r>
              <a:rPr lang="en-US" altLang="zh-CN" dirty="0"/>
              <a:t>module  Transformer</a:t>
            </a:r>
            <a:r>
              <a:rPr lang="zh-CN" altLang="en-US" dirty="0"/>
              <a:t>模块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693E9C9-858A-9517-77F6-7E7D91D5A4F3}"/>
              </a:ext>
            </a:extLst>
          </p:cNvPr>
          <p:cNvSpPr txBox="1"/>
          <p:nvPr/>
        </p:nvSpPr>
        <p:spPr>
          <a:xfrm>
            <a:off x="1582831" y="3710122"/>
            <a:ext cx="42083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High dimensional features  </a:t>
            </a:r>
            <a:r>
              <a:rPr lang="zh-CN" altLang="en-US" sz="1600" dirty="0"/>
              <a:t>高维特征</a:t>
            </a:r>
            <a:endParaRPr lang="en-US" sz="1600" dirty="0"/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970984F9-918B-F3EE-CEEC-542268590DAA}"/>
              </a:ext>
            </a:extLst>
          </p:cNvPr>
          <p:cNvCxnSpPr>
            <a:cxnSpLocks/>
            <a:stCxn id="78" idx="0"/>
          </p:cNvCxnSpPr>
          <p:nvPr/>
        </p:nvCxnSpPr>
        <p:spPr bwMode="auto">
          <a:xfrm flipV="1">
            <a:off x="4518916" y="3670300"/>
            <a:ext cx="2611" cy="35990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FA461F85-1296-E0E4-F7E6-D93E0D7DFB04}"/>
              </a:ext>
            </a:extLst>
          </p:cNvPr>
          <p:cNvSpPr/>
          <p:nvPr/>
        </p:nvSpPr>
        <p:spPr bwMode="auto">
          <a:xfrm>
            <a:off x="2417137" y="4030201"/>
            <a:ext cx="4203557" cy="343679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Transformer </a:t>
            </a:r>
            <a:r>
              <a:rPr lang="en-US" altLang="zh-CN" dirty="0"/>
              <a:t>module  Transformer</a:t>
            </a:r>
            <a:r>
              <a:rPr lang="zh-CN" altLang="en-US" dirty="0"/>
              <a:t>模块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A3D162C-2010-3506-D96E-E3761AFFCE87}"/>
              </a:ext>
            </a:extLst>
          </p:cNvPr>
          <p:cNvSpPr txBox="1"/>
          <p:nvPr/>
        </p:nvSpPr>
        <p:spPr>
          <a:xfrm>
            <a:off x="2416780" y="3172817"/>
            <a:ext cx="42083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dirty="0"/>
              <a:t>…</a:t>
            </a:r>
            <a:endParaRPr lang="en-US" sz="2800" b="1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5560CE7-7A09-CA56-7368-CCE9EE59AEB4}"/>
              </a:ext>
            </a:extLst>
          </p:cNvPr>
          <p:cNvSpPr txBox="1"/>
          <p:nvPr/>
        </p:nvSpPr>
        <p:spPr>
          <a:xfrm>
            <a:off x="1582831" y="3154735"/>
            <a:ext cx="42083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High dimensional features  </a:t>
            </a:r>
            <a:r>
              <a:rPr lang="zh-CN" altLang="en-US" sz="1600" dirty="0"/>
              <a:t>高维特征</a:t>
            </a:r>
            <a:endParaRPr lang="en-US" sz="1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31670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 animBg="1"/>
      <p:bldP spid="25" grpId="0"/>
      <p:bldP spid="30" grpId="0"/>
      <p:bldP spid="38" grpId="0"/>
      <p:bldP spid="40" grpId="0" animBg="1"/>
      <p:bldP spid="50" grpId="0"/>
      <p:bldP spid="55" grpId="0" animBg="1"/>
      <p:bldP spid="71" grpId="0" animBg="1"/>
      <p:bldP spid="76" grpId="0"/>
      <p:bldP spid="78" grpId="0" animBg="1"/>
      <p:bldP spid="83" grpId="0"/>
      <p:bldP spid="8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307CE-A433-508B-0EC7-3B4D6DEC9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B40F9-1C48-02BA-8626-F91A4E0DA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4" y="457200"/>
            <a:ext cx="7640636" cy="914400"/>
          </a:xfrm>
        </p:spPr>
        <p:txBody>
          <a:bodyPr/>
          <a:lstStyle/>
          <a:p>
            <a:r>
              <a:rPr lang="en-US" altLang="zh-CN" dirty="0"/>
              <a:t>Transformer Module</a:t>
            </a:r>
            <a:br>
              <a:rPr lang="en-US" altLang="zh-CN" dirty="0"/>
            </a:br>
            <a:r>
              <a:rPr lang="en-US" altLang="zh-CN" dirty="0"/>
              <a:t>Transformer</a:t>
            </a:r>
            <a:r>
              <a:rPr lang="zh-CN" altLang="en-US" dirty="0"/>
              <a:t>模块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58C7D8-671F-0C91-6F84-98C42B4FDE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</a:t>
            </a:r>
            <a:r>
              <a:rPr lang="en-US" altLang="zh-CN" sz="1400" dirty="0">
                <a:ea typeface="SimSun" panose="02010600030101010101" pitchFamily="2" charset="-122"/>
              </a:rPr>
              <a:t>Other Topic: Modern Paradigm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zh-CN" altLang="en-US" sz="1400" kern="0" dirty="0">
                <a:ea typeface="SimSun" panose="02010600030101010101" pitchFamily="2" charset="-122"/>
              </a:rPr>
              <a:t>番外：现代范式</a:t>
            </a:r>
            <a:endParaRPr lang="en-US" altLang="zh-CN" sz="1400" kern="0" dirty="0">
              <a:ea typeface="SimSun" panose="02010600030101010101" pitchFamily="2" charset="-122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D58CB4F-5B77-D41D-CB01-8474B1B2D72E}"/>
              </a:ext>
            </a:extLst>
          </p:cNvPr>
          <p:cNvCxnSpPr>
            <a:cxnSpLocks/>
            <a:stCxn id="10" idx="0"/>
            <a:endCxn id="27" idx="2"/>
          </p:cNvCxnSpPr>
          <p:nvPr/>
        </p:nvCxnSpPr>
        <p:spPr bwMode="auto">
          <a:xfrm flipV="1">
            <a:off x="6738348" y="5693228"/>
            <a:ext cx="0" cy="22296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227B204-42C7-F17F-4D82-06CDC0F97EE0}"/>
              </a:ext>
            </a:extLst>
          </p:cNvPr>
          <p:cNvSpPr txBox="1"/>
          <p:nvPr/>
        </p:nvSpPr>
        <p:spPr>
          <a:xfrm>
            <a:off x="4646682" y="5916195"/>
            <a:ext cx="4183332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800" dirty="0"/>
              <a:t>High dimensional features  </a:t>
            </a:r>
            <a:r>
              <a:rPr lang="zh-CN" altLang="en-US" sz="1800" dirty="0"/>
              <a:t>高维特征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290628-C642-9C50-C5F5-8021E5E49CCC}"/>
              </a:ext>
            </a:extLst>
          </p:cNvPr>
          <p:cNvSpPr txBox="1"/>
          <p:nvPr/>
        </p:nvSpPr>
        <p:spPr>
          <a:xfrm>
            <a:off x="3810000" y="2895600"/>
            <a:ext cx="42083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Higher dimensional features  </a:t>
            </a:r>
            <a:r>
              <a:rPr lang="zh-CN" altLang="en-US" sz="1600" dirty="0"/>
              <a:t>更高维特征</a:t>
            </a:r>
            <a:endParaRPr lang="en-US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3CDF88-7E49-5E5D-0ED8-616448588446}"/>
              </a:ext>
            </a:extLst>
          </p:cNvPr>
          <p:cNvSpPr/>
          <p:nvPr/>
        </p:nvSpPr>
        <p:spPr bwMode="auto">
          <a:xfrm>
            <a:off x="5035111" y="2563413"/>
            <a:ext cx="3408328" cy="33855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Fully connecter layer </a:t>
            </a:r>
            <a:r>
              <a:rPr lang="zh-CN" altLang="en-US" dirty="0"/>
              <a:t>全连通层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8531A9-A3CF-3D70-4371-9C34157904C8}"/>
              </a:ext>
            </a:extLst>
          </p:cNvPr>
          <p:cNvSpPr/>
          <p:nvPr/>
        </p:nvSpPr>
        <p:spPr bwMode="auto">
          <a:xfrm>
            <a:off x="5035896" y="3218489"/>
            <a:ext cx="3410187" cy="30393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Fully connecter layer </a:t>
            </a:r>
            <a:r>
              <a:rPr lang="zh-CN" altLang="en-US" dirty="0"/>
              <a:t>全连通层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144187-C123-4829-D92E-DD64047711B3}"/>
              </a:ext>
            </a:extLst>
          </p:cNvPr>
          <p:cNvSpPr/>
          <p:nvPr/>
        </p:nvSpPr>
        <p:spPr bwMode="auto">
          <a:xfrm>
            <a:off x="5022368" y="1929638"/>
            <a:ext cx="3429000" cy="33376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Normalization layer </a:t>
            </a:r>
            <a:r>
              <a:rPr lang="zh-CN" altLang="en-US" dirty="0"/>
              <a:t>归一化层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FA0A87-2D8D-FA94-BF3A-4710ABFBB499}"/>
              </a:ext>
            </a:extLst>
          </p:cNvPr>
          <p:cNvSpPr/>
          <p:nvPr/>
        </p:nvSpPr>
        <p:spPr bwMode="auto">
          <a:xfrm>
            <a:off x="5033252" y="3695700"/>
            <a:ext cx="3410187" cy="30641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Normalization layer </a:t>
            </a:r>
            <a:r>
              <a:rPr lang="zh-CN" altLang="en-US" dirty="0"/>
              <a:t>归一化层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B831F4-ABD1-72BD-994C-5BD987E637B4}"/>
              </a:ext>
            </a:extLst>
          </p:cNvPr>
          <p:cNvSpPr txBox="1"/>
          <p:nvPr/>
        </p:nvSpPr>
        <p:spPr>
          <a:xfrm>
            <a:off x="4651592" y="1485526"/>
            <a:ext cx="4183332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800" dirty="0"/>
              <a:t>High dimensional features  </a:t>
            </a:r>
            <a:r>
              <a:rPr lang="zh-CN" altLang="en-US" sz="1800" dirty="0"/>
              <a:t>高维特征</a:t>
            </a:r>
            <a:endParaRPr lang="en-US" dirty="0"/>
          </a:p>
        </p:txBody>
      </p:sp>
      <p:sp>
        <p:nvSpPr>
          <p:cNvPr id="19" name="Flowchart: Magnetic Disk 18">
            <a:extLst>
              <a:ext uri="{FF2B5EF4-FFF2-40B4-BE49-F238E27FC236}">
                <a16:creationId xmlns:a16="http://schemas.microsoft.com/office/drawing/2014/main" id="{F3ECFFEA-E799-A249-AC80-BC3CD8DB8A5A}"/>
              </a:ext>
            </a:extLst>
          </p:cNvPr>
          <p:cNvSpPr/>
          <p:nvPr/>
        </p:nvSpPr>
        <p:spPr bwMode="auto">
          <a:xfrm>
            <a:off x="94279" y="4507232"/>
            <a:ext cx="2953722" cy="884538"/>
          </a:xfrm>
          <a:prstGeom prst="flowChartMagneticDisk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Preceding text information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/>
              <a:t>前文信息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CD8E8DE-C3F3-73D4-401B-1BE155850225}"/>
              </a:ext>
            </a:extLst>
          </p:cNvPr>
          <p:cNvSpPr/>
          <p:nvPr/>
        </p:nvSpPr>
        <p:spPr bwMode="auto">
          <a:xfrm>
            <a:off x="5022368" y="4795406"/>
            <a:ext cx="3441781" cy="309565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Attention  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注意力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6BC5716-C672-712C-7261-41F65A433F82}"/>
              </a:ext>
            </a:extLst>
          </p:cNvPr>
          <p:cNvSpPr/>
          <p:nvPr/>
        </p:nvSpPr>
        <p:spPr bwMode="auto">
          <a:xfrm>
            <a:off x="5033252" y="4287455"/>
            <a:ext cx="3410187" cy="30393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Fully connecter layer </a:t>
            </a:r>
            <a:r>
              <a:rPr lang="zh-CN" altLang="en-US" dirty="0"/>
              <a:t>全连通层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9B1AAE1-1D77-8F58-5268-634A1C6E4EB3}"/>
              </a:ext>
            </a:extLst>
          </p:cNvPr>
          <p:cNvSpPr/>
          <p:nvPr/>
        </p:nvSpPr>
        <p:spPr bwMode="auto">
          <a:xfrm>
            <a:off x="5033254" y="5389292"/>
            <a:ext cx="3410187" cy="30393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Fully connecter layer </a:t>
            </a:r>
            <a:r>
              <a:rPr lang="zh-CN" altLang="en-US" dirty="0"/>
              <a:t>全连通层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6F5862F-0692-A190-6019-70CAA74D9B6A}"/>
              </a:ext>
            </a:extLst>
          </p:cNvPr>
          <p:cNvCxnSpPr>
            <a:cxnSpLocks/>
            <a:endCxn id="19" idx="3"/>
          </p:cNvCxnSpPr>
          <p:nvPr/>
        </p:nvCxnSpPr>
        <p:spPr bwMode="auto">
          <a:xfrm flipV="1">
            <a:off x="1571140" y="5391770"/>
            <a:ext cx="0" cy="14295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599F7FE-4FCD-97AF-7EAE-66F90574B97C}"/>
              </a:ext>
            </a:extLst>
          </p:cNvPr>
          <p:cNvCxnSpPr>
            <a:cxnSpLocks/>
            <a:endCxn id="27" idx="1"/>
          </p:cNvCxnSpPr>
          <p:nvPr/>
        </p:nvCxnSpPr>
        <p:spPr bwMode="auto">
          <a:xfrm>
            <a:off x="1571140" y="5541260"/>
            <a:ext cx="346211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1E9552B-F9E6-1AE3-07A2-A77BE3F5DD5E}"/>
              </a:ext>
            </a:extLst>
          </p:cNvPr>
          <p:cNvCxnSpPr>
            <a:cxnSpLocks/>
            <a:stCxn id="19" idx="4"/>
            <a:endCxn id="21" idx="1"/>
          </p:cNvCxnSpPr>
          <p:nvPr/>
        </p:nvCxnSpPr>
        <p:spPr bwMode="auto">
          <a:xfrm>
            <a:off x="3048001" y="4949501"/>
            <a:ext cx="1974367" cy="6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B58168C7-D71B-1784-1FB2-6C02CF31015B}"/>
              </a:ext>
            </a:extLst>
          </p:cNvPr>
          <p:cNvSpPr txBox="1"/>
          <p:nvPr/>
        </p:nvSpPr>
        <p:spPr>
          <a:xfrm>
            <a:off x="2969033" y="4676799"/>
            <a:ext cx="214170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All the keys/values</a:t>
            </a:r>
          </a:p>
          <a:p>
            <a:pPr algn="ctr"/>
            <a:r>
              <a:rPr lang="zh-CN" altLang="en-US" sz="1600" dirty="0"/>
              <a:t>所有的键名</a:t>
            </a:r>
            <a:r>
              <a:rPr lang="en-US" altLang="zh-CN" sz="1600" dirty="0"/>
              <a:t>/</a:t>
            </a:r>
            <a:r>
              <a:rPr lang="zh-CN" altLang="en-US" sz="1600" dirty="0"/>
              <a:t>键值</a:t>
            </a:r>
            <a:endParaRPr lang="en-US" sz="16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6ED92DF-06A1-BDC1-BD91-7FA5ABB76E21}"/>
              </a:ext>
            </a:extLst>
          </p:cNvPr>
          <p:cNvSpPr txBox="1"/>
          <p:nvPr/>
        </p:nvSpPr>
        <p:spPr>
          <a:xfrm>
            <a:off x="3019103" y="5243814"/>
            <a:ext cx="16235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New key/value</a:t>
            </a:r>
          </a:p>
          <a:p>
            <a:pPr algn="ctr"/>
            <a:r>
              <a:rPr lang="zh-CN" altLang="en-US" sz="1600" dirty="0"/>
              <a:t>新的键名</a:t>
            </a:r>
            <a:r>
              <a:rPr lang="en-US" altLang="zh-CN" sz="1600" dirty="0"/>
              <a:t>/</a:t>
            </a:r>
            <a:r>
              <a:rPr lang="zh-CN" altLang="en-US" sz="1600" dirty="0"/>
              <a:t>键值</a:t>
            </a:r>
            <a:endParaRPr lang="en-US" sz="1600" dirty="0"/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3E7BE58-2EAB-F5A8-A261-13F927172182}"/>
              </a:ext>
            </a:extLst>
          </p:cNvPr>
          <p:cNvCxnSpPr>
            <a:cxnSpLocks/>
            <a:stCxn id="27" idx="0"/>
            <a:endCxn id="21" idx="2"/>
          </p:cNvCxnSpPr>
          <p:nvPr/>
        </p:nvCxnSpPr>
        <p:spPr bwMode="auto">
          <a:xfrm flipV="1">
            <a:off x="6738348" y="5104971"/>
            <a:ext cx="4911" cy="28432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B4CEEE20-A653-9963-81BF-B9FE04423CE3}"/>
              </a:ext>
            </a:extLst>
          </p:cNvPr>
          <p:cNvSpPr txBox="1"/>
          <p:nvPr/>
        </p:nvSpPr>
        <p:spPr>
          <a:xfrm>
            <a:off x="5226204" y="5074537"/>
            <a:ext cx="25066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Current query </a:t>
            </a:r>
            <a:r>
              <a:rPr lang="zh-CN" altLang="en-US" sz="1600" dirty="0"/>
              <a:t>当前查询</a:t>
            </a:r>
            <a:endParaRPr lang="en-US" sz="1600" dirty="0"/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8680A8A-2640-1B0B-FA27-13F22DA94750}"/>
              </a:ext>
            </a:extLst>
          </p:cNvPr>
          <p:cNvCxnSpPr>
            <a:cxnSpLocks/>
            <a:stCxn id="21" idx="0"/>
            <a:endCxn id="24" idx="2"/>
          </p:cNvCxnSpPr>
          <p:nvPr/>
        </p:nvCxnSpPr>
        <p:spPr bwMode="auto">
          <a:xfrm flipH="1" flipV="1">
            <a:off x="6738346" y="4591391"/>
            <a:ext cx="4913" cy="20401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56A3BD9-05A3-0B12-6169-791F15F0BF37}"/>
              </a:ext>
            </a:extLst>
          </p:cNvPr>
          <p:cNvCxnSpPr>
            <a:cxnSpLocks/>
          </p:cNvCxnSpPr>
          <p:nvPr/>
        </p:nvCxnSpPr>
        <p:spPr bwMode="auto">
          <a:xfrm flipH="1">
            <a:off x="6738346" y="5804711"/>
            <a:ext cx="1948454" cy="827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1DA98EF2-1095-8D46-0A6F-32494B540B5D}"/>
              </a:ext>
            </a:extLst>
          </p:cNvPr>
          <p:cNvCxnSpPr>
            <a:cxnSpLocks/>
          </p:cNvCxnSpPr>
          <p:nvPr/>
        </p:nvCxnSpPr>
        <p:spPr bwMode="auto">
          <a:xfrm>
            <a:off x="8686800" y="4204980"/>
            <a:ext cx="0" cy="159973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0B55F566-F271-45BF-B7EC-72027895FDA7}"/>
              </a:ext>
            </a:extLst>
          </p:cNvPr>
          <p:cNvCxnSpPr>
            <a:cxnSpLocks/>
            <a:stCxn id="24" idx="0"/>
            <a:endCxn id="12" idx="2"/>
          </p:cNvCxnSpPr>
          <p:nvPr/>
        </p:nvCxnSpPr>
        <p:spPr bwMode="auto">
          <a:xfrm flipV="1">
            <a:off x="6738346" y="4002113"/>
            <a:ext cx="0" cy="28534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922CF530-D037-BBF8-DF5C-5E642E5B5032}"/>
              </a:ext>
            </a:extLst>
          </p:cNvPr>
          <p:cNvCxnSpPr>
            <a:cxnSpLocks/>
          </p:cNvCxnSpPr>
          <p:nvPr/>
        </p:nvCxnSpPr>
        <p:spPr bwMode="auto">
          <a:xfrm flipH="1">
            <a:off x="6736868" y="4204980"/>
            <a:ext cx="194845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031BF8EC-95BD-7CBC-3418-D66694266E04}"/>
              </a:ext>
            </a:extLst>
          </p:cNvPr>
          <p:cNvSpPr txBox="1"/>
          <p:nvPr/>
        </p:nvSpPr>
        <p:spPr>
          <a:xfrm>
            <a:off x="6686526" y="3919398"/>
            <a:ext cx="3336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dirty="0"/>
              <a:t>+</a:t>
            </a:r>
            <a:endParaRPr lang="en-US" dirty="0"/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AA994786-AB61-AD4B-D66C-E17B2F4B72F4}"/>
              </a:ext>
            </a:extLst>
          </p:cNvPr>
          <p:cNvCxnSpPr>
            <a:cxnSpLocks/>
            <a:stCxn id="12" idx="0"/>
            <a:endCxn id="7" idx="2"/>
          </p:cNvCxnSpPr>
          <p:nvPr/>
        </p:nvCxnSpPr>
        <p:spPr bwMode="auto">
          <a:xfrm flipV="1">
            <a:off x="6738346" y="3522425"/>
            <a:ext cx="2644" cy="17327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D2F26ADA-97F3-14AC-9A34-FCC0E41BC73B}"/>
              </a:ext>
            </a:extLst>
          </p:cNvPr>
          <p:cNvCxnSpPr>
            <a:cxnSpLocks/>
            <a:stCxn id="7" idx="0"/>
            <a:endCxn id="6" idx="2"/>
          </p:cNvCxnSpPr>
          <p:nvPr/>
        </p:nvCxnSpPr>
        <p:spPr bwMode="auto">
          <a:xfrm flipH="1" flipV="1">
            <a:off x="6739275" y="2901967"/>
            <a:ext cx="1715" cy="31652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C4ABBB9B-7EB1-44BD-EB75-7F3A150F9BD5}"/>
              </a:ext>
            </a:extLst>
          </p:cNvPr>
          <p:cNvCxnSpPr>
            <a:cxnSpLocks/>
            <a:stCxn id="6" idx="0"/>
            <a:endCxn id="9" idx="2"/>
          </p:cNvCxnSpPr>
          <p:nvPr/>
        </p:nvCxnSpPr>
        <p:spPr bwMode="auto">
          <a:xfrm flipH="1" flipV="1">
            <a:off x="6736868" y="2263401"/>
            <a:ext cx="2407" cy="30001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26C816E3-65D7-D6B4-2161-3FF6064D73C8}"/>
              </a:ext>
            </a:extLst>
          </p:cNvPr>
          <p:cNvCxnSpPr>
            <a:cxnSpLocks/>
          </p:cNvCxnSpPr>
          <p:nvPr/>
        </p:nvCxnSpPr>
        <p:spPr bwMode="auto">
          <a:xfrm flipH="1">
            <a:off x="6738997" y="3625632"/>
            <a:ext cx="1948454" cy="827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4D6DFCC8-39E0-7A9E-F599-A55858C83F98}"/>
              </a:ext>
            </a:extLst>
          </p:cNvPr>
          <p:cNvCxnSpPr>
            <a:cxnSpLocks/>
          </p:cNvCxnSpPr>
          <p:nvPr/>
        </p:nvCxnSpPr>
        <p:spPr bwMode="auto">
          <a:xfrm>
            <a:off x="8685322" y="2438400"/>
            <a:ext cx="0" cy="119770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9FCC8289-A321-9E8B-C0FA-54551DB5F877}"/>
              </a:ext>
            </a:extLst>
          </p:cNvPr>
          <p:cNvCxnSpPr>
            <a:cxnSpLocks/>
          </p:cNvCxnSpPr>
          <p:nvPr/>
        </p:nvCxnSpPr>
        <p:spPr bwMode="auto">
          <a:xfrm flipH="1">
            <a:off x="6725462" y="2449662"/>
            <a:ext cx="194845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4D4866C0-DC2C-0C74-EDCC-B60BD6649D59}"/>
              </a:ext>
            </a:extLst>
          </p:cNvPr>
          <p:cNvSpPr txBox="1"/>
          <p:nvPr/>
        </p:nvSpPr>
        <p:spPr>
          <a:xfrm>
            <a:off x="6686525" y="2177574"/>
            <a:ext cx="3336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dirty="0"/>
              <a:t>+</a:t>
            </a:r>
            <a:endParaRPr lang="en-US" dirty="0"/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5EA2E1AD-B0D4-FF3F-FD0F-1B1169481B31}"/>
              </a:ext>
            </a:extLst>
          </p:cNvPr>
          <p:cNvCxnSpPr>
            <a:cxnSpLocks/>
            <a:stCxn id="9" idx="0"/>
            <a:endCxn id="17" idx="2"/>
          </p:cNvCxnSpPr>
          <p:nvPr/>
        </p:nvCxnSpPr>
        <p:spPr bwMode="auto">
          <a:xfrm flipV="1">
            <a:off x="6736868" y="1762525"/>
            <a:ext cx="6390" cy="16711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D9074E4C-DF8C-CA03-85AC-5C01D462BFDC}"/>
              </a:ext>
            </a:extLst>
          </p:cNvPr>
          <p:cNvSpPr txBox="1"/>
          <p:nvPr/>
        </p:nvSpPr>
        <p:spPr>
          <a:xfrm>
            <a:off x="5290888" y="3967694"/>
            <a:ext cx="14920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Residual </a:t>
            </a:r>
            <a:r>
              <a:rPr lang="zh-CN" altLang="en-US" sz="1600" dirty="0"/>
              <a:t>残差</a:t>
            </a:r>
            <a:endParaRPr lang="en-US" sz="1600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E12E8E77-E534-66F6-B8E8-E73587BD0FDE}"/>
              </a:ext>
            </a:extLst>
          </p:cNvPr>
          <p:cNvSpPr txBox="1"/>
          <p:nvPr/>
        </p:nvSpPr>
        <p:spPr>
          <a:xfrm>
            <a:off x="5319937" y="2239239"/>
            <a:ext cx="14920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Residual </a:t>
            </a:r>
            <a:r>
              <a:rPr lang="zh-CN" altLang="en-US" sz="1600" dirty="0"/>
              <a:t>残差</a:t>
            </a:r>
            <a:endParaRPr lang="en-US" sz="1600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0D341E43-C6D5-7C6D-2898-3D852162497E}"/>
              </a:ext>
            </a:extLst>
          </p:cNvPr>
          <p:cNvSpPr/>
          <p:nvPr/>
        </p:nvSpPr>
        <p:spPr bwMode="auto">
          <a:xfrm>
            <a:off x="57151" y="4255009"/>
            <a:ext cx="8477238" cy="148020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68B56270-B387-0B8C-FB99-76807A0A66F6}"/>
              </a:ext>
            </a:extLst>
          </p:cNvPr>
          <p:cNvSpPr txBox="1"/>
          <p:nvPr/>
        </p:nvSpPr>
        <p:spPr>
          <a:xfrm>
            <a:off x="138747" y="2819985"/>
            <a:ext cx="3207433" cy="13849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800" dirty="0"/>
              <a:t>Attention sub-module</a:t>
            </a:r>
          </a:p>
          <a:p>
            <a:pPr algn="ctr"/>
            <a:r>
              <a:rPr lang="zh-CN" altLang="en-US" dirty="0"/>
              <a:t>注意力子模块</a:t>
            </a:r>
            <a:endParaRPr lang="en-US" altLang="zh-CN" dirty="0"/>
          </a:p>
          <a:p>
            <a:pPr algn="ctr"/>
            <a:r>
              <a:rPr lang="en-US" altLang="zh-CN" dirty="0"/>
              <a:t>Incorporation information from the</a:t>
            </a:r>
            <a:r>
              <a:rPr lang="en-US" dirty="0"/>
              <a:t> preceding text</a:t>
            </a:r>
          </a:p>
          <a:p>
            <a:pPr algn="ctr"/>
            <a:r>
              <a:rPr lang="zh-CN" altLang="en-US" dirty="0"/>
              <a:t>整合前文的信息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53847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5" grpId="0"/>
      <p:bldP spid="6" grpId="0" animBg="1"/>
      <p:bldP spid="7" grpId="0" animBg="1"/>
      <p:bldP spid="9" grpId="0" animBg="1"/>
      <p:bldP spid="12" grpId="0" animBg="1"/>
      <p:bldP spid="17" grpId="0"/>
      <p:bldP spid="19" grpId="0" animBg="1"/>
      <p:bldP spid="21" grpId="0" animBg="1"/>
      <p:bldP spid="24" grpId="0" animBg="1"/>
      <p:bldP spid="27" grpId="0" animBg="1"/>
      <p:bldP spid="56" grpId="0"/>
      <p:bldP spid="58" grpId="0"/>
      <p:bldP spid="66" grpId="0"/>
      <p:bldP spid="103" grpId="0"/>
      <p:bldP spid="126" grpId="0"/>
      <p:bldP spid="133" grpId="0"/>
      <p:bldP spid="133" grpId="1"/>
      <p:bldP spid="134" grpId="0"/>
      <p:bldP spid="134" grpId="1"/>
      <p:bldP spid="135" grpId="0" animBg="1"/>
      <p:bldP spid="13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9FF19-55FE-6BE2-C07B-9CDE4174E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76D1D-65F6-BBE8-9C1A-E4CC2168C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4" y="457200"/>
            <a:ext cx="7640636" cy="914400"/>
          </a:xfrm>
        </p:spPr>
        <p:txBody>
          <a:bodyPr/>
          <a:lstStyle/>
          <a:p>
            <a:r>
              <a:rPr lang="en-US" altLang="zh-CN" dirty="0"/>
              <a:t>Transformer Module</a:t>
            </a:r>
            <a:br>
              <a:rPr lang="en-US" altLang="zh-CN" dirty="0"/>
            </a:br>
            <a:r>
              <a:rPr lang="en-US" altLang="zh-CN" dirty="0"/>
              <a:t>Transformer</a:t>
            </a:r>
            <a:r>
              <a:rPr lang="zh-CN" altLang="en-US" dirty="0"/>
              <a:t>模块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38C85-5A34-5DCF-DBA6-DA0B6C0E3DF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</a:t>
            </a:r>
            <a:r>
              <a:rPr lang="en-US" altLang="zh-CN" sz="1400" dirty="0">
                <a:ea typeface="SimSun" panose="02010600030101010101" pitchFamily="2" charset="-122"/>
              </a:rPr>
              <a:t>Other Topic: Modern Paradigm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zh-CN" altLang="en-US" sz="1400" kern="0" dirty="0">
                <a:ea typeface="SimSun" panose="02010600030101010101" pitchFamily="2" charset="-122"/>
              </a:rPr>
              <a:t>番外：现代范式</a:t>
            </a:r>
            <a:endParaRPr lang="en-US" altLang="zh-CN" sz="1400" kern="0" dirty="0">
              <a:ea typeface="SimSun" panose="02010600030101010101" pitchFamily="2" charset="-122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13B7DE0-4A71-6A63-524F-E56876C413D0}"/>
              </a:ext>
            </a:extLst>
          </p:cNvPr>
          <p:cNvCxnSpPr>
            <a:cxnSpLocks/>
            <a:stCxn id="10" idx="0"/>
            <a:endCxn id="27" idx="2"/>
          </p:cNvCxnSpPr>
          <p:nvPr/>
        </p:nvCxnSpPr>
        <p:spPr bwMode="auto">
          <a:xfrm flipV="1">
            <a:off x="6738348" y="5693228"/>
            <a:ext cx="0" cy="22296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9CFC5B1-D778-6D88-989F-796EA8C72941}"/>
              </a:ext>
            </a:extLst>
          </p:cNvPr>
          <p:cNvSpPr txBox="1"/>
          <p:nvPr/>
        </p:nvSpPr>
        <p:spPr>
          <a:xfrm>
            <a:off x="4646682" y="5916195"/>
            <a:ext cx="4183332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800" dirty="0"/>
              <a:t>High dimensional features  </a:t>
            </a:r>
            <a:r>
              <a:rPr lang="zh-CN" altLang="en-US" sz="1800" dirty="0"/>
              <a:t>高维特征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1E7EE6B-596F-9CC3-119F-03E10FF46165}"/>
              </a:ext>
            </a:extLst>
          </p:cNvPr>
          <p:cNvSpPr txBox="1"/>
          <p:nvPr/>
        </p:nvSpPr>
        <p:spPr>
          <a:xfrm>
            <a:off x="3810000" y="2895600"/>
            <a:ext cx="42083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Higher dimensional features  </a:t>
            </a:r>
            <a:r>
              <a:rPr lang="zh-CN" altLang="en-US" sz="1600" dirty="0"/>
              <a:t>更高维特征</a:t>
            </a:r>
            <a:endParaRPr lang="en-US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EC5212-3B81-0D07-0EAA-95FB8473E58C}"/>
              </a:ext>
            </a:extLst>
          </p:cNvPr>
          <p:cNvSpPr/>
          <p:nvPr/>
        </p:nvSpPr>
        <p:spPr bwMode="auto">
          <a:xfrm>
            <a:off x="5035111" y="2563413"/>
            <a:ext cx="3408328" cy="33855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Fully connecter layer </a:t>
            </a:r>
            <a:r>
              <a:rPr lang="zh-CN" altLang="en-US" dirty="0"/>
              <a:t>全连通层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3F1F70-65F8-493F-20C1-093207D0ADF2}"/>
              </a:ext>
            </a:extLst>
          </p:cNvPr>
          <p:cNvSpPr/>
          <p:nvPr/>
        </p:nvSpPr>
        <p:spPr bwMode="auto">
          <a:xfrm>
            <a:off x="5035896" y="3218489"/>
            <a:ext cx="3410187" cy="30393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Fully connecter layer </a:t>
            </a:r>
            <a:r>
              <a:rPr lang="zh-CN" altLang="en-US" dirty="0"/>
              <a:t>全连通层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190106-5E0A-20BF-74C6-783C6464EF45}"/>
              </a:ext>
            </a:extLst>
          </p:cNvPr>
          <p:cNvSpPr/>
          <p:nvPr/>
        </p:nvSpPr>
        <p:spPr bwMode="auto">
          <a:xfrm>
            <a:off x="5022368" y="1929638"/>
            <a:ext cx="3429000" cy="33376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Normalization layer </a:t>
            </a:r>
            <a:r>
              <a:rPr lang="zh-CN" altLang="en-US" dirty="0"/>
              <a:t>归一化层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4D61F3-0710-FA5B-0953-532690508C9C}"/>
              </a:ext>
            </a:extLst>
          </p:cNvPr>
          <p:cNvSpPr/>
          <p:nvPr/>
        </p:nvSpPr>
        <p:spPr bwMode="auto">
          <a:xfrm>
            <a:off x="5033252" y="3695700"/>
            <a:ext cx="3410187" cy="30641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Normalization layer </a:t>
            </a:r>
            <a:r>
              <a:rPr lang="zh-CN" altLang="en-US" dirty="0"/>
              <a:t>归一化层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B3AF8B-76E8-5654-ACFE-664C976BAFFB}"/>
              </a:ext>
            </a:extLst>
          </p:cNvPr>
          <p:cNvSpPr txBox="1"/>
          <p:nvPr/>
        </p:nvSpPr>
        <p:spPr>
          <a:xfrm>
            <a:off x="4651592" y="1485526"/>
            <a:ext cx="4183332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800" dirty="0"/>
              <a:t>High dimensional features  </a:t>
            </a:r>
            <a:r>
              <a:rPr lang="zh-CN" altLang="en-US" sz="1800" dirty="0"/>
              <a:t>高维特征</a:t>
            </a:r>
            <a:endParaRPr lang="en-US" dirty="0"/>
          </a:p>
        </p:txBody>
      </p:sp>
      <p:sp>
        <p:nvSpPr>
          <p:cNvPr id="19" name="Flowchart: Magnetic Disk 18">
            <a:extLst>
              <a:ext uri="{FF2B5EF4-FFF2-40B4-BE49-F238E27FC236}">
                <a16:creationId xmlns:a16="http://schemas.microsoft.com/office/drawing/2014/main" id="{6944CF2B-8123-A629-07F9-3C17FFB4BE78}"/>
              </a:ext>
            </a:extLst>
          </p:cNvPr>
          <p:cNvSpPr/>
          <p:nvPr/>
        </p:nvSpPr>
        <p:spPr bwMode="auto">
          <a:xfrm>
            <a:off x="94279" y="4507232"/>
            <a:ext cx="2953722" cy="884538"/>
          </a:xfrm>
          <a:prstGeom prst="flowChartMagneticDisk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Preceding text information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/>
              <a:t>前文信息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18884A6-CC6F-3CD5-2267-BD51F75FE14E}"/>
              </a:ext>
            </a:extLst>
          </p:cNvPr>
          <p:cNvSpPr/>
          <p:nvPr/>
        </p:nvSpPr>
        <p:spPr bwMode="auto">
          <a:xfrm>
            <a:off x="5022368" y="4795406"/>
            <a:ext cx="3441781" cy="309565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Attention  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注意力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74B29DE-8BBB-59A9-FF5F-30C35E46D6A7}"/>
              </a:ext>
            </a:extLst>
          </p:cNvPr>
          <p:cNvSpPr/>
          <p:nvPr/>
        </p:nvSpPr>
        <p:spPr bwMode="auto">
          <a:xfrm>
            <a:off x="5033252" y="4287455"/>
            <a:ext cx="3410187" cy="30393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Fully connecter layer </a:t>
            </a:r>
            <a:r>
              <a:rPr lang="zh-CN" altLang="en-US" dirty="0"/>
              <a:t>全连通层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6CDE002-D5A9-2F49-E4BC-D7AFE554A93F}"/>
              </a:ext>
            </a:extLst>
          </p:cNvPr>
          <p:cNvSpPr/>
          <p:nvPr/>
        </p:nvSpPr>
        <p:spPr bwMode="auto">
          <a:xfrm>
            <a:off x="5033254" y="5389292"/>
            <a:ext cx="3410187" cy="30393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Fully connecter layer </a:t>
            </a:r>
            <a:r>
              <a:rPr lang="zh-CN" altLang="en-US" dirty="0"/>
              <a:t>全连通层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7EE4059-4AEE-E9E9-09E5-79B74D7D8AE9}"/>
              </a:ext>
            </a:extLst>
          </p:cNvPr>
          <p:cNvCxnSpPr>
            <a:cxnSpLocks/>
            <a:endCxn id="19" idx="3"/>
          </p:cNvCxnSpPr>
          <p:nvPr/>
        </p:nvCxnSpPr>
        <p:spPr bwMode="auto">
          <a:xfrm flipV="1">
            <a:off x="1571140" y="5391770"/>
            <a:ext cx="0" cy="14295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577D65D-80DA-F2E3-E8B4-4406C9C8E856}"/>
              </a:ext>
            </a:extLst>
          </p:cNvPr>
          <p:cNvCxnSpPr>
            <a:cxnSpLocks/>
            <a:endCxn id="27" idx="1"/>
          </p:cNvCxnSpPr>
          <p:nvPr/>
        </p:nvCxnSpPr>
        <p:spPr bwMode="auto">
          <a:xfrm>
            <a:off x="1571140" y="5541260"/>
            <a:ext cx="346211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4FD761F-F87B-9935-8782-3115A36925A8}"/>
              </a:ext>
            </a:extLst>
          </p:cNvPr>
          <p:cNvCxnSpPr>
            <a:cxnSpLocks/>
            <a:stCxn id="19" idx="4"/>
            <a:endCxn id="21" idx="1"/>
          </p:cNvCxnSpPr>
          <p:nvPr/>
        </p:nvCxnSpPr>
        <p:spPr bwMode="auto">
          <a:xfrm>
            <a:off x="3048001" y="4949501"/>
            <a:ext cx="1974367" cy="6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06FB3BA0-7429-5006-5DE2-9F75DEE322A1}"/>
              </a:ext>
            </a:extLst>
          </p:cNvPr>
          <p:cNvSpPr txBox="1"/>
          <p:nvPr/>
        </p:nvSpPr>
        <p:spPr>
          <a:xfrm>
            <a:off x="2969033" y="4676799"/>
            <a:ext cx="214170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All the keys/values</a:t>
            </a:r>
          </a:p>
          <a:p>
            <a:pPr algn="ctr"/>
            <a:r>
              <a:rPr lang="zh-CN" altLang="en-US" sz="1600" dirty="0"/>
              <a:t>所有的键名</a:t>
            </a:r>
            <a:r>
              <a:rPr lang="en-US" altLang="zh-CN" sz="1600" dirty="0"/>
              <a:t>/</a:t>
            </a:r>
            <a:r>
              <a:rPr lang="zh-CN" altLang="en-US" sz="1600" dirty="0"/>
              <a:t>键值</a:t>
            </a:r>
            <a:endParaRPr lang="en-US" sz="16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E6DC7F7-7E81-B0AE-AE22-7C930659E4B9}"/>
              </a:ext>
            </a:extLst>
          </p:cNvPr>
          <p:cNvSpPr txBox="1"/>
          <p:nvPr/>
        </p:nvSpPr>
        <p:spPr>
          <a:xfrm>
            <a:off x="3019103" y="5243814"/>
            <a:ext cx="16235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New key/value</a:t>
            </a:r>
          </a:p>
          <a:p>
            <a:pPr algn="ctr"/>
            <a:r>
              <a:rPr lang="zh-CN" altLang="en-US" sz="1600" dirty="0"/>
              <a:t>新的键名</a:t>
            </a:r>
            <a:r>
              <a:rPr lang="en-US" altLang="zh-CN" sz="1600" dirty="0"/>
              <a:t>/</a:t>
            </a:r>
            <a:r>
              <a:rPr lang="zh-CN" altLang="en-US" sz="1600" dirty="0"/>
              <a:t>键值</a:t>
            </a:r>
            <a:endParaRPr lang="en-US" sz="1600" dirty="0"/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20CEBA3-2383-C902-BFC1-6269829C69D3}"/>
              </a:ext>
            </a:extLst>
          </p:cNvPr>
          <p:cNvCxnSpPr>
            <a:cxnSpLocks/>
            <a:stCxn id="27" idx="0"/>
            <a:endCxn id="21" idx="2"/>
          </p:cNvCxnSpPr>
          <p:nvPr/>
        </p:nvCxnSpPr>
        <p:spPr bwMode="auto">
          <a:xfrm flipV="1">
            <a:off x="6738348" y="5104971"/>
            <a:ext cx="4911" cy="28432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52891D5E-C42E-B412-3326-F736937C5BFF}"/>
              </a:ext>
            </a:extLst>
          </p:cNvPr>
          <p:cNvSpPr txBox="1"/>
          <p:nvPr/>
        </p:nvSpPr>
        <p:spPr>
          <a:xfrm>
            <a:off x="5193020" y="5074537"/>
            <a:ext cx="25066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Current query </a:t>
            </a:r>
            <a:r>
              <a:rPr lang="zh-CN" altLang="en-US" sz="1600" dirty="0"/>
              <a:t>当前查询</a:t>
            </a:r>
            <a:endParaRPr lang="en-US" sz="1600" dirty="0"/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9FDA95B-031E-9B13-C493-7BE9E17B39F2}"/>
              </a:ext>
            </a:extLst>
          </p:cNvPr>
          <p:cNvCxnSpPr>
            <a:cxnSpLocks/>
            <a:stCxn id="21" idx="0"/>
            <a:endCxn id="24" idx="2"/>
          </p:cNvCxnSpPr>
          <p:nvPr/>
        </p:nvCxnSpPr>
        <p:spPr bwMode="auto">
          <a:xfrm flipH="1" flipV="1">
            <a:off x="6738346" y="4591391"/>
            <a:ext cx="4913" cy="20401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7DC52F5A-4A51-72E6-44A6-52763A109CB6}"/>
              </a:ext>
            </a:extLst>
          </p:cNvPr>
          <p:cNvCxnSpPr>
            <a:cxnSpLocks/>
          </p:cNvCxnSpPr>
          <p:nvPr/>
        </p:nvCxnSpPr>
        <p:spPr bwMode="auto">
          <a:xfrm flipH="1">
            <a:off x="6738346" y="5804711"/>
            <a:ext cx="1948454" cy="827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8C6BC54A-CE8E-EB4E-1E6B-29771965AA08}"/>
              </a:ext>
            </a:extLst>
          </p:cNvPr>
          <p:cNvCxnSpPr>
            <a:cxnSpLocks/>
          </p:cNvCxnSpPr>
          <p:nvPr/>
        </p:nvCxnSpPr>
        <p:spPr bwMode="auto">
          <a:xfrm>
            <a:off x="8686800" y="4204980"/>
            <a:ext cx="0" cy="159973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D4A97E6F-EB24-00D6-4A47-1C5EDA326672}"/>
              </a:ext>
            </a:extLst>
          </p:cNvPr>
          <p:cNvCxnSpPr>
            <a:cxnSpLocks/>
            <a:stCxn id="24" idx="0"/>
            <a:endCxn id="12" idx="2"/>
          </p:cNvCxnSpPr>
          <p:nvPr/>
        </p:nvCxnSpPr>
        <p:spPr bwMode="auto">
          <a:xfrm flipV="1">
            <a:off x="6738346" y="4002113"/>
            <a:ext cx="0" cy="28534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CE269630-A5A7-D5E7-F186-0CA17CD186D4}"/>
              </a:ext>
            </a:extLst>
          </p:cNvPr>
          <p:cNvCxnSpPr>
            <a:cxnSpLocks/>
          </p:cNvCxnSpPr>
          <p:nvPr/>
        </p:nvCxnSpPr>
        <p:spPr bwMode="auto">
          <a:xfrm flipH="1">
            <a:off x="6736868" y="4204980"/>
            <a:ext cx="194845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1FDE5342-B924-2BB1-7DC8-8F86CF6AFECE}"/>
              </a:ext>
            </a:extLst>
          </p:cNvPr>
          <p:cNvSpPr txBox="1"/>
          <p:nvPr/>
        </p:nvSpPr>
        <p:spPr>
          <a:xfrm>
            <a:off x="6686526" y="3919398"/>
            <a:ext cx="3336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dirty="0"/>
              <a:t>+</a:t>
            </a:r>
            <a:endParaRPr lang="en-US" dirty="0"/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C29F06BD-69FE-0941-F605-E58EDF33B805}"/>
              </a:ext>
            </a:extLst>
          </p:cNvPr>
          <p:cNvCxnSpPr>
            <a:cxnSpLocks/>
            <a:stCxn id="12" idx="0"/>
            <a:endCxn id="7" idx="2"/>
          </p:cNvCxnSpPr>
          <p:nvPr/>
        </p:nvCxnSpPr>
        <p:spPr bwMode="auto">
          <a:xfrm flipV="1">
            <a:off x="6738346" y="3522425"/>
            <a:ext cx="2644" cy="17327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2337B6A4-B761-2268-42D5-6FEE0054C41D}"/>
              </a:ext>
            </a:extLst>
          </p:cNvPr>
          <p:cNvCxnSpPr>
            <a:cxnSpLocks/>
            <a:stCxn id="7" idx="0"/>
            <a:endCxn id="6" idx="2"/>
          </p:cNvCxnSpPr>
          <p:nvPr/>
        </p:nvCxnSpPr>
        <p:spPr bwMode="auto">
          <a:xfrm flipH="1" flipV="1">
            <a:off x="6739275" y="2901967"/>
            <a:ext cx="1715" cy="31652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1DBBCC5B-B6C4-A925-F4E5-ED63EF4BB5A3}"/>
              </a:ext>
            </a:extLst>
          </p:cNvPr>
          <p:cNvCxnSpPr>
            <a:cxnSpLocks/>
            <a:stCxn id="6" idx="0"/>
            <a:endCxn id="9" idx="2"/>
          </p:cNvCxnSpPr>
          <p:nvPr/>
        </p:nvCxnSpPr>
        <p:spPr bwMode="auto">
          <a:xfrm flipH="1" flipV="1">
            <a:off x="6736868" y="2263401"/>
            <a:ext cx="2407" cy="30001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7AFB8D18-7E4F-D25E-1D14-FE9701F74B80}"/>
              </a:ext>
            </a:extLst>
          </p:cNvPr>
          <p:cNvCxnSpPr>
            <a:cxnSpLocks/>
          </p:cNvCxnSpPr>
          <p:nvPr/>
        </p:nvCxnSpPr>
        <p:spPr bwMode="auto">
          <a:xfrm flipH="1">
            <a:off x="6738997" y="3625632"/>
            <a:ext cx="1948454" cy="827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A0BA8BB3-95D1-EF4B-BA35-B0F741E586EF}"/>
              </a:ext>
            </a:extLst>
          </p:cNvPr>
          <p:cNvCxnSpPr>
            <a:cxnSpLocks/>
          </p:cNvCxnSpPr>
          <p:nvPr/>
        </p:nvCxnSpPr>
        <p:spPr bwMode="auto">
          <a:xfrm>
            <a:off x="8685322" y="2438400"/>
            <a:ext cx="0" cy="119770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645E150A-19C1-34E9-5376-A85848E4E261}"/>
              </a:ext>
            </a:extLst>
          </p:cNvPr>
          <p:cNvCxnSpPr>
            <a:cxnSpLocks/>
          </p:cNvCxnSpPr>
          <p:nvPr/>
        </p:nvCxnSpPr>
        <p:spPr bwMode="auto">
          <a:xfrm flipH="1">
            <a:off x="6725462" y="2449662"/>
            <a:ext cx="194845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6CD699A6-B6F3-2093-AC80-20CF12008AFE}"/>
              </a:ext>
            </a:extLst>
          </p:cNvPr>
          <p:cNvSpPr txBox="1"/>
          <p:nvPr/>
        </p:nvSpPr>
        <p:spPr>
          <a:xfrm>
            <a:off x="6686525" y="2177574"/>
            <a:ext cx="3336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dirty="0"/>
              <a:t>+</a:t>
            </a:r>
            <a:endParaRPr lang="en-US" dirty="0"/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EF044720-81FF-EBE4-0939-9B50E247E6B3}"/>
              </a:ext>
            </a:extLst>
          </p:cNvPr>
          <p:cNvCxnSpPr>
            <a:cxnSpLocks/>
            <a:stCxn id="9" idx="0"/>
            <a:endCxn id="17" idx="2"/>
          </p:cNvCxnSpPr>
          <p:nvPr/>
        </p:nvCxnSpPr>
        <p:spPr bwMode="auto">
          <a:xfrm flipV="1">
            <a:off x="6736868" y="1762525"/>
            <a:ext cx="6390" cy="16711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5" name="Rectangle 134">
            <a:extLst>
              <a:ext uri="{FF2B5EF4-FFF2-40B4-BE49-F238E27FC236}">
                <a16:creationId xmlns:a16="http://schemas.microsoft.com/office/drawing/2014/main" id="{CE3D6D4C-FFC9-06E7-E2CC-7FFC2FE1F0DD}"/>
              </a:ext>
            </a:extLst>
          </p:cNvPr>
          <p:cNvSpPr/>
          <p:nvPr/>
        </p:nvSpPr>
        <p:spPr bwMode="auto">
          <a:xfrm>
            <a:off x="3962415" y="2511336"/>
            <a:ext cx="4571985" cy="10638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245C7226-9F90-BBF0-3F63-BF163AC257C1}"/>
              </a:ext>
            </a:extLst>
          </p:cNvPr>
          <p:cNvSpPr txBox="1"/>
          <p:nvPr/>
        </p:nvSpPr>
        <p:spPr>
          <a:xfrm>
            <a:off x="566744" y="2137430"/>
            <a:ext cx="3496201" cy="13849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800" dirty="0"/>
              <a:t>Multi-layer perceptron</a:t>
            </a:r>
          </a:p>
          <a:p>
            <a:pPr algn="ctr"/>
            <a:r>
              <a:rPr lang="en-US" altLang="zh-CN" sz="1800" dirty="0"/>
              <a:t> sub-module</a:t>
            </a:r>
          </a:p>
          <a:p>
            <a:pPr algn="ctr"/>
            <a:r>
              <a:rPr lang="zh-CN" altLang="en-US" dirty="0"/>
              <a:t>多层感知器子模块</a:t>
            </a:r>
            <a:endParaRPr lang="en-US" altLang="zh-CN" dirty="0"/>
          </a:p>
          <a:p>
            <a:pPr algn="ctr"/>
            <a:r>
              <a:rPr lang="en-US" altLang="zh-CN" dirty="0"/>
              <a:t>Further transform features</a:t>
            </a:r>
            <a:endParaRPr lang="en-US" dirty="0"/>
          </a:p>
          <a:p>
            <a:pPr algn="ctr"/>
            <a:r>
              <a:rPr lang="zh-CN" altLang="en-US" dirty="0"/>
              <a:t>进一步变换特征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726787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FA35B-113D-982B-72CD-7B0A77EDD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D6E84-30AD-53C5-9A53-283962ADC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Reasoning w/ a Long Output Path  </a:t>
            </a:r>
            <a:r>
              <a:rPr lang="zh-CN" altLang="en-US" dirty="0">
                <a:ea typeface="ＭＳ Ｐゴシック" panose="020B0600070205080204" pitchFamily="34" charset="-128"/>
              </a:rPr>
              <a:t>基于长输出路径的推理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7491E9-C793-93AD-AEE8-3A0AB7AAF5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</a:t>
            </a:r>
            <a:r>
              <a:rPr lang="en-US" altLang="zh-CN" sz="1400" dirty="0">
                <a:ea typeface="SimSun" panose="02010600030101010101" pitchFamily="2" charset="-122"/>
              </a:rPr>
              <a:t>Other Topic: Modern Paradigm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zh-CN" altLang="en-US" sz="1400" kern="0" dirty="0">
                <a:ea typeface="SimSun" panose="02010600030101010101" pitchFamily="2" charset="-122"/>
              </a:rPr>
              <a:t>番外：现代范式</a:t>
            </a:r>
            <a:endParaRPr lang="en-US" altLang="zh-CN" sz="1400" kern="0" dirty="0">
              <a:ea typeface="SimSun" panose="02010600030101010101" pitchFamily="2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6D009F-1938-EE56-362D-BF267A0512E4}"/>
              </a:ext>
            </a:extLst>
          </p:cNvPr>
          <p:cNvSpPr txBox="1"/>
          <p:nvPr/>
        </p:nvSpPr>
        <p:spPr>
          <a:xfrm>
            <a:off x="990600" y="1600200"/>
            <a:ext cx="716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0" dirty="0" err="1"/>
              <a:t>DeepSeek’s</a:t>
            </a:r>
            <a:r>
              <a:rPr lang="en-US" altLang="zh-CN" sz="2000" b="0" dirty="0"/>
              <a:t> input template  </a:t>
            </a:r>
            <a:r>
              <a:rPr lang="en-US" altLang="zh-CN" sz="2000" b="0" dirty="0" err="1"/>
              <a:t>DeepSeek</a:t>
            </a:r>
            <a:r>
              <a:rPr lang="zh-CN" altLang="en-US" sz="2000" b="0" dirty="0"/>
              <a:t>的输入模板</a:t>
            </a:r>
            <a:endParaRPr lang="zh-CN" altLang="en-US" sz="2000" dirty="0"/>
          </a:p>
        </p:txBody>
      </p:sp>
      <p:pic>
        <p:nvPicPr>
          <p:cNvPr id="5" name="Picture 4" descr="A close up of a text&#10;&#10;AI-generated content may be incorrect.">
            <a:extLst>
              <a:ext uri="{FF2B5EF4-FFF2-40B4-BE49-F238E27FC236}">
                <a16:creationId xmlns:a16="http://schemas.microsoft.com/office/drawing/2014/main" id="{5E3527D9-3931-B03D-15DC-693BFE6C4E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152" y="2000310"/>
            <a:ext cx="7849695" cy="128605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09028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075BA-7476-362A-3517-8BB39DF0C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paper with black text and red text&#10;&#10;AI-generated content may be incorrect.">
            <a:extLst>
              <a:ext uri="{FF2B5EF4-FFF2-40B4-BE49-F238E27FC236}">
                <a16:creationId xmlns:a16="http://schemas.microsoft.com/office/drawing/2014/main" id="{586E8E7D-FC07-D475-90C7-334FDE51A8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1893295"/>
            <a:ext cx="7201905" cy="42487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C04B9B-8CA1-4CB8-F8CD-5FE3F1E4E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Reasoning w/ a Long Output Path  </a:t>
            </a:r>
            <a:r>
              <a:rPr lang="zh-CN" altLang="en-US" dirty="0">
                <a:ea typeface="ＭＳ Ｐゴシック" panose="020B0600070205080204" pitchFamily="34" charset="-128"/>
              </a:rPr>
              <a:t>基于长输出路径的推理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446D21-2C73-9545-768F-B879A2CE906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</a:t>
            </a:r>
            <a:r>
              <a:rPr lang="en-US" altLang="zh-CN" sz="1400" dirty="0">
                <a:ea typeface="SimSun" panose="02010600030101010101" pitchFamily="2" charset="-122"/>
              </a:rPr>
              <a:t>Other Topic: Modern Paradigm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zh-CN" altLang="en-US" sz="1400" kern="0" dirty="0">
                <a:ea typeface="SimSun" panose="02010600030101010101" pitchFamily="2" charset="-122"/>
              </a:rPr>
              <a:t>番外：现代范式</a:t>
            </a:r>
            <a:endParaRPr lang="en-US" altLang="zh-CN" sz="1400" kern="0" dirty="0">
              <a:ea typeface="SimSun" panose="02010600030101010101" pitchFamily="2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7789B9-A9C8-B19C-EDD4-88E513198ADE}"/>
              </a:ext>
            </a:extLst>
          </p:cNvPr>
          <p:cNvSpPr txBox="1"/>
          <p:nvPr/>
        </p:nvSpPr>
        <p:spPr>
          <a:xfrm>
            <a:off x="990600" y="1600200"/>
            <a:ext cx="716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0" dirty="0"/>
              <a:t>A </a:t>
            </a:r>
            <a:r>
              <a:rPr lang="en-US" altLang="zh-CN" sz="2000" b="0" dirty="0" err="1"/>
              <a:t>DeepSeek</a:t>
            </a:r>
            <a:r>
              <a:rPr lang="en-US" altLang="zh-CN" sz="2000" b="0" dirty="0"/>
              <a:t> example  </a:t>
            </a:r>
            <a:r>
              <a:rPr lang="zh-CN" altLang="en-US" sz="2000" b="0" dirty="0"/>
              <a:t>一个</a:t>
            </a:r>
            <a:r>
              <a:rPr lang="en-US" altLang="zh-CN" sz="2000" b="0" dirty="0" err="1"/>
              <a:t>DeepSeek</a:t>
            </a:r>
            <a:r>
              <a:rPr lang="zh-CN" altLang="en-US" sz="2000" b="0" dirty="0"/>
              <a:t>的例子</a:t>
            </a:r>
            <a:endParaRPr lang="zh-CN" altLang="en-US" sz="2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81365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36E1E-01D8-2ADF-FECA-005BB324A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6C035-6F29-DCC6-FAA3-5DC4E42B1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Reasoning Model  </a:t>
            </a:r>
            <a:r>
              <a:rPr lang="zh-CN" altLang="en-US" dirty="0">
                <a:ea typeface="ＭＳ Ｐゴシック" panose="020B0600070205080204" pitchFamily="34" charset="-128"/>
              </a:rPr>
              <a:t>推理模型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85E475-C33E-88BC-89CE-70C7A2C34B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</a:t>
            </a:r>
            <a:r>
              <a:rPr lang="en-US" altLang="zh-CN" sz="1400" dirty="0">
                <a:ea typeface="SimSun" panose="02010600030101010101" pitchFamily="2" charset="-122"/>
              </a:rPr>
              <a:t>Other Topic: Modern Paradigm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zh-CN" altLang="en-US" sz="1400" kern="0" dirty="0">
                <a:ea typeface="SimSun" panose="02010600030101010101" pitchFamily="2" charset="-122"/>
              </a:rPr>
              <a:t>番外：现代范式</a:t>
            </a:r>
            <a:endParaRPr lang="en-US" altLang="zh-CN" sz="1400" kern="0" dirty="0">
              <a:ea typeface="SimSun" panose="02010600030101010101" pitchFamily="2" charset="-122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E5703-98B9-8148-8C04-5325998EE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4953000"/>
          </a:xfrm>
        </p:spPr>
        <p:txBody>
          <a:bodyPr>
            <a:normAutofit lnSpcReduction="10000"/>
          </a:bodyPr>
          <a:lstStyle/>
          <a:p>
            <a:pPr>
              <a:spcBef>
                <a:spcPts val="150"/>
              </a:spcBef>
            </a:pPr>
            <a:r>
              <a:rPr lang="en-US" altLang="zh-CN" dirty="0"/>
              <a:t>Strong LLM  </a:t>
            </a:r>
            <a:r>
              <a:rPr lang="zh-CN" altLang="en-US" dirty="0"/>
              <a:t>强大的语言模型</a:t>
            </a:r>
            <a:endParaRPr lang="en-US" altLang="zh-CN" dirty="0"/>
          </a:p>
          <a:p>
            <a:pPr lvl="1">
              <a:spcBef>
                <a:spcPts val="50"/>
              </a:spcBef>
            </a:pPr>
            <a:r>
              <a:rPr lang="en-US" altLang="zh-CN" dirty="0"/>
              <a:t>Generating long &amp; correct output, e.g.,       </a:t>
            </a:r>
            <a:r>
              <a:rPr lang="zh-CN" altLang="en-US" dirty="0"/>
              <a:t>生成长而正确的输出，例如</a:t>
            </a:r>
            <a:endParaRPr lang="en-US" altLang="zh-CN" dirty="0"/>
          </a:p>
          <a:p>
            <a:pPr lvl="2">
              <a:spcBef>
                <a:spcPts val="0"/>
              </a:spcBef>
            </a:pPr>
            <a:r>
              <a:rPr lang="en-US" altLang="zh-CN" dirty="0"/>
              <a:t>Reflection  </a:t>
            </a:r>
            <a:r>
              <a:rPr lang="zh-CN" altLang="en-US" dirty="0"/>
              <a:t>反省</a:t>
            </a:r>
            <a:endParaRPr lang="en-US" altLang="zh-CN" dirty="0"/>
          </a:p>
          <a:p>
            <a:pPr lvl="2">
              <a:spcBef>
                <a:spcPts val="0"/>
              </a:spcBef>
            </a:pPr>
            <a:r>
              <a:rPr lang="en-US" altLang="zh-CN" dirty="0"/>
              <a:t>Self-verification  </a:t>
            </a:r>
            <a:r>
              <a:rPr lang="zh-CN" altLang="en-US" dirty="0"/>
              <a:t>自我验证</a:t>
            </a:r>
            <a:endParaRPr lang="en-US" altLang="zh-CN" dirty="0"/>
          </a:p>
          <a:p>
            <a:pPr>
              <a:spcBef>
                <a:spcPts val="150"/>
              </a:spcBef>
            </a:pPr>
            <a:r>
              <a:rPr lang="en-US" altLang="zh-CN" dirty="0"/>
              <a:t>Difficulties </a:t>
            </a:r>
            <a:r>
              <a:rPr lang="zh-CN" altLang="en-US" dirty="0"/>
              <a:t> 困难</a:t>
            </a:r>
            <a:endParaRPr lang="en-US" altLang="zh-CN" dirty="0"/>
          </a:p>
          <a:p>
            <a:pPr lvl="1">
              <a:spcBef>
                <a:spcPts val="50"/>
              </a:spcBef>
            </a:pPr>
            <a:r>
              <a:rPr lang="en-US" altLang="zh-CN" dirty="0"/>
              <a:t>Iteratively outputting words of a concise reasoning: not trainable in general          </a:t>
            </a:r>
            <a:r>
              <a:rPr lang="zh-CN" altLang="en-US" dirty="0"/>
              <a:t>逐词输出精简赅要的推理：几乎无法训练</a:t>
            </a:r>
            <a:endParaRPr lang="en-US" altLang="zh-CN" dirty="0"/>
          </a:p>
          <a:p>
            <a:pPr lvl="1">
              <a:spcBef>
                <a:spcPts val="50"/>
              </a:spcBef>
            </a:pPr>
            <a:r>
              <a:rPr lang="en-US" altLang="zh-CN" dirty="0"/>
              <a:t>Tentative &amp; reflective reasoning: no enough training data  </a:t>
            </a:r>
            <a:r>
              <a:rPr lang="zh-CN" altLang="en-US" dirty="0"/>
              <a:t>试探与反思型推理：缺乏足够的训练数据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10149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5EBA6-BC2C-41BE-5DA0-7FF11BE19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3F77A-8747-88D8-9158-31E98080E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Reinforcement Learning 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强化学习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AC29E-91A1-809F-179B-6193607013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</a:t>
            </a:r>
            <a:r>
              <a:rPr lang="en-US" altLang="zh-CN" sz="1400" dirty="0">
                <a:ea typeface="SimSun" panose="02010600030101010101" pitchFamily="2" charset="-122"/>
              </a:rPr>
              <a:t>Other Topic: Modern Paradigm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zh-CN" altLang="en-US" sz="1400" kern="0" dirty="0">
                <a:ea typeface="SimSun" panose="02010600030101010101" pitchFamily="2" charset="-122"/>
              </a:rPr>
              <a:t>番外：现代范式</a:t>
            </a:r>
            <a:endParaRPr lang="en-US" altLang="zh-CN" sz="1400" kern="0" dirty="0">
              <a:ea typeface="SimSun" panose="02010600030101010101" pitchFamily="2" charset="-122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A33F9-3872-9518-9BB7-CEE95DB77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4953000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</a:pPr>
            <a:r>
              <a:rPr lang="en-US" altLang="zh-CN" dirty="0"/>
              <a:t>Different Learning Paradigm          </a:t>
            </a:r>
            <a:r>
              <a:rPr lang="zh-CN" altLang="en-US" dirty="0"/>
              <a:t>另一种学习范式</a:t>
            </a:r>
            <a:endParaRPr lang="en-US" altLang="zh-CN" dirty="0"/>
          </a:p>
          <a:p>
            <a:pPr lvl="1">
              <a:spcBef>
                <a:spcPts val="100"/>
              </a:spcBef>
            </a:pPr>
            <a:r>
              <a:rPr lang="en-US" altLang="zh-CN" dirty="0"/>
              <a:t>Not supervising each step</a:t>
            </a:r>
            <a:r>
              <a:rPr lang="zh-CN" altLang="en-US" dirty="0"/>
              <a:t>                     并非监督每一步</a:t>
            </a:r>
            <a:endParaRPr lang="en-US" altLang="zh-CN" dirty="0"/>
          </a:p>
          <a:p>
            <a:pPr lvl="1">
              <a:spcBef>
                <a:spcPts val="100"/>
              </a:spcBef>
            </a:pPr>
            <a:r>
              <a:rPr lang="en-US" altLang="zh-CN" dirty="0"/>
              <a:t>But by </a:t>
            </a:r>
            <a:r>
              <a:rPr lang="en-US" altLang="zh-CN"/>
              <a:t>exploring w/ trial-and-error </a:t>
            </a:r>
            <a:r>
              <a:rPr lang="en-US" altLang="zh-CN" dirty="0"/>
              <a:t>&amp; getting rewards in achieving goals  </a:t>
            </a:r>
            <a:r>
              <a:rPr lang="zh-CN" altLang="en-US" dirty="0"/>
              <a:t>而由在探索试错、接受完成任务的奖励来引导</a:t>
            </a:r>
            <a:endParaRPr lang="en-US" altLang="zh-CN" dirty="0"/>
          </a:p>
          <a:p>
            <a:pPr>
              <a:spcBef>
                <a:spcPts val="300"/>
              </a:spcBef>
            </a:pPr>
            <a:r>
              <a:rPr lang="en-US" altLang="zh-CN" dirty="0"/>
              <a:t>Classical Methods in Games         </a:t>
            </a:r>
            <a:r>
              <a:rPr lang="zh-CN" altLang="en-US" dirty="0"/>
              <a:t>博弈任务中的经典方法</a:t>
            </a:r>
            <a:endParaRPr lang="en-US" altLang="zh-CN" dirty="0"/>
          </a:p>
          <a:p>
            <a:pPr lvl="1">
              <a:spcBef>
                <a:spcPts val="100"/>
              </a:spcBef>
            </a:pPr>
            <a:r>
              <a:rPr lang="en-US" altLang="zh-CN" dirty="0"/>
              <a:t>Example: AlphaGo  </a:t>
            </a:r>
            <a:r>
              <a:rPr lang="zh-CN" altLang="en-US" dirty="0"/>
              <a:t>例如</a:t>
            </a:r>
            <a:r>
              <a:rPr lang="en-US" altLang="zh-CN" dirty="0"/>
              <a:t>AlphaGo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76902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FCE8B-74A1-B435-6CAA-CB5113CC8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58455-C8EA-728F-9462-F3F0522A9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Sampling Output </a:t>
            </a:r>
            <a:r>
              <a:rPr lang="zh-CN" altLang="en-US" dirty="0"/>
              <a:t> 输出采样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681230-2E7F-6EAB-2198-DDB7058420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</a:t>
            </a:r>
            <a:r>
              <a:rPr lang="en-US" altLang="zh-CN" sz="1400" dirty="0">
                <a:ea typeface="SimSun" panose="02010600030101010101" pitchFamily="2" charset="-122"/>
              </a:rPr>
              <a:t>Other Topic: Modern Paradigm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zh-CN" altLang="en-US" sz="1400" kern="0" dirty="0">
                <a:ea typeface="SimSun" panose="02010600030101010101" pitchFamily="2" charset="-122"/>
              </a:rPr>
              <a:t>番外：现代范式</a:t>
            </a:r>
            <a:endParaRPr lang="en-US" altLang="zh-CN" sz="1400" kern="0" dirty="0">
              <a:ea typeface="SimSun" panose="02010600030101010101" pitchFamily="2" charset="-122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FE0135-7A86-D468-FF40-37321984A969}"/>
              </a:ext>
            </a:extLst>
          </p:cNvPr>
          <p:cNvSpPr txBox="1"/>
          <p:nvPr/>
        </p:nvSpPr>
        <p:spPr>
          <a:xfrm>
            <a:off x="416520" y="1752600"/>
            <a:ext cx="83109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Generate the next word based on probability  </a:t>
            </a:r>
          </a:p>
          <a:p>
            <a:pPr algn="ctr"/>
            <a:r>
              <a:rPr lang="zh-CN" altLang="en-US" sz="2200" dirty="0"/>
              <a:t>依据概率生成下一个词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AD1632B-4A13-3FF2-47A2-C3AD80A59E2C}"/>
              </a:ext>
            </a:extLst>
          </p:cNvPr>
          <p:cNvGrpSpPr/>
          <p:nvPr/>
        </p:nvGrpSpPr>
        <p:grpSpPr>
          <a:xfrm>
            <a:off x="5499568" y="2731000"/>
            <a:ext cx="915950" cy="2831600"/>
            <a:chOff x="6642568" y="3058044"/>
            <a:chExt cx="915950" cy="283160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627B50D-B1E7-7651-5C24-69B62AB3F69A}"/>
                </a:ext>
              </a:extLst>
            </p:cNvPr>
            <p:cNvSpPr txBox="1"/>
            <p:nvPr/>
          </p:nvSpPr>
          <p:spPr>
            <a:xfrm>
              <a:off x="6652902" y="3271251"/>
              <a:ext cx="89309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200" dirty="0"/>
                <a:t>幸运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3AE8F46-7624-BE80-8687-87D586B53153}"/>
                </a:ext>
              </a:extLst>
            </p:cNvPr>
            <p:cNvSpPr txBox="1"/>
            <p:nvPr/>
          </p:nvSpPr>
          <p:spPr>
            <a:xfrm>
              <a:off x="6934200" y="3058044"/>
              <a:ext cx="461665" cy="38400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EA4DFEB-FC97-E9B1-F3C1-D357A496C048}"/>
                </a:ext>
              </a:extLst>
            </p:cNvPr>
            <p:cNvSpPr txBox="1"/>
            <p:nvPr/>
          </p:nvSpPr>
          <p:spPr>
            <a:xfrm>
              <a:off x="6934200" y="3679531"/>
              <a:ext cx="461665" cy="38400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D6EEB85-C3B5-6896-CABD-515F2324C051}"/>
                </a:ext>
              </a:extLst>
            </p:cNvPr>
            <p:cNvSpPr txBox="1"/>
            <p:nvPr/>
          </p:nvSpPr>
          <p:spPr>
            <a:xfrm>
              <a:off x="6652902" y="3907115"/>
              <a:ext cx="89309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200" dirty="0"/>
                <a:t>挑战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D2033D9-7BE0-4C89-84B5-D4E97003DA8A}"/>
                </a:ext>
              </a:extLst>
            </p:cNvPr>
            <p:cNvSpPr txBox="1"/>
            <p:nvPr/>
          </p:nvSpPr>
          <p:spPr>
            <a:xfrm>
              <a:off x="6937355" y="4338204"/>
              <a:ext cx="461665" cy="38400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59BB253-01B0-0BB2-06B1-20C085B38224}"/>
                </a:ext>
              </a:extLst>
            </p:cNvPr>
            <p:cNvSpPr txBox="1"/>
            <p:nvPr/>
          </p:nvSpPr>
          <p:spPr>
            <a:xfrm>
              <a:off x="6665428" y="4521475"/>
              <a:ext cx="89309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200" dirty="0"/>
                <a:t>机遇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2259EA7-CAEF-D28B-A6A3-ECF12CE3909B}"/>
                </a:ext>
              </a:extLst>
            </p:cNvPr>
            <p:cNvSpPr txBox="1"/>
            <p:nvPr/>
          </p:nvSpPr>
          <p:spPr>
            <a:xfrm>
              <a:off x="6929734" y="4939130"/>
              <a:ext cx="461665" cy="38400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068C5AF-3F3E-57BA-47B4-960996746035}"/>
                </a:ext>
              </a:extLst>
            </p:cNvPr>
            <p:cNvSpPr txBox="1"/>
            <p:nvPr/>
          </p:nvSpPr>
          <p:spPr>
            <a:xfrm>
              <a:off x="6642568" y="5131713"/>
              <a:ext cx="89309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200" dirty="0"/>
                <a:t>问题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16D4B9E-CB09-6B74-7952-DC57E7913F6D}"/>
                </a:ext>
              </a:extLst>
            </p:cNvPr>
            <p:cNvSpPr txBox="1"/>
            <p:nvPr/>
          </p:nvSpPr>
          <p:spPr>
            <a:xfrm>
              <a:off x="6929735" y="5505637"/>
              <a:ext cx="461665" cy="38400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0F1B87B8-FCB8-660C-2FD7-EB61BB92352A}"/>
              </a:ext>
            </a:extLst>
          </p:cNvPr>
          <p:cNvSpPr txBox="1"/>
          <p:nvPr/>
        </p:nvSpPr>
        <p:spPr>
          <a:xfrm>
            <a:off x="1295400" y="3831012"/>
            <a:ext cx="38784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dirty="0"/>
              <a:t>气候变化是全世界面临的</a:t>
            </a:r>
          </a:p>
        </p:txBody>
      </p:sp>
      <p:sp>
        <p:nvSpPr>
          <p:cNvPr id="34" name="Text Box 184">
            <a:extLst>
              <a:ext uri="{FF2B5EF4-FFF2-40B4-BE49-F238E27FC236}">
                <a16:creationId xmlns:a16="http://schemas.microsoft.com/office/drawing/2014/main" id="{74B10D15-48C3-5B58-5923-CC09E95B56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4027" y="3625756"/>
            <a:ext cx="111597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l" eaLnBrk="1" hangingPunct="1">
              <a:lnSpc>
                <a:spcPct val="90000"/>
              </a:lnSpc>
            </a:pPr>
            <a:r>
              <a:rPr lang="en-US" altLang="zh-CN" sz="2400" b="1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0.3</a:t>
            </a:r>
            <a:endParaRPr lang="en-US" altLang="zh-CN" sz="2400" b="1" dirty="0">
              <a:solidFill>
                <a:srgbClr val="00B050"/>
              </a:solidFill>
              <a:latin typeface="Trebuchet MS" panose="020B0603020202020204" pitchFamily="34" charset="0"/>
            </a:endParaRPr>
          </a:p>
        </p:txBody>
      </p:sp>
      <p:sp>
        <p:nvSpPr>
          <p:cNvPr id="35" name="Text Box 184">
            <a:extLst>
              <a:ext uri="{FF2B5EF4-FFF2-40B4-BE49-F238E27FC236}">
                <a16:creationId xmlns:a16="http://schemas.microsoft.com/office/drawing/2014/main" id="{3EE29104-B033-A0D7-81DE-63AD7A29F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9656" y="4206647"/>
            <a:ext cx="1262744" cy="68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l" eaLnBrk="1" hangingPunct="1">
              <a:lnSpc>
                <a:spcPct val="9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rebuchet MS" panose="020B0603020202020204" pitchFamily="34" charset="0"/>
              </a:rPr>
              <a:t>0.0015</a:t>
            </a:r>
          </a:p>
        </p:txBody>
      </p:sp>
      <p:sp>
        <p:nvSpPr>
          <p:cNvPr id="36" name="Text Box 184">
            <a:extLst>
              <a:ext uri="{FF2B5EF4-FFF2-40B4-BE49-F238E27FC236}">
                <a16:creationId xmlns:a16="http://schemas.microsoft.com/office/drawing/2014/main" id="{F7B01CE0-FB5C-B22D-18DB-485E0B4F25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4914" y="4839248"/>
            <a:ext cx="82205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l" eaLnBrk="1" hangingPunct="1">
              <a:lnSpc>
                <a:spcPct val="90000"/>
              </a:lnSpc>
            </a:pPr>
            <a:r>
              <a:rPr lang="en-US" altLang="zh-CN" sz="2400" b="1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0.4</a:t>
            </a:r>
            <a:endParaRPr lang="en-US" altLang="zh-CN" sz="2400" b="1" dirty="0">
              <a:solidFill>
                <a:srgbClr val="00B050"/>
              </a:solidFill>
              <a:latin typeface="Trebuchet MS" panose="020B0603020202020204" pitchFamily="34" charset="0"/>
            </a:endParaRPr>
          </a:p>
        </p:txBody>
      </p:sp>
      <p:sp>
        <p:nvSpPr>
          <p:cNvPr id="37" name="Text Box 184">
            <a:extLst>
              <a:ext uri="{FF2B5EF4-FFF2-40B4-BE49-F238E27FC236}">
                <a16:creationId xmlns:a16="http://schemas.microsoft.com/office/drawing/2014/main" id="{F44B5656-9A5B-DE13-B716-DD3A7C80A1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3141" y="2957013"/>
            <a:ext cx="1115973" cy="68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l" eaLnBrk="1" hangingPunct="1">
              <a:lnSpc>
                <a:spcPct val="9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rebuchet MS" panose="020B0603020202020204" pitchFamily="34" charset="0"/>
              </a:rPr>
              <a:t>0.001</a:t>
            </a:r>
          </a:p>
        </p:txBody>
      </p:sp>
      <p:sp>
        <p:nvSpPr>
          <p:cNvPr id="3" name="Text Box 184">
            <a:extLst>
              <a:ext uri="{FF2B5EF4-FFF2-40B4-BE49-F238E27FC236}">
                <a16:creationId xmlns:a16="http://schemas.microsoft.com/office/drawing/2014/main" id="{3E9CA7BD-7882-1E11-F218-FB43F5F082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6142" y="2957013"/>
            <a:ext cx="457200" cy="68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l" eaLnBrk="1" hangingPunct="1">
              <a:lnSpc>
                <a:spcPct val="9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rebuchet MS" panose="020B0603020202020204" pitchFamily="34" charset="0"/>
              </a:rPr>
              <a:t>X</a:t>
            </a:r>
          </a:p>
        </p:txBody>
      </p:sp>
      <p:sp>
        <p:nvSpPr>
          <p:cNvPr id="5" name="Text Box 184">
            <a:extLst>
              <a:ext uri="{FF2B5EF4-FFF2-40B4-BE49-F238E27FC236}">
                <a16:creationId xmlns:a16="http://schemas.microsoft.com/office/drawing/2014/main" id="{B4783D3D-DC93-F18A-680B-7E9895DA58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4371" y="362575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l" eaLnBrk="1" hangingPunct="1">
              <a:lnSpc>
                <a:spcPct val="90000"/>
              </a:lnSpc>
            </a:pPr>
            <a:r>
              <a:rPr lang="en-US" altLang="zh-CN" sz="2400" b="1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√</a:t>
            </a:r>
            <a:endParaRPr lang="en-US" altLang="zh-CN" sz="2400" b="1" dirty="0">
              <a:solidFill>
                <a:srgbClr val="00B050"/>
              </a:solidFill>
              <a:latin typeface="Trebuchet MS" panose="020B0603020202020204" pitchFamily="34" charset="0"/>
            </a:endParaRPr>
          </a:p>
        </p:txBody>
      </p:sp>
      <p:sp>
        <p:nvSpPr>
          <p:cNvPr id="7" name="Text Box 184">
            <a:extLst>
              <a:ext uri="{FF2B5EF4-FFF2-40B4-BE49-F238E27FC236}">
                <a16:creationId xmlns:a16="http://schemas.microsoft.com/office/drawing/2014/main" id="{09CAD1D8-228A-6FC8-E52A-2CBE47E69B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2656" y="4206647"/>
            <a:ext cx="457200" cy="68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l" eaLnBrk="1" hangingPunct="1">
              <a:lnSpc>
                <a:spcPct val="9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rebuchet MS" panose="020B0603020202020204" pitchFamily="34" charset="0"/>
              </a:rPr>
              <a:t>X</a:t>
            </a:r>
          </a:p>
        </p:txBody>
      </p:sp>
      <p:sp>
        <p:nvSpPr>
          <p:cNvPr id="8" name="Text Box 184">
            <a:extLst>
              <a:ext uri="{FF2B5EF4-FFF2-40B4-BE49-F238E27FC236}">
                <a16:creationId xmlns:a16="http://schemas.microsoft.com/office/drawing/2014/main" id="{F1BC7C67-6EF5-38AA-929F-257488C89E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6142" y="483924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l" eaLnBrk="1" hangingPunct="1">
              <a:lnSpc>
                <a:spcPct val="90000"/>
              </a:lnSpc>
            </a:pPr>
            <a:r>
              <a:rPr lang="en-US" altLang="zh-CN" sz="2400" b="1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√</a:t>
            </a:r>
            <a:endParaRPr lang="en-US" altLang="zh-CN" sz="2400" b="1" dirty="0">
              <a:solidFill>
                <a:srgbClr val="00B050"/>
              </a:solidFill>
              <a:latin typeface="Trebuchet MS" panose="020B0603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09148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3" grpId="0"/>
      <p:bldP spid="34" grpId="0"/>
      <p:bldP spid="35" grpId="0"/>
      <p:bldP spid="36" grpId="0"/>
      <p:bldP spid="37" grpId="0"/>
      <p:bldP spid="3" grpId="0"/>
      <p:bldP spid="5" grpId="0"/>
      <p:bldP spid="7" grpId="0"/>
      <p:bldP spid="8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DC112-EB49-5732-ACCE-0CD32C10B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A6F1D-20F3-8A9D-2862-01AF68856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Policy Gradient </a:t>
            </a:r>
            <a:r>
              <a:rPr lang="zh-CN" altLang="en-US" dirty="0"/>
              <a:t> 策略梯度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6B12F2-A73E-6F12-BA4A-4EE1B73CB1C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</a:t>
            </a:r>
            <a:r>
              <a:rPr lang="en-US" altLang="zh-CN" sz="1400" dirty="0">
                <a:ea typeface="SimSun" panose="02010600030101010101" pitchFamily="2" charset="-122"/>
              </a:rPr>
              <a:t>Other Topic: Modern Paradigm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zh-CN" altLang="en-US" sz="1400" kern="0" dirty="0">
                <a:ea typeface="SimSun" panose="02010600030101010101" pitchFamily="2" charset="-122"/>
              </a:rPr>
              <a:t>番外：现代范式</a:t>
            </a:r>
            <a:endParaRPr lang="en-US" altLang="zh-CN" sz="1400" kern="0" dirty="0">
              <a:ea typeface="SimSun" panose="02010600030101010101" pitchFamily="2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8DA2FA-C736-A05A-DDC7-1FC89AECD3C4}"/>
              </a:ext>
            </a:extLst>
          </p:cNvPr>
          <p:cNvSpPr txBox="1"/>
          <p:nvPr/>
        </p:nvSpPr>
        <p:spPr>
          <a:xfrm>
            <a:off x="163195" y="3299787"/>
            <a:ext cx="1159828" cy="101566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zh-CN" sz="2000" b="0" dirty="0"/>
              <a:t>Training task</a:t>
            </a:r>
          </a:p>
          <a:p>
            <a:pPr algn="ctr"/>
            <a:r>
              <a:rPr lang="zh-CN" altLang="en-US" sz="2000" dirty="0"/>
              <a:t>训练任务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5ECD00-6060-1036-44DE-AE015F1C2490}"/>
              </a:ext>
            </a:extLst>
          </p:cNvPr>
          <p:cNvSpPr txBox="1"/>
          <p:nvPr/>
        </p:nvSpPr>
        <p:spPr>
          <a:xfrm>
            <a:off x="3008092" y="2160239"/>
            <a:ext cx="2387600" cy="70788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zh-CN" sz="2000" b="0" dirty="0"/>
              <a:t>Output sequence 1</a:t>
            </a:r>
          </a:p>
          <a:p>
            <a:pPr algn="ctr"/>
            <a:r>
              <a:rPr lang="zh-CN" altLang="en-US" sz="2000" dirty="0"/>
              <a:t>输出序列</a:t>
            </a:r>
            <a:r>
              <a:rPr lang="en-US" altLang="zh-CN" sz="2000" dirty="0"/>
              <a:t>1</a:t>
            </a:r>
            <a:endParaRPr lang="zh-CN" altLang="en-US" sz="2000" dirty="0"/>
          </a:p>
        </p:txBody>
      </p:sp>
      <p:sp>
        <p:nvSpPr>
          <p:cNvPr id="13" name="Text Box 184">
            <a:extLst>
              <a:ext uri="{FF2B5EF4-FFF2-40B4-BE49-F238E27FC236}">
                <a16:creationId xmlns:a16="http://schemas.microsoft.com/office/drawing/2014/main" id="{E93A734F-A2F5-8F17-498C-5103EBAD1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3848" y="3200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l" eaLnBrk="1" hangingPunct="1">
              <a:lnSpc>
                <a:spcPct val="90000"/>
              </a:lnSpc>
            </a:pPr>
            <a:r>
              <a:rPr lang="en-US" altLang="zh-CN" sz="2400" b="1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√</a:t>
            </a:r>
            <a:endParaRPr lang="en-US" altLang="zh-CN" sz="2400" b="1" dirty="0">
              <a:solidFill>
                <a:srgbClr val="00B050"/>
              </a:solidFill>
              <a:latin typeface="Trebuchet MS" panose="020B0603020202020204" pitchFamily="34" charset="0"/>
            </a:endParaRPr>
          </a:p>
        </p:txBody>
      </p:sp>
      <p:sp>
        <p:nvSpPr>
          <p:cNvPr id="14" name="Text Box 184">
            <a:extLst>
              <a:ext uri="{FF2B5EF4-FFF2-40B4-BE49-F238E27FC236}">
                <a16:creationId xmlns:a16="http://schemas.microsoft.com/office/drawing/2014/main" id="{38C7E246-A5A9-C52F-84E1-70D085AAF5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7029" y="2372812"/>
            <a:ext cx="457200" cy="5988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l" eaLnBrk="1" hangingPunct="1">
              <a:lnSpc>
                <a:spcPct val="9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rebuchet MS" panose="020B0603020202020204" pitchFamily="34" charset="0"/>
              </a:rPr>
              <a:t>X</a:t>
            </a:r>
          </a:p>
        </p:txBody>
      </p:sp>
      <p:sp>
        <p:nvSpPr>
          <p:cNvPr id="15" name="Text Box 184">
            <a:extLst>
              <a:ext uri="{FF2B5EF4-FFF2-40B4-BE49-F238E27FC236}">
                <a16:creationId xmlns:a16="http://schemas.microsoft.com/office/drawing/2014/main" id="{28407F45-5BD1-3790-DF38-67F38662D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7029" y="4955464"/>
            <a:ext cx="457200" cy="68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l" eaLnBrk="1" hangingPunct="1">
              <a:lnSpc>
                <a:spcPct val="9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rebuchet MS" panose="020B0603020202020204" pitchFamily="34" charset="0"/>
              </a:rPr>
              <a:t>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7768E9-8CD6-BD87-82C9-032E48B90156}"/>
              </a:ext>
            </a:extLst>
          </p:cNvPr>
          <p:cNvSpPr txBox="1"/>
          <p:nvPr/>
        </p:nvSpPr>
        <p:spPr>
          <a:xfrm>
            <a:off x="4694433" y="1463279"/>
            <a:ext cx="18270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Task judge</a:t>
            </a:r>
          </a:p>
          <a:p>
            <a:pPr algn="ctr"/>
            <a:r>
              <a:rPr lang="zh-CN" altLang="en-US" sz="2000" dirty="0"/>
              <a:t>任务裁判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262F56-6CF0-7757-52CF-804FD9064BE0}"/>
              </a:ext>
            </a:extLst>
          </p:cNvPr>
          <p:cNvSpPr txBox="1"/>
          <p:nvPr/>
        </p:nvSpPr>
        <p:spPr>
          <a:xfrm>
            <a:off x="5791200" y="2159810"/>
            <a:ext cx="3124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Dis</a:t>
            </a:r>
            <a:r>
              <a:rPr lang="en-US" altLang="zh-CN" sz="2000" b="0" dirty="0"/>
              <a:t>courage all the steps</a:t>
            </a:r>
          </a:p>
          <a:p>
            <a:pPr algn="ctr"/>
            <a:r>
              <a:rPr lang="zh-CN" altLang="en-US" sz="2000" dirty="0"/>
              <a:t>不赞赏所有步骤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E39957-6734-8ACF-BA0C-98C40B542425}"/>
              </a:ext>
            </a:extLst>
          </p:cNvPr>
          <p:cNvSpPr txBox="1"/>
          <p:nvPr/>
        </p:nvSpPr>
        <p:spPr>
          <a:xfrm>
            <a:off x="5791200" y="3010247"/>
            <a:ext cx="3124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0" dirty="0"/>
              <a:t>Encourage all the steps</a:t>
            </a:r>
          </a:p>
          <a:p>
            <a:pPr algn="ctr"/>
            <a:r>
              <a:rPr lang="zh-CN" altLang="en-US" sz="2000" dirty="0"/>
              <a:t>赞赏所有步骤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2582FF-0440-375A-7A79-CBCA5286BFF2}"/>
              </a:ext>
            </a:extLst>
          </p:cNvPr>
          <p:cNvSpPr txBox="1"/>
          <p:nvPr/>
        </p:nvSpPr>
        <p:spPr>
          <a:xfrm>
            <a:off x="5791200" y="4778514"/>
            <a:ext cx="3124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Dis</a:t>
            </a:r>
            <a:r>
              <a:rPr lang="en-US" altLang="zh-CN" sz="2000" b="0" dirty="0"/>
              <a:t>courage all the steps</a:t>
            </a:r>
          </a:p>
          <a:p>
            <a:pPr algn="ctr"/>
            <a:r>
              <a:rPr lang="zh-CN" altLang="en-US" sz="2000" dirty="0"/>
              <a:t>不赞赏所有步骤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144B6D-8663-FE9C-31DA-4AD9493D8CD2}"/>
              </a:ext>
            </a:extLst>
          </p:cNvPr>
          <p:cNvSpPr txBox="1"/>
          <p:nvPr/>
        </p:nvSpPr>
        <p:spPr>
          <a:xfrm>
            <a:off x="4110928" y="4052560"/>
            <a:ext cx="738664" cy="43088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3600" dirty="0"/>
              <a:t>…</a:t>
            </a:r>
            <a:endParaRPr lang="zh-CN" altLang="en-US" sz="3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36FE60-0497-627A-0455-32A46CD05509}"/>
              </a:ext>
            </a:extLst>
          </p:cNvPr>
          <p:cNvSpPr txBox="1"/>
          <p:nvPr/>
        </p:nvSpPr>
        <p:spPr>
          <a:xfrm>
            <a:off x="5344321" y="4067084"/>
            <a:ext cx="738664" cy="43088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3600" dirty="0"/>
              <a:t>…</a:t>
            </a:r>
            <a:endParaRPr lang="zh-CN" altLang="en-US" sz="36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66B4B8C-6A41-23FE-B4F0-439984B4203B}"/>
              </a:ext>
            </a:extLst>
          </p:cNvPr>
          <p:cNvSpPr txBox="1"/>
          <p:nvPr/>
        </p:nvSpPr>
        <p:spPr>
          <a:xfrm>
            <a:off x="7096919" y="4067084"/>
            <a:ext cx="738664" cy="43088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3600" dirty="0"/>
              <a:t>…</a:t>
            </a:r>
            <a:endParaRPr lang="zh-CN" altLang="en-US" sz="360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29B6944-3B5C-AACC-E28B-CBCCF9B8FA69}"/>
              </a:ext>
            </a:extLst>
          </p:cNvPr>
          <p:cNvCxnSpPr>
            <a:cxnSpLocks/>
            <a:stCxn id="6" idx="3"/>
          </p:cNvCxnSpPr>
          <p:nvPr/>
        </p:nvCxnSpPr>
        <p:spPr bwMode="auto">
          <a:xfrm>
            <a:off x="1323023" y="3807619"/>
            <a:ext cx="1306292" cy="1396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0DF1021-30EC-A2B6-BC6B-B9624166C203}"/>
              </a:ext>
            </a:extLst>
          </p:cNvPr>
          <p:cNvSpPr txBox="1"/>
          <p:nvPr/>
        </p:nvSpPr>
        <p:spPr>
          <a:xfrm>
            <a:off x="3033492" y="3010247"/>
            <a:ext cx="2387600" cy="70788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zh-CN" sz="2000" b="0" dirty="0"/>
              <a:t>Output sequence 2</a:t>
            </a:r>
          </a:p>
          <a:p>
            <a:pPr algn="ctr"/>
            <a:r>
              <a:rPr lang="zh-CN" altLang="en-US" sz="2000" dirty="0"/>
              <a:t>输出序列</a:t>
            </a:r>
            <a:r>
              <a:rPr lang="en-US" altLang="zh-CN" sz="2000" dirty="0"/>
              <a:t>2</a:t>
            </a:r>
            <a:endParaRPr lang="zh-CN" altLang="en-US" sz="20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CAC205B-9338-9B9B-3E4A-87BB3E168B32}"/>
              </a:ext>
            </a:extLst>
          </p:cNvPr>
          <p:cNvSpPr txBox="1"/>
          <p:nvPr/>
        </p:nvSpPr>
        <p:spPr>
          <a:xfrm>
            <a:off x="3033492" y="4778514"/>
            <a:ext cx="2387600" cy="70788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zh-CN" sz="2000" b="0" dirty="0"/>
              <a:t>Output sequence n</a:t>
            </a:r>
          </a:p>
          <a:p>
            <a:pPr algn="ctr"/>
            <a:r>
              <a:rPr lang="zh-CN" altLang="en-US" sz="2000" dirty="0"/>
              <a:t>输出序列</a:t>
            </a:r>
            <a:r>
              <a:rPr lang="en-US" altLang="zh-CN" sz="2000" dirty="0"/>
              <a:t>n</a:t>
            </a:r>
            <a:endParaRPr lang="zh-CN" altLang="en-US" sz="2000" dirty="0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610B0D2-7E65-DFE2-5C54-0E887C518DD3}"/>
              </a:ext>
            </a:extLst>
          </p:cNvPr>
          <p:cNvCxnSpPr>
            <a:cxnSpLocks/>
          </p:cNvCxnSpPr>
          <p:nvPr/>
        </p:nvCxnSpPr>
        <p:spPr bwMode="auto">
          <a:xfrm>
            <a:off x="2635167" y="2514181"/>
            <a:ext cx="0" cy="129343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2C3E81C-11B6-9DB3-0D62-E8D156ABCD20}"/>
              </a:ext>
            </a:extLst>
          </p:cNvPr>
          <p:cNvCxnSpPr>
            <a:cxnSpLocks/>
            <a:endCxn id="9" idx="1"/>
          </p:cNvCxnSpPr>
          <p:nvPr/>
        </p:nvCxnSpPr>
        <p:spPr bwMode="auto">
          <a:xfrm>
            <a:off x="2629315" y="2514182"/>
            <a:ext cx="378777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7BD25AE-1E26-44EE-DD39-2D1519E0EFBC}"/>
              </a:ext>
            </a:extLst>
          </p:cNvPr>
          <p:cNvCxnSpPr>
            <a:cxnSpLocks/>
            <a:endCxn id="45" idx="1"/>
          </p:cNvCxnSpPr>
          <p:nvPr/>
        </p:nvCxnSpPr>
        <p:spPr bwMode="auto">
          <a:xfrm>
            <a:off x="2629315" y="3364190"/>
            <a:ext cx="404177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24BD494-1FEB-99F5-D434-03CB467B9AF4}"/>
              </a:ext>
            </a:extLst>
          </p:cNvPr>
          <p:cNvCxnSpPr>
            <a:cxnSpLocks/>
          </p:cNvCxnSpPr>
          <p:nvPr/>
        </p:nvCxnSpPr>
        <p:spPr bwMode="auto">
          <a:xfrm>
            <a:off x="2629315" y="3821028"/>
            <a:ext cx="0" cy="132483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A1F2AC1-C231-9443-1B2F-DAB45C74891B}"/>
              </a:ext>
            </a:extLst>
          </p:cNvPr>
          <p:cNvCxnSpPr>
            <a:cxnSpLocks/>
            <a:endCxn id="46" idx="1"/>
          </p:cNvCxnSpPr>
          <p:nvPr/>
        </p:nvCxnSpPr>
        <p:spPr bwMode="auto">
          <a:xfrm>
            <a:off x="2629315" y="5132457"/>
            <a:ext cx="404177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C811C192-8B44-AF1C-9A24-30451ADED66A}"/>
              </a:ext>
            </a:extLst>
          </p:cNvPr>
          <p:cNvSpPr txBox="1"/>
          <p:nvPr/>
        </p:nvSpPr>
        <p:spPr>
          <a:xfrm>
            <a:off x="-10886" y="1669355"/>
            <a:ext cx="30613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Sampling output sequences based on the current model probabilities</a:t>
            </a:r>
          </a:p>
          <a:p>
            <a:pPr algn="ctr"/>
            <a:r>
              <a:rPr lang="zh-CN" altLang="en-US" dirty="0"/>
              <a:t>基于当前模型概率</a:t>
            </a:r>
            <a:endParaRPr lang="en-US" altLang="zh-CN" dirty="0"/>
          </a:p>
          <a:p>
            <a:pPr algn="ctr"/>
            <a:r>
              <a:rPr lang="zh-CN" altLang="en-US" dirty="0"/>
              <a:t>采样得到输出序列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1FFCCB8-B1CD-5C4D-B590-7B3CB19CAB28}"/>
              </a:ext>
            </a:extLst>
          </p:cNvPr>
          <p:cNvSpPr/>
          <p:nvPr/>
        </p:nvSpPr>
        <p:spPr bwMode="auto">
          <a:xfrm>
            <a:off x="5870892" y="2143347"/>
            <a:ext cx="3014186" cy="334305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B725A06-5CDD-587B-6474-397E2F31E337}"/>
              </a:ext>
            </a:extLst>
          </p:cNvPr>
          <p:cNvSpPr txBox="1"/>
          <p:nvPr/>
        </p:nvSpPr>
        <p:spPr>
          <a:xfrm>
            <a:off x="5156200" y="5500558"/>
            <a:ext cx="3987800" cy="70788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zh-CN" sz="2000" dirty="0"/>
              <a:t>Synthesize a loss function value</a:t>
            </a:r>
          </a:p>
          <a:p>
            <a:pPr algn="ctr"/>
            <a:r>
              <a:rPr lang="zh-CN" altLang="en-US" sz="2000" dirty="0"/>
              <a:t>综合成一个损失函数值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A3D49DB-D19F-FDB0-8965-D42AC5E1FD12}"/>
              </a:ext>
            </a:extLst>
          </p:cNvPr>
          <p:cNvSpPr txBox="1"/>
          <p:nvPr/>
        </p:nvSpPr>
        <p:spPr>
          <a:xfrm>
            <a:off x="316223" y="5327154"/>
            <a:ext cx="2467072" cy="101566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zh-CN" sz="2000" dirty="0"/>
              <a:t>Update model w/ gradient descent</a:t>
            </a:r>
          </a:p>
          <a:p>
            <a:pPr algn="ctr"/>
            <a:r>
              <a:rPr lang="zh-CN" altLang="en-US" sz="2000" dirty="0"/>
              <a:t>用梯度下降更新模型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8DE9E06-F6B1-B9DC-BC54-93D3A6820124}"/>
              </a:ext>
            </a:extLst>
          </p:cNvPr>
          <p:cNvCxnSpPr>
            <a:cxnSpLocks/>
            <a:stCxn id="65" idx="1"/>
            <a:endCxn id="66" idx="3"/>
          </p:cNvCxnSpPr>
          <p:nvPr/>
        </p:nvCxnSpPr>
        <p:spPr bwMode="auto">
          <a:xfrm flipH="1" flipV="1">
            <a:off x="2783295" y="5834986"/>
            <a:ext cx="2372905" cy="1951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1479639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38" grpId="0"/>
      <p:bldP spid="45" grpId="0"/>
      <p:bldP spid="46" grpId="0"/>
      <p:bldP spid="62" grpId="0"/>
      <p:bldP spid="64" grpId="0" animBg="1"/>
      <p:bldP spid="65" grpId="0"/>
      <p:bldP spid="6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2D947-5F0F-BF4D-02D0-2153F2879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9A6E2-C7F8-42DD-8512-B8744F815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Summary  </a:t>
            </a:r>
            <a:r>
              <a:rPr lang="zh-CN" altLang="en-US" dirty="0">
                <a:ea typeface="ＭＳ Ｐゴシック" panose="020B0600070205080204" pitchFamily="34" charset="-128"/>
              </a:rPr>
              <a:t>总结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50068-9040-F824-952B-7824967BA3C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</a:t>
            </a:r>
            <a:r>
              <a:rPr lang="en-US" altLang="zh-CN" sz="1400" dirty="0">
                <a:ea typeface="SimSun" panose="02010600030101010101" pitchFamily="2" charset="-122"/>
              </a:rPr>
              <a:t>Other Topic: Modern Paradigm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zh-CN" altLang="en-US" sz="1400" kern="0" dirty="0">
                <a:ea typeface="SimSun" panose="02010600030101010101" pitchFamily="2" charset="-122"/>
              </a:rPr>
              <a:t>番外：现代范式</a:t>
            </a:r>
            <a:endParaRPr lang="en-US" altLang="zh-CN" sz="1400" kern="0" dirty="0">
              <a:ea typeface="SimSun" panose="02010600030101010101" pitchFamily="2" charset="-122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5114B-72E9-9E5A-32C0-FDD664D3C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4953000"/>
          </a:xfrm>
        </p:spPr>
        <p:txBody>
          <a:bodyPr>
            <a:normAutofit/>
          </a:bodyPr>
          <a:lstStyle/>
          <a:p>
            <a:pPr>
              <a:spcBef>
                <a:spcPts val="150"/>
              </a:spcBef>
            </a:pPr>
            <a:r>
              <a:rPr lang="en-US" altLang="zh-CN" dirty="0"/>
              <a:t>Learning High Dimensional Features  </a:t>
            </a:r>
            <a:r>
              <a:rPr lang="zh-CN" altLang="en-US" dirty="0"/>
              <a:t>学习高维特征</a:t>
            </a:r>
            <a:endParaRPr lang="en-US" altLang="zh-CN" dirty="0"/>
          </a:p>
          <a:p>
            <a:pPr>
              <a:spcBef>
                <a:spcPts val="150"/>
              </a:spcBef>
            </a:pPr>
            <a:r>
              <a:rPr lang="en-US" altLang="zh-CN" dirty="0"/>
              <a:t>Learning Residuals  </a:t>
            </a:r>
            <a:r>
              <a:rPr lang="zh-CN" altLang="en-US" dirty="0"/>
              <a:t>学习残差</a:t>
            </a:r>
            <a:endParaRPr lang="en-US" altLang="zh-CN" dirty="0"/>
          </a:p>
          <a:p>
            <a:pPr>
              <a:spcBef>
                <a:spcPts val="150"/>
              </a:spcBef>
            </a:pPr>
            <a:r>
              <a:rPr lang="en-US" altLang="zh-CN" dirty="0"/>
              <a:t>Iteratively Predicting Next Words   </a:t>
            </a:r>
            <a:r>
              <a:rPr lang="zh-CN" altLang="en-US" dirty="0"/>
              <a:t>反复地预测下一个词</a:t>
            </a:r>
            <a:endParaRPr lang="en-US" altLang="zh-CN" dirty="0"/>
          </a:p>
          <a:p>
            <a:pPr lvl="1">
              <a:spcBef>
                <a:spcPts val="150"/>
              </a:spcBef>
            </a:pPr>
            <a:r>
              <a:rPr lang="en-US" altLang="zh-CN" dirty="0"/>
              <a:t>Using attention  </a:t>
            </a:r>
            <a:r>
              <a:rPr lang="zh-CN" altLang="en-US" dirty="0"/>
              <a:t>采用注意力机制</a:t>
            </a:r>
            <a:endParaRPr lang="en-US" altLang="zh-CN" dirty="0"/>
          </a:p>
          <a:p>
            <a:pPr>
              <a:spcBef>
                <a:spcPts val="150"/>
              </a:spcBef>
            </a:pPr>
            <a:r>
              <a:rPr lang="en-US" altLang="zh-CN" dirty="0"/>
              <a:t>Long-Path Reasoning  </a:t>
            </a:r>
            <a:r>
              <a:rPr lang="zh-CN" altLang="en-US" dirty="0"/>
              <a:t>长路径推理</a:t>
            </a:r>
            <a:endParaRPr lang="en-US" altLang="zh-CN" dirty="0"/>
          </a:p>
          <a:p>
            <a:pPr lvl="1">
              <a:spcBef>
                <a:spcPts val="150"/>
              </a:spcBef>
            </a:pPr>
            <a:r>
              <a:rPr lang="en-US" altLang="zh-CN" dirty="0"/>
              <a:t>Trained by reinforcement learning        </a:t>
            </a:r>
            <a:r>
              <a:rPr lang="zh-CN" altLang="en-US"/>
              <a:t>以强</a:t>
            </a:r>
            <a:r>
              <a:rPr lang="zh-CN" altLang="en-US" dirty="0"/>
              <a:t>化学习训练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80832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3|4.2|2.1|4.6|2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3|4.2|2.1|4.6|2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9|5.5|1.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|8.4|9.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|8.4|9.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|8.4|9.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|8.4|9.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|8.4|9.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|8.4|9.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|8.4|9.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|8.4|9.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|8.4|9.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|8.4|9.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|8.4|9.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|8.4|9.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|8.4|9.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|8.4|9.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|8.4|9.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|8.4|9.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|8.4|9.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3|4.2|2.1|4.6|2.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3|4.2|2.1|4.6|2.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|8.4|9.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|8.4|9.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3|4.2|2.1|4.6|2.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|8.4|9.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|8.4|9.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3|4.2|2.1|4.6|2.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3|4.2|2.1|4.6|2.3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3|4.2|2.1|4.6|2.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3|4.2|2.1|4.6|2.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3|4.2|2.1|4.6|2.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3|4.2|2.1|4.6|2.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3|4.2|2.1|4.6|2.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3|4.2|2.1|4.6|2.3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3|4.2|2.1|4.6|2.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3|4.2|2.1|4.6|2.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3|4.2|2.1|4.6|2.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3|4.2|2.1|4.6|2.3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3|4.2|2.1|4.6|2.3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3|4.2|2.1|4.6|2.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3|4.2|2.1|4.6|2.3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3|4.2|2.1|4.6|2.3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|8.4|9.4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|8.4|9.4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|8.4|9.4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|8.4|9.4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3|4.2|2.1|4.6|2.3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3|4.2|2.1|4.6|2.3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|8.4|9.4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13460</TotalTime>
  <Words>5057</Words>
  <Application>Microsoft Office PowerPoint</Application>
  <PresentationFormat>On-screen Show (4:3)</PresentationFormat>
  <Paragraphs>1052</Paragraphs>
  <Slides>52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2" baseType="lpstr">
      <vt:lpstr>ＭＳ Ｐゴシック</vt:lpstr>
      <vt:lpstr>SimSun</vt:lpstr>
      <vt:lpstr>Arial</vt:lpstr>
      <vt:lpstr>Cambria Math</vt:lpstr>
      <vt:lpstr>Comic Sans MS</vt:lpstr>
      <vt:lpstr>Tahoma</vt:lpstr>
      <vt:lpstr>Times New Roman</vt:lpstr>
      <vt:lpstr>Trebuchet MS</vt:lpstr>
      <vt:lpstr>Wingdings</vt:lpstr>
      <vt:lpstr>Blends</vt:lpstr>
      <vt:lpstr>Machine Learning -  Basic Principles &amp; Practice Other Topic: Modern Paradigm </vt:lpstr>
      <vt:lpstr>Deep Learning  深度学习</vt:lpstr>
      <vt:lpstr>High Dimensional Features Learned  学习到的高维特征</vt:lpstr>
      <vt:lpstr>Recall  回忆</vt:lpstr>
      <vt:lpstr>Recall  回忆</vt:lpstr>
      <vt:lpstr>Recall  回忆</vt:lpstr>
      <vt:lpstr>Recall  回忆</vt:lpstr>
      <vt:lpstr>Recall  回忆</vt:lpstr>
      <vt:lpstr>Recall  回忆</vt:lpstr>
      <vt:lpstr>Another Example  另一个例子</vt:lpstr>
      <vt:lpstr>Another Example  另一个例子</vt:lpstr>
      <vt:lpstr>High Dimensional Features 高维特征属性</vt:lpstr>
      <vt:lpstr>High Dimensional Features 高维特征属性</vt:lpstr>
      <vt:lpstr>High Dimensional Features 高维特征属性</vt:lpstr>
      <vt:lpstr>Model  模型</vt:lpstr>
      <vt:lpstr>Model  模型</vt:lpstr>
      <vt:lpstr>Model  模型</vt:lpstr>
      <vt:lpstr>Training  训练</vt:lpstr>
      <vt:lpstr>Training  训练</vt:lpstr>
      <vt:lpstr>Prediction  预测</vt:lpstr>
      <vt:lpstr>Prediction  预测</vt:lpstr>
      <vt:lpstr>Learning Residual  学习残差 (1)</vt:lpstr>
      <vt:lpstr>Learning Residual  学习残差 (2)</vt:lpstr>
      <vt:lpstr>Residual Network  残差网络</vt:lpstr>
      <vt:lpstr>More Residual Layers 更多残差层</vt:lpstr>
      <vt:lpstr>Language Model  语言模型</vt:lpstr>
      <vt:lpstr>Why Predicting the Next Word 为什么要预测下一个词 (1)</vt:lpstr>
      <vt:lpstr>Why Predicting the Next Word 为什么要预测下一个词 (2)</vt:lpstr>
      <vt:lpstr>Iterative Generation  反复生成</vt:lpstr>
      <vt:lpstr>Iterative Generation  反复生成</vt:lpstr>
      <vt:lpstr>Iterative Generation  反复生成</vt:lpstr>
      <vt:lpstr>Iterative Generation  反复生成</vt:lpstr>
      <vt:lpstr>Iterative Generation  反复生成</vt:lpstr>
      <vt:lpstr>Iterative Generation  反复生成</vt:lpstr>
      <vt:lpstr>Iterative Generation  反复生成</vt:lpstr>
      <vt:lpstr>Iterative Generation  反复生成</vt:lpstr>
      <vt:lpstr>Iterative Generation  反复生成</vt:lpstr>
      <vt:lpstr>Attention Mechanism   注意力机制</vt:lpstr>
      <vt:lpstr>Attention Mechanism   注意力机制</vt:lpstr>
      <vt:lpstr>Attention Mechanism   注意力机制</vt:lpstr>
      <vt:lpstr>Attention Mechanism   注意力机制</vt:lpstr>
      <vt:lpstr>Contemporary LLMs   当代大规模语言模型</vt:lpstr>
      <vt:lpstr>Transformer Module Transformer模块</vt:lpstr>
      <vt:lpstr>Transformer Module Transformer模块</vt:lpstr>
      <vt:lpstr>Reasoning w/ a Long Output Path  基于长输出路径的推理</vt:lpstr>
      <vt:lpstr>Reasoning w/ a Long Output Path  基于长输出路径的推理</vt:lpstr>
      <vt:lpstr>Reasoning Model  推理模型</vt:lpstr>
      <vt:lpstr>Reinforcement Learning   强化学习</vt:lpstr>
      <vt:lpstr>Sampling Output  输出采样</vt:lpstr>
      <vt:lpstr>Policy Gradient  策略梯度</vt:lpstr>
      <vt:lpstr>Summary  总结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1115</cp:revision>
  <dcterms:created xsi:type="dcterms:W3CDTF">2003-03-13T01:36:43Z</dcterms:created>
  <dcterms:modified xsi:type="dcterms:W3CDTF">2025-06-06T08:06:29Z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c0c0107d-b9fb-42c2-8cad-18a954c0a4de</vt:lpwstr>
  </property>
  <property fmtid="{D5CDD505-2E9C-101B-9397-08002B2CF9AE}" pid="3" name="CTP_TimeStamp">
    <vt:lpwstr>2020-08-17 11:43:15Z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