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notesSlides/notesSlide27.xml" ContentType="application/vnd.openxmlformats-officedocument.presentationml.notesSlide+xml"/>
  <Override PartName="/ppt/tags/tag27.xml" ContentType="application/vnd.openxmlformats-officedocument.presentationml.tags+xml"/>
  <Override PartName="/ppt/notesSlides/notesSlide28.xml" ContentType="application/vnd.openxmlformats-officedocument.presentationml.notesSlide+xml"/>
  <Override PartName="/ppt/tags/tag28.xml" ContentType="application/vnd.openxmlformats-officedocument.presentationml.tags+xml"/>
  <Override PartName="/ppt/notesSlides/notesSlide29.xml" ContentType="application/vnd.openxmlformats-officedocument.presentationml.notesSlide+xml"/>
  <Override PartName="/ppt/tags/tag29.xml" ContentType="application/vnd.openxmlformats-officedocument.presentationml.tags+xml"/>
  <Override PartName="/ppt/notesSlides/notesSlide30.xml" ContentType="application/vnd.openxmlformats-officedocument.presentationml.notesSlide+xml"/>
  <Override PartName="/ppt/tags/tag30.xml" ContentType="application/vnd.openxmlformats-officedocument.presentationml.tags+xml"/>
  <Override PartName="/ppt/notesSlides/notesSlide31.xml" ContentType="application/vnd.openxmlformats-officedocument.presentationml.notesSlide+xml"/>
  <Override PartName="/ppt/tags/tag31.xml" ContentType="application/vnd.openxmlformats-officedocument.presentationml.tags+xml"/>
  <Override PartName="/ppt/notesSlides/notesSlide32.xml" ContentType="application/vnd.openxmlformats-officedocument.presentationml.notesSlide+xml"/>
  <Override PartName="/ppt/tags/tag32.xml" ContentType="application/vnd.openxmlformats-officedocument.presentationml.tags+xml"/>
  <Override PartName="/ppt/notesSlides/notesSlide33.xml" ContentType="application/vnd.openxmlformats-officedocument.presentationml.notesSlide+xml"/>
  <Override PartName="/ppt/tags/tag33.xml" ContentType="application/vnd.openxmlformats-officedocument.presentationml.tag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34.xml" ContentType="application/vnd.openxmlformats-officedocument.presentationml.tags+xml"/>
  <Override PartName="/ppt/notesSlides/notesSlide36.xml" ContentType="application/vnd.openxmlformats-officedocument.presentationml.notesSlide+xml"/>
  <Override PartName="/ppt/tags/tag35.xml" ContentType="application/vnd.openxmlformats-officedocument.presentationml.tags+xml"/>
  <Override PartName="/ppt/notesSlides/notesSlide37.xml" ContentType="application/vnd.openxmlformats-officedocument.presentationml.notesSlide+xml"/>
  <Override PartName="/ppt/tags/tag36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tags/tag37.xml" ContentType="application/vnd.openxmlformats-officedocument.presentationml.tags+xml"/>
  <Override PartName="/ppt/notesSlides/notesSlide40.xml" ContentType="application/vnd.openxmlformats-officedocument.presentationml.notesSlide+xml"/>
  <Override PartName="/ppt/tags/tag38.xml" ContentType="application/vnd.openxmlformats-officedocument.presentationml.tags+xml"/>
  <Override PartName="/ppt/notesSlides/notesSlide41.xml" ContentType="application/vnd.openxmlformats-officedocument.presentationml.notesSlide+xml"/>
  <Override PartName="/ppt/tags/tag39.xml" ContentType="application/vnd.openxmlformats-officedocument.presentationml.tags+xml"/>
  <Override PartName="/ppt/notesSlides/notesSlide42.xml" ContentType="application/vnd.openxmlformats-officedocument.presentationml.notesSlide+xml"/>
  <Override PartName="/ppt/tags/tag40.xml" ContentType="application/vnd.openxmlformats-officedocument.presentationml.tags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41.xml" ContentType="application/vnd.openxmlformats-officedocument.presentationml.tags+xml"/>
  <Override PartName="/ppt/notesSlides/notesSlide46.xml" ContentType="application/vnd.openxmlformats-officedocument.presentationml.notesSlide+xml"/>
  <Override PartName="/ppt/tags/tag42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tags/tag43.xml" ContentType="application/vnd.openxmlformats-officedocument.presentationml.tags+xml"/>
  <Override PartName="/ppt/notesSlides/notesSlide51.xml" ContentType="application/vnd.openxmlformats-officedocument.presentationml.notesSlide+xml"/>
  <Override PartName="/ppt/tags/tag44.xml" ContentType="application/vnd.openxmlformats-officedocument.presentationml.tags+xml"/>
  <Override PartName="/ppt/notesSlides/notesSlide52.xml" ContentType="application/vnd.openxmlformats-officedocument.presentationml.notesSlide+xml"/>
  <Override PartName="/ppt/tags/tag45.xml" ContentType="application/vnd.openxmlformats-officedocument.presentationml.tags+xml"/>
  <Override PartName="/ppt/notesSlides/notesSlide53.xml" ContentType="application/vnd.openxmlformats-officedocument.presentationml.notesSlide+xml"/>
  <Override PartName="/ppt/tags/tag46.xml" ContentType="application/vnd.openxmlformats-officedocument.presentationml.tags+xml"/>
  <Override PartName="/ppt/notesSlides/notesSlide54.xml" ContentType="application/vnd.openxmlformats-officedocument.presentationml.notesSlide+xml"/>
  <Override PartName="/ppt/tags/tag47.xml" ContentType="application/vnd.openxmlformats-officedocument.presentationml.tags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57.xml" ContentType="application/vnd.openxmlformats-officedocument.presentationml.notesSlide+xml"/>
  <Override PartName="/ppt/tags/tag50.xml" ContentType="application/vnd.openxmlformats-officedocument.presentationml.tags+xml"/>
  <Override PartName="/ppt/notesSlides/notesSlide5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85"/>
  </p:notesMasterIdLst>
  <p:handoutMasterIdLst>
    <p:handoutMasterId r:id="rId86"/>
  </p:handoutMasterIdLst>
  <p:sldIdLst>
    <p:sldId id="286" r:id="rId2"/>
    <p:sldId id="468" r:id="rId3"/>
    <p:sldId id="617" r:id="rId4"/>
    <p:sldId id="422" r:id="rId5"/>
    <p:sldId id="618" r:id="rId6"/>
    <p:sldId id="656" r:id="rId7"/>
    <p:sldId id="385" r:id="rId8"/>
    <p:sldId id="687" r:id="rId9"/>
    <p:sldId id="688" r:id="rId10"/>
    <p:sldId id="689" r:id="rId11"/>
    <p:sldId id="690" r:id="rId12"/>
    <p:sldId id="691" r:id="rId13"/>
    <p:sldId id="686" r:id="rId14"/>
    <p:sldId id="657" r:id="rId15"/>
    <p:sldId id="636" r:id="rId16"/>
    <p:sldId id="637" r:id="rId17"/>
    <p:sldId id="638" r:id="rId18"/>
    <p:sldId id="639" r:id="rId19"/>
    <p:sldId id="640" r:id="rId20"/>
    <p:sldId id="659" r:id="rId21"/>
    <p:sldId id="641" r:id="rId22"/>
    <p:sldId id="642" r:id="rId23"/>
    <p:sldId id="643" r:id="rId24"/>
    <p:sldId id="644" r:id="rId25"/>
    <p:sldId id="645" r:id="rId26"/>
    <p:sldId id="646" r:id="rId27"/>
    <p:sldId id="647" r:id="rId28"/>
    <p:sldId id="619" r:id="rId29"/>
    <p:sldId id="624" r:id="rId30"/>
    <p:sldId id="625" r:id="rId31"/>
    <p:sldId id="626" r:id="rId32"/>
    <p:sldId id="628" r:id="rId33"/>
    <p:sldId id="627" r:id="rId34"/>
    <p:sldId id="629" r:id="rId35"/>
    <p:sldId id="630" r:id="rId36"/>
    <p:sldId id="631" r:id="rId37"/>
    <p:sldId id="632" r:id="rId38"/>
    <p:sldId id="633" r:id="rId39"/>
    <p:sldId id="634" r:id="rId40"/>
    <p:sldId id="635" r:id="rId41"/>
    <p:sldId id="648" r:id="rId42"/>
    <p:sldId id="649" r:id="rId43"/>
    <p:sldId id="650" r:id="rId44"/>
    <p:sldId id="651" r:id="rId45"/>
    <p:sldId id="652" r:id="rId46"/>
    <p:sldId id="653" r:id="rId47"/>
    <p:sldId id="654" r:id="rId48"/>
    <p:sldId id="655" r:id="rId49"/>
    <p:sldId id="658" r:id="rId50"/>
    <p:sldId id="660" r:id="rId51"/>
    <p:sldId id="662" r:id="rId52"/>
    <p:sldId id="663" r:id="rId53"/>
    <p:sldId id="664" r:id="rId54"/>
    <p:sldId id="665" r:id="rId55"/>
    <p:sldId id="666" r:id="rId56"/>
    <p:sldId id="667" r:id="rId57"/>
    <p:sldId id="620" r:id="rId58"/>
    <p:sldId id="621" r:id="rId59"/>
    <p:sldId id="622" r:id="rId60"/>
    <p:sldId id="623" r:id="rId61"/>
    <p:sldId id="668" r:id="rId62"/>
    <p:sldId id="669" r:id="rId63"/>
    <p:sldId id="680" r:id="rId64"/>
    <p:sldId id="681" r:id="rId65"/>
    <p:sldId id="682" r:id="rId66"/>
    <p:sldId id="558" r:id="rId67"/>
    <p:sldId id="683" r:id="rId68"/>
    <p:sldId id="684" r:id="rId69"/>
    <p:sldId id="591" r:id="rId70"/>
    <p:sldId id="670" r:id="rId71"/>
    <p:sldId id="671" r:id="rId72"/>
    <p:sldId id="672" r:id="rId73"/>
    <p:sldId id="673" r:id="rId74"/>
    <p:sldId id="674" r:id="rId75"/>
    <p:sldId id="675" r:id="rId76"/>
    <p:sldId id="676" r:id="rId77"/>
    <p:sldId id="677" r:id="rId78"/>
    <p:sldId id="678" r:id="rId79"/>
    <p:sldId id="679" r:id="rId80"/>
    <p:sldId id="685" r:id="rId81"/>
    <p:sldId id="616" r:id="rId82"/>
    <p:sldId id="615" r:id="rId83"/>
    <p:sldId id="353" r:id="rId8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0000"/>
    <a:srgbClr val="7DDDFF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66" autoAdjust="0"/>
    <p:restoredTop sz="94370" autoAdjust="0"/>
  </p:normalViewPr>
  <p:slideViewPr>
    <p:cSldViewPr>
      <p:cViewPr varScale="1">
        <p:scale>
          <a:sx n="73" d="100"/>
          <a:sy n="73" d="100"/>
        </p:scale>
        <p:origin x="73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665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122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541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544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04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97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B3AE77F9-D4F3-451E-A1F3-D746A2741768}" type="slidenum">
              <a:rPr lang="en-US" altLang="zh-CN" smtClean="0">
                <a:latin typeface="Arial" panose="020B0604020202020204" pitchFamily="34" charset="0"/>
              </a:rPr>
              <a:pPr/>
              <a:t>12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348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497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28674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327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105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841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5535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046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2290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2523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38776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2876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48251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4633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185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75528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62247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592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7160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792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0340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6925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51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3536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5503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02347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5215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61215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6153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1616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91999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8775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4504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6656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98707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91966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392981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596676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7800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11291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23206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44318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7324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21572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23611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810571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13746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21998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165084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54257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33052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650930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28709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193227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33105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202437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25673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572188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337199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93912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4435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82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19542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83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10.png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notesSlide" Target="../notesSlides/notesSlide3.xml"/><Relationship Id="rId12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11" Type="http://schemas.openxmlformats.org/officeDocument/2006/relationships/image" Target="../media/image10.png"/><Relationship Id="rId5" Type="http://schemas.openxmlformats.org/officeDocument/2006/relationships/image" Target="../media/image3.emf"/><Relationship Id="rId15" Type="http://schemas.openxmlformats.org/officeDocument/2006/relationships/image" Target="../media/image4.gif"/><Relationship Id="rId10" Type="http://schemas.openxmlformats.org/officeDocument/2006/relationships/image" Target="../media/image9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0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notesSlide" Target="../notesSlides/notesSlide4.xml"/><Relationship Id="rId12" Type="http://schemas.openxmlformats.org/officeDocument/2006/relationships/image" Target="../media/image11.png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.png"/><Relationship Id="rId1" Type="http://schemas.openxmlformats.org/officeDocument/2006/relationships/tags" Target="../tags/tag7.xml"/><Relationship Id="rId11" Type="http://schemas.openxmlformats.org/officeDocument/2006/relationships/image" Target="../media/image10.png"/><Relationship Id="rId5" Type="http://schemas.openxmlformats.org/officeDocument/2006/relationships/image" Target="../media/image3.emf"/><Relationship Id="rId15" Type="http://schemas.openxmlformats.org/officeDocument/2006/relationships/image" Target="../media/image15.png"/><Relationship Id="rId10" Type="http://schemas.openxmlformats.org/officeDocument/2006/relationships/image" Target="../media/image9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0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notesSlide" Target="../notesSlides/notesSlide5.xml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png"/><Relationship Id="rId1" Type="http://schemas.openxmlformats.org/officeDocument/2006/relationships/tags" Target="../tags/tag8.xml"/><Relationship Id="rId11" Type="http://schemas.openxmlformats.org/officeDocument/2006/relationships/image" Target="../media/image10.png"/><Relationship Id="rId5" Type="http://schemas.openxmlformats.org/officeDocument/2006/relationships/image" Target="../media/image3.emf"/><Relationship Id="rId15" Type="http://schemas.openxmlformats.org/officeDocument/2006/relationships/image" Target="../media/image18.png"/><Relationship Id="rId10" Type="http://schemas.openxmlformats.org/officeDocument/2006/relationships/image" Target="../media/image9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80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Relationship Id="rId6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9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6" Type="http://schemas.openxmlformats.org/officeDocument/2006/relationships/image" Target="../media/image3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6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11. Complex Networks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11. </a:t>
            </a:r>
            <a:r>
              <a:rPr lang="zh-CN" altLang="en-US" sz="3600" b="1" kern="0" dirty="0">
                <a:ea typeface="SimSun" panose="02010600030101010101" pitchFamily="2" charset="-122"/>
              </a:rPr>
              <a:t>复杂网络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Should You Still Remember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如果你还记得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47A4F0-D7EA-405A-A163-AD5175962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948324"/>
              </p:ext>
            </p:extLst>
          </p:nvPr>
        </p:nvGraphicFramePr>
        <p:xfrm>
          <a:off x="1752600" y="2743200"/>
          <a:ext cx="5638800" cy="29311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 rate </a:t>
                      </a:r>
                      <a:r>
                        <a:rPr lang="zh-CN" altLang="en-US" dirty="0"/>
                        <a:t>错误率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</a:p>
                    <a:p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4.98%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Linear perceptron </a:t>
                      </a:r>
                    </a:p>
                    <a:p>
                      <a:r>
                        <a:rPr lang="zh-CN" altLang="en-US" dirty="0"/>
                        <a:t>线性感知器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8.52%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RBF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径向基函数核计算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4.43%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Polynomial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多项式核计算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4.24%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871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ED291F-7016-41D0-9331-6399DDB1CC4D}"/>
              </a:ext>
            </a:extLst>
          </p:cNvPr>
          <p:cNvSpPr txBox="1"/>
          <p:nvPr/>
        </p:nvSpPr>
        <p:spPr>
          <a:xfrm>
            <a:off x="596900" y="1699438"/>
            <a:ext cx="7950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Handwritten ZIP code recognition</a:t>
            </a:r>
          </a:p>
          <a:p>
            <a:pPr algn="ctr"/>
            <a:r>
              <a:rPr lang="zh-CN" altLang="en-US" sz="2200" dirty="0"/>
              <a:t>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Nonlinear Classifier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非线性分类器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5029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Nonlinear Classification </a:t>
            </a:r>
            <a:r>
              <a:rPr lang="zh-CN" altLang="en-US" dirty="0"/>
              <a:t> 非线性分类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Nonlinear classifiers or kernel methods outperform linear ones on the problem </a:t>
            </a:r>
            <a:br>
              <a:rPr lang="en-US" altLang="zh-CN" dirty="0"/>
            </a:br>
            <a:r>
              <a:rPr lang="zh-CN" altLang="en-US" dirty="0"/>
              <a:t>在这个问题上非线性分类器或核计算方法比线性方法强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General Purpose Methods  </a:t>
            </a:r>
            <a:r>
              <a:rPr lang="zh-CN" altLang="en-US" dirty="0"/>
              <a:t>通用方法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Those methods are relatively universally applicable  </a:t>
            </a:r>
            <a:r>
              <a:rPr lang="zh-CN" altLang="en-US" dirty="0"/>
              <a:t>这些方法相对比较通用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Lack of application-specific adaptation  </a:t>
            </a:r>
            <a:br>
              <a:rPr lang="en-US" altLang="zh-CN" dirty="0"/>
            </a:br>
            <a:r>
              <a:rPr lang="zh-CN" altLang="en-US" dirty="0"/>
              <a:t>缺少针对特定应</a:t>
            </a:r>
            <a:r>
              <a:rPr lang="zh-CN" altLang="en-US"/>
              <a:t>用的适应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Perceptron + RBF kernel as an example</a:t>
            </a:r>
            <a:br>
              <a:rPr lang="en-US" altLang="zh-CN" dirty="0"/>
            </a:br>
            <a:r>
              <a:rPr lang="zh-CN" altLang="en-US" dirty="0"/>
              <a:t>以感知器和径向基核计算为例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547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 You Still Remember?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你还记得吗？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EB701-CEDA-4698-B580-32553368A8AC}"/>
              </a:ext>
            </a:extLst>
          </p:cNvPr>
          <p:cNvSpPr/>
          <p:nvPr/>
        </p:nvSpPr>
        <p:spPr>
          <a:xfrm>
            <a:off x="1800224" y="1676400"/>
            <a:ext cx="554355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 assumption, no learning!</a:t>
            </a:r>
          </a:p>
          <a:p>
            <a:pPr lvl="1" algn="ctr" eaLnBrk="1" hangingPunct="1">
              <a:lnSpc>
                <a:spcPct val="90000"/>
              </a:lnSpc>
            </a:pP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无假设，不学习！</a:t>
            </a:r>
            <a:endParaRPr lang="en-US" altLang="ja-JP" sz="2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F9D143-86D6-43C5-A57D-2BC8DE2DA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4446665"/>
            <a:ext cx="3200677" cy="1440305"/>
          </a:xfrm>
          <a:prstGeom prst="rect">
            <a:avLst/>
          </a:prstGeom>
        </p:spPr>
      </p:pic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4F06F45D-BCA3-4BB6-AB62-E4AF079ABA7C}"/>
              </a:ext>
            </a:extLst>
          </p:cNvPr>
          <p:cNvSpPr/>
          <p:nvPr/>
        </p:nvSpPr>
        <p:spPr bwMode="auto">
          <a:xfrm>
            <a:off x="3429000" y="2506978"/>
            <a:ext cx="4343400" cy="1583019"/>
          </a:xfrm>
          <a:prstGeom prst="cloudCallout">
            <a:avLst>
              <a:gd name="adj1" fmla="val -41019"/>
              <a:gd name="adj2" fmla="val 8521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Now where is the assumption?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那么假设在哪里？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74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Example  </a:t>
            </a:r>
            <a:r>
              <a:rPr lang="zh-CN" altLang="en-US" dirty="0">
                <a:ea typeface="ＭＳ Ｐゴシック" panose="020B0600070205080204" pitchFamily="34" charset="-128"/>
              </a:rPr>
              <a:t>两维的例子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395E8-6F8A-4C36-8A46-ACB724981A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661" y="1752600"/>
            <a:ext cx="3752677" cy="33092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03CDC4-5C87-4453-8F86-C15E3BEDE834}"/>
                  </a:ext>
                </a:extLst>
              </p:cNvPr>
              <p:cNvSpPr/>
              <p:nvPr/>
            </p:nvSpPr>
            <p:spPr>
              <a:xfrm>
                <a:off x="4610513" y="1536935"/>
                <a:ext cx="950197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,1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403CDC4-5C87-4453-8F86-C15E3BEDE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0513" y="1536935"/>
                <a:ext cx="950197" cy="4538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A06445-3D1F-4148-B858-6553159F1652}"/>
                  </a:ext>
                </a:extLst>
              </p:cNvPr>
              <p:cNvSpPr/>
              <p:nvPr/>
            </p:nvSpPr>
            <p:spPr>
              <a:xfrm>
                <a:off x="4974266" y="4151826"/>
                <a:ext cx="1184235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,−1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6A06445-3D1F-4148-B858-6553159F16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266" y="4151826"/>
                <a:ext cx="1184235" cy="4538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BEDBE8-5079-4490-A7D2-2E363629EC4B}"/>
              </a:ext>
            </a:extLst>
          </p:cNvPr>
          <p:cNvCxnSpPr/>
          <p:nvPr/>
        </p:nvCxnSpPr>
        <p:spPr bwMode="auto">
          <a:xfrm flipH="1" flipV="1">
            <a:off x="4829175" y="1990725"/>
            <a:ext cx="9525" cy="75247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50A204-B0D8-4318-899E-512CC1839D9A}"/>
                  </a:ext>
                </a:extLst>
              </p:cNvPr>
              <p:cNvSpPr/>
              <p:nvPr/>
            </p:nvSpPr>
            <p:spPr>
              <a:xfrm>
                <a:off x="4895744" y="1990725"/>
                <a:ext cx="675121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550A204-B0D8-4318-899E-512CC1839D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5744" y="1990725"/>
                <a:ext cx="675121" cy="4538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ADD698-05E4-4347-82D5-780A295EDCE0}"/>
              </a:ext>
            </a:extLst>
          </p:cNvPr>
          <p:cNvCxnSpPr/>
          <p:nvPr/>
        </p:nvCxnSpPr>
        <p:spPr bwMode="auto">
          <a:xfrm flipH="1">
            <a:off x="5172075" y="3733800"/>
            <a:ext cx="16282" cy="5654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B9CD95-F38F-4FA6-A181-4C8016D002F4}"/>
                  </a:ext>
                </a:extLst>
              </p:cNvPr>
              <p:cNvSpPr/>
              <p:nvPr/>
            </p:nvSpPr>
            <p:spPr>
              <a:xfrm>
                <a:off x="5258480" y="3858251"/>
                <a:ext cx="699166" cy="4538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B9CD95-F38F-4FA6-A181-4C8016D002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480" y="3858251"/>
                <a:ext cx="699166" cy="4538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1059BBC-6479-4F08-8B35-C8F3CA76F29E}"/>
              </a:ext>
            </a:extLst>
          </p:cNvPr>
          <p:cNvSpPr txBox="1"/>
          <p:nvPr/>
        </p:nvSpPr>
        <p:spPr>
          <a:xfrm>
            <a:off x="457199" y="5181600"/>
            <a:ext cx="8229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Something like an advanced version of nearest neighbor</a:t>
            </a:r>
          </a:p>
          <a:p>
            <a:pPr algn="ctr"/>
            <a:r>
              <a:rPr lang="zh-CN" altLang="en-US" sz="2200" dirty="0"/>
              <a:t>如同最近邻的进阶版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7AFFFD-37F6-4C25-9D54-50115626C3C5}"/>
                  </a:ext>
                </a:extLst>
              </p:cNvPr>
              <p:cNvSpPr txBox="1"/>
              <p:nvPr/>
            </p:nvSpPr>
            <p:spPr>
              <a:xfrm>
                <a:off x="137615" y="1990725"/>
                <a:ext cx="2768512" cy="1016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2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altLang="zh-CN" sz="22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22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dirty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1" dirty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7AFFFD-37F6-4C25-9D54-50115626C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15" y="1990725"/>
                <a:ext cx="2768512" cy="10164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arallelogram 18">
            <a:extLst>
              <a:ext uri="{FF2B5EF4-FFF2-40B4-BE49-F238E27FC236}">
                <a16:creationId xmlns:a16="http://schemas.microsoft.com/office/drawing/2014/main" id="{FE08BF61-FF2F-4637-8322-589F25D59598}"/>
              </a:ext>
            </a:extLst>
          </p:cNvPr>
          <p:cNvSpPr/>
          <p:nvPr/>
        </p:nvSpPr>
        <p:spPr bwMode="auto">
          <a:xfrm rot="1764875">
            <a:off x="3081913" y="2806578"/>
            <a:ext cx="2895398" cy="1359684"/>
          </a:xfrm>
          <a:prstGeom prst="parallelogram">
            <a:avLst>
              <a:gd name="adj" fmla="val 89664"/>
            </a:avLst>
          </a:prstGeom>
          <a:solidFill>
            <a:schemeClr val="bg1">
              <a:lumMod val="85000"/>
              <a:alpha val="27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32A2F8-812A-4F9E-B68F-10F3651E1E0C}"/>
                  </a:ext>
                </a:extLst>
              </p:cNvPr>
              <p:cNvSpPr txBox="1"/>
              <p:nvPr/>
            </p:nvSpPr>
            <p:spPr>
              <a:xfrm>
                <a:off x="1992960" y="3131154"/>
                <a:ext cx="82219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32A2F8-812A-4F9E-B68F-10F3651E1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960" y="3131154"/>
                <a:ext cx="822195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51158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4" grpId="0"/>
      <p:bldP spid="15" grpId="0"/>
      <p:bldP spid="17" grpId="0"/>
      <p:bldP spid="19" grpId="0" animBg="1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Application Specific  </a:t>
            </a:r>
            <a:r>
              <a:rPr lang="zh-CN" altLang="en-US" dirty="0">
                <a:ea typeface="ＭＳ Ｐゴシック" panose="020B0600070205080204" pitchFamily="34" charset="-128"/>
              </a:rPr>
              <a:t>特定应用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382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Adaptation  </a:t>
            </a:r>
            <a:r>
              <a:rPr lang="zh-CN" altLang="en-US" dirty="0"/>
              <a:t>适应于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To a specific type of applications</a:t>
            </a:r>
            <a:br>
              <a:rPr lang="en-US" altLang="zh-CN" dirty="0"/>
            </a:br>
            <a:r>
              <a:rPr lang="zh-CN" altLang="en-US" dirty="0"/>
              <a:t>某一类具体问题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Leveraging their characteristics</a:t>
            </a:r>
            <a:br>
              <a:rPr lang="en-US" altLang="zh-CN" dirty="0"/>
            </a:br>
            <a:r>
              <a:rPr lang="zh-CN" altLang="en-US" dirty="0"/>
              <a:t>利用这类问题的特性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Less Universally Applicable</a:t>
            </a:r>
            <a:br>
              <a:rPr lang="en-US" altLang="zh-CN" dirty="0"/>
            </a:br>
            <a:r>
              <a:rPr lang="zh-CN" altLang="en-US" dirty="0"/>
              <a:t>不那么通用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Characteristics do not match  </a:t>
            </a:r>
            <a:r>
              <a:rPr lang="zh-CN" altLang="en-US" dirty="0"/>
              <a:t>特性不匹配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Complex Neural Networks </a:t>
            </a:r>
            <a:r>
              <a:rPr lang="zh-CN" altLang="en-US" dirty="0"/>
              <a:t>复杂神经网络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Flexible in adaptation  </a:t>
            </a:r>
            <a:r>
              <a:rPr lang="zh-CN" altLang="en-US" dirty="0"/>
              <a:t>可灵活适应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8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Perceptron as a Neuron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作为神经细胞的感知器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447507" name="Oval 19"/>
          <p:cNvSpPr>
            <a:spLocks noChangeArrowheads="1"/>
          </p:cNvSpPr>
          <p:nvPr/>
        </p:nvSpPr>
        <p:spPr bwMode="auto">
          <a:xfrm>
            <a:off x="4179887" y="2815203"/>
            <a:ext cx="1296988" cy="1223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447508" name="Line 20"/>
          <p:cNvSpPr>
            <a:spLocks noChangeShapeType="1"/>
          </p:cNvSpPr>
          <p:nvPr/>
        </p:nvSpPr>
        <p:spPr bwMode="auto">
          <a:xfrm>
            <a:off x="2741612" y="2319298"/>
            <a:ext cx="1511300" cy="8562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09" name="Line 21"/>
          <p:cNvSpPr>
            <a:spLocks noChangeShapeType="1"/>
          </p:cNvSpPr>
          <p:nvPr/>
        </p:nvSpPr>
        <p:spPr bwMode="auto">
          <a:xfrm>
            <a:off x="2668587" y="2888228"/>
            <a:ext cx="15113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2" name="Line 24"/>
          <p:cNvSpPr>
            <a:spLocks noChangeShapeType="1"/>
          </p:cNvSpPr>
          <p:nvPr/>
        </p:nvSpPr>
        <p:spPr bwMode="auto">
          <a:xfrm flipV="1">
            <a:off x="2668586" y="3744494"/>
            <a:ext cx="1584325" cy="5835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4" name="Line 26"/>
          <p:cNvSpPr>
            <a:spLocks noChangeShapeType="1"/>
          </p:cNvSpPr>
          <p:nvPr/>
        </p:nvSpPr>
        <p:spPr bwMode="auto">
          <a:xfrm>
            <a:off x="5476875" y="346290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7515" name="Object 27"/>
          <p:cNvGraphicFramePr>
            <a:graphicFrameLocks noChangeAspect="1"/>
          </p:cNvGraphicFramePr>
          <p:nvPr/>
        </p:nvGraphicFramePr>
        <p:xfrm>
          <a:off x="5837237" y="3135878"/>
          <a:ext cx="273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28604" progId="Equation.3">
                  <p:embed/>
                </p:oleObj>
              </mc:Choice>
              <mc:Fallback>
                <p:oleObj name="Equation" r:id="rId4" imgW="0" imgH="28604" progId="Equation.3">
                  <p:embed/>
                  <p:pic>
                    <p:nvPicPr>
                      <p:cNvPr id="4475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7" y="3135878"/>
                        <a:ext cx="273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16" name="Freeform 28"/>
          <p:cNvSpPr>
            <a:spLocks/>
          </p:cNvSpPr>
          <p:nvPr/>
        </p:nvSpPr>
        <p:spPr bwMode="auto">
          <a:xfrm>
            <a:off x="4829175" y="2888228"/>
            <a:ext cx="215900" cy="1079500"/>
          </a:xfrm>
          <a:custGeom>
            <a:avLst/>
            <a:gdLst>
              <a:gd name="T0" fmla="*/ 2147483646 w 136"/>
              <a:gd name="T1" fmla="*/ 0 h 680"/>
              <a:gd name="T2" fmla="*/ 0 w 136"/>
              <a:gd name="T3" fmla="*/ 2147483646 h 680"/>
              <a:gd name="T4" fmla="*/ 2147483646 w 136"/>
              <a:gd name="T5" fmla="*/ 2147483646 h 680"/>
              <a:gd name="T6" fmla="*/ 0 60000 65536"/>
              <a:gd name="T7" fmla="*/ 0 60000 65536"/>
              <a:gd name="T8" fmla="*/ 0 60000 65536"/>
              <a:gd name="T9" fmla="*/ 0 w 136"/>
              <a:gd name="T10" fmla="*/ 0 h 680"/>
              <a:gd name="T11" fmla="*/ 136 w 136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680">
                <a:moveTo>
                  <a:pt x="136" y="0"/>
                </a:moveTo>
                <a:cubicBezTo>
                  <a:pt x="68" y="102"/>
                  <a:pt x="0" y="204"/>
                  <a:pt x="0" y="317"/>
                </a:cubicBezTo>
                <a:cubicBezTo>
                  <a:pt x="0" y="430"/>
                  <a:pt x="106" y="620"/>
                  <a:pt x="136" y="6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  <a:blipFill>
                <a:blip r:embed="rId10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/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/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−(−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/>
              <p:nvPr/>
            </p:nvSpPr>
            <p:spPr>
              <a:xfrm>
                <a:off x="5438819" y="4973364"/>
                <a:ext cx="61908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819" y="4973364"/>
                <a:ext cx="61908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0A9E9006-672E-403E-8E19-3B848B684FDB}"/>
              </a:ext>
            </a:extLst>
          </p:cNvPr>
          <p:cNvSpPr txBox="1"/>
          <p:nvPr/>
        </p:nvSpPr>
        <p:spPr>
          <a:xfrm>
            <a:off x="5772182" y="49646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EE0ADB6-1B63-41E9-B508-E3F290481BEF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7" r="5903" b="-2391"/>
          <a:stretch/>
        </p:blipFill>
        <p:spPr>
          <a:xfrm>
            <a:off x="4709391" y="3552133"/>
            <a:ext cx="2160000" cy="133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07201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07" grpId="0" animBg="1"/>
      <p:bldP spid="447508" grpId="0" animBg="1"/>
      <p:bldP spid="447509" grpId="0" animBg="1"/>
      <p:bldP spid="447512" grpId="0" animBg="1"/>
      <p:bldP spid="447514" grpId="0" animBg="1"/>
      <p:bldP spid="447516" grpId="0" animBg="1"/>
      <p:bldP spid="2" grpId="0"/>
      <p:bldP spid="17" grpId="0"/>
      <p:bldP spid="18" grpId="0"/>
      <p:bldP spid="4" grpId="0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Logistic Regression as a Neuron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作为神经细胞的对数几率回归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447507" name="Oval 19"/>
          <p:cNvSpPr>
            <a:spLocks noChangeArrowheads="1"/>
          </p:cNvSpPr>
          <p:nvPr/>
        </p:nvSpPr>
        <p:spPr bwMode="auto">
          <a:xfrm>
            <a:off x="4179887" y="2815203"/>
            <a:ext cx="1296988" cy="1223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447508" name="Line 20"/>
          <p:cNvSpPr>
            <a:spLocks noChangeShapeType="1"/>
          </p:cNvSpPr>
          <p:nvPr/>
        </p:nvSpPr>
        <p:spPr bwMode="auto">
          <a:xfrm>
            <a:off x="2741612" y="2319298"/>
            <a:ext cx="1511300" cy="8562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09" name="Line 21"/>
          <p:cNvSpPr>
            <a:spLocks noChangeShapeType="1"/>
          </p:cNvSpPr>
          <p:nvPr/>
        </p:nvSpPr>
        <p:spPr bwMode="auto">
          <a:xfrm>
            <a:off x="2668587" y="2888228"/>
            <a:ext cx="15113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2" name="Line 24"/>
          <p:cNvSpPr>
            <a:spLocks noChangeShapeType="1"/>
          </p:cNvSpPr>
          <p:nvPr/>
        </p:nvSpPr>
        <p:spPr bwMode="auto">
          <a:xfrm flipV="1">
            <a:off x="2668586" y="3744494"/>
            <a:ext cx="1584325" cy="5835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4" name="Line 26"/>
          <p:cNvSpPr>
            <a:spLocks noChangeShapeType="1"/>
          </p:cNvSpPr>
          <p:nvPr/>
        </p:nvSpPr>
        <p:spPr bwMode="auto">
          <a:xfrm>
            <a:off x="5476875" y="346290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7515" name="Object 27"/>
          <p:cNvGraphicFramePr>
            <a:graphicFrameLocks noChangeAspect="1"/>
          </p:cNvGraphicFramePr>
          <p:nvPr/>
        </p:nvGraphicFramePr>
        <p:xfrm>
          <a:off x="5837237" y="3135878"/>
          <a:ext cx="273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28604" progId="Equation.3">
                  <p:embed/>
                </p:oleObj>
              </mc:Choice>
              <mc:Fallback>
                <p:oleObj name="Equation" r:id="rId4" imgW="0" imgH="28604" progId="Equation.3">
                  <p:embed/>
                  <p:pic>
                    <p:nvPicPr>
                      <p:cNvPr id="4475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7" y="3135878"/>
                        <a:ext cx="273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16" name="Freeform 28"/>
          <p:cNvSpPr>
            <a:spLocks/>
          </p:cNvSpPr>
          <p:nvPr/>
        </p:nvSpPr>
        <p:spPr bwMode="auto">
          <a:xfrm>
            <a:off x="4829175" y="2888228"/>
            <a:ext cx="215900" cy="1079500"/>
          </a:xfrm>
          <a:custGeom>
            <a:avLst/>
            <a:gdLst>
              <a:gd name="T0" fmla="*/ 2147483646 w 136"/>
              <a:gd name="T1" fmla="*/ 0 h 680"/>
              <a:gd name="T2" fmla="*/ 0 w 136"/>
              <a:gd name="T3" fmla="*/ 2147483646 h 680"/>
              <a:gd name="T4" fmla="*/ 2147483646 w 136"/>
              <a:gd name="T5" fmla="*/ 2147483646 h 680"/>
              <a:gd name="T6" fmla="*/ 0 60000 65536"/>
              <a:gd name="T7" fmla="*/ 0 60000 65536"/>
              <a:gd name="T8" fmla="*/ 0 60000 65536"/>
              <a:gd name="T9" fmla="*/ 0 w 136"/>
              <a:gd name="T10" fmla="*/ 0 h 680"/>
              <a:gd name="T11" fmla="*/ 136 w 136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680">
                <a:moveTo>
                  <a:pt x="136" y="0"/>
                </a:moveTo>
                <a:cubicBezTo>
                  <a:pt x="68" y="102"/>
                  <a:pt x="0" y="204"/>
                  <a:pt x="0" y="317"/>
                </a:cubicBezTo>
                <a:cubicBezTo>
                  <a:pt x="0" y="430"/>
                  <a:pt x="106" y="620"/>
                  <a:pt x="136" y="6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  <a:blipFill>
                <a:blip r:embed="rId10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/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/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−(−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/>
              <p:nvPr/>
            </p:nvSpPr>
            <p:spPr>
              <a:xfrm>
                <a:off x="5365225" y="4964897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77ED89C-E28A-4E0E-890B-0C07A53E74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25" y="4964897"/>
                <a:ext cx="349775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DC93D0-E767-4FA3-884F-FB31C488450D}"/>
                  </a:ext>
                </a:extLst>
              </p:cNvPr>
              <p:cNvSpPr/>
              <p:nvPr/>
            </p:nvSpPr>
            <p:spPr>
              <a:xfrm>
                <a:off x="1196395" y="4963636"/>
                <a:ext cx="1250021" cy="4769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0DC93D0-E767-4FA3-884F-FB31C4884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395" y="4963636"/>
                <a:ext cx="1250021" cy="47699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BB8A0F1-A2AE-49D8-BDAD-5B59A0440165}"/>
                  </a:ext>
                </a:extLst>
              </p:cNvPr>
              <p:cNvSpPr/>
              <p:nvPr/>
            </p:nvSpPr>
            <p:spPr>
              <a:xfrm>
                <a:off x="3138139" y="4492887"/>
                <a:ext cx="4459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BB8A0F1-A2AE-49D8-BDAD-5B59A0440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139" y="4492887"/>
                <a:ext cx="445955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5E37016-FC1A-4169-A913-7AB8355DBF4F}"/>
              </a:ext>
            </a:extLst>
          </p:cNvPr>
          <p:cNvCxnSpPr>
            <a:endCxn id="20" idx="0"/>
          </p:cNvCxnSpPr>
          <p:nvPr/>
        </p:nvCxnSpPr>
        <p:spPr bwMode="auto">
          <a:xfrm>
            <a:off x="1295400" y="4940107"/>
            <a:ext cx="4244713" cy="247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A206C863-D58D-4020-A082-12E7575F31F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722" y="3707880"/>
            <a:ext cx="1828958" cy="12193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2365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07" grpId="0" animBg="1"/>
      <p:bldP spid="447508" grpId="0" animBg="1"/>
      <p:bldP spid="447509" grpId="0" animBg="1"/>
      <p:bldP spid="447512" grpId="0" animBg="1"/>
      <p:bldP spid="447514" grpId="0" animBg="1"/>
      <p:bldP spid="447516" grpId="0" animBg="1"/>
      <p:bldP spid="2" grpId="0"/>
      <p:bldP spid="17" grpId="0"/>
      <p:bldP spid="18" grpId="0"/>
      <p:bldP spid="4" grpId="0"/>
      <p:bldP spid="19" grpId="0"/>
      <p:bldP spid="20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Common Neuron  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通常的神经细胞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447507" name="Oval 19"/>
          <p:cNvSpPr>
            <a:spLocks noChangeArrowheads="1"/>
          </p:cNvSpPr>
          <p:nvPr/>
        </p:nvSpPr>
        <p:spPr bwMode="auto">
          <a:xfrm>
            <a:off x="4179887" y="2815203"/>
            <a:ext cx="1296988" cy="12239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b="0"/>
          </a:p>
        </p:txBody>
      </p:sp>
      <p:sp>
        <p:nvSpPr>
          <p:cNvPr id="447508" name="Line 20"/>
          <p:cNvSpPr>
            <a:spLocks noChangeShapeType="1"/>
          </p:cNvSpPr>
          <p:nvPr/>
        </p:nvSpPr>
        <p:spPr bwMode="auto">
          <a:xfrm>
            <a:off x="2741612" y="2319298"/>
            <a:ext cx="1511300" cy="85626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09" name="Line 21"/>
          <p:cNvSpPr>
            <a:spLocks noChangeShapeType="1"/>
          </p:cNvSpPr>
          <p:nvPr/>
        </p:nvSpPr>
        <p:spPr bwMode="auto">
          <a:xfrm>
            <a:off x="2668587" y="2888228"/>
            <a:ext cx="15113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2" name="Line 24"/>
          <p:cNvSpPr>
            <a:spLocks noChangeShapeType="1"/>
          </p:cNvSpPr>
          <p:nvPr/>
        </p:nvSpPr>
        <p:spPr bwMode="auto">
          <a:xfrm flipV="1">
            <a:off x="2668586" y="3744494"/>
            <a:ext cx="1584325" cy="58359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514" name="Line 26"/>
          <p:cNvSpPr>
            <a:spLocks noChangeShapeType="1"/>
          </p:cNvSpPr>
          <p:nvPr/>
        </p:nvSpPr>
        <p:spPr bwMode="auto">
          <a:xfrm>
            <a:off x="5476875" y="3462903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7515" name="Object 27"/>
          <p:cNvGraphicFramePr>
            <a:graphicFrameLocks noChangeAspect="1"/>
          </p:cNvGraphicFramePr>
          <p:nvPr/>
        </p:nvGraphicFramePr>
        <p:xfrm>
          <a:off x="5837237" y="3135878"/>
          <a:ext cx="2730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28604" progId="Equation.3">
                  <p:embed/>
                </p:oleObj>
              </mc:Choice>
              <mc:Fallback>
                <p:oleObj name="Equation" r:id="rId4" imgW="0" imgH="28604" progId="Equation.3">
                  <p:embed/>
                  <p:pic>
                    <p:nvPicPr>
                      <p:cNvPr id="4475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237" y="3135878"/>
                        <a:ext cx="2730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7516" name="Freeform 28"/>
          <p:cNvSpPr>
            <a:spLocks/>
          </p:cNvSpPr>
          <p:nvPr/>
        </p:nvSpPr>
        <p:spPr bwMode="auto">
          <a:xfrm>
            <a:off x="4829175" y="2888228"/>
            <a:ext cx="215900" cy="1079500"/>
          </a:xfrm>
          <a:custGeom>
            <a:avLst/>
            <a:gdLst>
              <a:gd name="T0" fmla="*/ 2147483646 w 136"/>
              <a:gd name="T1" fmla="*/ 0 h 680"/>
              <a:gd name="T2" fmla="*/ 0 w 136"/>
              <a:gd name="T3" fmla="*/ 2147483646 h 680"/>
              <a:gd name="T4" fmla="*/ 2147483646 w 136"/>
              <a:gd name="T5" fmla="*/ 2147483646 h 680"/>
              <a:gd name="T6" fmla="*/ 0 60000 65536"/>
              <a:gd name="T7" fmla="*/ 0 60000 65536"/>
              <a:gd name="T8" fmla="*/ 0 60000 65536"/>
              <a:gd name="T9" fmla="*/ 0 w 136"/>
              <a:gd name="T10" fmla="*/ 0 h 680"/>
              <a:gd name="T11" fmla="*/ 136 w 136"/>
              <a:gd name="T12" fmla="*/ 680 h 6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" h="680">
                <a:moveTo>
                  <a:pt x="136" y="0"/>
                </a:moveTo>
                <a:cubicBezTo>
                  <a:pt x="68" y="102"/>
                  <a:pt x="0" y="204"/>
                  <a:pt x="0" y="317"/>
                </a:cubicBezTo>
                <a:cubicBezTo>
                  <a:pt x="0" y="430"/>
                  <a:pt x="106" y="620"/>
                  <a:pt x="136" y="68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400" y="3238033"/>
                <a:ext cx="55681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267" y="2351048"/>
                <a:ext cx="636072" cy="1569660"/>
              </a:xfrm>
              <a:prstGeom prst="rect">
                <a:avLst/>
              </a:prstGeom>
              <a:blipFill>
                <a:blip r:embed="rId10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endParaRPr lang="en-US" sz="2400" dirty="0"/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99" y="1981200"/>
                <a:ext cx="636072" cy="26776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/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C2FC3F9-47B3-465C-97B4-5ADF6EF357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071" y="4940107"/>
                <a:ext cx="276992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/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−(−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F975CBD-FC9F-4AC9-9FD5-32626C75BF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496" y="4964668"/>
                <a:ext cx="922304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174282F-A0BE-4231-96A4-ADFF47460B95}"/>
              </a:ext>
            </a:extLst>
          </p:cNvPr>
          <p:cNvSpPr txBox="1"/>
          <p:nvPr/>
        </p:nvSpPr>
        <p:spPr>
          <a:xfrm>
            <a:off x="-80888" y="2629657"/>
            <a:ext cx="23654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Input (from other neurons)</a:t>
            </a:r>
          </a:p>
          <a:p>
            <a:pPr algn="ctr"/>
            <a:r>
              <a:rPr lang="zh-CN" altLang="en-US" sz="2200" dirty="0"/>
              <a:t>（来自别的神经细胞的）输入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66BE8E-EB07-4456-AFF8-03F27CEEAE0C}"/>
              </a:ext>
            </a:extLst>
          </p:cNvPr>
          <p:cNvSpPr txBox="1"/>
          <p:nvPr/>
        </p:nvSpPr>
        <p:spPr>
          <a:xfrm>
            <a:off x="3110581" y="4093813"/>
            <a:ext cx="1461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Weights</a:t>
            </a:r>
          </a:p>
          <a:p>
            <a:pPr algn="ctr"/>
            <a:r>
              <a:rPr lang="zh-CN" altLang="en-US" sz="2200" dirty="0"/>
              <a:t>权重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602976-2AF9-4BE6-9179-9EFF47AA210C}"/>
              </a:ext>
            </a:extLst>
          </p:cNvPr>
          <p:cNvSpPr txBox="1"/>
          <p:nvPr/>
        </p:nvSpPr>
        <p:spPr>
          <a:xfrm>
            <a:off x="4239093" y="1994467"/>
            <a:ext cx="1461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Bias</a:t>
            </a:r>
          </a:p>
          <a:p>
            <a:pPr algn="ctr"/>
            <a:r>
              <a:rPr lang="zh-CN" altLang="en-US" sz="2200" dirty="0"/>
              <a:t>偏向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6E8F45-28D9-4C64-95B8-349E3DA5290D}"/>
                  </a:ext>
                </a:extLst>
              </p:cNvPr>
              <p:cNvSpPr/>
              <p:nvPr/>
            </p:nvSpPr>
            <p:spPr>
              <a:xfrm>
                <a:off x="5365225" y="4964897"/>
                <a:ext cx="3497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6E8F45-28D9-4C64-95B8-349E3DA529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5225" y="4964897"/>
                <a:ext cx="349775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7946080-C437-422E-B87B-256E51C01455}"/>
                  </a:ext>
                </a:extLst>
              </p:cNvPr>
              <p:cNvSpPr/>
              <p:nvPr/>
            </p:nvSpPr>
            <p:spPr>
              <a:xfrm>
                <a:off x="1908678" y="4931640"/>
                <a:ext cx="483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7946080-C437-422E-B87B-256E51C014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678" y="4931640"/>
                <a:ext cx="483146" cy="369332"/>
              </a:xfrm>
              <a:prstGeom prst="rect">
                <a:avLst/>
              </a:prstGeom>
              <a:blipFill>
                <a:blip r:embed="rId1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C03CD0-F0D2-4B6C-A68B-227B842978F2}"/>
                  </a:ext>
                </a:extLst>
              </p:cNvPr>
              <p:cNvSpPr txBox="1"/>
              <p:nvPr/>
            </p:nvSpPr>
            <p:spPr>
              <a:xfrm>
                <a:off x="5133219" y="3545680"/>
                <a:ext cx="187371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Activation function</a:t>
                </a:r>
              </a:p>
              <a:p>
                <a:pPr algn="ctr"/>
                <a:r>
                  <a:rPr lang="zh-CN" altLang="en-US" sz="2200" dirty="0"/>
                  <a:t>激活函数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(∙)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C03CD0-F0D2-4B6C-A68B-227B84297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219" y="3545680"/>
                <a:ext cx="1873710" cy="1446550"/>
              </a:xfrm>
              <a:prstGeom prst="rect">
                <a:avLst/>
              </a:prstGeom>
              <a:blipFill>
                <a:blip r:embed="rId16"/>
                <a:stretch>
                  <a:fillRect t="-3376" b="-4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96D57-6B1A-47C2-8AFB-C3495D336BF8}"/>
                  </a:ext>
                </a:extLst>
              </p:cNvPr>
              <p:cNvSpPr txBox="1"/>
              <p:nvPr/>
            </p:nvSpPr>
            <p:spPr>
              <a:xfrm>
                <a:off x="6518690" y="2027424"/>
                <a:ext cx="2123797" cy="17851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Output (to other neurons)</a:t>
                </a:r>
              </a:p>
              <a:p>
                <a:pPr algn="ctr"/>
                <a:r>
                  <a:rPr lang="zh-CN" altLang="en-US" sz="2200" dirty="0"/>
                  <a:t>（向别的神经细胞）输出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F496D57-6B1A-47C2-8AFB-C3495D336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8690" y="2027424"/>
                <a:ext cx="2123797" cy="1785104"/>
              </a:xfrm>
              <a:prstGeom prst="rect">
                <a:avLst/>
              </a:prstGeom>
              <a:blipFill>
                <a:blip r:embed="rId17"/>
                <a:stretch>
                  <a:fillRect l="-3438" t="-2740" r="-3152" b="-37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665274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7507" grpId="0" animBg="1"/>
      <p:bldP spid="447508" grpId="0" animBg="1"/>
      <p:bldP spid="447509" grpId="0" animBg="1"/>
      <p:bldP spid="447512" grpId="0" animBg="1"/>
      <p:bldP spid="447514" grpId="0" animBg="1"/>
      <p:bldP spid="447516" grpId="0" animBg="1"/>
      <p:bldP spid="2" grpId="0"/>
      <p:bldP spid="17" grpId="0"/>
      <p:bldP spid="18" grpId="0"/>
      <p:bldP spid="4" grpId="0"/>
      <p:bldP spid="19" grpId="0"/>
      <p:bldP spid="24" grpId="0"/>
      <p:bldP spid="25" grpId="0"/>
      <p:bldP spid="27" grpId="0"/>
      <p:bldP spid="28" grpId="0"/>
      <p:bldP spid="29" grpId="0"/>
      <p:bldP spid="30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 Neural Network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复杂神经网络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F2E15-2BC8-4F46-AD72-5363827B0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82800"/>
            <a:ext cx="5486400" cy="3086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F6A279-56B9-4846-A8DD-0B5B186E0FFB}"/>
              </a:ext>
            </a:extLst>
          </p:cNvPr>
          <p:cNvSpPr txBox="1"/>
          <p:nvPr/>
        </p:nvSpPr>
        <p:spPr>
          <a:xfrm>
            <a:off x="1371600" y="1524000"/>
            <a:ext cx="640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Neurons connected together  </a:t>
            </a:r>
            <a:r>
              <a:rPr lang="zh-CN" altLang="en-US" sz="2200" dirty="0"/>
              <a:t>互连的神经细胞</a:t>
            </a:r>
            <a:endParaRPr lang="en-US" altLang="zh-CN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DE320-22D1-4425-B13F-520A13581B18}"/>
              </a:ext>
            </a:extLst>
          </p:cNvPr>
          <p:cNvSpPr txBox="1"/>
          <p:nvPr/>
        </p:nvSpPr>
        <p:spPr>
          <a:xfrm>
            <a:off x="1047750" y="5135642"/>
            <a:ext cx="7048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Different types of neurons: different numbers of input connection, different activation function</a:t>
            </a:r>
          </a:p>
          <a:p>
            <a:pPr algn="ctr"/>
            <a:r>
              <a:rPr lang="zh-CN" altLang="en-US" sz="2200" dirty="0"/>
              <a:t>不同的神经细胞：不同的输入连接数，不同的激活函数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6363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 Neural Network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复杂神经网络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F2E15-2BC8-4F46-AD72-5363827B0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82800"/>
            <a:ext cx="5486400" cy="3086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F6A279-56B9-4846-A8DD-0B5B186E0FFB}"/>
              </a:ext>
            </a:extLst>
          </p:cNvPr>
          <p:cNvSpPr txBox="1"/>
          <p:nvPr/>
        </p:nvSpPr>
        <p:spPr>
          <a:xfrm>
            <a:off x="1371600" y="1524000"/>
            <a:ext cx="640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Neurons connected together  </a:t>
            </a:r>
            <a:r>
              <a:rPr lang="zh-CN" altLang="en-US" sz="2200" dirty="0"/>
              <a:t>互连的神经细胞</a:t>
            </a:r>
            <a:endParaRPr lang="en-US" altLang="zh-CN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DE320-22D1-4425-B13F-520A13581B18}"/>
              </a:ext>
            </a:extLst>
          </p:cNvPr>
          <p:cNvSpPr txBox="1"/>
          <p:nvPr/>
        </p:nvSpPr>
        <p:spPr>
          <a:xfrm>
            <a:off x="1047750" y="5135642"/>
            <a:ext cx="7048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Complex structure of connection  </a:t>
            </a:r>
            <a:r>
              <a:rPr lang="zh-CN" altLang="en-US" sz="2200" dirty="0"/>
              <a:t>复杂的连接结构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64207276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Complex Neural Network</a:t>
            </a:r>
            <a:br>
              <a:rPr lang="en-US" altLang="zh-CN" dirty="0">
                <a:ea typeface="SimSun" panose="02010600030101010101" pitchFamily="2" charset="-122"/>
              </a:rPr>
            </a:br>
            <a:r>
              <a:rPr lang="zh-CN" altLang="en-US" dirty="0">
                <a:ea typeface="SimSun" panose="02010600030101010101" pitchFamily="2" charset="-122"/>
              </a:rPr>
              <a:t>复杂神经网络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222935AD-F74C-4DA2-9327-85D936137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3F2E15-2BC8-4F46-AD72-5363827B0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82800"/>
            <a:ext cx="5486400" cy="30861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5F6A279-56B9-4846-A8DD-0B5B186E0FFB}"/>
              </a:ext>
            </a:extLst>
          </p:cNvPr>
          <p:cNvSpPr txBox="1"/>
          <p:nvPr/>
        </p:nvSpPr>
        <p:spPr>
          <a:xfrm>
            <a:off x="1371600" y="1524000"/>
            <a:ext cx="6400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Neurons connected together  </a:t>
            </a:r>
            <a:r>
              <a:rPr lang="zh-CN" altLang="en-US" sz="2200" dirty="0"/>
              <a:t>互连的神经细胞</a:t>
            </a:r>
            <a:endParaRPr lang="en-US" altLang="zh-CN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FDE320-22D1-4425-B13F-520A13581B18}"/>
              </a:ext>
            </a:extLst>
          </p:cNvPr>
          <p:cNvSpPr txBox="1"/>
          <p:nvPr/>
        </p:nvSpPr>
        <p:spPr>
          <a:xfrm>
            <a:off x="1047750" y="5135642"/>
            <a:ext cx="7048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Flexible in adapting to specific applications</a:t>
            </a:r>
          </a:p>
          <a:p>
            <a:pPr algn="ctr"/>
            <a:r>
              <a:rPr lang="zh-CN" altLang="en-US" sz="2200" dirty="0"/>
              <a:t>能够灵活适应于特定的应用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212714133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Handwritten ZIP Code Recognition  </a:t>
            </a:r>
            <a:r>
              <a:rPr lang="zh-CN" altLang="en-US" dirty="0">
                <a:ea typeface="ＭＳ Ｐゴシック" panose="020B0600070205080204" pitchFamily="34" charset="-128"/>
              </a:rPr>
              <a:t>手写邮政编码识别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Input: 2D Image </a:t>
            </a:r>
            <a:r>
              <a:rPr lang="zh-CN" altLang="en-US" dirty="0"/>
              <a:t> 输入：两维图像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Motivation in a 2D processing</a:t>
            </a:r>
            <a:br>
              <a:rPr lang="en-US" altLang="zh-CN" dirty="0"/>
            </a:br>
            <a:r>
              <a:rPr lang="zh-CN" altLang="en-US" dirty="0"/>
              <a:t>两维处理的动机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Previous methods taking an 1D vector</a:t>
            </a:r>
            <a:br>
              <a:rPr lang="en-US" altLang="zh-CN" dirty="0"/>
            </a:br>
            <a:r>
              <a:rPr lang="zh-CN" altLang="en-US" dirty="0"/>
              <a:t>以前的方法输入的都是一维向量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Handwritten Numbers  </a:t>
            </a:r>
            <a:r>
              <a:rPr lang="zh-CN" altLang="en-US" dirty="0"/>
              <a:t>手写数字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/>
              <a:t>Strokes composed </a:t>
            </a:r>
            <a:r>
              <a:rPr lang="en-US" altLang="zh-CN" dirty="0"/>
              <a:t>of local patterns</a:t>
            </a:r>
            <a:br>
              <a:rPr lang="en-US" altLang="zh-CN" dirty="0"/>
            </a:br>
            <a:r>
              <a:rPr lang="zh-CN" altLang="en-US" dirty="0"/>
              <a:t>由局部模式组合而成的笔画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Motivation in construction of high level patterns from local patterns</a:t>
            </a:r>
            <a:br>
              <a:rPr lang="en-US" altLang="zh-CN" dirty="0"/>
            </a:br>
            <a:r>
              <a:rPr lang="zh-CN" altLang="en-US" dirty="0"/>
              <a:t>从局部模式中构建高层次模式的动机</a:t>
            </a:r>
            <a:endParaRPr lang="en-US" altLang="zh-CN" dirty="0"/>
          </a:p>
          <a:p>
            <a:pPr lvl="2">
              <a:lnSpc>
                <a:spcPct val="90000"/>
              </a:lnSpc>
            </a:pP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357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Convolutional Neural Network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en-US" altLang="zh-CN" dirty="0">
                <a:ea typeface="ＭＳ Ｐゴシック" panose="020B0600070205080204" pitchFamily="34" charset="-128"/>
              </a:rPr>
              <a:t>(CNN)</a:t>
            </a:r>
            <a:r>
              <a:rPr lang="zh-CN" altLang="en-US" dirty="0">
                <a:ea typeface="ＭＳ Ｐゴシック" panose="020B0600070205080204" pitchFamily="34" charset="-128"/>
              </a:rPr>
              <a:t>  卷积神经网络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Complex Networks w/ Many Feed-Forward Layers  </a:t>
            </a:r>
            <a:r>
              <a:rPr lang="zh-CN" altLang="en-US" dirty="0"/>
              <a:t>多层前向复杂网络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Different types of neurons/layers</a:t>
            </a:r>
            <a:br>
              <a:rPr lang="en-US" altLang="zh-CN" dirty="0"/>
            </a:br>
            <a:r>
              <a:rPr lang="zh-CN" altLang="en-US" dirty="0"/>
              <a:t>多种不同的神经细胞</a:t>
            </a:r>
            <a:r>
              <a:rPr lang="en-US" altLang="zh-CN" dirty="0"/>
              <a:t>/</a:t>
            </a:r>
            <a:r>
              <a:rPr lang="zh-CN" altLang="en-US" dirty="0"/>
              <a:t>网络层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Hierarchical construction of patterns</a:t>
            </a:r>
            <a:br>
              <a:rPr lang="en-US" altLang="zh-CN" dirty="0"/>
            </a:br>
            <a:r>
              <a:rPr lang="zh-CN" altLang="en-US" dirty="0"/>
              <a:t>逐层递进地构建模式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Commonly Used in  </a:t>
            </a:r>
            <a:r>
              <a:rPr lang="zh-CN" altLang="en-US" dirty="0"/>
              <a:t>常用于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Detecting/recognizing objects in images</a:t>
            </a:r>
            <a:br>
              <a:rPr lang="en-US" altLang="zh-CN" dirty="0"/>
            </a:br>
            <a:r>
              <a:rPr lang="zh-CN" altLang="en-US" dirty="0"/>
              <a:t>在图像中检测</a:t>
            </a:r>
            <a:r>
              <a:rPr lang="en-US" altLang="zh-CN" dirty="0"/>
              <a:t>/</a:t>
            </a:r>
            <a:r>
              <a:rPr lang="zh-CN" altLang="en-US" dirty="0"/>
              <a:t>识别物体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4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757291316"/>
              </p:ext>
            </p:extLst>
          </p:nvPr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E3C4B5-06FF-4564-82A8-070D2117C968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3352800" y="2611398"/>
            <a:ext cx="7772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74349CC-D92C-4D24-876A-9BA7D75161A7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078F0D-C092-41D6-9609-7AB248808732}"/>
              </a:ext>
            </a:extLst>
          </p:cNvPr>
          <p:cNvSpPr txBox="1"/>
          <p:nvPr/>
        </p:nvSpPr>
        <p:spPr>
          <a:xfrm>
            <a:off x="1981200" y="2057400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Negative weight  </a:t>
            </a:r>
            <a:r>
              <a:rPr lang="zh-CN" altLang="en-US" sz="2200" dirty="0"/>
              <a:t>负权重</a:t>
            </a:r>
            <a:r>
              <a:rPr lang="en-US" altLang="zh-CN" sz="2200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639710-76B2-40F1-A602-6453D3BC81A2}"/>
              </a:ext>
            </a:extLst>
          </p:cNvPr>
          <p:cNvSpPr txBox="1"/>
          <p:nvPr/>
        </p:nvSpPr>
        <p:spPr>
          <a:xfrm>
            <a:off x="5486398" y="2638046"/>
            <a:ext cx="137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Positive weight  </a:t>
            </a:r>
            <a:r>
              <a:rPr lang="zh-CN" altLang="en-US" sz="2200" dirty="0"/>
              <a:t>正权重</a:t>
            </a:r>
            <a:r>
              <a:rPr lang="en-US" altLang="zh-CN" sz="2200" dirty="0"/>
              <a:t>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BA8EB2-6178-4A23-AE60-0C6D5C0968CB}"/>
              </a:ext>
            </a:extLst>
          </p:cNvPr>
          <p:cNvCxnSpPr>
            <a:cxnSpLocks/>
            <a:stCxn id="27" idx="1"/>
          </p:cNvCxnSpPr>
          <p:nvPr/>
        </p:nvCxnSpPr>
        <p:spPr bwMode="auto">
          <a:xfrm flipH="1">
            <a:off x="4724400" y="3192044"/>
            <a:ext cx="76199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AC1D7A-730E-4269-8137-1063B66105C0}"/>
              </a:ext>
            </a:extLst>
          </p:cNvPr>
          <p:cNvCxnSpPr>
            <a:cxnSpLocks/>
            <a:stCxn id="35" idx="3"/>
          </p:cNvCxnSpPr>
          <p:nvPr/>
        </p:nvCxnSpPr>
        <p:spPr bwMode="auto">
          <a:xfrm>
            <a:off x="3352800" y="4356592"/>
            <a:ext cx="777240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EDEBF8-9F08-4F88-A420-FFF802A877DA}"/>
              </a:ext>
            </a:extLst>
          </p:cNvPr>
          <p:cNvSpPr txBox="1"/>
          <p:nvPr/>
        </p:nvSpPr>
        <p:spPr>
          <a:xfrm>
            <a:off x="1295400" y="3802594"/>
            <a:ext cx="205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Light, negative value</a:t>
            </a:r>
          </a:p>
          <a:p>
            <a:pPr algn="ctr"/>
            <a:r>
              <a:rPr lang="zh-CN" altLang="en-US" sz="2200" dirty="0"/>
              <a:t>浅色，负值</a:t>
            </a:r>
            <a:r>
              <a:rPr lang="en-US" altLang="zh-CN" sz="2200" dirty="0"/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0955F5-04A1-40FC-A6D2-E4051A45CC4F}"/>
              </a:ext>
            </a:extLst>
          </p:cNvPr>
          <p:cNvSpPr txBox="1"/>
          <p:nvPr/>
        </p:nvSpPr>
        <p:spPr>
          <a:xfrm>
            <a:off x="5440678" y="4390646"/>
            <a:ext cx="19507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Dark, positive value</a:t>
            </a:r>
          </a:p>
          <a:p>
            <a:pPr algn="ctr"/>
            <a:r>
              <a:rPr lang="zh-CN" altLang="en-US" sz="2200" dirty="0"/>
              <a:t>深色，正值</a:t>
            </a:r>
            <a:endParaRPr lang="en-US" altLang="zh-CN" sz="2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B55A037-D510-451E-B7DE-E68B50E90F21}"/>
              </a:ext>
            </a:extLst>
          </p:cNvPr>
          <p:cNvCxnSpPr>
            <a:cxnSpLocks/>
            <a:stCxn id="37" idx="1"/>
          </p:cNvCxnSpPr>
          <p:nvPr/>
        </p:nvCxnSpPr>
        <p:spPr bwMode="auto">
          <a:xfrm flipH="1">
            <a:off x="4678680" y="4944644"/>
            <a:ext cx="761998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57640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7" grpId="0"/>
      <p:bldP spid="33" grpId="0"/>
      <p:bldP spid="3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099560" y="262128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DB78B-DB19-431E-9A9B-B0FBE4910013}"/>
              </a:ext>
            </a:extLst>
          </p:cNvPr>
          <p:cNvSpPr txBox="1"/>
          <p:nvPr/>
        </p:nvSpPr>
        <p:spPr>
          <a:xfrm>
            <a:off x="338454" y="3053864"/>
            <a:ext cx="23550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Multiple each pair of elements accordingly</a:t>
            </a:r>
          </a:p>
          <a:p>
            <a:pPr algn="ctr"/>
            <a:r>
              <a:rPr lang="zh-CN" altLang="en-US" sz="2200" dirty="0"/>
              <a:t>对应元素相乘</a:t>
            </a:r>
            <a:r>
              <a:rPr lang="en-US" altLang="zh-CN" sz="22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3738302" y="3430932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Negative x negative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positive</a:t>
            </a:r>
          </a:p>
          <a:p>
            <a:pPr algn="ctr"/>
            <a:r>
              <a:rPr lang="zh-CN" altLang="en-US" sz="2200" dirty="0"/>
              <a:t>负 </a:t>
            </a:r>
            <a:r>
              <a:rPr lang="en-US" altLang="zh-CN" sz="2200" dirty="0"/>
              <a:t>x</a:t>
            </a:r>
            <a:r>
              <a:rPr lang="zh-CN" altLang="en-US" sz="2200" dirty="0"/>
              <a:t> 负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正</a:t>
            </a:r>
            <a:endParaRPr lang="en-US" altLang="zh-CN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DFBC9-2DB9-45E1-AC90-C980AE894F39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4098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419600" y="262128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DB78B-DB19-431E-9A9B-B0FBE4910013}"/>
              </a:ext>
            </a:extLst>
          </p:cNvPr>
          <p:cNvSpPr txBox="1"/>
          <p:nvPr/>
        </p:nvSpPr>
        <p:spPr>
          <a:xfrm>
            <a:off x="338454" y="3053864"/>
            <a:ext cx="23550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Multiple each pair of elements accordingly</a:t>
            </a:r>
          </a:p>
          <a:p>
            <a:pPr algn="ctr"/>
            <a:r>
              <a:rPr lang="zh-CN" altLang="en-US" sz="2200" dirty="0"/>
              <a:t>对应元素相乘</a:t>
            </a:r>
            <a:r>
              <a:rPr lang="en-US" altLang="zh-CN" sz="22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4058342" y="3430932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Negative x negative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positive</a:t>
            </a:r>
          </a:p>
          <a:p>
            <a:pPr algn="ctr"/>
            <a:r>
              <a:rPr lang="zh-CN" altLang="en-US" sz="2200" dirty="0"/>
              <a:t>负 </a:t>
            </a:r>
            <a:r>
              <a:rPr lang="en-US" altLang="zh-CN" sz="2200" dirty="0"/>
              <a:t>x</a:t>
            </a:r>
            <a:r>
              <a:rPr lang="zh-CN" altLang="en-US" sz="2200" dirty="0"/>
              <a:t> 负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正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E2B87-643E-4864-B86E-D0EC1BBB8EF9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extLst>
      <p:ext uri="{BB962C8B-B14F-4D97-AF65-F5344CB8AC3E}">
        <p14:creationId xmlns:p14="http://schemas.microsoft.com/office/powerpoint/2010/main" val="7759436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709160" y="28803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DB78B-DB19-431E-9A9B-B0FBE4910013}"/>
              </a:ext>
            </a:extLst>
          </p:cNvPr>
          <p:cNvSpPr txBox="1"/>
          <p:nvPr/>
        </p:nvSpPr>
        <p:spPr>
          <a:xfrm>
            <a:off x="338454" y="3053864"/>
            <a:ext cx="23550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Multiple each pair of elements accordingly</a:t>
            </a:r>
          </a:p>
          <a:p>
            <a:pPr algn="ctr"/>
            <a:r>
              <a:rPr lang="zh-CN" altLang="en-US" sz="2200" dirty="0"/>
              <a:t>对应元素相乘</a:t>
            </a:r>
            <a:r>
              <a:rPr lang="en-US" altLang="zh-CN" sz="22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4347902" y="3690012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Positive x positive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positive</a:t>
            </a:r>
          </a:p>
          <a:p>
            <a:pPr algn="ctr"/>
            <a:r>
              <a:rPr lang="zh-CN" altLang="en-US" sz="2200" dirty="0"/>
              <a:t>正 </a:t>
            </a:r>
            <a:r>
              <a:rPr lang="en-US" altLang="zh-CN" sz="2200" dirty="0"/>
              <a:t>x</a:t>
            </a:r>
            <a:r>
              <a:rPr lang="zh-CN" altLang="en-US" sz="2200" dirty="0"/>
              <a:t> 正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正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0D550-7B6D-4C95-B87E-556D22B62E47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extLst>
      <p:ext uri="{BB962C8B-B14F-4D97-AF65-F5344CB8AC3E}">
        <p14:creationId xmlns:p14="http://schemas.microsoft.com/office/powerpoint/2010/main" val="3775770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709160" y="28803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DB78B-DB19-431E-9A9B-B0FBE4910013}"/>
              </a:ext>
            </a:extLst>
          </p:cNvPr>
          <p:cNvSpPr txBox="1"/>
          <p:nvPr/>
        </p:nvSpPr>
        <p:spPr>
          <a:xfrm>
            <a:off x="338454" y="3053864"/>
            <a:ext cx="23550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Multiple each pair of elements accordingly</a:t>
            </a:r>
          </a:p>
          <a:p>
            <a:pPr algn="ctr"/>
            <a:r>
              <a:rPr lang="zh-CN" altLang="en-US" sz="2200" dirty="0"/>
              <a:t>对应元素相乘</a:t>
            </a:r>
            <a:r>
              <a:rPr lang="en-US" altLang="zh-CN" sz="2200" dirty="0"/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6659F9-418F-4AEC-ADC4-B85F591ACF33}"/>
              </a:ext>
            </a:extLst>
          </p:cNvPr>
          <p:cNvCxnSpPr/>
          <p:nvPr/>
        </p:nvCxnSpPr>
        <p:spPr bwMode="auto">
          <a:xfrm>
            <a:off x="44196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89B0C0-AD13-4BE5-AE4F-094C499125D5}"/>
              </a:ext>
            </a:extLst>
          </p:cNvPr>
          <p:cNvCxnSpPr/>
          <p:nvPr/>
        </p:nvCxnSpPr>
        <p:spPr bwMode="auto">
          <a:xfrm>
            <a:off x="41148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F66CFE-120D-4DD1-A339-921B0ABC2668}"/>
              </a:ext>
            </a:extLst>
          </p:cNvPr>
          <p:cNvCxnSpPr/>
          <p:nvPr/>
        </p:nvCxnSpPr>
        <p:spPr bwMode="auto">
          <a:xfrm>
            <a:off x="406146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258E63-37BF-4E17-96B5-7A56C6AEAE22}"/>
              </a:ext>
            </a:extLst>
          </p:cNvPr>
          <p:cNvCxnSpPr/>
          <p:nvPr/>
        </p:nvCxnSpPr>
        <p:spPr bwMode="auto">
          <a:xfrm>
            <a:off x="438912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DD73D4-CAB2-402A-A3A4-8963A72BA931}"/>
              </a:ext>
            </a:extLst>
          </p:cNvPr>
          <p:cNvCxnSpPr/>
          <p:nvPr/>
        </p:nvCxnSpPr>
        <p:spPr bwMode="auto">
          <a:xfrm>
            <a:off x="467868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5BB6B5-06E6-459F-87E8-110752D76F88}"/>
              </a:ext>
            </a:extLst>
          </p:cNvPr>
          <p:cNvCxnSpPr/>
          <p:nvPr/>
        </p:nvCxnSpPr>
        <p:spPr bwMode="auto">
          <a:xfrm>
            <a:off x="4152900" y="316992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9FA2FC-2ABE-4AA7-8E41-F34995613380}"/>
              </a:ext>
            </a:extLst>
          </p:cNvPr>
          <p:cNvCxnSpPr/>
          <p:nvPr/>
        </p:nvCxnSpPr>
        <p:spPr bwMode="auto">
          <a:xfrm>
            <a:off x="4457700" y="31623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5D401F-044A-40B9-9CFA-1B5C958FF601}"/>
              </a:ext>
            </a:extLst>
          </p:cNvPr>
          <p:cNvCxnSpPr/>
          <p:nvPr/>
        </p:nvCxnSpPr>
        <p:spPr bwMode="auto">
          <a:xfrm>
            <a:off x="4754880" y="31470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1EDD0F3-1B50-433B-A538-4B1128FD9077}"/>
              </a:ext>
            </a:extLst>
          </p:cNvPr>
          <p:cNvSpPr txBox="1"/>
          <p:nvPr/>
        </p:nvSpPr>
        <p:spPr>
          <a:xfrm>
            <a:off x="5097779" y="2190839"/>
            <a:ext cx="40462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Sum the 9 products together </a:t>
            </a:r>
          </a:p>
          <a:p>
            <a:pPr algn="ctr"/>
            <a:r>
              <a:rPr lang="zh-CN" altLang="en-US" sz="2200" dirty="0"/>
              <a:t>把</a:t>
            </a:r>
            <a:r>
              <a:rPr lang="en-US" altLang="zh-CN" sz="2200" dirty="0"/>
              <a:t>9</a:t>
            </a:r>
            <a:r>
              <a:rPr lang="zh-CN" altLang="en-US" sz="2200" dirty="0"/>
              <a:t>个乘积加起来</a:t>
            </a:r>
            <a:endParaRPr lang="en-US" altLang="zh-CN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9059DC-A188-4FAC-A898-3FD1A7653612}"/>
              </a:ext>
            </a:extLst>
          </p:cNvPr>
          <p:cNvSpPr txBox="1"/>
          <p:nvPr/>
        </p:nvSpPr>
        <p:spPr>
          <a:xfrm>
            <a:off x="5270343" y="4954575"/>
            <a:ext cx="36301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Here a quite large positive number </a:t>
            </a:r>
          </a:p>
          <a:p>
            <a:pPr algn="ctr"/>
            <a:r>
              <a:rPr lang="zh-CN" altLang="en-US" sz="2200" dirty="0"/>
              <a:t>这里和是个很大的正数</a:t>
            </a:r>
            <a:endParaRPr lang="en-US" altLang="zh-CN" sz="2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6CF3BD-EAF4-47CE-8712-FF59941EC97B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CEEA70-3A84-4290-A938-EC647A1258C8}"/>
              </a:ext>
            </a:extLst>
          </p:cNvPr>
          <p:cNvSpPr txBox="1"/>
          <p:nvPr/>
        </p:nvSpPr>
        <p:spPr>
          <a:xfrm>
            <a:off x="5257824" y="2981884"/>
            <a:ext cx="36301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Then plus the bias</a:t>
            </a:r>
          </a:p>
          <a:p>
            <a:pPr algn="ctr"/>
            <a:r>
              <a:rPr lang="zh-CN" altLang="en-US" sz="2200" dirty="0"/>
              <a:t>然后加上偏向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C05A7B-DAEE-4865-B048-0595A2591F21}"/>
                  </a:ext>
                </a:extLst>
              </p:cNvPr>
              <p:cNvSpPr txBox="1"/>
              <p:nvPr/>
            </p:nvSpPr>
            <p:spPr>
              <a:xfrm>
                <a:off x="6157298" y="3793349"/>
                <a:ext cx="1569918" cy="1112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CC05A7B-DAEE-4865-B048-0595A2591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298" y="3793349"/>
                <a:ext cx="1569918" cy="1112292"/>
              </a:xfrm>
              <a:prstGeom prst="rect">
                <a:avLst/>
              </a:prstGeom>
              <a:blipFill>
                <a:blip r:embed="rId7"/>
                <a:stretch>
                  <a:fillRect l="-5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C6D1B9-DAB0-446C-A1B2-126985AFB583}"/>
                  </a:ext>
                </a:extLst>
              </p:cNvPr>
              <p:cNvSpPr txBox="1"/>
              <p:nvPr/>
            </p:nvSpPr>
            <p:spPr>
              <a:xfrm>
                <a:off x="7759873" y="4138356"/>
                <a:ext cx="46972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C6D1B9-DAB0-446C-A1B2-126985AFB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9873" y="4138356"/>
                <a:ext cx="469727" cy="430887"/>
              </a:xfrm>
              <a:prstGeom prst="rect">
                <a:avLst/>
              </a:prstGeom>
              <a:blipFill>
                <a:blip r:embed="rId8"/>
                <a:stretch>
                  <a:fillRect l="-168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563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32" name="Picture 31">
            <a:extLst>
              <a:ext uri="{FF2B5EF4-FFF2-40B4-BE49-F238E27FC236}">
                <a16:creationId xmlns:a16="http://schemas.microsoft.com/office/drawing/2014/main" id="{12F35437-F876-4422-9630-F6161504B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158" y="4194515"/>
            <a:ext cx="914480" cy="9144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image part</a:t>
            </a:r>
          </a:p>
          <a:p>
            <a:pPr algn="ctr"/>
            <a:r>
              <a:rPr lang="zh-CN" altLang="en-US" sz="2200" dirty="0"/>
              <a:t>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709160" y="28803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6CDB78B-DB19-431E-9A9B-B0FBE4910013}"/>
              </a:ext>
            </a:extLst>
          </p:cNvPr>
          <p:cNvSpPr txBox="1"/>
          <p:nvPr/>
        </p:nvSpPr>
        <p:spPr>
          <a:xfrm>
            <a:off x="338454" y="3053864"/>
            <a:ext cx="23550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Multiple each pair of elements accordingly</a:t>
            </a:r>
          </a:p>
          <a:p>
            <a:pPr algn="ctr"/>
            <a:r>
              <a:rPr lang="zh-CN" altLang="en-US" sz="2200" dirty="0"/>
              <a:t>对应元素相乘</a:t>
            </a:r>
            <a:r>
              <a:rPr lang="en-US" altLang="zh-CN" sz="2200" dirty="0"/>
              <a:t> 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6659F9-418F-4AEC-ADC4-B85F591ACF33}"/>
              </a:ext>
            </a:extLst>
          </p:cNvPr>
          <p:cNvCxnSpPr/>
          <p:nvPr/>
        </p:nvCxnSpPr>
        <p:spPr bwMode="auto">
          <a:xfrm>
            <a:off x="44196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89B0C0-AD13-4BE5-AE4F-094C499125D5}"/>
              </a:ext>
            </a:extLst>
          </p:cNvPr>
          <p:cNvCxnSpPr/>
          <p:nvPr/>
        </p:nvCxnSpPr>
        <p:spPr bwMode="auto">
          <a:xfrm>
            <a:off x="41148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F66CFE-120D-4DD1-A339-921B0ABC2668}"/>
              </a:ext>
            </a:extLst>
          </p:cNvPr>
          <p:cNvCxnSpPr/>
          <p:nvPr/>
        </p:nvCxnSpPr>
        <p:spPr bwMode="auto">
          <a:xfrm>
            <a:off x="406146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7258E63-37BF-4E17-96B5-7A56C6AEAE22}"/>
              </a:ext>
            </a:extLst>
          </p:cNvPr>
          <p:cNvCxnSpPr/>
          <p:nvPr/>
        </p:nvCxnSpPr>
        <p:spPr bwMode="auto">
          <a:xfrm>
            <a:off x="438912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DD73D4-CAB2-402A-A3A4-8963A72BA931}"/>
              </a:ext>
            </a:extLst>
          </p:cNvPr>
          <p:cNvCxnSpPr/>
          <p:nvPr/>
        </p:nvCxnSpPr>
        <p:spPr bwMode="auto">
          <a:xfrm>
            <a:off x="467868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5BB6B5-06E6-459F-87E8-110752D76F88}"/>
              </a:ext>
            </a:extLst>
          </p:cNvPr>
          <p:cNvCxnSpPr/>
          <p:nvPr/>
        </p:nvCxnSpPr>
        <p:spPr bwMode="auto">
          <a:xfrm>
            <a:off x="4152900" y="316992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9FA2FC-2ABE-4AA7-8E41-F34995613380}"/>
              </a:ext>
            </a:extLst>
          </p:cNvPr>
          <p:cNvCxnSpPr/>
          <p:nvPr/>
        </p:nvCxnSpPr>
        <p:spPr bwMode="auto">
          <a:xfrm>
            <a:off x="4457700" y="31623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5D401F-044A-40B9-9CFA-1B5C958FF601}"/>
              </a:ext>
            </a:extLst>
          </p:cNvPr>
          <p:cNvCxnSpPr/>
          <p:nvPr/>
        </p:nvCxnSpPr>
        <p:spPr bwMode="auto">
          <a:xfrm>
            <a:off x="4754880" y="31470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9059DC-A188-4FAC-A898-3FD1A7653612}"/>
                  </a:ext>
                </a:extLst>
              </p:cNvPr>
              <p:cNvSpPr txBox="1"/>
              <p:nvPr/>
            </p:nvSpPr>
            <p:spPr>
              <a:xfrm>
                <a:off x="5382219" y="2073000"/>
                <a:ext cx="3630163" cy="277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But if the sum is less than 0, set as 0 (rectified linear unit: </a:t>
                </a:r>
                <a:r>
                  <a:rPr lang="en-US" altLang="zh-CN" sz="2200" dirty="0" err="1"/>
                  <a:t>ReLU</a:t>
                </a:r>
                <a:r>
                  <a:rPr lang="en-US" altLang="zh-CN" sz="2200" dirty="0"/>
                  <a:t>)</a:t>
                </a:r>
              </a:p>
              <a:p>
                <a:pPr algn="ctr"/>
                <a:r>
                  <a:rPr lang="zh-CN" altLang="en-US" sz="2200" dirty="0"/>
                  <a:t>但是如果和比</a:t>
                </a:r>
                <a:r>
                  <a:rPr lang="en-US" altLang="zh-CN" sz="2200" dirty="0"/>
                  <a:t>0</a:t>
                </a:r>
                <a:r>
                  <a:rPr lang="zh-CN" altLang="en-US" sz="2200" dirty="0"/>
                  <a:t>小，则设为</a:t>
                </a:r>
                <a:r>
                  <a:rPr lang="en-US" altLang="zh-CN" sz="2200" dirty="0"/>
                  <a:t>0</a:t>
                </a:r>
                <a:r>
                  <a:rPr lang="zh-CN" altLang="en-US" sz="2200" dirty="0"/>
                  <a:t>（线性整流函数）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⁡(0,</m:t>
                      </m:r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F9059DC-A188-4FAC-A898-3FD1A7653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219" y="2073000"/>
                <a:ext cx="3630163" cy="2775119"/>
              </a:xfrm>
              <a:prstGeom prst="rect">
                <a:avLst/>
              </a:prstGeom>
              <a:blipFill>
                <a:blip r:embed="rId7"/>
                <a:stretch>
                  <a:fillRect l="-2017" t="-1758" r="-40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86CF3BD-EAF4-47CE-8712-FF59941EC97B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FFCBCB-A81D-414B-9AC3-C48C97C8BC73}"/>
              </a:ext>
            </a:extLst>
          </p:cNvPr>
          <p:cNvSpPr txBox="1"/>
          <p:nvPr/>
        </p:nvSpPr>
        <p:spPr>
          <a:xfrm>
            <a:off x="5481180" y="4914900"/>
            <a:ext cx="36301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Here a quite large positive number is output</a:t>
            </a:r>
          </a:p>
          <a:p>
            <a:pPr algn="ctr"/>
            <a:r>
              <a:rPr lang="zh-CN" altLang="en-US" sz="2200" dirty="0"/>
              <a:t>这里输出是一个很大的正数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20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C6CA6-D25A-46CD-BE6C-4A40915F2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00" y="4194000"/>
            <a:ext cx="914480" cy="914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Another image part</a:t>
            </a:r>
          </a:p>
          <a:p>
            <a:pPr algn="ctr"/>
            <a:r>
              <a:rPr lang="zh-CN" altLang="en-US" sz="2200" dirty="0"/>
              <a:t>另一个图像局部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099560" y="262128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3738302" y="3430932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Negative x positive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negative</a:t>
            </a:r>
          </a:p>
          <a:p>
            <a:pPr algn="ctr"/>
            <a:r>
              <a:rPr lang="zh-CN" altLang="en-US" sz="2200" dirty="0"/>
              <a:t>负 </a:t>
            </a:r>
            <a:r>
              <a:rPr lang="en-US" altLang="zh-CN" sz="2200" dirty="0"/>
              <a:t>x</a:t>
            </a:r>
            <a:r>
              <a:rPr lang="zh-CN" altLang="en-US" sz="2200" dirty="0"/>
              <a:t> 正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负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5B184-3E69-4120-849A-36243191DECB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685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C6CA6-D25A-46CD-BE6C-4A40915F2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00" y="4194000"/>
            <a:ext cx="914480" cy="914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Another image part</a:t>
            </a:r>
          </a:p>
          <a:p>
            <a:pPr algn="ctr"/>
            <a:r>
              <a:rPr lang="zh-CN" altLang="en-US" sz="2200" dirty="0"/>
              <a:t>另一个图像局部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419600" y="262128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4058342" y="3430932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Negative x positive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negative</a:t>
            </a:r>
          </a:p>
          <a:p>
            <a:pPr algn="ctr"/>
            <a:r>
              <a:rPr lang="zh-CN" altLang="en-US" sz="2200" dirty="0"/>
              <a:t>负 </a:t>
            </a:r>
            <a:r>
              <a:rPr lang="en-US" altLang="zh-CN" sz="2200" dirty="0"/>
              <a:t>x</a:t>
            </a:r>
            <a:r>
              <a:rPr lang="zh-CN" altLang="en-US" sz="2200" dirty="0"/>
              <a:t> 正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负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F27909-81CA-4A15-93BB-3DFC485A46A1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extLst>
      <p:ext uri="{BB962C8B-B14F-4D97-AF65-F5344CB8AC3E}">
        <p14:creationId xmlns:p14="http://schemas.microsoft.com/office/powerpoint/2010/main" val="2150219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C6CA6-D25A-46CD-BE6C-4A40915F24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00" y="4194000"/>
            <a:ext cx="914480" cy="914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260984765"/>
              </p:ext>
            </p:extLst>
          </p:nvPr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Another image part</a:t>
            </a:r>
          </a:p>
          <a:p>
            <a:pPr algn="ctr"/>
            <a:r>
              <a:rPr lang="zh-CN" altLang="en-US" sz="2200" dirty="0"/>
              <a:t>另一个图像局部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F3F709-E4E0-4ED8-BF04-FA979C34B9B3}"/>
              </a:ext>
            </a:extLst>
          </p:cNvPr>
          <p:cNvCxnSpPr/>
          <p:nvPr/>
        </p:nvCxnSpPr>
        <p:spPr bwMode="auto">
          <a:xfrm>
            <a:off x="4724400" y="319278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6D5BCD6-DABA-4E3E-A6AA-ABC04AC06200}"/>
              </a:ext>
            </a:extLst>
          </p:cNvPr>
          <p:cNvSpPr txBox="1"/>
          <p:nvPr/>
        </p:nvSpPr>
        <p:spPr>
          <a:xfrm>
            <a:off x="4361585" y="3730809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7F1F41-F134-4284-B82B-33808A91157B}"/>
              </a:ext>
            </a:extLst>
          </p:cNvPr>
          <p:cNvSpPr txBox="1"/>
          <p:nvPr/>
        </p:nvSpPr>
        <p:spPr>
          <a:xfrm>
            <a:off x="5377680" y="3114824"/>
            <a:ext cx="28214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Positive x negative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en-US" altLang="zh-CN" sz="2200" dirty="0"/>
              <a:t>negative</a:t>
            </a:r>
          </a:p>
          <a:p>
            <a:pPr algn="ctr"/>
            <a:r>
              <a:rPr lang="zh-CN" altLang="en-US" sz="2200" dirty="0"/>
              <a:t>正 </a:t>
            </a:r>
            <a:r>
              <a:rPr lang="en-US" altLang="zh-CN" sz="2200" dirty="0"/>
              <a:t>x </a:t>
            </a:r>
            <a:r>
              <a:rPr lang="zh-CN" altLang="en-US" sz="2200" dirty="0"/>
              <a:t>负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 </a:t>
            </a:r>
            <a:r>
              <a:rPr lang="zh-CN" altLang="en-US" sz="2200" dirty="0"/>
              <a:t>负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DB906E-29B2-4EA0-A51A-12A8041EC28A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extLst>
      <p:ext uri="{BB962C8B-B14F-4D97-AF65-F5344CB8AC3E}">
        <p14:creationId xmlns:p14="http://schemas.microsoft.com/office/powerpoint/2010/main" val="2793761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0C6CA6-D25A-46CD-BE6C-4A40915F2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00" y="4194000"/>
            <a:ext cx="914480" cy="9144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5BC60E7F-02AE-4A1C-BA11-2E9CEB553DBF}"/>
              </a:ext>
            </a:extLst>
          </p:cNvPr>
          <p:cNvSpPr txBox="1"/>
          <p:nvPr/>
        </p:nvSpPr>
        <p:spPr>
          <a:xfrm>
            <a:off x="2873827" y="5320236"/>
            <a:ext cx="30915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Another image part</a:t>
            </a:r>
          </a:p>
          <a:p>
            <a:pPr algn="ctr"/>
            <a:r>
              <a:rPr lang="zh-CN" altLang="en-US" sz="2200" dirty="0"/>
              <a:t>另一个图像局部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EA9FF1-E064-403A-8C2D-233927BBAAE5}"/>
              </a:ext>
            </a:extLst>
          </p:cNvPr>
          <p:cNvCxnSpPr/>
          <p:nvPr/>
        </p:nvCxnSpPr>
        <p:spPr bwMode="auto">
          <a:xfrm>
            <a:off x="4709160" y="28803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2CAD10A-306C-45C6-9954-F3F109024327}"/>
              </a:ext>
            </a:extLst>
          </p:cNvPr>
          <p:cNvCxnSpPr/>
          <p:nvPr/>
        </p:nvCxnSpPr>
        <p:spPr bwMode="auto">
          <a:xfrm>
            <a:off x="44196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D95D25-855D-47B0-A9CD-23CD8B6882A6}"/>
              </a:ext>
            </a:extLst>
          </p:cNvPr>
          <p:cNvCxnSpPr/>
          <p:nvPr/>
        </p:nvCxnSpPr>
        <p:spPr bwMode="auto">
          <a:xfrm>
            <a:off x="4114800" y="28956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96C7DF-7769-4A13-BE20-4C576E12D62A}"/>
              </a:ext>
            </a:extLst>
          </p:cNvPr>
          <p:cNvCxnSpPr/>
          <p:nvPr/>
        </p:nvCxnSpPr>
        <p:spPr bwMode="auto">
          <a:xfrm>
            <a:off x="406146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819223-37BB-46B2-B714-0180EBD71A90}"/>
              </a:ext>
            </a:extLst>
          </p:cNvPr>
          <p:cNvCxnSpPr/>
          <p:nvPr/>
        </p:nvCxnSpPr>
        <p:spPr bwMode="auto">
          <a:xfrm>
            <a:off x="438912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34D00C-8550-4ED3-81D7-78C876A5B3CC}"/>
              </a:ext>
            </a:extLst>
          </p:cNvPr>
          <p:cNvCxnSpPr/>
          <p:nvPr/>
        </p:nvCxnSpPr>
        <p:spPr bwMode="auto">
          <a:xfrm>
            <a:off x="4678680" y="25755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6E7714-B04B-4581-85A5-554A8A4B18BD}"/>
              </a:ext>
            </a:extLst>
          </p:cNvPr>
          <p:cNvCxnSpPr/>
          <p:nvPr/>
        </p:nvCxnSpPr>
        <p:spPr bwMode="auto">
          <a:xfrm>
            <a:off x="4152900" y="316992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BB402A6-FDA6-485B-BA7D-04CD2152FE57}"/>
              </a:ext>
            </a:extLst>
          </p:cNvPr>
          <p:cNvCxnSpPr/>
          <p:nvPr/>
        </p:nvCxnSpPr>
        <p:spPr bwMode="auto">
          <a:xfrm>
            <a:off x="4457700" y="316230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5E6FBC2-C563-4794-A13B-185150A9028B}"/>
              </a:ext>
            </a:extLst>
          </p:cNvPr>
          <p:cNvCxnSpPr/>
          <p:nvPr/>
        </p:nvCxnSpPr>
        <p:spPr bwMode="auto">
          <a:xfrm>
            <a:off x="4754880" y="3147060"/>
            <a:ext cx="0" cy="1752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20AE13-4F4C-4975-A46A-AB62EB2755D5}"/>
                  </a:ext>
                </a:extLst>
              </p:cNvPr>
              <p:cNvSpPr txBox="1"/>
              <p:nvPr/>
            </p:nvSpPr>
            <p:spPr>
              <a:xfrm>
                <a:off x="5302403" y="2473264"/>
                <a:ext cx="3841597" cy="277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This time the sum of the 9 products &amp; bias is negative</a:t>
                </a:r>
              </a:p>
              <a:p>
                <a:pPr algn="ctr"/>
                <a:r>
                  <a:rPr lang="en-US" altLang="zh-CN" sz="2200" dirty="0" err="1"/>
                  <a:t>ReLU</a:t>
                </a:r>
                <a:r>
                  <a:rPr lang="en-US" altLang="zh-CN" sz="2200" dirty="0"/>
                  <a:t> outputs 0</a:t>
                </a:r>
              </a:p>
              <a:p>
                <a:pPr algn="ctr"/>
                <a:r>
                  <a:rPr lang="zh-CN" altLang="en-US" sz="2200" dirty="0"/>
                  <a:t>这次</a:t>
                </a:r>
                <a:r>
                  <a:rPr lang="en-US" altLang="zh-CN" sz="2200" dirty="0"/>
                  <a:t>9</a:t>
                </a:r>
                <a:r>
                  <a:rPr lang="zh-CN" altLang="en-US" sz="2200" dirty="0"/>
                  <a:t>个乘积之和加上偏向小于</a:t>
                </a:r>
                <a:r>
                  <a:rPr lang="en-US" altLang="zh-CN" sz="2200" dirty="0"/>
                  <a:t>0</a:t>
                </a:r>
                <a:r>
                  <a:rPr lang="zh-CN" altLang="en-US" sz="2200" dirty="0"/>
                  <a:t>，线性整流函数输出</a:t>
                </a:r>
                <a:r>
                  <a:rPr lang="en-US" altLang="zh-CN" sz="2200" dirty="0"/>
                  <a:t>0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0,</m:t>
                      </m:r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E20AE13-4F4C-4975-A46A-AB62EB275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403" y="2473264"/>
                <a:ext cx="3841597" cy="2775119"/>
              </a:xfrm>
              <a:prstGeom prst="rect">
                <a:avLst/>
              </a:prstGeom>
              <a:blipFill>
                <a:blip r:embed="rId7"/>
                <a:stretch>
                  <a:fillRect l="-1587" t="-1758" r="-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A99A6D60-95B8-4B3C-BABA-41E4EA527A17}"/>
              </a:ext>
            </a:extLst>
          </p:cNvPr>
          <p:cNvSpPr txBox="1"/>
          <p:nvPr/>
        </p:nvSpPr>
        <p:spPr>
          <a:xfrm>
            <a:off x="3767695" y="3526970"/>
            <a:ext cx="2926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F344B9-C46D-4DC6-AB77-971BA25B1281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30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8758BB6-820C-42FA-AD0A-7E4EC192C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483" y="3792327"/>
            <a:ext cx="2446232" cy="243861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4118CD-6DEE-4A1E-B08E-56C9C8BAA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949120"/>
              </p:ext>
            </p:extLst>
          </p:nvPr>
        </p:nvGraphicFramePr>
        <p:xfrm>
          <a:off x="3657600" y="37998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10D6111-7889-4B5D-8978-53A577E4923D}"/>
              </a:ext>
            </a:extLst>
          </p:cNvPr>
          <p:cNvSpPr txBox="1"/>
          <p:nvPr/>
        </p:nvSpPr>
        <p:spPr>
          <a:xfrm>
            <a:off x="457200" y="3196474"/>
            <a:ext cx="2177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Good match</a:t>
            </a:r>
          </a:p>
          <a:p>
            <a:pPr algn="ctr"/>
            <a:r>
              <a:rPr lang="zh-CN" altLang="en-US" sz="2200" dirty="0"/>
              <a:t>很好的匹配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D9FEA-DBB8-40DA-82CB-BD4EBC034069}"/>
              </a:ext>
            </a:extLst>
          </p:cNvPr>
          <p:cNvSpPr txBox="1"/>
          <p:nvPr/>
        </p:nvSpPr>
        <p:spPr>
          <a:xfrm>
            <a:off x="457199" y="4020820"/>
            <a:ext cx="2177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Positive output</a:t>
            </a:r>
          </a:p>
          <a:p>
            <a:pPr algn="ctr"/>
            <a:r>
              <a:rPr lang="zh-CN" altLang="en-US" sz="2200" dirty="0"/>
              <a:t>正值输出</a:t>
            </a:r>
            <a:endParaRPr lang="en-US" altLang="zh-CN" sz="2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5A09A7F-F60A-4C63-8515-04ECD416A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55276"/>
              </p:ext>
            </p:extLst>
          </p:nvPr>
        </p:nvGraphicFramePr>
        <p:xfrm>
          <a:off x="4419600" y="44094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BC7C121B-9F41-4882-9ECB-5F019FC2222D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279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15" grpId="0"/>
      <p:bldP spid="15" grpId="1"/>
      <p:bldP spid="15" grpId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1EC29F6-2D2A-4631-9BD4-3C3F6E1A85BC}"/>
              </a:ext>
            </a:extLst>
          </p:cNvPr>
          <p:cNvGraphicFramePr>
            <a:graphicFrameLocks noGrp="1" noChangeAspect="1"/>
          </p:cNvGraphicFramePr>
          <p:nvPr/>
        </p:nvGraphicFramePr>
        <p:xfrm>
          <a:off x="3962399" y="2463724"/>
          <a:ext cx="914400" cy="882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294094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8758BB6-820C-42FA-AD0A-7E4EC192C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483" y="3792327"/>
            <a:ext cx="2446232" cy="2438611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4118CD-6DEE-4A1E-B08E-56C9C8BAA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78196"/>
              </p:ext>
            </p:extLst>
          </p:nvPr>
        </p:nvGraphicFramePr>
        <p:xfrm>
          <a:off x="3962400" y="411480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10D6111-7889-4B5D-8978-53A577E4923D}"/>
              </a:ext>
            </a:extLst>
          </p:cNvPr>
          <p:cNvSpPr txBox="1"/>
          <p:nvPr/>
        </p:nvSpPr>
        <p:spPr>
          <a:xfrm>
            <a:off x="6204854" y="3124200"/>
            <a:ext cx="2177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Bad match</a:t>
            </a:r>
          </a:p>
          <a:p>
            <a:pPr algn="ctr"/>
            <a:r>
              <a:rPr lang="zh-CN" altLang="en-US" sz="2200" dirty="0"/>
              <a:t>不佳的匹配</a:t>
            </a:r>
            <a:endParaRPr lang="en-US" altLang="zh-CN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D9FEA-DBB8-40DA-82CB-BD4EBC034069}"/>
              </a:ext>
            </a:extLst>
          </p:cNvPr>
          <p:cNvSpPr txBox="1"/>
          <p:nvPr/>
        </p:nvSpPr>
        <p:spPr>
          <a:xfrm>
            <a:off x="6235122" y="4033341"/>
            <a:ext cx="21771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 output</a:t>
            </a:r>
          </a:p>
          <a:p>
            <a:pPr algn="ctr"/>
            <a:r>
              <a:rPr lang="zh-CN" altLang="en-US" sz="2200" dirty="0"/>
              <a:t>输出</a:t>
            </a:r>
            <a:r>
              <a:rPr lang="en-US" altLang="zh-CN" sz="2200" dirty="0"/>
              <a:t>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BA80BD-F5CF-41F2-9641-961ACAD54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732533"/>
              </p:ext>
            </p:extLst>
          </p:nvPr>
        </p:nvGraphicFramePr>
        <p:xfrm>
          <a:off x="5016500" y="47269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85D5EF0-005B-47CC-B1B7-8E74EB744173}"/>
              </a:ext>
            </a:extLst>
          </p:cNvPr>
          <p:cNvSpPr txBox="1"/>
          <p:nvPr/>
        </p:nvSpPr>
        <p:spPr>
          <a:xfrm>
            <a:off x="1546898" y="1674403"/>
            <a:ext cx="5715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weights </a:t>
            </a:r>
            <a:r>
              <a:rPr lang="zh-CN" altLang="en-US" sz="2200" dirty="0"/>
              <a:t>权重 </a:t>
            </a:r>
            <a:r>
              <a:rPr lang="en-US" altLang="zh-CN" sz="2200" dirty="0"/>
              <a:t>+ bias </a:t>
            </a:r>
            <a:r>
              <a:rPr lang="zh-CN" altLang="en-US" sz="2200" dirty="0"/>
              <a:t>偏向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772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15" grpId="0"/>
      <p:bldP spid="15" grpId="1"/>
      <p:bldP spid="15" grpId="2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2D Operator  </a:t>
            </a:r>
            <a:r>
              <a:rPr lang="zh-CN" altLang="en-US" dirty="0">
                <a:ea typeface="ＭＳ Ｐゴシック" panose="020B0600070205080204" pitchFamily="34" charset="-128"/>
              </a:rPr>
              <a:t>二维算子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4349CC-D92C-4D24-876A-9BA7D75161A7}"/>
              </a:ext>
            </a:extLst>
          </p:cNvPr>
          <p:cNvSpPr txBox="1"/>
          <p:nvPr/>
        </p:nvSpPr>
        <p:spPr>
          <a:xfrm>
            <a:off x="762000" y="1549114"/>
            <a:ext cx="7619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hope to </a:t>
            </a:r>
            <a:r>
              <a:rPr lang="en-US" altLang="zh-CN" sz="2200" dirty="0">
                <a:solidFill>
                  <a:srgbClr val="FF0000"/>
                </a:solidFill>
              </a:rPr>
              <a:t>learn</a:t>
            </a:r>
            <a:r>
              <a:rPr lang="en-US" altLang="zh-CN" sz="2200" dirty="0"/>
              <a:t> many different operators</a:t>
            </a:r>
          </a:p>
          <a:p>
            <a:pPr algn="ctr"/>
            <a:r>
              <a:rPr lang="zh-CN" altLang="en-US" sz="2200" dirty="0"/>
              <a:t>我们希望能够</a:t>
            </a:r>
            <a:r>
              <a:rPr lang="zh-CN" altLang="en-US" sz="2200" dirty="0">
                <a:solidFill>
                  <a:srgbClr val="FF0000"/>
                </a:solidFill>
              </a:rPr>
              <a:t>学习</a:t>
            </a:r>
            <a:r>
              <a:rPr lang="zh-CN" altLang="en-US" sz="2200" dirty="0"/>
              <a:t>到不同的算子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58BB6-820C-42FA-AD0A-7E4EC192C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483" y="3792327"/>
            <a:ext cx="2446232" cy="243861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678F5FB-0073-4185-86F9-0706B5167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40796"/>
              </p:ext>
            </p:extLst>
          </p:nvPr>
        </p:nvGraphicFramePr>
        <p:xfrm>
          <a:off x="3117980" y="3056313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FEF058E-9323-4558-B0F3-4C345F3F1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166674"/>
              </p:ext>
            </p:extLst>
          </p:nvPr>
        </p:nvGraphicFramePr>
        <p:xfrm>
          <a:off x="4779817" y="30632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9B65BEC-EA34-4DBB-8190-852E1CFD1E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21633"/>
              </p:ext>
            </p:extLst>
          </p:nvPr>
        </p:nvGraphicFramePr>
        <p:xfrm>
          <a:off x="3957785" y="3059546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3F30EFE-35F0-45CC-98E0-A2CAB3B5C0F5}"/>
              </a:ext>
            </a:extLst>
          </p:cNvPr>
          <p:cNvSpPr txBox="1"/>
          <p:nvPr/>
        </p:nvSpPr>
        <p:spPr>
          <a:xfrm>
            <a:off x="762000" y="2240588"/>
            <a:ext cx="7619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corresponds to certain local pattern</a:t>
            </a:r>
          </a:p>
          <a:p>
            <a:pPr algn="ctr"/>
            <a:r>
              <a:rPr lang="zh-CN" altLang="en-US" sz="2200" dirty="0"/>
              <a:t>每一个对应于某种局部模式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329A7-2B03-4F3C-A5D8-B071BDD413B0}"/>
              </a:ext>
            </a:extLst>
          </p:cNvPr>
          <p:cNvSpPr txBox="1"/>
          <p:nvPr/>
        </p:nvSpPr>
        <p:spPr>
          <a:xfrm>
            <a:off x="5154417" y="2862483"/>
            <a:ext cx="990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…</a:t>
            </a:r>
            <a:endParaRPr lang="zh-CN" altLang="en-US" sz="32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F47052A-7543-47D9-BD81-C2E4B2A66856}"/>
              </a:ext>
            </a:extLst>
          </p:cNvPr>
          <p:cNvCxnSpPr>
            <a:cxnSpLocks/>
          </p:cNvCxnSpPr>
          <p:nvPr/>
        </p:nvCxnSpPr>
        <p:spPr bwMode="auto">
          <a:xfrm>
            <a:off x="3346580" y="3271520"/>
            <a:ext cx="544235" cy="78859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253DD6B-1260-4FB3-86AE-1DACB9520B71}"/>
              </a:ext>
            </a:extLst>
          </p:cNvPr>
          <p:cNvCxnSpPr>
            <a:cxnSpLocks/>
          </p:cNvCxnSpPr>
          <p:nvPr/>
        </p:nvCxnSpPr>
        <p:spPr bwMode="auto">
          <a:xfrm>
            <a:off x="4181947" y="3280526"/>
            <a:ext cx="18284" cy="16724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836617-FDA7-47AB-A93A-A92D24C5EDAC}"/>
              </a:ext>
            </a:extLst>
          </p:cNvPr>
          <p:cNvCxnSpPr>
            <a:cxnSpLocks/>
          </p:cNvCxnSpPr>
          <p:nvPr/>
        </p:nvCxnSpPr>
        <p:spPr bwMode="auto">
          <a:xfrm flipH="1">
            <a:off x="4322618" y="3271520"/>
            <a:ext cx="696263" cy="26166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74763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32620"/>
              </p:ext>
            </p:extLst>
          </p:nvPr>
        </p:nvGraphicFramePr>
        <p:xfrm>
          <a:off x="920262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679098"/>
              </p:ext>
            </p:extLst>
          </p:nvPr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148862" y="32080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831767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918309"/>
              </p:ext>
            </p:extLst>
          </p:nvPr>
        </p:nvGraphicFramePr>
        <p:xfrm>
          <a:off x="1069975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298575" y="32080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5543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04063"/>
              </p:ext>
            </p:extLst>
          </p:nvPr>
        </p:nvGraphicFramePr>
        <p:xfrm>
          <a:off x="1219200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447800" y="32080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87691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003767"/>
              </p:ext>
            </p:extLst>
          </p:nvPr>
        </p:nvGraphicFramePr>
        <p:xfrm>
          <a:off x="1377462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606062" y="32080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8290F48-8C46-4298-B7E1-7EF0A3D6EE5B}"/>
              </a:ext>
            </a:extLst>
          </p:cNvPr>
          <p:cNvCxnSpPr>
            <a:cxnSpLocks/>
          </p:cNvCxnSpPr>
          <p:nvPr/>
        </p:nvCxnSpPr>
        <p:spPr bwMode="auto">
          <a:xfrm>
            <a:off x="1122363" y="2743200"/>
            <a:ext cx="207803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6D43888-5036-447B-B64F-DCB97F5DD484}"/>
              </a:ext>
            </a:extLst>
          </p:cNvPr>
          <p:cNvSpPr txBox="1"/>
          <p:nvPr/>
        </p:nvSpPr>
        <p:spPr>
          <a:xfrm>
            <a:off x="528187" y="1600199"/>
            <a:ext cx="32186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Operator moves horizontally </a:t>
            </a:r>
          </a:p>
          <a:p>
            <a:pPr algn="ctr"/>
            <a:r>
              <a:rPr lang="zh-CN" altLang="en-US" sz="2200" dirty="0"/>
              <a:t>算子水平移动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347640"/>
              </p:ext>
            </p:extLst>
          </p:nvPr>
        </p:nvGraphicFramePr>
        <p:xfrm>
          <a:off x="920262" y="31267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148862" y="33477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4736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175012"/>
              </p:ext>
            </p:extLst>
          </p:nvPr>
        </p:nvGraphicFramePr>
        <p:xfrm>
          <a:off x="920262" y="32791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1148862" y="350012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144B52-75B7-47BF-BF40-316E24EBAB81}"/>
              </a:ext>
            </a:extLst>
          </p:cNvPr>
          <p:cNvCxnSpPr>
            <a:cxnSpLocks/>
          </p:cNvCxnSpPr>
          <p:nvPr/>
        </p:nvCxnSpPr>
        <p:spPr bwMode="auto">
          <a:xfrm>
            <a:off x="685800" y="2971800"/>
            <a:ext cx="0" cy="24293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46912D-2770-407B-B73A-599451C52B9B}"/>
              </a:ext>
            </a:extLst>
          </p:cNvPr>
          <p:cNvSpPr txBox="1"/>
          <p:nvPr/>
        </p:nvSpPr>
        <p:spPr>
          <a:xfrm>
            <a:off x="0" y="1711562"/>
            <a:ext cx="321865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Operator moves vertically </a:t>
            </a:r>
          </a:p>
          <a:p>
            <a:pPr algn="ctr"/>
            <a:r>
              <a:rPr lang="zh-CN" altLang="en-US" sz="2200" dirty="0"/>
              <a:t>算子纵向移动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35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22639"/>
              </p:ext>
            </p:extLst>
          </p:nvPr>
        </p:nvGraphicFramePr>
        <p:xfrm>
          <a:off x="2139462" y="358140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75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40000"/>
                        <a:lumOff val="60000"/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accent1">
                        <a:alpha val="42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75000"/>
                        <a:alpha val="42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/>
          <p:nvPr/>
        </p:nvCxnSpPr>
        <p:spPr bwMode="auto">
          <a:xfrm>
            <a:off x="2368062" y="3802380"/>
            <a:ext cx="395653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46912D-2770-407B-B73A-599451C52B9B}"/>
              </a:ext>
            </a:extLst>
          </p:cNvPr>
          <p:cNvSpPr txBox="1"/>
          <p:nvPr/>
        </p:nvSpPr>
        <p:spPr>
          <a:xfrm>
            <a:off x="617432" y="1615465"/>
            <a:ext cx="2743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Operator scans over the 2D array </a:t>
            </a:r>
          </a:p>
          <a:p>
            <a:pPr algn="ctr"/>
            <a:r>
              <a:rPr lang="zh-CN" altLang="en-US" sz="2200" dirty="0"/>
              <a:t>算子扫过两维数组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8BC373-E101-44EB-8D56-428B4F00AF22}"/>
              </a:ext>
            </a:extLst>
          </p:cNvPr>
          <p:cNvSpPr txBox="1"/>
          <p:nvPr/>
        </p:nvSpPr>
        <p:spPr>
          <a:xfrm>
            <a:off x="4572000" y="1640352"/>
            <a:ext cx="2743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This is called convolution </a:t>
            </a:r>
          </a:p>
          <a:p>
            <a:pPr algn="ctr"/>
            <a:r>
              <a:rPr lang="zh-CN" altLang="en-US" sz="2200" dirty="0"/>
              <a:t>这叫做卷积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AB8F9F-2664-492A-92AD-BA794134D6F1}"/>
              </a:ext>
            </a:extLst>
          </p:cNvPr>
          <p:cNvSpPr txBox="1"/>
          <p:nvPr/>
        </p:nvSpPr>
        <p:spPr>
          <a:xfrm>
            <a:off x="2895599" y="5567035"/>
            <a:ext cx="6248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Spatial ‘strength’ of the local pattern</a:t>
            </a:r>
          </a:p>
          <a:p>
            <a:pPr algn="ctr"/>
            <a:r>
              <a:rPr lang="zh-CN" altLang="en-US" sz="2200" dirty="0"/>
              <a:t>局部模式在不同位置的“强度”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74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14253"/>
              </p:ext>
            </p:extLst>
          </p:nvPr>
        </p:nvGraphicFramePr>
        <p:xfrm>
          <a:off x="914400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455051"/>
              </p:ext>
            </p:extLst>
          </p:nvPr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22363" y="3131928"/>
            <a:ext cx="3858418" cy="760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52D5B0-CB95-4E1B-9E24-4C611ED975A7}"/>
              </a:ext>
            </a:extLst>
          </p:cNvPr>
          <p:cNvSpPr txBox="1"/>
          <p:nvPr/>
        </p:nvSpPr>
        <p:spPr>
          <a:xfrm>
            <a:off x="304800" y="2060503"/>
            <a:ext cx="321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</a:t>
            </a:r>
            <a:r>
              <a:rPr lang="en-US" altLang="zh-CN" sz="2200" baseline="30000" dirty="0"/>
              <a:t>nd</a:t>
            </a:r>
            <a:r>
              <a:rPr lang="en-US" altLang="zh-CN" sz="2200" dirty="0"/>
              <a:t> operator</a:t>
            </a:r>
          </a:p>
          <a:p>
            <a:pPr algn="ctr"/>
            <a:r>
              <a:rPr lang="zh-CN" altLang="en-US" sz="2200" dirty="0"/>
              <a:t>第二个算子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17614"/>
              </p:ext>
            </p:extLst>
          </p:nvPr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9382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266183"/>
              </p:ext>
            </p:extLst>
          </p:nvPr>
        </p:nvGraphicFramePr>
        <p:xfrm>
          <a:off x="1060789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68752" y="3131928"/>
            <a:ext cx="3858418" cy="760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4161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564304"/>
              </p:ext>
            </p:extLst>
          </p:nvPr>
        </p:nvGraphicFramePr>
        <p:xfrm>
          <a:off x="1224077" y="2987040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432040" y="3131928"/>
            <a:ext cx="3858418" cy="760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1529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40836"/>
              </p:ext>
            </p:extLst>
          </p:nvPr>
        </p:nvGraphicFramePr>
        <p:xfrm>
          <a:off x="4785519" y="2951372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57132"/>
              </p:ext>
            </p:extLst>
          </p:nvPr>
        </p:nvGraphicFramePr>
        <p:xfrm>
          <a:off x="914400" y="2980113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228183"/>
              </p:ext>
            </p:extLst>
          </p:nvPr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122363" y="3016027"/>
            <a:ext cx="3760787" cy="1850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052D5B0-CB95-4E1B-9E24-4C611ED975A7}"/>
              </a:ext>
            </a:extLst>
          </p:cNvPr>
          <p:cNvSpPr txBox="1"/>
          <p:nvPr/>
        </p:nvSpPr>
        <p:spPr>
          <a:xfrm>
            <a:off x="304800" y="2060503"/>
            <a:ext cx="32186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</a:t>
            </a:r>
            <a:r>
              <a:rPr lang="en-US" altLang="zh-CN" sz="2200" baseline="30000" dirty="0"/>
              <a:t>rd</a:t>
            </a:r>
            <a:r>
              <a:rPr lang="en-US" altLang="zh-CN" sz="2200" dirty="0"/>
              <a:t> operator</a:t>
            </a:r>
          </a:p>
          <a:p>
            <a:pPr algn="ctr"/>
            <a:r>
              <a:rPr lang="zh-CN" altLang="en-US" sz="2200" dirty="0"/>
              <a:t>第三个算子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954841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/>
        </p:nvGraphicFramePr>
        <p:xfrm>
          <a:off x="4785519" y="2951372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79741"/>
              </p:ext>
            </p:extLst>
          </p:nvPr>
        </p:nvGraphicFramePr>
        <p:xfrm>
          <a:off x="1066794" y="2980113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74757" y="3016027"/>
            <a:ext cx="3760787" cy="1850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9918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/>
        </p:nvGraphicFramePr>
        <p:xfrm>
          <a:off x="4785519" y="2951372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0D76B-2C40-49AC-B8AA-60DADF24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656302"/>
              </p:ext>
            </p:extLst>
          </p:nvPr>
        </p:nvGraphicFramePr>
        <p:xfrm>
          <a:off x="1212266" y="2980113"/>
          <a:ext cx="457200" cy="441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47320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3DF8B5-912B-40FD-AF1A-7EA13B100D61}"/>
              </a:ext>
            </a:extLst>
          </p:cNvPr>
          <p:cNvCxnSpPr>
            <a:cxnSpLocks/>
          </p:cNvCxnSpPr>
          <p:nvPr/>
        </p:nvCxnSpPr>
        <p:spPr bwMode="auto">
          <a:xfrm flipV="1">
            <a:off x="1420229" y="3016027"/>
            <a:ext cx="3760787" cy="1850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3793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91268E-F43B-41C4-B4D5-848EDA6D7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911927"/>
              </p:ext>
            </p:extLst>
          </p:nvPr>
        </p:nvGraphicFramePr>
        <p:xfrm>
          <a:off x="3956450" y="228600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39817"/>
              </p:ext>
            </p:extLst>
          </p:nvPr>
        </p:nvGraphicFramePr>
        <p:xfrm>
          <a:off x="4785519" y="2951372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Convolution  </a:t>
            </a:r>
            <a:r>
              <a:rPr lang="zh-CN" altLang="en-US" dirty="0">
                <a:ea typeface="ＭＳ Ｐゴシック" panose="020B0600070205080204" pitchFamily="34" charset="-128"/>
              </a:rPr>
              <a:t>卷积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C7071-2B74-4BAA-AF48-07D9AD22F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971800"/>
            <a:ext cx="2446232" cy="243861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978F47-9620-47E1-82FC-86E8D9E23198}"/>
              </a:ext>
            </a:extLst>
          </p:cNvPr>
          <p:cNvSpPr txBox="1"/>
          <p:nvPr/>
        </p:nvSpPr>
        <p:spPr>
          <a:xfrm>
            <a:off x="1514475" y="54864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4883150" y="3041650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5474293" y="5316072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4980781" y="3131928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44F80C-0299-4585-AB99-7FA6A74BE807}"/>
              </a:ext>
            </a:extLst>
          </p:cNvPr>
          <p:cNvSpPr txBox="1"/>
          <p:nvPr/>
        </p:nvSpPr>
        <p:spPr>
          <a:xfrm rot="2481968">
            <a:off x="6208975" y="2362385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24306-8B03-4514-8E09-8D78436440D8}"/>
              </a:ext>
            </a:extLst>
          </p:cNvPr>
          <p:cNvSpPr txBox="1"/>
          <p:nvPr/>
        </p:nvSpPr>
        <p:spPr>
          <a:xfrm rot="2481968">
            <a:off x="4326535" y="4329630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9DD51-3045-4359-BD2E-6EB798E0EDA7}"/>
              </a:ext>
            </a:extLst>
          </p:cNvPr>
          <p:cNvSpPr txBox="1"/>
          <p:nvPr/>
        </p:nvSpPr>
        <p:spPr>
          <a:xfrm>
            <a:off x="2731093" y="1483557"/>
            <a:ext cx="62484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‘Strengths’ of different local patterns</a:t>
            </a:r>
          </a:p>
          <a:p>
            <a:pPr algn="ctr"/>
            <a:r>
              <a:rPr lang="zh-CN" altLang="en-US" sz="2200" dirty="0"/>
              <a:t>不同局部模式的“强度”</a:t>
            </a:r>
          </a:p>
        </p:txBody>
      </p:sp>
    </p:spTree>
    <p:extLst>
      <p:ext uri="{BB962C8B-B14F-4D97-AF65-F5344CB8AC3E}">
        <p14:creationId xmlns:p14="http://schemas.microsoft.com/office/powerpoint/2010/main" val="542757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91268E-F43B-41C4-B4D5-848EDA6D7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705203"/>
              </p:ext>
            </p:extLst>
          </p:nvPr>
        </p:nvGraphicFramePr>
        <p:xfrm>
          <a:off x="798519" y="263504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19731"/>
              </p:ext>
            </p:extLst>
          </p:nvPr>
        </p:nvGraphicFramePr>
        <p:xfrm>
          <a:off x="1627588" y="3300413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Tensor Operator  </a:t>
            </a:r>
            <a:r>
              <a:rPr lang="zh-CN" altLang="en-US" dirty="0">
                <a:ea typeface="ＭＳ Ｐゴシック" panose="020B0600070205080204" pitchFamily="34" charset="-128"/>
              </a:rPr>
              <a:t>张量算子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8195"/>
              </p:ext>
            </p:extLst>
          </p:nvPr>
        </p:nvGraphicFramePr>
        <p:xfrm>
          <a:off x="1725219" y="339069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2316362" y="56651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439439"/>
              </p:ext>
            </p:extLst>
          </p:nvPr>
        </p:nvGraphicFramePr>
        <p:xfrm>
          <a:off x="1822850" y="3480969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44F80C-0299-4585-AB99-7FA6A74BE807}"/>
              </a:ext>
            </a:extLst>
          </p:cNvPr>
          <p:cNvSpPr txBox="1"/>
          <p:nvPr/>
        </p:nvSpPr>
        <p:spPr>
          <a:xfrm rot="2481968">
            <a:off x="3051044" y="2711426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24306-8B03-4514-8E09-8D78436440D8}"/>
              </a:ext>
            </a:extLst>
          </p:cNvPr>
          <p:cNvSpPr txBox="1"/>
          <p:nvPr/>
        </p:nvSpPr>
        <p:spPr>
          <a:xfrm rot="2481968">
            <a:off x="1168604" y="4678671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44D36B-65CC-4BA4-B104-573434F55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196108"/>
              </p:ext>
            </p:extLst>
          </p:nvPr>
        </p:nvGraphicFramePr>
        <p:xfrm>
          <a:off x="4175033" y="2137210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4AB42C-F907-470D-A37E-39D8C0058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25487"/>
              </p:ext>
            </p:extLst>
          </p:nvPr>
        </p:nvGraphicFramePr>
        <p:xfrm>
          <a:off x="4707304" y="2751229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74A69D4-8AC2-4BC4-AFF5-D1CF451AF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35572"/>
              </p:ext>
            </p:extLst>
          </p:nvPr>
        </p:nvGraphicFramePr>
        <p:xfrm>
          <a:off x="4778829" y="2820448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726B9DC-B303-404C-B9E7-371793AA0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238551"/>
              </p:ext>
            </p:extLst>
          </p:nvPr>
        </p:nvGraphicFramePr>
        <p:xfrm>
          <a:off x="4839336" y="2898867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9A4CFEE-D3F5-49FF-B2C8-53425F1F94BE}"/>
              </a:ext>
            </a:extLst>
          </p:cNvPr>
          <p:cNvSpPr txBox="1"/>
          <p:nvPr/>
        </p:nvSpPr>
        <p:spPr>
          <a:xfrm rot="2481968">
            <a:off x="4793340" y="2205903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6E26FD-B4C5-4F10-A608-95A1F3CF5C76}"/>
              </a:ext>
            </a:extLst>
          </p:cNvPr>
          <p:cNvSpPr txBox="1"/>
          <p:nvPr/>
        </p:nvSpPr>
        <p:spPr>
          <a:xfrm rot="2481968">
            <a:off x="4345427" y="2577624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3233057" y="1501485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3x3xk weights </a:t>
            </a:r>
            <a:r>
              <a:rPr lang="zh-CN" altLang="en-US" sz="2200" dirty="0"/>
              <a:t>权重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398292"/>
              </p:ext>
            </p:extLst>
          </p:nvPr>
        </p:nvGraphicFramePr>
        <p:xfrm>
          <a:off x="6672791" y="3648149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7041187" y="561575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20063C-72BB-443C-8E0A-29FDCF5ED7C4}"/>
              </a:ext>
            </a:extLst>
          </p:cNvPr>
          <p:cNvCxnSpPr>
            <a:cxnSpLocks/>
          </p:cNvCxnSpPr>
          <p:nvPr/>
        </p:nvCxnSpPr>
        <p:spPr bwMode="auto">
          <a:xfrm>
            <a:off x="2072485" y="3723751"/>
            <a:ext cx="47093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84B7FC-F10A-4E31-B1CD-976381A48FD1}"/>
              </a:ext>
            </a:extLst>
          </p:cNvPr>
          <p:cNvCxnSpPr>
            <a:cxnSpLocks/>
          </p:cNvCxnSpPr>
          <p:nvPr/>
        </p:nvCxnSpPr>
        <p:spPr bwMode="auto">
          <a:xfrm flipH="1">
            <a:off x="838200" y="2196471"/>
            <a:ext cx="3429000" cy="5193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A481C1-0FE7-4DD5-B95A-12FC648080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133600" y="3266037"/>
            <a:ext cx="3103704" cy="6083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13BBECB-289D-49F3-98EF-A25A971BC4FA}"/>
              </a:ext>
            </a:extLst>
          </p:cNvPr>
          <p:cNvSpPr txBox="1"/>
          <p:nvPr/>
        </p:nvSpPr>
        <p:spPr>
          <a:xfrm>
            <a:off x="1392297" y="1984869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  <a:endParaRPr lang="zh-CN" altLang="en-US" sz="2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DEC2B-435E-4532-966A-8A3909EBC91F}"/>
              </a:ext>
            </a:extLst>
          </p:cNvPr>
          <p:cNvSpPr txBox="1"/>
          <p:nvPr/>
        </p:nvSpPr>
        <p:spPr>
          <a:xfrm rot="2481968">
            <a:off x="3558103" y="2534437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A2D821-F779-4A0E-B00E-7CF5FCBE529D}"/>
              </a:ext>
            </a:extLst>
          </p:cNvPr>
          <p:cNvSpPr txBox="1"/>
          <p:nvPr/>
        </p:nvSpPr>
        <p:spPr>
          <a:xfrm>
            <a:off x="5621171" y="1840151"/>
            <a:ext cx="342077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Multiply accordingly, sum the products, activate through </a:t>
            </a:r>
            <a:r>
              <a:rPr lang="en-US" altLang="zh-CN" sz="2200" dirty="0" err="1"/>
              <a:t>ReLU</a:t>
            </a:r>
            <a:endParaRPr lang="en-US" altLang="zh-CN" sz="2200" dirty="0"/>
          </a:p>
          <a:p>
            <a:pPr algn="ctr"/>
            <a:r>
              <a:rPr lang="zh-CN" altLang="en-US" sz="2200" dirty="0"/>
              <a:t>对应位置相乘，把积加起来，进行线性整流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7FBBDB-AFE5-48CC-A8C4-CF54B9C3004C}"/>
              </a:ext>
            </a:extLst>
          </p:cNvPr>
          <p:cNvCxnSpPr>
            <a:cxnSpLocks/>
          </p:cNvCxnSpPr>
          <p:nvPr/>
        </p:nvCxnSpPr>
        <p:spPr bwMode="auto">
          <a:xfrm flipH="1">
            <a:off x="1829807" y="2961855"/>
            <a:ext cx="3103704" cy="6083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EE96EF-AE87-427F-A949-A9A22FE84A34}"/>
              </a:ext>
            </a:extLst>
          </p:cNvPr>
          <p:cNvCxnSpPr>
            <a:cxnSpLocks/>
          </p:cNvCxnSpPr>
          <p:nvPr/>
        </p:nvCxnSpPr>
        <p:spPr bwMode="auto">
          <a:xfrm flipH="1">
            <a:off x="2153167" y="2976582"/>
            <a:ext cx="3103704" cy="6083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2339A40-268E-4090-95D9-5374432E90B9}"/>
              </a:ext>
            </a:extLst>
          </p:cNvPr>
          <p:cNvCxnSpPr>
            <a:cxnSpLocks/>
          </p:cNvCxnSpPr>
          <p:nvPr/>
        </p:nvCxnSpPr>
        <p:spPr bwMode="auto">
          <a:xfrm flipH="1">
            <a:off x="1844196" y="3250345"/>
            <a:ext cx="3103704" cy="6083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E813A9-0EBC-4291-95D5-87825325C75F}"/>
              </a:ext>
            </a:extLst>
          </p:cNvPr>
          <p:cNvSpPr txBox="1"/>
          <p:nvPr/>
        </p:nvSpPr>
        <p:spPr>
          <a:xfrm>
            <a:off x="4050185" y="3981498"/>
            <a:ext cx="25501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Extract high level patterns from local pattern strength map</a:t>
            </a:r>
          </a:p>
          <a:p>
            <a:pPr algn="ctr"/>
            <a:r>
              <a:rPr lang="zh-CN" altLang="en-US" sz="2200" dirty="0"/>
              <a:t>从局部模式强度图中抽取高层次模式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31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" grpId="0"/>
      <p:bldP spid="14" grpId="0"/>
      <p:bldP spid="21" grpId="0"/>
      <p:bldP spid="24" grpId="0"/>
      <p:bldP spid="25" grpId="0"/>
      <p:bldP spid="27" grpId="0"/>
      <p:bldP spid="38" grpId="0"/>
      <p:bldP spid="39" grpId="0"/>
      <p:bldP spid="40" grpId="0"/>
      <p:bldP spid="4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91268E-F43B-41C4-B4D5-848EDA6D7765}"/>
              </a:ext>
            </a:extLst>
          </p:cNvPr>
          <p:cNvGraphicFramePr>
            <a:graphicFrameLocks noGrp="1"/>
          </p:cNvGraphicFramePr>
          <p:nvPr/>
        </p:nvGraphicFramePr>
        <p:xfrm>
          <a:off x="798519" y="263504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/>
        </p:nvGraphicFramePr>
        <p:xfrm>
          <a:off x="1627588" y="3300413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Tensor Operator  </a:t>
            </a:r>
            <a:r>
              <a:rPr lang="zh-CN" altLang="en-US" dirty="0">
                <a:ea typeface="ＭＳ Ｐゴシック" panose="020B0600070205080204" pitchFamily="34" charset="-128"/>
              </a:rPr>
              <a:t>张量算子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1725219" y="339069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2316362" y="56651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1822850" y="3480969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44F80C-0299-4585-AB99-7FA6A74BE807}"/>
              </a:ext>
            </a:extLst>
          </p:cNvPr>
          <p:cNvSpPr txBox="1"/>
          <p:nvPr/>
        </p:nvSpPr>
        <p:spPr>
          <a:xfrm rot="2481968">
            <a:off x="3051044" y="2711426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24306-8B03-4514-8E09-8D78436440D8}"/>
              </a:ext>
            </a:extLst>
          </p:cNvPr>
          <p:cNvSpPr txBox="1"/>
          <p:nvPr/>
        </p:nvSpPr>
        <p:spPr>
          <a:xfrm rot="2481968">
            <a:off x="1168604" y="4678671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44D36B-65CC-4BA4-B104-573434F55E50}"/>
              </a:ext>
            </a:extLst>
          </p:cNvPr>
          <p:cNvGraphicFramePr>
            <a:graphicFrameLocks noGrp="1"/>
          </p:cNvGraphicFramePr>
          <p:nvPr/>
        </p:nvGraphicFramePr>
        <p:xfrm>
          <a:off x="4175033" y="2137210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4AB42C-F907-470D-A37E-39D8C005857F}"/>
              </a:ext>
            </a:extLst>
          </p:cNvPr>
          <p:cNvGraphicFramePr>
            <a:graphicFrameLocks noGrp="1"/>
          </p:cNvGraphicFramePr>
          <p:nvPr/>
        </p:nvGraphicFramePr>
        <p:xfrm>
          <a:off x="4707304" y="2751229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74A69D4-8AC2-4BC4-AFF5-D1CF451AFE13}"/>
              </a:ext>
            </a:extLst>
          </p:cNvPr>
          <p:cNvGraphicFramePr>
            <a:graphicFrameLocks noGrp="1"/>
          </p:cNvGraphicFramePr>
          <p:nvPr/>
        </p:nvGraphicFramePr>
        <p:xfrm>
          <a:off x="4778829" y="2820448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726B9DC-B303-404C-B9E7-371793AA0B65}"/>
              </a:ext>
            </a:extLst>
          </p:cNvPr>
          <p:cNvGraphicFramePr>
            <a:graphicFrameLocks noGrp="1"/>
          </p:cNvGraphicFramePr>
          <p:nvPr/>
        </p:nvGraphicFramePr>
        <p:xfrm>
          <a:off x="4839336" y="2898867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9A4CFEE-D3F5-49FF-B2C8-53425F1F94BE}"/>
              </a:ext>
            </a:extLst>
          </p:cNvPr>
          <p:cNvSpPr txBox="1"/>
          <p:nvPr/>
        </p:nvSpPr>
        <p:spPr>
          <a:xfrm rot="2481968">
            <a:off x="4793340" y="2205903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6E26FD-B4C5-4F10-A608-95A1F3CF5C76}"/>
              </a:ext>
            </a:extLst>
          </p:cNvPr>
          <p:cNvSpPr txBox="1"/>
          <p:nvPr/>
        </p:nvSpPr>
        <p:spPr>
          <a:xfrm rot="2481968">
            <a:off x="4345427" y="2577624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3233057" y="1501485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3x3xk weights </a:t>
            </a:r>
            <a:r>
              <a:rPr lang="zh-CN" altLang="en-US" sz="2200" dirty="0"/>
              <a:t>权重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/>
        </p:nvGraphicFramePr>
        <p:xfrm>
          <a:off x="6672791" y="3648149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7041187" y="561575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20063C-72BB-443C-8E0A-29FDCF5ED7C4}"/>
              </a:ext>
            </a:extLst>
          </p:cNvPr>
          <p:cNvCxnSpPr>
            <a:cxnSpLocks/>
          </p:cNvCxnSpPr>
          <p:nvPr/>
        </p:nvCxnSpPr>
        <p:spPr bwMode="auto">
          <a:xfrm>
            <a:off x="2217342" y="3733800"/>
            <a:ext cx="47093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84B7FC-F10A-4E31-B1CD-976381A48FD1}"/>
              </a:ext>
            </a:extLst>
          </p:cNvPr>
          <p:cNvCxnSpPr>
            <a:cxnSpLocks/>
          </p:cNvCxnSpPr>
          <p:nvPr/>
        </p:nvCxnSpPr>
        <p:spPr bwMode="auto">
          <a:xfrm flipH="1">
            <a:off x="1001572" y="2204078"/>
            <a:ext cx="3230880" cy="5162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A481C1-0FE7-4DD5-B95A-12FC648080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331720" y="3266037"/>
            <a:ext cx="2905584" cy="620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13BBECB-289D-49F3-98EF-A25A971BC4FA}"/>
              </a:ext>
            </a:extLst>
          </p:cNvPr>
          <p:cNvSpPr txBox="1"/>
          <p:nvPr/>
        </p:nvSpPr>
        <p:spPr>
          <a:xfrm>
            <a:off x="1392297" y="1984869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  <a:endParaRPr lang="zh-CN" altLang="en-US" sz="2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DEC2B-435E-4532-966A-8A3909EBC91F}"/>
              </a:ext>
            </a:extLst>
          </p:cNvPr>
          <p:cNvSpPr txBox="1"/>
          <p:nvPr/>
        </p:nvSpPr>
        <p:spPr>
          <a:xfrm rot="2481968">
            <a:off x="3558103" y="2534437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5FBBC8-28B0-4ECC-869C-6997FAE00FC6}"/>
              </a:ext>
            </a:extLst>
          </p:cNvPr>
          <p:cNvCxnSpPr>
            <a:cxnSpLocks/>
          </p:cNvCxnSpPr>
          <p:nvPr/>
        </p:nvCxnSpPr>
        <p:spPr bwMode="auto">
          <a:xfrm flipH="1">
            <a:off x="2030957" y="2943236"/>
            <a:ext cx="2905584" cy="620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D6B711-44C1-414D-8B81-BCFCB3C1AD3B}"/>
              </a:ext>
            </a:extLst>
          </p:cNvPr>
          <p:cNvCxnSpPr>
            <a:cxnSpLocks/>
          </p:cNvCxnSpPr>
          <p:nvPr/>
        </p:nvCxnSpPr>
        <p:spPr bwMode="auto">
          <a:xfrm flipH="1">
            <a:off x="2331720" y="2952358"/>
            <a:ext cx="2905584" cy="620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7C9A17-3541-4467-B049-29D76990D6D4}"/>
              </a:ext>
            </a:extLst>
          </p:cNvPr>
          <p:cNvCxnSpPr>
            <a:cxnSpLocks/>
          </p:cNvCxnSpPr>
          <p:nvPr/>
        </p:nvCxnSpPr>
        <p:spPr bwMode="auto">
          <a:xfrm flipH="1">
            <a:off x="2039036" y="3246630"/>
            <a:ext cx="2905584" cy="620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83629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91268E-F43B-41C4-B4D5-848EDA6D7765}"/>
              </a:ext>
            </a:extLst>
          </p:cNvPr>
          <p:cNvGraphicFramePr>
            <a:graphicFrameLocks noGrp="1"/>
          </p:cNvGraphicFramePr>
          <p:nvPr/>
        </p:nvGraphicFramePr>
        <p:xfrm>
          <a:off x="798519" y="263504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/>
        </p:nvGraphicFramePr>
        <p:xfrm>
          <a:off x="1627588" y="3300413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Tensor Operator  </a:t>
            </a:r>
            <a:r>
              <a:rPr lang="zh-CN" altLang="en-US" dirty="0">
                <a:ea typeface="ＭＳ Ｐゴシック" panose="020B0600070205080204" pitchFamily="34" charset="-128"/>
              </a:rPr>
              <a:t>张量算子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1725219" y="339069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2316362" y="56651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902680"/>
              </p:ext>
            </p:extLst>
          </p:nvPr>
        </p:nvGraphicFramePr>
        <p:xfrm>
          <a:off x="1822850" y="3480969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44F80C-0299-4585-AB99-7FA6A74BE807}"/>
              </a:ext>
            </a:extLst>
          </p:cNvPr>
          <p:cNvSpPr txBox="1"/>
          <p:nvPr/>
        </p:nvSpPr>
        <p:spPr>
          <a:xfrm rot="2481968">
            <a:off x="3051044" y="2711426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24306-8B03-4514-8E09-8D78436440D8}"/>
              </a:ext>
            </a:extLst>
          </p:cNvPr>
          <p:cNvSpPr txBox="1"/>
          <p:nvPr/>
        </p:nvSpPr>
        <p:spPr>
          <a:xfrm rot="2481968">
            <a:off x="1168604" y="4678671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644D36B-65CC-4BA4-B104-573434F55E50}"/>
              </a:ext>
            </a:extLst>
          </p:cNvPr>
          <p:cNvGraphicFramePr>
            <a:graphicFrameLocks noGrp="1"/>
          </p:cNvGraphicFramePr>
          <p:nvPr/>
        </p:nvGraphicFramePr>
        <p:xfrm>
          <a:off x="4175033" y="2137210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84AB42C-F907-470D-A37E-39D8C005857F}"/>
              </a:ext>
            </a:extLst>
          </p:cNvPr>
          <p:cNvGraphicFramePr>
            <a:graphicFrameLocks noGrp="1"/>
          </p:cNvGraphicFramePr>
          <p:nvPr/>
        </p:nvGraphicFramePr>
        <p:xfrm>
          <a:off x="4707304" y="2751229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74A69D4-8AC2-4BC4-AFF5-D1CF451AFE13}"/>
              </a:ext>
            </a:extLst>
          </p:cNvPr>
          <p:cNvGraphicFramePr>
            <a:graphicFrameLocks noGrp="1"/>
          </p:cNvGraphicFramePr>
          <p:nvPr/>
        </p:nvGraphicFramePr>
        <p:xfrm>
          <a:off x="4778829" y="2820448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726B9DC-B303-404C-B9E7-371793AA0B65}"/>
              </a:ext>
            </a:extLst>
          </p:cNvPr>
          <p:cNvGraphicFramePr>
            <a:graphicFrameLocks noGrp="1"/>
          </p:cNvGraphicFramePr>
          <p:nvPr/>
        </p:nvGraphicFramePr>
        <p:xfrm>
          <a:off x="4839336" y="2898867"/>
          <a:ext cx="458475" cy="4539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9A4CFEE-D3F5-49FF-B2C8-53425F1F94BE}"/>
              </a:ext>
            </a:extLst>
          </p:cNvPr>
          <p:cNvSpPr txBox="1"/>
          <p:nvPr/>
        </p:nvSpPr>
        <p:spPr>
          <a:xfrm rot="2481968">
            <a:off x="4793340" y="2205903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6E26FD-B4C5-4F10-A608-95A1F3CF5C76}"/>
              </a:ext>
            </a:extLst>
          </p:cNvPr>
          <p:cNvSpPr txBox="1"/>
          <p:nvPr/>
        </p:nvSpPr>
        <p:spPr>
          <a:xfrm rot="2481968">
            <a:off x="4345427" y="2577624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3233057" y="1501485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3x3xk weights </a:t>
            </a:r>
            <a:r>
              <a:rPr lang="zh-CN" altLang="en-US" sz="2200" dirty="0"/>
              <a:t>权重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/>
        </p:nvGraphicFramePr>
        <p:xfrm>
          <a:off x="6672791" y="3648149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7041187" y="561575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20063C-72BB-443C-8E0A-29FDCF5ED7C4}"/>
              </a:ext>
            </a:extLst>
          </p:cNvPr>
          <p:cNvCxnSpPr>
            <a:cxnSpLocks/>
          </p:cNvCxnSpPr>
          <p:nvPr/>
        </p:nvCxnSpPr>
        <p:spPr bwMode="auto">
          <a:xfrm>
            <a:off x="2357782" y="4038600"/>
            <a:ext cx="470931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584B7FC-F10A-4E31-B1CD-976381A48FD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43000" y="2204078"/>
            <a:ext cx="3089452" cy="8210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7A481C1-0FE7-4DD5-B95A-12FC6480809D}"/>
              </a:ext>
            </a:extLst>
          </p:cNvPr>
          <p:cNvCxnSpPr>
            <a:cxnSpLocks/>
          </p:cNvCxnSpPr>
          <p:nvPr/>
        </p:nvCxnSpPr>
        <p:spPr bwMode="auto">
          <a:xfrm flipH="1">
            <a:off x="2471210" y="3266037"/>
            <a:ext cx="2766094" cy="9249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13BBECB-289D-49F3-98EF-A25A971BC4FA}"/>
              </a:ext>
            </a:extLst>
          </p:cNvPr>
          <p:cNvSpPr txBox="1"/>
          <p:nvPr/>
        </p:nvSpPr>
        <p:spPr>
          <a:xfrm>
            <a:off x="1457597" y="2137210"/>
            <a:ext cx="3091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x</a:t>
            </a:r>
            <a:endParaRPr lang="zh-CN" altLang="en-US" sz="2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DEC2B-435E-4532-966A-8A3909EBC91F}"/>
              </a:ext>
            </a:extLst>
          </p:cNvPr>
          <p:cNvSpPr txBox="1"/>
          <p:nvPr/>
        </p:nvSpPr>
        <p:spPr>
          <a:xfrm rot="2481968">
            <a:off x="3558103" y="2534437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5FBBC8-28B0-4ECC-869C-6997FAE00FC6}"/>
              </a:ext>
            </a:extLst>
          </p:cNvPr>
          <p:cNvCxnSpPr>
            <a:cxnSpLocks/>
          </p:cNvCxnSpPr>
          <p:nvPr/>
        </p:nvCxnSpPr>
        <p:spPr bwMode="auto">
          <a:xfrm flipH="1">
            <a:off x="2179320" y="2943236"/>
            <a:ext cx="2757221" cy="9429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D6B711-44C1-414D-8B81-BCFCB3C1AD3B}"/>
              </a:ext>
            </a:extLst>
          </p:cNvPr>
          <p:cNvCxnSpPr>
            <a:cxnSpLocks/>
          </p:cNvCxnSpPr>
          <p:nvPr/>
        </p:nvCxnSpPr>
        <p:spPr bwMode="auto">
          <a:xfrm flipH="1">
            <a:off x="2471210" y="2952358"/>
            <a:ext cx="2766094" cy="9338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7C9A17-3541-4467-B049-29D76990D6D4}"/>
              </a:ext>
            </a:extLst>
          </p:cNvPr>
          <p:cNvCxnSpPr>
            <a:cxnSpLocks/>
          </p:cNvCxnSpPr>
          <p:nvPr/>
        </p:nvCxnSpPr>
        <p:spPr bwMode="auto">
          <a:xfrm flipH="1">
            <a:off x="2179320" y="3246630"/>
            <a:ext cx="2765300" cy="9519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B5AF28-0106-4DDC-9524-628A6AEE724C}"/>
              </a:ext>
            </a:extLst>
          </p:cNvPr>
          <p:cNvSpPr txBox="1"/>
          <p:nvPr/>
        </p:nvSpPr>
        <p:spPr>
          <a:xfrm>
            <a:off x="6449022" y="1917144"/>
            <a:ext cx="22364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 w/ a tensor</a:t>
            </a:r>
          </a:p>
          <a:p>
            <a:pPr algn="ctr"/>
            <a:r>
              <a:rPr lang="zh-CN" altLang="en-US" sz="2200" dirty="0"/>
              <a:t>用张量进行卷积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0548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A982F5F2-06D2-419A-A9CD-3FB243DD25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945083"/>
              </p:ext>
            </p:extLst>
          </p:nvPr>
        </p:nvGraphicFramePr>
        <p:xfrm>
          <a:off x="5946900" y="3035110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4E4DD18-24DE-4595-B666-4160476A0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561878"/>
              </p:ext>
            </p:extLst>
          </p:nvPr>
        </p:nvGraphicFramePr>
        <p:xfrm>
          <a:off x="6601440" y="3558540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91268E-F43B-41C4-B4D5-848EDA6D7765}"/>
              </a:ext>
            </a:extLst>
          </p:cNvPr>
          <p:cNvGraphicFramePr>
            <a:graphicFrameLocks noGrp="1"/>
          </p:cNvGraphicFramePr>
          <p:nvPr/>
        </p:nvGraphicFramePr>
        <p:xfrm>
          <a:off x="798519" y="263504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418393-BDAE-42CC-BCBE-3E952AEED37C}"/>
              </a:ext>
            </a:extLst>
          </p:cNvPr>
          <p:cNvGraphicFramePr>
            <a:graphicFrameLocks noGrp="1"/>
          </p:cNvGraphicFramePr>
          <p:nvPr/>
        </p:nvGraphicFramePr>
        <p:xfrm>
          <a:off x="1627588" y="3300413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Tensor Operator  </a:t>
            </a:r>
            <a:r>
              <a:rPr lang="zh-CN" altLang="en-US" dirty="0">
                <a:ea typeface="ＭＳ Ｐゴシック" panose="020B0600070205080204" pitchFamily="34" charset="-128"/>
              </a:rPr>
              <a:t>张量算子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9997614-B9EF-4325-8908-F6ED4A416B9F}"/>
              </a:ext>
            </a:extLst>
          </p:cNvPr>
          <p:cNvGraphicFramePr>
            <a:graphicFrameLocks noGrp="1"/>
          </p:cNvGraphicFramePr>
          <p:nvPr/>
        </p:nvGraphicFramePr>
        <p:xfrm>
          <a:off x="1725219" y="3390691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C03817F-70F4-430E-A0DC-8C5D378BA449}"/>
              </a:ext>
            </a:extLst>
          </p:cNvPr>
          <p:cNvSpPr txBox="1"/>
          <p:nvPr/>
        </p:nvSpPr>
        <p:spPr>
          <a:xfrm>
            <a:off x="2316362" y="56651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34F18CC-4CAD-478F-B964-ADEABF7E8948}"/>
              </a:ext>
            </a:extLst>
          </p:cNvPr>
          <p:cNvGraphicFramePr>
            <a:graphicFrameLocks noGrp="1"/>
          </p:cNvGraphicFramePr>
          <p:nvPr/>
        </p:nvGraphicFramePr>
        <p:xfrm>
          <a:off x="1822850" y="3480969"/>
          <a:ext cx="2139550" cy="21183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4062898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358480158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29561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4072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44F80C-0299-4585-AB99-7FA6A74BE807}"/>
              </a:ext>
            </a:extLst>
          </p:cNvPr>
          <p:cNvSpPr txBox="1"/>
          <p:nvPr/>
        </p:nvSpPr>
        <p:spPr>
          <a:xfrm rot="2481968">
            <a:off x="3051044" y="2711426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D24306-8B03-4514-8E09-8D78436440D8}"/>
              </a:ext>
            </a:extLst>
          </p:cNvPr>
          <p:cNvSpPr txBox="1"/>
          <p:nvPr/>
        </p:nvSpPr>
        <p:spPr>
          <a:xfrm rot="2481968">
            <a:off x="1168604" y="4678671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1600200" y="1617215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 w/ multiple tensor operators</a:t>
            </a:r>
          </a:p>
          <a:p>
            <a:pPr algn="ctr"/>
            <a:r>
              <a:rPr lang="zh-CN" altLang="en-US" sz="2200" dirty="0"/>
              <a:t>进行多个张量算子卷积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/>
        </p:nvGraphicFramePr>
        <p:xfrm>
          <a:off x="6672791" y="3648149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7041187" y="561575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6DEC2B-435E-4532-966A-8A3909EBC91F}"/>
              </a:ext>
            </a:extLst>
          </p:cNvPr>
          <p:cNvSpPr txBox="1"/>
          <p:nvPr/>
        </p:nvSpPr>
        <p:spPr>
          <a:xfrm rot="2481968">
            <a:off x="6155863" y="4725807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469A6C-A36F-4783-BD55-48A7386DDECB}"/>
              </a:ext>
            </a:extLst>
          </p:cNvPr>
          <p:cNvSpPr txBox="1"/>
          <p:nvPr/>
        </p:nvSpPr>
        <p:spPr>
          <a:xfrm rot="2481968">
            <a:off x="7872004" y="2989579"/>
            <a:ext cx="6433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…</a:t>
            </a:r>
            <a:endParaRPr lang="zh-CN" altLang="en-US" sz="3200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722DD60-7BDF-4801-B890-61E926903488}"/>
              </a:ext>
            </a:extLst>
          </p:cNvPr>
          <p:cNvSpPr/>
          <p:nvPr/>
        </p:nvSpPr>
        <p:spPr bwMode="auto">
          <a:xfrm>
            <a:off x="4459350" y="3958951"/>
            <a:ext cx="990600" cy="50044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8195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Pooling  </a:t>
            </a:r>
            <a:r>
              <a:rPr lang="zh-CN" altLang="en-US" dirty="0">
                <a:ea typeface="ＭＳ Ｐゴシック" panose="020B0600070205080204" pitchFamily="34" charset="-128"/>
              </a:rPr>
              <a:t>积聚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1600200" y="1607274"/>
            <a:ext cx="594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2x2 max pooling  </a:t>
            </a:r>
            <a:r>
              <a:rPr lang="zh-CN" altLang="en-US" sz="2200" dirty="0"/>
              <a:t>最大值积聚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112568"/>
              </p:ext>
            </p:extLst>
          </p:nvPr>
        </p:nvGraphicFramePr>
        <p:xfrm>
          <a:off x="1752600" y="2766635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2093287" y="47507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5E1FE3-5B22-4114-883B-F8CA62B71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7359"/>
              </p:ext>
            </p:extLst>
          </p:nvPr>
        </p:nvGraphicFramePr>
        <p:xfrm>
          <a:off x="1752600" y="2766635"/>
          <a:ext cx="305650" cy="302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028A125-3AAA-4E9B-9040-F2C777760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927975"/>
              </p:ext>
            </p:extLst>
          </p:nvPr>
        </p:nvGraphicFramePr>
        <p:xfrm>
          <a:off x="5867400" y="3238004"/>
          <a:ext cx="916950" cy="907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6F958A-3D7A-43C5-BF47-28839F122433}"/>
              </a:ext>
            </a:extLst>
          </p:cNvPr>
          <p:cNvCxnSpPr>
            <a:cxnSpLocks/>
          </p:cNvCxnSpPr>
          <p:nvPr/>
        </p:nvCxnSpPr>
        <p:spPr bwMode="auto">
          <a:xfrm>
            <a:off x="1897380" y="2926080"/>
            <a:ext cx="4061460" cy="3733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0F9DBB-9921-4009-9C3B-EB1ED934BD29}"/>
              </a:ext>
            </a:extLst>
          </p:cNvPr>
          <p:cNvSpPr txBox="1"/>
          <p:nvPr/>
        </p:nvSpPr>
        <p:spPr>
          <a:xfrm>
            <a:off x="1600200" y="2038031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Take the maximum value between the 4</a:t>
            </a:r>
          </a:p>
          <a:p>
            <a:pPr algn="ctr"/>
            <a:r>
              <a:rPr lang="zh-CN" altLang="en-US" sz="2200" dirty="0"/>
              <a:t>取</a:t>
            </a:r>
            <a:r>
              <a:rPr lang="en-US" altLang="zh-CN" sz="2200" dirty="0"/>
              <a:t>4</a:t>
            </a:r>
            <a:r>
              <a:rPr lang="zh-CN" altLang="en-US" sz="2200" dirty="0"/>
              <a:t>个中的最大值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28D406-68C1-4F3A-8189-A079BB5659BC}"/>
              </a:ext>
            </a:extLst>
          </p:cNvPr>
          <p:cNvSpPr txBox="1"/>
          <p:nvPr/>
        </p:nvSpPr>
        <p:spPr>
          <a:xfrm>
            <a:off x="5749612" y="41910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6x6</a:t>
            </a:r>
            <a:endParaRPr lang="zh-CN" altLang="en-US" sz="2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D461F1-74A3-40F8-9F40-0DCAAD4D0CB1}"/>
              </a:ext>
            </a:extLst>
          </p:cNvPr>
          <p:cNvSpPr txBox="1"/>
          <p:nvPr/>
        </p:nvSpPr>
        <p:spPr>
          <a:xfrm>
            <a:off x="972656" y="5363256"/>
            <a:ext cx="7198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Down-sample the pattern map: reduce dimensionality</a:t>
            </a:r>
          </a:p>
          <a:p>
            <a:pPr algn="ctr"/>
            <a:r>
              <a:rPr lang="zh-CN" altLang="en-US" sz="2200" dirty="0"/>
              <a:t>模式图降采样：降低维度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337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4" grpId="0"/>
      <p:bldP spid="28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Pooling  </a:t>
            </a:r>
            <a:r>
              <a:rPr lang="zh-CN" altLang="en-US" dirty="0">
                <a:ea typeface="ＭＳ Ｐゴシック" panose="020B0600070205080204" pitchFamily="34" charset="-128"/>
              </a:rPr>
              <a:t>积聚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1600200" y="1607274"/>
            <a:ext cx="594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2x2 max pooling  </a:t>
            </a:r>
            <a:r>
              <a:rPr lang="zh-CN" altLang="en-US" sz="2200" dirty="0"/>
              <a:t>最大值积聚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2766635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2093287" y="47507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5E1FE3-5B22-4114-883B-F8CA62B71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078698"/>
              </p:ext>
            </p:extLst>
          </p:nvPr>
        </p:nvGraphicFramePr>
        <p:xfrm>
          <a:off x="2056550" y="2766635"/>
          <a:ext cx="305650" cy="302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028A125-3AAA-4E9B-9040-F2C777760EBD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3238004"/>
          <a:ext cx="916950" cy="907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6F958A-3D7A-43C5-BF47-28839F122433}"/>
              </a:ext>
            </a:extLst>
          </p:cNvPr>
          <p:cNvCxnSpPr>
            <a:cxnSpLocks/>
          </p:cNvCxnSpPr>
          <p:nvPr/>
        </p:nvCxnSpPr>
        <p:spPr bwMode="auto">
          <a:xfrm>
            <a:off x="2217420" y="2926080"/>
            <a:ext cx="391668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0F9DBB-9921-4009-9C3B-EB1ED934BD29}"/>
              </a:ext>
            </a:extLst>
          </p:cNvPr>
          <p:cNvSpPr txBox="1"/>
          <p:nvPr/>
        </p:nvSpPr>
        <p:spPr>
          <a:xfrm>
            <a:off x="1600200" y="2038031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Move horizontally w/o overlapping</a:t>
            </a:r>
          </a:p>
          <a:p>
            <a:pPr algn="ctr"/>
            <a:r>
              <a:rPr lang="zh-CN" altLang="en-US" sz="2200" dirty="0"/>
              <a:t>不重叠地横向移动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28D406-68C1-4F3A-8189-A079BB5659BC}"/>
              </a:ext>
            </a:extLst>
          </p:cNvPr>
          <p:cNvSpPr txBox="1"/>
          <p:nvPr/>
        </p:nvSpPr>
        <p:spPr>
          <a:xfrm>
            <a:off x="5749612" y="41910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6x6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9752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Pooling  </a:t>
            </a:r>
            <a:r>
              <a:rPr lang="zh-CN" altLang="en-US" dirty="0">
                <a:ea typeface="ＭＳ Ｐゴシック" panose="020B0600070205080204" pitchFamily="34" charset="-128"/>
              </a:rPr>
              <a:t>积聚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1600200" y="1607274"/>
            <a:ext cx="5943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2x2 max pooling  </a:t>
            </a:r>
            <a:r>
              <a:rPr lang="zh-CN" altLang="en-US" sz="2200" dirty="0"/>
              <a:t>最大值积聚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60602D4-58B7-49D3-B367-C89380EF0765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2766635"/>
          <a:ext cx="1833900" cy="1815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77511684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0583681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195476669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7711024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2731666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3566507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421036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568668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820093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7931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347687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85636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6E8795EF-0D09-4377-8E50-5FE5F54B9612}"/>
              </a:ext>
            </a:extLst>
          </p:cNvPr>
          <p:cNvSpPr txBox="1"/>
          <p:nvPr/>
        </p:nvSpPr>
        <p:spPr>
          <a:xfrm>
            <a:off x="2093287" y="4750713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5E1FE3-5B22-4114-883B-F8CA62B71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572976"/>
              </p:ext>
            </p:extLst>
          </p:nvPr>
        </p:nvGraphicFramePr>
        <p:xfrm>
          <a:off x="1751750" y="3063815"/>
          <a:ext cx="305650" cy="3026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tx2">
                        <a:lumMod val="40000"/>
                        <a:lumOff val="6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028A125-3AAA-4E9B-9040-F2C777760EBD}"/>
              </a:ext>
            </a:extLst>
          </p:cNvPr>
          <p:cNvGraphicFramePr>
            <a:graphicFrameLocks noGrp="1"/>
          </p:cNvGraphicFramePr>
          <p:nvPr/>
        </p:nvGraphicFramePr>
        <p:xfrm>
          <a:off x="5867400" y="3238004"/>
          <a:ext cx="916950" cy="9078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825">
                  <a:extLst>
                    <a:ext uri="{9D8B030D-6E8A-4147-A177-3AD203B41FA5}">
                      <a16:colId xmlns:a16="http://schemas.microsoft.com/office/drawing/2014/main" val="3858150801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3491865340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658115014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721263813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1567186318"/>
                    </a:ext>
                  </a:extLst>
                </a:gridCol>
                <a:gridCol w="152825">
                  <a:extLst>
                    <a:ext uri="{9D8B030D-6E8A-4147-A177-3AD203B41FA5}">
                      <a16:colId xmlns:a16="http://schemas.microsoft.com/office/drawing/2014/main" val="2011908235"/>
                    </a:ext>
                  </a:extLst>
                </a:gridCol>
              </a:tblGrid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56210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475921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77589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12915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837064"/>
                  </a:ext>
                </a:extLst>
              </a:tr>
              <a:tr h="151311">
                <a:tc>
                  <a:txBody>
                    <a:bodyPr/>
                    <a:lstStyle/>
                    <a:p>
                      <a:endParaRPr lang="zh-CN" altLang="en-US" sz="10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00" dirty="0"/>
                    </a:p>
                  </a:txBody>
                  <a:tcPr marL="0" marR="0" marT="0" marB="0"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015155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6F958A-3D7A-43C5-BF47-28839F122433}"/>
              </a:ext>
            </a:extLst>
          </p:cNvPr>
          <p:cNvCxnSpPr>
            <a:cxnSpLocks/>
          </p:cNvCxnSpPr>
          <p:nvPr/>
        </p:nvCxnSpPr>
        <p:spPr bwMode="auto">
          <a:xfrm>
            <a:off x="1904575" y="3215126"/>
            <a:ext cx="4054265" cy="2367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70F9DBB-9921-4009-9C3B-EB1ED934BD29}"/>
              </a:ext>
            </a:extLst>
          </p:cNvPr>
          <p:cNvSpPr txBox="1"/>
          <p:nvPr/>
        </p:nvSpPr>
        <p:spPr>
          <a:xfrm>
            <a:off x="1600200" y="2038031"/>
            <a:ext cx="5943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Move vertically w/o overlapping</a:t>
            </a:r>
          </a:p>
          <a:p>
            <a:pPr algn="ctr"/>
            <a:r>
              <a:rPr lang="zh-CN" altLang="en-US" sz="2200" dirty="0"/>
              <a:t>不重叠地纵向移动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28D406-68C1-4F3A-8189-A079BB5659BC}"/>
              </a:ext>
            </a:extLst>
          </p:cNvPr>
          <p:cNvSpPr txBox="1"/>
          <p:nvPr/>
        </p:nvSpPr>
        <p:spPr>
          <a:xfrm>
            <a:off x="5749612" y="4191000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6x6</a:t>
            </a:r>
            <a:endParaRPr lang="zh-CN" alt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972656" y="5363256"/>
            <a:ext cx="7198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weights: not to be learned</a:t>
            </a:r>
          </a:p>
          <a:p>
            <a:pPr algn="ctr"/>
            <a:r>
              <a:rPr lang="zh-CN" altLang="en-US" sz="2200" dirty="0"/>
              <a:t>没有权重：不需要进行学习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58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Fully-Connected Layer  </a:t>
            </a:r>
            <a:r>
              <a:rPr lang="zh-CN" altLang="en-US" dirty="0">
                <a:ea typeface="ＭＳ Ｐゴシック" panose="020B0600070205080204" pitchFamily="34" charset="-128"/>
              </a:rPr>
              <a:t>全连通层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194423" y="5489152"/>
            <a:ext cx="6755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output neuron has its weights &amp; bias</a:t>
            </a:r>
          </a:p>
          <a:p>
            <a:pPr algn="ctr"/>
            <a:r>
              <a:rPr lang="zh-CN" altLang="en-US" sz="2200" dirty="0"/>
              <a:t>每个输出神经细胞有自己的权重和偏向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A65DE4F-AE29-4CA8-B98D-BEB520CD27A1}"/>
              </a:ext>
            </a:extLst>
          </p:cNvPr>
          <p:cNvSpPr txBox="1"/>
          <p:nvPr/>
        </p:nvSpPr>
        <p:spPr>
          <a:xfrm>
            <a:off x="3632783" y="3288801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924227-7262-4FAC-BD7D-167586367367}"/>
                  </a:ext>
                </a:extLst>
              </p:cNvPr>
              <p:cNvSpPr txBox="1"/>
              <p:nvPr/>
            </p:nvSpPr>
            <p:spPr>
              <a:xfrm>
                <a:off x="5656263" y="2972577"/>
                <a:ext cx="2898776" cy="1460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ReLU activation as</a:t>
                </a:r>
                <a:r>
                  <a:rPr lang="zh-CN" altLang="en-US" sz="2200" dirty="0"/>
                  <a:t> </a:t>
                </a:r>
                <a:r>
                  <a:rPr lang="en-US" altLang="zh-CN" sz="2200" dirty="0"/>
                  <a:t>the</a:t>
                </a:r>
                <a:r>
                  <a:rPr lang="zh-CN" altLang="en-US" sz="2200" dirty="0"/>
                  <a:t> </a:t>
                </a:r>
                <a:r>
                  <a:rPr lang="en-US" altLang="zh-CN" sz="2200" dirty="0" err="1"/>
                  <a:t>ouput</a:t>
                </a:r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经过线性整流输出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4924227-7262-4FAC-BD7D-167586367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263" y="2972577"/>
                <a:ext cx="2898776" cy="1460656"/>
              </a:xfrm>
              <a:prstGeom prst="rect">
                <a:avLst/>
              </a:prstGeom>
              <a:blipFill>
                <a:blip r:embed="rId6"/>
                <a:stretch>
                  <a:fillRect t="-3347" b="-4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2235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3" grpId="0"/>
      <p:bldP spid="3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Fully-Connected Layer  </a:t>
            </a:r>
            <a:r>
              <a:rPr lang="zh-CN" altLang="en-US" dirty="0">
                <a:ea typeface="ＭＳ Ｐゴシック" panose="020B0600070205080204" pitchFamily="34" charset="-128"/>
              </a:rPr>
              <a:t>全连通层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762000" y="5472693"/>
            <a:ext cx="762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Each input neuron is connected w/ each output neuron</a:t>
            </a:r>
          </a:p>
          <a:p>
            <a:pPr algn="ctr"/>
            <a:r>
              <a:rPr lang="zh-CN" altLang="en-US" sz="2200" dirty="0"/>
              <a:t>每个输入神经细胞都和每个输出神经细胞相连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592715" y="3393740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2D559A-1B75-4D82-B3B1-A2654FCEC043}"/>
                  </a:ext>
                </a:extLst>
              </p:cNvPr>
              <p:cNvSpPr txBox="1"/>
              <p:nvPr/>
            </p:nvSpPr>
            <p:spPr>
              <a:xfrm>
                <a:off x="5616575" y="2907309"/>
                <a:ext cx="2898776" cy="444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2D559A-1B75-4D82-B3B1-A2654FCE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575" y="2907309"/>
                <a:ext cx="2898776" cy="444994"/>
              </a:xfrm>
              <a:prstGeom prst="rect">
                <a:avLst/>
              </a:prstGeom>
              <a:blipFill>
                <a:blip r:embed="rId5"/>
                <a:stretch>
                  <a:fillRect b="-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0093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Fully-Connected Layer  </a:t>
            </a:r>
            <a:r>
              <a:rPr lang="zh-CN" altLang="en-US" dirty="0">
                <a:ea typeface="ＭＳ Ｐゴシック" panose="020B0600070205080204" pitchFamily="34" charset="-128"/>
              </a:rPr>
              <a:t>全连通层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762000" y="5472693"/>
            <a:ext cx="762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So-called ‘fully-connected layer’, sometimes ‘dense layer’</a:t>
            </a:r>
          </a:p>
          <a:p>
            <a:pPr algn="ctr"/>
            <a:r>
              <a:rPr lang="zh-CN" altLang="en-US" sz="2200" dirty="0"/>
              <a:t>所谓全连通层，有时又称密集层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8763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D136B9-EE18-4F0D-8672-AECFD542ABF3}"/>
                  </a:ext>
                </a:extLst>
              </p:cNvPr>
              <p:cNvSpPr txBox="1"/>
              <p:nvPr/>
            </p:nvSpPr>
            <p:spPr>
              <a:xfrm>
                <a:off x="5538747" y="4026180"/>
                <a:ext cx="2898776" cy="444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⁡(0,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2D136B9-EE18-4F0D-8672-AECFD542A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747" y="4026180"/>
                <a:ext cx="2898776" cy="444994"/>
              </a:xfrm>
              <a:prstGeom prst="rect">
                <a:avLst/>
              </a:prstGeom>
              <a:blipFill>
                <a:blip r:embed="rId5"/>
                <a:stretch>
                  <a:fillRect l="-421" b="-164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441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Layer  </a:t>
            </a:r>
            <a:r>
              <a:rPr lang="zh-CN" altLang="en-US" dirty="0">
                <a:ea typeface="ＭＳ Ｐゴシック" panose="020B0600070205080204" pitchFamily="34" charset="-128"/>
              </a:rPr>
              <a:t>指数归一化层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52400" y="5494673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Similar to a fully-connected layer, but the output is different</a:t>
            </a:r>
          </a:p>
          <a:p>
            <a:pPr algn="ctr"/>
            <a:r>
              <a:rPr lang="zh-CN" altLang="en-US" sz="2200" dirty="0"/>
              <a:t>和全连通层类似，但输出不同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25021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342BB-198C-4E80-8FC7-7BCB2ED8F252}"/>
              </a:ext>
            </a:extLst>
          </p:cNvPr>
          <p:cNvSpPr/>
          <p:nvPr/>
        </p:nvSpPr>
        <p:spPr bwMode="auto">
          <a:xfrm>
            <a:off x="5105400" y="2362200"/>
            <a:ext cx="2515734" cy="25923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84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0" grpId="0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Layer  </a:t>
            </a:r>
            <a:r>
              <a:rPr lang="zh-CN" altLang="en-US" dirty="0">
                <a:ea typeface="ＭＳ Ｐゴシック" panose="020B0600070205080204" pitchFamily="34" charset="-128"/>
              </a:rPr>
              <a:t>指数归一化层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52400" y="5474197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First apply a negative exponential function</a:t>
            </a:r>
          </a:p>
          <a:p>
            <a:pPr algn="ctr"/>
            <a:r>
              <a:rPr lang="zh-CN" altLang="en-US" sz="2200" dirty="0"/>
              <a:t>首先应用一个负指数函数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25021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342BB-198C-4E80-8FC7-7BCB2ED8F252}"/>
              </a:ext>
            </a:extLst>
          </p:cNvPr>
          <p:cNvSpPr/>
          <p:nvPr/>
        </p:nvSpPr>
        <p:spPr bwMode="auto">
          <a:xfrm>
            <a:off x="5105400" y="2362200"/>
            <a:ext cx="2515734" cy="25923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/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/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/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959009F-46C3-428B-94F5-DF3A7E133B15}"/>
              </a:ext>
            </a:extLst>
          </p:cNvPr>
          <p:cNvSpPr txBox="1"/>
          <p:nvPr/>
        </p:nvSpPr>
        <p:spPr>
          <a:xfrm>
            <a:off x="6174899" y="3601962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13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1" grpId="0"/>
      <p:bldP spid="4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Layer  </a:t>
            </a:r>
            <a:r>
              <a:rPr lang="zh-CN" altLang="en-US" dirty="0">
                <a:ea typeface="ＭＳ Ｐゴシック" panose="020B0600070205080204" pitchFamily="34" charset="-128"/>
              </a:rPr>
              <a:t>指数归一化层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25021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342BB-198C-4E80-8FC7-7BCB2ED8F252}"/>
              </a:ext>
            </a:extLst>
          </p:cNvPr>
          <p:cNvSpPr/>
          <p:nvPr/>
        </p:nvSpPr>
        <p:spPr bwMode="auto">
          <a:xfrm>
            <a:off x="5105400" y="2362200"/>
            <a:ext cx="2515734" cy="25923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/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/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/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/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1B3CFF2-F4A3-4BC4-A842-FB884C2299C3}"/>
              </a:ext>
            </a:extLst>
          </p:cNvPr>
          <p:cNvSpPr txBox="1"/>
          <p:nvPr/>
        </p:nvSpPr>
        <p:spPr>
          <a:xfrm>
            <a:off x="152400" y="5474197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Normalize their sum to 1</a:t>
            </a:r>
          </a:p>
          <a:p>
            <a:pPr algn="ctr"/>
            <a:r>
              <a:rPr lang="zh-CN" altLang="en-US" sz="2200" dirty="0"/>
              <a:t>将它们之和归一化为</a:t>
            </a:r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476C14-5CF3-41A2-88BC-19726C08C95C}"/>
              </a:ext>
            </a:extLst>
          </p:cNvPr>
          <p:cNvSpPr txBox="1"/>
          <p:nvPr/>
        </p:nvSpPr>
        <p:spPr>
          <a:xfrm>
            <a:off x="6174899" y="3601962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71085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Layer  </a:t>
            </a:r>
            <a:r>
              <a:rPr lang="zh-CN" altLang="en-US" dirty="0">
                <a:ea typeface="ＭＳ Ｐゴシック" panose="020B0600070205080204" pitchFamily="34" charset="-128"/>
              </a:rPr>
              <a:t>指数归一化层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25021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342BB-198C-4E80-8FC7-7BCB2ED8F252}"/>
              </a:ext>
            </a:extLst>
          </p:cNvPr>
          <p:cNvSpPr/>
          <p:nvPr/>
        </p:nvSpPr>
        <p:spPr bwMode="auto">
          <a:xfrm>
            <a:off x="5105400" y="2362200"/>
            <a:ext cx="2515734" cy="25923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/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/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/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/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1B3CFF2-F4A3-4BC4-A842-FB884C2299C3}"/>
              </a:ext>
            </a:extLst>
          </p:cNvPr>
          <p:cNvSpPr txBox="1"/>
          <p:nvPr/>
        </p:nvSpPr>
        <p:spPr>
          <a:xfrm>
            <a:off x="1123121" y="5215648"/>
            <a:ext cx="690267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One may regard the output as a probability value (recall the alternative margin)</a:t>
            </a:r>
          </a:p>
          <a:p>
            <a:pPr algn="ctr"/>
            <a:r>
              <a:rPr lang="zh-CN" altLang="en-US" sz="2200" dirty="0"/>
              <a:t>可以把输出看成一个概率值（回忆一下别样的间距）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575749-1953-4C08-9B70-7C1E554D4064}"/>
                  </a:ext>
                </a:extLst>
              </p:cNvPr>
              <p:cNvSpPr txBox="1"/>
              <p:nvPr/>
            </p:nvSpPr>
            <p:spPr>
              <a:xfrm>
                <a:off x="8029622" y="2694826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575749-1953-4C08-9B70-7C1E554D4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622" y="2694826"/>
                <a:ext cx="1185136" cy="8856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0A7B771-90F1-40F3-BBCF-9D38D5DD0A69}"/>
              </a:ext>
            </a:extLst>
          </p:cNvPr>
          <p:cNvSpPr txBox="1"/>
          <p:nvPr/>
        </p:nvSpPr>
        <p:spPr>
          <a:xfrm>
            <a:off x="6174899" y="3601962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230290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ＭＳ Ｐゴシック" panose="020B0600070205080204" pitchFamily="34" charset="-128"/>
              </a:rPr>
              <a:t>Softmax</a:t>
            </a:r>
            <a:r>
              <a:rPr lang="en-US" altLang="zh-CN" dirty="0">
                <a:ea typeface="ＭＳ Ｐゴシック" panose="020B0600070205080204" pitchFamily="34" charset="-128"/>
              </a:rPr>
              <a:t> Layer  </a:t>
            </a:r>
            <a:r>
              <a:rPr lang="zh-CN" altLang="en-US" dirty="0">
                <a:ea typeface="ＭＳ Ｐゴシック" panose="020B0600070205080204" pitchFamily="34" charset="-128"/>
              </a:rPr>
              <a:t>指数归一化层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D8A68E-0A42-40E9-97E9-5EAA24FDCE32}"/>
              </a:ext>
            </a:extLst>
          </p:cNvPr>
          <p:cNvGrpSpPr/>
          <p:nvPr/>
        </p:nvGrpSpPr>
        <p:grpSpPr>
          <a:xfrm>
            <a:off x="1066800" y="1840625"/>
            <a:ext cx="2209800" cy="3418787"/>
            <a:chOff x="1791834" y="1840625"/>
            <a:chExt cx="2209800" cy="341878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66098F-C302-4078-8754-D4A3F101879A}"/>
                </a:ext>
              </a:extLst>
            </p:cNvPr>
            <p:cNvSpPr txBox="1"/>
            <p:nvPr/>
          </p:nvSpPr>
          <p:spPr>
            <a:xfrm>
              <a:off x="1791834" y="1840625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Input  </a:t>
              </a:r>
              <a:r>
                <a:rPr lang="zh-CN" altLang="en-US" sz="2200" dirty="0"/>
                <a:t>输入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344FCA-6DEE-41C6-B383-509AFE813F79}"/>
                </a:ext>
              </a:extLst>
            </p:cNvPr>
            <p:cNvSpPr/>
            <p:nvPr/>
          </p:nvSpPr>
          <p:spPr bwMode="auto">
            <a:xfrm>
              <a:off x="2803071" y="2542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CF546BD-C367-49A6-8834-8F5DF0411255}"/>
                </a:ext>
              </a:extLst>
            </p:cNvPr>
            <p:cNvSpPr/>
            <p:nvPr/>
          </p:nvSpPr>
          <p:spPr bwMode="auto">
            <a:xfrm>
              <a:off x="2803071" y="305360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3687E3-1F17-486F-B832-7D1743DC29BB}"/>
                </a:ext>
              </a:extLst>
            </p:cNvPr>
            <p:cNvSpPr/>
            <p:nvPr/>
          </p:nvSpPr>
          <p:spPr bwMode="auto">
            <a:xfrm>
              <a:off x="2813957" y="5107012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D064EA-180B-45F2-9C02-5E4A5B47DD84}"/>
                </a:ext>
              </a:extLst>
            </p:cNvPr>
            <p:cNvSpPr txBox="1"/>
            <p:nvPr/>
          </p:nvSpPr>
          <p:spPr>
            <a:xfrm>
              <a:off x="2668564" y="3973285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303700-BC36-4C2C-82A6-5869FC95CFCD}"/>
              </a:ext>
            </a:extLst>
          </p:cNvPr>
          <p:cNvGrpSpPr/>
          <p:nvPr/>
        </p:nvGrpSpPr>
        <p:grpSpPr>
          <a:xfrm>
            <a:off x="4380366" y="1828800"/>
            <a:ext cx="2209800" cy="2766396"/>
            <a:chOff x="5105400" y="1828800"/>
            <a:chExt cx="2209800" cy="276639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B19D7CF-20D2-439C-A6A7-6F6593CE48FB}"/>
                </a:ext>
              </a:extLst>
            </p:cNvPr>
            <p:cNvSpPr/>
            <p:nvPr/>
          </p:nvSpPr>
          <p:spPr bwMode="auto">
            <a:xfrm>
              <a:off x="6057900" y="2726463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B05A700-1DBD-4DF0-A3B8-474DC31425FC}"/>
                </a:ext>
              </a:extLst>
            </p:cNvPr>
            <p:cNvSpPr/>
            <p:nvPr/>
          </p:nvSpPr>
          <p:spPr bwMode="auto">
            <a:xfrm>
              <a:off x="6057900" y="330442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48D8D8-4147-411E-AEF6-30A95A38A3C3}"/>
                </a:ext>
              </a:extLst>
            </p:cNvPr>
            <p:cNvSpPr/>
            <p:nvPr/>
          </p:nvSpPr>
          <p:spPr bwMode="auto">
            <a:xfrm>
              <a:off x="6047015" y="4442796"/>
              <a:ext cx="152400" cy="15240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CB7269-45DE-412E-9CA1-1EDC29E8E76F}"/>
                </a:ext>
              </a:extLst>
            </p:cNvPr>
            <p:cNvSpPr txBox="1"/>
            <p:nvPr/>
          </p:nvSpPr>
          <p:spPr>
            <a:xfrm>
              <a:off x="5105400" y="1828800"/>
              <a:ext cx="2209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Output  </a:t>
              </a:r>
              <a:r>
                <a:rPr lang="zh-CN" altLang="en-US" sz="2200" dirty="0"/>
                <a:t>输出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4CD088-DBF1-4098-9A0C-FFECDC2445D2}"/>
                </a:ext>
              </a:extLst>
            </p:cNvPr>
            <p:cNvSpPr txBox="1"/>
            <p:nvPr/>
          </p:nvSpPr>
          <p:spPr>
            <a:xfrm>
              <a:off x="5923392" y="3733799"/>
              <a:ext cx="738664" cy="4308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3600" dirty="0"/>
                <a:t>…</a:t>
              </a:r>
              <a:endParaRPr lang="zh-CN" altLang="en-US" sz="3600" dirty="0"/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4545FB-AA7A-4D30-966A-C25F00259E82}"/>
              </a:ext>
            </a:extLst>
          </p:cNvPr>
          <p:cNvCxnSpPr>
            <a:stCxn id="3" idx="6"/>
            <a:endCxn id="17" idx="2"/>
          </p:cNvCxnSpPr>
          <p:nvPr/>
        </p:nvCxnSpPr>
        <p:spPr bwMode="auto">
          <a:xfrm>
            <a:off x="2230437" y="2618626"/>
            <a:ext cx="3102429" cy="1840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1FF7E8-D04C-4648-9CBB-D073ED6E902C}"/>
              </a:ext>
            </a:extLst>
          </p:cNvPr>
          <p:cNvCxnSpPr>
            <a:cxnSpLocks/>
            <a:stCxn id="15" idx="6"/>
            <a:endCxn id="17" idx="3"/>
          </p:cNvCxnSpPr>
          <p:nvPr/>
        </p:nvCxnSpPr>
        <p:spPr bwMode="auto">
          <a:xfrm flipV="1">
            <a:off x="2230437" y="2856545"/>
            <a:ext cx="3124747" cy="2732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780B09-EF63-49A7-8420-9B19710A3FF7}"/>
              </a:ext>
            </a:extLst>
          </p:cNvPr>
          <p:cNvCxnSpPr>
            <a:cxnSpLocks/>
            <a:stCxn id="16" idx="6"/>
            <a:endCxn id="17" idx="3"/>
          </p:cNvCxnSpPr>
          <p:nvPr/>
        </p:nvCxnSpPr>
        <p:spPr bwMode="auto">
          <a:xfrm flipV="1">
            <a:off x="2241323" y="2856545"/>
            <a:ext cx="3113861" cy="23266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A9B9DD-3175-4A2A-A2DB-F1427FB5D393}"/>
              </a:ext>
            </a:extLst>
          </p:cNvPr>
          <p:cNvCxnSpPr>
            <a:cxnSpLocks/>
            <a:stCxn id="17" idx="6"/>
          </p:cNvCxnSpPr>
          <p:nvPr/>
        </p:nvCxnSpPr>
        <p:spPr bwMode="auto">
          <a:xfrm>
            <a:off x="5485266" y="2802663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B0FD05-E51E-49F9-B829-5A7BB253429D}"/>
              </a:ext>
            </a:extLst>
          </p:cNvPr>
          <p:cNvCxnSpPr>
            <a:cxnSpLocks/>
            <a:stCxn id="3" idx="6"/>
            <a:endCxn id="18" idx="2"/>
          </p:cNvCxnSpPr>
          <p:nvPr/>
        </p:nvCxnSpPr>
        <p:spPr bwMode="auto">
          <a:xfrm>
            <a:off x="2230437" y="2618626"/>
            <a:ext cx="3102429" cy="76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DD79A-CA35-498D-8A28-10F2446EEC06}"/>
              </a:ext>
            </a:extLst>
          </p:cNvPr>
          <p:cNvCxnSpPr>
            <a:cxnSpLocks/>
            <a:stCxn id="15" idx="6"/>
            <a:endCxn id="18" idx="2"/>
          </p:cNvCxnSpPr>
          <p:nvPr/>
        </p:nvCxnSpPr>
        <p:spPr bwMode="auto">
          <a:xfrm>
            <a:off x="2230437" y="3129806"/>
            <a:ext cx="3102429" cy="2508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D9030E4-AFF6-4634-92D3-7341BC7076B1}"/>
              </a:ext>
            </a:extLst>
          </p:cNvPr>
          <p:cNvCxnSpPr>
            <a:cxnSpLocks/>
            <a:stCxn id="16" idx="6"/>
            <a:endCxn id="18" idx="2"/>
          </p:cNvCxnSpPr>
          <p:nvPr/>
        </p:nvCxnSpPr>
        <p:spPr bwMode="auto">
          <a:xfrm flipV="1">
            <a:off x="2241323" y="3380626"/>
            <a:ext cx="3091543" cy="1802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44DD87-0735-41A2-89AD-5BD3A6661BC8}"/>
              </a:ext>
            </a:extLst>
          </p:cNvPr>
          <p:cNvSpPr txBox="1"/>
          <p:nvPr/>
        </p:nvSpPr>
        <p:spPr>
          <a:xfrm>
            <a:off x="3004888" y="3804434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2012-1FFA-4F81-9AC9-741087E33B1F}"/>
              </a:ext>
            </a:extLst>
          </p:cNvPr>
          <p:cNvCxnSpPr>
            <a:cxnSpLocks/>
          </p:cNvCxnSpPr>
          <p:nvPr/>
        </p:nvCxnSpPr>
        <p:spPr bwMode="auto">
          <a:xfrm>
            <a:off x="5498872" y="3393740"/>
            <a:ext cx="250212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7DD912E-2A92-40F7-A3E2-D86657F237DA}"/>
              </a:ext>
            </a:extLst>
          </p:cNvPr>
          <p:cNvCxnSpPr>
            <a:cxnSpLocks/>
            <a:stCxn id="3" idx="6"/>
            <a:endCxn id="22" idx="2"/>
          </p:cNvCxnSpPr>
          <p:nvPr/>
        </p:nvCxnSpPr>
        <p:spPr bwMode="auto">
          <a:xfrm>
            <a:off x="2230437" y="2618626"/>
            <a:ext cx="3091544" cy="19003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764DC8-DDD3-4F6D-80B7-67BCC21FE942}"/>
              </a:ext>
            </a:extLst>
          </p:cNvPr>
          <p:cNvCxnSpPr>
            <a:cxnSpLocks/>
            <a:stCxn id="15" idx="5"/>
            <a:endCxn id="22" idx="3"/>
          </p:cNvCxnSpPr>
          <p:nvPr/>
        </p:nvCxnSpPr>
        <p:spPr bwMode="auto">
          <a:xfrm>
            <a:off x="2208119" y="3183688"/>
            <a:ext cx="3136180" cy="13891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FAEBA02-33E1-48EC-BD41-5F0423D701AF}"/>
              </a:ext>
            </a:extLst>
          </p:cNvPr>
          <p:cNvCxnSpPr>
            <a:cxnSpLocks/>
            <a:stCxn id="16" idx="6"/>
            <a:endCxn id="22" idx="3"/>
          </p:cNvCxnSpPr>
          <p:nvPr/>
        </p:nvCxnSpPr>
        <p:spPr bwMode="auto">
          <a:xfrm flipV="1">
            <a:off x="2241323" y="4572878"/>
            <a:ext cx="3102976" cy="61033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4EB6942-19B2-43CD-B966-822CF2E9A3E5}"/>
              </a:ext>
            </a:extLst>
          </p:cNvPr>
          <p:cNvCxnSpPr>
            <a:cxnSpLocks/>
          </p:cNvCxnSpPr>
          <p:nvPr/>
        </p:nvCxnSpPr>
        <p:spPr bwMode="auto">
          <a:xfrm>
            <a:off x="5485266" y="4518996"/>
            <a:ext cx="2515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6B342BB-198C-4E80-8FC7-7BCB2ED8F252}"/>
              </a:ext>
            </a:extLst>
          </p:cNvPr>
          <p:cNvSpPr/>
          <p:nvPr/>
        </p:nvSpPr>
        <p:spPr bwMode="auto">
          <a:xfrm>
            <a:off x="5105400" y="2362200"/>
            <a:ext cx="2515734" cy="259239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/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6436C84-FAE1-4239-8BDF-E131703AF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656" y="2272152"/>
                <a:ext cx="3276600" cy="5067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/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B651C34-EE90-4EB2-82FD-000F880F1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79" y="2837206"/>
                <a:ext cx="3276600" cy="5067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/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B7D0B53-CC11-44C8-BF81-83CF5010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770" y="4004118"/>
                <a:ext cx="3276600" cy="5157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/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FF5F187-1CD5-432B-9499-923FBD3FB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0" y="1812069"/>
                <a:ext cx="1185136" cy="88562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21B3CFF2-F4A3-4BC4-A842-FB884C2299C3}"/>
              </a:ext>
            </a:extLst>
          </p:cNvPr>
          <p:cNvSpPr txBox="1"/>
          <p:nvPr/>
        </p:nvSpPr>
        <p:spPr>
          <a:xfrm>
            <a:off x="152400" y="5474197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Typically the last layer: each neuron corresponds to a class label</a:t>
            </a:r>
          </a:p>
          <a:p>
            <a:pPr algn="ctr"/>
            <a:r>
              <a:rPr lang="zh-CN" altLang="en-US" sz="2200" dirty="0"/>
              <a:t>通常是最后一层：每个神经细胞对应与一个类别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575749-1953-4C08-9B70-7C1E554D4064}"/>
                  </a:ext>
                </a:extLst>
              </p:cNvPr>
              <p:cNvSpPr txBox="1"/>
              <p:nvPr/>
            </p:nvSpPr>
            <p:spPr>
              <a:xfrm>
                <a:off x="8029622" y="2694826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B575749-1953-4C08-9B70-7C1E554D4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9622" y="2694826"/>
                <a:ext cx="1185136" cy="8856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02490A-EFA1-4CB3-91A7-F05EF67F756F}"/>
                  </a:ext>
                </a:extLst>
              </p:cNvPr>
              <p:cNvSpPr txBox="1"/>
              <p:nvPr/>
            </p:nvSpPr>
            <p:spPr>
              <a:xfrm>
                <a:off x="8044543" y="4053557"/>
                <a:ext cx="1185136" cy="8856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602490A-EFA1-4CB3-91A7-F05EF67F7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543" y="4053557"/>
                <a:ext cx="1185136" cy="8856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B44DE1BD-99A2-458F-9CA9-0C0E13430764}"/>
              </a:ext>
            </a:extLst>
          </p:cNvPr>
          <p:cNvSpPr txBox="1"/>
          <p:nvPr/>
        </p:nvSpPr>
        <p:spPr>
          <a:xfrm>
            <a:off x="8201251" y="3684579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9F1BA1-442C-4D3A-B4FB-5D9651D2E2AE}"/>
              </a:ext>
            </a:extLst>
          </p:cNvPr>
          <p:cNvSpPr txBox="1"/>
          <p:nvPr/>
        </p:nvSpPr>
        <p:spPr>
          <a:xfrm>
            <a:off x="6174899" y="3601962"/>
            <a:ext cx="738664" cy="43088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600" dirty="0"/>
              <a:t>…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118786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124BF-D66D-491A-8E5A-14D385B8C0F3}"/>
              </a:ext>
            </a:extLst>
          </p:cNvPr>
          <p:cNvSpPr txBox="1"/>
          <p:nvPr/>
        </p:nvSpPr>
        <p:spPr>
          <a:xfrm>
            <a:off x="-76200" y="2171795"/>
            <a:ext cx="18669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 convolution</a:t>
            </a:r>
          </a:p>
          <a:p>
            <a:pPr algn="ctr"/>
            <a:r>
              <a:rPr lang="zh-CN" altLang="en-US" sz="2200" dirty="0"/>
              <a:t>卷积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146384-6AFE-44EA-B3CF-70D045504D01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33AF50-70BD-4AD1-89AA-A5FDC14C0613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1500ED-4016-444A-ADA3-205A4DC549DD}"/>
              </a:ext>
            </a:extLst>
          </p:cNvPr>
          <p:cNvSpPr/>
          <p:nvPr/>
        </p:nvSpPr>
        <p:spPr bwMode="auto">
          <a:xfrm>
            <a:off x="381000" y="3387328"/>
            <a:ext cx="228600" cy="228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37579-63C1-4BD8-A31E-B2AF160F7172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96C705-A70F-497C-B103-BED97E0600E7}"/>
              </a:ext>
            </a:extLst>
          </p:cNvPr>
          <p:cNvCxnSpPr/>
          <p:nvPr/>
        </p:nvCxnSpPr>
        <p:spPr bwMode="auto">
          <a:xfrm>
            <a:off x="495300" y="3501628"/>
            <a:ext cx="18669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49200E0-E7C5-4BB5-BF75-8C83375803D3}"/>
              </a:ext>
            </a:extLst>
          </p:cNvPr>
          <p:cNvSpPr txBox="1"/>
          <p:nvPr/>
        </p:nvSpPr>
        <p:spPr>
          <a:xfrm>
            <a:off x="1981200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4189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  <p:bldP spid="20" grpId="0"/>
      <p:bldP spid="21" grpId="0" animBg="1"/>
      <p:bldP spid="23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832D-4835-4541-B164-073AE581890B}"/>
              </a:ext>
            </a:extLst>
          </p:cNvPr>
          <p:cNvSpPr/>
          <p:nvPr/>
        </p:nvSpPr>
        <p:spPr bwMode="auto">
          <a:xfrm>
            <a:off x="381000" y="3387328"/>
            <a:ext cx="228600" cy="228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124BF-D66D-491A-8E5A-14D385B8C0F3}"/>
              </a:ext>
            </a:extLst>
          </p:cNvPr>
          <p:cNvSpPr txBox="1"/>
          <p:nvPr/>
        </p:nvSpPr>
        <p:spPr>
          <a:xfrm>
            <a:off x="0" y="1789529"/>
            <a:ext cx="19431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32 convolution operations</a:t>
            </a:r>
          </a:p>
          <a:p>
            <a:pPr algn="ctr"/>
            <a:r>
              <a:rPr lang="en-US" altLang="zh-CN" sz="2200" dirty="0"/>
              <a:t>32</a:t>
            </a:r>
            <a:r>
              <a:rPr lang="zh-CN" altLang="en-US" sz="2200" dirty="0"/>
              <a:t>个卷积操作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71237663-495A-4B2B-96D6-8511BD6FB0C5}"/>
              </a:ext>
            </a:extLst>
          </p:cNvPr>
          <p:cNvSpPr/>
          <p:nvPr/>
        </p:nvSpPr>
        <p:spPr bwMode="auto">
          <a:xfrm flipH="1">
            <a:off x="1981200" y="3133243"/>
            <a:ext cx="495300" cy="482685"/>
          </a:xfrm>
          <a:prstGeom prst="cube">
            <a:avLst>
              <a:gd name="adj" fmla="val 63651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3FDE57-D0AE-4327-B8B0-FF06CD2A4184}"/>
              </a:ext>
            </a:extLst>
          </p:cNvPr>
          <p:cNvSpPr txBox="1"/>
          <p:nvPr/>
        </p:nvSpPr>
        <p:spPr>
          <a:xfrm>
            <a:off x="1700211" y="2002369"/>
            <a:ext cx="18669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3x3x32 convolution</a:t>
            </a:r>
          </a:p>
          <a:p>
            <a:pPr algn="ctr"/>
            <a:r>
              <a:rPr lang="zh-CN" altLang="en-US" sz="2200" dirty="0"/>
              <a:t>卷积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1C8748-E46D-416F-99CF-608A1986910B}"/>
              </a:ext>
            </a:extLst>
          </p:cNvPr>
          <p:cNvCxnSpPr/>
          <p:nvPr/>
        </p:nvCxnSpPr>
        <p:spPr bwMode="auto">
          <a:xfrm>
            <a:off x="495300" y="3501628"/>
            <a:ext cx="18669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35E2B0-A46B-4D35-BE83-8E828FA37D62}"/>
              </a:ext>
            </a:extLst>
          </p:cNvPr>
          <p:cNvCxnSpPr>
            <a:cxnSpLocks/>
          </p:cNvCxnSpPr>
          <p:nvPr/>
        </p:nvCxnSpPr>
        <p:spPr bwMode="auto">
          <a:xfrm>
            <a:off x="2416751" y="3511911"/>
            <a:ext cx="17742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64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6" grpId="0"/>
      <p:bldP spid="17" grpId="0"/>
      <p:bldP spid="14" grpId="0" animBg="1"/>
      <p:bldP spid="15" grpId="0"/>
      <p:bldP spid="18" grpId="0" animBg="1"/>
      <p:bldP spid="19" grpId="0"/>
      <p:bldP spid="20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124BF-D66D-491A-8E5A-14D385B8C0F3}"/>
              </a:ext>
            </a:extLst>
          </p:cNvPr>
          <p:cNvSpPr txBox="1"/>
          <p:nvPr/>
        </p:nvSpPr>
        <p:spPr>
          <a:xfrm>
            <a:off x="1593532" y="1674334"/>
            <a:ext cx="19431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64 convolution operations</a:t>
            </a:r>
          </a:p>
          <a:p>
            <a:pPr algn="ctr"/>
            <a:r>
              <a:rPr lang="en-US" altLang="zh-CN" sz="2200" dirty="0"/>
              <a:t>64</a:t>
            </a:r>
            <a:r>
              <a:rPr lang="zh-CN" altLang="en-US" sz="2200" dirty="0"/>
              <a:t>个卷积操作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18" name="Cube 17">
            <a:extLst>
              <a:ext uri="{FF2B5EF4-FFF2-40B4-BE49-F238E27FC236}">
                <a16:creationId xmlns:a16="http://schemas.microsoft.com/office/drawing/2014/main" id="{71237663-495A-4B2B-96D6-8511BD6FB0C5}"/>
              </a:ext>
            </a:extLst>
          </p:cNvPr>
          <p:cNvSpPr/>
          <p:nvPr/>
        </p:nvSpPr>
        <p:spPr bwMode="auto">
          <a:xfrm flipH="1">
            <a:off x="1981200" y="3133243"/>
            <a:ext cx="495300" cy="482685"/>
          </a:xfrm>
          <a:prstGeom prst="cube">
            <a:avLst>
              <a:gd name="adj" fmla="val 63651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8E2E38-D2CC-437C-BA61-6BDF598B09EF}"/>
              </a:ext>
            </a:extLst>
          </p:cNvPr>
          <p:cNvSpPr/>
          <p:nvPr/>
        </p:nvSpPr>
        <p:spPr bwMode="auto">
          <a:xfrm>
            <a:off x="4077744" y="3429699"/>
            <a:ext cx="132306" cy="15170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BAA639-9C2B-4BB7-B3E1-27C2CFC841B6}"/>
              </a:ext>
            </a:extLst>
          </p:cNvPr>
          <p:cNvSpPr txBox="1"/>
          <p:nvPr/>
        </p:nvSpPr>
        <p:spPr>
          <a:xfrm>
            <a:off x="3496656" y="1859441"/>
            <a:ext cx="16435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2x2 max pooling</a:t>
            </a:r>
          </a:p>
          <a:p>
            <a:pPr algn="ctr"/>
            <a:r>
              <a:rPr lang="zh-CN" altLang="en-US" sz="2200" dirty="0"/>
              <a:t>最大值积聚</a:t>
            </a:r>
            <a:endParaRPr lang="en-US" altLang="zh-CN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6x6x64=2304</a:t>
            </a:r>
            <a:endParaRPr lang="zh-CN" altLang="en-US" sz="2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5F78E9-0EE4-4C29-98EC-718DEC3F0385}"/>
              </a:ext>
            </a:extLst>
          </p:cNvPr>
          <p:cNvCxnSpPr>
            <a:cxnSpLocks/>
          </p:cNvCxnSpPr>
          <p:nvPr/>
        </p:nvCxnSpPr>
        <p:spPr bwMode="auto">
          <a:xfrm>
            <a:off x="4143897" y="3505549"/>
            <a:ext cx="1643532" cy="63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35E2B0-A46B-4D35-BE83-8E828FA37D62}"/>
              </a:ext>
            </a:extLst>
          </p:cNvPr>
          <p:cNvCxnSpPr>
            <a:cxnSpLocks/>
          </p:cNvCxnSpPr>
          <p:nvPr/>
        </p:nvCxnSpPr>
        <p:spPr bwMode="auto">
          <a:xfrm>
            <a:off x="2416751" y="3511911"/>
            <a:ext cx="177424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127774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animBg="1"/>
      <p:bldP spid="22" grpId="0"/>
      <p:bldP spid="23" grpId="0" animBg="1"/>
      <p:bldP spid="24" grpId="0"/>
      <p:bldP spid="25" grpId="0" animBg="1"/>
      <p:bldP spid="26" grpId="0"/>
      <p:bldP spid="6" grpId="0" animBg="1"/>
      <p:bldP spid="2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2304</a:t>
            </a:r>
            <a:endParaRPr lang="zh-CN" alt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39882-6767-4A68-BE38-9C2A922BDB98}"/>
              </a:ext>
            </a:extLst>
          </p:cNvPr>
          <p:cNvSpPr/>
          <p:nvPr/>
        </p:nvSpPr>
        <p:spPr bwMode="auto">
          <a:xfrm>
            <a:off x="7118888" y="3040200"/>
            <a:ext cx="72581" cy="14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E73EB-AE69-4B11-B0B1-6E9EF69A0C1C}"/>
              </a:ext>
            </a:extLst>
          </p:cNvPr>
          <p:cNvSpPr txBox="1"/>
          <p:nvPr/>
        </p:nvSpPr>
        <p:spPr>
          <a:xfrm>
            <a:off x="7796438" y="4255425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0~9</a:t>
            </a:r>
            <a:endParaRPr lang="zh-CN" altLang="en-US" sz="22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3D74FA3-156F-4037-B682-3468A581BD02}"/>
              </a:ext>
            </a:extLst>
          </p:cNvPr>
          <p:cNvCxnSpPr>
            <a:stCxn id="6" idx="0"/>
            <a:endCxn id="30" idx="0"/>
          </p:cNvCxnSpPr>
          <p:nvPr/>
        </p:nvCxnSpPr>
        <p:spPr bwMode="auto">
          <a:xfrm>
            <a:off x="5787431" y="2626256"/>
            <a:ext cx="1367748" cy="4139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26751F-AC8E-4A5C-B4FC-E77F818ED0F4}"/>
              </a:ext>
            </a:extLst>
          </p:cNvPr>
          <p:cNvCxnSpPr>
            <a:cxnSpLocks/>
            <a:stCxn id="6" idx="2"/>
            <a:endCxn id="30" idx="2"/>
          </p:cNvCxnSpPr>
          <p:nvPr/>
        </p:nvCxnSpPr>
        <p:spPr bwMode="auto">
          <a:xfrm flipV="1">
            <a:off x="5787431" y="4480200"/>
            <a:ext cx="1367748" cy="3890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D9F34C1-8DD4-4ED1-BAD6-6A175A469602}"/>
              </a:ext>
            </a:extLst>
          </p:cNvPr>
          <p:cNvSpPr txBox="1"/>
          <p:nvPr/>
        </p:nvSpPr>
        <p:spPr>
          <a:xfrm>
            <a:off x="5534357" y="1525201"/>
            <a:ext cx="18468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  <a:endParaRPr lang="en-US" altLang="zh-CN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01FC8A-9840-46A0-B44B-5F52FBDC2469}"/>
              </a:ext>
            </a:extLst>
          </p:cNvPr>
          <p:cNvSpPr/>
          <p:nvPr/>
        </p:nvSpPr>
        <p:spPr bwMode="auto">
          <a:xfrm>
            <a:off x="8216155" y="3387732"/>
            <a:ext cx="72581" cy="72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5B39F9A-88BC-4606-8735-C7FBB94ADED9}"/>
              </a:ext>
            </a:extLst>
          </p:cNvPr>
          <p:cNvCxnSpPr>
            <a:cxnSpLocks/>
            <a:stCxn id="30" idx="0"/>
            <a:endCxn id="34" idx="0"/>
          </p:cNvCxnSpPr>
          <p:nvPr/>
        </p:nvCxnSpPr>
        <p:spPr bwMode="auto">
          <a:xfrm>
            <a:off x="7155179" y="3040200"/>
            <a:ext cx="1097267" cy="3475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42F3C4E-D89E-47CD-A8E9-B91617932FD9}"/>
              </a:ext>
            </a:extLst>
          </p:cNvPr>
          <p:cNvCxnSpPr>
            <a:cxnSpLocks/>
            <a:stCxn id="30" idx="2"/>
            <a:endCxn id="34" idx="2"/>
          </p:cNvCxnSpPr>
          <p:nvPr/>
        </p:nvCxnSpPr>
        <p:spPr bwMode="auto">
          <a:xfrm flipV="1">
            <a:off x="7155179" y="4107732"/>
            <a:ext cx="1097267" cy="372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0A5309A-0E4E-4262-8F1C-0EBDF72C0BA4}"/>
              </a:ext>
            </a:extLst>
          </p:cNvPr>
          <p:cNvSpPr txBox="1"/>
          <p:nvPr/>
        </p:nvSpPr>
        <p:spPr>
          <a:xfrm>
            <a:off x="6688088" y="2321447"/>
            <a:ext cx="2253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  <a:endParaRPr lang="en-US" altLang="zh-CN" sz="2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ECC93-B867-4E1A-9D16-1ABF90EB49AD}"/>
              </a:ext>
            </a:extLst>
          </p:cNvPr>
          <p:cNvSpPr txBox="1"/>
          <p:nvPr/>
        </p:nvSpPr>
        <p:spPr>
          <a:xfrm>
            <a:off x="6792807" y="4774189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128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8097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3" grpId="0"/>
      <p:bldP spid="34" grpId="0" animBg="1"/>
      <p:bldP spid="4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2304</a:t>
            </a:r>
            <a:endParaRPr lang="zh-CN" alt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39882-6767-4A68-BE38-9C2A922BDB98}"/>
              </a:ext>
            </a:extLst>
          </p:cNvPr>
          <p:cNvSpPr/>
          <p:nvPr/>
        </p:nvSpPr>
        <p:spPr bwMode="auto">
          <a:xfrm>
            <a:off x="7118888" y="3040200"/>
            <a:ext cx="72581" cy="14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E73EB-AE69-4B11-B0B1-6E9EF69A0C1C}"/>
              </a:ext>
            </a:extLst>
          </p:cNvPr>
          <p:cNvSpPr txBox="1"/>
          <p:nvPr/>
        </p:nvSpPr>
        <p:spPr>
          <a:xfrm>
            <a:off x="7796438" y="4255425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0~9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F34C1-8DD4-4ED1-BAD6-6A175A469602}"/>
              </a:ext>
            </a:extLst>
          </p:cNvPr>
          <p:cNvSpPr txBox="1"/>
          <p:nvPr/>
        </p:nvSpPr>
        <p:spPr>
          <a:xfrm>
            <a:off x="5534357" y="1525201"/>
            <a:ext cx="18468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  <a:endParaRPr lang="en-US" altLang="zh-CN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01FC8A-9840-46A0-B44B-5F52FBDC2469}"/>
              </a:ext>
            </a:extLst>
          </p:cNvPr>
          <p:cNvSpPr/>
          <p:nvPr/>
        </p:nvSpPr>
        <p:spPr bwMode="auto">
          <a:xfrm>
            <a:off x="8216155" y="3387732"/>
            <a:ext cx="72581" cy="72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A5309A-0E4E-4262-8F1C-0EBDF72C0BA4}"/>
              </a:ext>
            </a:extLst>
          </p:cNvPr>
          <p:cNvSpPr txBox="1"/>
          <p:nvPr/>
        </p:nvSpPr>
        <p:spPr>
          <a:xfrm>
            <a:off x="6688088" y="2321447"/>
            <a:ext cx="2253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  <a:endParaRPr lang="en-US" altLang="zh-CN" sz="2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ECC93-B867-4E1A-9D16-1ABF90EB49AD}"/>
              </a:ext>
            </a:extLst>
          </p:cNvPr>
          <p:cNvSpPr txBox="1"/>
          <p:nvPr/>
        </p:nvSpPr>
        <p:spPr>
          <a:xfrm>
            <a:off x="6792807" y="4774189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128</a:t>
            </a:r>
            <a:endParaRPr lang="zh-CN" alt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624FD-3814-488B-9CA8-C61AEE29C627}"/>
              </a:ext>
            </a:extLst>
          </p:cNvPr>
          <p:cNvSpPr txBox="1"/>
          <p:nvPr/>
        </p:nvSpPr>
        <p:spPr>
          <a:xfrm>
            <a:off x="2184965" y="197789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36BD3-5E38-4C59-926D-C45AE788E4A9}"/>
              </a:ext>
            </a:extLst>
          </p:cNvPr>
          <p:cNvSpPr txBox="1"/>
          <p:nvPr/>
        </p:nvSpPr>
        <p:spPr>
          <a:xfrm>
            <a:off x="543102" y="2352438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7F65B-02A0-401F-A175-A4175525B639}"/>
              </a:ext>
            </a:extLst>
          </p:cNvPr>
          <p:cNvSpPr txBox="1"/>
          <p:nvPr/>
        </p:nvSpPr>
        <p:spPr>
          <a:xfrm>
            <a:off x="3962385" y="208793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Pooling</a:t>
            </a:r>
          </a:p>
          <a:p>
            <a:pPr algn="ctr"/>
            <a:r>
              <a:rPr lang="zh-CN" altLang="en-US" sz="2200" dirty="0"/>
              <a:t>积聚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C0337-2372-4874-832E-C65462CFB34A}"/>
              </a:ext>
            </a:extLst>
          </p:cNvPr>
          <p:cNvSpPr txBox="1"/>
          <p:nvPr/>
        </p:nvSpPr>
        <p:spPr>
          <a:xfrm>
            <a:off x="720722" y="1953179"/>
            <a:ext cx="5355578" cy="433863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b">
            <a:noAutofit/>
          </a:bodyPr>
          <a:lstStyle/>
          <a:p>
            <a:r>
              <a:rPr lang="en-US" altLang="zh-CN" sz="2200" dirty="0"/>
              <a:t>Application-specific: considering hand-written ZIP code image characteristics </a:t>
            </a:r>
          </a:p>
          <a:p>
            <a:r>
              <a:rPr lang="zh-CN" altLang="en-US" sz="2200" dirty="0"/>
              <a:t>特定应用：考虑了手写邮政编码图像特性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61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for USPS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用于</a:t>
            </a:r>
            <a:r>
              <a:rPr lang="en-US" altLang="zh-CN" dirty="0">
                <a:ea typeface="ＭＳ Ｐゴシック" panose="020B0600070205080204" pitchFamily="34" charset="-128"/>
              </a:rPr>
              <a:t>USPS</a:t>
            </a:r>
            <a:r>
              <a:rPr lang="zh-CN" altLang="en-US" dirty="0">
                <a:ea typeface="ＭＳ Ｐゴシック" panose="020B0600070205080204" pitchFamily="34" charset="-128"/>
              </a:rPr>
              <a:t>的卷积神经网络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2304</a:t>
            </a:r>
            <a:endParaRPr lang="zh-CN" alt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39882-6767-4A68-BE38-9C2A922BDB98}"/>
              </a:ext>
            </a:extLst>
          </p:cNvPr>
          <p:cNvSpPr/>
          <p:nvPr/>
        </p:nvSpPr>
        <p:spPr bwMode="auto">
          <a:xfrm>
            <a:off x="7118888" y="3040200"/>
            <a:ext cx="72581" cy="14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E73EB-AE69-4B11-B0B1-6E9EF69A0C1C}"/>
              </a:ext>
            </a:extLst>
          </p:cNvPr>
          <p:cNvSpPr txBox="1"/>
          <p:nvPr/>
        </p:nvSpPr>
        <p:spPr>
          <a:xfrm>
            <a:off x="7796438" y="4255425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0~9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F34C1-8DD4-4ED1-BAD6-6A175A469602}"/>
              </a:ext>
            </a:extLst>
          </p:cNvPr>
          <p:cNvSpPr txBox="1"/>
          <p:nvPr/>
        </p:nvSpPr>
        <p:spPr>
          <a:xfrm>
            <a:off x="5534357" y="1525201"/>
            <a:ext cx="18468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  <a:endParaRPr lang="en-US" altLang="zh-CN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01FC8A-9840-46A0-B44B-5F52FBDC2469}"/>
              </a:ext>
            </a:extLst>
          </p:cNvPr>
          <p:cNvSpPr/>
          <p:nvPr/>
        </p:nvSpPr>
        <p:spPr bwMode="auto">
          <a:xfrm>
            <a:off x="8216155" y="3387732"/>
            <a:ext cx="72581" cy="72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A5309A-0E4E-4262-8F1C-0EBDF72C0BA4}"/>
              </a:ext>
            </a:extLst>
          </p:cNvPr>
          <p:cNvSpPr txBox="1"/>
          <p:nvPr/>
        </p:nvSpPr>
        <p:spPr>
          <a:xfrm>
            <a:off x="6688088" y="2321447"/>
            <a:ext cx="2253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  <a:endParaRPr lang="en-US" altLang="zh-CN" sz="2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ECC93-B867-4E1A-9D16-1ABF90EB49AD}"/>
              </a:ext>
            </a:extLst>
          </p:cNvPr>
          <p:cNvSpPr txBox="1"/>
          <p:nvPr/>
        </p:nvSpPr>
        <p:spPr>
          <a:xfrm>
            <a:off x="6792807" y="4774189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128</a:t>
            </a:r>
            <a:endParaRPr lang="zh-CN" alt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624FD-3814-488B-9CA8-C61AEE29C627}"/>
              </a:ext>
            </a:extLst>
          </p:cNvPr>
          <p:cNvSpPr txBox="1"/>
          <p:nvPr/>
        </p:nvSpPr>
        <p:spPr>
          <a:xfrm>
            <a:off x="2184965" y="197789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36BD3-5E38-4C59-926D-C45AE788E4A9}"/>
              </a:ext>
            </a:extLst>
          </p:cNvPr>
          <p:cNvSpPr txBox="1"/>
          <p:nvPr/>
        </p:nvSpPr>
        <p:spPr>
          <a:xfrm>
            <a:off x="543102" y="2352438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7F65B-02A0-401F-A175-A4175525B639}"/>
              </a:ext>
            </a:extLst>
          </p:cNvPr>
          <p:cNvSpPr txBox="1"/>
          <p:nvPr/>
        </p:nvSpPr>
        <p:spPr>
          <a:xfrm>
            <a:off x="3962385" y="208793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Pooling</a:t>
            </a:r>
          </a:p>
          <a:p>
            <a:pPr algn="ctr"/>
            <a:r>
              <a:rPr lang="zh-CN" altLang="en-US" sz="2200" dirty="0"/>
              <a:t>积聚</a:t>
            </a:r>
            <a:endParaRPr lang="en-US" altLang="zh-C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C0337-2372-4874-832E-C65462CFB34A}"/>
              </a:ext>
            </a:extLst>
          </p:cNvPr>
          <p:cNvSpPr txBox="1"/>
          <p:nvPr/>
        </p:nvSpPr>
        <p:spPr>
          <a:xfrm>
            <a:off x="5430259" y="1532780"/>
            <a:ext cx="3170639" cy="425316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b">
            <a:noAutofit/>
          </a:bodyPr>
          <a:lstStyle/>
          <a:p>
            <a:r>
              <a:rPr lang="en-US" altLang="zh-CN" sz="2200" dirty="0"/>
              <a:t>General-purpose  </a:t>
            </a:r>
            <a:r>
              <a:rPr lang="zh-CN" altLang="en-US" sz="2200" dirty="0"/>
              <a:t>通用</a:t>
            </a:r>
          </a:p>
        </p:txBody>
      </p:sp>
    </p:spTree>
    <p:extLst>
      <p:ext uri="{BB962C8B-B14F-4D97-AF65-F5344CB8AC3E}">
        <p14:creationId xmlns:p14="http://schemas.microsoft.com/office/powerpoint/2010/main" val="10699964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CNN Training  </a:t>
            </a:r>
            <a:r>
              <a:rPr lang="zh-CN" altLang="en-US" dirty="0">
                <a:ea typeface="ＭＳ Ｐゴシック" panose="020B0600070205080204" pitchFamily="34" charset="-128"/>
              </a:rPr>
              <a:t>训练卷积神经网络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Similar to Logistic Regression</a:t>
            </a:r>
            <a:br>
              <a:rPr lang="en-US" altLang="zh-CN" dirty="0"/>
            </a:br>
            <a:r>
              <a:rPr lang="zh-CN" altLang="en-US" dirty="0"/>
              <a:t>和对数几率回归类似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Minimize the loss (MLE); recall the alternative margin  </a:t>
            </a:r>
            <a:r>
              <a:rPr lang="zh-CN" altLang="en-US" dirty="0"/>
              <a:t>损失最小化（极大似然估计）；回忆一下别样的间距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Gradient descent  </a:t>
            </a:r>
            <a:r>
              <a:rPr lang="zh-CN" altLang="en-US" dirty="0"/>
              <a:t>梯度下降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But It Is More Complicated</a:t>
            </a:r>
            <a:br>
              <a:rPr lang="en-US" altLang="zh-CN" dirty="0"/>
            </a:br>
            <a:r>
              <a:rPr lang="zh-CN" altLang="en-US" dirty="0"/>
              <a:t>但它更复杂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Needs many additional tricks  </a:t>
            </a:r>
            <a:br>
              <a:rPr lang="en-US" altLang="zh-CN" dirty="0"/>
            </a:br>
            <a:r>
              <a:rPr lang="zh-CN" altLang="en-US" dirty="0"/>
              <a:t>需要很多额外技巧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3276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Gradient calculation  </a:t>
            </a:r>
            <a:r>
              <a:rPr lang="zh-CN" altLang="en-US" dirty="0">
                <a:ea typeface="ＭＳ Ｐゴシック" panose="020B0600070205080204" pitchFamily="34" charset="-128"/>
              </a:rPr>
              <a:t>梯度计算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2304</a:t>
            </a:r>
            <a:endParaRPr lang="zh-CN" alt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39882-6767-4A68-BE38-9C2A922BDB98}"/>
              </a:ext>
            </a:extLst>
          </p:cNvPr>
          <p:cNvSpPr/>
          <p:nvPr/>
        </p:nvSpPr>
        <p:spPr bwMode="auto">
          <a:xfrm>
            <a:off x="7118888" y="3040200"/>
            <a:ext cx="72581" cy="14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E73EB-AE69-4B11-B0B1-6E9EF69A0C1C}"/>
              </a:ext>
            </a:extLst>
          </p:cNvPr>
          <p:cNvSpPr txBox="1"/>
          <p:nvPr/>
        </p:nvSpPr>
        <p:spPr>
          <a:xfrm>
            <a:off x="7796438" y="4255425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0~9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F34C1-8DD4-4ED1-BAD6-6A175A469602}"/>
              </a:ext>
            </a:extLst>
          </p:cNvPr>
          <p:cNvSpPr txBox="1"/>
          <p:nvPr/>
        </p:nvSpPr>
        <p:spPr>
          <a:xfrm>
            <a:off x="5534357" y="1525201"/>
            <a:ext cx="18468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  <a:endParaRPr lang="en-US" altLang="zh-CN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01FC8A-9840-46A0-B44B-5F52FBDC2469}"/>
              </a:ext>
            </a:extLst>
          </p:cNvPr>
          <p:cNvSpPr/>
          <p:nvPr/>
        </p:nvSpPr>
        <p:spPr bwMode="auto">
          <a:xfrm>
            <a:off x="8216155" y="3387732"/>
            <a:ext cx="72581" cy="72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A5309A-0E4E-4262-8F1C-0EBDF72C0BA4}"/>
              </a:ext>
            </a:extLst>
          </p:cNvPr>
          <p:cNvSpPr txBox="1"/>
          <p:nvPr/>
        </p:nvSpPr>
        <p:spPr>
          <a:xfrm>
            <a:off x="6688088" y="2321447"/>
            <a:ext cx="2253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  <a:endParaRPr lang="en-US" altLang="zh-CN" sz="2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ECC93-B867-4E1A-9D16-1ABF90EB49AD}"/>
              </a:ext>
            </a:extLst>
          </p:cNvPr>
          <p:cNvSpPr txBox="1"/>
          <p:nvPr/>
        </p:nvSpPr>
        <p:spPr>
          <a:xfrm>
            <a:off x="6792807" y="4774189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128</a:t>
            </a:r>
            <a:endParaRPr lang="zh-CN" alt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624FD-3814-488B-9CA8-C61AEE29C627}"/>
              </a:ext>
            </a:extLst>
          </p:cNvPr>
          <p:cNvSpPr txBox="1"/>
          <p:nvPr/>
        </p:nvSpPr>
        <p:spPr>
          <a:xfrm>
            <a:off x="2184965" y="197789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36BD3-5E38-4C59-926D-C45AE788E4A9}"/>
              </a:ext>
            </a:extLst>
          </p:cNvPr>
          <p:cNvSpPr txBox="1"/>
          <p:nvPr/>
        </p:nvSpPr>
        <p:spPr>
          <a:xfrm>
            <a:off x="543102" y="2352438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7F65B-02A0-401F-A175-A4175525B639}"/>
              </a:ext>
            </a:extLst>
          </p:cNvPr>
          <p:cNvSpPr txBox="1"/>
          <p:nvPr/>
        </p:nvSpPr>
        <p:spPr>
          <a:xfrm>
            <a:off x="3962385" y="208793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Pooling</a:t>
            </a:r>
          </a:p>
          <a:p>
            <a:pPr algn="ctr"/>
            <a:r>
              <a:rPr lang="zh-CN" altLang="en-US" sz="2200" dirty="0"/>
              <a:t>积聚</a:t>
            </a:r>
            <a:endParaRPr lang="en-US" altLang="zh-CN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2E77F3-B4A7-4502-BE47-87F2FC09E062}"/>
              </a:ext>
            </a:extLst>
          </p:cNvPr>
          <p:cNvSpPr txBox="1"/>
          <p:nvPr/>
        </p:nvSpPr>
        <p:spPr>
          <a:xfrm>
            <a:off x="0" y="555515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Forward calculation of loss</a:t>
            </a:r>
          </a:p>
          <a:p>
            <a:pPr algn="ctr"/>
            <a:r>
              <a:rPr lang="zh-CN" altLang="en-US" sz="2200" dirty="0"/>
              <a:t>前向计算损失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C9EB7D-0A07-4123-B080-9A07C9F05953}"/>
              </a:ext>
            </a:extLst>
          </p:cNvPr>
          <p:cNvCxnSpPr>
            <a:cxnSpLocks/>
          </p:cNvCxnSpPr>
          <p:nvPr/>
        </p:nvCxnSpPr>
        <p:spPr bwMode="auto">
          <a:xfrm>
            <a:off x="3194155" y="5410631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17D6EF-1752-470C-9BCE-088295AEBA48}"/>
                  </a:ext>
                </a:extLst>
              </p:cNvPr>
              <p:cNvSpPr txBox="1"/>
              <p:nvPr/>
            </p:nvSpPr>
            <p:spPr>
              <a:xfrm>
                <a:off x="1096963" y="5205076"/>
                <a:ext cx="1846816" cy="45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17D6EF-1752-470C-9BCE-088295AEB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963" y="5205076"/>
                <a:ext cx="1846816" cy="459869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7CEA72-8BD9-4A37-8095-3506CD54C113}"/>
                  </a:ext>
                </a:extLst>
              </p:cNvPr>
              <p:cNvSpPr txBox="1"/>
              <p:nvPr/>
            </p:nvSpPr>
            <p:spPr>
              <a:xfrm>
                <a:off x="6632428" y="5180696"/>
                <a:ext cx="1846816" cy="459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77CEA72-8BD9-4A37-8095-3506CD54C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428" y="5180696"/>
                <a:ext cx="1846816" cy="459869"/>
              </a:xfrm>
              <a:prstGeom prst="rect">
                <a:avLst/>
              </a:prstGeom>
              <a:blipFill>
                <a:blip r:embed="rId7"/>
                <a:stretch>
                  <a:fillRect l="-7921" r="-8251" b="-14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78678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3" grpId="0" animBg="1"/>
      <p:bldP spid="17" grpId="0"/>
      <p:bldP spid="14" grpId="0" animBg="1"/>
      <p:bldP spid="15" grpId="0"/>
      <p:bldP spid="20" grpId="0" animBg="1"/>
      <p:bldP spid="22" grpId="0"/>
      <p:bldP spid="23" grpId="0" animBg="1"/>
      <p:bldP spid="24" grpId="0"/>
      <p:bldP spid="6" grpId="0" animBg="1"/>
      <p:bldP spid="27" grpId="0"/>
      <p:bldP spid="30" grpId="0" animBg="1"/>
      <p:bldP spid="31" grpId="0"/>
      <p:bldP spid="33" grpId="0"/>
      <p:bldP spid="34" grpId="0" animBg="1"/>
      <p:bldP spid="40" grpId="0"/>
      <p:bldP spid="41" grpId="0"/>
      <p:bldP spid="26" grpId="0"/>
      <p:bldP spid="28" grpId="0"/>
      <p:bldP spid="29" grpId="0"/>
      <p:bldP spid="32" grpId="0"/>
      <p:bldP spid="36" grpId="0"/>
      <p:bldP spid="3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Gradient calculation  </a:t>
            </a:r>
            <a:r>
              <a:rPr lang="zh-CN" altLang="en-US" dirty="0">
                <a:ea typeface="ＭＳ Ｐゴシック" panose="020B0600070205080204" pitchFamily="34" charset="-128"/>
              </a:rPr>
              <a:t>梯度计算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67B0-F01C-4347-95CE-720DDB2F3B14}"/>
              </a:ext>
            </a:extLst>
          </p:cNvPr>
          <p:cNvSpPr/>
          <p:nvPr/>
        </p:nvSpPr>
        <p:spPr bwMode="auto">
          <a:xfrm>
            <a:off x="381000" y="3387328"/>
            <a:ext cx="1163637" cy="106918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D65888-FD5B-425E-A1AB-BE376F7D983E}"/>
              </a:ext>
            </a:extLst>
          </p:cNvPr>
          <p:cNvSpPr txBox="1"/>
          <p:nvPr/>
        </p:nvSpPr>
        <p:spPr>
          <a:xfrm>
            <a:off x="381000" y="4621789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16x16</a:t>
            </a:r>
            <a:endParaRPr lang="zh-CN" altLang="en-US" sz="2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A50ED8-29A3-4189-9ADE-A37597C7707B}"/>
              </a:ext>
            </a:extLst>
          </p:cNvPr>
          <p:cNvSpPr/>
          <p:nvPr/>
        </p:nvSpPr>
        <p:spPr bwMode="auto">
          <a:xfrm>
            <a:off x="2295525" y="3435977"/>
            <a:ext cx="990600" cy="95607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5D9B7-E78F-4CC7-87F0-457EF14D6FC0}"/>
              </a:ext>
            </a:extLst>
          </p:cNvPr>
          <p:cNvSpPr txBox="1"/>
          <p:nvPr/>
        </p:nvSpPr>
        <p:spPr>
          <a:xfrm>
            <a:off x="1988821" y="4458558"/>
            <a:ext cx="1152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</a:t>
            </a:r>
            <a:endParaRPr lang="zh-CN" altLang="en-US" sz="2200" dirty="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B4CE4BED-8CE3-443C-B542-5B25E0092C59}"/>
              </a:ext>
            </a:extLst>
          </p:cNvPr>
          <p:cNvSpPr/>
          <p:nvPr/>
        </p:nvSpPr>
        <p:spPr bwMode="auto">
          <a:xfrm flipH="1">
            <a:off x="1981201" y="3121880"/>
            <a:ext cx="1304923" cy="1270169"/>
          </a:xfrm>
          <a:prstGeom prst="cube">
            <a:avLst>
              <a:gd name="adj" fmla="val 249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EAAA4-6F0E-4DE5-93ED-7A8E134ED35C}"/>
              </a:ext>
            </a:extLst>
          </p:cNvPr>
          <p:cNvSpPr txBox="1"/>
          <p:nvPr/>
        </p:nvSpPr>
        <p:spPr>
          <a:xfrm>
            <a:off x="1981200" y="4458558"/>
            <a:ext cx="16716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14x14x32</a:t>
            </a:r>
            <a:endParaRPr lang="zh-CN" altLang="en-US" sz="2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0E13A0-348E-4912-94E1-9F13EE7A445A}"/>
              </a:ext>
            </a:extLst>
          </p:cNvPr>
          <p:cNvSpPr/>
          <p:nvPr/>
        </p:nvSpPr>
        <p:spPr bwMode="auto">
          <a:xfrm>
            <a:off x="4071143" y="3429000"/>
            <a:ext cx="863311" cy="85898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202E10-679E-444D-9573-2E6C240A0664}"/>
              </a:ext>
            </a:extLst>
          </p:cNvPr>
          <p:cNvSpPr txBox="1"/>
          <p:nvPr/>
        </p:nvSpPr>
        <p:spPr>
          <a:xfrm>
            <a:off x="4007499" y="4364788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</a:t>
            </a:r>
            <a:endParaRPr lang="zh-CN" altLang="en-US" sz="2200" dirty="0"/>
          </a:p>
        </p:txBody>
      </p:sp>
      <p:sp>
        <p:nvSpPr>
          <p:cNvPr id="23" name="Cube 22">
            <a:extLst>
              <a:ext uri="{FF2B5EF4-FFF2-40B4-BE49-F238E27FC236}">
                <a16:creationId xmlns:a16="http://schemas.microsoft.com/office/drawing/2014/main" id="{FAB7361A-4276-4E02-B8B2-DABE86C069A4}"/>
              </a:ext>
            </a:extLst>
          </p:cNvPr>
          <p:cNvSpPr/>
          <p:nvPr/>
        </p:nvSpPr>
        <p:spPr bwMode="auto">
          <a:xfrm flipH="1">
            <a:off x="3744686" y="3096986"/>
            <a:ext cx="1186543" cy="1181101"/>
          </a:xfrm>
          <a:prstGeom prst="cube">
            <a:avLst>
              <a:gd name="adj" fmla="val 277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34A376-85B3-4F9B-AB9D-101443F798CF}"/>
              </a:ext>
            </a:extLst>
          </p:cNvPr>
          <p:cNvSpPr txBox="1"/>
          <p:nvPr/>
        </p:nvSpPr>
        <p:spPr>
          <a:xfrm>
            <a:off x="3974783" y="4364270"/>
            <a:ext cx="1559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12x12x64</a:t>
            </a:r>
            <a:endParaRPr lang="zh-CN" altLang="en-US" sz="2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32B2D-102B-4F44-9B9F-4F4424530DBA}"/>
              </a:ext>
            </a:extLst>
          </p:cNvPr>
          <p:cNvSpPr/>
          <p:nvPr/>
        </p:nvSpPr>
        <p:spPr bwMode="auto">
          <a:xfrm>
            <a:off x="5751140" y="2626256"/>
            <a:ext cx="72581" cy="2242952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099FD8-322A-42EE-8B7D-1E0F377F45D6}"/>
              </a:ext>
            </a:extLst>
          </p:cNvPr>
          <p:cNvSpPr txBox="1"/>
          <p:nvPr/>
        </p:nvSpPr>
        <p:spPr>
          <a:xfrm>
            <a:off x="4100604" y="4945058"/>
            <a:ext cx="20791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2304</a:t>
            </a:r>
            <a:endParaRPr lang="zh-CN" altLang="en-US" sz="2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A39882-6767-4A68-BE38-9C2A922BDB98}"/>
              </a:ext>
            </a:extLst>
          </p:cNvPr>
          <p:cNvSpPr/>
          <p:nvPr/>
        </p:nvSpPr>
        <p:spPr bwMode="auto">
          <a:xfrm>
            <a:off x="7118888" y="3040200"/>
            <a:ext cx="72581" cy="144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E73EB-AE69-4B11-B0B1-6E9EF69A0C1C}"/>
              </a:ext>
            </a:extLst>
          </p:cNvPr>
          <p:cNvSpPr txBox="1"/>
          <p:nvPr/>
        </p:nvSpPr>
        <p:spPr>
          <a:xfrm>
            <a:off x="7796438" y="4255425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0~9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9F34C1-8DD4-4ED1-BAD6-6A175A469602}"/>
              </a:ext>
            </a:extLst>
          </p:cNvPr>
          <p:cNvSpPr txBox="1"/>
          <p:nvPr/>
        </p:nvSpPr>
        <p:spPr>
          <a:xfrm>
            <a:off x="5534357" y="1525201"/>
            <a:ext cx="18468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  <a:endParaRPr lang="en-US" altLang="zh-CN" sz="2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01FC8A-9840-46A0-B44B-5F52FBDC2469}"/>
              </a:ext>
            </a:extLst>
          </p:cNvPr>
          <p:cNvSpPr/>
          <p:nvPr/>
        </p:nvSpPr>
        <p:spPr bwMode="auto">
          <a:xfrm>
            <a:off x="8216155" y="3387732"/>
            <a:ext cx="72581" cy="720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A5309A-0E4E-4262-8F1C-0EBDF72C0BA4}"/>
              </a:ext>
            </a:extLst>
          </p:cNvPr>
          <p:cNvSpPr txBox="1"/>
          <p:nvPr/>
        </p:nvSpPr>
        <p:spPr>
          <a:xfrm>
            <a:off x="6688088" y="2321447"/>
            <a:ext cx="22533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  <a:endParaRPr lang="en-US" altLang="zh-CN" sz="2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D9ECC93-B867-4E1A-9D16-1ABF90EB49AD}"/>
              </a:ext>
            </a:extLst>
          </p:cNvPr>
          <p:cNvSpPr txBox="1"/>
          <p:nvPr/>
        </p:nvSpPr>
        <p:spPr>
          <a:xfrm>
            <a:off x="6792807" y="4774189"/>
            <a:ext cx="763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200" dirty="0"/>
              <a:t>128</a:t>
            </a:r>
            <a:endParaRPr lang="zh-CN" altLang="en-US" sz="2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3624FD-3814-488B-9CA8-C61AEE29C627}"/>
              </a:ext>
            </a:extLst>
          </p:cNvPr>
          <p:cNvSpPr txBox="1"/>
          <p:nvPr/>
        </p:nvSpPr>
        <p:spPr>
          <a:xfrm>
            <a:off x="2184965" y="197789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D36BD3-5E38-4C59-926D-C45AE788E4A9}"/>
              </a:ext>
            </a:extLst>
          </p:cNvPr>
          <p:cNvSpPr txBox="1"/>
          <p:nvPr/>
        </p:nvSpPr>
        <p:spPr>
          <a:xfrm>
            <a:off x="543102" y="2352438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Convolution</a:t>
            </a:r>
            <a:r>
              <a:rPr lang="zh-CN" altLang="en-US" sz="2200" dirty="0"/>
              <a:t>卷积</a:t>
            </a:r>
            <a:endParaRPr lang="en-US" altLang="zh-CN" sz="2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7F65B-02A0-401F-A175-A4175525B639}"/>
              </a:ext>
            </a:extLst>
          </p:cNvPr>
          <p:cNvSpPr txBox="1"/>
          <p:nvPr/>
        </p:nvSpPr>
        <p:spPr>
          <a:xfrm>
            <a:off x="3962385" y="2087934"/>
            <a:ext cx="1846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Pooling</a:t>
            </a:r>
          </a:p>
          <a:p>
            <a:pPr algn="ctr"/>
            <a:r>
              <a:rPr lang="zh-CN" altLang="en-US" sz="2200" dirty="0"/>
              <a:t>积聚</a:t>
            </a:r>
            <a:endParaRPr lang="en-US" altLang="zh-CN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2E77F3-B4A7-4502-BE47-87F2FC09E062}"/>
              </a:ext>
            </a:extLst>
          </p:cNvPr>
          <p:cNvSpPr txBox="1"/>
          <p:nvPr/>
        </p:nvSpPr>
        <p:spPr>
          <a:xfrm>
            <a:off x="0" y="5555159"/>
            <a:ext cx="8915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Back-propagation of gradient</a:t>
            </a:r>
          </a:p>
          <a:p>
            <a:pPr algn="ctr"/>
            <a:r>
              <a:rPr lang="zh-CN" altLang="en-US" sz="2200" dirty="0"/>
              <a:t>梯度方向传播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BC9EB7D-0A07-4123-B080-9A07C9F05953}"/>
              </a:ext>
            </a:extLst>
          </p:cNvPr>
          <p:cNvCxnSpPr>
            <a:cxnSpLocks/>
          </p:cNvCxnSpPr>
          <p:nvPr/>
        </p:nvCxnSpPr>
        <p:spPr bwMode="auto">
          <a:xfrm>
            <a:off x="3194155" y="5410631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17D6EF-1752-470C-9BCE-088295AEBA48}"/>
                  </a:ext>
                </a:extLst>
              </p:cNvPr>
              <p:cNvSpPr txBox="1"/>
              <p:nvPr/>
            </p:nvSpPr>
            <p:spPr>
              <a:xfrm>
                <a:off x="6922715" y="3551669"/>
                <a:ext cx="18468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717D6EF-1752-470C-9BCE-088295AEB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715" y="3551669"/>
                <a:ext cx="1846816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FDA1E63-4891-4E52-8C16-4167D5CB9EFE}"/>
                  </a:ext>
                </a:extLst>
              </p:cNvPr>
              <p:cNvSpPr txBox="1"/>
              <p:nvPr/>
            </p:nvSpPr>
            <p:spPr>
              <a:xfrm>
                <a:off x="5556191" y="3541158"/>
                <a:ext cx="18468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FDA1E63-4891-4E52-8C16-4167D5CB9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6191" y="3541158"/>
                <a:ext cx="1846816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64C052-2269-4CBB-BA3F-691B529C5AE1}"/>
                  </a:ext>
                </a:extLst>
              </p:cNvPr>
              <p:cNvSpPr txBox="1"/>
              <p:nvPr/>
            </p:nvSpPr>
            <p:spPr>
              <a:xfrm>
                <a:off x="2610884" y="3541158"/>
                <a:ext cx="18468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E64C052-2269-4CBB-BA3F-691B529C5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884" y="3541158"/>
                <a:ext cx="1846816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8EC0E28-2736-487A-8A38-726B101360AA}"/>
                  </a:ext>
                </a:extLst>
              </p:cNvPr>
              <p:cNvSpPr txBox="1"/>
              <p:nvPr/>
            </p:nvSpPr>
            <p:spPr>
              <a:xfrm>
                <a:off x="758044" y="3551668"/>
                <a:ext cx="184681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8EC0E28-2736-487A-8A38-726B1013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44" y="3551668"/>
                <a:ext cx="1846816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70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/>
      <p:bldP spid="4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074463D5-38C0-449F-86E6-7104AF355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014" y="2004215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Should You Still Remember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如果你还记得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1939719" y="1524000"/>
            <a:ext cx="526458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Gradient descent in logistic regression</a:t>
            </a:r>
          </a:p>
          <a:p>
            <a:pPr algn="ctr"/>
            <a:r>
              <a:rPr lang="zh-CN" altLang="en-US" sz="2200" dirty="0"/>
              <a:t>对数几率回归中的梯度下降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2FE56A-1099-45CD-B301-922E57615980}"/>
              </a:ext>
            </a:extLst>
          </p:cNvPr>
          <p:cNvSpPr/>
          <p:nvPr/>
        </p:nvSpPr>
        <p:spPr>
          <a:xfrm>
            <a:off x="1434787" y="5478959"/>
            <a:ext cx="627447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It works because there is only 1 local minimum</a:t>
            </a:r>
          </a:p>
          <a:p>
            <a:pPr algn="ctr"/>
            <a:r>
              <a:rPr lang="zh-CN" altLang="en-US" sz="2200" dirty="0"/>
              <a:t>它能成功，因为那里只有一个局部最小值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88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Trap  </a:t>
            </a:r>
            <a:r>
              <a:rPr lang="zh-CN" altLang="en-US" dirty="0">
                <a:ea typeface="ＭＳ Ｐゴシック" panose="020B0600070205080204" pitchFamily="34" charset="-128"/>
              </a:rPr>
              <a:t>陷阱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2460D-499E-4E94-B92A-9366131584DA}"/>
              </a:ext>
            </a:extLst>
          </p:cNvPr>
          <p:cNvSpPr/>
          <p:nvPr/>
        </p:nvSpPr>
        <p:spPr>
          <a:xfrm>
            <a:off x="1474853" y="1524000"/>
            <a:ext cx="619432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In CNN training, there are many local minima</a:t>
            </a:r>
          </a:p>
          <a:p>
            <a:pPr algn="ctr"/>
            <a:r>
              <a:rPr lang="zh-CN" altLang="en-US" sz="2200" dirty="0"/>
              <a:t>在卷积神经网络的训练中，存在很多局部最优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556BB7-FD06-4CC2-9E2C-328CBD22696F}"/>
              </a:ext>
            </a:extLst>
          </p:cNvPr>
          <p:cNvSpPr/>
          <p:nvPr/>
        </p:nvSpPr>
        <p:spPr>
          <a:xfrm>
            <a:off x="318870" y="2286000"/>
            <a:ext cx="8560357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Trivial gradient descent will likely be trapped in a local minimum</a:t>
            </a:r>
          </a:p>
          <a:p>
            <a:pPr algn="ctr"/>
            <a:r>
              <a:rPr lang="en-US" altLang="zh-CN" sz="2200" dirty="0"/>
              <a:t> which is much worse than the global minimum</a:t>
            </a:r>
          </a:p>
          <a:p>
            <a:pPr algn="ctr"/>
            <a:r>
              <a:rPr lang="zh-CN" altLang="en-US" sz="2200" dirty="0"/>
              <a:t>平凡的梯度下降很容易陷入一个比全局最小差很多的局部最小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1C759-7FCF-485D-AEEE-8571CE158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766" y="3710733"/>
            <a:ext cx="4008467" cy="23852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85CA88D-8A25-4798-B765-1FC5444B804C}"/>
              </a:ext>
            </a:extLst>
          </p:cNvPr>
          <p:cNvSpPr/>
          <p:nvPr/>
        </p:nvSpPr>
        <p:spPr>
          <a:xfrm>
            <a:off x="5638800" y="3623505"/>
            <a:ext cx="218681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Global minimum</a:t>
            </a:r>
          </a:p>
          <a:p>
            <a:pPr algn="ctr"/>
            <a:r>
              <a:rPr lang="zh-CN" altLang="en-US" sz="2200" dirty="0"/>
              <a:t>全局最优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202A1D-DD42-4774-B292-86F35DD4A863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 flipH="1">
            <a:off x="5981700" y="4392946"/>
            <a:ext cx="750508" cy="12415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C2B07AE-5252-40EF-BB65-BD690193BC3E}"/>
              </a:ext>
            </a:extLst>
          </p:cNvPr>
          <p:cNvSpPr/>
          <p:nvPr/>
        </p:nvSpPr>
        <p:spPr>
          <a:xfrm>
            <a:off x="608453" y="4008225"/>
            <a:ext cx="19720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Trapped in </a:t>
            </a:r>
          </a:p>
          <a:p>
            <a:pPr algn="ctr"/>
            <a:r>
              <a:rPr lang="en-US" altLang="zh-CN" sz="2200" dirty="0"/>
              <a:t>local minimum</a:t>
            </a:r>
          </a:p>
          <a:p>
            <a:pPr algn="ctr"/>
            <a:r>
              <a:rPr lang="zh-CN" altLang="en-US" sz="2200" dirty="0"/>
              <a:t>陷入局部最优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668B729-DFF0-4FF5-A8C4-457145C554F5}"/>
              </a:ext>
            </a:extLst>
          </p:cNvPr>
          <p:cNvCxnSpPr>
            <a:cxnSpLocks/>
          </p:cNvCxnSpPr>
          <p:nvPr/>
        </p:nvCxnSpPr>
        <p:spPr bwMode="auto">
          <a:xfrm>
            <a:off x="2580466" y="4562223"/>
            <a:ext cx="1452967" cy="6001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7676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  <p:bldP spid="11" grpId="0"/>
      <p:bldP spid="17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Stochastic Gradient Descent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随机梯度下降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8. An Alternative Margin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8. </a:t>
            </a:r>
            <a:r>
              <a:rPr lang="zh-CN" altLang="en-US" dirty="0"/>
              <a:t>别样的间距</a:t>
            </a:r>
            <a:endParaRPr lang="en-US" altLang="zh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2FE56A-1099-45CD-B301-922E57615980}"/>
              </a:ext>
            </a:extLst>
          </p:cNvPr>
          <p:cNvSpPr/>
          <p:nvPr/>
        </p:nvSpPr>
        <p:spPr>
          <a:xfrm>
            <a:off x="2187403" y="2070100"/>
            <a:ext cx="476925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Randomly shuffle the training data</a:t>
            </a:r>
          </a:p>
          <a:p>
            <a:pPr algn="ctr"/>
            <a:r>
              <a:rPr lang="zh-CN" altLang="en-US" sz="2200" dirty="0"/>
              <a:t>随机打乱训练数据的顺序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80E48-AE7D-4F64-ADA8-F8989D9B1346}"/>
              </a:ext>
            </a:extLst>
          </p:cNvPr>
          <p:cNvSpPr/>
          <p:nvPr/>
        </p:nvSpPr>
        <p:spPr>
          <a:xfrm>
            <a:off x="2224242" y="1550313"/>
            <a:ext cx="469551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Many heuristics  </a:t>
            </a:r>
            <a:r>
              <a:rPr lang="zh-CN" altLang="en-US" sz="2200" dirty="0"/>
              <a:t>很多试探式的方法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81F41-4D06-4C4C-BEA4-8BAB006795E8}"/>
              </a:ext>
            </a:extLst>
          </p:cNvPr>
          <p:cNvSpPr/>
          <p:nvPr/>
        </p:nvSpPr>
        <p:spPr>
          <a:xfrm>
            <a:off x="102667" y="2964359"/>
            <a:ext cx="893866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Each time take a small batch of data samples for gradient descent</a:t>
            </a:r>
          </a:p>
          <a:p>
            <a:pPr algn="ctr"/>
            <a:r>
              <a:rPr lang="zh-CN" altLang="en-US" sz="2200" dirty="0"/>
              <a:t>每次取一小批数据进行梯度下降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CBCFA-5367-4668-80CC-5ED31E53FA55}"/>
              </a:ext>
            </a:extLst>
          </p:cNvPr>
          <p:cNvSpPr/>
          <p:nvPr/>
        </p:nvSpPr>
        <p:spPr>
          <a:xfrm>
            <a:off x="125910" y="3856038"/>
            <a:ext cx="88921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Also incorporate other tricks, e.g., momentum, learning rate decay</a:t>
            </a:r>
          </a:p>
          <a:p>
            <a:pPr algn="ctr"/>
            <a:r>
              <a:rPr lang="zh-CN" altLang="en-US" sz="2200" dirty="0"/>
              <a:t>还加入了其他的技巧，例如惯性和学习速度的衰减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64FFDE-CF04-46F8-AE01-9939010FA276}"/>
              </a:ext>
            </a:extLst>
          </p:cNvPr>
          <p:cNvSpPr/>
          <p:nvPr/>
        </p:nvSpPr>
        <p:spPr>
          <a:xfrm>
            <a:off x="1517316" y="4827677"/>
            <a:ext cx="610936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200" dirty="0"/>
              <a:t>We are not going through all the details, </a:t>
            </a:r>
          </a:p>
          <a:p>
            <a:pPr algn="ctr"/>
            <a:r>
              <a:rPr lang="en-US" altLang="zh-CN" sz="2200" dirty="0"/>
              <a:t>but just taking an informed idea</a:t>
            </a:r>
          </a:p>
          <a:p>
            <a:pPr algn="ctr"/>
            <a:r>
              <a:rPr lang="zh-CN" altLang="en-US" sz="2200" dirty="0"/>
              <a:t>我们不关注所有的细节了，只作一个简单的了解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066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8" grpId="0"/>
      <p:bldP spid="9" grpId="0"/>
      <p:bldP spid="11" grpId="0"/>
      <p:bldP spid="1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11.1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11.1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3AD46-0E6F-4D45-8A9B-0B53E265A50E}"/>
              </a:ext>
            </a:extLst>
          </p:cNvPr>
          <p:cNvSpPr txBox="1"/>
          <p:nvPr/>
        </p:nvSpPr>
        <p:spPr>
          <a:xfrm>
            <a:off x="828675" y="1565238"/>
            <a:ext cx="7486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the convolutional neural network on handwritten ZIP code recognition</a:t>
            </a:r>
            <a:br>
              <a:rPr lang="en-US" altLang="zh-CN" sz="2200" dirty="0"/>
            </a:br>
            <a:r>
              <a:rPr lang="zh-CN" altLang="en-US" sz="2200" dirty="0"/>
              <a:t>实践时刻：尝试用卷积神经网络进行手写邮政编码识别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555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194423" y="5172195"/>
            <a:ext cx="6755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Part of a complex network</a:t>
            </a:r>
          </a:p>
          <a:p>
            <a:pPr algn="ctr"/>
            <a:r>
              <a:rPr lang="zh-CN" altLang="en-US" sz="2200" dirty="0"/>
              <a:t>复杂网络中的一部分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292923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5" grpId="0"/>
      <p:bldP spid="3" grpId="0" animBg="1"/>
      <p:bldP spid="15" grpId="0" animBg="1"/>
      <p:bldP spid="16" grpId="0" animBg="1"/>
      <p:bldP spid="24" grpId="0" animBg="1"/>
      <p:bldP spid="26" grpId="0" animBg="1"/>
      <p:bldP spid="27" grpId="0" animBg="1"/>
      <p:bldP spid="28" grpId="0" animBg="1"/>
      <p:bldP spid="36" grpId="0"/>
      <p:bldP spid="70" grpId="0" animBg="1"/>
      <p:bldP spid="71" grpId="0" animBg="1"/>
      <p:bldP spid="72" grpId="0" animBg="1"/>
      <p:bldP spid="7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-117123" y="5235005"/>
            <a:ext cx="937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training, in the middle layer, randomly disable 50% of the neurons</a:t>
            </a:r>
          </a:p>
          <a:p>
            <a:pPr algn="ctr"/>
            <a:r>
              <a:rPr lang="zh-CN" altLang="en-US" sz="2200" dirty="0"/>
              <a:t>在训练时，在中间层随机禁用</a:t>
            </a:r>
            <a:r>
              <a:rPr lang="en-US" altLang="zh-CN" sz="2200" dirty="0"/>
              <a:t>50%</a:t>
            </a:r>
            <a:r>
              <a:rPr lang="zh-CN" altLang="en-US" sz="2200" dirty="0"/>
              <a:t>的神经细胞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216793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2149827" y="5260744"/>
            <a:ext cx="4838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Forward calculation of loss</a:t>
            </a:r>
          </a:p>
          <a:p>
            <a:pPr algn="ctr"/>
            <a:r>
              <a:rPr lang="zh-CN" altLang="en-US" sz="2200" dirty="0"/>
              <a:t>前向计算损失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2B3F13-4CF7-4E9C-834B-CDE0D34F1B51}"/>
              </a:ext>
            </a:extLst>
          </p:cNvPr>
          <p:cNvCxnSpPr>
            <a:cxnSpLocks/>
          </p:cNvCxnSpPr>
          <p:nvPr/>
        </p:nvCxnSpPr>
        <p:spPr bwMode="auto">
          <a:xfrm>
            <a:off x="3159032" y="5029200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329995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2149827" y="5260744"/>
            <a:ext cx="4838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Back-propagation of gradient</a:t>
            </a:r>
          </a:p>
          <a:p>
            <a:pPr algn="ctr"/>
            <a:r>
              <a:rPr lang="zh-CN" altLang="en-US" sz="2200" dirty="0"/>
              <a:t>梯度反向传播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02B3F13-4CF7-4E9C-834B-CDE0D34F1B51}"/>
              </a:ext>
            </a:extLst>
          </p:cNvPr>
          <p:cNvCxnSpPr>
            <a:cxnSpLocks/>
          </p:cNvCxnSpPr>
          <p:nvPr/>
        </p:nvCxnSpPr>
        <p:spPr bwMode="auto">
          <a:xfrm>
            <a:off x="3159032" y="5029200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14918320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7E596BB-4899-4C33-B0FC-8E69B0A53E61}"/>
              </a:ext>
            </a:extLst>
          </p:cNvPr>
          <p:cNvSpPr txBox="1"/>
          <p:nvPr/>
        </p:nvSpPr>
        <p:spPr>
          <a:xfrm>
            <a:off x="-117123" y="5235005"/>
            <a:ext cx="937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a new batch, again randomly disable 50% of the neurons</a:t>
            </a:r>
          </a:p>
          <a:p>
            <a:pPr algn="ctr"/>
            <a:r>
              <a:rPr lang="zh-CN" altLang="en-US" sz="2200" dirty="0"/>
              <a:t>在新的一批，再度随机禁用</a:t>
            </a:r>
            <a:r>
              <a:rPr lang="en-US" altLang="zh-CN" sz="2200" dirty="0"/>
              <a:t>50%</a:t>
            </a:r>
            <a:r>
              <a:rPr lang="zh-CN" altLang="en-US" sz="2200" dirty="0"/>
              <a:t>的神经细胞</a:t>
            </a:r>
          </a:p>
        </p:txBody>
      </p:sp>
    </p:spTree>
    <p:extLst>
      <p:ext uri="{BB962C8B-B14F-4D97-AF65-F5344CB8AC3E}">
        <p14:creationId xmlns:p14="http://schemas.microsoft.com/office/powerpoint/2010/main" val="29071445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F4BF826-C336-4F5B-910B-2E1EF0A716FF}"/>
              </a:ext>
            </a:extLst>
          </p:cNvPr>
          <p:cNvSpPr txBox="1"/>
          <p:nvPr/>
        </p:nvSpPr>
        <p:spPr>
          <a:xfrm>
            <a:off x="2149827" y="5260744"/>
            <a:ext cx="4838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Forward calculation of loss</a:t>
            </a:r>
          </a:p>
          <a:p>
            <a:pPr algn="ctr"/>
            <a:r>
              <a:rPr lang="zh-CN" altLang="en-US" sz="2200" dirty="0"/>
              <a:t>前向计算损失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9957C5-D6AA-4449-86FD-A07665040003}"/>
              </a:ext>
            </a:extLst>
          </p:cNvPr>
          <p:cNvCxnSpPr>
            <a:cxnSpLocks/>
          </p:cNvCxnSpPr>
          <p:nvPr/>
        </p:nvCxnSpPr>
        <p:spPr bwMode="auto">
          <a:xfrm>
            <a:off x="3159032" y="5029200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951764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C86E047-ADEE-49F4-81BE-C804BEBF691E}"/>
              </a:ext>
            </a:extLst>
          </p:cNvPr>
          <p:cNvSpPr txBox="1"/>
          <p:nvPr/>
        </p:nvSpPr>
        <p:spPr>
          <a:xfrm>
            <a:off x="2149827" y="5260744"/>
            <a:ext cx="4838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Back-propagation of gradient</a:t>
            </a:r>
          </a:p>
          <a:p>
            <a:pPr algn="ctr"/>
            <a:r>
              <a:rPr lang="zh-CN" altLang="en-US" sz="2200"/>
              <a:t>梯度反向传</a:t>
            </a:r>
            <a:r>
              <a:rPr lang="zh-CN" altLang="en-US" sz="2200" dirty="0"/>
              <a:t>播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3C3FFCF-EBFE-4E85-9CE0-56A53D753526}"/>
              </a:ext>
            </a:extLst>
          </p:cNvPr>
          <p:cNvCxnSpPr>
            <a:cxnSpLocks/>
          </p:cNvCxnSpPr>
          <p:nvPr/>
        </p:nvCxnSpPr>
        <p:spPr bwMode="auto">
          <a:xfrm>
            <a:off x="3159032" y="5029200"/>
            <a:ext cx="29337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17607860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194423" y="5172195"/>
            <a:ext cx="67551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Restore all the neurons after finishing training</a:t>
            </a:r>
          </a:p>
          <a:p>
            <a:pPr algn="ctr"/>
            <a:r>
              <a:rPr lang="zh-CN" altLang="en-US" sz="2200" dirty="0"/>
              <a:t>训练结束后恢复所有的神经细胞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0896826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1181100" y="5174091"/>
            <a:ext cx="67761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However, for each neuron in the last layer, the connection number changes from 2 to 4</a:t>
            </a:r>
          </a:p>
          <a:p>
            <a:pPr algn="ctr"/>
            <a:r>
              <a:rPr lang="zh-CN" altLang="en-US" sz="2200" dirty="0"/>
              <a:t>然而，对最后一层的神经细胞而言，连接数从</a:t>
            </a:r>
            <a:r>
              <a:rPr lang="en-US" altLang="zh-CN" sz="2200" dirty="0"/>
              <a:t>2</a:t>
            </a:r>
            <a:r>
              <a:rPr lang="zh-CN" altLang="en-US" sz="2200" dirty="0"/>
              <a:t>变到</a:t>
            </a:r>
            <a:r>
              <a:rPr lang="en-US" altLang="zh-CN" sz="2200" dirty="0"/>
              <a:t>4</a:t>
            </a:r>
            <a:endParaRPr lang="zh-CN" altLang="en-US" sz="2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7648856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Dropout  </a:t>
            </a:r>
            <a:r>
              <a:rPr lang="zh-CN" altLang="en-US" dirty="0">
                <a:ea typeface="ＭＳ Ｐゴシック" panose="020B0600070205080204" pitchFamily="34" charset="-128"/>
              </a:rPr>
              <a:t>信息遗失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88C28-4E4B-4322-8D80-9EC5943E9F5E}"/>
              </a:ext>
            </a:extLst>
          </p:cNvPr>
          <p:cNvSpPr txBox="1"/>
          <p:nvPr/>
        </p:nvSpPr>
        <p:spPr>
          <a:xfrm>
            <a:off x="917668" y="5198351"/>
            <a:ext cx="71952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Therefore we need to scale the weights down by half </a:t>
            </a:r>
            <a:r>
              <a:rPr lang="zh-CN" altLang="en-US" sz="2200" dirty="0"/>
              <a:t>所以我们需要把权重减半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66098F-C302-4078-8754-D4A3F101879A}"/>
              </a:ext>
            </a:extLst>
          </p:cNvPr>
          <p:cNvSpPr txBox="1"/>
          <p:nvPr/>
        </p:nvSpPr>
        <p:spPr>
          <a:xfrm>
            <a:off x="2057400" y="1603658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Fully-connected</a:t>
            </a:r>
          </a:p>
          <a:p>
            <a:pPr algn="ctr"/>
            <a:r>
              <a:rPr lang="zh-CN" altLang="en-US" sz="2200" dirty="0"/>
              <a:t>全连通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344FCA-6DEE-41C6-B383-509AFE813F79}"/>
              </a:ext>
            </a:extLst>
          </p:cNvPr>
          <p:cNvSpPr/>
          <p:nvPr/>
        </p:nvSpPr>
        <p:spPr bwMode="auto">
          <a:xfrm>
            <a:off x="2166257" y="28178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F546BD-C367-49A6-8834-8F5DF0411255}"/>
              </a:ext>
            </a:extLst>
          </p:cNvPr>
          <p:cNvSpPr/>
          <p:nvPr/>
        </p:nvSpPr>
        <p:spPr bwMode="auto">
          <a:xfrm>
            <a:off x="2166257" y="3519156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23687E3-1F17-486F-B832-7D1743DC29BB}"/>
              </a:ext>
            </a:extLst>
          </p:cNvPr>
          <p:cNvSpPr/>
          <p:nvPr/>
        </p:nvSpPr>
        <p:spPr bwMode="auto">
          <a:xfrm>
            <a:off x="2166257" y="4296154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221A610-73A3-4D61-B187-074CABDCDB7C}"/>
              </a:ext>
            </a:extLst>
          </p:cNvPr>
          <p:cNvSpPr/>
          <p:nvPr/>
        </p:nvSpPr>
        <p:spPr bwMode="auto">
          <a:xfrm>
            <a:off x="4492977" y="247996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0281F25-FA5F-4E9C-BBAB-F57BFDBE95F8}"/>
              </a:ext>
            </a:extLst>
          </p:cNvPr>
          <p:cNvSpPr/>
          <p:nvPr/>
        </p:nvSpPr>
        <p:spPr bwMode="auto">
          <a:xfrm>
            <a:off x="4492977" y="3221181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22D944E-50FD-4209-BA87-5759F042E1FE}"/>
              </a:ext>
            </a:extLst>
          </p:cNvPr>
          <p:cNvSpPr/>
          <p:nvPr/>
        </p:nvSpPr>
        <p:spPr bwMode="auto">
          <a:xfrm>
            <a:off x="4495800" y="39624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2E179ED-2566-4F6A-93C9-8E64C3F4490E}"/>
              </a:ext>
            </a:extLst>
          </p:cNvPr>
          <p:cNvSpPr/>
          <p:nvPr/>
        </p:nvSpPr>
        <p:spPr bwMode="auto">
          <a:xfrm>
            <a:off x="4492977" y="4648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289DD4D-AA9B-4B9B-B862-E835BD76B09A}"/>
              </a:ext>
            </a:extLst>
          </p:cNvPr>
          <p:cNvSpPr txBox="1"/>
          <p:nvPr/>
        </p:nvSpPr>
        <p:spPr>
          <a:xfrm>
            <a:off x="4721577" y="1634932"/>
            <a:ext cx="24355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 err="1"/>
              <a:t>Softmax</a:t>
            </a:r>
            <a:endParaRPr lang="en-US" altLang="zh-CN" sz="2200" dirty="0"/>
          </a:p>
          <a:p>
            <a:pPr algn="ctr"/>
            <a:r>
              <a:rPr lang="zh-CN" altLang="en-US" sz="2200" dirty="0"/>
              <a:t>指数归一化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6E6E1E-DEAE-4828-8E25-92413DCFA032}"/>
              </a:ext>
            </a:extLst>
          </p:cNvPr>
          <p:cNvCxnSpPr>
            <a:stCxn id="3" idx="6"/>
            <a:endCxn id="24" idx="2"/>
          </p:cNvCxnSpPr>
          <p:nvPr/>
        </p:nvCxnSpPr>
        <p:spPr bwMode="auto">
          <a:xfrm flipV="1">
            <a:off x="2318657" y="2556162"/>
            <a:ext cx="2174320" cy="3378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CCB8F9-9DCA-4184-B00C-F010A3C949FD}"/>
              </a:ext>
            </a:extLst>
          </p:cNvPr>
          <p:cNvCxnSpPr>
            <a:cxnSpLocks/>
            <a:stCxn id="3" idx="6"/>
            <a:endCxn id="26" idx="2"/>
          </p:cNvCxnSpPr>
          <p:nvPr/>
        </p:nvCxnSpPr>
        <p:spPr bwMode="auto">
          <a:xfrm>
            <a:off x="2318657" y="2894054"/>
            <a:ext cx="2174320" cy="4033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0F2CE0-4C73-4A92-9DBB-12ECD8BD371D}"/>
              </a:ext>
            </a:extLst>
          </p:cNvPr>
          <p:cNvCxnSpPr>
            <a:cxnSpLocks/>
            <a:stCxn id="3" idx="6"/>
            <a:endCxn id="27" idx="1"/>
          </p:cNvCxnSpPr>
          <p:nvPr/>
        </p:nvCxnSpPr>
        <p:spPr bwMode="auto">
          <a:xfrm>
            <a:off x="2318657" y="2894054"/>
            <a:ext cx="2199461" cy="10906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A0485AE-D47C-41A4-B4A8-5855FF22E00D}"/>
              </a:ext>
            </a:extLst>
          </p:cNvPr>
          <p:cNvCxnSpPr>
            <a:cxnSpLocks/>
            <a:stCxn id="3" idx="6"/>
            <a:endCxn id="28" idx="1"/>
          </p:cNvCxnSpPr>
          <p:nvPr/>
        </p:nvCxnSpPr>
        <p:spPr bwMode="auto">
          <a:xfrm>
            <a:off x="2318657" y="2894054"/>
            <a:ext cx="2196638" cy="17764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F0D46FC-0087-49C7-8F3A-B3D99272ED90}"/>
              </a:ext>
            </a:extLst>
          </p:cNvPr>
          <p:cNvCxnSpPr>
            <a:cxnSpLocks/>
            <a:stCxn id="15" idx="6"/>
            <a:endCxn id="27" idx="2"/>
          </p:cNvCxnSpPr>
          <p:nvPr/>
        </p:nvCxnSpPr>
        <p:spPr bwMode="auto">
          <a:xfrm>
            <a:off x="2318657" y="3595356"/>
            <a:ext cx="2177143" cy="4432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23DA573-51DD-4330-91B5-8EEF7E8F35E2}"/>
              </a:ext>
            </a:extLst>
          </p:cNvPr>
          <p:cNvCxnSpPr>
            <a:cxnSpLocks/>
            <a:stCxn id="15" idx="6"/>
            <a:endCxn id="26" idx="3"/>
          </p:cNvCxnSpPr>
          <p:nvPr/>
        </p:nvCxnSpPr>
        <p:spPr bwMode="auto">
          <a:xfrm flipV="1">
            <a:off x="2318657" y="3351263"/>
            <a:ext cx="2196638" cy="244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6C9B940-E67B-4ADE-9EC1-F5CBA5459385}"/>
              </a:ext>
            </a:extLst>
          </p:cNvPr>
          <p:cNvCxnSpPr>
            <a:cxnSpLocks/>
            <a:stCxn id="15" idx="6"/>
            <a:endCxn id="24" idx="2"/>
          </p:cNvCxnSpPr>
          <p:nvPr/>
        </p:nvCxnSpPr>
        <p:spPr bwMode="auto">
          <a:xfrm flipV="1">
            <a:off x="2318657" y="2556162"/>
            <a:ext cx="2174320" cy="103919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C7D0CA-BA5D-46FA-AECA-431AF23A8350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 bwMode="auto">
          <a:xfrm>
            <a:off x="2318657" y="3595356"/>
            <a:ext cx="2174320" cy="11290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B5801D5-2951-4FA8-87B3-2468B2B37FF5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 bwMode="auto">
          <a:xfrm>
            <a:off x="2318657" y="4372354"/>
            <a:ext cx="2174320" cy="35204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C8480A2-DEDE-4193-BA1B-893EF8268DFD}"/>
              </a:ext>
            </a:extLst>
          </p:cNvPr>
          <p:cNvCxnSpPr>
            <a:cxnSpLocks/>
            <a:stCxn id="16" idx="6"/>
            <a:endCxn id="27" idx="2"/>
          </p:cNvCxnSpPr>
          <p:nvPr/>
        </p:nvCxnSpPr>
        <p:spPr bwMode="auto">
          <a:xfrm flipV="1">
            <a:off x="2318657" y="4038600"/>
            <a:ext cx="2177143" cy="3337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81F0B70-96B1-4B76-B87C-C35C2D34C5C8}"/>
              </a:ext>
            </a:extLst>
          </p:cNvPr>
          <p:cNvCxnSpPr>
            <a:cxnSpLocks/>
            <a:stCxn id="16" idx="6"/>
            <a:endCxn id="26" idx="3"/>
          </p:cNvCxnSpPr>
          <p:nvPr/>
        </p:nvCxnSpPr>
        <p:spPr bwMode="auto">
          <a:xfrm flipV="1">
            <a:off x="2318657" y="3351263"/>
            <a:ext cx="2196638" cy="1021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59C1705-7386-4AC7-AAC9-74D7D75C48BB}"/>
              </a:ext>
            </a:extLst>
          </p:cNvPr>
          <p:cNvCxnSpPr>
            <a:cxnSpLocks/>
            <a:stCxn id="16" idx="6"/>
            <a:endCxn id="24" idx="2"/>
          </p:cNvCxnSpPr>
          <p:nvPr/>
        </p:nvCxnSpPr>
        <p:spPr bwMode="auto">
          <a:xfrm flipV="1">
            <a:off x="2318657" y="2556162"/>
            <a:ext cx="2174320" cy="1816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21FF683C-9BE3-430F-B4A2-435912538E40}"/>
              </a:ext>
            </a:extLst>
          </p:cNvPr>
          <p:cNvSpPr/>
          <p:nvPr/>
        </p:nvSpPr>
        <p:spPr bwMode="auto">
          <a:xfrm>
            <a:off x="6550377" y="2667705"/>
            <a:ext cx="457200" cy="20028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2778FC63-0542-4F8C-B616-27DFBE35C113}"/>
              </a:ext>
            </a:extLst>
          </p:cNvPr>
          <p:cNvSpPr/>
          <p:nvPr/>
        </p:nvSpPr>
        <p:spPr bwMode="auto">
          <a:xfrm>
            <a:off x="6702777" y="27889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8BA4BAFC-E11B-4FEB-9BD2-74C2D901E47A}"/>
              </a:ext>
            </a:extLst>
          </p:cNvPr>
          <p:cNvSpPr/>
          <p:nvPr/>
        </p:nvSpPr>
        <p:spPr bwMode="auto">
          <a:xfrm>
            <a:off x="6702777" y="3490202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138CBF8B-5436-4932-B672-C59CC1485BBF}"/>
              </a:ext>
            </a:extLst>
          </p:cNvPr>
          <p:cNvSpPr/>
          <p:nvPr/>
        </p:nvSpPr>
        <p:spPr bwMode="auto">
          <a:xfrm>
            <a:off x="6702777" y="4267200"/>
            <a:ext cx="152400" cy="15240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3EF2235-AABF-48BC-BD67-AB3CFF3A0FE2}"/>
              </a:ext>
            </a:extLst>
          </p:cNvPr>
          <p:cNvCxnSpPr>
            <a:cxnSpLocks/>
            <a:stCxn id="24" idx="6"/>
            <a:endCxn id="71" idx="2"/>
          </p:cNvCxnSpPr>
          <p:nvPr/>
        </p:nvCxnSpPr>
        <p:spPr bwMode="auto">
          <a:xfrm>
            <a:off x="4645377" y="2556162"/>
            <a:ext cx="2057400" cy="30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76613AF-DDDE-4831-BF6C-66C7DB51C582}"/>
              </a:ext>
            </a:extLst>
          </p:cNvPr>
          <p:cNvCxnSpPr>
            <a:cxnSpLocks/>
            <a:stCxn id="24" idx="6"/>
            <a:endCxn id="72" idx="1"/>
          </p:cNvCxnSpPr>
          <p:nvPr/>
        </p:nvCxnSpPr>
        <p:spPr bwMode="auto">
          <a:xfrm>
            <a:off x="4645377" y="2556162"/>
            <a:ext cx="2079718" cy="9563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9EE4FF91-87F4-4FD2-BE24-332F57102D00}"/>
              </a:ext>
            </a:extLst>
          </p:cNvPr>
          <p:cNvCxnSpPr>
            <a:cxnSpLocks/>
            <a:stCxn id="24" idx="6"/>
            <a:endCxn id="73" idx="1"/>
          </p:cNvCxnSpPr>
          <p:nvPr/>
        </p:nvCxnSpPr>
        <p:spPr bwMode="auto">
          <a:xfrm>
            <a:off x="4645377" y="2556162"/>
            <a:ext cx="2079718" cy="17333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0A30728-F4CF-4D46-A5BF-C537855D1209}"/>
              </a:ext>
            </a:extLst>
          </p:cNvPr>
          <p:cNvCxnSpPr>
            <a:cxnSpLocks/>
            <a:stCxn id="26" idx="6"/>
            <a:endCxn id="71" idx="2"/>
          </p:cNvCxnSpPr>
          <p:nvPr/>
        </p:nvCxnSpPr>
        <p:spPr bwMode="auto">
          <a:xfrm flipV="1">
            <a:off x="4645377" y="2865100"/>
            <a:ext cx="2057400" cy="432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11C04-EE4A-42AF-B38F-15DF1C8C90B4}"/>
              </a:ext>
            </a:extLst>
          </p:cNvPr>
          <p:cNvCxnSpPr>
            <a:cxnSpLocks/>
            <a:stCxn id="27" idx="7"/>
            <a:endCxn id="71" idx="2"/>
          </p:cNvCxnSpPr>
          <p:nvPr/>
        </p:nvCxnSpPr>
        <p:spPr bwMode="auto">
          <a:xfrm flipV="1">
            <a:off x="4625882" y="2865100"/>
            <a:ext cx="2076895" cy="11196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C65EC03-BFB0-45DC-BFDF-A096B018A146}"/>
              </a:ext>
            </a:extLst>
          </p:cNvPr>
          <p:cNvCxnSpPr>
            <a:cxnSpLocks/>
            <a:stCxn id="28" idx="6"/>
            <a:endCxn id="71" idx="3"/>
          </p:cNvCxnSpPr>
          <p:nvPr/>
        </p:nvCxnSpPr>
        <p:spPr bwMode="auto">
          <a:xfrm flipV="1">
            <a:off x="4645377" y="2918982"/>
            <a:ext cx="2079718" cy="18054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AD18EA7-09B3-46CA-BA69-67544EB6D242}"/>
              </a:ext>
            </a:extLst>
          </p:cNvPr>
          <p:cNvCxnSpPr>
            <a:cxnSpLocks/>
            <a:stCxn id="26" idx="6"/>
            <a:endCxn id="72" idx="2"/>
          </p:cNvCxnSpPr>
          <p:nvPr/>
        </p:nvCxnSpPr>
        <p:spPr bwMode="auto">
          <a:xfrm>
            <a:off x="4645377" y="3297381"/>
            <a:ext cx="2057400" cy="26902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140437B-83FB-4BD6-8C17-8FDA8809D09D}"/>
              </a:ext>
            </a:extLst>
          </p:cNvPr>
          <p:cNvCxnSpPr>
            <a:cxnSpLocks/>
            <a:stCxn id="26" idx="6"/>
            <a:endCxn id="73" idx="1"/>
          </p:cNvCxnSpPr>
          <p:nvPr/>
        </p:nvCxnSpPr>
        <p:spPr bwMode="auto">
          <a:xfrm>
            <a:off x="4645377" y="3297381"/>
            <a:ext cx="2079718" cy="992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6ED9708-F1CA-4A1F-BEC5-7CCB3188BC3D}"/>
              </a:ext>
            </a:extLst>
          </p:cNvPr>
          <p:cNvCxnSpPr>
            <a:cxnSpLocks/>
            <a:stCxn id="27" idx="7"/>
            <a:endCxn id="72" idx="2"/>
          </p:cNvCxnSpPr>
          <p:nvPr/>
        </p:nvCxnSpPr>
        <p:spPr bwMode="auto">
          <a:xfrm flipV="1">
            <a:off x="4625882" y="3566402"/>
            <a:ext cx="2076895" cy="4183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47C1239-E283-4221-AC4A-D2FA95826786}"/>
              </a:ext>
            </a:extLst>
          </p:cNvPr>
          <p:cNvCxnSpPr>
            <a:cxnSpLocks/>
            <a:stCxn id="27" idx="6"/>
            <a:endCxn id="73" idx="2"/>
          </p:cNvCxnSpPr>
          <p:nvPr/>
        </p:nvCxnSpPr>
        <p:spPr bwMode="auto">
          <a:xfrm>
            <a:off x="4648200" y="4038600"/>
            <a:ext cx="2054577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D471D29-4BD6-4118-89A9-25C2A2429B09}"/>
              </a:ext>
            </a:extLst>
          </p:cNvPr>
          <p:cNvCxnSpPr>
            <a:cxnSpLocks/>
            <a:stCxn id="28" idx="6"/>
            <a:endCxn id="73" idx="2"/>
          </p:cNvCxnSpPr>
          <p:nvPr/>
        </p:nvCxnSpPr>
        <p:spPr bwMode="auto">
          <a:xfrm flipV="1">
            <a:off x="4645377" y="4343400"/>
            <a:ext cx="2057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D1C28B6-BD13-484B-87C3-3318F6A8E9B9}"/>
              </a:ext>
            </a:extLst>
          </p:cNvPr>
          <p:cNvCxnSpPr>
            <a:cxnSpLocks/>
            <a:stCxn id="28" idx="6"/>
            <a:endCxn id="72" idx="3"/>
          </p:cNvCxnSpPr>
          <p:nvPr/>
        </p:nvCxnSpPr>
        <p:spPr bwMode="auto">
          <a:xfrm flipV="1">
            <a:off x="4645377" y="3620284"/>
            <a:ext cx="2079718" cy="11041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AAEB9ED4-EE8D-4E0E-A36E-7F32ED538F7A}"/>
              </a:ext>
            </a:extLst>
          </p:cNvPr>
          <p:cNvSpPr/>
          <p:nvPr/>
        </p:nvSpPr>
        <p:spPr bwMode="auto">
          <a:xfrm rot="17662866">
            <a:off x="4620280" y="4273370"/>
            <a:ext cx="1558070" cy="473951"/>
          </a:xfrm>
          <a:prstGeom prst="rightArrow">
            <a:avLst/>
          </a:prstGeom>
          <a:solidFill>
            <a:schemeClr val="accent1">
              <a:alpha val="71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979355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Why to Use Dropout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为什么要用信息遗失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01000" cy="5029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Complex Networks </a:t>
            </a:r>
            <a:r>
              <a:rPr lang="zh-CN" altLang="en-US" dirty="0"/>
              <a:t> 复杂网络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Strong classification capability  </a:t>
            </a:r>
            <a:br>
              <a:rPr lang="en-US" altLang="zh-CN" dirty="0"/>
            </a:br>
            <a:r>
              <a:rPr lang="zh-CN" altLang="en-US" dirty="0"/>
              <a:t>分类能力很强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Likely to overfit  </a:t>
            </a:r>
            <a:r>
              <a:rPr lang="zh-CN" altLang="en-US" dirty="0"/>
              <a:t>容易过度拟合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Dropout  </a:t>
            </a:r>
            <a:r>
              <a:rPr lang="zh-CN" altLang="en-US" dirty="0"/>
              <a:t>信息遗失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Implicitly create different learning algorithm instances   </a:t>
            </a:r>
            <a:br>
              <a:rPr lang="en-US" altLang="zh-CN" dirty="0"/>
            </a:br>
            <a:r>
              <a:rPr lang="zh-CN" altLang="en-US" dirty="0"/>
              <a:t>隐式地构造出不同的学习实例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Ensemble learning  </a:t>
            </a:r>
            <a:r>
              <a:rPr lang="zh-CN" altLang="en-US" dirty="0"/>
              <a:t>合奏学习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Wash out unluckiness  </a:t>
            </a:r>
            <a:r>
              <a:rPr lang="zh-CN" altLang="en-US" dirty="0"/>
              <a:t>消除坏运气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010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11.2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11.2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3AD46-0E6F-4D45-8A9B-0B53E265A50E}"/>
              </a:ext>
            </a:extLst>
          </p:cNvPr>
          <p:cNvSpPr txBox="1"/>
          <p:nvPr/>
        </p:nvSpPr>
        <p:spPr>
          <a:xfrm>
            <a:off x="489744" y="1530791"/>
            <a:ext cx="81645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convolutional neural network w/ dropout on handwritten ZIP code recognition</a:t>
            </a:r>
            <a:br>
              <a:rPr lang="en-US" altLang="zh-CN" sz="2200" dirty="0"/>
            </a:br>
            <a:r>
              <a:rPr lang="zh-CN" altLang="en-US" sz="2200" dirty="0"/>
              <a:t>实践时刻：尝试用信息遗失卷积神经网络进行手写邮政编码识别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1796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11. Complex Networks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11. </a:t>
            </a:r>
            <a:r>
              <a:rPr lang="zh-CN" altLang="en-US" dirty="0"/>
              <a:t>复杂网络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3449B7-184D-497B-A89D-0E1FF5CD1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06130"/>
              </p:ext>
            </p:extLst>
          </p:nvPr>
        </p:nvGraphicFramePr>
        <p:xfrm>
          <a:off x="1752600" y="1752600"/>
          <a:ext cx="5638800" cy="421132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 rate </a:t>
                      </a:r>
                      <a:r>
                        <a:rPr lang="zh-CN" altLang="en-US" dirty="0"/>
                        <a:t>错误率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</a:p>
                    <a:p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4.98%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Linear perceptron </a:t>
                      </a:r>
                    </a:p>
                    <a:p>
                      <a:r>
                        <a:rPr lang="zh-CN" altLang="en-US" dirty="0"/>
                        <a:t>线性感知器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8.52%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RBF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径向基函数核计算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4.43%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Polynomial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多项式核计算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4.24%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87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CNN</a:t>
                      </a:r>
                    </a:p>
                    <a:p>
                      <a:r>
                        <a:rPr lang="zh-CN" altLang="en-US" dirty="0"/>
                        <a:t>卷积神经网络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3.64%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84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CNN w/ dropout</a:t>
                      </a:r>
                    </a:p>
                    <a:p>
                      <a:r>
                        <a:rPr lang="zh-CN" altLang="en-US"/>
                        <a:t>带信息遗失的卷</a:t>
                      </a:r>
                      <a:r>
                        <a:rPr lang="zh-CN" altLang="en-US" dirty="0"/>
                        <a:t>积神经</a:t>
                      </a:r>
                      <a:r>
                        <a:rPr lang="zh-CN" altLang="en-US"/>
                        <a:t>网络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3.29%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4499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7990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0.1|0.2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.7|1.6|0.7|1.7|0.7|0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|11.7|0.3|0.4|0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2|0.3|0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2|0.2|0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|0.2|0.4|1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4.8|0.3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|0.6|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0.4|3.6|0.3|0.2|0.2|0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8.6|0.4|0.4|0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3|0.3|0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4|0.3|0.2|5.9|0.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2|0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4.9|0.4|0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6.8|4.2|3.5|0.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|8.1|0.5|0.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7|0.4|1.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4.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5.5|1.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3|8.4|9.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30.7|0.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3|0.2|0.6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0.9|0.6|0.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0.3|0.3|0.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.7|1|13.8|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4|1.5|6.8|2.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2|12.6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6|26.9|32.8|44.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34555</TotalTime>
  <Words>6325</Words>
  <Application>Microsoft Office PowerPoint</Application>
  <PresentationFormat>On-screen Show (4:3)</PresentationFormat>
  <Paragraphs>956</Paragraphs>
  <Slides>83</Slides>
  <Notes>70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4" baseType="lpstr">
      <vt:lpstr>ＭＳ Ｐゴシック</vt:lpstr>
      <vt:lpstr>SimSun</vt:lpstr>
      <vt:lpstr>等线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Equation</vt:lpstr>
      <vt:lpstr>Machine Learning -  Basic Principles &amp; Practice 11. Complex Networks</vt:lpstr>
      <vt:lpstr>Should You Still Remember 如果你还记得</vt:lpstr>
      <vt:lpstr>Nonlinear Classifier  非线性分类器</vt:lpstr>
      <vt:lpstr>Do You Still Remember? 你还记得吗？</vt:lpstr>
      <vt:lpstr>2D Example  两维的例子</vt:lpstr>
      <vt:lpstr>Application Specific  特定应用</vt:lpstr>
      <vt:lpstr>Perceptron as a Neuron 作为神经细胞的感知器</vt:lpstr>
      <vt:lpstr>Logistic Regression as a Neuron 作为神经细胞的对数几率回归</vt:lpstr>
      <vt:lpstr>Common Neuron   通常的神经细胞</vt:lpstr>
      <vt:lpstr>Complex Neural Network 复杂神经网络</vt:lpstr>
      <vt:lpstr>Complex Neural Network 复杂神经网络</vt:lpstr>
      <vt:lpstr>Complex Neural Network 复杂神经网络</vt:lpstr>
      <vt:lpstr>Handwritten ZIP Code Recognition  手写邮政编码识别</vt:lpstr>
      <vt:lpstr>Convolutional Neural Network (CNN)  卷积神经网络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2D Operator  二维算子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Convolution  卷积</vt:lpstr>
      <vt:lpstr>Tensor Operator  张量算子</vt:lpstr>
      <vt:lpstr>Tensor Operator  张量算子</vt:lpstr>
      <vt:lpstr>Tensor Operator  张量算子</vt:lpstr>
      <vt:lpstr>Tensor Operator  张量算子</vt:lpstr>
      <vt:lpstr>Pooling  积聚</vt:lpstr>
      <vt:lpstr>Pooling  积聚</vt:lpstr>
      <vt:lpstr>Pooling  积聚</vt:lpstr>
      <vt:lpstr>Fully-Connected Layer  全连通层</vt:lpstr>
      <vt:lpstr>Fully-Connected Layer  全连通层</vt:lpstr>
      <vt:lpstr>Fully-Connected Layer  全连通层</vt:lpstr>
      <vt:lpstr>Softmax Layer  指数归一化层</vt:lpstr>
      <vt:lpstr>Softmax Layer  指数归一化层</vt:lpstr>
      <vt:lpstr>Softmax Layer  指数归一化层</vt:lpstr>
      <vt:lpstr>Softmax Layer  指数归一化层</vt:lpstr>
      <vt:lpstr>Softmax Layer  指数归一化层</vt:lpstr>
      <vt:lpstr>CNN for USPS 用于USPS的卷积神经网络</vt:lpstr>
      <vt:lpstr>CNN for USPS 用于USPS的卷积神经网络</vt:lpstr>
      <vt:lpstr>CNN for USPS 用于USPS的卷积神经网络</vt:lpstr>
      <vt:lpstr>CNN for USPS 用于USPS的卷积神经网络</vt:lpstr>
      <vt:lpstr>CNN for USPS 用于USPS的卷积神经网络</vt:lpstr>
      <vt:lpstr>CNN for USPS 用于USPS的卷积神经网络</vt:lpstr>
      <vt:lpstr>CNN Training  训练卷积神经网络</vt:lpstr>
      <vt:lpstr>Gradient calculation  梯度计算</vt:lpstr>
      <vt:lpstr>Gradient calculation  梯度计算</vt:lpstr>
      <vt:lpstr>Should You Still Remember 如果你还记得</vt:lpstr>
      <vt:lpstr>Trap  陷阱</vt:lpstr>
      <vt:lpstr>Stochastic Gradient Descent 随机梯度下降</vt:lpstr>
      <vt:lpstr>Practice 11.1  实践11.1</vt:lpstr>
      <vt:lpstr>Dropout  信息遗失</vt:lpstr>
      <vt:lpstr>Dropout  信息遗失</vt:lpstr>
      <vt:lpstr>Dropout  信息遗失</vt:lpstr>
      <vt:lpstr>Dropout  信息遗失</vt:lpstr>
      <vt:lpstr>Dropout  信息遗失</vt:lpstr>
      <vt:lpstr>Dropout  信息遗失</vt:lpstr>
      <vt:lpstr>Dropout  信息遗失</vt:lpstr>
      <vt:lpstr>Dropout  信息遗失</vt:lpstr>
      <vt:lpstr>Dropout  信息遗失</vt:lpstr>
      <vt:lpstr>Dropout  信息遗失</vt:lpstr>
      <vt:lpstr>Why to Use Dropout 为什么要用信息遗失</vt:lpstr>
      <vt:lpstr>Practice 11.2  实践11.2</vt:lpstr>
      <vt:lpstr>Results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1832</cp:revision>
  <dcterms:created xsi:type="dcterms:W3CDTF">2003-03-13T01:36:43Z</dcterms:created>
  <dcterms:modified xsi:type="dcterms:W3CDTF">2025-05-17T00:11:47Z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2c94749f-d368-4d5c-9731-17469454a7f0</vt:lpwstr>
  </property>
  <property fmtid="{D5CDD505-2E9C-101B-9397-08002B2CF9AE}" pid="3" name="CTP_TimeStamp">
    <vt:lpwstr>2020-02-07 11:24:13Z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