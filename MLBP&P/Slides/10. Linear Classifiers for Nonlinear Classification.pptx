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ppt/tags/tag27.xml" ContentType="application/vnd.openxmlformats-officedocument.presentationml.tags+xml"/>
  <Override PartName="/ppt/notesSlides/notesSlide6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38"/>
  </p:notesMasterIdLst>
  <p:handoutMasterIdLst>
    <p:handoutMasterId r:id="rId39"/>
  </p:handoutMasterIdLst>
  <p:sldIdLst>
    <p:sldId id="286" r:id="rId2"/>
    <p:sldId id="468" r:id="rId3"/>
    <p:sldId id="539" r:id="rId4"/>
    <p:sldId id="566" r:id="rId5"/>
    <p:sldId id="567" r:id="rId6"/>
    <p:sldId id="568" r:id="rId7"/>
    <p:sldId id="571" r:id="rId8"/>
    <p:sldId id="570" r:id="rId9"/>
    <p:sldId id="569" r:id="rId10"/>
    <p:sldId id="572" r:id="rId11"/>
    <p:sldId id="573" r:id="rId12"/>
    <p:sldId id="574" r:id="rId13"/>
    <p:sldId id="544" r:id="rId14"/>
    <p:sldId id="575" r:id="rId15"/>
    <p:sldId id="576" r:id="rId16"/>
    <p:sldId id="577" r:id="rId17"/>
    <p:sldId id="578" r:id="rId18"/>
    <p:sldId id="579" r:id="rId19"/>
    <p:sldId id="475" r:id="rId20"/>
    <p:sldId id="581" r:id="rId21"/>
    <p:sldId id="582" r:id="rId22"/>
    <p:sldId id="583" r:id="rId23"/>
    <p:sldId id="584" r:id="rId24"/>
    <p:sldId id="580" r:id="rId25"/>
    <p:sldId id="585" r:id="rId26"/>
    <p:sldId id="586" r:id="rId27"/>
    <p:sldId id="588" r:id="rId28"/>
    <p:sldId id="587" r:id="rId29"/>
    <p:sldId id="589" r:id="rId30"/>
    <p:sldId id="594" r:id="rId31"/>
    <p:sldId id="592" r:id="rId32"/>
    <p:sldId id="593" r:id="rId33"/>
    <p:sldId id="590" r:id="rId34"/>
    <p:sldId id="591" r:id="rId35"/>
    <p:sldId id="595" r:id="rId36"/>
    <p:sldId id="353" r:id="rId37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0000"/>
    <a:srgbClr val="7DDDFF"/>
    <a:srgbClr val="333399"/>
    <a:srgbClr val="B2B2B2"/>
    <a:srgbClr val="993366"/>
    <a:srgbClr val="33993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59" autoAdjust="0"/>
    <p:restoredTop sz="94370" autoAdjust="0"/>
  </p:normalViewPr>
  <p:slideViewPr>
    <p:cSldViewPr>
      <p:cViewPr varScale="1">
        <p:scale>
          <a:sx n="73" d="100"/>
          <a:sy n="73" d="100"/>
        </p:scale>
        <p:origin x="907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modSld">
      <pc:chgData name="Li, Cong" userId="025630f4-267e-4cb3-8cd5-8795177f99f4" providerId="ADAL" clId="{929A2CC8-B112-421C-81E2-D5D63B23E300}" dt="2026-05-23T01:15:04.900" v="0" actId="20577"/>
      <pc:docMkLst>
        <pc:docMk/>
      </pc:docMkLst>
      <pc:sldChg chg="modSp">
        <pc:chgData name="Li, Cong" userId="025630f4-267e-4cb3-8cd5-8795177f99f4" providerId="ADAL" clId="{929A2CC8-B112-421C-81E2-D5D63B23E300}" dt="2026-05-23T01:15:04.900" v="0" actId="20577"/>
        <pc:sldMkLst>
          <pc:docMk/>
          <pc:sldMk cId="2217432505" sldId="579"/>
        </pc:sldMkLst>
        <pc:spChg chg="mod">
          <ac:chgData name="Li, Cong" userId="025630f4-267e-4cb3-8cd5-8795177f99f4" providerId="ADAL" clId="{929A2CC8-B112-421C-81E2-D5D63B23E300}" dt="2026-05-23T01:15:04.900" v="0" actId="20577"/>
          <ac:spMkLst>
            <pc:docMk/>
            <pc:sldMk cId="2217432505" sldId="579"/>
            <ac:spMk id="3" creationId="{9EA0F165-8941-4D6C-BAE4-F52C9F12FF6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4464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5037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3934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0592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1161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195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36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6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5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5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6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38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10. Linear Classifiers for Nonlinear Classification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10. </a:t>
            </a:r>
            <a:r>
              <a:rPr lang="zh-CN" altLang="en-US" sz="3600" b="1" kern="0" dirty="0">
                <a:ea typeface="SimSun" panose="02010600030101010101" pitchFamily="2" charset="-122"/>
              </a:rPr>
              <a:t>进行非线性分类的线性分类器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Linear &amp; Nonlinear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线性与非线性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We Know Linear Classifiers Now</a:t>
            </a:r>
            <a:br>
              <a:rPr lang="en-US" altLang="zh-CN" dirty="0"/>
            </a:br>
            <a:r>
              <a:rPr lang="zh-CN" altLang="en-US" dirty="0"/>
              <a:t>我们现在已学习了线性分类器了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Perceptron  </a:t>
            </a:r>
            <a:r>
              <a:rPr lang="zh-CN" altLang="en-US" dirty="0"/>
              <a:t>感知器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Logistic regression  </a:t>
            </a:r>
            <a:r>
              <a:rPr lang="zh-CN" altLang="en-US" dirty="0"/>
              <a:t>对数几率回归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What If We Encounter Nonlinear Classification Problems</a:t>
            </a:r>
            <a:r>
              <a:rPr lang="zh-CN" altLang="en-US" dirty="0"/>
              <a:t>？</a:t>
            </a:r>
            <a:br>
              <a:rPr lang="en-US" altLang="zh-CN" dirty="0"/>
            </a:br>
            <a:r>
              <a:rPr lang="zh-CN" altLang="en-US" dirty="0"/>
              <a:t>当我们遇上非线性问题时会怎样？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Let’s start from 2 synthetic problems</a:t>
            </a:r>
            <a:br>
              <a:rPr lang="en-US" altLang="zh-CN" dirty="0"/>
            </a:br>
            <a:r>
              <a:rPr lang="zh-CN" altLang="en-US" dirty="0"/>
              <a:t>让我们从两个人造问题开始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06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Synthetic Problem 1  </a:t>
            </a:r>
            <a:r>
              <a:rPr lang="zh-CN" altLang="en-US" dirty="0">
                <a:ea typeface="ＭＳ Ｐゴシック" panose="020B0600070205080204" pitchFamily="34" charset="-128"/>
              </a:rPr>
              <a:t>人造问题</a:t>
            </a:r>
            <a:r>
              <a:rPr lang="en-US" altLang="zh-CN" dirty="0">
                <a:ea typeface="ＭＳ Ｐゴシック" panose="020B0600070205080204" pitchFamily="34" charset="-128"/>
              </a:rPr>
              <a:t>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82864-6A4A-4322-8396-1BDE2460E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747838"/>
            <a:ext cx="4572000" cy="25755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071432-554D-4754-BBB5-6B1A4C1958E3}"/>
                  </a:ext>
                </a:extLst>
              </p:cNvPr>
              <p:cNvSpPr txBox="1"/>
              <p:nvPr/>
            </p:nvSpPr>
            <p:spPr>
              <a:xfrm>
                <a:off x="342900" y="4572000"/>
                <a:ext cx="861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2 attributes  </a:t>
                </a:r>
                <a:r>
                  <a:rPr lang="zh-CN" altLang="en-US" sz="2200" dirty="0"/>
                  <a:t>两个属性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zh-CN" altLang="en-US" sz="22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071432-554D-4754-BBB5-6B1A4C195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4572000"/>
                <a:ext cx="8610600" cy="430887"/>
              </a:xfrm>
              <a:prstGeom prst="rect">
                <a:avLst/>
              </a:prstGeom>
              <a:blipFill>
                <a:blip r:embed="rId6"/>
                <a:stretch>
                  <a:fillRect t="-15493" b="-26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981C76-2455-417A-A158-A99F55F67A67}"/>
                  </a:ext>
                </a:extLst>
              </p:cNvPr>
              <p:cNvSpPr txBox="1"/>
              <p:nvPr/>
            </p:nvSpPr>
            <p:spPr>
              <a:xfrm>
                <a:off x="342900" y="5119384"/>
                <a:ext cx="86106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−0.2</m:t>
                          </m:r>
                        </m:e>
                      </m:d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−0.2</m:t>
                          </m:r>
                        </m:e>
                      </m:d>
                      <m:d>
                        <m:d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981C76-2455-417A-A158-A99F55F67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5119384"/>
                <a:ext cx="8610600" cy="769441"/>
              </a:xfrm>
              <a:prstGeom prst="rect">
                <a:avLst/>
              </a:prstGeom>
              <a:blipFill>
                <a:blip r:embed="rId7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1166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10.1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10.1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790575" y="1716013"/>
            <a:ext cx="7562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perceptron algorithm on the problem</a:t>
            </a:r>
            <a:br>
              <a:rPr lang="en-US" altLang="zh-CN" sz="2200" dirty="0"/>
            </a:br>
            <a:r>
              <a:rPr lang="zh-CN" altLang="en-US" sz="2200" dirty="0"/>
              <a:t>实践时刻：在这个问题上尝试感知器算法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2CAC1-5FA4-4F90-9C46-85D86231A2DA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perform?  </a:t>
            </a:r>
            <a:r>
              <a:rPr lang="zh-CN" altLang="en-US" sz="2200" dirty="0"/>
              <a:t>它的表现如何？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546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AFC687-D29C-44FE-98FA-15D175E8DF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4" y="2368800"/>
            <a:ext cx="3657607" cy="3657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Nonlinear Problem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非线性问题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4C3AC-AB78-4917-8832-C607B6DE6DC9}"/>
              </a:ext>
            </a:extLst>
          </p:cNvPr>
          <p:cNvSpPr txBox="1"/>
          <p:nvPr/>
        </p:nvSpPr>
        <p:spPr>
          <a:xfrm>
            <a:off x="-76202" y="1740476"/>
            <a:ext cx="929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This </a:t>
            </a:r>
            <a:r>
              <a:rPr lang="en-US" altLang="zh-CN" sz="2200" i="1" dirty="0"/>
              <a:t>is</a:t>
            </a:r>
            <a:r>
              <a:rPr lang="en-US" altLang="zh-CN" sz="2200" dirty="0"/>
              <a:t> a nonlinear classification problem  </a:t>
            </a:r>
          </a:p>
          <a:p>
            <a:pPr algn="ctr"/>
            <a:r>
              <a:rPr lang="zh-CN" altLang="en-US" sz="2200" dirty="0"/>
              <a:t>这</a:t>
            </a:r>
            <a:r>
              <a:rPr lang="zh-CN" altLang="en-US" sz="2200" i="1" dirty="0"/>
              <a:t>的确是</a:t>
            </a:r>
            <a:r>
              <a:rPr lang="zh-CN" altLang="en-US" sz="2200" dirty="0"/>
              <a:t>一个非线性分类问题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189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8AD7C7-DD0D-45F8-8D84-9934BDD4D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Nonlinear Problem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非线性问题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4C3AC-AB78-4917-8832-C607B6DE6DC9}"/>
              </a:ext>
            </a:extLst>
          </p:cNvPr>
          <p:cNvSpPr txBox="1"/>
          <p:nvPr/>
        </p:nvSpPr>
        <p:spPr>
          <a:xfrm>
            <a:off x="-76202" y="1740476"/>
            <a:ext cx="929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But the linear classifier performs decently</a:t>
            </a:r>
          </a:p>
          <a:p>
            <a:pPr algn="ctr"/>
            <a:r>
              <a:rPr lang="zh-CN" altLang="en-US" sz="2200" dirty="0"/>
              <a:t>但这个线性分类器表现得很不错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1732385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Linear Approximation  </a:t>
            </a:r>
            <a:r>
              <a:rPr lang="zh-CN" altLang="en-US" dirty="0">
                <a:ea typeface="ＭＳ Ｐゴシック" panose="020B0600070205080204" pitchFamily="34" charset="-128"/>
              </a:rPr>
              <a:t>线性近似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Some Problems Are Nonlinear</a:t>
                </a:r>
                <a:br>
                  <a:rPr lang="en-US" altLang="zh-CN" dirty="0"/>
                </a:br>
                <a:r>
                  <a:rPr lang="zh-CN" altLang="en-US" dirty="0"/>
                  <a:t>有些问题是非线性的</a:t>
                </a:r>
                <a:endParaRPr lang="en-US" altLang="zh-CN" dirty="0"/>
              </a:p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They Can Be Approximated w/ Linear Classification</a:t>
                </a:r>
                <a:br>
                  <a:rPr lang="en-US" altLang="zh-CN" dirty="0"/>
                </a:br>
                <a:r>
                  <a:rPr lang="zh-CN" altLang="en-US" dirty="0"/>
                  <a:t>但他们可以用线性分类来近似</a:t>
                </a:r>
                <a:endParaRPr lang="en-US" altLang="zh-CN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At least within the domain of focus</a:t>
                </a:r>
                <a:br>
                  <a:rPr lang="en-US" altLang="zh-CN" dirty="0"/>
                </a:br>
                <a:r>
                  <a:rPr lang="zh-CN" altLang="en-US" dirty="0"/>
                  <a:t>至少在我们关注的定义域里</a:t>
                </a:r>
                <a:endParaRPr lang="en-US" altLang="zh-CN" dirty="0"/>
              </a:p>
              <a:p>
                <a:pPr lvl="2">
                  <a:lnSpc>
                    <a:spcPct val="90000"/>
                  </a:lnSpc>
                </a:pPr>
                <a:r>
                  <a:rPr lang="en-US" altLang="zh-CN" dirty="0"/>
                  <a:t>Example  </a:t>
                </a:r>
                <a:r>
                  <a:rPr lang="zh-CN" altLang="en-US" dirty="0"/>
                  <a:t>例如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</m:oMath>
                </a14:m>
                <a:endParaRPr lang="en-US" altLang="zh-CN" dirty="0"/>
              </a:p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Linear Classifiers Work in Those Cases  </a:t>
                </a:r>
                <a:r>
                  <a:rPr lang="zh-CN" altLang="en-US" dirty="0"/>
                  <a:t>这类情形下线性分类器可用 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  <a:blipFill>
                <a:blip r:embed="rId5"/>
                <a:stretch>
                  <a:fillRect l="-549" t="-2668" b="-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3726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Synthetic Problem 2  </a:t>
            </a:r>
            <a:r>
              <a:rPr lang="zh-CN" altLang="en-US" dirty="0">
                <a:ea typeface="ＭＳ Ｐゴシック" panose="020B0600070205080204" pitchFamily="34" charset="-128"/>
              </a:rPr>
              <a:t>人造问题</a:t>
            </a:r>
            <a:r>
              <a:rPr lang="en-US" altLang="zh-CN" dirty="0">
                <a:ea typeface="ＭＳ Ｐゴシック" panose="020B0600070205080204" pitchFamily="34" charset="-128"/>
              </a:rPr>
              <a:t>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82864-6A4A-4322-8396-1BDE2460E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747838"/>
            <a:ext cx="4572000" cy="25755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071432-554D-4754-BBB5-6B1A4C1958E3}"/>
                  </a:ext>
                </a:extLst>
              </p:cNvPr>
              <p:cNvSpPr txBox="1"/>
              <p:nvPr/>
            </p:nvSpPr>
            <p:spPr>
              <a:xfrm>
                <a:off x="342900" y="4572000"/>
                <a:ext cx="8610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2 attributes  </a:t>
                </a:r>
                <a:r>
                  <a:rPr lang="zh-CN" altLang="en-US" sz="2200" dirty="0"/>
                  <a:t>两个属性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zh-CN" altLang="en-US" sz="2200" dirty="0"/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9071432-554D-4754-BBB5-6B1A4C195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4572000"/>
                <a:ext cx="8610600" cy="430887"/>
              </a:xfrm>
              <a:prstGeom prst="rect">
                <a:avLst/>
              </a:prstGeom>
              <a:blipFill>
                <a:blip r:embed="rId6"/>
                <a:stretch>
                  <a:fillRect t="-15493" b="-267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981C76-2455-417A-A158-A99F55F67A67}"/>
                  </a:ext>
                </a:extLst>
              </p:cNvPr>
              <p:cNvSpPr txBox="1"/>
              <p:nvPr/>
            </p:nvSpPr>
            <p:spPr>
              <a:xfrm>
                <a:off x="342900" y="5119384"/>
                <a:ext cx="86106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981C76-2455-417A-A158-A99F55F67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" y="5119384"/>
                <a:ext cx="8610600" cy="769441"/>
              </a:xfrm>
              <a:prstGeom prst="rect">
                <a:avLst/>
              </a:prstGeom>
              <a:blipFill>
                <a:blip r:embed="rId7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90377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10.2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10.2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790575" y="1716013"/>
            <a:ext cx="7562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perceptron algorithm on the problem</a:t>
            </a:r>
            <a:br>
              <a:rPr lang="en-US" altLang="zh-CN" sz="2200" dirty="0"/>
            </a:br>
            <a:r>
              <a:rPr lang="zh-CN" altLang="en-US" sz="2200" dirty="0"/>
              <a:t>实践时刻：在这个问题上尝试感知器算法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2CAC1-5FA4-4F90-9C46-85D86231A2DA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perform?  </a:t>
            </a:r>
            <a:r>
              <a:rPr lang="zh-CN" altLang="en-US" sz="2200" dirty="0"/>
              <a:t>它的表现如何？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356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Another Nonlinear Problem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另一个非线性问题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7A1E47-0155-427D-BF06-E00D7DC5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64C3AC-AB78-4917-8832-C607B6DE6DC9}"/>
              </a:ext>
            </a:extLst>
          </p:cNvPr>
          <p:cNvSpPr txBox="1"/>
          <p:nvPr/>
        </p:nvSpPr>
        <p:spPr>
          <a:xfrm>
            <a:off x="-76202" y="1740476"/>
            <a:ext cx="929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This time things are different</a:t>
            </a:r>
          </a:p>
          <a:p>
            <a:pPr algn="ctr"/>
            <a:r>
              <a:rPr lang="en-US" altLang="zh-CN" sz="2200" dirty="0"/>
              <a:t> </a:t>
            </a:r>
            <a:r>
              <a:rPr lang="zh-CN" altLang="en-US" sz="2200" dirty="0"/>
              <a:t>这次情况不同了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35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BDF6B7-4970-4EA9-B0B8-E98FF6093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368800"/>
            <a:ext cx="3657607" cy="36576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Another Nonlinear Problem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另一个非线性问题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64C3AC-AB78-4917-8832-C607B6DE6DC9}"/>
              </a:ext>
            </a:extLst>
          </p:cNvPr>
          <p:cNvSpPr txBox="1"/>
          <p:nvPr/>
        </p:nvSpPr>
        <p:spPr>
          <a:xfrm>
            <a:off x="-76202" y="1740476"/>
            <a:ext cx="929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Perceptron has already tried its best</a:t>
            </a:r>
          </a:p>
          <a:p>
            <a:pPr algn="ctr"/>
            <a:r>
              <a:rPr lang="zh-CN" altLang="en-US" sz="2200" dirty="0"/>
              <a:t>感知器已经竭尽所能了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364788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Naturally Nonlinear Problem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本质非线性问题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Some Problems Are Nonlinear in Nature  </a:t>
            </a:r>
            <a:r>
              <a:rPr lang="zh-CN" altLang="en-US" dirty="0"/>
              <a:t>有些问题本质上是非线性的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Linear Classifiers Cannot Work</a:t>
            </a:r>
            <a:br>
              <a:rPr lang="en-US" altLang="zh-CN" dirty="0"/>
            </a:br>
            <a:r>
              <a:rPr lang="zh-CN" altLang="en-US" dirty="0"/>
              <a:t>线性分类器无法处理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The synthetic problem is an example</a:t>
            </a:r>
            <a:br>
              <a:rPr lang="en-US" altLang="zh-CN" dirty="0"/>
            </a:br>
            <a:r>
              <a:rPr lang="zh-CN" altLang="en-US" dirty="0"/>
              <a:t>这个人造问题就是一例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We Need Something Different</a:t>
            </a:r>
            <a:br>
              <a:rPr lang="en-US" altLang="zh-CN" dirty="0"/>
            </a:br>
            <a:r>
              <a:rPr lang="zh-CN" altLang="en-US" dirty="0"/>
              <a:t>我们需要一些不同的方案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Convert a nonlinear problem to a linear one  </a:t>
            </a:r>
            <a:r>
              <a:rPr lang="zh-CN" altLang="en-US" dirty="0"/>
              <a:t>把一个非线性问题转换成线性问题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287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Transformation  </a:t>
            </a:r>
            <a:r>
              <a:rPr lang="zh-CN" altLang="en-US" dirty="0">
                <a:ea typeface="ＭＳ Ｐゴシック" panose="020B0600070205080204" pitchFamily="34" charset="-128"/>
              </a:rPr>
              <a:t>变换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4C3AC-AB78-4917-8832-C607B6DE6DC9}"/>
                  </a:ext>
                </a:extLst>
              </p:cNvPr>
              <p:cNvSpPr txBox="1"/>
              <p:nvPr/>
            </p:nvSpPr>
            <p:spPr>
              <a:xfrm>
                <a:off x="514347" y="1620941"/>
                <a:ext cx="8115301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Idea: derive a new attribute from the existing two</a:t>
                </a:r>
              </a:p>
              <a:p>
                <a:pPr algn="ctr"/>
                <a:r>
                  <a:rPr lang="zh-CN" altLang="en-US" sz="2200" dirty="0"/>
                  <a:t>想法：从已有的两个属性中衍生出一个新的属性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4C3AC-AB78-4917-8832-C607B6DE6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7" y="1620941"/>
                <a:ext cx="8115301" cy="1107996"/>
              </a:xfrm>
              <a:prstGeom prst="rect">
                <a:avLst/>
              </a:prstGeom>
              <a:blipFill>
                <a:blip r:embed="rId5"/>
                <a:stretch>
                  <a:fillRect t="-4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7E352F0-2B56-436D-82CB-482D8B3BD987}"/>
              </a:ext>
            </a:extLst>
          </p:cNvPr>
          <p:cNvSpPr txBox="1"/>
          <p:nvPr/>
        </p:nvSpPr>
        <p:spPr>
          <a:xfrm>
            <a:off x="402600" y="2895600"/>
            <a:ext cx="83387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Map the data samples from the original 2-dimensional space to a new higher dimensional (3-dimensional space) </a:t>
            </a:r>
          </a:p>
          <a:p>
            <a:pPr algn="ctr"/>
            <a:r>
              <a:rPr lang="zh-CN" altLang="en-US" sz="2200" dirty="0"/>
              <a:t>把数据从原先的二维空间映射到一个更高维（三维）空间中</a:t>
            </a:r>
            <a:endParaRPr lang="en-US" altLang="zh-C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41619-F9FD-4764-9110-46F03BBDF620}"/>
              </a:ext>
            </a:extLst>
          </p:cNvPr>
          <p:cNvSpPr txBox="1"/>
          <p:nvPr/>
        </p:nvSpPr>
        <p:spPr>
          <a:xfrm>
            <a:off x="808262" y="4191000"/>
            <a:ext cx="29935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2D nonlinear problem</a:t>
            </a:r>
          </a:p>
          <a:p>
            <a:pPr algn="ctr"/>
            <a:r>
              <a:rPr lang="zh-CN" altLang="en-US" sz="2200" dirty="0"/>
              <a:t>二维非线性问题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1D09B0-BEDD-4318-A624-34C997C255D3}"/>
                  </a:ext>
                </a:extLst>
              </p:cNvPr>
              <p:cNvSpPr txBox="1"/>
              <p:nvPr/>
            </p:nvSpPr>
            <p:spPr>
              <a:xfrm>
                <a:off x="476249" y="5211519"/>
                <a:ext cx="3657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1D09B0-BEDD-4318-A624-34C997C25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49" y="5211519"/>
                <a:ext cx="3657600" cy="430887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93B052F-2BC5-48C7-AB5A-3E67BF7F8E68}"/>
              </a:ext>
            </a:extLst>
          </p:cNvPr>
          <p:cNvSpPr txBox="1"/>
          <p:nvPr/>
        </p:nvSpPr>
        <p:spPr>
          <a:xfrm>
            <a:off x="5342169" y="4191000"/>
            <a:ext cx="29935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3D linear problem</a:t>
            </a:r>
          </a:p>
          <a:p>
            <a:pPr algn="ctr"/>
            <a:r>
              <a:rPr lang="zh-CN" altLang="en-US" sz="2200" dirty="0"/>
              <a:t>三维线性问题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9D1642-EB4C-4468-8801-1818B35DCC34}"/>
                  </a:ext>
                </a:extLst>
              </p:cNvPr>
              <p:cNvSpPr txBox="1"/>
              <p:nvPr/>
            </p:nvSpPr>
            <p:spPr>
              <a:xfrm>
                <a:off x="5010154" y="5206940"/>
                <a:ext cx="3657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9D1642-EB4C-4468-8801-1818B35DC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154" y="5206940"/>
                <a:ext cx="3657600" cy="430887"/>
              </a:xfrm>
              <a:prstGeom prst="rect">
                <a:avLst/>
              </a:prstGeom>
              <a:blipFill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Right 2">
            <a:extLst>
              <a:ext uri="{FF2B5EF4-FFF2-40B4-BE49-F238E27FC236}">
                <a16:creationId xmlns:a16="http://schemas.microsoft.com/office/drawing/2014/main" id="{3306E200-C98A-4003-A67C-4F16C0114E49}"/>
              </a:ext>
            </a:extLst>
          </p:cNvPr>
          <p:cNvSpPr/>
          <p:nvPr/>
        </p:nvSpPr>
        <p:spPr bwMode="auto">
          <a:xfrm>
            <a:off x="4133849" y="4708062"/>
            <a:ext cx="1047751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732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7" grpId="0"/>
      <p:bldP spid="9" grpId="0"/>
      <p:bldP spid="12" grpId="0"/>
      <p:bldP spid="13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10.3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10.3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0" y="1716013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perceptron algorithm on the transformed problem</a:t>
            </a:r>
            <a:br>
              <a:rPr lang="en-US" altLang="zh-CN" sz="2200" dirty="0"/>
            </a:br>
            <a:r>
              <a:rPr lang="zh-CN" altLang="en-US" sz="2200" dirty="0"/>
              <a:t>实践时刻：在变换后的问题上尝试感知器算法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2CAC1-5FA4-4F90-9C46-85D86231A2DA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perform?  </a:t>
            </a:r>
            <a:r>
              <a:rPr lang="zh-CN" altLang="en-US" sz="2200" dirty="0"/>
              <a:t>它的表现如何？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636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Nonlinear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dirty="0">
                <a:ea typeface="ＭＳ Ｐゴシック" panose="020B0600070205080204" pitchFamily="34" charset="-128"/>
              </a:rPr>
              <a:t> Linear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非线性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zh-CN" altLang="en-US" dirty="0">
                <a:ea typeface="ＭＳ Ｐゴシック" panose="020B0600070205080204" pitchFamily="34" charset="-128"/>
              </a:rPr>
              <a:t> 线性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7A1E47-0155-427D-BF06-E00D7DC54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057400"/>
            <a:ext cx="3657607" cy="3657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3BF806-B8A6-47C9-9576-1A65DCCA5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900231"/>
            <a:ext cx="4114808" cy="41148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7C56B8-F321-40C1-9788-8F40D652DC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600" y="1900800"/>
            <a:ext cx="4114808" cy="4114808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E7371AD5-9A87-4703-9180-F5D45DC8A1A3}"/>
              </a:ext>
            </a:extLst>
          </p:cNvPr>
          <p:cNvSpPr/>
          <p:nvPr/>
        </p:nvSpPr>
        <p:spPr bwMode="auto">
          <a:xfrm>
            <a:off x="3817760" y="3657603"/>
            <a:ext cx="1047751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057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Practical or Impractical?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实用不实用？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The Specific Solution Is Impractical </a:t>
            </a:r>
            <a:r>
              <a:rPr lang="zh-CN" altLang="en-US" dirty="0"/>
              <a:t>这个特定的解决方法不实用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We know the classification boundary</a:t>
            </a:r>
            <a:br>
              <a:rPr lang="en-US" altLang="zh-CN" dirty="0"/>
            </a:br>
            <a:r>
              <a:rPr lang="zh-CN" altLang="en-US" dirty="0"/>
              <a:t>我们知道了分类边界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Then introduce the exact feature map</a:t>
            </a:r>
            <a:br>
              <a:rPr lang="en-US" altLang="zh-CN" dirty="0"/>
            </a:br>
            <a:r>
              <a:rPr lang="zh-CN" altLang="en-US" dirty="0"/>
              <a:t>然后引入了一致的特征映射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Practical Solution  </a:t>
            </a:r>
            <a:r>
              <a:rPr lang="zh-CN" altLang="en-US" dirty="0"/>
              <a:t>实用的解决方案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Create a lot of new attributes</a:t>
            </a:r>
            <a:br>
              <a:rPr lang="en-US" altLang="zh-CN" dirty="0"/>
            </a:br>
            <a:r>
              <a:rPr lang="zh-CN" altLang="en-US" dirty="0"/>
              <a:t>创造出很多新的属性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Learn from them  </a:t>
            </a:r>
            <a:r>
              <a:rPr lang="zh-CN" altLang="en-US" dirty="0"/>
              <a:t>从中学习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823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Still the Example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依然是这个例子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4C3AC-AB78-4917-8832-C607B6DE6DC9}"/>
                  </a:ext>
                </a:extLst>
              </p:cNvPr>
              <p:cNvSpPr txBox="1"/>
              <p:nvPr/>
            </p:nvSpPr>
            <p:spPr>
              <a:xfrm>
                <a:off x="514347" y="1599169"/>
                <a:ext cx="8115301" cy="11481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A relatively more comprehensive feature map</a:t>
                </a:r>
              </a:p>
              <a:p>
                <a:pPr algn="ctr"/>
                <a:r>
                  <a:rPr lang="zh-CN" altLang="en-US" sz="2200" dirty="0"/>
                  <a:t>一个相对更详尽的特征映射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l-GR" altLang="zh-CN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)=(</m:t>
                      </m:r>
                      <m:sSubSup>
                        <m:sSub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4C3AC-AB78-4917-8832-C607B6DE6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7" y="1599169"/>
                <a:ext cx="8115301" cy="1148199"/>
              </a:xfrm>
              <a:prstGeom prst="rect">
                <a:avLst/>
              </a:prstGeom>
              <a:blipFill>
                <a:blip r:embed="rId5"/>
                <a:stretch>
                  <a:fillRect t="-3704" b="-5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7E352F0-2B56-436D-82CB-482D8B3BD987}"/>
              </a:ext>
            </a:extLst>
          </p:cNvPr>
          <p:cNvSpPr txBox="1"/>
          <p:nvPr/>
        </p:nvSpPr>
        <p:spPr>
          <a:xfrm>
            <a:off x="402600" y="2819398"/>
            <a:ext cx="833879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After mapping, the new problem in the 6-dimensional space is still linear</a:t>
            </a:r>
          </a:p>
          <a:p>
            <a:pPr algn="ctr"/>
            <a:r>
              <a:rPr lang="zh-CN" altLang="en-US" sz="2200" dirty="0"/>
              <a:t>经过了映射，在这个六维空间中的新问题还是线性的</a:t>
            </a:r>
            <a:endParaRPr lang="en-US" altLang="zh-CN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541619-F9FD-4764-9110-46F03BBDF620}"/>
              </a:ext>
            </a:extLst>
          </p:cNvPr>
          <p:cNvSpPr txBox="1"/>
          <p:nvPr/>
        </p:nvSpPr>
        <p:spPr>
          <a:xfrm>
            <a:off x="808262" y="3962400"/>
            <a:ext cx="29935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2D nonlinear problem</a:t>
            </a:r>
          </a:p>
          <a:p>
            <a:pPr algn="ctr"/>
            <a:r>
              <a:rPr lang="zh-CN" altLang="en-US" sz="2200" dirty="0"/>
              <a:t>二维非线性问题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1D09B0-BEDD-4318-A624-34C997C255D3}"/>
                  </a:ext>
                </a:extLst>
              </p:cNvPr>
              <p:cNvSpPr txBox="1"/>
              <p:nvPr/>
            </p:nvSpPr>
            <p:spPr>
              <a:xfrm>
                <a:off x="476249" y="4982919"/>
                <a:ext cx="3657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+0.1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1D09B0-BEDD-4318-A624-34C997C25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49" y="4982919"/>
                <a:ext cx="3657600" cy="430887"/>
              </a:xfrm>
              <a:prstGeom prst="rect">
                <a:avLst/>
              </a:prstGeom>
              <a:blipFill>
                <a:blip r:embed="rId6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93B052F-2BC5-48C7-AB5A-3E67BF7F8E68}"/>
              </a:ext>
            </a:extLst>
          </p:cNvPr>
          <p:cNvSpPr txBox="1"/>
          <p:nvPr/>
        </p:nvSpPr>
        <p:spPr>
          <a:xfrm>
            <a:off x="5342169" y="3962400"/>
            <a:ext cx="29935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6D linear problem</a:t>
            </a:r>
          </a:p>
          <a:p>
            <a:pPr algn="ctr"/>
            <a:r>
              <a:rPr lang="zh-CN" altLang="en-US" sz="2200" dirty="0"/>
              <a:t>六维线性问题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9D1642-EB4C-4468-8801-1818B35DCC34}"/>
                  </a:ext>
                </a:extLst>
              </p:cNvPr>
              <p:cNvSpPr txBox="1"/>
              <p:nvPr/>
            </p:nvSpPr>
            <p:spPr>
              <a:xfrm>
                <a:off x="5010154" y="4787897"/>
                <a:ext cx="3657600" cy="8209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0.1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0.1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09D1642-EB4C-4468-8801-1818B35DC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0154" y="4787897"/>
                <a:ext cx="3657600" cy="8209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rrow: Right 2">
            <a:extLst>
              <a:ext uri="{FF2B5EF4-FFF2-40B4-BE49-F238E27FC236}">
                <a16:creationId xmlns:a16="http://schemas.microsoft.com/office/drawing/2014/main" id="{3306E200-C98A-4003-A67C-4F16C0114E49}"/>
              </a:ext>
            </a:extLst>
          </p:cNvPr>
          <p:cNvSpPr/>
          <p:nvPr/>
        </p:nvSpPr>
        <p:spPr bwMode="auto">
          <a:xfrm>
            <a:off x="4133849" y="4479462"/>
            <a:ext cx="1047751" cy="4572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A0D09A-40DB-42F2-9ABC-0FC24288DE52}"/>
              </a:ext>
            </a:extLst>
          </p:cNvPr>
          <p:cNvSpPr txBox="1"/>
          <p:nvPr/>
        </p:nvSpPr>
        <p:spPr>
          <a:xfrm>
            <a:off x="32951" y="5555159"/>
            <a:ext cx="87007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But the feature map also allows for other complicated problem</a:t>
            </a:r>
          </a:p>
          <a:p>
            <a:pPr algn="ctr"/>
            <a:r>
              <a:rPr lang="zh-CN" altLang="en-US" sz="2200" dirty="0"/>
              <a:t>但这个特征映射也能处理其他的复杂的问题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802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7" grpId="0"/>
      <p:bldP spid="9" grpId="0"/>
      <p:bldP spid="12" grpId="0"/>
      <p:bldP spid="13" grpId="0"/>
      <p:bldP spid="3" grpId="0" animBg="1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Comprehensive Feature Map</a:t>
            </a:r>
            <a:br>
              <a:rPr lang="en-US" altLang="zh-CN" dirty="0"/>
            </a:br>
            <a:r>
              <a:rPr lang="zh-CN" altLang="en-US" dirty="0"/>
              <a:t>详尽的特征映射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Comprehensive Feature Map</a:t>
            </a:r>
            <a:br>
              <a:rPr lang="en-US" altLang="zh-CN" dirty="0"/>
            </a:br>
            <a:r>
              <a:rPr lang="zh-CN" altLang="en-US" dirty="0"/>
              <a:t>详尽的特征映射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Introduce potentially useful attributes</a:t>
            </a:r>
            <a:br>
              <a:rPr lang="en-US" altLang="zh-CN" dirty="0"/>
            </a:br>
            <a:r>
              <a:rPr lang="zh-CN" altLang="en-US" dirty="0"/>
              <a:t>引入了有潜在用途的属性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More Comprehensive  </a:t>
            </a:r>
            <a:r>
              <a:rPr lang="zh-CN" altLang="en-US" dirty="0"/>
              <a:t>更详尽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More likely to make the new problem linear  </a:t>
            </a:r>
            <a:r>
              <a:rPr lang="zh-CN" altLang="en-US" dirty="0"/>
              <a:t>更可能使得新问题变得线性化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Cost of the curse of dimensionality</a:t>
            </a:r>
            <a:br>
              <a:rPr lang="en-US" altLang="zh-CN" dirty="0"/>
            </a:br>
            <a:r>
              <a:rPr lang="zh-CN" altLang="en-US" dirty="0"/>
              <a:t>代价是维度的诅咒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Higher computation cost  </a:t>
            </a:r>
            <a:r>
              <a:rPr lang="zh-CN" altLang="en-US" dirty="0"/>
              <a:t>更高的计算代价</a:t>
            </a:r>
            <a:endParaRPr lang="en-US" altLang="zh-CN" dirty="0"/>
          </a:p>
          <a:p>
            <a:pPr lvl="3">
              <a:lnSpc>
                <a:spcPct val="90000"/>
              </a:lnSpc>
            </a:pPr>
            <a:r>
              <a:rPr lang="en-US" altLang="zh-CN" dirty="0"/>
              <a:t>We solve this </a:t>
            </a:r>
            <a:r>
              <a:rPr lang="en-US" altLang="zh-CN"/>
              <a:t>problem first  </a:t>
            </a:r>
            <a:r>
              <a:rPr lang="zh-CN" altLang="en-US" dirty="0"/>
              <a:t>我们先解决这个问题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743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Perceptron Algorithm </a:t>
            </a:r>
            <a:br>
              <a:rPr lang="en-US" altLang="zh-CN" dirty="0"/>
            </a:br>
            <a:r>
              <a:rPr lang="zh-CN" altLang="en-US" dirty="0"/>
              <a:t>回忆感知器算法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Initialization  </a:t>
                </a:r>
                <a:r>
                  <a:rPr lang="zh-CN" altLang="en-US" dirty="0"/>
                  <a:t>初始化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𝚽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en-US" altLang="zh-CN" dirty="0"/>
                  <a:t>Repeat over Time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对时间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dirty="0"/>
                  <a:t>循环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Get  </a:t>
                </a:r>
                <a:r>
                  <a:rPr lang="zh-CN" altLang="en-US" dirty="0"/>
                  <a:t>获得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If  </a:t>
                </a:r>
                <a:r>
                  <a:rPr lang="zh-CN" altLang="en-US" dirty="0"/>
                  <a:t>如果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  <a:blipFill>
                <a:blip r:embed="rId6"/>
                <a:stretch>
                  <a:fillRect l="-549" t="-2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D6863D-061D-4821-8844-65BC4D6F1A3B}"/>
              </a:ext>
            </a:extLst>
          </p:cNvPr>
          <p:cNvGrpSpPr/>
          <p:nvPr/>
        </p:nvGrpSpPr>
        <p:grpSpPr>
          <a:xfrm>
            <a:off x="3243945" y="2743200"/>
            <a:ext cx="5540826" cy="3465400"/>
            <a:chOff x="3243945" y="2743200"/>
            <a:chExt cx="5540826" cy="3465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ADDEE7-E792-44C4-882D-A7420205C521}"/>
                </a:ext>
              </a:extLst>
            </p:cNvPr>
            <p:cNvSpPr/>
            <p:nvPr/>
          </p:nvSpPr>
          <p:spPr bwMode="auto">
            <a:xfrm>
              <a:off x="5562600" y="2743200"/>
              <a:ext cx="1905000" cy="45720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2B1D02-5D7E-4E3B-9D30-E2703B963B92}"/>
                </a:ext>
              </a:extLst>
            </p:cNvPr>
            <p:cNvSpPr/>
            <p:nvPr/>
          </p:nvSpPr>
          <p:spPr bwMode="auto">
            <a:xfrm>
              <a:off x="3712029" y="4504304"/>
              <a:ext cx="1240971" cy="524895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2739F1A-A758-4F04-875D-1AB01D717304}"/>
                </a:ext>
              </a:extLst>
            </p:cNvPr>
            <p:cNvSpPr/>
            <p:nvPr/>
          </p:nvSpPr>
          <p:spPr bwMode="auto">
            <a:xfrm>
              <a:off x="3243945" y="5092133"/>
              <a:ext cx="1023256" cy="39426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2F55711-953D-4458-948B-5532A3E1DD75}"/>
                </a:ext>
              </a:extLst>
            </p:cNvPr>
            <p:cNvSpPr txBox="1"/>
            <p:nvPr/>
          </p:nvSpPr>
          <p:spPr>
            <a:xfrm>
              <a:off x="5791200" y="5100604"/>
              <a:ext cx="299357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Mapped to a new high dimensional space</a:t>
              </a:r>
            </a:p>
            <a:p>
              <a:pPr algn="ctr"/>
              <a:r>
                <a:rPr lang="zh-CN" altLang="en-US" sz="2200" dirty="0"/>
                <a:t>映射到了新的高维空间</a:t>
              </a:r>
              <a:endParaRPr lang="en-US" altLang="zh-CN" sz="2200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CD3A77E-70F6-4A60-9CC6-2514ABA0DA73}"/>
                </a:ext>
              </a:extLst>
            </p:cNvPr>
            <p:cNvCxnSpPr>
              <a:stCxn id="8" idx="0"/>
              <a:endCxn id="5" idx="2"/>
            </p:cNvCxnSpPr>
            <p:nvPr/>
          </p:nvCxnSpPr>
          <p:spPr bwMode="auto">
            <a:xfrm flipH="1" flipV="1">
              <a:off x="6515100" y="3200400"/>
              <a:ext cx="772886" cy="190020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FE109B31-2F4F-4C69-ADB1-80E1A3599910}"/>
                </a:ext>
              </a:extLst>
            </p:cNvPr>
            <p:cNvCxnSpPr>
              <a:cxnSpLocks/>
              <a:stCxn id="8" idx="1"/>
              <a:endCxn id="6" idx="3"/>
            </p:cNvCxnSpPr>
            <p:nvPr/>
          </p:nvCxnSpPr>
          <p:spPr bwMode="auto">
            <a:xfrm flipH="1" flipV="1">
              <a:off x="4953000" y="4766752"/>
              <a:ext cx="838200" cy="88785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CF6FAC2-1F89-4F98-B94A-DDCEC901A5A9}"/>
                </a:ext>
              </a:extLst>
            </p:cNvPr>
            <p:cNvCxnSpPr>
              <a:cxnSpLocks/>
              <a:stCxn id="8" idx="1"/>
              <a:endCxn id="7" idx="3"/>
            </p:cNvCxnSpPr>
            <p:nvPr/>
          </p:nvCxnSpPr>
          <p:spPr bwMode="auto">
            <a:xfrm flipH="1" flipV="1">
              <a:off x="4267201" y="5289267"/>
              <a:ext cx="1523999" cy="36533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2430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Perceptron Algorithm </a:t>
            </a:r>
            <a:br>
              <a:rPr lang="en-US" altLang="zh-CN" dirty="0"/>
            </a:br>
            <a:r>
              <a:rPr lang="zh-CN" altLang="en-US" dirty="0"/>
              <a:t>回忆感知器算法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Initialization  </a:t>
                </a:r>
                <a:r>
                  <a:rPr lang="zh-CN" altLang="en-US" dirty="0"/>
                  <a:t>初始化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𝚽</m:t>
                                </m:r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altLang="zh-CN" dirty="0"/>
              </a:p>
              <a:p>
                <a:r>
                  <a:rPr lang="en-US" altLang="zh-CN" dirty="0"/>
                  <a:t>Repeat over Time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dirty="0"/>
                  <a:t>  </a:t>
                </a:r>
                <a:r>
                  <a:rPr lang="zh-CN" altLang="en-US" dirty="0"/>
                  <a:t>对时间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dirty="0"/>
                  <a:t>循环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Get  </a:t>
                </a:r>
                <a:r>
                  <a:rPr lang="zh-CN" altLang="en-US" dirty="0"/>
                  <a:t>获得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If  </a:t>
                </a:r>
                <a:r>
                  <a:rPr lang="zh-CN" altLang="en-US" dirty="0"/>
                  <a:t>如果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𝐰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4800600"/>
              </a:xfrm>
              <a:blipFill>
                <a:blip r:embed="rId5"/>
                <a:stretch>
                  <a:fillRect l="-549" t="-22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D6863D-061D-4821-8844-65BC4D6F1A3B}"/>
              </a:ext>
            </a:extLst>
          </p:cNvPr>
          <p:cNvGrpSpPr/>
          <p:nvPr/>
        </p:nvGrpSpPr>
        <p:grpSpPr>
          <a:xfrm>
            <a:off x="1556657" y="1738029"/>
            <a:ext cx="6379029" cy="3754459"/>
            <a:chOff x="1556657" y="1738029"/>
            <a:chExt cx="6379029" cy="375445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3ADDEE7-E792-44C4-882D-A7420205C521}"/>
                </a:ext>
              </a:extLst>
            </p:cNvPr>
            <p:cNvSpPr/>
            <p:nvPr/>
          </p:nvSpPr>
          <p:spPr bwMode="auto">
            <a:xfrm>
              <a:off x="1556657" y="2220686"/>
              <a:ext cx="1175657" cy="413657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2739F1A-A758-4F04-875D-1AB01D717304}"/>
                </a:ext>
              </a:extLst>
            </p:cNvPr>
            <p:cNvSpPr/>
            <p:nvPr/>
          </p:nvSpPr>
          <p:spPr bwMode="auto">
            <a:xfrm>
              <a:off x="1992086" y="5078832"/>
              <a:ext cx="2743200" cy="413656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2F55711-953D-4458-948B-5532A3E1DD75}"/>
                    </a:ext>
                  </a:extLst>
                </p:cNvPr>
                <p:cNvSpPr txBox="1"/>
                <p:nvPr/>
              </p:nvSpPr>
              <p:spPr>
                <a:xfrm>
                  <a:off x="5943600" y="1738029"/>
                  <a:ext cx="1992086" cy="7694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/>
                    <a:t>Update of </a:t>
                  </a:r>
                  <a14:m>
                    <m:oMath xmlns:m="http://schemas.openxmlformats.org/officeDocument/2006/math">
                      <m:r>
                        <a:rPr lang="en-US" altLang="zh-CN" sz="2200" b="1" i="0" smtClean="0">
                          <a:latin typeface="Cambria Math" panose="02040503050406030204" pitchFamily="18" charset="0"/>
                        </a:rPr>
                        <m:t>𝐰</m:t>
                      </m:r>
                    </m:oMath>
                  </a14:m>
                  <a:endParaRPr lang="en-US" altLang="zh-CN" sz="2200" b="1" dirty="0"/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a14:m>
                  <a:r>
                    <a:rPr lang="zh-CN" altLang="en-US" sz="2200" dirty="0"/>
                    <a:t>的改动</a:t>
                  </a:r>
                  <a:endParaRPr lang="en-US" altLang="zh-CN" sz="2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2F55711-953D-4458-948B-5532A3E1D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3600" y="1738029"/>
                  <a:ext cx="1992086" cy="769441"/>
                </a:xfrm>
                <a:prstGeom prst="rect">
                  <a:avLst/>
                </a:prstGeom>
                <a:blipFill>
                  <a:blip r:embed="rId6"/>
                  <a:stretch>
                    <a:fillRect t="-5556" b="-1269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DCD3A77E-70F6-4A60-9CC6-2514ABA0DA73}"/>
                </a:ext>
              </a:extLst>
            </p:cNvPr>
            <p:cNvCxnSpPr>
              <a:cxnSpLocks/>
              <a:stCxn id="8" idx="1"/>
              <a:endCxn id="5" idx="3"/>
            </p:cNvCxnSpPr>
            <p:nvPr/>
          </p:nvCxnSpPr>
          <p:spPr bwMode="auto">
            <a:xfrm flipH="1">
              <a:off x="2732314" y="2122750"/>
              <a:ext cx="3211286" cy="30476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CF6FAC2-1F89-4F98-B94A-DDCEC901A5A9}"/>
                </a:ext>
              </a:extLst>
            </p:cNvPr>
            <p:cNvCxnSpPr>
              <a:cxnSpLocks/>
              <a:stCxn id="8" idx="2"/>
              <a:endCxn id="7" idx="3"/>
            </p:cNvCxnSpPr>
            <p:nvPr/>
          </p:nvCxnSpPr>
          <p:spPr bwMode="auto">
            <a:xfrm flipH="1">
              <a:off x="4735286" y="2507470"/>
              <a:ext cx="2204357" cy="277819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963002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Rewrite the Weights  </a:t>
            </a:r>
            <a:r>
              <a:rPr lang="zh-CN" altLang="en-US" dirty="0">
                <a:ea typeface="ＭＳ Ｐゴシック" panose="020B0600070205080204" pitchFamily="34" charset="-128"/>
              </a:rPr>
              <a:t>重写权重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4C3AC-AB78-4917-8832-C607B6DE6DC9}"/>
                  </a:ext>
                </a:extLst>
              </p:cNvPr>
              <p:cNvSpPr txBox="1"/>
              <p:nvPr/>
            </p:nvSpPr>
            <p:spPr>
              <a:xfrm>
                <a:off x="514347" y="1599169"/>
                <a:ext cx="811530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Initialization   </a:t>
                </a:r>
                <a:r>
                  <a:rPr lang="zh-CN" altLang="en-US" sz="2200" dirty="0"/>
                  <a:t>初始化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sz="22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664C3AC-AB78-4917-8832-C607B6DE6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7" y="1599169"/>
                <a:ext cx="8115301" cy="769441"/>
              </a:xfrm>
              <a:prstGeom prst="rect">
                <a:avLst/>
              </a:prstGeom>
              <a:blipFill>
                <a:blip r:embed="rId5"/>
                <a:stretch>
                  <a:fillRect t="-78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/>
              <p:nvPr/>
            </p:nvSpPr>
            <p:spPr>
              <a:xfrm>
                <a:off x="416669" y="2436637"/>
                <a:ext cx="8338793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Update w/ the condition satisfied  </a:t>
                </a:r>
                <a:r>
                  <a:rPr lang="zh-CN" altLang="en-US" sz="2200" dirty="0"/>
                  <a:t>条件满足时的更新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7E352F0-2B56-436D-82CB-482D8B3BD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69" y="2436637"/>
                <a:ext cx="8338793" cy="792396"/>
              </a:xfrm>
              <a:prstGeom prst="rect">
                <a:avLst/>
              </a:prstGeom>
              <a:blipFill>
                <a:blip r:embed="rId6"/>
                <a:stretch>
                  <a:fillRect t="-8462" b="-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551A93-C7A7-414D-BCF4-06748B8C0A6E}"/>
                  </a:ext>
                </a:extLst>
              </p:cNvPr>
              <p:cNvSpPr txBox="1"/>
              <p:nvPr/>
            </p:nvSpPr>
            <p:spPr>
              <a:xfrm>
                <a:off x="500407" y="3385456"/>
                <a:ext cx="8338793" cy="4538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</m:oMath>
                </a14:m>
                <a:r>
                  <a:rPr lang="en-US" altLang="zh-CN" sz="2200" dirty="0"/>
                  <a:t>s a combination of 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zh-CN" altLang="en-US" sz="2200" dirty="0"/>
                  <a:t>是</a:t>
                </a:r>
                <a14:m>
                  <m:oMath xmlns:m="http://schemas.openxmlformats.org/officeDocument/2006/math">
                    <m:r>
                      <a:rPr lang="zh-CN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200" dirty="0"/>
                  <a:t>的组合</a:t>
                </a:r>
                <a:endParaRPr lang="en-US" altLang="zh-CN" sz="2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8551A93-C7A7-414D-BCF4-06748B8C0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7" y="3385456"/>
                <a:ext cx="8338793" cy="453842"/>
              </a:xfrm>
              <a:prstGeom prst="rect">
                <a:avLst/>
              </a:prstGeom>
              <a:blipFill>
                <a:blip r:embed="rId7"/>
                <a:stretch>
                  <a:fillRect t="-9333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5A0BD5-AC9C-46B8-8A1E-A89679AE1301}"/>
                  </a:ext>
                </a:extLst>
              </p:cNvPr>
              <p:cNvSpPr txBox="1"/>
              <p:nvPr/>
            </p:nvSpPr>
            <p:spPr>
              <a:xfrm>
                <a:off x="416669" y="4006607"/>
                <a:ext cx="8338793" cy="797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Let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altLang="zh-CN" sz="2200" dirty="0"/>
                  <a:t> denote whether we update 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en-US" altLang="zh-CN" sz="2200" dirty="0"/>
                  <a:t> at time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altLang="zh-CN" sz="2200" dirty="0"/>
              </a:p>
              <a:p>
                <a:pPr algn="ctr"/>
                <a:r>
                  <a:rPr lang="zh-CN" altLang="en-US" sz="2200" dirty="0"/>
                  <a:t>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en-US" sz="2200" dirty="0"/>
                  <a:t>表示我们是否在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2200" dirty="0"/>
                  <a:t>时刻更新了</a:t>
                </a:r>
                <a14:m>
                  <m:oMath xmlns:m="http://schemas.openxmlformats.org/officeDocument/2006/math">
                    <m:r>
                      <a:rPr lang="en-US" altLang="zh-CN" sz="2200" b="1"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F5A0BD5-AC9C-46B8-8A1E-A89679AE13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69" y="4006607"/>
                <a:ext cx="8338793" cy="797654"/>
              </a:xfrm>
              <a:prstGeom prst="rect">
                <a:avLst/>
              </a:prstGeom>
              <a:blipFill>
                <a:blip r:embed="rId8"/>
                <a:stretch>
                  <a:fillRect t="-3053" b="-11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FE1C06-ADB8-4C71-96AE-CCE3A10C2D5F}"/>
                  </a:ext>
                </a:extLst>
              </p:cNvPr>
              <p:cNvSpPr txBox="1"/>
              <p:nvPr/>
            </p:nvSpPr>
            <p:spPr>
              <a:xfrm>
                <a:off x="500407" y="4931150"/>
                <a:ext cx="8338793" cy="1258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Now we can rewrite  </a:t>
                </a:r>
                <a:r>
                  <a:rPr lang="zh-CN" altLang="en-US" sz="2200" dirty="0"/>
                  <a:t>这样我们可以重写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zh-CN" alt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zh-CN" alt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𝚽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FE1C06-ADB8-4C71-96AE-CCE3A10C2D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07" y="4931150"/>
                <a:ext cx="8338793" cy="1258293"/>
              </a:xfrm>
              <a:prstGeom prst="rect">
                <a:avLst/>
              </a:prstGeom>
              <a:blipFill>
                <a:blip r:embed="rId9"/>
                <a:stretch>
                  <a:fillRect t="-5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0864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5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Rewrite the Algorithm </a:t>
            </a:r>
            <a:r>
              <a:rPr lang="zh-CN" altLang="en-US" dirty="0"/>
              <a:t>重写算法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84582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95000"/>
                  </a:lnSpc>
                </a:pPr>
                <a:r>
                  <a:rPr lang="en-US" altLang="zh-CN" sz="3500" dirty="0"/>
                  <a:t>Initialization  </a:t>
                </a:r>
                <a:r>
                  <a:rPr lang="zh-CN" altLang="en-US" sz="3500" dirty="0"/>
                  <a:t>初始化</a:t>
                </a:r>
                <a:endParaRPr lang="en-US" altLang="zh-CN" sz="3500" dirty="0"/>
              </a:p>
              <a:p>
                <a:pPr lvl="1">
                  <a:lnSpc>
                    <a:spcPct val="95000"/>
                  </a:lnSpc>
                </a:pPr>
                <a14:m>
                  <m:oMath xmlns:m="http://schemas.openxmlformats.org/officeDocument/2006/math">
                    <m:r>
                      <a:rPr lang="en-US" altLang="zh-CN" sz="3000" b="1" i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r>
                      <a:rPr lang="en-US" altLang="zh-CN" sz="30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3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000" dirty="0"/>
                  <a:t> </a:t>
                </a:r>
              </a:p>
              <a:p>
                <a:pPr lvl="1">
                  <a:lnSpc>
                    <a:spcPct val="95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30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𝚽</m:t>
                                </m:r>
                                <m:r>
                                  <a:rPr lang="en-US" altLang="zh-CN" sz="3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0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altLang="zh-CN" sz="30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  <m:r>
                          <a:rPr lang="en-US" altLang="zh-CN" sz="3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  <m:r>
                          <a:rPr lang="en-US" altLang="zh-CN" sz="3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altLang="zh-CN" sz="3000" dirty="0"/>
              </a:p>
              <a:p>
                <a:pPr>
                  <a:lnSpc>
                    <a:spcPct val="95000"/>
                  </a:lnSpc>
                </a:pPr>
                <a:r>
                  <a:rPr lang="en-US" altLang="zh-CN" sz="3500" dirty="0"/>
                  <a:t>Repeat over Time </a:t>
                </a:r>
                <a14:m>
                  <m:oMath xmlns:m="http://schemas.openxmlformats.org/officeDocument/2006/math">
                    <m:r>
                      <a:rPr lang="en-US" altLang="zh-CN" sz="35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sz="3500" dirty="0"/>
                  <a:t>  </a:t>
                </a:r>
                <a:r>
                  <a:rPr lang="zh-CN" altLang="en-US" sz="3500" dirty="0"/>
                  <a:t>对时间</a:t>
                </a:r>
                <a14:m>
                  <m:oMath xmlns:m="http://schemas.openxmlformats.org/officeDocument/2006/math">
                    <m:r>
                      <a:rPr lang="en-US" altLang="zh-CN" sz="3500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sz="3500" dirty="0"/>
                  <a:t>循环</a:t>
                </a:r>
                <a:endParaRPr lang="en-US" altLang="zh-CN" sz="3500" dirty="0"/>
              </a:p>
              <a:p>
                <a:pPr lvl="1">
                  <a:lnSpc>
                    <a:spcPct val="95000"/>
                  </a:lnSpc>
                </a:pPr>
                <a:r>
                  <a:rPr lang="en-US" altLang="zh-CN" sz="3000" dirty="0"/>
                  <a:t>Get  </a:t>
                </a:r>
                <a:r>
                  <a:rPr lang="zh-CN" altLang="en-US" sz="3000" dirty="0"/>
                  <a:t>获得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3000" dirty="0"/>
              </a:p>
              <a:p>
                <a:pPr lvl="1">
                  <a:lnSpc>
                    <a:spcPct val="95000"/>
                  </a:lnSpc>
                </a:pPr>
                <a:r>
                  <a:rPr lang="en-US" altLang="zh-CN" sz="3000" dirty="0"/>
                  <a:t>If  </a:t>
                </a:r>
                <a:r>
                  <a:rPr lang="zh-CN" altLang="en-US" sz="3000" dirty="0"/>
                  <a:t>如果  </a:t>
                </a:r>
                <a:br>
                  <a:rPr lang="en-US" altLang="zh-CN" sz="3000" dirty="0"/>
                </a:b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 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000" dirty="0">
                  <a:ea typeface="Cambria Math" panose="02040503050406030204" pitchFamily="18" charset="0"/>
                </a:endParaRPr>
              </a:p>
              <a:p>
                <a:pPr lvl="2">
                  <a:lnSpc>
                    <a:spcPct val="95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600" b="0" dirty="0">
                  <a:ea typeface="Cambria Math" panose="02040503050406030204" pitchFamily="18" charset="0"/>
                </a:endParaRPr>
              </a:p>
              <a:p>
                <a:pPr lvl="2">
                  <a:lnSpc>
                    <a:spcPct val="95000"/>
                  </a:lnSpc>
                </a:pP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8458200" cy="4953000"/>
              </a:xfrm>
              <a:blipFill>
                <a:blip r:embed="rId5"/>
                <a:stretch>
                  <a:fillRect l="-504" t="-3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693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Rewrite the Algorithm </a:t>
            </a:r>
            <a:r>
              <a:rPr lang="zh-CN" altLang="en-US" dirty="0"/>
              <a:t>重写算法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85344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95000"/>
                  </a:lnSpc>
                </a:pPr>
                <a:r>
                  <a:rPr lang="en-US" altLang="zh-CN" sz="3500" dirty="0"/>
                  <a:t>Initialization  </a:t>
                </a:r>
                <a:r>
                  <a:rPr lang="zh-CN" altLang="en-US" sz="3500" dirty="0"/>
                  <a:t>初始化</a:t>
                </a:r>
                <a:endParaRPr lang="en-US" altLang="zh-CN" sz="3500" dirty="0"/>
              </a:p>
              <a:p>
                <a:pPr lvl="1">
                  <a:lnSpc>
                    <a:spcPct val="95000"/>
                  </a:lnSpc>
                </a:pPr>
                <a14:m>
                  <m:oMath xmlns:m="http://schemas.openxmlformats.org/officeDocument/2006/math">
                    <m:r>
                      <a:rPr lang="en-US" altLang="zh-CN" sz="3000" b="1" i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r>
                      <a:rPr lang="en-US" altLang="zh-CN" sz="30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3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000" dirty="0"/>
                  <a:t> </a:t>
                </a:r>
              </a:p>
              <a:p>
                <a:pPr lvl="1">
                  <a:lnSpc>
                    <a:spcPct val="95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30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𝚽</m:t>
                                </m:r>
                                <m:r>
                                  <a:rPr lang="en-US" altLang="zh-CN" sz="3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0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altLang="zh-CN" sz="30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  <m:d>
                          <m:dPr>
                            <m:ctrlPr>
                              <a:rPr lang="en-US" altLang="zh-CN" sz="3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sz="3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zh-CN" alt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𝚽</m:t>
                        </m:r>
                        <m:d>
                          <m:dPr>
                            <m:ctrlPr>
                              <a:rPr lang="en-US" altLang="zh-CN" sz="3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</m:d>
                        <m:r>
                          <a:rPr lang="en-US" altLang="zh-CN" sz="3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altLang="zh-CN" sz="3000" dirty="0"/>
              </a:p>
              <a:p>
                <a:pPr>
                  <a:lnSpc>
                    <a:spcPct val="95000"/>
                  </a:lnSpc>
                </a:pPr>
                <a:r>
                  <a:rPr lang="en-US" altLang="zh-CN" sz="3500" dirty="0"/>
                  <a:t>Repeat over Time </a:t>
                </a:r>
                <a14:m>
                  <m:oMath xmlns:m="http://schemas.openxmlformats.org/officeDocument/2006/math">
                    <m:r>
                      <a:rPr lang="en-US" altLang="zh-CN" sz="35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sz="3500" dirty="0"/>
                  <a:t>  </a:t>
                </a:r>
                <a:r>
                  <a:rPr lang="zh-CN" altLang="en-US" sz="3500" dirty="0"/>
                  <a:t>对时间</a:t>
                </a:r>
                <a14:m>
                  <m:oMath xmlns:m="http://schemas.openxmlformats.org/officeDocument/2006/math">
                    <m:r>
                      <a:rPr lang="en-US" altLang="zh-CN" sz="3500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sz="3500" dirty="0"/>
                  <a:t>循环</a:t>
                </a:r>
                <a:endParaRPr lang="en-US" altLang="zh-CN" sz="3500" dirty="0"/>
              </a:p>
              <a:p>
                <a:pPr lvl="1">
                  <a:lnSpc>
                    <a:spcPct val="95000"/>
                  </a:lnSpc>
                </a:pPr>
                <a:r>
                  <a:rPr lang="en-US" altLang="zh-CN" sz="3000" dirty="0"/>
                  <a:t>Get  </a:t>
                </a:r>
                <a:r>
                  <a:rPr lang="zh-CN" altLang="en-US" sz="3000" dirty="0"/>
                  <a:t>获得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3000" dirty="0"/>
              </a:p>
              <a:p>
                <a:pPr lvl="1">
                  <a:lnSpc>
                    <a:spcPct val="95000"/>
                  </a:lnSpc>
                </a:pPr>
                <a:r>
                  <a:rPr lang="en-US" altLang="zh-CN" sz="3000" dirty="0"/>
                  <a:t>If  </a:t>
                </a:r>
                <a:r>
                  <a:rPr lang="zh-CN" altLang="en-US" sz="3000" dirty="0"/>
                  <a:t>如果  </a:t>
                </a:r>
                <a:br>
                  <a:rPr lang="en-US" altLang="zh-CN" sz="3000" dirty="0"/>
                </a:b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nary>
                    <m:r>
                      <a:rPr lang="en-US" altLang="zh-CN" sz="3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lang="en-US" altLang="zh-CN" sz="3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zh-CN" alt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sz="3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30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)]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000" dirty="0">
                  <a:ea typeface="Cambria Math" panose="02040503050406030204" pitchFamily="18" charset="0"/>
                </a:endParaRPr>
              </a:p>
              <a:p>
                <a:pPr lvl="2">
                  <a:lnSpc>
                    <a:spcPct val="95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600" b="0" dirty="0">
                  <a:ea typeface="Cambria Math" panose="02040503050406030204" pitchFamily="18" charset="0"/>
                </a:endParaRPr>
              </a:p>
              <a:p>
                <a:pPr lvl="2">
                  <a:lnSpc>
                    <a:spcPct val="95000"/>
                  </a:lnSpc>
                </a:pP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8534400" cy="4953000"/>
              </a:xfrm>
              <a:blipFill>
                <a:blip r:embed="rId6"/>
                <a:stretch>
                  <a:fillRect l="-500" t="-3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4401B09-D392-4DD5-96E4-262CC9EC4DF9}"/>
              </a:ext>
            </a:extLst>
          </p:cNvPr>
          <p:cNvGrpSpPr/>
          <p:nvPr/>
        </p:nvGrpSpPr>
        <p:grpSpPr>
          <a:xfrm>
            <a:off x="3516086" y="2604067"/>
            <a:ext cx="5627914" cy="3762208"/>
            <a:chOff x="3483431" y="2775858"/>
            <a:chExt cx="5627914" cy="376220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D658587-3BEF-46D0-B164-449112188217}"/>
                </a:ext>
              </a:extLst>
            </p:cNvPr>
            <p:cNvSpPr/>
            <p:nvPr/>
          </p:nvSpPr>
          <p:spPr bwMode="auto">
            <a:xfrm>
              <a:off x="5551713" y="2775858"/>
              <a:ext cx="2035631" cy="443933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4CB9D7-8478-4226-BE29-E9F878A17C1C}"/>
                </a:ext>
              </a:extLst>
            </p:cNvPr>
            <p:cNvSpPr/>
            <p:nvPr/>
          </p:nvSpPr>
          <p:spPr bwMode="auto">
            <a:xfrm>
              <a:off x="3483431" y="4879181"/>
              <a:ext cx="2873828" cy="452439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4B89523-811D-425E-B1AD-5B4D04AC53E1}"/>
                    </a:ext>
                  </a:extLst>
                </p:cNvPr>
                <p:cNvSpPr txBox="1"/>
                <p:nvPr/>
              </p:nvSpPr>
              <p:spPr>
                <a:xfrm>
                  <a:off x="5148945" y="5407820"/>
                  <a:ext cx="3962400" cy="11302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/>
                    <a:t>All we need about </a:t>
                  </a:r>
                  <a14:m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r>
                    <a:rPr lang="en-US" altLang="zh-CN" sz="2200" dirty="0"/>
                    <a:t> is the dot product</a:t>
                  </a:r>
                </a:p>
                <a:p>
                  <a:pPr algn="ctr"/>
                  <a:r>
                    <a:rPr lang="zh-CN" altLang="en-US" sz="2200" dirty="0"/>
                    <a:t>所有需要</a:t>
                  </a:r>
                  <a14:m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en-US" altLang="zh-CN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r>
                    <a:rPr lang="zh-CN" altLang="en-US" sz="2200" dirty="0"/>
                    <a:t>的地方都是点乘</a:t>
                  </a:r>
                  <a:endParaRPr lang="en-US" altLang="zh-CN" sz="2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4B89523-811D-425E-B1AD-5B4D04AC5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8945" y="5407820"/>
                  <a:ext cx="3962400" cy="1130246"/>
                </a:xfrm>
                <a:prstGeom prst="rect">
                  <a:avLst/>
                </a:prstGeom>
                <a:blipFill>
                  <a:blip r:embed="rId7"/>
                  <a:stretch>
                    <a:fillRect l="-308" t="-2162" r="-308" b="-810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690A3E8-236C-411C-B26C-8CD682BA2BA8}"/>
                </a:ext>
              </a:extLst>
            </p:cNvPr>
            <p:cNvCxnSpPr>
              <a:cxnSpLocks/>
              <a:stCxn id="9" idx="0"/>
              <a:endCxn id="6" idx="2"/>
            </p:cNvCxnSpPr>
            <p:nvPr/>
          </p:nvCxnSpPr>
          <p:spPr bwMode="auto">
            <a:xfrm flipH="1" flipV="1">
              <a:off x="6569529" y="3219791"/>
              <a:ext cx="560616" cy="218802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9D5EB16-609C-4EF6-AEE1-BAC91E88F091}"/>
                </a:ext>
              </a:extLst>
            </p:cNvPr>
            <p:cNvCxnSpPr>
              <a:cxnSpLocks/>
              <a:stCxn id="9" idx="0"/>
              <a:endCxn id="7" idx="3"/>
            </p:cNvCxnSpPr>
            <p:nvPr/>
          </p:nvCxnSpPr>
          <p:spPr bwMode="auto">
            <a:xfrm flipH="1" flipV="1">
              <a:off x="6357259" y="5105401"/>
              <a:ext cx="772886" cy="30241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5281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Trick  </a:t>
            </a:r>
            <a:r>
              <a:rPr lang="zh-CN" altLang="en-US" dirty="0">
                <a:ea typeface="ＭＳ Ｐゴシック" panose="020B0600070205080204" pitchFamily="34" charset="-128"/>
              </a:rPr>
              <a:t>核计算的妙招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8077200" cy="48006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Kernel Function  </a:t>
                </a:r>
                <a:r>
                  <a:rPr lang="zh-CN" altLang="en-US" dirty="0"/>
                  <a:t>核计算函数</a:t>
                </a:r>
                <a:endParaRPr lang="en-US" altLang="zh-CN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Calculate the dot product in high dimensional space directly  </a:t>
                </a:r>
                <a:br>
                  <a:rPr lang="en-US" altLang="zh-CN" dirty="0"/>
                </a:br>
                <a:r>
                  <a:rPr lang="zh-CN" altLang="en-US" dirty="0"/>
                  <a:t>直接计算高维空间中的点乘</a:t>
                </a:r>
                <a:r>
                  <a:rPr lang="en-US" altLang="zh-CN" dirty="0"/>
                  <a:t>  </a:t>
                </a:r>
              </a:p>
              <a:p>
                <a:pPr marL="457200" lvl="1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0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0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lvl="2">
                  <a:lnSpc>
                    <a:spcPct val="90000"/>
                  </a:lnSpc>
                </a:pPr>
                <a:r>
                  <a:rPr lang="en-US" altLang="zh-CN" dirty="0"/>
                  <a:t>Without the explicit mapping  </a:t>
                </a:r>
                <a:r>
                  <a:rPr lang="zh-CN" altLang="en-US" dirty="0"/>
                  <a:t>不进行显式映射</a:t>
                </a:r>
                <a:endParaRPr lang="en-US" altLang="zh-CN" dirty="0"/>
              </a:p>
              <a:p>
                <a:pPr>
                  <a:lnSpc>
                    <a:spcPct val="90000"/>
                  </a:lnSpc>
                </a:pPr>
                <a:r>
                  <a:rPr lang="en-US" altLang="zh-CN" dirty="0"/>
                  <a:t>Kernel Trick  </a:t>
                </a:r>
                <a:r>
                  <a:rPr lang="zh-CN" altLang="en-US" dirty="0"/>
                  <a:t>核计算的妙招</a:t>
                </a:r>
                <a:endParaRPr lang="en-US" altLang="zh-CN" dirty="0"/>
              </a:p>
              <a:p>
                <a:pPr lvl="1">
                  <a:lnSpc>
                    <a:spcPct val="90000"/>
                  </a:lnSpc>
                </a:pPr>
                <a:r>
                  <a:rPr lang="en-US" altLang="zh-CN" dirty="0"/>
                  <a:t>Incorporate the kernel function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(∙,∙)</m:t>
                    </m:r>
                  </m:oMath>
                </a14:m>
                <a:r>
                  <a:rPr lang="en-US" altLang="zh-CN" dirty="0"/>
                  <a:t> in algorithm w/o using the feature map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  </a:t>
                </a:r>
                <a:br>
                  <a:rPr lang="en-US" altLang="zh-CN" dirty="0"/>
                </a:br>
                <a:r>
                  <a:rPr lang="zh-CN" altLang="en-US" dirty="0"/>
                  <a:t>在算法中只用核计算函数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(∙,∙)</m:t>
                    </m:r>
                  </m:oMath>
                </a14:m>
                <a:r>
                  <a:rPr lang="zh-CN" altLang="en-US" dirty="0"/>
                  <a:t>，而不使用特征映射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8077200" cy="4800600"/>
              </a:xfrm>
              <a:blipFill>
                <a:blip r:embed="rId5"/>
                <a:stretch>
                  <a:fillRect l="-528" t="-3304" b="-17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307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Example  </a:t>
            </a:r>
            <a:r>
              <a:rPr lang="zh-CN" altLang="en-US" dirty="0">
                <a:ea typeface="ＭＳ Ｐゴシック" panose="020B0600070205080204" pitchFamily="34" charset="-128"/>
              </a:rPr>
              <a:t>核计算的例子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C499FD-221F-4D04-B65F-94E697482064}"/>
                  </a:ext>
                </a:extLst>
              </p:cNvPr>
              <p:cNvSpPr txBox="1"/>
              <p:nvPr/>
            </p:nvSpPr>
            <p:spPr>
              <a:xfrm>
                <a:off x="514347" y="1599169"/>
                <a:ext cx="8115301" cy="471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𝐳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l-GR" altLang="zh-CN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C499FD-221F-4D04-B65F-94E697482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7" y="1599169"/>
                <a:ext cx="8115301" cy="471091"/>
              </a:xfrm>
              <a:prstGeom prst="rect">
                <a:avLst/>
              </a:prstGeom>
              <a:blipFill>
                <a:blip r:embed="rId5"/>
                <a:stretch>
                  <a:fillRect b="-14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8C62BE-41E7-4C43-8CD3-FCA21C3710E9}"/>
                  </a:ext>
                </a:extLst>
              </p:cNvPr>
              <p:cNvSpPr txBox="1"/>
              <p:nvPr/>
            </p:nvSpPr>
            <p:spPr>
              <a:xfrm>
                <a:off x="590549" y="2164774"/>
                <a:ext cx="8115301" cy="84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We encounter  </a:t>
                </a:r>
                <a:r>
                  <a:rPr lang="zh-CN" altLang="en-US" sz="2200" dirty="0"/>
                  <a:t>我们遇到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8C62BE-41E7-4C43-8CD3-FCA21C371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49" y="2164774"/>
                <a:ext cx="8115301" cy="849656"/>
              </a:xfrm>
              <a:prstGeom prst="rect">
                <a:avLst/>
              </a:prstGeom>
              <a:blipFill>
                <a:blip r:embed="rId6"/>
                <a:stretch>
                  <a:fillRect t="-7914" b="-12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22F157-75BB-4129-A408-90E960D34E78}"/>
                  </a:ext>
                </a:extLst>
              </p:cNvPr>
              <p:cNvSpPr txBox="1"/>
              <p:nvPr/>
            </p:nvSpPr>
            <p:spPr>
              <a:xfrm>
                <a:off x="180972" y="3108944"/>
                <a:ext cx="8782050" cy="1268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If we apply the feature map  </a:t>
                </a:r>
                <a:r>
                  <a:rPr lang="zh-CN" altLang="en-US" sz="2200" dirty="0"/>
                  <a:t>如果我们用特征映射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zh-CN" sz="2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𝚽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rad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,1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>
                    <a:ea typeface="Cambria Math" panose="02040503050406030204" pitchFamily="18" charset="0"/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))=(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22F157-75BB-4129-A408-90E960D34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2" y="3108944"/>
                <a:ext cx="8782050" cy="1268424"/>
              </a:xfrm>
              <a:prstGeom prst="rect">
                <a:avLst/>
              </a:prstGeom>
              <a:blipFill>
                <a:blip r:embed="rId7"/>
                <a:stretch>
                  <a:fillRect t="-5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F262DD-EB31-4D93-8BD2-0993B08AAA8B}"/>
                  </a:ext>
                </a:extLst>
              </p:cNvPr>
              <p:cNvSpPr txBox="1"/>
              <p:nvPr/>
            </p:nvSpPr>
            <p:spPr>
              <a:xfrm>
                <a:off x="257174" y="4505665"/>
                <a:ext cx="8782050" cy="1295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Then calculate the dot product  </a:t>
                </a:r>
                <a:r>
                  <a:rPr lang="zh-CN" altLang="en-US" sz="2200" dirty="0"/>
                  <a:t>然后计算点乘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zh-CN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altLang="zh-CN" sz="2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r>
                      <a:rPr lang="en-US" altLang="zh-CN" sz="22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r>
                      <a:rPr lang="en-US" altLang="zh-CN" sz="22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200" dirty="0">
                    <a:ea typeface="Cambria Math" panose="020405030504060302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F262DD-EB31-4D93-8BD2-0993B08AA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4" y="4505665"/>
                <a:ext cx="8782050" cy="1295419"/>
              </a:xfrm>
              <a:prstGeom prst="rect">
                <a:avLst/>
              </a:prstGeom>
              <a:blipFill>
                <a:blip r:embed="rId8"/>
                <a:stretch>
                  <a:fillRect t="-5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2320524-7CB0-4AC8-B5C8-DB7FCF58B2F0}"/>
                  </a:ext>
                </a:extLst>
              </p:cNvPr>
              <p:cNvSpPr/>
              <p:nvPr/>
            </p:nvSpPr>
            <p:spPr>
              <a:xfrm>
                <a:off x="1600200" y="5715456"/>
                <a:ext cx="4572000" cy="51629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2320524-7CB0-4AC8-B5C8-DB7FCF58B2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5715456"/>
                <a:ext cx="4572000" cy="5162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5149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8" grpId="0"/>
      <p:bldP spid="19" grpId="0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Example  </a:t>
            </a:r>
            <a:r>
              <a:rPr lang="zh-CN" altLang="en-US" dirty="0">
                <a:ea typeface="ＭＳ Ｐゴシック" panose="020B0600070205080204" pitchFamily="34" charset="-128"/>
              </a:rPr>
              <a:t>核计算的例子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C499FD-221F-4D04-B65F-94E697482064}"/>
                  </a:ext>
                </a:extLst>
              </p:cNvPr>
              <p:cNvSpPr txBox="1"/>
              <p:nvPr/>
            </p:nvSpPr>
            <p:spPr>
              <a:xfrm>
                <a:off x="514347" y="1599169"/>
                <a:ext cx="8115301" cy="4710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𝐳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l-GR" altLang="zh-CN" sz="2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,1)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7C499FD-221F-4D04-B65F-94E697482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7" y="1599169"/>
                <a:ext cx="8115301" cy="471091"/>
              </a:xfrm>
              <a:prstGeom prst="rect">
                <a:avLst/>
              </a:prstGeom>
              <a:blipFill>
                <a:blip r:embed="rId5"/>
                <a:stretch>
                  <a:fillRect b="-14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8C62BE-41E7-4C43-8CD3-FCA21C3710E9}"/>
                  </a:ext>
                </a:extLst>
              </p:cNvPr>
              <p:cNvSpPr txBox="1"/>
              <p:nvPr/>
            </p:nvSpPr>
            <p:spPr>
              <a:xfrm>
                <a:off x="590549" y="2164774"/>
                <a:ext cx="8115301" cy="849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We encounter  </a:t>
                </a:r>
                <a:r>
                  <a:rPr lang="zh-CN" altLang="en-US" sz="2200" dirty="0"/>
                  <a:t>我们遇到</a:t>
                </a:r>
                <a:endParaRPr lang="en-US" altLang="zh-CN" sz="2200" dirty="0"/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bSup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200" dirty="0"/>
                  <a:t> &amp;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=(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d>
                      </m:sup>
                    </m:sSubSup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8C62BE-41E7-4C43-8CD3-FCA21C371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549" y="2164774"/>
                <a:ext cx="8115301" cy="849656"/>
              </a:xfrm>
              <a:prstGeom prst="rect">
                <a:avLst/>
              </a:prstGeom>
              <a:blipFill>
                <a:blip r:embed="rId6"/>
                <a:stretch>
                  <a:fillRect t="-7914" b="-129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22F157-75BB-4129-A408-90E960D34E78}"/>
                  </a:ext>
                </a:extLst>
              </p:cNvPr>
              <p:cNvSpPr txBox="1"/>
              <p:nvPr/>
            </p:nvSpPr>
            <p:spPr>
              <a:xfrm>
                <a:off x="180972" y="3095794"/>
                <a:ext cx="8782050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If we use the kernel function  </a:t>
                </a:r>
                <a:r>
                  <a:rPr lang="zh-CN" altLang="en-US" sz="2200" dirty="0"/>
                  <a:t>如果我们核计算函数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en-US" altLang="zh-CN" sz="22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22F157-75BB-4129-A408-90E960D34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2" y="3095794"/>
                <a:ext cx="8782050" cy="792396"/>
              </a:xfrm>
              <a:prstGeom prst="rect">
                <a:avLst/>
              </a:prstGeom>
              <a:blipFill>
                <a:blip r:embed="rId7"/>
                <a:stretch>
                  <a:fillRect t="-8462" b="-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F262DD-EB31-4D93-8BD2-0993B08AAA8B}"/>
                  </a:ext>
                </a:extLst>
              </p:cNvPr>
              <p:cNvSpPr txBox="1"/>
              <p:nvPr/>
            </p:nvSpPr>
            <p:spPr>
              <a:xfrm>
                <a:off x="257174" y="3945751"/>
                <a:ext cx="8782050" cy="854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Then dot product becomes  </a:t>
                </a:r>
                <a:r>
                  <a:rPr lang="zh-CN" altLang="en-US" sz="2200" dirty="0"/>
                  <a:t>然后点乘变成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 i="0" smtClean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F262DD-EB31-4D93-8BD2-0993B08AA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74" y="3945751"/>
                <a:ext cx="8782050" cy="854849"/>
              </a:xfrm>
              <a:prstGeom prst="rect">
                <a:avLst/>
              </a:prstGeom>
              <a:blipFill>
                <a:blip r:embed="rId8"/>
                <a:stretch>
                  <a:fillRect t="-70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67CD82E-ACBC-406F-BA60-3B325F2F4F93}"/>
              </a:ext>
            </a:extLst>
          </p:cNvPr>
          <p:cNvSpPr txBox="1"/>
          <p:nvPr/>
        </p:nvSpPr>
        <p:spPr>
          <a:xfrm>
            <a:off x="180972" y="4913724"/>
            <a:ext cx="87820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Computation cost saved  </a:t>
            </a:r>
            <a:r>
              <a:rPr lang="zh-CN" altLang="en-US" sz="2200" dirty="0"/>
              <a:t>节省了计算代价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192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Kernel Perceptron 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zh-CN" altLang="en-US" dirty="0"/>
              <a:t>核计算感知器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84582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95000"/>
                  </a:lnSpc>
                </a:pPr>
                <a:r>
                  <a:rPr lang="en-US" altLang="zh-CN" sz="3500" dirty="0"/>
                  <a:t>Initialization  </a:t>
                </a:r>
                <a:r>
                  <a:rPr lang="zh-CN" altLang="en-US" sz="3500" dirty="0"/>
                  <a:t>初始化</a:t>
                </a:r>
                <a:endParaRPr lang="en-US" altLang="zh-CN" sz="3500" dirty="0"/>
              </a:p>
              <a:p>
                <a:pPr lvl="1">
                  <a:lnSpc>
                    <a:spcPct val="95000"/>
                  </a:lnSpc>
                </a:pPr>
                <a14:m>
                  <m:oMath xmlns:m="http://schemas.openxmlformats.org/officeDocument/2006/math">
                    <m:r>
                      <a:rPr lang="en-US" altLang="zh-CN" sz="3000" b="1" i="0" smtClean="0">
                        <a:latin typeface="Cambria Math" panose="02040503050406030204" pitchFamily="18" charset="0"/>
                      </a:rPr>
                      <m:t>𝐜</m:t>
                    </m:r>
                    <m:r>
                      <a:rPr lang="en-US" altLang="zh-CN" sz="3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⟵</m:t>
                    </m:r>
                    <m:r>
                      <a:rPr lang="en-US" altLang="zh-CN" sz="3000" b="1" i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3000" dirty="0"/>
                  <a:t>, 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CN" sz="3000" dirty="0"/>
                  <a:t> </a:t>
                </a:r>
              </a:p>
              <a:p>
                <a:pPr lvl="1">
                  <a:lnSpc>
                    <a:spcPct val="95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30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3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zh-CN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30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𝚽</m:t>
                                </m:r>
                                <m:r>
                                  <a:rPr lang="en-US" altLang="zh-CN" sz="3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0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altLang="zh-CN" sz="3000" b="1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3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lim>
                        </m:limLow>
                      </m:fName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z="3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sz="30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endParaRPr lang="en-US" altLang="zh-CN" sz="3000" dirty="0"/>
              </a:p>
              <a:p>
                <a:pPr>
                  <a:lnSpc>
                    <a:spcPct val="95000"/>
                  </a:lnSpc>
                </a:pPr>
                <a:r>
                  <a:rPr lang="en-US" altLang="zh-CN" sz="3500" dirty="0"/>
                  <a:t>Repeat over Time </a:t>
                </a:r>
                <a14:m>
                  <m:oMath xmlns:m="http://schemas.openxmlformats.org/officeDocument/2006/math">
                    <m:r>
                      <a:rPr lang="en-US" altLang="zh-CN" sz="3500" b="1" i="1" smtClean="0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zh-CN" sz="3500" dirty="0"/>
                  <a:t>  </a:t>
                </a:r>
                <a:r>
                  <a:rPr lang="zh-CN" altLang="en-US" sz="3500" dirty="0"/>
                  <a:t>对时间</a:t>
                </a:r>
                <a14:m>
                  <m:oMath xmlns:m="http://schemas.openxmlformats.org/officeDocument/2006/math">
                    <m:r>
                      <a:rPr lang="en-US" altLang="zh-CN" sz="3500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zh-CN" altLang="en-US" sz="3500" dirty="0"/>
                  <a:t>循环</a:t>
                </a:r>
                <a:endParaRPr lang="en-US" altLang="zh-CN" sz="3500" dirty="0"/>
              </a:p>
              <a:p>
                <a:pPr lvl="1">
                  <a:lnSpc>
                    <a:spcPct val="95000"/>
                  </a:lnSpc>
                </a:pPr>
                <a:r>
                  <a:rPr lang="en-US" altLang="zh-CN" sz="3000" dirty="0"/>
                  <a:t>Get  </a:t>
                </a:r>
                <a:r>
                  <a:rPr lang="zh-CN" altLang="en-US" sz="3000" dirty="0"/>
                  <a:t>获得</a:t>
                </a: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3000" dirty="0"/>
              </a:p>
              <a:p>
                <a:pPr lvl="1">
                  <a:lnSpc>
                    <a:spcPct val="95000"/>
                  </a:lnSpc>
                </a:pPr>
                <a:r>
                  <a:rPr lang="en-US" altLang="zh-CN" sz="3000" dirty="0"/>
                  <a:t>If  </a:t>
                </a:r>
                <a:r>
                  <a:rPr lang="zh-CN" altLang="en-US" sz="3000" dirty="0"/>
                  <a:t>如果  </a:t>
                </a:r>
                <a:br>
                  <a:rPr lang="en-US" altLang="zh-CN" sz="3000" dirty="0"/>
                </a:br>
                <a14:m>
                  <m:oMath xmlns:m="http://schemas.openxmlformats.org/officeDocument/2006/math">
                    <m:r>
                      <a:rPr lang="en-US" altLang="zh-CN" sz="3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CN" sz="3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𝐱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0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000" dirty="0">
                  <a:ea typeface="Cambria Math" panose="02040503050406030204" pitchFamily="18" charset="0"/>
                </a:endParaRPr>
              </a:p>
              <a:p>
                <a:pPr lvl="2">
                  <a:lnSpc>
                    <a:spcPct val="95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600" b="0" dirty="0">
                  <a:ea typeface="Cambria Math" panose="02040503050406030204" pitchFamily="18" charset="0"/>
                </a:endParaRPr>
              </a:p>
              <a:p>
                <a:pPr lvl="2">
                  <a:lnSpc>
                    <a:spcPct val="95000"/>
                  </a:lnSpc>
                </a:pPr>
                <a14:m>
                  <m:oMath xmlns:m="http://schemas.openxmlformats.org/officeDocument/2006/math">
                    <m:r>
                      <a:rPr lang="en-US" altLang="zh-CN" sz="2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altLang="zh-CN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0F165-8941-4D6C-BAE4-F52C9F12F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8458200" cy="4953000"/>
              </a:xfrm>
              <a:blipFill>
                <a:blip r:embed="rId5"/>
                <a:stretch>
                  <a:fillRect l="-504" t="-3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36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10.4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10.4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0" y="1716013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the kernel perceptron algorithm</a:t>
            </a:r>
            <a:br>
              <a:rPr lang="en-US" altLang="zh-CN" sz="2200" dirty="0"/>
            </a:br>
            <a:r>
              <a:rPr lang="zh-CN" altLang="en-US" sz="2200" dirty="0"/>
              <a:t>实践时刻：尝试核计算感知器算法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2CAC1-5FA4-4F90-9C46-85D86231A2DA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perform?  </a:t>
            </a:r>
            <a:r>
              <a:rPr lang="zh-CN" altLang="en-US" sz="2200" dirty="0"/>
              <a:t>它的表现如何？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7887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Cost Saving  </a:t>
            </a:r>
            <a:r>
              <a:rPr lang="zh-CN" altLang="en-US" dirty="0">
                <a:ea typeface="ＭＳ Ｐゴシック" panose="020B0600070205080204" pitchFamily="34" charset="-128"/>
              </a:rPr>
              <a:t>节约代价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772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Cost Saved in the Example</a:t>
            </a:r>
            <a:br>
              <a:rPr lang="en-US" altLang="zh-CN" dirty="0"/>
            </a:br>
            <a:r>
              <a:rPr lang="zh-CN" altLang="en-US" dirty="0"/>
              <a:t>这个例子中节约的代价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Not significant  </a:t>
            </a:r>
            <a:r>
              <a:rPr lang="zh-CN" altLang="en-US" dirty="0"/>
              <a:t>不算太大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Cost Saved in Real World Problem</a:t>
            </a:r>
            <a:br>
              <a:rPr lang="en-US" altLang="zh-CN" dirty="0"/>
            </a:br>
            <a:r>
              <a:rPr lang="zh-CN" altLang="en-US" dirty="0"/>
              <a:t>真实问题中节约的代价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Can be very significant  </a:t>
            </a:r>
            <a:r>
              <a:rPr lang="zh-CN" altLang="en-US" dirty="0"/>
              <a:t>会非常大</a:t>
            </a: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en-US" altLang="zh-CN" dirty="0"/>
              <a:t>Many cannot work w/o a kernel</a:t>
            </a:r>
            <a:br>
              <a:rPr lang="en-US" altLang="zh-CN" dirty="0"/>
            </a:br>
            <a:r>
              <a:rPr lang="zh-CN" altLang="en-US" dirty="0"/>
              <a:t>很多情况下没有核计算就无法进行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We look at 2 commonly used kernels</a:t>
            </a:r>
            <a:br>
              <a:rPr lang="en-US" altLang="zh-CN" dirty="0"/>
            </a:br>
            <a:r>
              <a:rPr lang="zh-CN" altLang="en-US" dirty="0"/>
              <a:t>我们来看看两个常用的核计算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528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Polynomial Kernel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多项式核计算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22F157-75BB-4129-A408-90E960D34E78}"/>
                  </a:ext>
                </a:extLst>
              </p:cNvPr>
              <p:cNvSpPr txBox="1"/>
              <p:nvPr/>
            </p:nvSpPr>
            <p:spPr>
              <a:xfrm>
                <a:off x="180975" y="1524000"/>
                <a:ext cx="8782050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A commonly used kernel  </a:t>
                </a:r>
                <a:r>
                  <a:rPr lang="zh-CN" altLang="en-US" sz="2200"/>
                  <a:t>一个常</a:t>
                </a:r>
                <a:r>
                  <a:rPr lang="zh-CN" altLang="en-US" sz="2200" dirty="0"/>
                  <a:t>用的核计算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altLang="zh-CN" sz="2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2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22F157-75BB-4129-A408-90E960D34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1524000"/>
                <a:ext cx="8782050" cy="792396"/>
              </a:xfrm>
              <a:prstGeom prst="rect">
                <a:avLst/>
              </a:prstGeom>
              <a:blipFill>
                <a:blip r:embed="rId6"/>
                <a:stretch>
                  <a:fillRect t="-8462" b="-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F262DD-EB31-4D93-8BD2-0993B08AAA8B}"/>
                  </a:ext>
                </a:extLst>
              </p:cNvPr>
              <p:cNvSpPr txBox="1"/>
              <p:nvPr/>
            </p:nvSpPr>
            <p:spPr>
              <a:xfrm>
                <a:off x="199764" y="2352114"/>
                <a:ext cx="8782050" cy="1436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The feature map  </a:t>
                </a:r>
                <a:r>
                  <a:rPr lang="zh-CN" altLang="en-US" sz="2200" dirty="0"/>
                  <a:t>特征映射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  <m:sSup>
                                    <m:sSup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sup>
                                  </m:sSup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!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!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rad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…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nary>
                            <m:naryPr>
                              <m:chr m:val="∑"/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+1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altLang="zh-CN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F262DD-EB31-4D93-8BD2-0993B08AA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64" y="2352114"/>
                <a:ext cx="8782050" cy="1436612"/>
              </a:xfrm>
              <a:prstGeom prst="rect">
                <a:avLst/>
              </a:prstGeom>
              <a:blipFill>
                <a:blip r:embed="rId7"/>
                <a:stretch>
                  <a:fillRect t="-4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7F770C4-551A-4D84-A8C9-719BE0D2AC9B}"/>
              </a:ext>
            </a:extLst>
          </p:cNvPr>
          <p:cNvGrpSpPr/>
          <p:nvPr/>
        </p:nvGrpSpPr>
        <p:grpSpPr>
          <a:xfrm>
            <a:off x="257175" y="2747454"/>
            <a:ext cx="8782050" cy="2942603"/>
            <a:chOff x="257175" y="2747454"/>
            <a:chExt cx="8782050" cy="29426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A69F76F-067F-4C4B-94AB-6783A383EDCC}"/>
                    </a:ext>
                  </a:extLst>
                </p:cNvPr>
                <p:cNvSpPr txBox="1"/>
                <p:nvPr/>
              </p:nvSpPr>
              <p:spPr>
                <a:xfrm>
                  <a:off x="257175" y="4219783"/>
                  <a:ext cx="8782050" cy="14702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/>
                    <a:t>Vector of all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!</m:t>
                                  </m:r>
                                </m:e>
                              </m:rad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bSup>
                    </m:oMath>
                  </a14:m>
                  <a:r>
                    <a:rPr lang="en-US" altLang="zh-CN" sz="2200" dirty="0"/>
                    <a:t> satisfying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a14:m>
                  <a:endParaRPr lang="en-US" altLang="zh-CN" sz="2200" dirty="0"/>
                </a:p>
                <a:p>
                  <a:pPr algn="ctr"/>
                  <a:r>
                    <a:rPr lang="zh-CN" altLang="en-US" sz="2200" dirty="0">
                      <a:ea typeface="Cambria Math" panose="02040503050406030204" pitchFamily="18" charset="0"/>
                    </a:rPr>
                    <a:t>满足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zh-CN" altLang="en-US" sz="2200" dirty="0">
                      <a:ea typeface="Cambria Math" panose="02040503050406030204" pitchFamily="18" charset="0"/>
                    </a:rPr>
                    <a:t>的所有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!</m:t>
                                  </m:r>
                                </m:e>
                              </m:rad>
                            </m:den>
                          </m:f>
                        </m:e>
                      </m:rad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bSup>
                    </m:oMath>
                  </a14:m>
                  <a:r>
                    <a:rPr lang="zh-CN" altLang="en-US" sz="2200" dirty="0">
                      <a:ea typeface="Cambria Math" panose="02040503050406030204" pitchFamily="18" charset="0"/>
                    </a:rPr>
                    <a:t>构成的向量</a:t>
                  </a:r>
                  <a:endParaRPr lang="en-US" altLang="zh-CN" sz="22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A69F76F-067F-4C4B-94AB-6783A383E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175" y="4219783"/>
                  <a:ext cx="8782050" cy="147027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9002811-E6B7-4962-821C-E44584588302}"/>
                </a:ext>
              </a:extLst>
            </p:cNvPr>
            <p:cNvGrpSpPr/>
            <p:nvPr/>
          </p:nvGrpSpPr>
          <p:grpSpPr>
            <a:xfrm>
              <a:off x="2971800" y="2747454"/>
              <a:ext cx="4267200" cy="1472329"/>
              <a:chOff x="2971800" y="2747454"/>
              <a:chExt cx="4267200" cy="1472329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E04CF5C-0777-4BC8-A3A6-55E5B3AE785F}"/>
                  </a:ext>
                </a:extLst>
              </p:cNvPr>
              <p:cNvSpPr/>
              <p:nvPr/>
            </p:nvSpPr>
            <p:spPr bwMode="auto">
              <a:xfrm>
                <a:off x="2971800" y="2747454"/>
                <a:ext cx="4267200" cy="1041272"/>
              </a:xfrm>
              <a:prstGeom prst="rect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D45EEAFF-A621-47FE-B8C6-F83DCF9A3761}"/>
                  </a:ext>
                </a:extLst>
              </p:cNvPr>
              <p:cNvCxnSpPr>
                <a:cxnSpLocks/>
                <a:endCxn id="3" idx="2"/>
              </p:cNvCxnSpPr>
              <p:nvPr/>
            </p:nvCxnSpPr>
            <p:spPr bwMode="auto">
              <a:xfrm flipV="1">
                <a:off x="5105400" y="3788726"/>
                <a:ext cx="0" cy="43105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910F8E7-0145-4255-8529-F61235DF8BF8}"/>
              </a:ext>
            </a:extLst>
          </p:cNvPr>
          <p:cNvSpPr txBox="1"/>
          <p:nvPr/>
        </p:nvSpPr>
        <p:spPr>
          <a:xfrm>
            <a:off x="119798" y="5654783"/>
            <a:ext cx="8921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 dimension of the new space is very high   </a:t>
            </a:r>
            <a:r>
              <a:rPr lang="zh-CN" altLang="en-US" sz="2200" dirty="0"/>
              <a:t>新空间的维度很高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542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7168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Radius Basis Function Kernel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径向基函数核计算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22F157-75BB-4129-A408-90E960D34E78}"/>
                  </a:ext>
                </a:extLst>
              </p:cNvPr>
              <p:cNvSpPr txBox="1"/>
              <p:nvPr/>
            </p:nvSpPr>
            <p:spPr>
              <a:xfrm>
                <a:off x="180975" y="1524000"/>
                <a:ext cx="8782050" cy="974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The most commonly used kernel  </a:t>
                </a:r>
                <a:r>
                  <a:rPr lang="zh-CN" altLang="en-US" sz="2200" dirty="0"/>
                  <a:t>最常用的核计算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𝐾</m:t>
                      </m:r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p>
                      </m:sSup>
                      <m:r>
                        <a:rPr lang="en-US" altLang="zh-CN" sz="2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2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22F157-75BB-4129-A408-90E960D34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75" y="1524000"/>
                <a:ext cx="8782050" cy="974498"/>
              </a:xfrm>
              <a:prstGeom prst="rect">
                <a:avLst/>
              </a:prstGeom>
              <a:blipFill>
                <a:blip r:embed="rId6"/>
                <a:stretch>
                  <a:fillRect t="-6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F262DD-EB31-4D93-8BD2-0993B08AAA8B}"/>
                  </a:ext>
                </a:extLst>
              </p:cNvPr>
              <p:cNvSpPr txBox="1"/>
              <p:nvPr/>
            </p:nvSpPr>
            <p:spPr>
              <a:xfrm>
                <a:off x="199764" y="2539228"/>
                <a:ext cx="8782050" cy="13054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The feature map  </a:t>
                </a:r>
                <a:r>
                  <a:rPr lang="zh-CN" altLang="en-US" sz="2200" dirty="0"/>
                  <a:t>特征映射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𝚽</m:t>
                      </m:r>
                      <m:r>
                        <a:rPr lang="en-US" altLang="zh-CN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Sup>
                                <m:sSub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  <m:rad>
                                <m:radPr>
                                  <m:degHide m:val="on"/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b>
                                    <m:sSub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!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⋯</m:t>
                                  </m:r>
                                  <m:sSub>
                                    <m:sSub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!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0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=0,…,∞,</m:t>
                          </m:r>
                          <m:nary>
                            <m:naryPr>
                              <m:chr m:val="∑"/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CN" sz="22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0F262DD-EB31-4D93-8BD2-0993B08AA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64" y="2539228"/>
                <a:ext cx="8782050" cy="1305486"/>
              </a:xfrm>
              <a:prstGeom prst="rect">
                <a:avLst/>
              </a:prstGeom>
              <a:blipFill>
                <a:blip r:embed="rId7"/>
                <a:stretch>
                  <a:fillRect t="-51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7F770C4-551A-4D84-A8C9-719BE0D2AC9B}"/>
              </a:ext>
            </a:extLst>
          </p:cNvPr>
          <p:cNvGrpSpPr/>
          <p:nvPr/>
        </p:nvGrpSpPr>
        <p:grpSpPr>
          <a:xfrm>
            <a:off x="257175" y="2953198"/>
            <a:ext cx="8782050" cy="2631959"/>
            <a:chOff x="257175" y="2953198"/>
            <a:chExt cx="8782050" cy="26319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A69F76F-067F-4C4B-94AB-6783A383EDCC}"/>
                    </a:ext>
                  </a:extLst>
                </p:cNvPr>
                <p:cNvSpPr txBox="1"/>
                <p:nvPr/>
              </p:nvSpPr>
              <p:spPr>
                <a:xfrm>
                  <a:off x="257175" y="4219783"/>
                  <a:ext cx="8782050" cy="13653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2200" dirty="0"/>
                    <a:t>Vector of all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…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a14:m>
                  <a:r>
                    <a:rPr lang="en-US" altLang="zh-CN" sz="2200" dirty="0"/>
                    <a:t> satisfying </a:t>
                  </a:r>
                  <a14:m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=0,…,∞,</m:t>
                      </m:r>
                      <m:nary>
                        <m:naryPr>
                          <m:chr m:val="∑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a14:m>
                  <a:endParaRPr lang="en-US" altLang="zh-CN" sz="2200" dirty="0"/>
                </a:p>
                <a:p>
                  <a:pPr algn="ctr"/>
                  <a:r>
                    <a:rPr lang="zh-CN" altLang="en-US" sz="2200" dirty="0">
                      <a:ea typeface="Cambria Math" panose="02040503050406030204" pitchFamily="18" charset="0"/>
                    </a:rPr>
                    <a:t>满足</a:t>
                  </a:r>
                  <a14:m>
                    <m:oMath xmlns:m="http://schemas.openxmlformats.org/officeDocument/2006/math"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=0,…,∞,</m:t>
                      </m:r>
                      <m:nary>
                        <m:naryPr>
                          <m:chr m:val="∑"/>
                          <m:ctrl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</m:oMath>
                  </a14:m>
                  <a:r>
                    <a:rPr lang="zh-CN" altLang="en-US" sz="2200" dirty="0">
                      <a:ea typeface="Cambria Math" panose="02040503050406030204" pitchFamily="18" charset="0"/>
                    </a:rPr>
                    <a:t>的所有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b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…</m:t>
                          </m:r>
                          <m:sSubSup>
                            <m:sSub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ad>
                            <m:radPr>
                              <m:degHide m:val="on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  <m:sSub>
                                <m:sSub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!</m:t>
                              </m:r>
                            </m:e>
                          </m:rad>
                        </m:den>
                      </m:f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0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a14:m>
                  <a:r>
                    <a:rPr lang="zh-CN" altLang="en-US" sz="2200" dirty="0">
                      <a:ea typeface="Cambria Math" panose="02040503050406030204" pitchFamily="18" charset="0"/>
                    </a:rPr>
                    <a:t>构成的向量</a:t>
                  </a:r>
                  <a:endParaRPr lang="en-US" altLang="zh-CN" sz="2200" dirty="0"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A69F76F-067F-4C4B-94AB-6783A383E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175" y="4219783"/>
                  <a:ext cx="8782050" cy="136537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9002811-E6B7-4962-821C-E44584588302}"/>
                </a:ext>
              </a:extLst>
            </p:cNvPr>
            <p:cNvGrpSpPr/>
            <p:nvPr/>
          </p:nvGrpSpPr>
          <p:grpSpPr>
            <a:xfrm>
              <a:off x="2667000" y="2953198"/>
              <a:ext cx="4800600" cy="1266585"/>
              <a:chOff x="2667000" y="2953198"/>
              <a:chExt cx="4800600" cy="126658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E04CF5C-0777-4BC8-A3A6-55E5B3AE785F}"/>
                  </a:ext>
                </a:extLst>
              </p:cNvPr>
              <p:cNvSpPr/>
              <p:nvPr/>
            </p:nvSpPr>
            <p:spPr bwMode="auto">
              <a:xfrm>
                <a:off x="2667000" y="2953198"/>
                <a:ext cx="4800600" cy="914843"/>
              </a:xfrm>
              <a:prstGeom prst="rect">
                <a:avLst/>
              </a:prstGeom>
              <a:noFill/>
              <a:ln w="9525" cap="flat" cmpd="sng" algn="ctr">
                <a:solidFill>
                  <a:srgbClr val="00B05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omic Sans MS" pitchFamily="66" charset="0"/>
                  <a:ea typeface="SimSun" pitchFamily="2" charset="-122"/>
                </a:endParaRPr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D45EEAFF-A621-47FE-B8C6-F83DCF9A3761}"/>
                  </a:ext>
                </a:extLst>
              </p:cNvPr>
              <p:cNvCxnSpPr>
                <a:cxnSpLocks/>
                <a:endCxn id="3" idx="2"/>
              </p:cNvCxnSpPr>
              <p:nvPr/>
            </p:nvCxnSpPr>
            <p:spPr bwMode="auto">
              <a:xfrm flipV="1">
                <a:off x="5067300" y="3868041"/>
                <a:ext cx="0" cy="351742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910F8E7-0145-4255-8529-F61235DF8BF8}"/>
              </a:ext>
            </a:extLst>
          </p:cNvPr>
          <p:cNvSpPr txBox="1"/>
          <p:nvPr/>
        </p:nvSpPr>
        <p:spPr>
          <a:xfrm>
            <a:off x="129957" y="5638800"/>
            <a:ext cx="892166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 dimension of the new space is infinite   </a:t>
            </a:r>
            <a:r>
              <a:rPr lang="zh-CN" altLang="en-US" sz="2200" dirty="0"/>
              <a:t>新空间的维度是无穷大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07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Kernel  </a:t>
            </a:r>
            <a:r>
              <a:rPr lang="zh-CN" altLang="en-US" dirty="0">
                <a:ea typeface="ＭＳ Ｐゴシック" panose="020B0600070205080204" pitchFamily="34" charset="-128"/>
              </a:rPr>
              <a:t>核计算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772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dirty="0"/>
              <a:t>Most Practical Feature Map</a:t>
            </a:r>
            <a:br>
              <a:rPr lang="en-US" altLang="zh-CN" dirty="0"/>
            </a:br>
            <a:r>
              <a:rPr lang="zh-CN" altLang="en-US" dirty="0"/>
              <a:t>大多数实用的特征映射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Map to a very high or even infinite dimensional space  </a:t>
            </a:r>
            <a:br>
              <a:rPr lang="en-US" altLang="zh-CN" dirty="0"/>
            </a:br>
            <a:r>
              <a:rPr lang="zh-CN" altLang="en-US" dirty="0"/>
              <a:t>映射到的空间维度非常高或甚至是无穷大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Calculation is intractable w/o a kernel</a:t>
            </a:r>
            <a:br>
              <a:rPr lang="en-US" altLang="zh-CN" dirty="0"/>
            </a:br>
            <a:r>
              <a:rPr lang="zh-CN" altLang="en-US" dirty="0"/>
              <a:t>没有核计算，直接计算是不现实的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Curse of Dimensionality  </a:t>
            </a:r>
            <a:r>
              <a:rPr lang="zh-CN" altLang="en-US" dirty="0"/>
              <a:t>维度的诅咒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Alleviated by the margin</a:t>
            </a:r>
            <a:br>
              <a:rPr lang="en-US" altLang="zh-CN" dirty="0"/>
            </a:br>
            <a:r>
              <a:rPr lang="zh-CN" altLang="en-US" dirty="0"/>
              <a:t>用间</a:t>
            </a:r>
            <a:r>
              <a:rPr lang="zh-CN" altLang="en-US"/>
              <a:t>距来缓解这个问题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485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10.5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10.5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1047750" y="1549052"/>
            <a:ext cx="70485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the original perceptron algorithm on handwritten ZIP code recognition</a:t>
            </a:r>
            <a:br>
              <a:rPr lang="en-US" altLang="zh-CN" sz="2200" dirty="0"/>
            </a:br>
            <a:r>
              <a:rPr lang="zh-CN" altLang="en-US" sz="2200" dirty="0"/>
              <a:t>实践时刻：尝试用原感知器算法进行手写邮政编码识别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C2CAC1-5FA4-4F90-9C46-85D86231A2DA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perform?  </a:t>
            </a:r>
            <a:r>
              <a:rPr lang="zh-CN" altLang="en-US" sz="2200" dirty="0"/>
              <a:t>它的表现如何？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372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10.6 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10.6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C2CAC1-5FA4-4F90-9C46-85D86231A2DA}"/>
              </a:ext>
            </a:extLst>
          </p:cNvPr>
          <p:cNvSpPr txBox="1"/>
          <p:nvPr/>
        </p:nvSpPr>
        <p:spPr>
          <a:xfrm>
            <a:off x="266700" y="5013971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does it perform?  </a:t>
            </a:r>
            <a:r>
              <a:rPr lang="zh-CN" altLang="en-US" sz="2200" dirty="0"/>
              <a:t>它的表现如何？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3AD46-0E6F-4D45-8A9B-0B53E265A50E}"/>
              </a:ext>
            </a:extLst>
          </p:cNvPr>
          <p:cNvSpPr txBox="1"/>
          <p:nvPr/>
        </p:nvSpPr>
        <p:spPr>
          <a:xfrm>
            <a:off x="828675" y="1565238"/>
            <a:ext cx="74866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try the kernel perceptron algorithm on handwritten ZIP code recognition</a:t>
            </a:r>
            <a:br>
              <a:rPr lang="en-US" altLang="zh-CN" sz="2200" dirty="0"/>
            </a:br>
            <a:r>
              <a:rPr lang="zh-CN" altLang="en-US" sz="2200" dirty="0"/>
              <a:t>实践时刻：尝试用核计算感知器算法进行手写邮政编码识别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5557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Results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10. Linear Classifiers for Nonlinear Classification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10. </a:t>
            </a:r>
            <a:r>
              <a:rPr lang="zh-CN" altLang="en-US" dirty="0"/>
              <a:t>进行非线性分类的线性分类器</a:t>
            </a:r>
            <a:endParaRPr lang="en-US" altLang="zh-C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E3449B7-184D-497B-A89D-0E1FF5CD1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378045"/>
              </p:ext>
            </p:extLst>
          </p:nvPr>
        </p:nvGraphicFramePr>
        <p:xfrm>
          <a:off x="1752600" y="1752600"/>
          <a:ext cx="5638800" cy="293116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106515521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861532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Methods  </a:t>
                      </a:r>
                      <a:r>
                        <a:rPr lang="zh-CN" altLang="en-US" dirty="0"/>
                        <a:t>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Error rate </a:t>
                      </a:r>
                      <a:r>
                        <a:rPr lang="zh-CN" altLang="en-US" dirty="0"/>
                        <a:t>错误率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9843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Nearest neighbor  </a:t>
                      </a:r>
                    </a:p>
                    <a:p>
                      <a:r>
                        <a:rPr lang="zh-CN" altLang="en-US" dirty="0"/>
                        <a:t>最近邻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4.98%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34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Linear perceptron </a:t>
                      </a:r>
                    </a:p>
                    <a:p>
                      <a:r>
                        <a:rPr lang="zh-CN" altLang="en-US" dirty="0"/>
                        <a:t>线性感知器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8.52%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5740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– RBF</a:t>
                      </a:r>
                    </a:p>
                    <a:p>
                      <a:r>
                        <a:rPr lang="zh-CN" altLang="en-US" dirty="0"/>
                        <a:t>感知器 </a:t>
                      </a:r>
                      <a:r>
                        <a:rPr lang="en-US" altLang="zh-CN" dirty="0"/>
                        <a:t>– </a:t>
                      </a:r>
                      <a:r>
                        <a:rPr lang="zh-CN" altLang="en-US" dirty="0"/>
                        <a:t>径向基函数核计算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4.43%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4058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Perceptron – Polynomial</a:t>
                      </a:r>
                    </a:p>
                    <a:p>
                      <a:r>
                        <a:rPr lang="zh-CN" altLang="en-US" dirty="0"/>
                        <a:t>感知器 </a:t>
                      </a:r>
                      <a:r>
                        <a:rPr lang="en-US" altLang="zh-CN" dirty="0"/>
                        <a:t>– </a:t>
                      </a:r>
                      <a:r>
                        <a:rPr lang="zh-CN" altLang="en-US" dirty="0"/>
                        <a:t>多项式核计算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>
                          <a:solidFill>
                            <a:srgbClr val="00B050"/>
                          </a:solidFill>
                        </a:rPr>
                        <a:t>4.24%</a:t>
                      </a:r>
                      <a:endParaRPr lang="zh-CN" altLang="en-US" b="1" dirty="0">
                        <a:solidFill>
                          <a:srgbClr val="00B05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487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7990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0.1|0.1|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2.6|0.3|0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|0.3|0.3|0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2|0.3|0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1|0.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4|0.9|0.3|27.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10.4|0.3|0.2|0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4|0.3|0.1|0.2|0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1|0.4|0.3|16.4|0.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|0.3|0.5|4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|0.3|0.3|0.8|3.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4|0.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6|0.2|0.1|0.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4|0.3|0.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34|143.7|4.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|112.2|133.6|33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26.5|14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29320</TotalTime>
  <Words>4093</Words>
  <Application>Microsoft Office PowerPoint</Application>
  <PresentationFormat>On-screen Show (4:3)</PresentationFormat>
  <Paragraphs>311</Paragraphs>
  <Slides>36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ＭＳ Ｐゴシック</vt:lpstr>
      <vt:lpstr>SimSun</vt:lpstr>
      <vt:lpstr>等线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Machine Learning -  Basic Principles &amp; Practice 10. Linear Classifiers for Nonlinear Classification</vt:lpstr>
      <vt:lpstr>Linear &amp; Nonlinear   线性与非线性</vt:lpstr>
      <vt:lpstr>Synthetic Problem 1  人造问题1</vt:lpstr>
      <vt:lpstr>Practice 10.1  实践10.1</vt:lpstr>
      <vt:lpstr>Nonlinear Problem 非线性问题</vt:lpstr>
      <vt:lpstr>Nonlinear Problem 非线性问题</vt:lpstr>
      <vt:lpstr>Linear Approximation  线性近似</vt:lpstr>
      <vt:lpstr>Synthetic Problem 2  人造问题2</vt:lpstr>
      <vt:lpstr>Practice 10.2  实践10.2</vt:lpstr>
      <vt:lpstr>Another Nonlinear Problem 另一个非线性问题</vt:lpstr>
      <vt:lpstr>Another Nonlinear Problem 另一个非线性问题</vt:lpstr>
      <vt:lpstr>Naturally Nonlinear Problem 本质非线性问题</vt:lpstr>
      <vt:lpstr>Transformation  变换</vt:lpstr>
      <vt:lpstr>Practice 10.3  实践10.3</vt:lpstr>
      <vt:lpstr>Nonlinear → Linear  非线性 → 线性</vt:lpstr>
      <vt:lpstr>Practical or Impractical? 实用不实用？</vt:lpstr>
      <vt:lpstr>Still the Example   依然是这个例子</vt:lpstr>
      <vt:lpstr>Comprehensive Feature Map 详尽的特征映射</vt:lpstr>
      <vt:lpstr>Recall Perceptron Algorithm  回忆感知器算法</vt:lpstr>
      <vt:lpstr>Recall Perceptron Algorithm  回忆感知器算法</vt:lpstr>
      <vt:lpstr>Rewrite the Weights  重写权重</vt:lpstr>
      <vt:lpstr>Rewrite the Algorithm 重写算法</vt:lpstr>
      <vt:lpstr>Rewrite the Algorithm 重写算法</vt:lpstr>
      <vt:lpstr>Kernel Trick  核计算的妙招</vt:lpstr>
      <vt:lpstr>Kernel Example  核计算的例子</vt:lpstr>
      <vt:lpstr>Kernel Example  核计算的例子</vt:lpstr>
      <vt:lpstr>Kernel Perceptron   核计算感知器</vt:lpstr>
      <vt:lpstr>Practice 10.4  实践10.4</vt:lpstr>
      <vt:lpstr>Cost Saving  节约代价</vt:lpstr>
      <vt:lpstr>Polynomial Kernel 多项式核计算</vt:lpstr>
      <vt:lpstr>Radius Basis Function Kernel 径向基函数核计算</vt:lpstr>
      <vt:lpstr>Kernel  核计算</vt:lpstr>
      <vt:lpstr>Practice 10.5  实践10.5</vt:lpstr>
      <vt:lpstr>Practice 10.6  实践10.6</vt:lpstr>
      <vt:lpstr>Results  结果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1641</cp:revision>
  <dcterms:created xsi:type="dcterms:W3CDTF">2003-03-13T01:36:43Z</dcterms:created>
  <dcterms:modified xsi:type="dcterms:W3CDTF">2026-05-23T01:15:08Z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54b30b36-2c25-4f13-a742-d5d1331dbd4e</vt:lpwstr>
  </property>
  <property fmtid="{D5CDD505-2E9C-101B-9397-08002B2CF9AE}" pid="3" name="CTP_TimeStamp">
    <vt:lpwstr>2020-02-01 05:17:05Z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