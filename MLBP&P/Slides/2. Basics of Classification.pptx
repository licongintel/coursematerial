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notesSlides/notesSlide10.xml" ContentType="application/vnd.openxmlformats-officedocument.presentationml.notesSlide+xml"/>
  <Override PartName="/ppt/tags/tag18.xml" ContentType="application/vnd.openxmlformats-officedocument.presentationml.tags+xml"/>
  <Override PartName="/ppt/notesSlides/notesSlide11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2.xml" ContentType="application/vnd.openxmlformats-officedocument.presentationml.notesSlide+xml"/>
  <Override PartName="/ppt/tags/tag21.xml" ContentType="application/vnd.openxmlformats-officedocument.presentationml.tags+xml"/>
  <Override PartName="/ppt/notesSlides/notesSlide13.xml" ContentType="application/vnd.openxmlformats-officedocument.presentationml.notesSlide+xml"/>
  <Override PartName="/ppt/tags/tag22.xml" ContentType="application/vnd.openxmlformats-officedocument.presentationml.tags+xml"/>
  <Override PartName="/ppt/notesSlides/notesSlide14.xml" ContentType="application/vnd.openxmlformats-officedocument.presentationml.notesSlide+xml"/>
  <Override PartName="/ppt/tags/tag23.xml" ContentType="application/vnd.openxmlformats-officedocument.presentationml.tags+xml"/>
  <Override PartName="/ppt/notesSlides/notesSlide15.xml" ContentType="application/vnd.openxmlformats-officedocument.presentationml.notesSlide+xml"/>
  <Override PartName="/ppt/tags/tag24.xml" ContentType="application/vnd.openxmlformats-officedocument.presentationml.tags+xml"/>
  <Override PartName="/ppt/notesSlides/notesSlide16.xml" ContentType="application/vnd.openxmlformats-officedocument.presentationml.notesSlide+xml"/>
  <Override PartName="/ppt/tags/tag25.xml" ContentType="application/vnd.openxmlformats-officedocument.presentationml.tags+xml"/>
  <Override PartName="/ppt/notesSlides/notesSlide17.xml" ContentType="application/vnd.openxmlformats-officedocument.presentationml.notesSlide+xml"/>
  <Override PartName="/ppt/tags/tag26.xml" ContentType="application/vnd.openxmlformats-officedocument.presentationml.tags+xml"/>
  <Override PartName="/ppt/notesSlides/notesSlide18.xml" ContentType="application/vnd.openxmlformats-officedocument.presentationml.notesSlide+xml"/>
  <Override PartName="/ppt/tags/tag27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32"/>
  </p:notesMasterIdLst>
  <p:handoutMasterIdLst>
    <p:handoutMasterId r:id="rId33"/>
  </p:handoutMasterIdLst>
  <p:sldIdLst>
    <p:sldId id="286" r:id="rId2"/>
    <p:sldId id="370" r:id="rId3"/>
    <p:sldId id="394" r:id="rId4"/>
    <p:sldId id="395" r:id="rId5"/>
    <p:sldId id="396" r:id="rId6"/>
    <p:sldId id="416" r:id="rId7"/>
    <p:sldId id="417" r:id="rId8"/>
    <p:sldId id="418" r:id="rId9"/>
    <p:sldId id="397" r:id="rId10"/>
    <p:sldId id="398" r:id="rId11"/>
    <p:sldId id="399" r:id="rId12"/>
    <p:sldId id="400" r:id="rId13"/>
    <p:sldId id="401" r:id="rId14"/>
    <p:sldId id="402" r:id="rId15"/>
    <p:sldId id="404" r:id="rId16"/>
    <p:sldId id="403" r:id="rId17"/>
    <p:sldId id="384" r:id="rId18"/>
    <p:sldId id="405" r:id="rId19"/>
    <p:sldId id="373" r:id="rId20"/>
    <p:sldId id="406" r:id="rId21"/>
    <p:sldId id="407" r:id="rId22"/>
    <p:sldId id="414" r:id="rId23"/>
    <p:sldId id="372" r:id="rId24"/>
    <p:sldId id="408" r:id="rId25"/>
    <p:sldId id="410" r:id="rId26"/>
    <p:sldId id="409" r:id="rId27"/>
    <p:sldId id="411" r:id="rId28"/>
    <p:sldId id="412" r:id="rId29"/>
    <p:sldId id="413" r:id="rId30"/>
    <p:sldId id="353" r:id="rId31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6" autoAdjust="0"/>
    <p:restoredTop sz="94830" autoAdjust="0"/>
  </p:normalViewPr>
  <p:slideViewPr>
    <p:cSldViewPr>
      <p:cViewPr varScale="1">
        <p:scale>
          <a:sx n="69" d="100"/>
          <a:sy n="69" d="100"/>
        </p:scale>
        <p:origin x="58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440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1824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5282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533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8239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3163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62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341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1876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14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14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957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C23059A5-020F-435D-ABEE-8DBD3FD25613}" type="slidenum">
              <a:rPr lang="en-US" altLang="zh-CN" smtClean="0">
                <a:latin typeface="Arial" panose="020B0604020202020204" pitchFamily="34" charset="0"/>
              </a:rPr>
              <a:pPr/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863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C23059A5-020F-435D-ABEE-8DBD3FD25613}" type="slidenum">
              <a:rPr lang="en-US" altLang="zh-CN" smtClean="0">
                <a:latin typeface="Arial" panose="020B0604020202020204" pitchFamily="34" charset="0"/>
              </a:rPr>
              <a:pPr/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658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767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3017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81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882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2. Basics of Classification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2. </a:t>
            </a:r>
            <a:r>
              <a:rPr lang="zh-CN" altLang="en-US" sz="3600" b="1" kern="0" dirty="0">
                <a:ea typeface="SimSun" panose="02010600030101010101" pitchFamily="2" charset="-122"/>
              </a:rPr>
              <a:t>分类的基础知识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Start w/ an Example </a:t>
            </a:r>
            <a:r>
              <a:rPr lang="zh-CN" altLang="en-US" dirty="0"/>
              <a:t>从实例开始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C01F3-2ED9-4B4E-8C3E-260F0927D24A}"/>
              </a:ext>
            </a:extLst>
          </p:cNvPr>
          <p:cNvSpPr txBox="1"/>
          <p:nvPr/>
        </p:nvSpPr>
        <p:spPr>
          <a:xfrm>
            <a:off x="1676400" y="1600200"/>
            <a:ext cx="579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Handwritten ZIP code recognition</a:t>
            </a:r>
          </a:p>
          <a:p>
            <a:pPr algn="ctr"/>
            <a:r>
              <a:rPr lang="zh-CN" altLang="en-US" sz="2200" dirty="0"/>
              <a:t>手写邮政编码识别</a:t>
            </a:r>
            <a:r>
              <a:rPr lang="en-US" altLang="zh-CN" sz="2200" dirty="0"/>
              <a:t> </a:t>
            </a:r>
            <a:endParaRPr lang="zh-CN" alt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A35C97-D792-4471-BBC5-C0389943E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040203"/>
            <a:ext cx="297206" cy="3200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10A567-A3BA-4890-A74B-87ADEA698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876" y="2476843"/>
            <a:ext cx="388654" cy="3581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637A44-F40C-469C-BFEC-9F64E7E16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591760"/>
            <a:ext cx="373412" cy="350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2BB9ED-2EBA-4B12-B4FF-A92ED29A0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031" y="4087554"/>
            <a:ext cx="350550" cy="37341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0C7E3ED2-0F30-4F70-9078-9F3BF022DCD8}"/>
              </a:ext>
            </a:extLst>
          </p:cNvPr>
          <p:cNvSpPr/>
          <p:nvPr/>
        </p:nvSpPr>
        <p:spPr bwMode="auto">
          <a:xfrm>
            <a:off x="4229100" y="2566385"/>
            <a:ext cx="685800" cy="1790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0949F74-08A9-4A53-A6BB-BA5E3325CE36}"/>
              </a:ext>
            </a:extLst>
          </p:cNvPr>
          <p:cNvSpPr/>
          <p:nvPr/>
        </p:nvSpPr>
        <p:spPr bwMode="auto">
          <a:xfrm>
            <a:off x="4229100" y="3129512"/>
            <a:ext cx="685800" cy="1790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3CCCD8E-1439-48C9-9FBF-AD8FB2702A5B}"/>
              </a:ext>
            </a:extLst>
          </p:cNvPr>
          <p:cNvSpPr/>
          <p:nvPr/>
        </p:nvSpPr>
        <p:spPr bwMode="auto">
          <a:xfrm>
            <a:off x="4229100" y="3677492"/>
            <a:ext cx="685800" cy="1790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59EC5A8-BE3A-4A09-91F3-6D944AD5BECA}"/>
              </a:ext>
            </a:extLst>
          </p:cNvPr>
          <p:cNvSpPr/>
          <p:nvPr/>
        </p:nvSpPr>
        <p:spPr bwMode="auto">
          <a:xfrm>
            <a:off x="4229100" y="4184717"/>
            <a:ext cx="685800" cy="1790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95DE03-81EC-4EB0-B753-48775FE6FCC7}"/>
              </a:ext>
            </a:extLst>
          </p:cNvPr>
          <p:cNvSpPr txBox="1"/>
          <p:nvPr/>
        </p:nvSpPr>
        <p:spPr>
          <a:xfrm>
            <a:off x="5317633" y="2440484"/>
            <a:ext cx="413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</a:t>
            </a:r>
            <a:endParaRPr lang="zh-CN" altLang="en-US" sz="2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8C1606-BA30-40BD-A185-62B4E38F8BFC}"/>
              </a:ext>
            </a:extLst>
          </p:cNvPr>
          <p:cNvSpPr txBox="1"/>
          <p:nvPr/>
        </p:nvSpPr>
        <p:spPr>
          <a:xfrm>
            <a:off x="5317633" y="3003611"/>
            <a:ext cx="413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</a:t>
            </a:r>
            <a:endParaRPr lang="zh-CN" altLang="en-US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CF1658-E64E-418C-A994-09302EDA3C1D}"/>
              </a:ext>
            </a:extLst>
          </p:cNvPr>
          <p:cNvSpPr txBox="1"/>
          <p:nvPr/>
        </p:nvSpPr>
        <p:spPr>
          <a:xfrm>
            <a:off x="5317633" y="3566738"/>
            <a:ext cx="413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4</a:t>
            </a:r>
            <a:endParaRPr lang="zh-CN" altLang="en-US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3E5EDB-779A-4AA1-B6C3-C480796281C4}"/>
              </a:ext>
            </a:extLst>
          </p:cNvPr>
          <p:cNvSpPr txBox="1"/>
          <p:nvPr/>
        </p:nvSpPr>
        <p:spPr>
          <a:xfrm>
            <a:off x="5318699" y="4074553"/>
            <a:ext cx="413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6</a:t>
            </a:r>
            <a:endParaRPr lang="zh-CN" altLang="en-US" sz="2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B7D7BF-35C7-4434-A11A-D7A4C8D2251A}"/>
              </a:ext>
            </a:extLst>
          </p:cNvPr>
          <p:cNvSpPr txBox="1"/>
          <p:nvPr/>
        </p:nvSpPr>
        <p:spPr>
          <a:xfrm>
            <a:off x="3315560" y="4769140"/>
            <a:ext cx="461665" cy="4653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BB1154-2345-4406-9F9E-C14AE79F0402}"/>
              </a:ext>
            </a:extLst>
          </p:cNvPr>
          <p:cNvSpPr txBox="1"/>
          <p:nvPr/>
        </p:nvSpPr>
        <p:spPr>
          <a:xfrm>
            <a:off x="4417367" y="4769140"/>
            <a:ext cx="461665" cy="6066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89480B-C90D-4371-B154-4AB340F0C54A}"/>
              </a:ext>
            </a:extLst>
          </p:cNvPr>
          <p:cNvSpPr txBox="1"/>
          <p:nvPr/>
        </p:nvSpPr>
        <p:spPr>
          <a:xfrm>
            <a:off x="5366658" y="4792427"/>
            <a:ext cx="461665" cy="4653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089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Classification </a:t>
            </a:r>
            <a:r>
              <a:rPr lang="zh-CN" altLang="en-US" dirty="0">
                <a:ea typeface="ＭＳ Ｐゴシック" panose="020B0600070205080204" pitchFamily="34" charset="-128"/>
              </a:rPr>
              <a:t>分类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Classification/Categorization </a:t>
            </a:r>
            <a:r>
              <a:rPr lang="zh-CN" altLang="en-US" dirty="0"/>
              <a:t>分类</a:t>
            </a:r>
            <a:endParaRPr lang="en-US" altLang="zh-CN" dirty="0"/>
          </a:p>
          <a:p>
            <a:pPr lvl="1"/>
            <a:r>
              <a:rPr lang="en-US" altLang="zh-CN" dirty="0"/>
              <a:t>Classify data into predefined categories</a:t>
            </a:r>
            <a:r>
              <a:rPr lang="zh-CN" altLang="en-US" dirty="0"/>
              <a:t>                 把数据分到预先定义好的类别中去</a:t>
            </a:r>
            <a:endParaRPr lang="en-US" altLang="zh-CN" dirty="0"/>
          </a:p>
          <a:p>
            <a:r>
              <a:rPr lang="en-US" altLang="zh-CN" dirty="0"/>
              <a:t>Handwritten ZIP Code Recognition               </a:t>
            </a:r>
            <a:r>
              <a:rPr lang="zh-CN" altLang="en-US" dirty="0"/>
              <a:t>手写邮政编码识别</a:t>
            </a:r>
            <a:endParaRPr lang="en-US" altLang="zh-CN" dirty="0"/>
          </a:p>
          <a:p>
            <a:pPr lvl="1"/>
            <a:r>
              <a:rPr lang="en-US" altLang="zh-CN" dirty="0"/>
              <a:t>Data: ZIP code image                               </a:t>
            </a:r>
            <a:r>
              <a:rPr lang="zh-CN" altLang="en-US" dirty="0"/>
              <a:t>数据：邮政编码图像</a:t>
            </a:r>
            <a:endParaRPr lang="en-US" altLang="zh-CN" dirty="0"/>
          </a:p>
          <a:p>
            <a:pPr lvl="1"/>
            <a:r>
              <a:rPr lang="en-US" altLang="zh-CN" dirty="0"/>
              <a:t>10 predefined categories: 0-9                          </a:t>
            </a:r>
            <a:r>
              <a:rPr lang="zh-CN" altLang="en-US" dirty="0"/>
              <a:t>十个预先定义好的类别：</a:t>
            </a:r>
            <a:r>
              <a:rPr lang="en-US" altLang="zh-CN" dirty="0"/>
              <a:t>0-9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558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Common in Machine Learning    </a:t>
            </a:r>
            <a:r>
              <a:rPr lang="zh-CN" altLang="en-US" dirty="0">
                <a:ea typeface="ＭＳ Ｐゴシック" panose="020B0600070205080204" pitchFamily="34" charset="-128"/>
              </a:rPr>
              <a:t>机器学习中的常见问题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Junk Email Filtering </a:t>
            </a:r>
            <a:r>
              <a:rPr lang="zh-CN" altLang="en-US" dirty="0"/>
              <a:t>垃圾邮件过滤</a:t>
            </a:r>
            <a:endParaRPr lang="en-US" altLang="zh-CN" dirty="0"/>
          </a:p>
          <a:p>
            <a:pPr lvl="1"/>
            <a:r>
              <a:rPr lang="en-US" altLang="zh-CN" dirty="0"/>
              <a:t>Data: email </a:t>
            </a:r>
            <a:r>
              <a:rPr lang="zh-CN" altLang="en-US" dirty="0"/>
              <a:t>数据：邮件</a:t>
            </a:r>
            <a:endParaRPr lang="en-US" altLang="zh-CN" dirty="0"/>
          </a:p>
          <a:p>
            <a:pPr lvl="1"/>
            <a:r>
              <a:rPr lang="en-US" altLang="zh-CN" dirty="0"/>
              <a:t>2 categories: junk email, normal email    2</a:t>
            </a:r>
            <a:r>
              <a:rPr lang="zh-CN" altLang="en-US" dirty="0"/>
              <a:t>个类别：垃圾邮件，正常邮件</a:t>
            </a:r>
            <a:endParaRPr lang="en-US" altLang="zh-CN" dirty="0"/>
          </a:p>
          <a:p>
            <a:r>
              <a:rPr lang="en-US" altLang="zh-CN" dirty="0"/>
              <a:t>Diagnosis of a Certain Disease      </a:t>
            </a:r>
            <a:r>
              <a:rPr lang="zh-CN" altLang="en-US" dirty="0"/>
              <a:t>某种疾病的诊断</a:t>
            </a:r>
            <a:endParaRPr lang="en-US" altLang="zh-CN" dirty="0"/>
          </a:p>
          <a:p>
            <a:pPr lvl="1"/>
            <a:r>
              <a:rPr lang="en-US" altLang="zh-CN" dirty="0"/>
              <a:t>Data: patient status </a:t>
            </a:r>
            <a:r>
              <a:rPr lang="zh-CN" altLang="en-US" dirty="0"/>
              <a:t>数据：病人状况</a:t>
            </a:r>
            <a:endParaRPr lang="en-US" altLang="zh-CN" dirty="0"/>
          </a:p>
          <a:p>
            <a:pPr lvl="1"/>
            <a:r>
              <a:rPr lang="en-US" altLang="zh-CN" dirty="0"/>
              <a:t>2 categories: presence, absence             2</a:t>
            </a:r>
            <a:r>
              <a:rPr lang="zh-CN" altLang="en-US" dirty="0"/>
              <a:t>个类别：有病，没有病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469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Common in Machine Learning    </a:t>
            </a:r>
            <a:r>
              <a:rPr lang="zh-CN" altLang="en-US" dirty="0">
                <a:ea typeface="ＭＳ Ｐゴシック" panose="020B0600070205080204" pitchFamily="34" charset="-128"/>
              </a:rPr>
              <a:t>机器学习中的常见问题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A4F85-939E-4C75-94BD-FFB247A9EF48}"/>
              </a:ext>
            </a:extLst>
          </p:cNvPr>
          <p:cNvSpPr txBox="1"/>
          <p:nvPr/>
        </p:nvSpPr>
        <p:spPr>
          <a:xfrm>
            <a:off x="675481" y="1600200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Sometimes as a component in a relatively complex system</a:t>
            </a:r>
          </a:p>
          <a:p>
            <a:pPr algn="ctr"/>
            <a:r>
              <a:rPr lang="zh-CN" altLang="en-US" sz="2200" dirty="0"/>
              <a:t>有时作为一个相对复杂的系统中的一个组件</a:t>
            </a:r>
            <a:r>
              <a:rPr lang="en-US" altLang="zh-CN" sz="2200" dirty="0"/>
              <a:t> 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DAEF8-398B-4E2E-A782-D36A34108828}"/>
              </a:ext>
            </a:extLst>
          </p:cNvPr>
          <p:cNvSpPr txBox="1"/>
          <p:nvPr/>
        </p:nvSpPr>
        <p:spPr>
          <a:xfrm>
            <a:off x="2735341" y="2377440"/>
            <a:ext cx="3667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Example: face detection </a:t>
            </a:r>
            <a:r>
              <a:rPr lang="zh-CN" altLang="en-US" sz="2200" dirty="0"/>
              <a:t>例如人脸检测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A4EF5A-1E22-4F71-9939-F48DFF470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98" y="3169726"/>
            <a:ext cx="3025402" cy="22404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4FD0EF-B035-404F-A722-63BAA7022E22}"/>
              </a:ext>
            </a:extLst>
          </p:cNvPr>
          <p:cNvSpPr txBox="1"/>
          <p:nvPr/>
        </p:nvSpPr>
        <p:spPr>
          <a:xfrm>
            <a:off x="4866482" y="3347756"/>
            <a:ext cx="36679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Data: candidate regions  </a:t>
            </a:r>
            <a:r>
              <a:rPr lang="zh-CN" altLang="en-US" sz="2200" dirty="0"/>
              <a:t>数据：候选图像区域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9F29A-3447-46E1-9CC4-4098BA52151B}"/>
              </a:ext>
            </a:extLst>
          </p:cNvPr>
          <p:cNvSpPr txBox="1"/>
          <p:nvPr/>
        </p:nvSpPr>
        <p:spPr>
          <a:xfrm>
            <a:off x="4569302" y="4259759"/>
            <a:ext cx="42622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 categories: face, not a face  2</a:t>
            </a:r>
            <a:r>
              <a:rPr lang="zh-CN" altLang="en-US" sz="2200" dirty="0"/>
              <a:t>个类别：人脸，非人脸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ADE263-DFE8-4417-8219-514D18862C98}"/>
              </a:ext>
            </a:extLst>
          </p:cNvPr>
          <p:cNvSpPr/>
          <p:nvPr/>
        </p:nvSpPr>
        <p:spPr bwMode="auto">
          <a:xfrm>
            <a:off x="2209800" y="3204968"/>
            <a:ext cx="1219200" cy="1524000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073B63-C0B3-4027-A015-BFC48FAE57EF}"/>
              </a:ext>
            </a:extLst>
          </p:cNvPr>
          <p:cNvSpPr/>
          <p:nvPr/>
        </p:nvSpPr>
        <p:spPr bwMode="auto">
          <a:xfrm>
            <a:off x="1290478" y="3703126"/>
            <a:ext cx="843122" cy="1524000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Callout: Line with No Border 15">
            <a:extLst>
              <a:ext uri="{FF2B5EF4-FFF2-40B4-BE49-F238E27FC236}">
                <a16:creationId xmlns:a16="http://schemas.microsoft.com/office/drawing/2014/main" id="{D2799A04-2719-4908-A510-3C8AB8A0B84F}"/>
              </a:ext>
            </a:extLst>
          </p:cNvPr>
          <p:cNvSpPr/>
          <p:nvPr/>
        </p:nvSpPr>
        <p:spPr bwMode="auto">
          <a:xfrm>
            <a:off x="490378" y="2414356"/>
            <a:ext cx="1600200" cy="430887"/>
          </a:xfrm>
          <a:prstGeom prst="callout1">
            <a:avLst>
              <a:gd name="adj1" fmla="val 61192"/>
              <a:gd name="adj2" fmla="val 86947"/>
              <a:gd name="adj3" fmla="val 172627"/>
              <a:gd name="adj4" fmla="val 14513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Face 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人脸</a:t>
            </a:r>
          </a:p>
        </p:txBody>
      </p:sp>
      <p:sp>
        <p:nvSpPr>
          <p:cNvPr id="17" name="Callout: Line with No Border 16">
            <a:extLst>
              <a:ext uri="{FF2B5EF4-FFF2-40B4-BE49-F238E27FC236}">
                <a16:creationId xmlns:a16="http://schemas.microsoft.com/office/drawing/2014/main" id="{E7867A71-7C69-472E-B0B7-B19EF8BAC82F}"/>
              </a:ext>
            </a:extLst>
          </p:cNvPr>
          <p:cNvSpPr/>
          <p:nvPr/>
        </p:nvSpPr>
        <p:spPr bwMode="auto">
          <a:xfrm>
            <a:off x="213098" y="5814045"/>
            <a:ext cx="1600200" cy="771123"/>
          </a:xfrm>
          <a:prstGeom prst="callout1">
            <a:avLst>
              <a:gd name="adj1" fmla="val 2312"/>
              <a:gd name="adj2" fmla="val 48852"/>
              <a:gd name="adj3" fmla="val -65387"/>
              <a:gd name="adj4" fmla="val 6894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Not a face 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非人脸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A05F9C-E274-424C-92EA-0D5782339D1A}"/>
              </a:ext>
            </a:extLst>
          </p:cNvPr>
          <p:cNvSpPr txBox="1"/>
          <p:nvPr/>
        </p:nvSpPr>
        <p:spPr>
          <a:xfrm>
            <a:off x="672783" y="5394960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generate candidate regions is a different problem  </a:t>
            </a:r>
            <a:r>
              <a:rPr lang="zh-CN" altLang="en-US" sz="2200" dirty="0"/>
              <a:t>如何产生候选图像区域则是另一个问题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896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 animBg="1"/>
      <p:bldP spid="14" grpId="0" animBg="1"/>
      <p:bldP spid="16" grpId="0" animBg="1"/>
      <p:bldP spid="16" grpId="1" animBg="1"/>
      <p:bldP spid="17" grpId="0" animBg="1"/>
      <p:bldP spid="17" grpId="1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Common in Machine Learning    </a:t>
            </a:r>
            <a:r>
              <a:rPr lang="zh-CN" altLang="en-US" dirty="0">
                <a:ea typeface="ＭＳ Ｐゴシック" panose="020B0600070205080204" pitchFamily="34" charset="-128"/>
              </a:rPr>
              <a:t>机器学习中的常见问题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A4F85-939E-4C75-94BD-FFB247A9EF48}"/>
              </a:ext>
            </a:extLst>
          </p:cNvPr>
          <p:cNvSpPr txBox="1"/>
          <p:nvPr/>
        </p:nvSpPr>
        <p:spPr>
          <a:xfrm>
            <a:off x="675481" y="1600200"/>
            <a:ext cx="7793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Conversation system  </a:t>
            </a:r>
            <a:r>
              <a:rPr lang="zh-CN" altLang="en-US" sz="2200" dirty="0"/>
              <a:t>对话系统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DAEF8-398B-4E2E-A782-D36A34108828}"/>
              </a:ext>
            </a:extLst>
          </p:cNvPr>
          <p:cNvSpPr txBox="1"/>
          <p:nvPr/>
        </p:nvSpPr>
        <p:spPr>
          <a:xfrm>
            <a:off x="1598008" y="2223766"/>
            <a:ext cx="44299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large number of categories: words in a dictionary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algn="ctr"/>
            <a:r>
              <a:rPr lang="zh-CN" altLang="en-US" sz="2200" dirty="0"/>
              <a:t>非常多的类别：词典里的词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CB76CC-09B5-C787-8349-08E09872C0FB}"/>
              </a:ext>
            </a:extLst>
          </p:cNvPr>
          <p:cNvGrpSpPr/>
          <p:nvPr/>
        </p:nvGrpSpPr>
        <p:grpSpPr>
          <a:xfrm>
            <a:off x="6642568" y="2273800"/>
            <a:ext cx="915950" cy="2831600"/>
            <a:chOff x="6642568" y="3058044"/>
            <a:chExt cx="915950" cy="28316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2600F6-CE31-0C72-D04D-20507DF47749}"/>
                </a:ext>
              </a:extLst>
            </p:cNvPr>
            <p:cNvSpPr txBox="1"/>
            <p:nvPr/>
          </p:nvSpPr>
          <p:spPr>
            <a:xfrm>
              <a:off x="6652902" y="3271251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幸运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9EBE4F-EFD3-4074-5415-0DE4941BBE60}"/>
                </a:ext>
              </a:extLst>
            </p:cNvPr>
            <p:cNvSpPr txBox="1"/>
            <p:nvPr/>
          </p:nvSpPr>
          <p:spPr>
            <a:xfrm>
              <a:off x="6934200" y="305804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C7B24B-5E16-C7A2-E86F-F0A9062873F4}"/>
                </a:ext>
              </a:extLst>
            </p:cNvPr>
            <p:cNvSpPr txBox="1"/>
            <p:nvPr/>
          </p:nvSpPr>
          <p:spPr>
            <a:xfrm>
              <a:off x="6934200" y="3679531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2995AC-4E98-1AB6-54D2-49F1EFFCB6D1}"/>
                </a:ext>
              </a:extLst>
            </p:cNvPr>
            <p:cNvSpPr txBox="1"/>
            <p:nvPr/>
          </p:nvSpPr>
          <p:spPr>
            <a:xfrm>
              <a:off x="6652902" y="390711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挑战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0A2B04E-78E9-2AA4-4BEA-C816B7280D66}"/>
                </a:ext>
              </a:extLst>
            </p:cNvPr>
            <p:cNvSpPr txBox="1"/>
            <p:nvPr/>
          </p:nvSpPr>
          <p:spPr>
            <a:xfrm>
              <a:off x="6937355" y="433820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BEDDFF-0EC9-A3C1-BF4A-1ADB2BEAF679}"/>
                </a:ext>
              </a:extLst>
            </p:cNvPr>
            <p:cNvSpPr txBox="1"/>
            <p:nvPr/>
          </p:nvSpPr>
          <p:spPr>
            <a:xfrm>
              <a:off x="6665428" y="452147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机遇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7B42DB-2FA8-CC79-20C4-C9EA839193A8}"/>
                </a:ext>
              </a:extLst>
            </p:cNvPr>
            <p:cNvSpPr txBox="1"/>
            <p:nvPr/>
          </p:nvSpPr>
          <p:spPr>
            <a:xfrm>
              <a:off x="6929734" y="4939130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303DC53-CDE3-1FE1-ACB1-CE69CF3456B1}"/>
                </a:ext>
              </a:extLst>
            </p:cNvPr>
            <p:cNvSpPr txBox="1"/>
            <p:nvPr/>
          </p:nvSpPr>
          <p:spPr>
            <a:xfrm>
              <a:off x="6642568" y="5131713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问题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501707-3F6B-6F63-29C2-6BE04259EA22}"/>
                </a:ext>
              </a:extLst>
            </p:cNvPr>
            <p:cNvSpPr txBox="1"/>
            <p:nvPr/>
          </p:nvSpPr>
          <p:spPr>
            <a:xfrm>
              <a:off x="6929735" y="5505637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7262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Common in Machine Learning    </a:t>
            </a:r>
            <a:r>
              <a:rPr lang="zh-CN" altLang="en-US" dirty="0">
                <a:ea typeface="ＭＳ Ｐゴシック" panose="020B0600070205080204" pitchFamily="34" charset="-128"/>
              </a:rPr>
              <a:t>机器学习中的常见问题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A4F85-939E-4C75-94BD-FFB247A9EF48}"/>
              </a:ext>
            </a:extLst>
          </p:cNvPr>
          <p:cNvSpPr txBox="1"/>
          <p:nvPr/>
        </p:nvSpPr>
        <p:spPr>
          <a:xfrm>
            <a:off x="675481" y="1600200"/>
            <a:ext cx="7793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Conversation system  </a:t>
            </a:r>
            <a:r>
              <a:rPr lang="zh-CN" altLang="en-US" sz="2200" dirty="0"/>
              <a:t>对话系统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CB76CC-09B5-C787-8349-08E09872C0FB}"/>
              </a:ext>
            </a:extLst>
          </p:cNvPr>
          <p:cNvGrpSpPr/>
          <p:nvPr/>
        </p:nvGrpSpPr>
        <p:grpSpPr>
          <a:xfrm>
            <a:off x="6642568" y="2273800"/>
            <a:ext cx="915950" cy="2831600"/>
            <a:chOff x="6642568" y="3058044"/>
            <a:chExt cx="915950" cy="28316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2600F6-CE31-0C72-D04D-20507DF47749}"/>
                </a:ext>
              </a:extLst>
            </p:cNvPr>
            <p:cNvSpPr txBox="1"/>
            <p:nvPr/>
          </p:nvSpPr>
          <p:spPr>
            <a:xfrm>
              <a:off x="6652902" y="3271251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幸运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9EBE4F-EFD3-4074-5415-0DE4941BBE60}"/>
                </a:ext>
              </a:extLst>
            </p:cNvPr>
            <p:cNvSpPr txBox="1"/>
            <p:nvPr/>
          </p:nvSpPr>
          <p:spPr>
            <a:xfrm>
              <a:off x="6934200" y="305804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C7B24B-5E16-C7A2-E86F-F0A9062873F4}"/>
                </a:ext>
              </a:extLst>
            </p:cNvPr>
            <p:cNvSpPr txBox="1"/>
            <p:nvPr/>
          </p:nvSpPr>
          <p:spPr>
            <a:xfrm>
              <a:off x="6934200" y="3679531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2995AC-4E98-1AB6-54D2-49F1EFFCB6D1}"/>
                </a:ext>
              </a:extLst>
            </p:cNvPr>
            <p:cNvSpPr txBox="1"/>
            <p:nvPr/>
          </p:nvSpPr>
          <p:spPr>
            <a:xfrm>
              <a:off x="6652902" y="390711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挑战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0A2B04E-78E9-2AA4-4BEA-C816B7280D66}"/>
                </a:ext>
              </a:extLst>
            </p:cNvPr>
            <p:cNvSpPr txBox="1"/>
            <p:nvPr/>
          </p:nvSpPr>
          <p:spPr>
            <a:xfrm>
              <a:off x="6937355" y="433820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BEDDFF-0EC9-A3C1-BF4A-1ADB2BEAF679}"/>
                </a:ext>
              </a:extLst>
            </p:cNvPr>
            <p:cNvSpPr txBox="1"/>
            <p:nvPr/>
          </p:nvSpPr>
          <p:spPr>
            <a:xfrm>
              <a:off x="6665428" y="452147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机遇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7B42DB-2FA8-CC79-20C4-C9EA839193A8}"/>
                </a:ext>
              </a:extLst>
            </p:cNvPr>
            <p:cNvSpPr txBox="1"/>
            <p:nvPr/>
          </p:nvSpPr>
          <p:spPr>
            <a:xfrm>
              <a:off x="6929734" y="4939130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303DC53-CDE3-1FE1-ACB1-CE69CF3456B1}"/>
                </a:ext>
              </a:extLst>
            </p:cNvPr>
            <p:cNvSpPr txBox="1"/>
            <p:nvPr/>
          </p:nvSpPr>
          <p:spPr>
            <a:xfrm>
              <a:off x="6642568" y="5131713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问题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501707-3F6B-6F63-29C2-6BE04259EA22}"/>
                </a:ext>
              </a:extLst>
            </p:cNvPr>
            <p:cNvSpPr txBox="1"/>
            <p:nvPr/>
          </p:nvSpPr>
          <p:spPr>
            <a:xfrm>
              <a:off x="6929735" y="5505637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583A932-C9F0-9492-8566-89379930439D}"/>
              </a:ext>
            </a:extLst>
          </p:cNvPr>
          <p:cNvSpPr txBox="1"/>
          <p:nvPr/>
        </p:nvSpPr>
        <p:spPr>
          <a:xfrm>
            <a:off x="976177" y="2317729"/>
            <a:ext cx="44299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Preceding text</a:t>
            </a:r>
          </a:p>
          <a:p>
            <a:pPr algn="ctr"/>
            <a:r>
              <a:rPr lang="zh-CN" altLang="en-US" sz="2200" dirty="0"/>
              <a:t>前序文字段落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C5BB64-F4E7-AD53-38BE-CA7C740F16E1}"/>
              </a:ext>
            </a:extLst>
          </p:cNvPr>
          <p:cNvSpPr txBox="1"/>
          <p:nvPr/>
        </p:nvSpPr>
        <p:spPr>
          <a:xfrm>
            <a:off x="1295400" y="3373812"/>
            <a:ext cx="38784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气候变化是全世界面临的</a:t>
            </a:r>
          </a:p>
        </p:txBody>
      </p:sp>
      <p:sp>
        <p:nvSpPr>
          <p:cNvPr id="28" name="Text Box 184">
            <a:extLst>
              <a:ext uri="{FF2B5EF4-FFF2-40B4-BE49-F238E27FC236}">
                <a16:creationId xmlns:a16="http://schemas.microsoft.com/office/drawing/2014/main" id="{56E6535C-9CA3-94A1-6F0C-571A78344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4371" y="316855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√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29" name="Text Box 184">
            <a:extLst>
              <a:ext uri="{FF2B5EF4-FFF2-40B4-BE49-F238E27FC236}">
                <a16:creationId xmlns:a16="http://schemas.microsoft.com/office/drawing/2014/main" id="{FDAC7332-C4FB-6726-20C0-4298CD5BD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656" y="3749447"/>
            <a:ext cx="4572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30" name="Text Box 184">
            <a:extLst>
              <a:ext uri="{FF2B5EF4-FFF2-40B4-BE49-F238E27FC236}">
                <a16:creationId xmlns:a16="http://schemas.microsoft.com/office/drawing/2014/main" id="{26E24080-5C1C-514D-EF14-D426655EA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6142" y="438204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√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359D67-D1FA-7170-3564-722A463D5668}"/>
              </a:ext>
            </a:extLst>
          </p:cNvPr>
          <p:cNvSpPr txBox="1"/>
          <p:nvPr/>
        </p:nvSpPr>
        <p:spPr>
          <a:xfrm>
            <a:off x="446420" y="5053177"/>
            <a:ext cx="8403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Which word (category) can be the next (should be the preceding text classified to)?</a:t>
            </a:r>
          </a:p>
          <a:p>
            <a:pPr algn="ctr"/>
            <a:r>
              <a:rPr lang="zh-CN" altLang="en-US" sz="2200" dirty="0"/>
              <a:t>哪个词（类别）能成为下一个词（前序文字段落的类别）？</a:t>
            </a:r>
          </a:p>
        </p:txBody>
      </p:sp>
      <p:sp>
        <p:nvSpPr>
          <p:cNvPr id="3" name="Text Box 184">
            <a:extLst>
              <a:ext uri="{FF2B5EF4-FFF2-40B4-BE49-F238E27FC236}">
                <a16:creationId xmlns:a16="http://schemas.microsoft.com/office/drawing/2014/main" id="{38678E6D-FA73-8A7B-2EC0-BD4987671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6142" y="2499813"/>
            <a:ext cx="4572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000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/>
      <p:bldP spid="29" grpId="0"/>
      <p:bldP spid="30" grpId="0"/>
      <p:bldP spid="3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Common in Machine Learning    </a:t>
            </a:r>
            <a:r>
              <a:rPr lang="zh-CN" altLang="en-US" dirty="0">
                <a:ea typeface="ＭＳ Ｐゴシック" panose="020B0600070205080204" pitchFamily="34" charset="-128"/>
              </a:rPr>
              <a:t>机器学习中的常见问题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A4F85-939E-4C75-94BD-FFB247A9EF48}"/>
              </a:ext>
            </a:extLst>
          </p:cNvPr>
          <p:cNvSpPr txBox="1"/>
          <p:nvPr/>
        </p:nvSpPr>
        <p:spPr>
          <a:xfrm>
            <a:off x="675481" y="1600200"/>
            <a:ext cx="7793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Conversation system  </a:t>
            </a:r>
            <a:r>
              <a:rPr lang="zh-CN" altLang="en-US" sz="2200" dirty="0"/>
              <a:t>对话系统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CB76CC-09B5-C787-8349-08E09872C0FB}"/>
              </a:ext>
            </a:extLst>
          </p:cNvPr>
          <p:cNvGrpSpPr/>
          <p:nvPr/>
        </p:nvGrpSpPr>
        <p:grpSpPr>
          <a:xfrm>
            <a:off x="6642568" y="2273800"/>
            <a:ext cx="915950" cy="2831600"/>
            <a:chOff x="6642568" y="3058044"/>
            <a:chExt cx="915950" cy="28316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2600F6-CE31-0C72-D04D-20507DF47749}"/>
                </a:ext>
              </a:extLst>
            </p:cNvPr>
            <p:cNvSpPr txBox="1"/>
            <p:nvPr/>
          </p:nvSpPr>
          <p:spPr>
            <a:xfrm>
              <a:off x="6652902" y="3271251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幸运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9EBE4F-EFD3-4074-5415-0DE4941BBE60}"/>
                </a:ext>
              </a:extLst>
            </p:cNvPr>
            <p:cNvSpPr txBox="1"/>
            <p:nvPr/>
          </p:nvSpPr>
          <p:spPr>
            <a:xfrm>
              <a:off x="6934200" y="305804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C7B24B-5E16-C7A2-E86F-F0A9062873F4}"/>
                </a:ext>
              </a:extLst>
            </p:cNvPr>
            <p:cNvSpPr txBox="1"/>
            <p:nvPr/>
          </p:nvSpPr>
          <p:spPr>
            <a:xfrm>
              <a:off x="6934200" y="3679531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2995AC-4E98-1AB6-54D2-49F1EFFCB6D1}"/>
                </a:ext>
              </a:extLst>
            </p:cNvPr>
            <p:cNvSpPr txBox="1"/>
            <p:nvPr/>
          </p:nvSpPr>
          <p:spPr>
            <a:xfrm>
              <a:off x="6652902" y="390711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挑战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0A2B04E-78E9-2AA4-4BEA-C816B7280D66}"/>
                </a:ext>
              </a:extLst>
            </p:cNvPr>
            <p:cNvSpPr txBox="1"/>
            <p:nvPr/>
          </p:nvSpPr>
          <p:spPr>
            <a:xfrm>
              <a:off x="6937355" y="4338204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BEDDFF-0EC9-A3C1-BF4A-1ADB2BEAF679}"/>
                </a:ext>
              </a:extLst>
            </p:cNvPr>
            <p:cNvSpPr txBox="1"/>
            <p:nvPr/>
          </p:nvSpPr>
          <p:spPr>
            <a:xfrm>
              <a:off x="6665428" y="4521475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机遇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7B42DB-2FA8-CC79-20C4-C9EA839193A8}"/>
                </a:ext>
              </a:extLst>
            </p:cNvPr>
            <p:cNvSpPr txBox="1"/>
            <p:nvPr/>
          </p:nvSpPr>
          <p:spPr>
            <a:xfrm>
              <a:off x="6929734" y="4939130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303DC53-CDE3-1FE1-ACB1-CE69CF3456B1}"/>
                </a:ext>
              </a:extLst>
            </p:cNvPr>
            <p:cNvSpPr txBox="1"/>
            <p:nvPr/>
          </p:nvSpPr>
          <p:spPr>
            <a:xfrm>
              <a:off x="6642568" y="5131713"/>
              <a:ext cx="8930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/>
                <a:t>问题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501707-3F6B-6F63-29C2-6BE04259EA22}"/>
                </a:ext>
              </a:extLst>
            </p:cNvPr>
            <p:cNvSpPr txBox="1"/>
            <p:nvPr/>
          </p:nvSpPr>
          <p:spPr>
            <a:xfrm>
              <a:off x="6929735" y="5505637"/>
              <a:ext cx="461665" cy="38400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0C5BB64-F4E7-AD53-38BE-CA7C740F16E1}"/>
              </a:ext>
            </a:extLst>
          </p:cNvPr>
          <p:cNvSpPr txBox="1"/>
          <p:nvPr/>
        </p:nvSpPr>
        <p:spPr>
          <a:xfrm>
            <a:off x="1295400" y="3373812"/>
            <a:ext cx="38784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气候变化是全世界面临的</a:t>
            </a:r>
          </a:p>
        </p:txBody>
      </p:sp>
      <p:sp>
        <p:nvSpPr>
          <p:cNvPr id="28" name="Text Box 184">
            <a:extLst>
              <a:ext uri="{FF2B5EF4-FFF2-40B4-BE49-F238E27FC236}">
                <a16:creationId xmlns:a16="http://schemas.microsoft.com/office/drawing/2014/main" id="{56E6535C-9CA3-94A1-6F0C-571A78344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4371" y="316855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√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29" name="Text Box 184">
            <a:extLst>
              <a:ext uri="{FF2B5EF4-FFF2-40B4-BE49-F238E27FC236}">
                <a16:creationId xmlns:a16="http://schemas.microsoft.com/office/drawing/2014/main" id="{FDAC7332-C4FB-6726-20C0-4298CD5BD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656" y="3749447"/>
            <a:ext cx="4572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  <p:sp>
        <p:nvSpPr>
          <p:cNvPr id="30" name="Text Box 184">
            <a:extLst>
              <a:ext uri="{FF2B5EF4-FFF2-40B4-BE49-F238E27FC236}">
                <a16:creationId xmlns:a16="http://schemas.microsoft.com/office/drawing/2014/main" id="{26E24080-5C1C-514D-EF14-D426655EA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6142" y="438204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√</a:t>
            </a:r>
            <a:endParaRPr lang="en-US" altLang="zh-CN" sz="2400" b="1" dirty="0">
              <a:solidFill>
                <a:srgbClr val="00B050"/>
              </a:solidFill>
              <a:latin typeface="Trebuchet MS" panose="020B0603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359D67-D1FA-7170-3564-722A463D5668}"/>
              </a:ext>
            </a:extLst>
          </p:cNvPr>
          <p:cNvSpPr txBox="1"/>
          <p:nvPr/>
        </p:nvSpPr>
        <p:spPr>
          <a:xfrm>
            <a:off x="446420" y="5053177"/>
            <a:ext cx="8403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Complex conversation comes </a:t>
            </a:r>
            <a:r>
              <a:rPr lang="en-US" altLang="zh-CN" sz="2200"/>
              <a:t>from sequential </a:t>
            </a:r>
            <a:r>
              <a:rPr lang="en-US" altLang="zh-CN" sz="2200" dirty="0"/>
              <a:t>word generation</a:t>
            </a:r>
          </a:p>
          <a:p>
            <a:pPr algn="ctr"/>
            <a:r>
              <a:rPr lang="zh-CN" altLang="en-US" sz="2200" dirty="0"/>
              <a:t>复杂的对话来自于持续的词生成</a:t>
            </a:r>
          </a:p>
        </p:txBody>
      </p:sp>
      <p:sp>
        <p:nvSpPr>
          <p:cNvPr id="3" name="Text Box 184">
            <a:extLst>
              <a:ext uri="{FF2B5EF4-FFF2-40B4-BE49-F238E27FC236}">
                <a16:creationId xmlns:a16="http://schemas.microsoft.com/office/drawing/2014/main" id="{38678E6D-FA73-8A7B-2EC0-BD4987671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6142" y="2499813"/>
            <a:ext cx="4572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9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Classifier </a:t>
            </a:r>
            <a:r>
              <a:rPr lang="zh-CN" altLang="en-US" dirty="0">
                <a:ea typeface="ＭＳ Ｐゴシック" panose="020B0600070205080204" pitchFamily="34" charset="-128"/>
              </a:rPr>
              <a:t>分类器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Classifier </a:t>
            </a:r>
            <a:r>
              <a:rPr lang="zh-CN" altLang="en-US" dirty="0"/>
              <a:t>分类器</a:t>
            </a:r>
            <a:endParaRPr lang="en-US" altLang="zh-CN" dirty="0"/>
          </a:p>
          <a:p>
            <a:pPr lvl="1"/>
            <a:r>
              <a:rPr lang="en-US" altLang="zh-CN" dirty="0"/>
              <a:t>Program for a specific classification task</a:t>
            </a:r>
            <a:r>
              <a:rPr lang="zh-CN" altLang="en-US" dirty="0"/>
              <a:t>                                 完成特定分类任务的程序</a:t>
            </a:r>
            <a:endParaRPr lang="en-US" altLang="zh-CN" dirty="0"/>
          </a:p>
          <a:p>
            <a:r>
              <a:rPr lang="en-US" altLang="zh-CN" dirty="0"/>
              <a:t>Like a Usual Program </a:t>
            </a:r>
            <a:r>
              <a:rPr lang="zh-CN" altLang="en-US"/>
              <a:t>像普</a:t>
            </a:r>
            <a:r>
              <a:rPr lang="zh-CN" altLang="en-US" dirty="0"/>
              <a:t>通程序一样</a:t>
            </a:r>
            <a:endParaRPr lang="en-US" altLang="zh-CN" dirty="0"/>
          </a:p>
          <a:p>
            <a:pPr lvl="1"/>
            <a:r>
              <a:rPr lang="en-US" altLang="zh-CN" dirty="0"/>
              <a:t>Take well-defined inputs </a:t>
            </a:r>
            <a:r>
              <a:rPr lang="zh-CN" altLang="en-US" dirty="0"/>
              <a:t>接受明确的输入</a:t>
            </a:r>
            <a:endParaRPr lang="en-US" altLang="zh-CN" dirty="0"/>
          </a:p>
          <a:p>
            <a:pPr lvl="1"/>
            <a:r>
              <a:rPr lang="en-US" altLang="zh-CN" dirty="0"/>
              <a:t>Generate outputs based on certain computing steps                                    </a:t>
            </a:r>
            <a:r>
              <a:rPr lang="zh-CN" altLang="en-US" dirty="0"/>
              <a:t>通过一些计算的步骤产生输出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944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061FEF-B574-4CD3-AEDA-FFA0609BF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77" y="2786360"/>
            <a:ext cx="2895055" cy="27178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Define the Input </a:t>
            </a:r>
            <a:r>
              <a:rPr lang="zh-CN" altLang="en-US" dirty="0">
                <a:ea typeface="ＭＳ Ｐゴシック" panose="020B0600070205080204" pitchFamily="34" charset="-128"/>
              </a:rPr>
              <a:t>定义输入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AA9C06-E645-4BA2-B65C-AA2C364DE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068831"/>
              </p:ext>
            </p:extLst>
          </p:nvPr>
        </p:nvGraphicFramePr>
        <p:xfrm>
          <a:off x="406577" y="2773664"/>
          <a:ext cx="2895600" cy="2717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975">
                  <a:extLst>
                    <a:ext uri="{9D8B030D-6E8A-4147-A177-3AD203B41FA5}">
                      <a16:colId xmlns:a16="http://schemas.microsoft.com/office/drawing/2014/main" val="10997176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1325880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32797996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350796746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1378731859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309816433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1954079805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424554737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932003077"/>
                    </a:ext>
                  </a:extLst>
                </a:gridCol>
                <a:gridCol w="200025">
                  <a:extLst>
                    <a:ext uri="{9D8B030D-6E8A-4147-A177-3AD203B41FA5}">
                      <a16:colId xmlns:a16="http://schemas.microsoft.com/office/drawing/2014/main" val="2595031180"/>
                    </a:ext>
                  </a:extLst>
                </a:gridCol>
                <a:gridCol w="161925">
                  <a:extLst>
                    <a:ext uri="{9D8B030D-6E8A-4147-A177-3AD203B41FA5}">
                      <a16:colId xmlns:a16="http://schemas.microsoft.com/office/drawing/2014/main" val="216480792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28883929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81870276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88211961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359932814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1466328639"/>
                    </a:ext>
                  </a:extLst>
                </a:gridCol>
              </a:tblGrid>
              <a:tr h="169863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87450361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0168417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16988036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2881827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94005904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96091016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97322008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97412237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5803810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9631334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05868132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01728032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80546328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1644268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44804331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322548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6E89B8A-A9D5-4438-9E60-6A4D8E0392B7}"/>
              </a:ext>
            </a:extLst>
          </p:cNvPr>
          <p:cNvSpPr txBox="1"/>
          <p:nvPr/>
        </p:nvSpPr>
        <p:spPr>
          <a:xfrm>
            <a:off x="289560" y="5560298"/>
            <a:ext cx="32814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Apply a 16x16 grid</a:t>
            </a:r>
          </a:p>
          <a:p>
            <a:pPr algn="ctr"/>
            <a:r>
              <a:rPr lang="zh-CN" altLang="en-US" sz="2200" dirty="0"/>
              <a:t>加上一个</a:t>
            </a:r>
            <a:r>
              <a:rPr lang="en-US" altLang="zh-CN" sz="2200" dirty="0"/>
              <a:t>16x16</a:t>
            </a:r>
            <a:r>
              <a:rPr lang="zh-CN" altLang="en-US" sz="2200" dirty="0"/>
              <a:t>的网格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FCFE8-C228-47D7-AE15-63B36890B105}"/>
              </a:ext>
            </a:extLst>
          </p:cNvPr>
          <p:cNvSpPr txBox="1"/>
          <p:nvPr/>
        </p:nvSpPr>
        <p:spPr>
          <a:xfrm>
            <a:off x="1005261" y="1905000"/>
            <a:ext cx="152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Image </a:t>
            </a:r>
          </a:p>
          <a:p>
            <a:pPr algn="ctr"/>
            <a:r>
              <a:rPr lang="zh-CN" altLang="en-US" sz="2200" dirty="0"/>
              <a:t>图像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7E34996-0D04-4C1A-B13E-AE031FC08D4D}"/>
              </a:ext>
            </a:extLst>
          </p:cNvPr>
          <p:cNvSpPr/>
          <p:nvPr/>
        </p:nvSpPr>
        <p:spPr bwMode="auto">
          <a:xfrm>
            <a:off x="3302177" y="3687197"/>
            <a:ext cx="3976110" cy="76944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36961B-E840-4265-A873-12BCEDC28099}"/>
              </a:ext>
            </a:extLst>
          </p:cNvPr>
          <p:cNvSpPr txBox="1"/>
          <p:nvPr/>
        </p:nvSpPr>
        <p:spPr>
          <a:xfrm>
            <a:off x="3370274" y="2754053"/>
            <a:ext cx="32814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Calculate the ‘weight’ in each grid</a:t>
            </a:r>
          </a:p>
          <a:p>
            <a:pPr algn="ctr"/>
            <a:r>
              <a:rPr lang="zh-CN" altLang="en-US" sz="2200" dirty="0"/>
              <a:t>计算每个格子的“重量”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81A6B6-1D70-495E-8FAC-9C87229B2436}"/>
              </a:ext>
            </a:extLst>
          </p:cNvPr>
          <p:cNvSpPr txBox="1"/>
          <p:nvPr/>
        </p:nvSpPr>
        <p:spPr>
          <a:xfrm>
            <a:off x="3302177" y="4329531"/>
            <a:ext cx="32814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Normalize to [-1,1] </a:t>
            </a:r>
          </a:p>
          <a:p>
            <a:pPr algn="ctr"/>
            <a:r>
              <a:rPr lang="zh-CN" altLang="en-US" sz="2200" dirty="0"/>
              <a:t>归一化至</a:t>
            </a:r>
            <a:r>
              <a:rPr lang="en-US" altLang="zh-CN" sz="2200" dirty="0"/>
              <a:t>[-1,1]</a:t>
            </a:r>
            <a:r>
              <a:rPr lang="zh-CN" altLang="en-US" sz="2200" dirty="0"/>
              <a:t>区间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BCBA50-5B1B-431E-B6D9-62ED25E522FF}"/>
              </a:ext>
            </a:extLst>
          </p:cNvPr>
          <p:cNvGrpSpPr/>
          <p:nvPr/>
        </p:nvGrpSpPr>
        <p:grpSpPr>
          <a:xfrm>
            <a:off x="6583664" y="1447800"/>
            <a:ext cx="2560336" cy="4426058"/>
            <a:chOff x="6583664" y="1593742"/>
            <a:chExt cx="2560336" cy="442605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1C50E1-B2D9-454C-B504-DE6CFCDCB689}"/>
                </a:ext>
              </a:extLst>
            </p:cNvPr>
            <p:cNvSpPr txBox="1"/>
            <p:nvPr/>
          </p:nvSpPr>
          <p:spPr>
            <a:xfrm>
              <a:off x="7467600" y="3142910"/>
              <a:ext cx="7271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-1,</a:t>
              </a:r>
            </a:p>
            <a:p>
              <a:pPr algn="ctr"/>
              <a:r>
                <a:rPr lang="en-US" altLang="zh-CN" sz="2200" dirty="0"/>
                <a:t>-1,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C5CE68-7A46-4D06-A972-F94D1F0BA169}"/>
                </a:ext>
              </a:extLst>
            </p:cNvPr>
            <p:cNvSpPr txBox="1"/>
            <p:nvPr/>
          </p:nvSpPr>
          <p:spPr>
            <a:xfrm>
              <a:off x="7696200" y="3920893"/>
              <a:ext cx="461665" cy="60668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3BFAE2-8B20-4566-933B-836DA1CED2A8}"/>
                </a:ext>
              </a:extLst>
            </p:cNvPr>
            <p:cNvSpPr txBox="1"/>
            <p:nvPr/>
          </p:nvSpPr>
          <p:spPr>
            <a:xfrm>
              <a:off x="7432778" y="4196634"/>
              <a:ext cx="9144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0.85,</a:t>
              </a:r>
            </a:p>
            <a:p>
              <a:pPr algn="ctr"/>
              <a:r>
                <a:rPr lang="en-US" altLang="zh-CN" sz="2200" dirty="0"/>
                <a:t>0.93, 1,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78B69A-4A82-46AC-863A-E0C494B10DD6}"/>
                </a:ext>
              </a:extLst>
            </p:cNvPr>
            <p:cNvSpPr txBox="1"/>
            <p:nvPr/>
          </p:nvSpPr>
          <p:spPr>
            <a:xfrm>
              <a:off x="7685425" y="5366771"/>
              <a:ext cx="461665" cy="60668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3A36248-D64D-44A6-8F1F-666B47587929}"/>
                </a:ext>
              </a:extLst>
            </p:cNvPr>
            <p:cNvSpPr txBox="1"/>
            <p:nvPr/>
          </p:nvSpPr>
          <p:spPr>
            <a:xfrm>
              <a:off x="7467600" y="5588913"/>
              <a:ext cx="7271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-1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3C685E-6081-436F-9C50-A5D69A92CE92}"/>
                </a:ext>
              </a:extLst>
            </p:cNvPr>
            <p:cNvSpPr txBox="1"/>
            <p:nvPr/>
          </p:nvSpPr>
          <p:spPr>
            <a:xfrm>
              <a:off x="6583664" y="1593742"/>
              <a:ext cx="256033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1-D array (vector) w/ size of 256</a:t>
              </a:r>
            </a:p>
            <a:p>
              <a:pPr algn="ctr"/>
              <a:r>
                <a:rPr lang="zh-CN" altLang="en-US" sz="2200" dirty="0"/>
                <a:t>大小为</a:t>
              </a:r>
              <a:r>
                <a:rPr lang="en-US" altLang="zh-CN" sz="2200" dirty="0"/>
                <a:t>256</a:t>
              </a:r>
              <a:r>
                <a:rPr lang="zh-CN" altLang="en-US" sz="2200" dirty="0"/>
                <a:t>的一维数组（向量）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9774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Define the Input </a:t>
            </a:r>
            <a:r>
              <a:rPr lang="zh-CN" altLang="en-US" dirty="0">
                <a:ea typeface="ＭＳ Ｐゴシック" panose="020B0600070205080204" pitchFamily="34" charset="-128"/>
              </a:rPr>
              <a:t>定义输入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819AE5-68B3-46C1-AD5F-305819837116}"/>
              </a:ext>
            </a:extLst>
          </p:cNvPr>
          <p:cNvSpPr txBox="1"/>
          <p:nvPr/>
        </p:nvSpPr>
        <p:spPr>
          <a:xfrm>
            <a:off x="2743200" y="1676400"/>
            <a:ext cx="365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the inputs become … </a:t>
            </a:r>
            <a:r>
              <a:rPr lang="zh-CN" altLang="en-US" sz="2200" dirty="0"/>
              <a:t>现在输入变成了</a:t>
            </a:r>
            <a:r>
              <a:rPr lang="en-US" altLang="zh-CN" sz="2200" dirty="0"/>
              <a:t>……</a:t>
            </a:r>
            <a:endParaRPr lang="zh-CN" alt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60474-2E59-42A4-96E1-68B19E050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73" y="3048000"/>
            <a:ext cx="2453853" cy="24462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AF9CB-B0C6-45EA-8236-CA78B08383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063241"/>
            <a:ext cx="2438611" cy="24309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103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Define the Input </a:t>
            </a:r>
            <a:r>
              <a:rPr lang="zh-CN" altLang="en-US" dirty="0">
                <a:ea typeface="ＭＳ Ｐゴシック" panose="020B0600070205080204" pitchFamily="34" charset="-128"/>
              </a:rPr>
              <a:t>定义输入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Many Questions </a:t>
            </a:r>
            <a:r>
              <a:rPr lang="zh-CN" altLang="en-US" dirty="0"/>
              <a:t>很多问题</a:t>
            </a:r>
            <a:endParaRPr lang="en-US" altLang="zh-CN" dirty="0"/>
          </a:p>
          <a:p>
            <a:pPr lvl="1"/>
            <a:r>
              <a:rPr lang="en-US" altLang="zh-CN" dirty="0"/>
              <a:t>Why 16x16, not 32x32, 24x24, or 8x8?</a:t>
            </a:r>
            <a:r>
              <a:rPr lang="zh-CN" altLang="en-US" dirty="0"/>
              <a:t>                                 为什么是</a:t>
            </a:r>
            <a:r>
              <a:rPr lang="en-US" altLang="zh-CN" dirty="0"/>
              <a:t>16x16</a:t>
            </a:r>
            <a:r>
              <a:rPr lang="zh-CN" altLang="en-US" dirty="0"/>
              <a:t>，而非</a:t>
            </a:r>
            <a:r>
              <a:rPr lang="en-US" altLang="zh-CN" dirty="0"/>
              <a:t>32x32</a:t>
            </a:r>
            <a:r>
              <a:rPr lang="zh-CN" altLang="en-US" dirty="0"/>
              <a:t>、</a:t>
            </a:r>
            <a:r>
              <a:rPr lang="en-US" altLang="zh-CN" dirty="0"/>
              <a:t>24x24</a:t>
            </a:r>
            <a:r>
              <a:rPr lang="zh-CN" altLang="en-US" dirty="0"/>
              <a:t>、或者</a:t>
            </a:r>
            <a:r>
              <a:rPr lang="en-US" altLang="zh-CN" dirty="0"/>
              <a:t>8x8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en-US" altLang="zh-CN" dirty="0"/>
              <a:t>Why normalizing to [-1,1], not [0,1]?            </a:t>
            </a:r>
            <a:r>
              <a:rPr lang="zh-CN" altLang="en-US" dirty="0"/>
              <a:t>为什么归一化至</a:t>
            </a:r>
            <a:r>
              <a:rPr lang="en-US" altLang="zh-CN" dirty="0"/>
              <a:t>[-1,1]</a:t>
            </a:r>
            <a:r>
              <a:rPr lang="zh-CN" altLang="en-US" dirty="0"/>
              <a:t>，而非</a:t>
            </a:r>
            <a:r>
              <a:rPr lang="en-US" altLang="zh-CN" dirty="0"/>
              <a:t>[0,1]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en-US" altLang="zh-CN" dirty="0"/>
              <a:t>Why using 1-D array (vector), not 2-D array (matrix)? </a:t>
            </a:r>
            <a:r>
              <a:rPr lang="zh-CN" altLang="en-US" dirty="0"/>
              <a:t>为什么用一维数组（向量），而非二维数组（矩阵）？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57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Define the Input </a:t>
            </a:r>
            <a:r>
              <a:rPr lang="zh-CN" altLang="en-US" dirty="0">
                <a:ea typeface="ＭＳ Ｐゴシック" panose="020B0600070205080204" pitchFamily="34" charset="-128"/>
              </a:rPr>
              <a:t>定义输入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All Those Questions Are Good        </a:t>
            </a:r>
            <a:r>
              <a:rPr lang="zh-CN" altLang="en-US" dirty="0"/>
              <a:t>这些都是好问题</a:t>
            </a:r>
            <a:endParaRPr lang="en-US" altLang="zh-CN" dirty="0"/>
          </a:p>
          <a:p>
            <a:r>
              <a:rPr lang="en-US" altLang="zh-CN" dirty="0"/>
              <a:t>We Will Answer Some of Them in the Future  </a:t>
            </a:r>
            <a:r>
              <a:rPr lang="zh-CN" altLang="en-US" dirty="0"/>
              <a:t>我们将来会回答其中一部分问题</a:t>
            </a:r>
            <a:endParaRPr lang="en-US" altLang="zh-CN" dirty="0"/>
          </a:p>
          <a:p>
            <a:pPr lvl="1"/>
            <a:r>
              <a:rPr lang="en-US" altLang="zh-CN" dirty="0"/>
              <a:t>But not all of them </a:t>
            </a:r>
            <a:r>
              <a:rPr lang="zh-CN" altLang="en-US" dirty="0"/>
              <a:t>但不是所有的问题</a:t>
            </a:r>
            <a:endParaRPr lang="en-US" altLang="zh-CN" dirty="0"/>
          </a:p>
          <a:p>
            <a:pPr lvl="2"/>
            <a:r>
              <a:rPr lang="en-US" altLang="zh-CN" dirty="0"/>
              <a:t>For example, why not 32x32 or 24x24?         </a:t>
            </a:r>
            <a:r>
              <a:rPr lang="zh-CN" altLang="en-US" dirty="0"/>
              <a:t>例如，为什么不是</a:t>
            </a:r>
            <a:r>
              <a:rPr lang="en-US" altLang="zh-CN" dirty="0"/>
              <a:t>32x32</a:t>
            </a:r>
            <a:r>
              <a:rPr lang="zh-CN" altLang="en-US" dirty="0"/>
              <a:t>或</a:t>
            </a:r>
            <a:r>
              <a:rPr lang="en-US" altLang="zh-CN" dirty="0"/>
              <a:t>24x24</a:t>
            </a:r>
            <a:r>
              <a:rPr lang="zh-CN" altLang="en-US" dirty="0"/>
              <a:t>？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521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Define the Output </a:t>
            </a:r>
            <a:r>
              <a:rPr lang="zh-CN" altLang="en-US" dirty="0">
                <a:ea typeface="ＭＳ Ｐゴシック" panose="020B0600070205080204" pitchFamily="34" charset="-128"/>
              </a:rPr>
              <a:t>定义输出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It’s Easy </a:t>
            </a:r>
            <a:r>
              <a:rPr lang="zh-CN" altLang="en-US" dirty="0"/>
              <a:t>这很简单</a:t>
            </a:r>
            <a:endParaRPr lang="en-US" altLang="zh-CN" dirty="0"/>
          </a:p>
          <a:p>
            <a:pPr lvl="1"/>
            <a:r>
              <a:rPr lang="en-US" altLang="zh-CN" dirty="0"/>
              <a:t>One of {1,2,…,10}  {1,2,..,10}</a:t>
            </a:r>
            <a:r>
              <a:rPr lang="zh-CN" altLang="en-US" dirty="0"/>
              <a:t>中的某一个</a:t>
            </a:r>
            <a:endParaRPr lang="en-US" altLang="zh-CN" dirty="0"/>
          </a:p>
          <a:p>
            <a:pPr lvl="2"/>
            <a:r>
              <a:rPr lang="en-US" altLang="zh-CN" dirty="0"/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‘0’, 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‘1’, …, 10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‘9’</a:t>
            </a:r>
          </a:p>
          <a:p>
            <a:r>
              <a:rPr lang="en-US" altLang="zh-CN" dirty="0"/>
              <a:t>Sounds Confusing? </a:t>
            </a:r>
            <a:r>
              <a:rPr lang="zh-CN" altLang="en-US" dirty="0"/>
              <a:t>听上去有点错乱？</a:t>
            </a:r>
            <a:endParaRPr lang="en-US" altLang="zh-CN" dirty="0"/>
          </a:p>
          <a:p>
            <a:pPr lvl="1"/>
            <a:r>
              <a:rPr lang="en-US" altLang="zh-CN" dirty="0"/>
              <a:t>Why not one of {0,…,9}?                        </a:t>
            </a:r>
            <a:r>
              <a:rPr lang="zh-CN" altLang="en-US" dirty="0"/>
              <a:t>为什么不是</a:t>
            </a:r>
            <a:r>
              <a:rPr lang="en-US" altLang="zh-CN" dirty="0"/>
              <a:t>{0,…,9}</a:t>
            </a:r>
            <a:r>
              <a:rPr lang="zh-CN" altLang="en-US" dirty="0"/>
              <a:t>中的某一个？</a:t>
            </a:r>
            <a:endParaRPr lang="en-US" altLang="zh-CN" dirty="0"/>
          </a:p>
          <a:p>
            <a:pPr lvl="2"/>
            <a:r>
              <a:rPr lang="en-US" altLang="zh-CN" dirty="0"/>
              <a:t>Yes, you can certainly do that!                        </a:t>
            </a:r>
            <a:r>
              <a:rPr lang="zh-CN" altLang="en-US" dirty="0"/>
              <a:t>对，你当然可以这样定义！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972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2.1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2.1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get a feeling about the problem</a:t>
            </a:r>
          </a:p>
          <a:p>
            <a:pPr algn="ctr"/>
            <a:r>
              <a:rPr lang="zh-CN" altLang="en-US" sz="2200" dirty="0"/>
              <a:t>实践时刻：感受这个问题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Read the data &amp; visualize the data</a:t>
            </a:r>
          </a:p>
          <a:p>
            <a:pPr algn="ctr"/>
            <a:r>
              <a:rPr lang="zh-CN" altLang="en-US" sz="2200" dirty="0"/>
              <a:t>读取数据并呈现之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527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What’s the Program </a:t>
            </a:r>
            <a:r>
              <a:rPr lang="zh-CN" altLang="en-US" dirty="0">
                <a:ea typeface="ＭＳ Ｐゴシック" panose="020B0600070205080204" pitchFamily="34" charset="-128"/>
              </a:rPr>
              <a:t>程序是什么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575A4-2B70-4D1D-8552-17993E76B7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911971"/>
            <a:ext cx="990599" cy="987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697B44-1193-40D9-B50E-98F6A9944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398" y="2438400"/>
            <a:ext cx="3202219" cy="176866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0856FADF-8BF2-4D86-847D-0E845C84B184}"/>
              </a:ext>
            </a:extLst>
          </p:cNvPr>
          <p:cNvSpPr/>
          <p:nvPr/>
        </p:nvSpPr>
        <p:spPr bwMode="auto">
          <a:xfrm>
            <a:off x="6402617" y="3034353"/>
            <a:ext cx="990599" cy="57676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07014E-ED42-40C3-8645-9350A25ED2D1}"/>
              </a:ext>
            </a:extLst>
          </p:cNvPr>
          <p:cNvSpPr txBox="1"/>
          <p:nvPr/>
        </p:nvSpPr>
        <p:spPr>
          <a:xfrm>
            <a:off x="7377976" y="3148780"/>
            <a:ext cx="5035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4</a:t>
            </a:r>
            <a:endParaRPr lang="zh-CN" altLang="en-US" sz="2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DF6774-0BA1-4245-82A7-FB9D7ADB1413}"/>
              </a:ext>
            </a:extLst>
          </p:cNvPr>
          <p:cNvSpPr/>
          <p:nvPr/>
        </p:nvSpPr>
        <p:spPr>
          <a:xfrm>
            <a:off x="4038600" y="1411337"/>
            <a:ext cx="1790876" cy="37702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3900" b="0" cap="none" spc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2F0F0CB-345E-468C-A033-EBF8CFE6A8D0}"/>
              </a:ext>
            </a:extLst>
          </p:cNvPr>
          <p:cNvSpPr/>
          <p:nvPr/>
        </p:nvSpPr>
        <p:spPr bwMode="auto">
          <a:xfrm>
            <a:off x="2209799" y="3004640"/>
            <a:ext cx="990599" cy="57676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245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930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 </a:t>
            </a:r>
            <a:r>
              <a:rPr lang="zh-CN" altLang="en-US" dirty="0">
                <a:ea typeface="ＭＳ Ｐゴシック" panose="020B0600070205080204" pitchFamily="34" charset="-128"/>
              </a:rPr>
              <a:t>回忆一下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9425C2-B0E2-41AF-810E-2B481F8D6691}"/>
              </a:ext>
            </a:extLst>
          </p:cNvPr>
          <p:cNvGrpSpPr/>
          <p:nvPr/>
        </p:nvGrpSpPr>
        <p:grpSpPr>
          <a:xfrm>
            <a:off x="698571" y="2429932"/>
            <a:ext cx="7759629" cy="1082709"/>
            <a:chOff x="698571" y="2667000"/>
            <a:chExt cx="7759629" cy="108270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7D32E0E-8721-42C4-9614-7FF3ABE5C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571" y="2680855"/>
              <a:ext cx="3886742" cy="106885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347D92B-C3C2-4738-AE22-36D949641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1458" y="2667000"/>
              <a:ext cx="3886742" cy="1080286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8D71A0E-AA37-418B-8A32-D36D23D98142}"/>
              </a:ext>
            </a:extLst>
          </p:cNvPr>
          <p:cNvSpPr txBox="1"/>
          <p:nvPr/>
        </p:nvSpPr>
        <p:spPr>
          <a:xfrm>
            <a:off x="255767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Machine Learning: technology to program a system to behave through imitation  </a:t>
            </a:r>
            <a:r>
              <a:rPr lang="zh-CN" altLang="en-US" sz="2200" dirty="0"/>
              <a:t>机器学习：一种令系统通过模仿而行动的技术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110938-3A55-41D4-AAEF-C6AA66AC2F34}"/>
              </a:ext>
            </a:extLst>
          </p:cNvPr>
          <p:cNvSpPr txBox="1"/>
          <p:nvPr/>
        </p:nvSpPr>
        <p:spPr>
          <a:xfrm>
            <a:off x="239202" y="38100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 in contrast to programming a system to behave explicitly</a:t>
            </a:r>
          </a:p>
          <a:p>
            <a:pPr algn="ctr"/>
            <a:r>
              <a:rPr lang="en-US" altLang="zh-CN" sz="2200" dirty="0"/>
              <a:t>……</a:t>
            </a:r>
            <a:r>
              <a:rPr lang="zh-CN" altLang="en-US" sz="2200" dirty="0"/>
              <a:t>不同于令系统显式地遵照编程指令行动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9C24627-83DF-4245-9FDA-02EBE6C7A3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125" y="4648200"/>
            <a:ext cx="3727133" cy="14487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523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3A8AEE23-ADB0-4F13-BFA2-92A975027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890" y="4099022"/>
            <a:ext cx="3202219" cy="17686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Rote Learning </a:t>
            </a:r>
            <a:r>
              <a:rPr lang="zh-CN" altLang="en-US" dirty="0">
                <a:ea typeface="ＭＳ Ｐゴシック" panose="020B0600070205080204" pitchFamily="34" charset="-128"/>
              </a:rPr>
              <a:t>死记硬背的学习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439AD5-27E6-46EE-93C1-AA5E1BF90F6C}"/>
              </a:ext>
            </a:extLst>
          </p:cNvPr>
          <p:cNvGrpSpPr/>
          <p:nvPr/>
        </p:nvGrpSpPr>
        <p:grpSpPr>
          <a:xfrm>
            <a:off x="3810000" y="4114800"/>
            <a:ext cx="1619909" cy="1935690"/>
            <a:chOff x="3230876" y="2476843"/>
            <a:chExt cx="1619909" cy="193569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1E185D2-E880-476C-8BD1-B1E5AA20B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8031" y="2843577"/>
              <a:ext cx="297206" cy="32006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FB7F0C5-B45B-44B9-9C81-FEF7FE35B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0876" y="2476843"/>
              <a:ext cx="388654" cy="35817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824B6FB-9027-4A58-99A1-45EA6C117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1840" y="3150082"/>
              <a:ext cx="373412" cy="3505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F833589-B07D-4D00-92F1-F5F9EABB4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0028" y="3512788"/>
              <a:ext cx="350550" cy="373412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F727A508-B480-4D9E-84B8-2DC4C7685768}"/>
                </a:ext>
              </a:extLst>
            </p:cNvPr>
            <p:cNvSpPr/>
            <p:nvPr/>
          </p:nvSpPr>
          <p:spPr bwMode="auto">
            <a:xfrm>
              <a:off x="3665252" y="2595041"/>
              <a:ext cx="685800" cy="17908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FD8E5784-A23A-4791-AEF7-6AF031D0A6FF}"/>
                </a:ext>
              </a:extLst>
            </p:cNvPr>
            <p:cNvSpPr/>
            <p:nvPr/>
          </p:nvSpPr>
          <p:spPr bwMode="auto">
            <a:xfrm>
              <a:off x="3665252" y="2944510"/>
              <a:ext cx="685800" cy="17908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410D0A92-560E-445F-9155-CD2BAF86168E}"/>
                </a:ext>
              </a:extLst>
            </p:cNvPr>
            <p:cNvSpPr/>
            <p:nvPr/>
          </p:nvSpPr>
          <p:spPr bwMode="auto">
            <a:xfrm>
              <a:off x="3669061" y="3297475"/>
              <a:ext cx="685800" cy="17908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9FAFF958-4956-4F0E-8DD7-F10F7618460A}"/>
                </a:ext>
              </a:extLst>
            </p:cNvPr>
            <p:cNvSpPr/>
            <p:nvPr/>
          </p:nvSpPr>
          <p:spPr bwMode="auto">
            <a:xfrm>
              <a:off x="3669061" y="3630914"/>
              <a:ext cx="685800" cy="17908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953E2C-32F6-4621-9FA9-63CDF3573719}"/>
                </a:ext>
              </a:extLst>
            </p:cNvPr>
            <p:cNvSpPr txBox="1"/>
            <p:nvPr/>
          </p:nvSpPr>
          <p:spPr>
            <a:xfrm>
              <a:off x="4351052" y="2501754"/>
              <a:ext cx="4136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solidFill>
                    <a:srgbClr val="FFFF00"/>
                  </a:solidFill>
                </a:rPr>
                <a:t>2</a:t>
              </a:r>
              <a:endParaRPr lang="zh-CN" altLang="en-US" sz="2200" dirty="0">
                <a:solidFill>
                  <a:srgbClr val="FFFF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9194690-1905-4DA8-AE5F-C3FEE17F172B}"/>
                </a:ext>
              </a:extLst>
            </p:cNvPr>
            <p:cNvSpPr txBox="1"/>
            <p:nvPr/>
          </p:nvSpPr>
          <p:spPr>
            <a:xfrm>
              <a:off x="4340222" y="2820548"/>
              <a:ext cx="4136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solidFill>
                    <a:srgbClr val="FFFF00"/>
                  </a:solidFill>
                </a:rPr>
                <a:t>1</a:t>
              </a:r>
              <a:endParaRPr lang="zh-CN" altLang="en-US" sz="2200" dirty="0">
                <a:solidFill>
                  <a:srgbClr val="FFFF0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C5087CD-CA81-4D1F-B3DD-BF174F96DD95}"/>
                </a:ext>
              </a:extLst>
            </p:cNvPr>
            <p:cNvSpPr txBox="1"/>
            <p:nvPr/>
          </p:nvSpPr>
          <p:spPr>
            <a:xfrm>
              <a:off x="4340221" y="3206374"/>
              <a:ext cx="4136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solidFill>
                    <a:srgbClr val="FFFF00"/>
                  </a:solidFill>
                </a:rPr>
                <a:t>4</a:t>
              </a:r>
              <a:endParaRPr lang="zh-CN" altLang="en-US" sz="2200" dirty="0">
                <a:solidFill>
                  <a:srgbClr val="FFFF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F9FCD76-0A7F-4E2E-B666-CF82C00C05D4}"/>
                </a:ext>
              </a:extLst>
            </p:cNvPr>
            <p:cNvSpPr txBox="1"/>
            <p:nvPr/>
          </p:nvSpPr>
          <p:spPr>
            <a:xfrm>
              <a:off x="4344562" y="3531513"/>
              <a:ext cx="4136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solidFill>
                    <a:srgbClr val="FFFF00"/>
                  </a:solidFill>
                </a:rPr>
                <a:t>6</a:t>
              </a:r>
              <a:endParaRPr lang="zh-CN" altLang="en-US" sz="2200" dirty="0">
                <a:solidFill>
                  <a:srgbClr val="FFFF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59CD0D-723E-4C28-A637-54D7F7D3C0DA}"/>
                </a:ext>
              </a:extLst>
            </p:cNvPr>
            <p:cNvSpPr txBox="1"/>
            <p:nvPr/>
          </p:nvSpPr>
          <p:spPr>
            <a:xfrm>
              <a:off x="3288031" y="3945719"/>
              <a:ext cx="461665" cy="4653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>
                  <a:solidFill>
                    <a:srgbClr val="FFFF00"/>
                  </a:solidFill>
                </a:rPr>
                <a:t>…</a:t>
              </a:r>
              <a:endParaRPr lang="zh-CN" altLang="en-US" dirty="0">
                <a:solidFill>
                  <a:srgbClr val="FFFF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4C31957-5EA6-414F-ABEB-AE59380CA8EC}"/>
                </a:ext>
              </a:extLst>
            </p:cNvPr>
            <p:cNvSpPr txBox="1"/>
            <p:nvPr/>
          </p:nvSpPr>
          <p:spPr>
            <a:xfrm>
              <a:off x="4389120" y="3947160"/>
              <a:ext cx="461665" cy="4653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>
                  <a:solidFill>
                    <a:srgbClr val="FFFF00"/>
                  </a:solidFill>
                </a:rPr>
                <a:t>…</a:t>
              </a:r>
              <a:endParaRPr lang="zh-CN" altLang="en-US" dirty="0">
                <a:solidFill>
                  <a:srgbClr val="FFFF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C449B2-F407-49FF-B050-396B3419D6E4}"/>
                </a:ext>
              </a:extLst>
            </p:cNvPr>
            <p:cNvSpPr txBox="1"/>
            <p:nvPr/>
          </p:nvSpPr>
          <p:spPr>
            <a:xfrm>
              <a:off x="3855720" y="3947160"/>
              <a:ext cx="461665" cy="4653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>
                  <a:solidFill>
                    <a:srgbClr val="FFFF00"/>
                  </a:solidFill>
                </a:rPr>
                <a:t>…</a:t>
              </a:r>
              <a:endParaRPr lang="zh-CN" altLang="en-US" dirty="0">
                <a:solidFill>
                  <a:srgbClr val="FFFF00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9727DF3-0FAD-445D-A35C-1B233C3C30A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658" y="1512760"/>
            <a:ext cx="1687901" cy="1572997"/>
          </a:xfrm>
          <a:prstGeom prst="rect">
            <a:avLst/>
          </a:prstGeom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852AF5DD-E96F-4103-91C6-19D5DCE15CB2}"/>
              </a:ext>
            </a:extLst>
          </p:cNvPr>
          <p:cNvSpPr/>
          <p:nvPr/>
        </p:nvSpPr>
        <p:spPr bwMode="auto">
          <a:xfrm>
            <a:off x="2342739" y="2185195"/>
            <a:ext cx="990599" cy="57676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DD9AE16-C449-4D07-975C-CC959B77E174}"/>
              </a:ext>
            </a:extLst>
          </p:cNvPr>
          <p:cNvSpPr/>
          <p:nvPr/>
        </p:nvSpPr>
        <p:spPr bwMode="auto">
          <a:xfrm>
            <a:off x="4267200" y="3238158"/>
            <a:ext cx="609600" cy="80451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8B1A5FB-84BB-4345-AB4F-8EC4E9B1C5FF}"/>
              </a:ext>
            </a:extLst>
          </p:cNvPr>
          <p:cNvGrpSpPr/>
          <p:nvPr/>
        </p:nvGrpSpPr>
        <p:grpSpPr>
          <a:xfrm>
            <a:off x="685800" y="1905000"/>
            <a:ext cx="1619909" cy="1935690"/>
            <a:chOff x="3230876" y="2476843"/>
            <a:chExt cx="1619909" cy="193569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038A503-3A6D-482F-B955-94A45D992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8031" y="2843577"/>
              <a:ext cx="297206" cy="320068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0CDEE72-43E8-4CB6-87DB-FEE20764E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0876" y="2476843"/>
              <a:ext cx="388654" cy="358171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29C9E94-C01F-4BD1-AD73-0D8F91DA7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1840" y="3150082"/>
              <a:ext cx="373412" cy="35055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99CAA81-778A-4BC7-B7F6-2996F159F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0028" y="3512788"/>
              <a:ext cx="350550" cy="373412"/>
            </a:xfrm>
            <a:prstGeom prst="rect">
              <a:avLst/>
            </a:prstGeom>
          </p:spPr>
        </p:pic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C273EF71-1261-4628-A461-8BD2D6C58E87}"/>
                </a:ext>
              </a:extLst>
            </p:cNvPr>
            <p:cNvSpPr/>
            <p:nvPr/>
          </p:nvSpPr>
          <p:spPr bwMode="auto">
            <a:xfrm>
              <a:off x="3665252" y="2595041"/>
              <a:ext cx="685800" cy="17908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6C06E24F-9359-4316-A723-86CD51BA072B}"/>
                </a:ext>
              </a:extLst>
            </p:cNvPr>
            <p:cNvSpPr/>
            <p:nvPr/>
          </p:nvSpPr>
          <p:spPr bwMode="auto">
            <a:xfrm>
              <a:off x="3665252" y="2944510"/>
              <a:ext cx="685800" cy="17908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E895CC83-59DC-4CE3-BC63-D55242BA3DB7}"/>
                </a:ext>
              </a:extLst>
            </p:cNvPr>
            <p:cNvSpPr/>
            <p:nvPr/>
          </p:nvSpPr>
          <p:spPr bwMode="auto">
            <a:xfrm>
              <a:off x="3669061" y="3297475"/>
              <a:ext cx="685800" cy="17908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17173245-EBCC-4790-B0B0-A2049639B7F4}"/>
                </a:ext>
              </a:extLst>
            </p:cNvPr>
            <p:cNvSpPr/>
            <p:nvPr/>
          </p:nvSpPr>
          <p:spPr bwMode="auto">
            <a:xfrm>
              <a:off x="3669061" y="3630914"/>
              <a:ext cx="685800" cy="17908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E5DC7AB-1735-4FE0-BD1A-AD1B5C8A502D}"/>
                </a:ext>
              </a:extLst>
            </p:cNvPr>
            <p:cNvSpPr txBox="1"/>
            <p:nvPr/>
          </p:nvSpPr>
          <p:spPr>
            <a:xfrm>
              <a:off x="4351052" y="2501754"/>
              <a:ext cx="4136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2</a:t>
              </a:r>
              <a:endParaRPr lang="zh-CN" altLang="en-US" sz="22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1AA935D-A935-4125-8E1C-7566685EA2A8}"/>
                </a:ext>
              </a:extLst>
            </p:cNvPr>
            <p:cNvSpPr txBox="1"/>
            <p:nvPr/>
          </p:nvSpPr>
          <p:spPr>
            <a:xfrm>
              <a:off x="4340222" y="2820548"/>
              <a:ext cx="4136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1</a:t>
              </a:r>
              <a:endParaRPr lang="zh-CN" altLang="en-US" sz="2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88F644-BA7E-4523-8EC3-3DEA824D0043}"/>
                </a:ext>
              </a:extLst>
            </p:cNvPr>
            <p:cNvSpPr txBox="1"/>
            <p:nvPr/>
          </p:nvSpPr>
          <p:spPr>
            <a:xfrm>
              <a:off x="4340221" y="3206374"/>
              <a:ext cx="4136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4</a:t>
              </a:r>
              <a:endParaRPr lang="zh-CN" altLang="en-US" sz="2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27EE806-8A05-4FEB-8A86-3B1E209C0594}"/>
                </a:ext>
              </a:extLst>
            </p:cNvPr>
            <p:cNvSpPr txBox="1"/>
            <p:nvPr/>
          </p:nvSpPr>
          <p:spPr>
            <a:xfrm>
              <a:off x="4344562" y="3531513"/>
              <a:ext cx="41367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6</a:t>
              </a:r>
              <a:endParaRPr lang="zh-CN" altLang="en-US" sz="2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B89B85F-4AA5-4AE6-A231-59EEB9ECBCD5}"/>
                </a:ext>
              </a:extLst>
            </p:cNvPr>
            <p:cNvSpPr txBox="1"/>
            <p:nvPr/>
          </p:nvSpPr>
          <p:spPr>
            <a:xfrm>
              <a:off x="3288031" y="3945719"/>
              <a:ext cx="461665" cy="4653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B33E96-9881-49BF-B97D-02BD3CD4DFE2}"/>
                </a:ext>
              </a:extLst>
            </p:cNvPr>
            <p:cNvSpPr txBox="1"/>
            <p:nvPr/>
          </p:nvSpPr>
          <p:spPr>
            <a:xfrm>
              <a:off x="4389120" y="3947160"/>
              <a:ext cx="461665" cy="4653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082A66-74D9-47A1-A401-D1C22820C9BA}"/>
                </a:ext>
              </a:extLst>
            </p:cNvPr>
            <p:cNvSpPr txBox="1"/>
            <p:nvPr/>
          </p:nvSpPr>
          <p:spPr>
            <a:xfrm>
              <a:off x="3855720" y="3947160"/>
              <a:ext cx="461665" cy="46537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EF4CAA20-4DB7-42BA-B65E-3CAEC5B7C4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46" y="4747229"/>
            <a:ext cx="388654" cy="358171"/>
          </a:xfrm>
          <a:prstGeom prst="rect">
            <a:avLst/>
          </a:prstGeom>
        </p:spPr>
      </p:pic>
      <p:sp>
        <p:nvSpPr>
          <p:cNvPr id="50" name="Arrow: Right 49">
            <a:extLst>
              <a:ext uri="{FF2B5EF4-FFF2-40B4-BE49-F238E27FC236}">
                <a16:creationId xmlns:a16="http://schemas.microsoft.com/office/drawing/2014/main" id="{3DC83784-52B6-4BED-995A-A64D783B5CD9}"/>
              </a:ext>
            </a:extLst>
          </p:cNvPr>
          <p:cNvSpPr/>
          <p:nvPr/>
        </p:nvSpPr>
        <p:spPr bwMode="auto">
          <a:xfrm>
            <a:off x="1882155" y="4648200"/>
            <a:ext cx="990599" cy="57676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F8F0C832-7057-4ADD-9B38-059A1B2C475B}"/>
              </a:ext>
            </a:extLst>
          </p:cNvPr>
          <p:cNvSpPr/>
          <p:nvPr/>
        </p:nvSpPr>
        <p:spPr bwMode="auto">
          <a:xfrm>
            <a:off x="6172200" y="4681040"/>
            <a:ext cx="990599" cy="57676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D965D0-B216-4C1B-898C-42D5F3FA63D1}"/>
              </a:ext>
            </a:extLst>
          </p:cNvPr>
          <p:cNvSpPr txBox="1"/>
          <p:nvPr/>
        </p:nvSpPr>
        <p:spPr>
          <a:xfrm>
            <a:off x="7162799" y="4767911"/>
            <a:ext cx="413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861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8" grpId="0" animBg="1"/>
      <p:bldP spid="50" grpId="0" animBg="1"/>
      <p:bldP spid="51" grpId="0" animBg="1"/>
      <p:bldP spid="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Illustrative Example </a:t>
            </a:r>
            <a:r>
              <a:rPr lang="zh-CN" altLang="en-US" dirty="0">
                <a:ea typeface="SimSun" panose="02010600030101010101" pitchFamily="2" charset="-122"/>
              </a:rPr>
              <a:t>说明用例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</p:txBody>
      </p:sp>
      <p:graphicFrame>
        <p:nvGraphicFramePr>
          <p:cNvPr id="514172" name="Group 124"/>
          <p:cNvGraphicFramePr>
            <a:graphicFrameLocks noGrp="1"/>
          </p:cNvGraphicFramePr>
          <p:nvPr/>
        </p:nvGraphicFramePr>
        <p:xfrm>
          <a:off x="762000" y="2290762"/>
          <a:ext cx="7467600" cy="30480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62000" y="5371909"/>
          <a:ext cx="7467600" cy="304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*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?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228600" y="3962400"/>
            <a:ext cx="533401" cy="1561909"/>
            <a:chOff x="228600" y="3962399"/>
            <a:chExt cx="533401" cy="1561909"/>
          </a:xfrm>
        </p:grpSpPr>
        <p:cxnSp>
          <p:nvCxnSpPr>
            <p:cNvPr id="6" name="Elbow Connector 5"/>
            <p:cNvCxnSpPr>
              <a:endCxn id="2" idx="1"/>
            </p:cNvCxnSpPr>
            <p:nvPr/>
          </p:nvCxnSpPr>
          <p:spPr bwMode="auto">
            <a:xfrm rot="16200000" flipH="1">
              <a:off x="-285654" y="4476654"/>
              <a:ext cx="1561909" cy="533400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Straight Arrow Connector 9"/>
            <p:cNvCxnSpPr/>
            <p:nvPr/>
          </p:nvCxnSpPr>
          <p:spPr bwMode="auto">
            <a:xfrm>
              <a:off x="228600" y="3962399"/>
              <a:ext cx="5334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66549" y="5359696"/>
          <a:ext cx="7467600" cy="304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*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2C944F0-0341-4662-B687-259AD8FB6B32}"/>
              </a:ext>
            </a:extLst>
          </p:cNvPr>
          <p:cNvSpPr txBox="1"/>
          <p:nvPr/>
        </p:nvSpPr>
        <p:spPr>
          <a:xfrm>
            <a:off x="838200" y="1463745"/>
            <a:ext cx="7467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Records of 9 patients seeing doctors to check whether they catch cold  9</a:t>
            </a:r>
            <a:r>
              <a:rPr lang="zh-CN" altLang="en-US" sz="2200" dirty="0"/>
              <a:t>个去看医生诊断是否感冒的病例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965C162-7EEF-4D51-B118-5466DBE3FD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9552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2.2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2.2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rote learning</a:t>
            </a:r>
          </a:p>
          <a:p>
            <a:pPr algn="ctr"/>
            <a:r>
              <a:rPr lang="zh-CN" altLang="en-US" sz="2200" dirty="0"/>
              <a:t>实践时刻：尝试死记硬背的学习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rote learning to recognize handwritten ZIP codes</a:t>
            </a:r>
          </a:p>
          <a:p>
            <a:pPr algn="ctr"/>
            <a:r>
              <a:rPr lang="zh-CN" altLang="en-US" sz="2200" dirty="0"/>
              <a:t>用死记硬背的学习进行手写邮政编码识别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959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Weakness </a:t>
            </a:r>
            <a:r>
              <a:rPr lang="zh-CN" altLang="en-US" dirty="0">
                <a:ea typeface="SimSun" panose="02010600030101010101" pitchFamily="2" charset="-122"/>
              </a:rPr>
              <a:t>弱点 </a:t>
            </a:r>
            <a:r>
              <a:rPr lang="en-US" altLang="zh-CN" dirty="0">
                <a:ea typeface="SimSun" panose="02010600030101010101" pitchFamily="2" charset="-122"/>
              </a:rPr>
              <a:t>(1)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</p:txBody>
      </p:sp>
      <p:graphicFrame>
        <p:nvGraphicFramePr>
          <p:cNvPr id="514172" name="Group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479576"/>
              </p:ext>
            </p:extLst>
          </p:nvPr>
        </p:nvGraphicFramePr>
        <p:xfrm>
          <a:off x="762000" y="1850136"/>
          <a:ext cx="7467600" cy="30480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312438"/>
              </p:ext>
            </p:extLst>
          </p:nvPr>
        </p:nvGraphicFramePr>
        <p:xfrm>
          <a:off x="762000" y="4925568"/>
          <a:ext cx="7467600" cy="304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*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???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590675" y="5353788"/>
            <a:ext cx="596265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Cannot </a:t>
            </a:r>
            <a:r>
              <a:rPr lang="en-US" altLang="ja-JP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generalize</a:t>
            </a:r>
            <a:r>
              <a:rPr lang="en-US" altLang="ja-JP" sz="2200" dirty="0">
                <a:ea typeface="ＭＳ Ｐゴシック" panose="020B0600070205080204" pitchFamily="34" charset="-128"/>
              </a:rPr>
              <a:t> to unseen data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不能</a:t>
            </a:r>
            <a:r>
              <a:rPr lang="zh-CN" altLang="en-US" sz="22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推广</a:t>
            </a:r>
            <a:r>
              <a:rPr lang="zh-CN" altLang="en-US" sz="2200" dirty="0">
                <a:ea typeface="ＭＳ Ｐゴシック" panose="020B0600070205080204" pitchFamily="34" charset="-128"/>
              </a:rPr>
              <a:t>到没见过的数据上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7856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Weakness </a:t>
            </a:r>
            <a:r>
              <a:rPr lang="zh-CN" altLang="en-US" dirty="0">
                <a:ea typeface="SimSun" panose="02010600030101010101" pitchFamily="2" charset="-122"/>
              </a:rPr>
              <a:t>弱点 </a:t>
            </a:r>
            <a:r>
              <a:rPr lang="en-US" altLang="zh-CN" dirty="0">
                <a:ea typeface="SimSun" panose="02010600030101010101" pitchFamily="2" charset="-122"/>
              </a:rPr>
              <a:t>(2)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D7193-7C85-410E-A5D7-D06DF4CFF87F}"/>
              </a:ext>
            </a:extLst>
          </p:cNvPr>
          <p:cNvSpPr txBox="1"/>
          <p:nvPr/>
        </p:nvSpPr>
        <p:spPr>
          <a:xfrm>
            <a:off x="266700" y="5024742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题海战术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EBE84-62DB-469B-9A86-E52FD624C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835" y="1905000"/>
            <a:ext cx="3810330" cy="28577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114206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Complexity </a:t>
            </a:r>
            <a:r>
              <a:rPr lang="zh-CN" altLang="en-US" dirty="0">
                <a:ea typeface="SimSun" panose="02010600030101010101" pitchFamily="2" charset="-122"/>
              </a:rPr>
              <a:t>复杂度 </a:t>
            </a:r>
            <a:r>
              <a:rPr lang="en-US" altLang="zh-CN" dirty="0">
                <a:ea typeface="SimSun" panose="02010600030101010101" pitchFamily="2" charset="-122"/>
              </a:rPr>
              <a:t>(1)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491038"/>
          </a:xfrm>
        </p:spPr>
        <p:txBody>
          <a:bodyPr/>
          <a:lstStyle/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</p:txBody>
      </p:sp>
      <p:graphicFrame>
        <p:nvGraphicFramePr>
          <p:cNvPr id="514172" name="Group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664493"/>
              </p:ext>
            </p:extLst>
          </p:nvPr>
        </p:nvGraphicFramePr>
        <p:xfrm>
          <a:off x="838199" y="2685666"/>
          <a:ext cx="7467600" cy="1828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 gridSpan="7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…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83A59B0-78F7-4435-80E4-EEAB008AD6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AF00D-4F95-4DC0-B6AD-6BAB9A99C9C4}"/>
              </a:ext>
            </a:extLst>
          </p:cNvPr>
          <p:cNvSpPr txBox="1"/>
          <p:nvPr/>
        </p:nvSpPr>
        <p:spPr>
          <a:xfrm>
            <a:off x="952499" y="1474635"/>
            <a:ext cx="72390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Think abstractly, computer does not know the semantics of diagnosis, but only Boolean values</a:t>
            </a:r>
          </a:p>
          <a:p>
            <a:pPr algn="ctr"/>
            <a:r>
              <a:rPr lang="zh-CN" altLang="en-US" sz="2200" dirty="0"/>
              <a:t>抽象思维，计算机不知道诊断的含义，只知道布尔值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2ACFC-528B-48DE-B377-731DB9DAB014}"/>
              </a:ext>
            </a:extLst>
          </p:cNvPr>
          <p:cNvSpPr txBox="1"/>
          <p:nvPr/>
        </p:nvSpPr>
        <p:spPr>
          <a:xfrm>
            <a:off x="537209" y="4678091"/>
            <a:ext cx="80695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5 Boolean attributes, how many unique inputs are possible? 5</a:t>
            </a:r>
            <a:r>
              <a:rPr lang="zh-CN" altLang="en-US" sz="2200" dirty="0"/>
              <a:t>个布尔属性，不同的输入一共可能有多少种？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1AD6C7-B9AB-484D-BC41-90EBC9CC0C96}"/>
              </a:ext>
            </a:extLst>
          </p:cNvPr>
          <p:cNvSpPr txBox="1"/>
          <p:nvPr/>
        </p:nvSpPr>
        <p:spPr>
          <a:xfrm>
            <a:off x="521969" y="5447532"/>
            <a:ext cx="8069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2x2x2x2x2=2</a:t>
            </a:r>
            <a:r>
              <a:rPr lang="en-US" altLang="zh-CN" sz="2200" baseline="30000" dirty="0"/>
              <a:t>5</a:t>
            </a:r>
            <a:r>
              <a:rPr lang="en-US" altLang="zh-CN" sz="2200" dirty="0"/>
              <a:t>=32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43674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Complexity </a:t>
            </a:r>
            <a:r>
              <a:rPr lang="zh-CN" altLang="en-US" dirty="0">
                <a:ea typeface="SimSun" panose="02010600030101010101" pitchFamily="2" charset="-122"/>
              </a:rPr>
              <a:t>复杂度 </a:t>
            </a:r>
            <a:r>
              <a:rPr lang="en-US" altLang="zh-CN" dirty="0">
                <a:ea typeface="SimSun" panose="02010600030101010101" pitchFamily="2" charset="-122"/>
              </a:rPr>
              <a:t>(1)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491038"/>
          </a:xfrm>
        </p:spPr>
        <p:txBody>
          <a:bodyPr/>
          <a:lstStyle/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</p:txBody>
      </p:sp>
      <p:graphicFrame>
        <p:nvGraphicFramePr>
          <p:cNvPr id="514172" name="Group 124"/>
          <p:cNvGraphicFramePr>
            <a:graphicFrameLocks noGrp="1"/>
          </p:cNvGraphicFramePr>
          <p:nvPr/>
        </p:nvGraphicFramePr>
        <p:xfrm>
          <a:off x="838199" y="2685666"/>
          <a:ext cx="7467600" cy="1828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 gridSpan="7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…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83A59B0-78F7-4435-80E4-EEAB008AD6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AF00D-4F95-4DC0-B6AD-6BAB9A99C9C4}"/>
              </a:ext>
            </a:extLst>
          </p:cNvPr>
          <p:cNvSpPr txBox="1"/>
          <p:nvPr/>
        </p:nvSpPr>
        <p:spPr>
          <a:xfrm>
            <a:off x="952499" y="1474635"/>
            <a:ext cx="72390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Think abstractly, computer does not know the semantics of diagnosis, but only Boolean values</a:t>
            </a:r>
          </a:p>
          <a:p>
            <a:pPr algn="ctr"/>
            <a:r>
              <a:rPr lang="zh-CN" altLang="en-US" sz="2200" dirty="0"/>
              <a:t>抽象思维，计算机不知道诊断的含义，只知道布尔值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2ACFC-528B-48DE-B377-731DB9DAB014}"/>
              </a:ext>
            </a:extLst>
          </p:cNvPr>
          <p:cNvSpPr txBox="1"/>
          <p:nvPr/>
        </p:nvSpPr>
        <p:spPr>
          <a:xfrm>
            <a:off x="685800" y="4495800"/>
            <a:ext cx="7772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32 unique inputs, each can be classified into 2 categories? How many different ways of classification are possible over the 32 inputs? 32</a:t>
            </a:r>
            <a:r>
              <a:rPr lang="zh-CN" altLang="en-US" sz="2200" dirty="0"/>
              <a:t>种不同的输入，每种都可以分到</a:t>
            </a:r>
            <a:r>
              <a:rPr lang="en-US" altLang="zh-CN" sz="2200" dirty="0"/>
              <a:t>2</a:t>
            </a:r>
            <a:r>
              <a:rPr lang="zh-CN" altLang="en-US" sz="2200" dirty="0"/>
              <a:t>类之一，对这</a:t>
            </a:r>
            <a:r>
              <a:rPr lang="en-US" altLang="zh-CN" sz="2200" dirty="0"/>
              <a:t>32</a:t>
            </a:r>
            <a:r>
              <a:rPr lang="zh-CN" altLang="en-US" sz="2200" dirty="0"/>
              <a:t>种输入一共有多少种不同的分类？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1AD6C7-B9AB-484D-BC41-90EBC9CC0C96}"/>
              </a:ext>
            </a:extLst>
          </p:cNvPr>
          <p:cNvSpPr txBox="1"/>
          <p:nvPr/>
        </p:nvSpPr>
        <p:spPr>
          <a:xfrm>
            <a:off x="521968" y="5889570"/>
            <a:ext cx="8069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2x…x2=2</a:t>
            </a:r>
            <a:r>
              <a:rPr lang="en-US" altLang="zh-CN" sz="2200" baseline="30000" dirty="0"/>
              <a:t>32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66727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Complexity </a:t>
            </a:r>
            <a:r>
              <a:rPr lang="zh-CN" altLang="en-US" dirty="0">
                <a:ea typeface="SimSun" panose="02010600030101010101" pitchFamily="2" charset="-122"/>
              </a:rPr>
              <a:t>复杂度 </a:t>
            </a:r>
            <a:r>
              <a:rPr lang="en-US" altLang="zh-CN" dirty="0">
                <a:ea typeface="SimSun" panose="02010600030101010101" pitchFamily="2" charset="-122"/>
              </a:rPr>
              <a:t>(2)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514172" name="Group 124"/>
          <p:cNvGraphicFramePr>
            <a:graphicFrameLocks noGrp="1"/>
          </p:cNvGraphicFramePr>
          <p:nvPr/>
        </p:nvGraphicFramePr>
        <p:xfrm>
          <a:off x="762000" y="1850136"/>
          <a:ext cx="7467600" cy="6096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95298" y="4175171"/>
            <a:ext cx="8153401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Observing the 1st input &amp; its classification, how many different ways of classification left? 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看到了第一种输入及其对应的类别，还剩多少种不同的分类？</a:t>
            </a:r>
            <a:r>
              <a:rPr lang="en-US" altLang="ja-JP" sz="2200" dirty="0"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4B1CA-6D18-4524-8DD4-4E9A9B8367E9}"/>
              </a:ext>
            </a:extLst>
          </p:cNvPr>
          <p:cNvSpPr txBox="1"/>
          <p:nvPr/>
        </p:nvSpPr>
        <p:spPr>
          <a:xfrm>
            <a:off x="537210" y="5840076"/>
            <a:ext cx="8069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</a:t>
            </a:r>
            <a:r>
              <a:rPr lang="en-US" altLang="zh-CN" sz="2200" baseline="30000" dirty="0"/>
              <a:t>31</a:t>
            </a:r>
            <a:endParaRPr lang="zh-CN" altLang="en-US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A64168-96FF-4850-82BB-4A5F92B5BDBC}"/>
              </a:ext>
            </a:extLst>
          </p:cNvPr>
          <p:cNvSpPr/>
          <p:nvPr/>
        </p:nvSpPr>
        <p:spPr>
          <a:xfrm>
            <a:off x="-209551" y="5135880"/>
            <a:ext cx="9410702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There are 31 inputs unobserved, each w/ 2 possible classification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依然有</a:t>
            </a:r>
            <a:r>
              <a:rPr lang="en-US" altLang="zh-CN" sz="2200" dirty="0">
                <a:ea typeface="ＭＳ Ｐゴシック" panose="020B0600070205080204" pitchFamily="34" charset="-128"/>
              </a:rPr>
              <a:t>31</a:t>
            </a:r>
            <a:r>
              <a:rPr lang="zh-CN" altLang="en-US" sz="2200" dirty="0">
                <a:ea typeface="ＭＳ Ｐゴシック" panose="020B0600070205080204" pitchFamily="34" charset="-128"/>
              </a:rPr>
              <a:t>种输入没有出现，每种输入有两种不同的分类结果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12907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Complexity </a:t>
            </a:r>
            <a:r>
              <a:rPr lang="zh-CN" altLang="en-US" dirty="0">
                <a:ea typeface="SimSun" panose="02010600030101010101" pitchFamily="2" charset="-122"/>
              </a:rPr>
              <a:t>复杂度 </a:t>
            </a:r>
            <a:r>
              <a:rPr lang="en-US" altLang="zh-CN" dirty="0">
                <a:ea typeface="SimSun" panose="02010600030101010101" pitchFamily="2" charset="-122"/>
              </a:rPr>
              <a:t>(2)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4B1CA-6D18-4524-8DD4-4E9A9B8367E9}"/>
              </a:ext>
            </a:extLst>
          </p:cNvPr>
          <p:cNvSpPr txBox="1"/>
          <p:nvPr/>
        </p:nvSpPr>
        <p:spPr>
          <a:xfrm>
            <a:off x="537210" y="5840076"/>
            <a:ext cx="8069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</a:t>
            </a:r>
            <a:r>
              <a:rPr lang="en-US" altLang="zh-CN" sz="2200" baseline="30000" dirty="0"/>
              <a:t>30</a:t>
            </a:r>
            <a:endParaRPr lang="zh-CN" altLang="en-US" sz="2200" dirty="0"/>
          </a:p>
        </p:txBody>
      </p:sp>
      <p:graphicFrame>
        <p:nvGraphicFramePr>
          <p:cNvPr id="10" name="Group 124">
            <a:extLst>
              <a:ext uri="{FF2B5EF4-FFF2-40B4-BE49-F238E27FC236}">
                <a16:creationId xmlns:a16="http://schemas.microsoft.com/office/drawing/2014/main" id="{2E08E5E6-9FBC-468E-B46A-0F08E7551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051146"/>
              </p:ext>
            </p:extLst>
          </p:nvPr>
        </p:nvGraphicFramePr>
        <p:xfrm>
          <a:off x="762000" y="1850136"/>
          <a:ext cx="7467600" cy="9144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8582BDD7-FD3B-4121-9780-946C6839DD6B}"/>
              </a:ext>
            </a:extLst>
          </p:cNvPr>
          <p:cNvSpPr/>
          <p:nvPr/>
        </p:nvSpPr>
        <p:spPr>
          <a:xfrm>
            <a:off x="495298" y="4175171"/>
            <a:ext cx="8153401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After observing the 2nd input &amp; its classification, how many different ways of classification left? 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又看到了第二种输入及其对应的类别，还剩多少种不同的分类？</a:t>
            </a:r>
            <a:r>
              <a:rPr lang="en-US" altLang="ja-JP" sz="2200" dirty="0"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BFFED-273B-448D-BF79-B726D29FEF8A}"/>
              </a:ext>
            </a:extLst>
          </p:cNvPr>
          <p:cNvSpPr/>
          <p:nvPr/>
        </p:nvSpPr>
        <p:spPr>
          <a:xfrm>
            <a:off x="-209551" y="5135880"/>
            <a:ext cx="9410702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There are 30 inputs unobserved, each w/ 2 possible classification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依然有</a:t>
            </a:r>
            <a:r>
              <a:rPr lang="en-US" altLang="zh-CN" sz="2200" dirty="0">
                <a:ea typeface="ＭＳ Ｐゴシック" panose="020B0600070205080204" pitchFamily="34" charset="-128"/>
              </a:rPr>
              <a:t>30</a:t>
            </a:r>
            <a:r>
              <a:rPr lang="zh-CN" altLang="en-US" sz="2200" dirty="0">
                <a:ea typeface="ＭＳ Ｐゴシック" panose="020B0600070205080204" pitchFamily="34" charset="-128"/>
              </a:rPr>
              <a:t>种输入没有出现，每种输入有两种不同的分类结果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8609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Complexity </a:t>
            </a:r>
            <a:r>
              <a:rPr lang="zh-CN" altLang="en-US" dirty="0">
                <a:ea typeface="SimSun" panose="02010600030101010101" pitchFamily="2" charset="-122"/>
              </a:rPr>
              <a:t>复杂度 </a:t>
            </a:r>
            <a:r>
              <a:rPr lang="en-US" altLang="zh-CN" dirty="0">
                <a:ea typeface="SimSun" panose="02010600030101010101" pitchFamily="2" charset="-122"/>
              </a:rPr>
              <a:t>(2)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4B1CA-6D18-4524-8DD4-4E9A9B8367E9}"/>
              </a:ext>
            </a:extLst>
          </p:cNvPr>
          <p:cNvSpPr txBox="1"/>
          <p:nvPr/>
        </p:nvSpPr>
        <p:spPr>
          <a:xfrm>
            <a:off x="537210" y="5840076"/>
            <a:ext cx="80695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</a:t>
            </a:r>
            <a:r>
              <a:rPr lang="en-US" altLang="zh-CN" sz="2200" baseline="30000" dirty="0"/>
              <a:t>29</a:t>
            </a:r>
            <a:endParaRPr lang="zh-CN" altLang="en-US" sz="2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82BDD7-FD3B-4121-9780-946C6839DD6B}"/>
              </a:ext>
            </a:extLst>
          </p:cNvPr>
          <p:cNvSpPr/>
          <p:nvPr/>
        </p:nvSpPr>
        <p:spPr>
          <a:xfrm>
            <a:off x="495298" y="4175171"/>
            <a:ext cx="8153401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After observing the 3rd input &amp; its classification, how many different ways of classification left? 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又看到了第三种输入及其对应的类别，还剩多少种不同的分类？</a:t>
            </a:r>
            <a:r>
              <a:rPr lang="en-US" altLang="ja-JP" sz="2200" dirty="0"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BFFED-273B-448D-BF79-B726D29FEF8A}"/>
              </a:ext>
            </a:extLst>
          </p:cNvPr>
          <p:cNvSpPr/>
          <p:nvPr/>
        </p:nvSpPr>
        <p:spPr>
          <a:xfrm>
            <a:off x="-209551" y="5135880"/>
            <a:ext cx="9410702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There are </a:t>
            </a:r>
            <a:r>
              <a:rPr lang="en-US" altLang="zh-CN" sz="2200" dirty="0">
                <a:ea typeface="ＭＳ Ｐゴシック" panose="020B0600070205080204" pitchFamily="34" charset="-128"/>
              </a:rPr>
              <a:t>29</a:t>
            </a:r>
            <a:r>
              <a:rPr lang="en-US" altLang="ja-JP" sz="2200" dirty="0">
                <a:ea typeface="ＭＳ Ｐゴシック" panose="020B0600070205080204" pitchFamily="34" charset="-128"/>
              </a:rPr>
              <a:t> inputs unobserved, each w/ 2 possible classification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依然有</a:t>
            </a:r>
            <a:r>
              <a:rPr lang="en-US" altLang="zh-CN" sz="2200" dirty="0">
                <a:ea typeface="ＭＳ Ｐゴシック" panose="020B0600070205080204" pitchFamily="34" charset="-128"/>
              </a:rPr>
              <a:t>29</a:t>
            </a:r>
            <a:r>
              <a:rPr lang="zh-CN" altLang="en-US" sz="2200" dirty="0">
                <a:ea typeface="ＭＳ Ｐゴシック" panose="020B0600070205080204" pitchFamily="34" charset="-128"/>
              </a:rPr>
              <a:t>种输入没有出现，每种输入有两种不同的分类结果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9" name="Group 124">
            <a:extLst>
              <a:ext uri="{FF2B5EF4-FFF2-40B4-BE49-F238E27FC236}">
                <a16:creationId xmlns:a16="http://schemas.microsoft.com/office/drawing/2014/main" id="{8A386A0E-D495-4BF7-93D1-FFF5D4C72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631090"/>
              </p:ext>
            </p:extLst>
          </p:nvPr>
        </p:nvGraphicFramePr>
        <p:xfrm>
          <a:off x="762000" y="1850136"/>
          <a:ext cx="7467600" cy="12192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07250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Complexity </a:t>
            </a:r>
            <a:r>
              <a:rPr lang="zh-CN" altLang="en-US" dirty="0">
                <a:ea typeface="SimSun" panose="02010600030101010101" pitchFamily="2" charset="-122"/>
              </a:rPr>
              <a:t>复杂度 </a:t>
            </a:r>
            <a:r>
              <a:rPr lang="en-US" altLang="zh-CN" dirty="0">
                <a:ea typeface="SimSun" panose="02010600030101010101" pitchFamily="2" charset="-122"/>
              </a:rPr>
              <a:t>(2)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82BDD7-FD3B-4121-9780-946C6839DD6B}"/>
              </a:ext>
            </a:extLst>
          </p:cNvPr>
          <p:cNvSpPr/>
          <p:nvPr/>
        </p:nvSpPr>
        <p:spPr>
          <a:xfrm>
            <a:off x="-304800" y="3344130"/>
            <a:ext cx="9124951" cy="1920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Without any assumptions</a:t>
            </a:r>
            <a:r>
              <a:rPr lang="en-US" altLang="zh-CN" sz="2200" dirty="0">
                <a:ea typeface="ＭＳ Ｐゴシック" panose="020B0600070205080204" pitchFamily="34" charset="-128"/>
              </a:rPr>
              <a:t>, all the 32 inputs need to be observed before the program can imitate correctly. Otherwise there are unseen cases, where the program has no idea on how to classify             </a:t>
            </a:r>
            <a:r>
              <a:rPr lang="zh-CN" altLang="en-US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没有任何假设的前提下</a:t>
            </a:r>
            <a:r>
              <a:rPr lang="zh-CN" altLang="en-US" sz="2200" dirty="0">
                <a:ea typeface="ＭＳ Ｐゴシック" panose="020B0600070205080204" pitchFamily="34" charset="-128"/>
              </a:rPr>
              <a:t>，只有看到所有的</a:t>
            </a:r>
            <a:r>
              <a:rPr lang="en-US" altLang="zh-CN" sz="2200" dirty="0">
                <a:ea typeface="ＭＳ Ｐゴシック" panose="020B0600070205080204" pitchFamily="34" charset="-128"/>
              </a:rPr>
              <a:t>32</a:t>
            </a:r>
            <a:r>
              <a:rPr lang="zh-CN" altLang="en-US" sz="2200" dirty="0">
                <a:ea typeface="ＭＳ Ｐゴシック" panose="020B0600070205080204" pitchFamily="34" charset="-128"/>
              </a:rPr>
              <a:t>种不同的输入，</a:t>
            </a:r>
            <a:r>
              <a:rPr lang="en-US" altLang="ja-JP" sz="2200" dirty="0">
                <a:ea typeface="ＭＳ Ｐゴシック" panose="020B0600070205080204" pitchFamily="34" charset="-128"/>
              </a:rPr>
              <a:t> </a:t>
            </a:r>
            <a:r>
              <a:rPr lang="zh-CN" altLang="en-US" sz="2200" dirty="0">
                <a:ea typeface="ＭＳ Ｐゴシック" panose="020B0600070205080204" pitchFamily="34" charset="-128"/>
              </a:rPr>
              <a:t>程序才能完全正确地进行模仿。否则就会有某些未知的输入，程序遇到这些输入根本不知道如何进行分类。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BFFED-273B-448D-BF79-B726D29FEF8A}"/>
              </a:ext>
            </a:extLst>
          </p:cNvPr>
          <p:cNvSpPr/>
          <p:nvPr/>
        </p:nvSpPr>
        <p:spPr>
          <a:xfrm>
            <a:off x="1800224" y="5353788"/>
            <a:ext cx="5543551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 assumption, no learning!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无假设，不学习！</a:t>
            </a:r>
            <a:endParaRPr lang="en-US" altLang="ja-JP" sz="22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graphicFrame>
        <p:nvGraphicFramePr>
          <p:cNvPr id="9" name="Group 124">
            <a:extLst>
              <a:ext uri="{FF2B5EF4-FFF2-40B4-BE49-F238E27FC236}">
                <a16:creationId xmlns:a16="http://schemas.microsoft.com/office/drawing/2014/main" id="{8A386A0E-D495-4BF7-93D1-FFF5D4C7283E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850136"/>
          <a:ext cx="7467600" cy="12192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273417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2.3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2.3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2. Basics of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2. </a:t>
            </a:r>
            <a:r>
              <a:rPr lang="zh-CN" altLang="en-US" dirty="0"/>
              <a:t>分类的基础知识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can you improve rote learning?</a:t>
            </a:r>
          </a:p>
          <a:p>
            <a:pPr algn="ctr"/>
            <a:r>
              <a:rPr lang="zh-CN" altLang="en-US" sz="2200" dirty="0"/>
              <a:t>实践时刻：你能改进死记硬背的学习吗？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Reduce complexity in recognizing handwritten ZIP codes</a:t>
            </a:r>
          </a:p>
          <a:p>
            <a:pPr algn="ctr"/>
            <a:r>
              <a:rPr lang="zh-CN" altLang="en-US" sz="2200" dirty="0"/>
              <a:t>降低手写邮政编码识别的复杂度</a:t>
            </a:r>
          </a:p>
        </p:txBody>
      </p:sp>
    </p:spTree>
    <p:extLst>
      <p:ext uri="{BB962C8B-B14F-4D97-AF65-F5344CB8AC3E}">
        <p14:creationId xmlns:p14="http://schemas.microsoft.com/office/powerpoint/2010/main" val="44499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21.7|0.3|0.4|0.3|0.3|0.2|0.3|7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7.7|3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8.1|3|54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18.7|4.9|2.3|8.5|4.7|1.5|1|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18.7|4.9|2.3|8.5|4.7|1.5|1|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18.7|4.9|2.3|8.5|4.7|1.5|1|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18.7|4.9|2.3|8.5|4.7|1.5|1|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7|0.3|0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4|19.1|7.5|8.3|5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7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9|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3|0.1|0.2|0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4|0.2|0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57.2|10|4|1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8|4|0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0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51|88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26.3|0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3|0.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2|0.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68.4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15739</TotalTime>
  <Words>3346</Words>
  <Application>Microsoft Office PowerPoint</Application>
  <PresentationFormat>On-screen Show (4:3)</PresentationFormat>
  <Paragraphs>616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Cambria Math</vt:lpstr>
      <vt:lpstr>Comic Sans MS</vt:lpstr>
      <vt:lpstr>Tahoma</vt:lpstr>
      <vt:lpstr>Times New Roman</vt:lpstr>
      <vt:lpstr>Trebuchet MS</vt:lpstr>
      <vt:lpstr>Wingdings</vt:lpstr>
      <vt:lpstr>Blends</vt:lpstr>
      <vt:lpstr>Machine Learning -  Basic Principles &amp; Practice 2. Basics of Classification</vt:lpstr>
      <vt:lpstr>Start w/ an Example 从实例开始</vt:lpstr>
      <vt:lpstr>Classification 分类</vt:lpstr>
      <vt:lpstr>Common in Machine Learning    机器学习中的常见问题 (1)</vt:lpstr>
      <vt:lpstr>Common in Machine Learning    机器学习中的常见问题 (2)</vt:lpstr>
      <vt:lpstr>Common in Machine Learning    机器学习中的常见问题 (3)</vt:lpstr>
      <vt:lpstr>Common in Machine Learning    机器学习中的常见问题 (3)</vt:lpstr>
      <vt:lpstr>Common in Machine Learning    机器学习中的常见问题 (3)</vt:lpstr>
      <vt:lpstr>Classifier 分类器</vt:lpstr>
      <vt:lpstr>Define the Input 定义输入 (1)</vt:lpstr>
      <vt:lpstr>Define the Input 定义输入 (2)</vt:lpstr>
      <vt:lpstr>Define the Input 定义输入 (3)</vt:lpstr>
      <vt:lpstr>Define the Input 定义输入 (4)</vt:lpstr>
      <vt:lpstr>Define the Output 定义输出</vt:lpstr>
      <vt:lpstr>Practice 2.1 实践2.1</vt:lpstr>
      <vt:lpstr>What’s the Program 程序是什么</vt:lpstr>
      <vt:lpstr>Recall 回忆一下</vt:lpstr>
      <vt:lpstr>Rote Learning 死记硬背的学习</vt:lpstr>
      <vt:lpstr>Illustrative Example 说明用例</vt:lpstr>
      <vt:lpstr>Practice 2.2 实践2.2</vt:lpstr>
      <vt:lpstr>Weakness 弱点 (1)</vt:lpstr>
      <vt:lpstr>Weakness 弱点 (2)</vt:lpstr>
      <vt:lpstr>Complexity 复杂度 (1)</vt:lpstr>
      <vt:lpstr>Complexity 复杂度 (1)</vt:lpstr>
      <vt:lpstr>Complexity 复杂度 (2)</vt:lpstr>
      <vt:lpstr>Complexity 复杂度 (2)</vt:lpstr>
      <vt:lpstr>Complexity 复杂度 (2)</vt:lpstr>
      <vt:lpstr>Complexity 复杂度 (2)</vt:lpstr>
      <vt:lpstr>Practice 2.3 实践2.3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1101</cp:revision>
  <dcterms:created xsi:type="dcterms:W3CDTF">2003-03-13T01:36:43Z</dcterms:created>
  <dcterms:modified xsi:type="dcterms:W3CDTF">2023-11-04T02:29:48Z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912c8a48-eabe-49dd-9206-b7744ce1c031</vt:lpwstr>
  </property>
  <property fmtid="{D5CDD505-2E9C-101B-9397-08002B2CF9AE}" pid="3" name="CTP_TimeStamp">
    <vt:lpwstr>2019-10-02 06:41:13Z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