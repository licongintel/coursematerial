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1"/>
  </p:notesMasterIdLst>
  <p:handoutMasterIdLst>
    <p:handoutMasterId r:id="rId32"/>
  </p:handoutMasterIdLst>
  <p:sldIdLst>
    <p:sldId id="286" r:id="rId2"/>
    <p:sldId id="468" r:id="rId3"/>
    <p:sldId id="595" r:id="rId4"/>
    <p:sldId id="594" r:id="rId5"/>
    <p:sldId id="517" r:id="rId6"/>
    <p:sldId id="599" r:id="rId7"/>
    <p:sldId id="600" r:id="rId8"/>
    <p:sldId id="598" r:id="rId9"/>
    <p:sldId id="596" r:id="rId10"/>
    <p:sldId id="597" r:id="rId11"/>
    <p:sldId id="609" r:id="rId12"/>
    <p:sldId id="539" r:id="rId13"/>
    <p:sldId id="602" r:id="rId14"/>
    <p:sldId id="427" r:id="rId15"/>
    <p:sldId id="601" r:id="rId16"/>
    <p:sldId id="603" r:id="rId17"/>
    <p:sldId id="604" r:id="rId18"/>
    <p:sldId id="605" r:id="rId19"/>
    <p:sldId id="606" r:id="rId20"/>
    <p:sldId id="607" r:id="rId21"/>
    <p:sldId id="608" r:id="rId22"/>
    <p:sldId id="610" r:id="rId23"/>
    <p:sldId id="611" r:id="rId24"/>
    <p:sldId id="612" r:id="rId25"/>
    <p:sldId id="613" r:id="rId26"/>
    <p:sldId id="614" r:id="rId27"/>
    <p:sldId id="566" r:id="rId28"/>
    <p:sldId id="615" r:id="rId29"/>
    <p:sldId id="353" r:id="rId30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0000"/>
    <a:srgbClr val="7DDDFF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4D7F1-2067-49AD-BA3D-716DE4683E53}" v="1" dt="2026-04-18T01:30:58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59" autoAdjust="0"/>
    <p:restoredTop sz="94370" autoAdjust="0"/>
  </p:normalViewPr>
  <p:slideViewPr>
    <p:cSldViewPr>
      <p:cViewPr varScale="1">
        <p:scale>
          <a:sx n="75" d="100"/>
          <a:sy n="75" d="100"/>
        </p:scale>
        <p:origin x="83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modSld">
      <pc:chgData name="Li, Cong" userId="025630f4-267e-4cb3-8cd5-8795177f99f4" providerId="ADAL" clId="{929A2CC8-B112-421C-81E2-D5D63B23E300}" dt="2026-04-18T01:30:58.481" v="0" actId="20577"/>
      <pc:docMkLst>
        <pc:docMk/>
      </pc:docMkLst>
      <pc:sldChg chg="modSp">
        <pc:chgData name="Li, Cong" userId="025630f4-267e-4cb3-8cd5-8795177f99f4" providerId="ADAL" clId="{929A2CC8-B112-421C-81E2-D5D63B23E300}" dt="2026-04-18T01:30:58.481" v="0" actId="20577"/>
        <pc:sldMkLst>
          <pc:docMk/>
          <pc:sldMk cId="4016079391" sldId="601"/>
        </pc:sldMkLst>
        <pc:spChg chg="mod">
          <ac:chgData name="Li, Cong" userId="025630f4-267e-4cb3-8cd5-8795177f99f4" providerId="ADAL" clId="{929A2CC8-B112-421C-81E2-D5D63B23E300}" dt="2026-04-18T01:30:58.481" v="0" actId="20577"/>
          <ac:spMkLst>
            <pc:docMk/>
            <pc:sldMk cId="4016079391" sldId="601"/>
            <ac:spMk id="10" creationId="{378D4EEB-433F-4FA7-8F8D-2A28448923A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426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8247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061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5750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727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512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algn="ctr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09E12761-34C6-4A04-8A71-66675F23FBD3}" type="slidenum">
              <a:rPr lang="en-US" altLang="zh-CN">
                <a:latin typeface="Arial" panose="020B0604020202020204" pitchFamily="34" charset="0"/>
              </a:rPr>
              <a:pPr/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099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4215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598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6099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7298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18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95502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195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.bin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21.bin"/><Relationship Id="rId3" Type="http://schemas.openxmlformats.org/officeDocument/2006/relationships/notesSlide" Target="../notesSlides/notesSlide8.xml"/><Relationship Id="rId21" Type="http://schemas.openxmlformats.org/officeDocument/2006/relationships/oleObject" Target="../embeddings/oleObject16.bin"/><Relationship Id="rId34" Type="http://schemas.openxmlformats.org/officeDocument/2006/relationships/oleObject" Target="../embeddings/oleObject29.bin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7.bin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20.bin"/><Relationship Id="rId3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.bin"/><Relationship Id="rId20" Type="http://schemas.openxmlformats.org/officeDocument/2006/relationships/oleObject" Target="../embeddings/oleObject15.bin"/><Relationship Id="rId29" Type="http://schemas.openxmlformats.org/officeDocument/2006/relationships/oleObject" Target="../embeddings/oleObject24.bin"/><Relationship Id="rId1" Type="http://schemas.openxmlformats.org/officeDocument/2006/relationships/tags" Target="../tags/tag10.x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6.bin"/><Relationship Id="rId24" Type="http://schemas.openxmlformats.org/officeDocument/2006/relationships/oleObject" Target="../embeddings/oleObject19.bin"/><Relationship Id="rId32" Type="http://schemas.openxmlformats.org/officeDocument/2006/relationships/oleObject" Target="../embeddings/oleObject27.bin"/><Relationship Id="rId5" Type="http://schemas.openxmlformats.org/officeDocument/2006/relationships/image" Target="../media/image3.png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8.bin"/><Relationship Id="rId28" Type="http://schemas.openxmlformats.org/officeDocument/2006/relationships/oleObject" Target="../embeddings/oleObject23.bin"/><Relationship Id="rId36" Type="http://schemas.openxmlformats.org/officeDocument/2006/relationships/oleObject" Target="../embeddings/oleObject31.bin"/><Relationship Id="rId10" Type="http://schemas.openxmlformats.org/officeDocument/2006/relationships/oleObject" Target="../embeddings/oleObject5.bin"/><Relationship Id="rId19" Type="http://schemas.openxmlformats.org/officeDocument/2006/relationships/oleObject" Target="../embeddings/oleObject14.bin"/><Relationship Id="rId31" Type="http://schemas.openxmlformats.org/officeDocument/2006/relationships/oleObject" Target="../embeddings/oleObject26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png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7.bin"/><Relationship Id="rId27" Type="http://schemas.openxmlformats.org/officeDocument/2006/relationships/oleObject" Target="../embeddings/oleObject22.bin"/><Relationship Id="rId30" Type="http://schemas.openxmlformats.org/officeDocument/2006/relationships/oleObject" Target="../embeddings/oleObject25.bin"/><Relationship Id="rId35" Type="http://schemas.openxmlformats.org/officeDocument/2006/relationships/oleObject" Target="../embeddings/oleObject30.bin"/><Relationship Id="rId8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9. Ensemble Learning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9. </a:t>
            </a:r>
            <a:r>
              <a:rPr lang="zh-CN" altLang="en-US" sz="3600" b="1" kern="0" dirty="0">
                <a:ea typeface="SimSun" panose="02010600030101010101" pitchFamily="2" charset="-122"/>
              </a:rPr>
              <a:t>合奏学习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Inductive Learning  </a:t>
            </a:r>
            <a:r>
              <a:rPr lang="zh-CN" altLang="en-US" dirty="0">
                <a:ea typeface="ＭＳ Ｐゴシック" panose="020B0600070205080204" pitchFamily="34" charset="-128"/>
              </a:rPr>
              <a:t>归纳学习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Given </a:t>
            </a:r>
            <a:r>
              <a:rPr lang="zh-CN" altLang="en-US" dirty="0"/>
              <a:t>给定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Training data  </a:t>
            </a:r>
            <a:r>
              <a:rPr lang="zh-CN" altLang="en-US" dirty="0"/>
              <a:t>训练数据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Candidate classifier set  </a:t>
            </a:r>
            <a:r>
              <a:rPr lang="zh-CN" altLang="en-US" dirty="0"/>
              <a:t>候选分类器集合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Induction  </a:t>
            </a:r>
            <a:r>
              <a:rPr lang="zh-CN" altLang="en-US" dirty="0"/>
              <a:t>归纳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Find a classifier from the candidate set</a:t>
            </a:r>
            <a:br>
              <a:rPr lang="en-US" altLang="zh-CN" dirty="0"/>
            </a:br>
            <a:r>
              <a:rPr lang="zh-CN" altLang="en-US" dirty="0"/>
              <a:t>从候选集合中找到一个分类器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Performing ‘well’ on the training data</a:t>
            </a:r>
            <a:br>
              <a:rPr lang="en-US" altLang="zh-CN" dirty="0"/>
            </a:br>
            <a:r>
              <a:rPr lang="zh-CN" altLang="en-US" dirty="0"/>
              <a:t>在训练数据上表现“不错”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Process of Searching Classifier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搜寻分类器的过程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Determined by </a:t>
            </a:r>
            <a:r>
              <a:rPr lang="zh-CN" altLang="en-US" dirty="0"/>
              <a:t> 取决于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Learning algorithm  </a:t>
            </a:r>
            <a:r>
              <a:rPr lang="zh-CN" altLang="en-US" dirty="0"/>
              <a:t>学习算法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Many Searching Processes</a:t>
            </a:r>
            <a:br>
              <a:rPr lang="en-US" altLang="zh-CN" dirty="0"/>
            </a:br>
            <a:r>
              <a:rPr lang="zh-CN" altLang="en-US" dirty="0"/>
              <a:t>很多搜寻过程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Sensitive to certain data characteristics, e.g.,  </a:t>
            </a:r>
            <a:r>
              <a:rPr lang="zh-CN" altLang="en-US" dirty="0"/>
              <a:t>对数据的某些特性敏感，例如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A few difficult-to-learn samples</a:t>
            </a:r>
            <a:br>
              <a:rPr lang="en-US" altLang="zh-CN" dirty="0"/>
            </a:br>
            <a:r>
              <a:rPr lang="zh-CN" altLang="en-US" dirty="0"/>
              <a:t>一小部分难于学习的数据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Some irrelevant attributes</a:t>
            </a:r>
            <a:br>
              <a:rPr lang="en-US" altLang="zh-CN" dirty="0"/>
            </a:br>
            <a:r>
              <a:rPr lang="zh-CN" altLang="en-US" dirty="0"/>
              <a:t>一些不相关的属性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64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Uncertainty in Learning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学习中的不确定性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Uncertainty Can Be Significant</a:t>
            </a:r>
            <a:br>
              <a:rPr lang="en-US" altLang="zh-CN" dirty="0"/>
            </a:br>
            <a:r>
              <a:rPr lang="zh-CN" altLang="en-US" dirty="0"/>
              <a:t>不确定性可能</a:t>
            </a:r>
            <a:r>
              <a:rPr lang="zh-CN" altLang="en-US"/>
              <a:t>会很严重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Small variance in data leading to drastically different learning result</a:t>
            </a:r>
            <a:br>
              <a:rPr lang="en-US" altLang="zh-CN" dirty="0"/>
            </a:br>
            <a:r>
              <a:rPr lang="zh-CN" altLang="en-US" dirty="0"/>
              <a:t>数据中小的扰动带来了极为不同的学习结果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That is, a very different classifier  </a:t>
            </a:r>
            <a:br>
              <a:rPr lang="en-US" altLang="zh-CN" dirty="0"/>
            </a:br>
            <a:r>
              <a:rPr lang="zh-CN" altLang="en-US" dirty="0"/>
              <a:t>也就是说，非常不同的分类器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Instable Learning Process  </a:t>
            </a:r>
            <a:br>
              <a:rPr lang="en-US" altLang="zh-CN" dirty="0"/>
            </a:br>
            <a:r>
              <a:rPr lang="zh-CN" altLang="en-US" dirty="0"/>
              <a:t>不稳定的学习过程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Make learning result less reliable</a:t>
            </a:r>
            <a:br>
              <a:rPr lang="en-US" altLang="zh-CN" dirty="0"/>
            </a:br>
            <a:r>
              <a:rPr lang="zh-CN" altLang="en-US" dirty="0"/>
              <a:t>使得学习过程不那么可靠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93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440677" y="1809624"/>
            <a:ext cx="3627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learning algorithm may learn such a line</a:t>
            </a:r>
          </a:p>
          <a:p>
            <a:pPr algn="ctr"/>
            <a:r>
              <a:rPr lang="zh-CN" altLang="en-US" sz="2200" dirty="0"/>
              <a:t>一个学习算法可能学习到以这样一条直线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4175524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440677" y="1809624"/>
            <a:ext cx="3627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learning algorithm may also learn such a line</a:t>
            </a:r>
          </a:p>
          <a:p>
            <a:pPr algn="ctr"/>
            <a:r>
              <a:rPr lang="zh-CN" altLang="en-US" sz="2200" dirty="0"/>
              <a:t>一个学习算法也可能学习到以这样一条直线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8E9E1E-E70F-4155-A359-4FBCCC723E21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6903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74A1E4B-1294-4606-91B2-AC442AA52E83}"/>
              </a:ext>
            </a:extLst>
          </p:cNvPr>
          <p:cNvSpPr txBox="1"/>
          <p:nvPr/>
        </p:nvSpPr>
        <p:spPr>
          <a:xfrm>
            <a:off x="5440677" y="1809624"/>
            <a:ext cx="3627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 learning algorithm may even learn such a line</a:t>
            </a:r>
          </a:p>
          <a:p>
            <a:pPr algn="ctr"/>
            <a:r>
              <a:rPr lang="zh-CN" altLang="en-US" sz="2200" dirty="0"/>
              <a:t>一个学习算法还可能学习到以这样一条直线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F3C7418-1625-4ADD-8484-E99878524AD4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8808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AF5F450-F2B8-4103-B207-D2B31392EEE7}"/>
              </a:ext>
            </a:extLst>
          </p:cNvPr>
          <p:cNvSpPr txBox="1"/>
          <p:nvPr/>
        </p:nvSpPr>
        <p:spPr>
          <a:xfrm>
            <a:off x="6122670" y="1745951"/>
            <a:ext cx="27203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If the 1</a:t>
            </a:r>
            <a:r>
              <a:rPr lang="en-US" altLang="zh-CN" sz="2200" baseline="30000" dirty="0"/>
              <a:t>st</a:t>
            </a:r>
            <a:r>
              <a:rPr lang="en-US" altLang="zh-CN" sz="2200" dirty="0"/>
              <a:t> line is learned, it is lucky</a:t>
            </a:r>
            <a:br>
              <a:rPr lang="en-US" altLang="zh-CN" sz="2200" dirty="0"/>
            </a:br>
            <a:r>
              <a:rPr lang="zh-CN" altLang="en-US" sz="2200" dirty="0"/>
              <a:t>倘若第一条直线被学习到了，那这很幸运</a:t>
            </a:r>
          </a:p>
        </p:txBody>
      </p:sp>
    </p:spTree>
    <p:extLst>
      <p:ext uri="{BB962C8B-B14F-4D97-AF65-F5344CB8AC3E}">
        <p14:creationId xmlns:p14="http://schemas.microsoft.com/office/powerpoint/2010/main" val="238828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8E9E1E-E70F-4155-A359-4FBCCC723E21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C1B4D30-54AF-434B-BF2F-624F3299F651}"/>
              </a:ext>
            </a:extLst>
          </p:cNvPr>
          <p:cNvSpPr txBox="1"/>
          <p:nvPr/>
        </p:nvSpPr>
        <p:spPr>
          <a:xfrm>
            <a:off x="6263501" y="1749088"/>
            <a:ext cx="22656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Less lucky is the 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line</a:t>
            </a:r>
            <a:br>
              <a:rPr lang="en-US" altLang="zh-CN" sz="2200" dirty="0"/>
            </a:br>
            <a:r>
              <a:rPr lang="zh-CN" altLang="en-US" sz="2200" dirty="0"/>
              <a:t>第二条直线就不那么幸运了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8162F7-9C0C-4A74-9BEB-BC16F4D2225C}"/>
              </a:ext>
            </a:extLst>
          </p:cNvPr>
          <p:cNvSpPr txBox="1"/>
          <p:nvPr/>
        </p:nvSpPr>
        <p:spPr>
          <a:xfrm>
            <a:off x="6048401" y="4956626"/>
            <a:ext cx="1320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Errors  </a:t>
            </a:r>
            <a:r>
              <a:rPr lang="zh-CN" altLang="en-US" sz="2200" dirty="0"/>
              <a:t>错误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1D812F-601E-4E23-B18A-FA73157874CA}"/>
              </a:ext>
            </a:extLst>
          </p:cNvPr>
          <p:cNvCxnSpPr>
            <a:stCxn id="51" idx="0"/>
            <a:endCxn id="79" idx="5"/>
          </p:cNvCxnSpPr>
          <p:nvPr/>
        </p:nvCxnSpPr>
        <p:spPr bwMode="auto">
          <a:xfrm flipH="1" flipV="1">
            <a:off x="4010861" y="2492282"/>
            <a:ext cx="2697926" cy="24643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F08C85-AF6D-4315-8A3C-5BFE66C3587E}"/>
              </a:ext>
            </a:extLst>
          </p:cNvPr>
          <p:cNvCxnSpPr>
            <a:stCxn id="51" idx="1"/>
            <a:endCxn id="77" idx="6"/>
          </p:cNvCxnSpPr>
          <p:nvPr/>
        </p:nvCxnSpPr>
        <p:spPr bwMode="auto">
          <a:xfrm flipH="1">
            <a:off x="3422650" y="5341347"/>
            <a:ext cx="2625751" cy="3736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10036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74F454-D01F-4E9C-885F-0863A774B2FF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0115849-4732-4396-BBAE-3B72D988F676}"/>
              </a:ext>
            </a:extLst>
          </p:cNvPr>
          <p:cNvSpPr txBox="1"/>
          <p:nvPr/>
        </p:nvSpPr>
        <p:spPr>
          <a:xfrm>
            <a:off x="6263501" y="1749088"/>
            <a:ext cx="22656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3</a:t>
            </a:r>
            <a:r>
              <a:rPr lang="en-US" altLang="zh-CN" sz="2200" baseline="30000" dirty="0"/>
              <a:t>rd</a:t>
            </a:r>
            <a:r>
              <a:rPr lang="en-US" altLang="zh-CN" sz="2200" dirty="0"/>
              <a:t> line is the worst</a:t>
            </a:r>
            <a:br>
              <a:rPr lang="en-US" altLang="zh-CN" sz="2200" dirty="0"/>
            </a:br>
            <a:r>
              <a:rPr lang="zh-CN" altLang="en-US" sz="2200" dirty="0"/>
              <a:t>第三条直线最差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AD498A-9985-4ACD-8DCD-905B99502D49}"/>
              </a:ext>
            </a:extLst>
          </p:cNvPr>
          <p:cNvSpPr txBox="1"/>
          <p:nvPr/>
        </p:nvSpPr>
        <p:spPr>
          <a:xfrm>
            <a:off x="6048401" y="4956626"/>
            <a:ext cx="1320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Errors  </a:t>
            </a:r>
            <a:r>
              <a:rPr lang="zh-CN" altLang="en-US" sz="2200" dirty="0"/>
              <a:t>错误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7246E41-7057-4322-83CC-40D046B7A301}"/>
              </a:ext>
            </a:extLst>
          </p:cNvPr>
          <p:cNvCxnSpPr>
            <a:cxnSpLocks/>
            <a:stCxn id="52" idx="0"/>
            <a:endCxn id="61" idx="6"/>
          </p:cNvCxnSpPr>
          <p:nvPr/>
        </p:nvCxnSpPr>
        <p:spPr bwMode="auto">
          <a:xfrm flipH="1" flipV="1">
            <a:off x="3352800" y="2514600"/>
            <a:ext cx="3355987" cy="24420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129AD58-4D5D-43D3-BC88-D2BEB25C780E}"/>
              </a:ext>
            </a:extLst>
          </p:cNvPr>
          <p:cNvCxnSpPr>
            <a:cxnSpLocks/>
            <a:stCxn id="52" idx="1"/>
            <a:endCxn id="80" idx="7"/>
          </p:cNvCxnSpPr>
          <p:nvPr/>
        </p:nvCxnSpPr>
        <p:spPr bwMode="auto">
          <a:xfrm flipH="1" flipV="1">
            <a:off x="4087061" y="4670518"/>
            <a:ext cx="1961340" cy="6708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5E19723-56F8-43AA-890D-5B94469B9A75}"/>
              </a:ext>
            </a:extLst>
          </p:cNvPr>
          <p:cNvCxnSpPr>
            <a:cxnSpLocks/>
            <a:stCxn id="52" idx="1"/>
            <a:endCxn id="87" idx="6"/>
          </p:cNvCxnSpPr>
          <p:nvPr/>
        </p:nvCxnSpPr>
        <p:spPr bwMode="auto">
          <a:xfrm flipH="1">
            <a:off x="4343400" y="5341347"/>
            <a:ext cx="1705001" cy="2974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23379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 the Example  </a:t>
            </a:r>
            <a:r>
              <a:rPr lang="zh-CN" altLang="en-US" dirty="0">
                <a:ea typeface="ＭＳ Ｐゴシック" panose="020B0600070205080204" pitchFamily="34" charset="-128"/>
              </a:rPr>
              <a:t>这个例子里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We Need Luck  </a:t>
            </a:r>
            <a:r>
              <a:rPr lang="zh-CN" altLang="en-US" dirty="0"/>
              <a:t>我们需要运气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The learning process is lucky to obtain the 1</a:t>
            </a:r>
            <a:r>
              <a:rPr lang="en-US" altLang="zh-CN" baseline="30000" dirty="0"/>
              <a:t>st</a:t>
            </a:r>
            <a:r>
              <a:rPr lang="en-US" altLang="zh-CN" dirty="0"/>
              <a:t> line  </a:t>
            </a:r>
            <a:r>
              <a:rPr lang="zh-CN" altLang="en-US" dirty="0"/>
              <a:t>学习过程能幸运地获得第一条直线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But We May Be Unlucky Sometimes</a:t>
            </a:r>
            <a:br>
              <a:rPr lang="en-US" altLang="zh-CN" dirty="0"/>
            </a:br>
            <a:r>
              <a:rPr lang="zh-CN" altLang="en-US" dirty="0"/>
              <a:t>但有时我们没那么幸运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An unlucky learning algorithm may choose the 2</a:t>
            </a:r>
            <a:r>
              <a:rPr lang="en-US" altLang="zh-CN" baseline="30000" dirty="0"/>
              <a:t>nd</a:t>
            </a:r>
            <a:r>
              <a:rPr lang="en-US" altLang="zh-CN" dirty="0"/>
              <a:t> or the 3</a:t>
            </a:r>
            <a:r>
              <a:rPr lang="en-US" altLang="zh-CN" baseline="30000" dirty="0"/>
              <a:t>rd</a:t>
            </a:r>
            <a:r>
              <a:rPr lang="en-US" altLang="zh-CN" dirty="0"/>
              <a:t> line  </a:t>
            </a:r>
            <a:r>
              <a:rPr lang="zh-CN" altLang="en-US" dirty="0"/>
              <a:t>有的运气不好的学习算法可能会选择第二条或者第三条直线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Accidentally errors are made</a:t>
            </a:r>
            <a:br>
              <a:rPr lang="en-US" altLang="zh-CN" dirty="0"/>
            </a:br>
            <a:r>
              <a:rPr lang="zh-CN" altLang="en-US" dirty="0"/>
              <a:t>意外地，错误发生了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251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Idea  </a:t>
            </a:r>
            <a:r>
              <a:rPr lang="zh-CN" altLang="en-US" dirty="0">
                <a:ea typeface="ＭＳ Ｐゴシック" panose="020B0600070205080204" pitchFamily="34" charset="-128"/>
              </a:rPr>
              <a:t>不同的想法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32B3AB-8D45-4E0E-B629-951354E10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28622"/>
            <a:ext cx="2263140" cy="1762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9063AE-BC34-4FC7-9F40-DCED3F432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4248150"/>
            <a:ext cx="6429375" cy="19954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095974-6D48-4A6E-8321-FE237A487D7F}"/>
              </a:ext>
            </a:extLst>
          </p:cNvPr>
          <p:cNvSpPr txBox="1"/>
          <p:nvPr/>
        </p:nvSpPr>
        <p:spPr>
          <a:xfrm>
            <a:off x="4800600" y="1933445"/>
            <a:ext cx="2915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From solo</a:t>
            </a:r>
          </a:p>
          <a:p>
            <a:pPr algn="ctr"/>
            <a:r>
              <a:rPr lang="zh-CN" altLang="en-US" sz="2200" dirty="0"/>
              <a:t>从独奏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167A0-BC46-4EFF-8B4E-A5730AAA6350}"/>
              </a:ext>
            </a:extLst>
          </p:cNvPr>
          <p:cNvSpPr txBox="1"/>
          <p:nvPr/>
        </p:nvSpPr>
        <p:spPr>
          <a:xfrm>
            <a:off x="4800600" y="2939142"/>
            <a:ext cx="29158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ensemble</a:t>
            </a:r>
          </a:p>
          <a:p>
            <a:pPr algn="ctr"/>
            <a:r>
              <a:rPr lang="zh-CN" altLang="en-US" sz="2200" dirty="0"/>
              <a:t>到合奏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166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Ensemble Learning  </a:t>
            </a:r>
            <a:r>
              <a:rPr lang="zh-CN" altLang="en-US" dirty="0">
                <a:ea typeface="ＭＳ Ｐゴシック" panose="020B0600070205080204" pitchFamily="34" charset="-128"/>
              </a:rPr>
              <a:t>合奏学习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Learn Several Classifiers</a:t>
            </a:r>
            <a:br>
              <a:rPr lang="en-US" altLang="zh-CN" dirty="0"/>
            </a:br>
            <a:r>
              <a:rPr lang="zh-CN" altLang="en-US" dirty="0"/>
              <a:t>学习到多个分类器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Rather than a single one </a:t>
            </a:r>
            <a:r>
              <a:rPr lang="zh-CN" altLang="en-US" dirty="0"/>
              <a:t> 而不是一个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Classification through voting</a:t>
            </a:r>
            <a:br>
              <a:rPr lang="en-US" altLang="zh-CN" dirty="0"/>
            </a:br>
            <a:r>
              <a:rPr lang="zh-CN" altLang="en-US" dirty="0"/>
              <a:t>用投票的方式分类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Expectation  </a:t>
            </a:r>
            <a:r>
              <a:rPr lang="zh-CN" altLang="en-US" dirty="0"/>
              <a:t>预期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For a single sample  </a:t>
            </a:r>
            <a:r>
              <a:rPr lang="zh-CN" altLang="en-US" dirty="0"/>
              <a:t>针对单个数据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More classifiers vote for the right answer than those vote for the wrong one</a:t>
            </a:r>
            <a:br>
              <a:rPr lang="en-US" altLang="zh-CN" dirty="0"/>
            </a:br>
            <a:r>
              <a:rPr lang="zh-CN" altLang="en-US" dirty="0"/>
              <a:t>相对于给出错误答案的分类器，更多的分类器给出了正确的答案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06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>
                <a:ea typeface="SimSun" panose="02010600030101010101" pitchFamily="2" charset="-122"/>
              </a:rPr>
              <a:t>Illustrative Example: Weather Forecast  </a:t>
            </a:r>
            <a:r>
              <a:rPr lang="zh-CN" altLang="en-US" sz="3600" dirty="0">
                <a:ea typeface="SimSun" panose="02010600030101010101" pitchFamily="2" charset="-122"/>
              </a:rPr>
              <a:t>说明用例：天气预报</a:t>
            </a:r>
            <a:endParaRPr lang="en-US" altLang="zh-CN" sz="3600" dirty="0">
              <a:ea typeface="SimSun" panose="02010600030101010101" pitchFamily="2" charset="-122"/>
            </a:endParaRPr>
          </a:p>
        </p:txBody>
      </p:sp>
      <p:graphicFrame>
        <p:nvGraphicFramePr>
          <p:cNvPr id="437384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540876"/>
              </p:ext>
            </p:extLst>
          </p:nvPr>
        </p:nvGraphicFramePr>
        <p:xfrm>
          <a:off x="381000" y="1600200"/>
          <a:ext cx="8458200" cy="4572002"/>
        </p:xfrm>
        <a:graphic>
          <a:graphicData uri="http://schemas.openxmlformats.org/drawingml/2006/table">
            <a:tbl>
              <a:tblPr/>
              <a:tblGrid>
                <a:gridCol w="1598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9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94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Truth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真相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Ensemble</a:t>
                      </a:r>
                      <a:b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</a:b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SimSun" pitchFamily="2" charset="-122"/>
                        </a:rPr>
                        <a:t>合奏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SimSun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294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289994"/>
              </p:ext>
            </p:extLst>
          </p:nvPr>
        </p:nvGraphicFramePr>
        <p:xfrm>
          <a:off x="2022475" y="1624013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4" imgW="1486107" imgH="1238423" progId="MSPhotoEd.3">
                  <p:embed/>
                </p:oleObj>
              </mc:Choice>
              <mc:Fallback>
                <p:oleObj name="Photo Editor Photo" r:id="rId4" imgW="1486107" imgH="1238423" progId="MSPhotoEd.3">
                  <p:embed/>
                  <p:pic>
                    <p:nvPicPr>
                      <p:cNvPr id="9294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1624013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5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34244"/>
              </p:ext>
            </p:extLst>
          </p:nvPr>
        </p:nvGraphicFramePr>
        <p:xfrm>
          <a:off x="4964113" y="1635125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6" imgW="1486107" imgH="1238423" progId="MSPhotoEd.3">
                  <p:embed/>
                </p:oleObj>
              </mc:Choice>
              <mc:Fallback>
                <p:oleObj name="Photo Editor Photo" r:id="rId6" imgW="1486107" imgH="1238423" progId="MSPhotoEd.3">
                  <p:embed/>
                  <p:pic>
                    <p:nvPicPr>
                      <p:cNvPr id="9295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4113" y="1635125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6" name="Object 10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004237"/>
              </p:ext>
            </p:extLst>
          </p:nvPr>
        </p:nvGraphicFramePr>
        <p:xfrm>
          <a:off x="5919788" y="1641475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486107" imgH="1238423" progId="MSPhotoEd.3">
                  <p:embed/>
                </p:oleObj>
              </mc:Choice>
              <mc:Fallback>
                <p:oleObj name="Photo Editor Photo" r:id="rId7" imgW="1486107" imgH="1238423" progId="MSPhotoEd.3">
                  <p:embed/>
                  <p:pic>
                    <p:nvPicPr>
                      <p:cNvPr id="9296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9788" y="1641475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7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57090"/>
              </p:ext>
            </p:extLst>
          </p:nvPr>
        </p:nvGraphicFramePr>
        <p:xfrm>
          <a:off x="4167188" y="168275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980952" imgH="980952" progId="MSPhotoEd.3">
                  <p:embed/>
                </p:oleObj>
              </mc:Choice>
              <mc:Fallback>
                <p:oleObj name="Photo Editor Photo" r:id="rId8" imgW="980952" imgH="980952" progId="MSPhotoEd.3">
                  <p:embed/>
                  <p:pic>
                    <p:nvPicPr>
                      <p:cNvPr id="9297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7188" y="168275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8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945489"/>
              </p:ext>
            </p:extLst>
          </p:nvPr>
        </p:nvGraphicFramePr>
        <p:xfrm>
          <a:off x="3206750" y="1687513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980952" imgH="980952" progId="MSPhotoEd.3">
                  <p:embed/>
                </p:oleObj>
              </mc:Choice>
              <mc:Fallback>
                <p:oleObj name="Photo Editor Photo" r:id="rId8" imgW="980952" imgH="980952" progId="MSPhotoEd.3">
                  <p:embed/>
                  <p:pic>
                    <p:nvPicPr>
                      <p:cNvPr id="9298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50" y="1687513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99" name="Object 1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827341"/>
              </p:ext>
            </p:extLst>
          </p:nvPr>
        </p:nvGraphicFramePr>
        <p:xfrm>
          <a:off x="7073900" y="1652588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980952" imgH="980952" progId="MSPhotoEd.3">
                  <p:embed/>
                </p:oleObj>
              </mc:Choice>
              <mc:Fallback>
                <p:oleObj name="Photo Editor Photo" r:id="rId8" imgW="980952" imgH="980952" progId="MSPhotoEd.3">
                  <p:embed/>
                  <p:pic>
                    <p:nvPicPr>
                      <p:cNvPr id="9299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1652588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00" name="Object 1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516036"/>
              </p:ext>
            </p:extLst>
          </p:nvPr>
        </p:nvGraphicFramePr>
        <p:xfrm>
          <a:off x="8062913" y="167005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980952" imgH="980952" progId="MSPhotoEd.3">
                  <p:embed/>
                </p:oleObj>
              </mc:Choice>
              <mc:Fallback>
                <p:oleObj name="Photo Editor Photo" r:id="rId8" imgW="980952" imgH="980952" progId="MSPhotoEd.3">
                  <p:embed/>
                  <p:pic>
                    <p:nvPicPr>
                      <p:cNvPr id="930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2913" y="167005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389" name="Object 1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48130"/>
              </p:ext>
            </p:extLst>
          </p:nvPr>
        </p:nvGraphicFramePr>
        <p:xfrm>
          <a:off x="2057400" y="5549900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7" imgW="1486107" imgH="1238423" progId="MSPhotoEd.3">
                  <p:embed/>
                </p:oleObj>
              </mc:Choice>
              <mc:Fallback>
                <p:oleObj name="Photo Editor Photo" r:id="rId7" imgW="1486107" imgH="1238423" progId="MSPhotoEd.3">
                  <p:embed/>
                  <p:pic>
                    <p:nvPicPr>
                      <p:cNvPr id="437389" name="Object 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549900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394" name="Object 1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723663"/>
              </p:ext>
            </p:extLst>
          </p:nvPr>
        </p:nvGraphicFramePr>
        <p:xfrm>
          <a:off x="3200400" y="5562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8" imgW="980952" imgH="980952" progId="MSPhotoEd.3">
                  <p:embed/>
                </p:oleObj>
              </mc:Choice>
              <mc:Fallback>
                <p:oleObj name="Photo Editor Photo" r:id="rId8" imgW="980952" imgH="980952" progId="MSPhotoEd.3">
                  <p:embed/>
                  <p:pic>
                    <p:nvPicPr>
                      <p:cNvPr id="437394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562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405" name="Object 1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580790"/>
              </p:ext>
            </p:extLst>
          </p:nvPr>
        </p:nvGraphicFramePr>
        <p:xfrm>
          <a:off x="4191000" y="5562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0" imgW="980952" imgH="980952" progId="MSPhotoEd.3">
                  <p:embed/>
                </p:oleObj>
              </mc:Choice>
              <mc:Fallback>
                <p:oleObj name="Photo Editor Photo" r:id="rId10" imgW="980952" imgH="980952" progId="MSPhotoEd.3">
                  <p:embed/>
                  <p:pic>
                    <p:nvPicPr>
                      <p:cNvPr id="437405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5562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421" name="Object 1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852702"/>
              </p:ext>
            </p:extLst>
          </p:nvPr>
        </p:nvGraphicFramePr>
        <p:xfrm>
          <a:off x="5029200" y="5562600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1" imgW="1486107" imgH="1238423" progId="MSPhotoEd.3">
                  <p:embed/>
                </p:oleObj>
              </mc:Choice>
              <mc:Fallback>
                <p:oleObj name="Photo Editor Photo" r:id="rId11" imgW="1486107" imgH="1238423" progId="MSPhotoEd.3">
                  <p:embed/>
                  <p:pic>
                    <p:nvPicPr>
                      <p:cNvPr id="437421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562600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422" name="Object 1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353935"/>
              </p:ext>
            </p:extLst>
          </p:nvPr>
        </p:nvGraphicFramePr>
        <p:xfrm>
          <a:off x="6019800" y="5562600"/>
          <a:ext cx="83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2" imgW="1486107" imgH="1238423" progId="MSPhotoEd.3">
                  <p:embed/>
                </p:oleObj>
              </mc:Choice>
              <mc:Fallback>
                <p:oleObj name="Photo Editor Photo" r:id="rId12" imgW="1486107" imgH="1238423" progId="MSPhotoEd.3">
                  <p:embed/>
                  <p:pic>
                    <p:nvPicPr>
                      <p:cNvPr id="437422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562600"/>
                        <a:ext cx="83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423" name="Object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4037236"/>
              </p:ext>
            </p:extLst>
          </p:nvPr>
        </p:nvGraphicFramePr>
        <p:xfrm>
          <a:off x="7092950" y="5562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3" imgW="980952" imgH="980952" progId="MSPhotoEd.3">
                  <p:embed/>
                </p:oleObj>
              </mc:Choice>
              <mc:Fallback>
                <p:oleObj name="Photo Editor Photo" r:id="rId13" imgW="980952" imgH="980952" progId="MSPhotoEd.3">
                  <p:embed/>
                  <p:pic>
                    <p:nvPicPr>
                      <p:cNvPr id="437423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562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424" name="Object 1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252024"/>
              </p:ext>
            </p:extLst>
          </p:nvPr>
        </p:nvGraphicFramePr>
        <p:xfrm>
          <a:off x="8105775" y="55626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14" imgW="980952" imgH="980952" progId="MSPhotoEd.3">
                  <p:embed/>
                </p:oleObj>
              </mc:Choice>
              <mc:Fallback>
                <p:oleObj name="Photo Editor Photo" r:id="rId14" imgW="980952" imgH="980952" progId="MSPhotoEd.3">
                  <p:embed/>
                  <p:pic>
                    <p:nvPicPr>
                      <p:cNvPr id="437424" name="Object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75" y="5562600"/>
                        <a:ext cx="533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3"/>
          <p:cNvGrpSpPr>
            <a:grpSpLocks/>
          </p:cNvGrpSpPr>
          <p:nvPr/>
        </p:nvGrpSpPr>
        <p:grpSpPr bwMode="auto">
          <a:xfrm>
            <a:off x="2057400" y="3557588"/>
            <a:ext cx="6553200" cy="763587"/>
            <a:chOff x="1296" y="2337"/>
            <a:chExt cx="4128" cy="481"/>
          </a:xfrm>
        </p:grpSpPr>
        <p:graphicFrame>
          <p:nvGraphicFramePr>
            <p:cNvPr id="9359" name="Object 138"/>
            <p:cNvGraphicFramePr>
              <a:graphicFrameLocks noChangeAspect="1"/>
            </p:cNvGraphicFramePr>
            <p:nvPr/>
          </p:nvGraphicFramePr>
          <p:xfrm>
            <a:off x="1296" y="2352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5" imgW="1486107" imgH="1238423" progId="MSPhotoEd.3">
                    <p:embed/>
                  </p:oleObj>
                </mc:Choice>
                <mc:Fallback>
                  <p:oleObj name="Photo Editor Photo" r:id="rId15" imgW="1486107" imgH="1238423" progId="MSPhotoEd.3">
                    <p:embed/>
                    <p:pic>
                      <p:nvPicPr>
                        <p:cNvPr id="9359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352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0" name="Object 145"/>
            <p:cNvGraphicFramePr>
              <a:graphicFrameLocks noChangeAspect="1"/>
            </p:cNvGraphicFramePr>
            <p:nvPr/>
          </p:nvGraphicFramePr>
          <p:xfrm>
            <a:off x="2027" y="237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6" imgW="980952" imgH="980952" progId="MSPhotoEd.3">
                    <p:embed/>
                  </p:oleObj>
                </mc:Choice>
                <mc:Fallback>
                  <p:oleObj name="Photo Editor Photo" r:id="rId16" imgW="980952" imgH="980952" progId="MSPhotoEd.3">
                    <p:embed/>
                    <p:pic>
                      <p:nvPicPr>
                        <p:cNvPr id="9360" name="Object 1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7" y="237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1" name="Object 150"/>
            <p:cNvGraphicFramePr>
              <a:graphicFrameLocks noChangeAspect="1"/>
            </p:cNvGraphicFramePr>
            <p:nvPr/>
          </p:nvGraphicFramePr>
          <p:xfrm>
            <a:off x="2544" y="2378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7" imgW="1486107" imgH="1238423" progId="MSPhotoEd.3">
                    <p:embed/>
                  </p:oleObj>
                </mc:Choice>
                <mc:Fallback>
                  <p:oleObj name="Photo Editor Photo" r:id="rId17" imgW="1486107" imgH="1238423" progId="MSPhotoEd.3">
                    <p:embed/>
                    <p:pic>
                      <p:nvPicPr>
                        <p:cNvPr id="9361" name="Object 1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378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2" name="Object 155"/>
            <p:cNvGraphicFramePr>
              <a:graphicFrameLocks noChangeAspect="1"/>
            </p:cNvGraphicFramePr>
            <p:nvPr/>
          </p:nvGraphicFramePr>
          <p:xfrm>
            <a:off x="3168" y="2352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7" imgW="1486107" imgH="1238423" progId="MSPhotoEd.3">
                    <p:embed/>
                  </p:oleObj>
                </mc:Choice>
                <mc:Fallback>
                  <p:oleObj name="Photo Editor Photo" r:id="rId17" imgW="1486107" imgH="1238423" progId="MSPhotoEd.3">
                    <p:embed/>
                    <p:pic>
                      <p:nvPicPr>
                        <p:cNvPr id="9362" name="Object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352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3" name="Object 163"/>
            <p:cNvGraphicFramePr>
              <a:graphicFrameLocks noChangeAspect="1"/>
            </p:cNvGraphicFramePr>
            <p:nvPr/>
          </p:nvGraphicFramePr>
          <p:xfrm>
            <a:off x="3840" y="2400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8" imgW="980952" imgH="980952" progId="MSPhotoEd.3">
                    <p:embed/>
                  </p:oleObj>
                </mc:Choice>
                <mc:Fallback>
                  <p:oleObj name="Photo Editor Photo" r:id="rId18" imgW="980952" imgH="980952" progId="MSPhotoEd.3">
                    <p:embed/>
                    <p:pic>
                      <p:nvPicPr>
                        <p:cNvPr id="9363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400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4" name="Object 170"/>
            <p:cNvGraphicFramePr>
              <a:graphicFrameLocks noChangeAspect="1"/>
            </p:cNvGraphicFramePr>
            <p:nvPr/>
          </p:nvGraphicFramePr>
          <p:xfrm>
            <a:off x="4405" y="2337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7" imgW="1486107" imgH="1238423" progId="MSPhotoEd.3">
                    <p:embed/>
                  </p:oleObj>
                </mc:Choice>
                <mc:Fallback>
                  <p:oleObj name="Photo Editor Photo" r:id="rId17" imgW="1486107" imgH="1238423" progId="MSPhotoEd.3">
                    <p:embed/>
                    <p:pic>
                      <p:nvPicPr>
                        <p:cNvPr id="9364" name="Object 1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" y="2337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65" name="Object 177"/>
            <p:cNvGraphicFramePr>
              <a:graphicFrameLocks noChangeAspect="1"/>
            </p:cNvGraphicFramePr>
            <p:nvPr/>
          </p:nvGraphicFramePr>
          <p:xfrm>
            <a:off x="5088" y="2400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9" imgW="980952" imgH="980952" progId="MSPhotoEd.3">
                    <p:embed/>
                  </p:oleObj>
                </mc:Choice>
                <mc:Fallback>
                  <p:oleObj name="Photo Editor Photo" r:id="rId19" imgW="980952" imgH="980952" progId="MSPhotoEd.3">
                    <p:embed/>
                    <p:pic>
                      <p:nvPicPr>
                        <p:cNvPr id="9365" name="Object 1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400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05"/>
          <p:cNvGrpSpPr>
            <a:grpSpLocks/>
          </p:cNvGrpSpPr>
          <p:nvPr/>
        </p:nvGrpSpPr>
        <p:grpSpPr bwMode="auto">
          <a:xfrm>
            <a:off x="2081213" y="4225925"/>
            <a:ext cx="6529387" cy="727075"/>
            <a:chOff x="1311" y="2758"/>
            <a:chExt cx="4113" cy="458"/>
          </a:xfrm>
        </p:grpSpPr>
        <p:graphicFrame>
          <p:nvGraphicFramePr>
            <p:cNvPr id="9352" name="Object 139"/>
            <p:cNvGraphicFramePr>
              <a:graphicFrameLocks noChangeAspect="1"/>
            </p:cNvGraphicFramePr>
            <p:nvPr/>
          </p:nvGraphicFramePr>
          <p:xfrm>
            <a:off x="1311" y="2776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0" imgW="1486107" imgH="1238423" progId="MSPhotoEd.3">
                    <p:embed/>
                  </p:oleObj>
                </mc:Choice>
                <mc:Fallback>
                  <p:oleObj name="Photo Editor Photo" r:id="rId20" imgW="1486107" imgH="1238423" progId="MSPhotoEd.3">
                    <p:embed/>
                    <p:pic>
                      <p:nvPicPr>
                        <p:cNvPr id="9352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1" y="2776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3" name="Object 147"/>
            <p:cNvGraphicFramePr>
              <a:graphicFrameLocks noChangeAspect="1"/>
            </p:cNvGraphicFramePr>
            <p:nvPr/>
          </p:nvGraphicFramePr>
          <p:xfrm>
            <a:off x="2042" y="2773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6" imgW="980952" imgH="980952" progId="MSPhotoEd.3">
                    <p:embed/>
                  </p:oleObj>
                </mc:Choice>
                <mc:Fallback>
                  <p:oleObj name="Photo Editor Photo" r:id="rId16" imgW="980952" imgH="980952" progId="MSPhotoEd.3">
                    <p:embed/>
                    <p:pic>
                      <p:nvPicPr>
                        <p:cNvPr id="9353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2" y="2773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4" name="Object 154"/>
            <p:cNvGraphicFramePr>
              <a:graphicFrameLocks noChangeAspect="1"/>
            </p:cNvGraphicFramePr>
            <p:nvPr/>
          </p:nvGraphicFramePr>
          <p:xfrm>
            <a:off x="2544" y="2758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1" imgW="1486107" imgH="1238423" progId="MSPhotoEd.3">
                    <p:embed/>
                  </p:oleObj>
                </mc:Choice>
                <mc:Fallback>
                  <p:oleObj name="Photo Editor Photo" r:id="rId21" imgW="1486107" imgH="1238423" progId="MSPhotoEd.3">
                    <p:embed/>
                    <p:pic>
                      <p:nvPicPr>
                        <p:cNvPr id="9354" name="Object 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2758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5" name="Object 161"/>
            <p:cNvGraphicFramePr>
              <a:graphicFrameLocks noChangeAspect="1"/>
            </p:cNvGraphicFramePr>
            <p:nvPr/>
          </p:nvGraphicFramePr>
          <p:xfrm>
            <a:off x="3168" y="2758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2" imgW="1486107" imgH="1238423" progId="MSPhotoEd.3">
                    <p:embed/>
                  </p:oleObj>
                </mc:Choice>
                <mc:Fallback>
                  <p:oleObj name="Photo Editor Photo" r:id="rId22" imgW="1486107" imgH="1238423" progId="MSPhotoEd.3">
                    <p:embed/>
                    <p:pic>
                      <p:nvPicPr>
                        <p:cNvPr id="9355" name="Object 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2758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6" name="Object 164"/>
            <p:cNvGraphicFramePr>
              <a:graphicFrameLocks noChangeAspect="1"/>
            </p:cNvGraphicFramePr>
            <p:nvPr/>
          </p:nvGraphicFramePr>
          <p:xfrm>
            <a:off x="3840" y="278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3" imgW="980952" imgH="980952" progId="MSPhotoEd.3">
                    <p:embed/>
                  </p:oleObj>
                </mc:Choice>
                <mc:Fallback>
                  <p:oleObj name="Photo Editor Photo" r:id="rId23" imgW="980952" imgH="980952" progId="MSPhotoEd.3">
                    <p:embed/>
                    <p:pic>
                      <p:nvPicPr>
                        <p:cNvPr id="9356" name="Object 1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784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7" name="Object 168"/>
            <p:cNvGraphicFramePr>
              <a:graphicFrameLocks noChangeAspect="1"/>
            </p:cNvGraphicFramePr>
            <p:nvPr/>
          </p:nvGraphicFramePr>
          <p:xfrm>
            <a:off x="4464" y="278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4" imgW="980952" imgH="980952" progId="MSPhotoEd.3">
                    <p:embed/>
                  </p:oleObj>
                </mc:Choice>
                <mc:Fallback>
                  <p:oleObj name="Photo Editor Photo" r:id="rId24" imgW="980952" imgH="980952" progId="MSPhotoEd.3">
                    <p:embed/>
                    <p:pic>
                      <p:nvPicPr>
                        <p:cNvPr id="9357" name="Object 1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784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8" name="Object 178"/>
            <p:cNvGraphicFramePr>
              <a:graphicFrameLocks noChangeAspect="1"/>
            </p:cNvGraphicFramePr>
            <p:nvPr/>
          </p:nvGraphicFramePr>
          <p:xfrm>
            <a:off x="5088" y="2784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3" imgW="980952" imgH="980952" progId="MSPhotoEd.3">
                    <p:embed/>
                  </p:oleObj>
                </mc:Choice>
                <mc:Fallback>
                  <p:oleObj name="Photo Editor Photo" r:id="rId23" imgW="980952" imgH="980952" progId="MSPhotoEd.3">
                    <p:embed/>
                    <p:pic>
                      <p:nvPicPr>
                        <p:cNvPr id="9358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784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07"/>
          <p:cNvGrpSpPr>
            <a:grpSpLocks/>
          </p:cNvGrpSpPr>
          <p:nvPr/>
        </p:nvGrpSpPr>
        <p:grpSpPr bwMode="auto">
          <a:xfrm>
            <a:off x="2087563" y="4870450"/>
            <a:ext cx="6546850" cy="727075"/>
            <a:chOff x="1315" y="3164"/>
            <a:chExt cx="4124" cy="458"/>
          </a:xfrm>
        </p:grpSpPr>
        <p:graphicFrame>
          <p:nvGraphicFramePr>
            <p:cNvPr id="9345" name="Object 140"/>
            <p:cNvGraphicFramePr>
              <a:graphicFrameLocks noChangeAspect="1"/>
            </p:cNvGraphicFramePr>
            <p:nvPr/>
          </p:nvGraphicFramePr>
          <p:xfrm>
            <a:off x="1315" y="3182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5" imgW="1486107" imgH="1238423" progId="MSPhotoEd.3">
                    <p:embed/>
                  </p:oleObj>
                </mc:Choice>
                <mc:Fallback>
                  <p:oleObj name="Photo Editor Photo" r:id="rId25" imgW="1486107" imgH="1238423" progId="MSPhotoEd.3">
                    <p:embed/>
                    <p:pic>
                      <p:nvPicPr>
                        <p:cNvPr id="9345" name="Object 1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3182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6" name="Object 148"/>
            <p:cNvGraphicFramePr>
              <a:graphicFrameLocks noChangeAspect="1"/>
            </p:cNvGraphicFramePr>
            <p:nvPr/>
          </p:nvGraphicFramePr>
          <p:xfrm>
            <a:off x="1920" y="3168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6" imgW="1486107" imgH="1238423" progId="MSPhotoEd.3">
                    <p:embed/>
                  </p:oleObj>
                </mc:Choice>
                <mc:Fallback>
                  <p:oleObj name="Photo Editor Photo" r:id="rId26" imgW="1486107" imgH="1238423" progId="MSPhotoEd.3">
                    <p:embed/>
                    <p:pic>
                      <p:nvPicPr>
                        <p:cNvPr id="9346" name="Object 1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3168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7" name="Object 152"/>
            <p:cNvGraphicFramePr>
              <a:graphicFrameLocks noChangeAspect="1"/>
            </p:cNvGraphicFramePr>
            <p:nvPr/>
          </p:nvGraphicFramePr>
          <p:xfrm>
            <a:off x="2629" y="3205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7" imgW="980952" imgH="980952" progId="MSPhotoEd.3">
                    <p:embed/>
                  </p:oleObj>
                </mc:Choice>
                <mc:Fallback>
                  <p:oleObj name="Photo Editor Photo" r:id="rId27" imgW="980952" imgH="980952" progId="MSPhotoEd.3">
                    <p:embed/>
                    <p:pic>
                      <p:nvPicPr>
                        <p:cNvPr id="9347" name="Object 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9" y="3205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8" name="Object 162"/>
            <p:cNvGraphicFramePr>
              <a:graphicFrameLocks noChangeAspect="1"/>
            </p:cNvGraphicFramePr>
            <p:nvPr/>
          </p:nvGraphicFramePr>
          <p:xfrm>
            <a:off x="3168" y="3164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0" imgW="1486107" imgH="1238423" progId="MSPhotoEd.3">
                    <p:embed/>
                  </p:oleObj>
                </mc:Choice>
                <mc:Fallback>
                  <p:oleObj name="Photo Editor Photo" r:id="rId20" imgW="1486107" imgH="1238423" progId="MSPhotoEd.3">
                    <p:embed/>
                    <p:pic>
                      <p:nvPicPr>
                        <p:cNvPr id="9348" name="Object 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3164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9" name="Object 166"/>
            <p:cNvGraphicFramePr>
              <a:graphicFrameLocks noChangeAspect="1"/>
            </p:cNvGraphicFramePr>
            <p:nvPr/>
          </p:nvGraphicFramePr>
          <p:xfrm>
            <a:off x="3755" y="3168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0" imgW="1486107" imgH="1238423" progId="MSPhotoEd.3">
                    <p:embed/>
                  </p:oleObj>
                </mc:Choice>
                <mc:Fallback>
                  <p:oleObj name="Photo Editor Photo" r:id="rId20" imgW="1486107" imgH="1238423" progId="MSPhotoEd.3">
                    <p:embed/>
                    <p:pic>
                      <p:nvPicPr>
                        <p:cNvPr id="9349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" y="3168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0" name="Object 167"/>
            <p:cNvGraphicFramePr>
              <a:graphicFrameLocks noChangeAspect="1"/>
            </p:cNvGraphicFramePr>
            <p:nvPr/>
          </p:nvGraphicFramePr>
          <p:xfrm>
            <a:off x="4368" y="3175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8" imgW="1486107" imgH="1238423" progId="MSPhotoEd.3">
                    <p:embed/>
                  </p:oleObj>
                </mc:Choice>
                <mc:Fallback>
                  <p:oleObj name="Photo Editor Photo" r:id="rId28" imgW="1486107" imgH="1238423" progId="MSPhotoEd.3">
                    <p:embed/>
                    <p:pic>
                      <p:nvPicPr>
                        <p:cNvPr id="9350" name="Object 1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175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51" name="Object 179"/>
            <p:cNvGraphicFramePr>
              <a:graphicFrameLocks noChangeAspect="1"/>
            </p:cNvGraphicFramePr>
            <p:nvPr/>
          </p:nvGraphicFramePr>
          <p:xfrm>
            <a:off x="5103" y="3205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7" imgW="980952" imgH="980952" progId="MSPhotoEd.3">
                    <p:embed/>
                  </p:oleObj>
                </mc:Choice>
                <mc:Fallback>
                  <p:oleObj name="Photo Editor Photo" r:id="rId27" imgW="980952" imgH="980952" progId="MSPhotoEd.3">
                    <p:embed/>
                    <p:pic>
                      <p:nvPicPr>
                        <p:cNvPr id="9351" name="Object 1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3205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01"/>
          <p:cNvGrpSpPr>
            <a:grpSpLocks/>
          </p:cNvGrpSpPr>
          <p:nvPr/>
        </p:nvGrpSpPr>
        <p:grpSpPr bwMode="auto">
          <a:xfrm>
            <a:off x="2209800" y="2965450"/>
            <a:ext cx="6553200" cy="715963"/>
            <a:chOff x="1392" y="1964"/>
            <a:chExt cx="4128" cy="451"/>
          </a:xfrm>
        </p:grpSpPr>
        <p:graphicFrame>
          <p:nvGraphicFramePr>
            <p:cNvPr id="9338" name="Object 142"/>
            <p:cNvGraphicFramePr>
              <a:graphicFrameLocks noChangeAspect="1"/>
            </p:cNvGraphicFramePr>
            <p:nvPr/>
          </p:nvGraphicFramePr>
          <p:xfrm>
            <a:off x="1392" y="196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9" imgW="980952" imgH="980952" progId="MSPhotoEd.3">
                    <p:embed/>
                  </p:oleObj>
                </mc:Choice>
                <mc:Fallback>
                  <p:oleObj name="Photo Editor Photo" r:id="rId29" imgW="980952" imgH="980952" progId="MSPhotoEd.3">
                    <p:embed/>
                    <p:pic>
                      <p:nvPicPr>
                        <p:cNvPr id="9338" name="Object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96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9" name="Object 143"/>
            <p:cNvGraphicFramePr>
              <a:graphicFrameLocks noChangeAspect="1"/>
            </p:cNvGraphicFramePr>
            <p:nvPr/>
          </p:nvGraphicFramePr>
          <p:xfrm>
            <a:off x="2016" y="196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9" imgW="980952" imgH="980952" progId="MSPhotoEd.3">
                    <p:embed/>
                  </p:oleObj>
                </mc:Choice>
                <mc:Fallback>
                  <p:oleObj name="Photo Editor Photo" r:id="rId29" imgW="980952" imgH="980952" progId="MSPhotoEd.3">
                    <p:embed/>
                    <p:pic>
                      <p:nvPicPr>
                        <p:cNvPr id="9339" name="Object 1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196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0" name="Object 153"/>
            <p:cNvGraphicFramePr>
              <a:graphicFrameLocks noChangeAspect="1"/>
            </p:cNvGraphicFramePr>
            <p:nvPr/>
          </p:nvGraphicFramePr>
          <p:xfrm>
            <a:off x="2640" y="196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0" imgW="980952" imgH="980952" progId="MSPhotoEd.3">
                    <p:embed/>
                  </p:oleObj>
                </mc:Choice>
                <mc:Fallback>
                  <p:oleObj name="Photo Editor Photo" r:id="rId30" imgW="980952" imgH="980952" progId="MSPhotoEd.3">
                    <p:embed/>
                    <p:pic>
                      <p:nvPicPr>
                        <p:cNvPr id="9340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96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1" name="Object 158"/>
            <p:cNvGraphicFramePr>
              <a:graphicFrameLocks noChangeAspect="1"/>
            </p:cNvGraphicFramePr>
            <p:nvPr/>
          </p:nvGraphicFramePr>
          <p:xfrm>
            <a:off x="3264" y="196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0" imgW="980952" imgH="980952" progId="MSPhotoEd.3">
                    <p:embed/>
                  </p:oleObj>
                </mc:Choice>
                <mc:Fallback>
                  <p:oleObj name="Photo Editor Photo" r:id="rId30" imgW="980952" imgH="980952" progId="MSPhotoEd.3">
                    <p:embed/>
                    <p:pic>
                      <p:nvPicPr>
                        <p:cNvPr id="9341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96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2" name="Object 165"/>
            <p:cNvGraphicFramePr>
              <a:graphicFrameLocks noChangeAspect="1"/>
            </p:cNvGraphicFramePr>
            <p:nvPr/>
          </p:nvGraphicFramePr>
          <p:xfrm>
            <a:off x="3770" y="1975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6" imgW="1486107" imgH="1238423" progId="MSPhotoEd.3">
                    <p:embed/>
                  </p:oleObj>
                </mc:Choice>
                <mc:Fallback>
                  <p:oleObj name="Photo Editor Photo" r:id="rId26" imgW="1486107" imgH="1238423" progId="MSPhotoEd.3">
                    <p:embed/>
                    <p:pic>
                      <p:nvPicPr>
                        <p:cNvPr id="9342" name="Object 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0" y="1975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3" name="Object 169"/>
            <p:cNvGraphicFramePr>
              <a:graphicFrameLocks noChangeAspect="1"/>
            </p:cNvGraphicFramePr>
            <p:nvPr/>
          </p:nvGraphicFramePr>
          <p:xfrm>
            <a:off x="4464" y="1968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0" imgW="980952" imgH="980952" progId="MSPhotoEd.3">
                    <p:embed/>
                  </p:oleObj>
                </mc:Choice>
                <mc:Fallback>
                  <p:oleObj name="Photo Editor Photo" r:id="rId30" imgW="980952" imgH="980952" progId="MSPhotoEd.3">
                    <p:embed/>
                    <p:pic>
                      <p:nvPicPr>
                        <p:cNvPr id="9343" name="Object 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968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44" name="Object 180"/>
            <p:cNvGraphicFramePr>
              <a:graphicFrameLocks noChangeAspect="1"/>
            </p:cNvGraphicFramePr>
            <p:nvPr/>
          </p:nvGraphicFramePr>
          <p:xfrm>
            <a:off x="4992" y="1964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26" imgW="1486107" imgH="1238423" progId="MSPhotoEd.3">
                    <p:embed/>
                  </p:oleObj>
                </mc:Choice>
                <mc:Fallback>
                  <p:oleObj name="Photo Editor Photo" r:id="rId26" imgW="1486107" imgH="1238423" progId="MSPhotoEd.3">
                    <p:embed/>
                    <p:pic>
                      <p:nvPicPr>
                        <p:cNvPr id="9344" name="Object 1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964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85"/>
          <p:cNvGrpSpPr>
            <a:grpSpLocks/>
          </p:cNvGrpSpPr>
          <p:nvPr/>
        </p:nvGrpSpPr>
        <p:grpSpPr bwMode="auto">
          <a:xfrm>
            <a:off x="2046288" y="2279650"/>
            <a:ext cx="6716712" cy="722313"/>
            <a:chOff x="1289" y="1532"/>
            <a:chExt cx="4231" cy="455"/>
          </a:xfrm>
        </p:grpSpPr>
        <p:graphicFrame>
          <p:nvGraphicFramePr>
            <p:cNvPr id="9331" name="Object 137"/>
            <p:cNvGraphicFramePr>
              <a:graphicFrameLocks noChangeAspect="1"/>
            </p:cNvGraphicFramePr>
            <p:nvPr/>
          </p:nvGraphicFramePr>
          <p:xfrm>
            <a:off x="1289" y="1547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1" imgW="1486107" imgH="1238423" progId="MSPhotoEd.3">
                    <p:embed/>
                  </p:oleObj>
                </mc:Choice>
                <mc:Fallback>
                  <p:oleObj name="Photo Editor Photo" r:id="rId31" imgW="1486107" imgH="1238423" progId="MSPhotoEd.3">
                    <p:embed/>
                    <p:pic>
                      <p:nvPicPr>
                        <p:cNvPr id="9331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9" y="1547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2" name="Object 144"/>
            <p:cNvGraphicFramePr>
              <a:graphicFrameLocks noChangeAspect="1"/>
            </p:cNvGraphicFramePr>
            <p:nvPr/>
          </p:nvGraphicFramePr>
          <p:xfrm>
            <a:off x="2625" y="1562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13" imgW="980952" imgH="980952" progId="MSPhotoEd.3">
                    <p:embed/>
                  </p:oleObj>
                </mc:Choice>
                <mc:Fallback>
                  <p:oleObj name="Photo Editor Photo" r:id="rId13" imgW="980952" imgH="980952" progId="MSPhotoEd.3">
                    <p:embed/>
                    <p:pic>
                      <p:nvPicPr>
                        <p:cNvPr id="9332" name="Object 1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1562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3" name="Object 149"/>
            <p:cNvGraphicFramePr>
              <a:graphicFrameLocks noChangeAspect="1"/>
            </p:cNvGraphicFramePr>
            <p:nvPr/>
          </p:nvGraphicFramePr>
          <p:xfrm>
            <a:off x="1920" y="1536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2" imgW="1486107" imgH="1238423" progId="MSPhotoEd.3">
                    <p:embed/>
                  </p:oleObj>
                </mc:Choice>
                <mc:Fallback>
                  <p:oleObj name="Photo Editor Photo" r:id="rId32" imgW="1486107" imgH="1238423" progId="MSPhotoEd.3">
                    <p:embed/>
                    <p:pic>
                      <p:nvPicPr>
                        <p:cNvPr id="9333" name="Object 1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536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4" name="Object 156"/>
            <p:cNvGraphicFramePr>
              <a:graphicFrameLocks noChangeAspect="1"/>
            </p:cNvGraphicFramePr>
            <p:nvPr/>
          </p:nvGraphicFramePr>
          <p:xfrm>
            <a:off x="3264" y="1547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3" imgW="980952" imgH="980952" progId="MSPhotoEd.3">
                    <p:embed/>
                  </p:oleObj>
                </mc:Choice>
                <mc:Fallback>
                  <p:oleObj name="Photo Editor Photo" r:id="rId33" imgW="980952" imgH="980952" progId="MSPhotoEd.3">
                    <p:embed/>
                    <p:pic>
                      <p:nvPicPr>
                        <p:cNvPr id="9334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1547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5" name="Object 160"/>
            <p:cNvGraphicFramePr>
              <a:graphicFrameLocks noChangeAspect="1"/>
            </p:cNvGraphicFramePr>
            <p:nvPr/>
          </p:nvGraphicFramePr>
          <p:xfrm>
            <a:off x="3770" y="1547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4" imgW="1486107" imgH="1238423" progId="MSPhotoEd.3">
                    <p:embed/>
                  </p:oleObj>
                </mc:Choice>
                <mc:Fallback>
                  <p:oleObj name="Photo Editor Photo" r:id="rId34" imgW="1486107" imgH="1238423" progId="MSPhotoEd.3">
                    <p:embed/>
                    <p:pic>
                      <p:nvPicPr>
                        <p:cNvPr id="9335" name="Object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0" y="1547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6" name="Object 172"/>
            <p:cNvGraphicFramePr>
              <a:graphicFrameLocks noChangeAspect="1"/>
            </p:cNvGraphicFramePr>
            <p:nvPr/>
          </p:nvGraphicFramePr>
          <p:xfrm>
            <a:off x="4479" y="1573"/>
            <a:ext cx="3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5" imgW="980952" imgH="980952" progId="MSPhotoEd.3">
                    <p:embed/>
                  </p:oleObj>
                </mc:Choice>
                <mc:Fallback>
                  <p:oleObj name="Photo Editor Photo" r:id="rId35" imgW="980952" imgH="980952" progId="MSPhotoEd.3">
                    <p:embed/>
                    <p:pic>
                      <p:nvPicPr>
                        <p:cNvPr id="9336" name="Object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9" y="1573"/>
                          <a:ext cx="33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37" name="Object 181"/>
            <p:cNvGraphicFramePr>
              <a:graphicFrameLocks noChangeAspect="1"/>
            </p:cNvGraphicFramePr>
            <p:nvPr/>
          </p:nvGraphicFramePr>
          <p:xfrm>
            <a:off x="4992" y="1532"/>
            <a:ext cx="528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36" imgW="1486107" imgH="1238423" progId="MSPhotoEd.3">
                    <p:embed/>
                  </p:oleObj>
                </mc:Choice>
                <mc:Fallback>
                  <p:oleObj name="Photo Editor Photo" r:id="rId36" imgW="1486107" imgH="1238423" progId="MSPhotoEd.3">
                    <p:embed/>
                    <p:pic>
                      <p:nvPicPr>
                        <p:cNvPr id="9337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532"/>
                          <a:ext cx="528" cy="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89"/>
          <p:cNvGrpSpPr>
            <a:grpSpLocks/>
          </p:cNvGrpSpPr>
          <p:nvPr/>
        </p:nvGrpSpPr>
        <p:grpSpPr bwMode="auto">
          <a:xfrm>
            <a:off x="3241675" y="2227263"/>
            <a:ext cx="5275263" cy="722312"/>
            <a:chOff x="2042" y="1499"/>
            <a:chExt cx="3323" cy="455"/>
          </a:xfrm>
        </p:grpSpPr>
        <p:sp>
          <p:nvSpPr>
            <p:cNvPr id="9328" name="Text Box 184"/>
            <p:cNvSpPr txBox="1">
              <a:spLocks noChangeArrowheads="1"/>
            </p:cNvSpPr>
            <p:nvPr/>
          </p:nvSpPr>
          <p:spPr bwMode="auto">
            <a:xfrm>
              <a:off x="2042" y="1514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9" name="Text Box 187"/>
            <p:cNvSpPr txBox="1">
              <a:spLocks noChangeArrowheads="1"/>
            </p:cNvSpPr>
            <p:nvPr/>
          </p:nvSpPr>
          <p:spPr bwMode="auto">
            <a:xfrm>
              <a:off x="3264" y="1525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30" name="Text Box 188"/>
            <p:cNvSpPr txBox="1">
              <a:spLocks noChangeArrowheads="1"/>
            </p:cNvSpPr>
            <p:nvPr/>
          </p:nvSpPr>
          <p:spPr bwMode="auto">
            <a:xfrm>
              <a:off x="5077" y="1499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</p:grpSp>
      <p:grpSp>
        <p:nvGrpSpPr>
          <p:cNvPr id="8" name="Group 202"/>
          <p:cNvGrpSpPr>
            <a:grpSpLocks/>
          </p:cNvGrpSpPr>
          <p:nvPr/>
        </p:nvGrpSpPr>
        <p:grpSpPr bwMode="auto">
          <a:xfrm>
            <a:off x="2209800" y="2895600"/>
            <a:ext cx="6342063" cy="685800"/>
            <a:chOff x="1392" y="1920"/>
            <a:chExt cx="3995" cy="432"/>
          </a:xfrm>
        </p:grpSpPr>
        <p:sp>
          <p:nvSpPr>
            <p:cNvPr id="9325" name="Text Box 190"/>
            <p:cNvSpPr txBox="1">
              <a:spLocks noChangeArrowheads="1"/>
            </p:cNvSpPr>
            <p:nvPr/>
          </p:nvSpPr>
          <p:spPr bwMode="auto">
            <a:xfrm>
              <a:off x="1392" y="1923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6" name="Text Box 191"/>
            <p:cNvSpPr txBox="1">
              <a:spLocks noChangeArrowheads="1"/>
            </p:cNvSpPr>
            <p:nvPr/>
          </p:nvSpPr>
          <p:spPr bwMode="auto">
            <a:xfrm>
              <a:off x="3286" y="1920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7" name="Text Box 192"/>
            <p:cNvSpPr txBox="1">
              <a:spLocks noChangeArrowheads="1"/>
            </p:cNvSpPr>
            <p:nvPr/>
          </p:nvSpPr>
          <p:spPr bwMode="auto">
            <a:xfrm>
              <a:off x="5099" y="1920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</p:grpSp>
      <p:grpSp>
        <p:nvGrpSpPr>
          <p:cNvPr id="9" name="Group 204"/>
          <p:cNvGrpSpPr>
            <a:grpSpLocks/>
          </p:cNvGrpSpPr>
          <p:nvPr/>
        </p:nvGrpSpPr>
        <p:grpSpPr bwMode="auto">
          <a:xfrm>
            <a:off x="4249738" y="3551238"/>
            <a:ext cx="3328987" cy="687387"/>
            <a:chOff x="2677" y="2333"/>
            <a:chExt cx="2097" cy="433"/>
          </a:xfrm>
        </p:grpSpPr>
        <p:sp>
          <p:nvSpPr>
            <p:cNvPr id="9322" name="Text Box 193"/>
            <p:cNvSpPr txBox="1">
              <a:spLocks noChangeArrowheads="1"/>
            </p:cNvSpPr>
            <p:nvPr/>
          </p:nvSpPr>
          <p:spPr bwMode="auto">
            <a:xfrm>
              <a:off x="2677" y="2337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3" name="Text Box 194"/>
            <p:cNvSpPr txBox="1">
              <a:spLocks noChangeArrowheads="1"/>
            </p:cNvSpPr>
            <p:nvPr/>
          </p:nvSpPr>
          <p:spPr bwMode="auto">
            <a:xfrm>
              <a:off x="3866" y="2333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4" name="Text Box 195"/>
            <p:cNvSpPr txBox="1">
              <a:spLocks noChangeArrowheads="1"/>
            </p:cNvSpPr>
            <p:nvPr/>
          </p:nvSpPr>
          <p:spPr bwMode="auto">
            <a:xfrm>
              <a:off x="4486" y="2333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</p:grpSp>
      <p:grpSp>
        <p:nvGrpSpPr>
          <p:cNvPr id="10" name="Group 206"/>
          <p:cNvGrpSpPr>
            <a:grpSpLocks/>
          </p:cNvGrpSpPr>
          <p:nvPr/>
        </p:nvGrpSpPr>
        <p:grpSpPr bwMode="auto">
          <a:xfrm>
            <a:off x="4219575" y="4167188"/>
            <a:ext cx="2392363" cy="696912"/>
            <a:chOff x="2658" y="2721"/>
            <a:chExt cx="1507" cy="439"/>
          </a:xfrm>
        </p:grpSpPr>
        <p:sp>
          <p:nvSpPr>
            <p:cNvPr id="9320" name="Text Box 196"/>
            <p:cNvSpPr txBox="1">
              <a:spLocks noChangeArrowheads="1"/>
            </p:cNvSpPr>
            <p:nvPr/>
          </p:nvSpPr>
          <p:spPr bwMode="auto">
            <a:xfrm>
              <a:off x="2658" y="2731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21" name="Text Box 197"/>
            <p:cNvSpPr txBox="1">
              <a:spLocks noChangeArrowheads="1"/>
            </p:cNvSpPr>
            <p:nvPr/>
          </p:nvSpPr>
          <p:spPr bwMode="auto">
            <a:xfrm>
              <a:off x="3877" y="2721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</p:grpSp>
      <p:grpSp>
        <p:nvGrpSpPr>
          <p:cNvPr id="11" name="Group 208"/>
          <p:cNvGrpSpPr>
            <a:grpSpLocks/>
          </p:cNvGrpSpPr>
          <p:nvPr/>
        </p:nvGrpSpPr>
        <p:grpSpPr bwMode="auto">
          <a:xfrm>
            <a:off x="3235325" y="4857750"/>
            <a:ext cx="4330700" cy="687388"/>
            <a:chOff x="2038" y="3156"/>
            <a:chExt cx="2728" cy="433"/>
          </a:xfrm>
        </p:grpSpPr>
        <p:sp>
          <p:nvSpPr>
            <p:cNvPr id="9318" name="Text Box 198"/>
            <p:cNvSpPr txBox="1">
              <a:spLocks noChangeArrowheads="1"/>
            </p:cNvSpPr>
            <p:nvPr/>
          </p:nvSpPr>
          <p:spPr bwMode="auto">
            <a:xfrm>
              <a:off x="2038" y="3160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  <p:sp>
          <p:nvSpPr>
            <p:cNvPr id="9319" name="Text Box 199"/>
            <p:cNvSpPr txBox="1">
              <a:spLocks noChangeArrowheads="1"/>
            </p:cNvSpPr>
            <p:nvPr/>
          </p:nvSpPr>
          <p:spPr bwMode="auto">
            <a:xfrm>
              <a:off x="4478" y="3156"/>
              <a:ext cx="28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</a:pPr>
              <a:r>
                <a:rPr lang="en-US" altLang="zh-CN" sz="4400" b="1">
                  <a:solidFill>
                    <a:srgbClr val="FF0000"/>
                  </a:solidFill>
                  <a:latin typeface="Trebuchet MS" panose="020B0603020202020204" pitchFamily="34" charset="0"/>
                </a:rPr>
                <a:t>X</a:t>
              </a:r>
            </a:p>
          </p:txBody>
        </p:sp>
      </p:grpSp>
      <p:sp>
        <p:nvSpPr>
          <p:cNvPr id="77" name="Footer Placeholder 3">
            <a:extLst>
              <a:ext uri="{FF2B5EF4-FFF2-40B4-BE49-F238E27FC236}">
                <a16:creationId xmlns:a16="http://schemas.microsoft.com/office/drawing/2014/main" id="{64BBE41C-9F76-4027-8768-A8706DB2D4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3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3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37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3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3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3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3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Does That Remind You?</a:t>
            </a:r>
            <a:br>
              <a:rPr lang="en-US" altLang="zh-CN" dirty="0"/>
            </a:br>
            <a:r>
              <a:rPr lang="zh-CN" altLang="en-US" dirty="0"/>
              <a:t>这让你想起了什么？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582FC-57CF-49B6-B20B-198E01C44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0" y="2505075"/>
            <a:ext cx="4381500" cy="2905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8D4EEB-433F-4FA7-8F8D-2A28448923AA}"/>
              </a:ext>
            </a:extLst>
          </p:cNvPr>
          <p:cNvSpPr txBox="1"/>
          <p:nvPr/>
        </p:nvSpPr>
        <p:spPr>
          <a:xfrm>
            <a:off x="865981" y="1671637"/>
            <a:ext cx="7412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Cheating in exams by checking answers w/ the others?</a:t>
            </a:r>
          </a:p>
          <a:p>
            <a:pPr algn="ctr"/>
            <a:r>
              <a:rPr lang="zh-CN" altLang="en-US" sz="2200" dirty="0"/>
              <a:t>考试的时候作弊</a:t>
            </a:r>
            <a:r>
              <a:rPr lang="zh-CN" altLang="en-US" sz="2200"/>
              <a:t>，和人</a:t>
            </a:r>
            <a:r>
              <a:rPr lang="zh-CN" altLang="en-US" sz="2200" dirty="0"/>
              <a:t>对答案？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607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B65273-6743-4305-8AD1-7DB18F08A500}"/>
              </a:ext>
            </a:extLst>
          </p:cNvPr>
          <p:cNvSpPr txBox="1"/>
          <p:nvPr/>
        </p:nvSpPr>
        <p:spPr>
          <a:xfrm>
            <a:off x="5689271" y="1733259"/>
            <a:ext cx="26518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Mix the 3 lines together in voting</a:t>
            </a:r>
          </a:p>
          <a:p>
            <a:pPr algn="ctr"/>
            <a:r>
              <a:rPr lang="zh-CN" altLang="en-US" sz="2200" dirty="0"/>
              <a:t>把三条直线放在一起投票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169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B65273-6743-4305-8AD1-7DB18F08A500}"/>
              </a:ext>
            </a:extLst>
          </p:cNvPr>
          <p:cNvSpPr txBox="1"/>
          <p:nvPr/>
        </p:nvSpPr>
        <p:spPr>
          <a:xfrm>
            <a:off x="6102979" y="1547170"/>
            <a:ext cx="25349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Together how do they perform?</a:t>
            </a:r>
          </a:p>
          <a:p>
            <a:pPr algn="ctr"/>
            <a:r>
              <a:rPr lang="zh-CN" altLang="en-US" sz="2200" dirty="0"/>
              <a:t>合在一起之后，它们表现如何？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879890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D2C9EC7-6DCB-4798-9B30-616945042A71}"/>
              </a:ext>
            </a:extLst>
          </p:cNvPr>
          <p:cNvSpPr txBox="1"/>
          <p:nvPr/>
        </p:nvSpPr>
        <p:spPr>
          <a:xfrm>
            <a:off x="6193700" y="1715125"/>
            <a:ext cx="1904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lines vote for red  </a:t>
            </a:r>
          </a:p>
          <a:p>
            <a:pPr algn="ctr"/>
            <a:r>
              <a:rPr lang="en-US" altLang="zh-CN" sz="2200" dirty="0"/>
              <a:t>2</a:t>
            </a:r>
            <a:r>
              <a:rPr lang="zh-CN" altLang="en-US" sz="2200" dirty="0"/>
              <a:t>条直线投票为红色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38E2F16-A6CF-4AFF-97B0-762B10582DDB}"/>
              </a:ext>
            </a:extLst>
          </p:cNvPr>
          <p:cNvCxnSpPr>
            <a:cxnSpLocks/>
            <a:stCxn id="50" idx="1"/>
            <a:endCxn id="79" idx="6"/>
          </p:cNvCxnSpPr>
          <p:nvPr/>
        </p:nvCxnSpPr>
        <p:spPr bwMode="auto">
          <a:xfrm flipH="1">
            <a:off x="4032250" y="2438400"/>
            <a:ext cx="216145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061853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D2C9EC7-6DCB-4798-9B30-616945042A71}"/>
              </a:ext>
            </a:extLst>
          </p:cNvPr>
          <p:cNvSpPr txBox="1"/>
          <p:nvPr/>
        </p:nvSpPr>
        <p:spPr>
          <a:xfrm>
            <a:off x="6123850" y="4878050"/>
            <a:ext cx="1904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lines vote for red  </a:t>
            </a:r>
          </a:p>
          <a:p>
            <a:pPr algn="ctr"/>
            <a:r>
              <a:rPr lang="en-US" altLang="zh-CN" sz="2200" dirty="0"/>
              <a:t>2</a:t>
            </a:r>
            <a:r>
              <a:rPr lang="zh-CN" altLang="en-US" sz="2200" dirty="0"/>
              <a:t>条直线投票为红色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38E2F16-A6CF-4AFF-97B0-762B10582DDB}"/>
              </a:ext>
            </a:extLst>
          </p:cNvPr>
          <p:cNvCxnSpPr>
            <a:cxnSpLocks/>
            <a:stCxn id="50" idx="1"/>
            <a:endCxn id="87" idx="6"/>
          </p:cNvCxnSpPr>
          <p:nvPr/>
        </p:nvCxnSpPr>
        <p:spPr bwMode="auto">
          <a:xfrm flipH="1">
            <a:off x="4343400" y="5601325"/>
            <a:ext cx="1780450" cy="374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035C7C-49FA-4E82-936E-53FD7D5668F9}"/>
              </a:ext>
            </a:extLst>
          </p:cNvPr>
          <p:cNvCxnSpPr>
            <a:cxnSpLocks/>
            <a:stCxn id="50" idx="1"/>
            <a:endCxn id="80" idx="6"/>
          </p:cNvCxnSpPr>
          <p:nvPr/>
        </p:nvCxnSpPr>
        <p:spPr bwMode="auto">
          <a:xfrm flipH="1" flipV="1">
            <a:off x="4108450" y="4724400"/>
            <a:ext cx="2015400" cy="8769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99565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D2C9EC7-6DCB-4798-9B30-616945042A71}"/>
              </a:ext>
            </a:extLst>
          </p:cNvPr>
          <p:cNvSpPr txBox="1"/>
          <p:nvPr/>
        </p:nvSpPr>
        <p:spPr>
          <a:xfrm>
            <a:off x="5655311" y="4526506"/>
            <a:ext cx="1904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lines vote for green  </a:t>
            </a:r>
          </a:p>
          <a:p>
            <a:pPr algn="ctr"/>
            <a:r>
              <a:rPr lang="en-US" altLang="zh-CN" sz="2200" dirty="0"/>
              <a:t>2</a:t>
            </a:r>
            <a:r>
              <a:rPr lang="zh-CN" altLang="en-US" sz="2200" dirty="0"/>
              <a:t>条直线投票为绿色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38E2F16-A6CF-4AFF-97B0-762B10582DDB}"/>
              </a:ext>
            </a:extLst>
          </p:cNvPr>
          <p:cNvCxnSpPr>
            <a:cxnSpLocks/>
            <a:stCxn id="50" idx="1"/>
            <a:endCxn id="77" idx="6"/>
          </p:cNvCxnSpPr>
          <p:nvPr/>
        </p:nvCxnSpPr>
        <p:spPr bwMode="auto">
          <a:xfrm flipH="1">
            <a:off x="3422650" y="5249781"/>
            <a:ext cx="2232661" cy="4652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46605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Illustrative Example  </a:t>
            </a:r>
            <a:r>
              <a:rPr lang="zh-CN" altLang="en-US" dirty="0">
                <a:ea typeface="ＭＳ Ｐゴシック" panose="020B0600070205080204" pitchFamily="34" charset="-128"/>
              </a:rPr>
              <a:t>说明用例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3FDF1A-867B-4172-9801-3F796A481DE3}"/>
              </a:ext>
            </a:extLst>
          </p:cNvPr>
          <p:cNvGrpSpPr/>
          <p:nvPr/>
        </p:nvGrpSpPr>
        <p:grpSpPr>
          <a:xfrm>
            <a:off x="1905000" y="3429000"/>
            <a:ext cx="6256020" cy="1006429"/>
            <a:chOff x="1905000" y="3429000"/>
            <a:chExt cx="6256020" cy="1006429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0368463-BD47-4799-8356-E5457A3A5B30}"/>
                </a:ext>
              </a:extLst>
            </p:cNvPr>
            <p:cNvCxnSpPr/>
            <p:nvPr/>
          </p:nvCxnSpPr>
          <p:spPr bwMode="auto">
            <a:xfrm>
              <a:off x="1905000" y="3886200"/>
              <a:ext cx="52578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5C39BD-1EC1-432C-8E44-3DF9C44D1590}"/>
                </a:ext>
              </a:extLst>
            </p:cNvPr>
            <p:cNvSpPr/>
            <p:nvPr/>
          </p:nvSpPr>
          <p:spPr>
            <a:xfrm>
              <a:off x="6256022" y="3429000"/>
              <a:ext cx="1904998" cy="1006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1</a:t>
              </a:r>
            </a:p>
            <a:p>
              <a:pPr marL="0" lvl="1" algn="ctr" eaLnBrk="1" hangingPunct="1">
                <a:lnSpc>
                  <a:spcPct val="90000"/>
                </a:lnSpc>
              </a:pPr>
              <a:endParaRPr lang="en-US" altLang="ja-JP" sz="2200" dirty="0">
                <a:ea typeface="ＭＳ Ｐゴシック" panose="020B0600070205080204" pitchFamily="34" charset="-128"/>
              </a:endParaRP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100069-E1E0-491E-B248-81EC87F98ED3}"/>
              </a:ext>
            </a:extLst>
          </p:cNvPr>
          <p:cNvGrpSpPr/>
          <p:nvPr/>
        </p:nvGrpSpPr>
        <p:grpSpPr>
          <a:xfrm>
            <a:off x="2819400" y="1524000"/>
            <a:ext cx="2697478" cy="4495800"/>
            <a:chOff x="2819400" y="1524000"/>
            <a:chExt cx="2697478" cy="449580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30AFF1F-1AB6-465B-9BFE-C122E49A19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56760" y="1524000"/>
              <a:ext cx="0" cy="449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F4C961A-66AA-459F-88B6-E38796145CE9}"/>
                </a:ext>
              </a:extLst>
            </p:cNvPr>
            <p:cNvSpPr/>
            <p:nvPr/>
          </p:nvSpPr>
          <p:spPr>
            <a:xfrm>
              <a:off x="2819400" y="1584192"/>
              <a:ext cx="269747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Attribute 2 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属性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2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C1480F-E8E8-4E58-B652-0423D11C337C}"/>
              </a:ext>
            </a:extLst>
          </p:cNvPr>
          <p:cNvGrpSpPr/>
          <p:nvPr/>
        </p:nvGrpSpPr>
        <p:grpSpPr>
          <a:xfrm>
            <a:off x="304800" y="4516227"/>
            <a:ext cx="2290219" cy="701731"/>
            <a:chOff x="304800" y="4516227"/>
            <a:chExt cx="2290219" cy="701731"/>
          </a:xfrm>
        </p:grpSpPr>
        <p:sp>
          <p:nvSpPr>
            <p:cNvPr id="30" name="Oval 3">
              <a:extLst>
                <a:ext uri="{FF2B5EF4-FFF2-40B4-BE49-F238E27FC236}">
                  <a16:creationId xmlns:a16="http://schemas.microsoft.com/office/drawing/2014/main" id="{5BE621AB-780D-44BD-AAFD-9675581F2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4813126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1" name="Oval 46">
              <a:extLst>
                <a:ext uri="{FF2B5EF4-FFF2-40B4-BE49-F238E27FC236}">
                  <a16:creationId xmlns:a16="http://schemas.microsoft.com/office/drawing/2014/main" id="{AF00F22E-9DB3-4BAA-A0F5-775DBF20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0" y="4813126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20C6900-2669-4F78-A153-FF63C7108573}"/>
                </a:ext>
              </a:extLst>
            </p:cNvPr>
            <p:cNvSpPr/>
            <p:nvPr/>
          </p:nvSpPr>
          <p:spPr>
            <a:xfrm>
              <a:off x="613821" y="4516227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Training data </a:t>
              </a:r>
              <a:r>
                <a:rPr lang="zh-CN" altLang="en-US" sz="2200" dirty="0">
                  <a:ea typeface="ＭＳ Ｐゴシック" panose="020B0600070205080204" pitchFamily="34" charset="-128"/>
                </a:rPr>
                <a:t>训练数据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D87120-7EED-4BE8-B384-8B95C6DCB43B}"/>
              </a:ext>
            </a:extLst>
          </p:cNvPr>
          <p:cNvGrpSpPr/>
          <p:nvPr/>
        </p:nvGrpSpPr>
        <p:grpSpPr>
          <a:xfrm>
            <a:off x="2514600" y="2362200"/>
            <a:ext cx="2819400" cy="2819400"/>
            <a:chOff x="2514600" y="2362200"/>
            <a:chExt cx="2819400" cy="2819400"/>
          </a:xfrm>
        </p:grpSpPr>
        <p:sp>
          <p:nvSpPr>
            <p:cNvPr id="65" name="Oval 3">
              <a:extLst>
                <a:ext uri="{FF2B5EF4-FFF2-40B4-BE49-F238E27FC236}">
                  <a16:creationId xmlns:a16="http://schemas.microsoft.com/office/drawing/2014/main" id="{ACAD7D70-029C-4B52-A28E-C100C2EC3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855" y="294541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6" name="Oval 46">
              <a:extLst>
                <a:ext uri="{FF2B5EF4-FFF2-40B4-BE49-F238E27FC236}">
                  <a16:creationId xmlns:a16="http://schemas.microsoft.com/office/drawing/2014/main" id="{8C6C1536-6B27-429E-9330-C3BDE3EB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114" y="4229034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7" name="Oval 46">
              <a:extLst>
                <a:ext uri="{FF2B5EF4-FFF2-40B4-BE49-F238E27FC236}">
                  <a16:creationId xmlns:a16="http://schemas.microsoft.com/office/drawing/2014/main" id="{500E6A0F-9663-4D20-8F17-FDC67C069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8956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8" name="Oval 46">
              <a:extLst>
                <a:ext uri="{FF2B5EF4-FFF2-40B4-BE49-F238E27FC236}">
                  <a16:creationId xmlns:a16="http://schemas.microsoft.com/office/drawing/2014/main" id="{44724A3A-7B69-42A3-9311-CA99D0CDF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267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9" name="Oval 3">
              <a:extLst>
                <a:ext uri="{FF2B5EF4-FFF2-40B4-BE49-F238E27FC236}">
                  <a16:creationId xmlns:a16="http://schemas.microsoft.com/office/drawing/2014/main" id="{43A057D9-7FA1-46EA-ADE8-A9B58B2A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4290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0" name="Oval 3">
              <a:extLst>
                <a:ext uri="{FF2B5EF4-FFF2-40B4-BE49-F238E27FC236}">
                  <a16:creationId xmlns:a16="http://schemas.microsoft.com/office/drawing/2014/main" id="{254ED41A-26B2-4260-A3E7-A3320883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50" y="4267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1" name="Oval 3">
              <a:extLst>
                <a:ext uri="{FF2B5EF4-FFF2-40B4-BE49-F238E27FC236}">
                  <a16:creationId xmlns:a16="http://schemas.microsoft.com/office/drawing/2014/main" id="{63729696-0DB6-4D1F-9436-0DBA2C7A4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150" y="2362200"/>
              <a:ext cx="146050" cy="152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2" name="Oval 46">
              <a:extLst>
                <a:ext uri="{FF2B5EF4-FFF2-40B4-BE49-F238E27FC236}">
                  <a16:creationId xmlns:a16="http://schemas.microsoft.com/office/drawing/2014/main" id="{AB11E4FA-81D2-4A8F-977E-9EFE0F6DF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5029200"/>
              <a:ext cx="146050" cy="1524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9EA65-4681-487E-99B2-51A5382BF188}"/>
              </a:ext>
            </a:extLst>
          </p:cNvPr>
          <p:cNvGrpSpPr/>
          <p:nvPr/>
        </p:nvGrpSpPr>
        <p:grpSpPr>
          <a:xfrm>
            <a:off x="311150" y="5334000"/>
            <a:ext cx="2279648" cy="701731"/>
            <a:chOff x="311150" y="5334000"/>
            <a:chExt cx="2279648" cy="701731"/>
          </a:xfrm>
        </p:grpSpPr>
        <p:sp>
          <p:nvSpPr>
            <p:cNvPr id="55" name="Oval 32" descr="50%">
              <a:extLst>
                <a:ext uri="{FF2B5EF4-FFF2-40B4-BE49-F238E27FC236}">
                  <a16:creationId xmlns:a16="http://schemas.microsoft.com/office/drawing/2014/main" id="{CCD5806C-DAC7-429A-A33D-F074E20F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" y="5550074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3358FC-10F8-48DB-89A2-9EFA869E3FE1}"/>
                </a:ext>
              </a:extLst>
            </p:cNvPr>
            <p:cNvSpPr/>
            <p:nvPr/>
          </p:nvSpPr>
          <p:spPr>
            <a:xfrm>
              <a:off x="609600" y="5334000"/>
              <a:ext cx="19811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Unseen data </a:t>
              </a:r>
            </a:p>
            <a:p>
              <a:pPr marL="0" lvl="1" algn="ctr" eaLnBrk="1" hangingPunct="1">
                <a:lnSpc>
                  <a:spcPct val="90000"/>
                </a:lnSpc>
              </a:pPr>
              <a:r>
                <a:rPr lang="zh-CN" altLang="en-US" sz="2200" dirty="0">
                  <a:ea typeface="ＭＳ Ｐゴシック" panose="020B0600070205080204" pitchFamily="34" charset="-128"/>
                </a:rPr>
                <a:t>未知数据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58" name="Oval 20" descr="50%">
              <a:extLst>
                <a:ext uri="{FF2B5EF4-FFF2-40B4-BE49-F238E27FC236}">
                  <a16:creationId xmlns:a16="http://schemas.microsoft.com/office/drawing/2014/main" id="{8205F63E-9F7E-43E8-B7CA-899ACFB1B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224" y="5550074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1F9134-D644-4C54-B040-CC7EFFE16A10}"/>
              </a:ext>
            </a:extLst>
          </p:cNvPr>
          <p:cNvGrpSpPr/>
          <p:nvPr/>
        </p:nvGrpSpPr>
        <p:grpSpPr>
          <a:xfrm>
            <a:off x="2292350" y="2133600"/>
            <a:ext cx="3111500" cy="3657600"/>
            <a:chOff x="2292350" y="2133600"/>
            <a:chExt cx="3111500" cy="3657600"/>
          </a:xfrm>
        </p:grpSpPr>
        <p:sp>
          <p:nvSpPr>
            <p:cNvPr id="61" name="Oval 32" descr="50%">
              <a:extLst>
                <a:ext uri="{FF2B5EF4-FFF2-40B4-BE49-F238E27FC236}">
                  <a16:creationId xmlns:a16="http://schemas.microsoft.com/office/drawing/2014/main" id="{BD9C45B5-44C2-4817-A57C-C00D020D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2438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2" name="Oval 32" descr="50%">
              <a:extLst>
                <a:ext uri="{FF2B5EF4-FFF2-40B4-BE49-F238E27FC236}">
                  <a16:creationId xmlns:a16="http://schemas.microsoft.com/office/drawing/2014/main" id="{AABE2CC4-B284-44CF-8F97-ECCA3BA40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150" y="35814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63" name="Oval 32" descr="50%">
              <a:extLst>
                <a:ext uri="{FF2B5EF4-FFF2-40B4-BE49-F238E27FC236}">
                  <a16:creationId xmlns:a16="http://schemas.microsoft.com/office/drawing/2014/main" id="{526507EF-7C22-41A7-985A-72192710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353" y="284132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3" name="Oval 32" descr="50%">
              <a:extLst>
                <a:ext uri="{FF2B5EF4-FFF2-40B4-BE49-F238E27FC236}">
                  <a16:creationId xmlns:a16="http://schemas.microsoft.com/office/drawing/2014/main" id="{FEC1D777-EA90-4F0A-9E2B-777560235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75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4" name="Oval 32" descr="50%">
              <a:extLst>
                <a:ext uri="{FF2B5EF4-FFF2-40B4-BE49-F238E27FC236}">
                  <a16:creationId xmlns:a16="http://schemas.microsoft.com/office/drawing/2014/main" id="{EFDA9874-DE1F-4781-863D-76BF26A75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000" y="46482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6" name="Oval 32" descr="50%">
              <a:extLst>
                <a:ext uri="{FF2B5EF4-FFF2-40B4-BE49-F238E27FC236}">
                  <a16:creationId xmlns:a16="http://schemas.microsoft.com/office/drawing/2014/main" id="{F3443CD2-FBFC-47DD-BE63-71F862552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3340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7" name="Oval 32" descr="50%">
              <a:extLst>
                <a:ext uri="{FF2B5EF4-FFF2-40B4-BE49-F238E27FC236}">
                  <a16:creationId xmlns:a16="http://schemas.microsoft.com/office/drawing/2014/main" id="{128A6D87-7D63-49E7-92E0-A0AC0176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638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8" name="Oval 32" descr="50%">
              <a:extLst>
                <a:ext uri="{FF2B5EF4-FFF2-40B4-BE49-F238E27FC236}">
                  <a16:creationId xmlns:a16="http://schemas.microsoft.com/office/drawing/2014/main" id="{92A6D773-B755-4A0D-BDC8-68B40743F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2350" y="4114800"/>
              <a:ext cx="146050" cy="152400"/>
            </a:xfrm>
            <a:prstGeom prst="ellipse">
              <a:avLst/>
            </a:prstGeom>
            <a:pattFill prst="pct50">
              <a:fgClr>
                <a:schemeClr val="accent1"/>
              </a:fgClr>
              <a:bgClr>
                <a:schemeClr val="bg1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79" name="Oval 20" descr="50%">
              <a:extLst>
                <a:ext uri="{FF2B5EF4-FFF2-40B4-BE49-F238E27FC236}">
                  <a16:creationId xmlns:a16="http://schemas.microsoft.com/office/drawing/2014/main" id="{A444A855-7997-46B2-B3DD-24EC2165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362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0" name="Oval 20" descr="50%">
              <a:extLst>
                <a:ext uri="{FF2B5EF4-FFF2-40B4-BE49-F238E27FC236}">
                  <a16:creationId xmlns:a16="http://schemas.microsoft.com/office/drawing/2014/main" id="{9BE0CCCA-C085-4F01-B8DD-E6FE5B399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1" name="Oval 20" descr="50%">
              <a:extLst>
                <a:ext uri="{FF2B5EF4-FFF2-40B4-BE49-F238E27FC236}">
                  <a16:creationId xmlns:a16="http://schemas.microsoft.com/office/drawing/2014/main" id="{08E4981D-D36D-48BC-8120-D44A3F1C1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4648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2" name="Oval 20" descr="50%">
              <a:extLst>
                <a:ext uri="{FF2B5EF4-FFF2-40B4-BE49-F238E27FC236}">
                  <a16:creationId xmlns:a16="http://schemas.microsoft.com/office/drawing/2014/main" id="{72B24E92-42BB-4E8E-B3BC-347140ACD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750" y="33528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3" name="Oval 20" descr="50%">
              <a:extLst>
                <a:ext uri="{FF2B5EF4-FFF2-40B4-BE49-F238E27FC236}">
                  <a16:creationId xmlns:a16="http://schemas.microsoft.com/office/drawing/2014/main" id="{BCE0EF68-886E-430B-B952-23F42C58C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1242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4" name="Oval 20" descr="50%">
              <a:extLst>
                <a:ext uri="{FF2B5EF4-FFF2-40B4-BE49-F238E27FC236}">
                  <a16:creationId xmlns:a16="http://schemas.microsoft.com/office/drawing/2014/main" id="{5F527E90-FB9B-4699-B117-C4540105F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191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5" name="Oval 20" descr="50%">
              <a:extLst>
                <a:ext uri="{FF2B5EF4-FFF2-40B4-BE49-F238E27FC236}">
                  <a16:creationId xmlns:a16="http://schemas.microsoft.com/office/drawing/2014/main" id="{3C10E1E1-53E3-4C56-AA4E-AE780B16C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0480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6" name="Oval 20" descr="50%">
              <a:extLst>
                <a:ext uri="{FF2B5EF4-FFF2-40B4-BE49-F238E27FC236}">
                  <a16:creationId xmlns:a16="http://schemas.microsoft.com/office/drawing/2014/main" id="{2A7FCB0E-C843-4674-B7E4-D0DF31E97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7950" y="4800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7" name="Oval 20" descr="50%">
              <a:extLst>
                <a:ext uri="{FF2B5EF4-FFF2-40B4-BE49-F238E27FC236}">
                  <a16:creationId xmlns:a16="http://schemas.microsoft.com/office/drawing/2014/main" id="{D05ACB80-E774-4F15-823E-6D49A46D2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350" y="5562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  <p:sp>
          <p:nvSpPr>
            <p:cNvPr id="88" name="Oval 20" descr="50%">
              <a:extLst>
                <a:ext uri="{FF2B5EF4-FFF2-40B4-BE49-F238E27FC236}">
                  <a16:creationId xmlns:a16="http://schemas.microsoft.com/office/drawing/2014/main" id="{ABB3F88B-A2C5-4F62-BFF1-D64BCA902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133600"/>
              <a:ext cx="146050" cy="152400"/>
            </a:xfrm>
            <a:prstGeom prst="ellipse">
              <a:avLst/>
            </a:prstGeom>
            <a:pattFill prst="pct50">
              <a:fgClr>
                <a:srgbClr val="FF0000"/>
              </a:fgClr>
              <a:bgClr>
                <a:srgbClr val="FFFFFF"/>
              </a:bgClr>
            </a:pattFill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 b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8611D46-16A4-4A37-9CE1-42F474C08343}"/>
              </a:ext>
            </a:extLst>
          </p:cNvPr>
          <p:cNvCxnSpPr>
            <a:cxnSpLocks/>
          </p:cNvCxnSpPr>
          <p:nvPr/>
        </p:nvCxnSpPr>
        <p:spPr bwMode="auto">
          <a:xfrm>
            <a:off x="3634103" y="1960602"/>
            <a:ext cx="0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F3A848-6815-4451-8CBE-AC93DA5C047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48002" y="1960602"/>
            <a:ext cx="1447798" cy="383059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8946B3-9E9D-4B72-921F-ACA97CA790C3}"/>
              </a:ext>
            </a:extLst>
          </p:cNvPr>
          <p:cNvCxnSpPr>
            <a:cxnSpLocks/>
          </p:cNvCxnSpPr>
          <p:nvPr/>
        </p:nvCxnSpPr>
        <p:spPr bwMode="auto">
          <a:xfrm>
            <a:off x="2965450" y="1981200"/>
            <a:ext cx="1621791" cy="372127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D2C9EC7-6DCB-4798-9B30-616945042A71}"/>
              </a:ext>
            </a:extLst>
          </p:cNvPr>
          <p:cNvSpPr txBox="1"/>
          <p:nvPr/>
        </p:nvSpPr>
        <p:spPr>
          <a:xfrm>
            <a:off x="6134099" y="1782696"/>
            <a:ext cx="19049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 lines vote for green  </a:t>
            </a:r>
          </a:p>
          <a:p>
            <a:pPr algn="ctr"/>
            <a:r>
              <a:rPr lang="en-US" altLang="zh-CN" sz="2200" dirty="0"/>
              <a:t>2</a:t>
            </a:r>
            <a:r>
              <a:rPr lang="zh-CN" altLang="en-US" sz="2200" dirty="0"/>
              <a:t>条直线投票为绿色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38E2F16-A6CF-4AFF-97B0-762B10582DDB}"/>
              </a:ext>
            </a:extLst>
          </p:cNvPr>
          <p:cNvCxnSpPr>
            <a:cxnSpLocks/>
            <a:stCxn id="50" idx="1"/>
            <a:endCxn id="61" idx="6"/>
          </p:cNvCxnSpPr>
          <p:nvPr/>
        </p:nvCxnSpPr>
        <p:spPr bwMode="auto">
          <a:xfrm flipH="1">
            <a:off x="3352800" y="2505971"/>
            <a:ext cx="2781299" cy="86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31453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 the Example  </a:t>
            </a:r>
            <a:r>
              <a:rPr lang="zh-CN" altLang="en-US" dirty="0">
                <a:ea typeface="ＭＳ Ｐゴシック" panose="020B0600070205080204" pitchFamily="34" charset="-128"/>
              </a:rPr>
              <a:t>这个例子里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Suppose We Have  </a:t>
            </a:r>
            <a:r>
              <a:rPr lang="zh-CN" altLang="en-US" dirty="0"/>
              <a:t>假定我们有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3 learning algorithm instances  </a:t>
            </a:r>
            <a:br>
              <a:rPr lang="en-US" altLang="zh-CN" dirty="0"/>
            </a:br>
            <a:r>
              <a:rPr lang="zh-CN" altLang="en-US" dirty="0"/>
              <a:t>三个学习算法的实例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1 instance is lucky &amp; 2 are not</a:t>
            </a:r>
            <a:br>
              <a:rPr lang="en-US" altLang="zh-CN" dirty="0"/>
            </a:br>
            <a:r>
              <a:rPr lang="zh-CN" altLang="en-US" dirty="0"/>
              <a:t>一个运气好，两个运气差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But we do not know which one is lucky</a:t>
            </a:r>
            <a:br>
              <a:rPr lang="en-US" altLang="zh-CN" dirty="0"/>
            </a:br>
            <a:r>
              <a:rPr lang="zh-CN" altLang="en-US" dirty="0"/>
              <a:t>但我们不知道那个运气好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Combining the 3  </a:t>
            </a:r>
            <a:r>
              <a:rPr lang="zh-CN" altLang="en-US" dirty="0"/>
              <a:t>把这三个合在一起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We wash out the unluckiness</a:t>
            </a:r>
            <a:br>
              <a:rPr lang="en-US" altLang="zh-CN" dirty="0"/>
            </a:br>
            <a:r>
              <a:rPr lang="zh-CN" altLang="en-US" dirty="0"/>
              <a:t>我们把坏运气清除了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513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The Next Question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接下来的问题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How to Create Different Learning Algorithm Instances  </a:t>
            </a:r>
            <a:br>
              <a:rPr lang="en-US" altLang="zh-CN" dirty="0"/>
            </a:br>
            <a:r>
              <a:rPr lang="zh-CN" altLang="en-US"/>
              <a:t>如何构建出</a:t>
            </a:r>
            <a:r>
              <a:rPr lang="zh-CN" altLang="en-US" dirty="0"/>
              <a:t>不同的学习算法实例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Learning different classifiers  </a:t>
            </a:r>
            <a:br>
              <a:rPr lang="en-US" altLang="zh-CN" dirty="0"/>
            </a:br>
            <a:r>
              <a:rPr lang="zh-CN" altLang="en-US" dirty="0"/>
              <a:t>学习到不同的分类器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Compensating each other </a:t>
            </a:r>
            <a:r>
              <a:rPr lang="zh-CN" altLang="en-US" dirty="0"/>
              <a:t> 相互补偿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Here We Learn a Simple Method</a:t>
            </a:r>
            <a:br>
              <a:rPr lang="en-US" altLang="zh-CN" dirty="0"/>
            </a:br>
            <a:r>
              <a:rPr lang="zh-CN" altLang="en-US" dirty="0"/>
              <a:t>这里我们学习一个简单的方法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For the problem of word sense disambiguation  </a:t>
            </a:r>
            <a:r>
              <a:rPr lang="zh-CN" altLang="en-US" dirty="0"/>
              <a:t>用在词义消歧上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861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1130-DB5B-4364-B5C1-FA44D94FE1F3}"/>
              </a:ext>
            </a:extLst>
          </p:cNvPr>
          <p:cNvSpPr/>
          <p:nvPr/>
        </p:nvSpPr>
        <p:spPr>
          <a:xfrm>
            <a:off x="228600" y="19812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declining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rates because they permit portfolio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7824CA-6A29-402A-868E-8AD6C84A4FBB}"/>
              </a:ext>
            </a:extLst>
          </p:cNvPr>
          <p:cNvCxnSpPr/>
          <p:nvPr/>
        </p:nvCxnSpPr>
        <p:spPr bwMode="auto">
          <a:xfrm>
            <a:off x="2133600" y="2590800"/>
            <a:ext cx="1905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06865F-02E3-453F-A4D6-EEC5D2CACD18}"/>
                  </a:ext>
                </a:extLst>
              </p:cNvPr>
              <p:cNvSpPr txBox="1"/>
              <p:nvPr/>
            </p:nvSpPr>
            <p:spPr>
              <a:xfrm>
                <a:off x="-76200" y="2957732"/>
                <a:ext cx="92964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Short context, e.g.,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200" dirty="0"/>
                  <a:t> window context emphasizes close colocation</a:t>
                </a:r>
              </a:p>
              <a:p>
                <a:pPr algn="ctr"/>
                <a:r>
                  <a:rPr lang="zh-CN" altLang="en-US" sz="2200" dirty="0"/>
                  <a:t>短上下文，例如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±1</m:t>
                    </m:r>
                  </m:oMath>
                </a14:m>
                <a:r>
                  <a:rPr lang="zh-CN" altLang="en-US" sz="2200" dirty="0"/>
                  <a:t>窗口强调邻近搭配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06865F-02E3-453F-A4D6-EEC5D2CAC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2957732"/>
                <a:ext cx="9296400" cy="769441"/>
              </a:xfrm>
              <a:prstGeom prst="rect">
                <a:avLst/>
              </a:prstGeom>
              <a:blipFill>
                <a:blip r:embed="rId5"/>
                <a:stretch>
                  <a:fillRect t="-5556" b="-12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588482E-D2E8-477B-9B09-C5B52946A08E}"/>
              </a:ext>
            </a:extLst>
          </p:cNvPr>
          <p:cNvSpPr/>
          <p:nvPr/>
        </p:nvSpPr>
        <p:spPr>
          <a:xfrm>
            <a:off x="230400" y="1980000"/>
            <a:ext cx="86868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</a:t>
            </a:r>
            <a:r>
              <a:rPr lang="zh-CN" altLang="en-US" dirty="0">
                <a:solidFill>
                  <a:srgbClr val="00B050"/>
                </a:solidFill>
              </a:rPr>
              <a:t>declining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B050"/>
                </a:solidFill>
              </a:rPr>
              <a:t>rates </a:t>
            </a:r>
            <a:r>
              <a:rPr lang="zh-CN" altLang="en-US" dirty="0"/>
              <a:t>because they permit portfolio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019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1130-DB5B-4364-B5C1-FA44D94FE1F3}"/>
              </a:ext>
            </a:extLst>
          </p:cNvPr>
          <p:cNvSpPr/>
          <p:nvPr/>
        </p:nvSpPr>
        <p:spPr>
          <a:xfrm>
            <a:off x="228600" y="19812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declining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rates because they permit portfolio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7824CA-6A29-402A-868E-8AD6C84A4FBB}"/>
              </a:ext>
            </a:extLst>
          </p:cNvPr>
          <p:cNvCxnSpPr>
            <a:cxnSpLocks/>
          </p:cNvCxnSpPr>
          <p:nvPr/>
        </p:nvCxnSpPr>
        <p:spPr bwMode="auto">
          <a:xfrm>
            <a:off x="304800" y="2590800"/>
            <a:ext cx="8458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588482E-D2E8-477B-9B09-C5B52946A08E}"/>
              </a:ext>
            </a:extLst>
          </p:cNvPr>
          <p:cNvSpPr/>
          <p:nvPr/>
        </p:nvSpPr>
        <p:spPr>
          <a:xfrm>
            <a:off x="230400" y="1980000"/>
            <a:ext cx="86868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declining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rates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zh-CN" altLang="en-US" dirty="0"/>
              <a:t>because they permit </a:t>
            </a:r>
            <a:r>
              <a:rPr lang="zh-CN" altLang="en-US" dirty="0">
                <a:solidFill>
                  <a:srgbClr val="00B050"/>
                </a:solidFill>
              </a:rPr>
              <a:t>portfolio</a:t>
            </a:r>
            <a:r>
              <a:rPr lang="zh-CN" altLang="en-US" dirty="0"/>
              <a:t>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00C6C-C747-44B4-8CA9-B025C837DD31}"/>
              </a:ext>
            </a:extLst>
          </p:cNvPr>
          <p:cNvSpPr txBox="1"/>
          <p:nvPr/>
        </p:nvSpPr>
        <p:spPr>
          <a:xfrm>
            <a:off x="-76200" y="2959200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Long context, e.g., full context contains long-distance dependencies</a:t>
            </a:r>
          </a:p>
          <a:p>
            <a:pPr algn="ctr"/>
            <a:r>
              <a:rPr lang="zh-CN" altLang="en-US" sz="2200" dirty="0"/>
              <a:t>长上下文，例如完整的上下文，包含了长距离依存关系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74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Context Size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不同的上下文大小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11130-DB5B-4364-B5C1-FA44D94FE1F3}"/>
              </a:ext>
            </a:extLst>
          </p:cNvPr>
          <p:cNvSpPr/>
          <p:nvPr/>
        </p:nvSpPr>
        <p:spPr>
          <a:xfrm>
            <a:off x="228600" y="1981200"/>
            <a:ext cx="868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declining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rates because they permit portfolio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7824CA-6A29-402A-868E-8AD6C84A4FBB}"/>
              </a:ext>
            </a:extLst>
          </p:cNvPr>
          <p:cNvCxnSpPr/>
          <p:nvPr/>
        </p:nvCxnSpPr>
        <p:spPr bwMode="auto">
          <a:xfrm>
            <a:off x="2133600" y="2590800"/>
            <a:ext cx="1905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588482E-D2E8-477B-9B09-C5B52946A08E}"/>
              </a:ext>
            </a:extLst>
          </p:cNvPr>
          <p:cNvSpPr/>
          <p:nvPr/>
        </p:nvSpPr>
        <p:spPr>
          <a:xfrm>
            <a:off x="230400" y="1980000"/>
            <a:ext cx="86868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…</a:t>
            </a:r>
            <a:r>
              <a:rPr lang="zh-CN" altLang="en-US" dirty="0"/>
              <a:t> to indicate declining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interest</a:t>
            </a:r>
            <a:r>
              <a:rPr lang="zh-CN" altLang="en-US" dirty="0"/>
              <a:t> rates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zh-CN" altLang="en-US" dirty="0"/>
              <a:t>because they permit portfolio managers 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8C8685-FDDA-4B70-AF91-ADFAE10A1677}"/>
              </a:ext>
            </a:extLst>
          </p:cNvPr>
          <p:cNvCxnSpPr>
            <a:cxnSpLocks/>
          </p:cNvCxnSpPr>
          <p:nvPr/>
        </p:nvCxnSpPr>
        <p:spPr bwMode="auto">
          <a:xfrm>
            <a:off x="685800" y="3124200"/>
            <a:ext cx="4876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271D80-B3F0-4831-B7DF-02442765342F}"/>
              </a:ext>
            </a:extLst>
          </p:cNvPr>
          <p:cNvCxnSpPr>
            <a:cxnSpLocks/>
          </p:cNvCxnSpPr>
          <p:nvPr/>
        </p:nvCxnSpPr>
        <p:spPr bwMode="auto">
          <a:xfrm>
            <a:off x="228600" y="4191000"/>
            <a:ext cx="8686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A186E5-3477-400A-BA62-3B33EABB7972}"/>
              </a:ext>
            </a:extLst>
          </p:cNvPr>
          <p:cNvSpPr txBox="1"/>
          <p:nvPr/>
        </p:nvSpPr>
        <p:spPr>
          <a:xfrm>
            <a:off x="2895600" y="3468417"/>
            <a:ext cx="677108" cy="66815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404EE-3627-47A4-822E-CE19AA343D76}"/>
              </a:ext>
            </a:extLst>
          </p:cNvPr>
          <p:cNvSpPr txBox="1"/>
          <p:nvPr/>
        </p:nvSpPr>
        <p:spPr>
          <a:xfrm>
            <a:off x="228600" y="4649373"/>
            <a:ext cx="868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Learn different classifiers w/ data of different context sizes, &amp; then let them vote together</a:t>
            </a:r>
          </a:p>
          <a:p>
            <a:pPr algn="ctr"/>
            <a:r>
              <a:rPr lang="zh-CN" altLang="en-US" sz="2200" dirty="0"/>
              <a:t>从不同的上下文大小的数据中学习到不同的分类器，让它们一起投票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F6ED6-C92F-4DCB-A185-8E59B2493A4F}"/>
              </a:ext>
            </a:extLst>
          </p:cNvPr>
          <p:cNvSpPr txBox="1"/>
          <p:nvPr/>
        </p:nvSpPr>
        <p:spPr>
          <a:xfrm>
            <a:off x="-76200" y="1557636"/>
            <a:ext cx="929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Take different context size  </a:t>
            </a:r>
            <a:r>
              <a:rPr lang="zh-CN" altLang="en-US" sz="2200" dirty="0"/>
              <a:t>选取不同的上下文大小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149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9.1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>
                <a:ea typeface="ＭＳ Ｐゴシック" panose="020B0600070205080204" pitchFamily="34" charset="-128"/>
              </a:rPr>
              <a:t>9.1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1752600" y="1454930"/>
            <a:ext cx="56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perceptron ensemble on word sense disambiguation</a:t>
            </a:r>
            <a:br>
              <a:rPr lang="en-US" altLang="zh-CN" sz="2200" dirty="0"/>
            </a:br>
            <a:r>
              <a:rPr lang="zh-CN" altLang="en-US" sz="2200" dirty="0"/>
              <a:t>实践时刻：尝试用感知器合奏进行词义消歧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If you have time, also try the ensemble of logistic regression</a:t>
            </a:r>
            <a:br>
              <a:rPr lang="en-US" altLang="zh-CN" sz="2200" dirty="0"/>
            </a:br>
            <a:r>
              <a:rPr lang="zh-CN" altLang="en-US" sz="2200" dirty="0"/>
              <a:t>如果你有时间，再试一下对数几率回归合奏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46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9. Ensemble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9. </a:t>
            </a:r>
            <a:r>
              <a:rPr lang="zh-CN" altLang="en-US" dirty="0"/>
              <a:t>合奏学习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DCACA-3997-4650-991A-926E46401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49266"/>
              </p:ext>
            </p:extLst>
          </p:nvPr>
        </p:nvGraphicFramePr>
        <p:xfrm>
          <a:off x="857250" y="1828800"/>
          <a:ext cx="7429500" cy="25958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5399582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029918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Accuracy </a:t>
                      </a:r>
                      <a:r>
                        <a:rPr lang="zh-CN" altLang="en-US" dirty="0"/>
                        <a:t>准确率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69.3%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 </a:t>
                      </a:r>
                      <a:r>
                        <a:rPr lang="zh-CN" altLang="en-US" dirty="0"/>
                        <a:t>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83.6%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w/ margin  </a:t>
                      </a:r>
                      <a:r>
                        <a:rPr lang="zh-CN" altLang="en-US" dirty="0"/>
                        <a:t>带间距的感知器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85.7%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Logistic regression  </a:t>
                      </a:r>
                      <a:r>
                        <a:rPr lang="zh-CN" altLang="en-US" dirty="0"/>
                        <a:t>对数几率回归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85.0%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8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ensemble  </a:t>
                      </a:r>
                      <a:r>
                        <a:rPr lang="zh-CN" altLang="en-US" dirty="0"/>
                        <a:t>感知器合奏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88.8%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812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Logistic regression ensemble  </a:t>
                      </a:r>
                      <a:r>
                        <a:rPr lang="zh-CN" altLang="en-US" dirty="0"/>
                        <a:t>对数几率回归合奏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89.5%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51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799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5.3|9.8|16|8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6|58|24.9|3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9|11.7|402.1|1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|11.8|8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14.7|10.1|8.3|15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10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88.7|16.2|26.1|13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1|9.1|4.7|5.9|28.2|7.7|4.5|5.2|10.3|8.8|19.5|3.4|2.1|1.5|1.7|1.4|2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7.8|16.7|14|4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|55.2|7.3|2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1|24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0.5|128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30505</TotalTime>
  <Words>2903</Words>
  <Application>Microsoft Office PowerPoint</Application>
  <PresentationFormat>On-screen Show (4:3)</PresentationFormat>
  <Paragraphs>296</Paragraphs>
  <Slides>29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Trebuchet MS</vt:lpstr>
      <vt:lpstr>Wingdings</vt:lpstr>
      <vt:lpstr>Blends</vt:lpstr>
      <vt:lpstr>Photo Editor Photo</vt:lpstr>
      <vt:lpstr>Machine Learning -  Basic Principles &amp; Practice 9. Ensemble Learning</vt:lpstr>
      <vt:lpstr>Inductive Learning  归纳学习</vt:lpstr>
      <vt:lpstr>Process of Searching Classifier   搜寻分类器的过程</vt:lpstr>
      <vt:lpstr>Uncertainty in Learning   学习中的不确定性</vt:lpstr>
      <vt:lpstr>Illustrative Example  说明用例</vt:lpstr>
      <vt:lpstr>Illustrative Example  说明用例</vt:lpstr>
      <vt:lpstr>Illustrative Example  说明用例</vt:lpstr>
      <vt:lpstr>Illustrative Example  说明用例</vt:lpstr>
      <vt:lpstr>Illustrative Example  说明用例</vt:lpstr>
      <vt:lpstr>Illustrative Example  说明用例</vt:lpstr>
      <vt:lpstr>In the Example  这个例子里</vt:lpstr>
      <vt:lpstr>Different Idea  不同的想法</vt:lpstr>
      <vt:lpstr>Ensemble Learning  合奏学习</vt:lpstr>
      <vt:lpstr>Illustrative Example: Weather Forecast  说明用例：天气预报</vt:lpstr>
      <vt:lpstr>What Does That Remind You? 这让你想起了什么？</vt:lpstr>
      <vt:lpstr>Illustrative Example  说明用例</vt:lpstr>
      <vt:lpstr>Illustrative Example  说明用例</vt:lpstr>
      <vt:lpstr>Illustrative Example  说明用例</vt:lpstr>
      <vt:lpstr>Illustrative Example  说明用例</vt:lpstr>
      <vt:lpstr>Illustrative Example  说明用例</vt:lpstr>
      <vt:lpstr>Illustrative Example  说明用例</vt:lpstr>
      <vt:lpstr>In the Example  这个例子里</vt:lpstr>
      <vt:lpstr>The Next Question 接下来的问题</vt:lpstr>
      <vt:lpstr>Different Context Size 不同的上下文大小</vt:lpstr>
      <vt:lpstr>Different Context Size 不同的上下文大小</vt:lpstr>
      <vt:lpstr>Different Context Size 不同的上下文大小</vt:lpstr>
      <vt:lpstr>Practice 9.1  实践9.1</vt:lpstr>
      <vt:lpstr>Results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1670</cp:revision>
  <dcterms:created xsi:type="dcterms:W3CDTF">2003-03-13T01:36:43Z</dcterms:created>
  <dcterms:modified xsi:type="dcterms:W3CDTF">2026-04-18T01:31:00Z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678fe5e5-fd83-4323-b153-b52d57100859</vt:lpwstr>
  </property>
  <property fmtid="{D5CDD505-2E9C-101B-9397-08002B2CF9AE}" pid="3" name="CTP_TimeStamp">
    <vt:lpwstr>2020-02-01 05:17:37Z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