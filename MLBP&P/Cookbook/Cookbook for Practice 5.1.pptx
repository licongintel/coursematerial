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286" r:id="rId2"/>
    <p:sldId id="440" r:id="rId3"/>
    <p:sldId id="456" r:id="rId4"/>
    <p:sldId id="455" r:id="rId5"/>
    <p:sldId id="457" r:id="rId6"/>
    <p:sldId id="458" r:id="rId7"/>
    <p:sldId id="459" r:id="rId8"/>
    <p:sldId id="460" r:id="rId9"/>
    <p:sldId id="461" r:id="rId10"/>
    <p:sldId id="353" r:id="rId11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11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5073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4905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626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98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2716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1424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54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5.1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5.1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Perceptron </a:t>
            </a:r>
            <a:r>
              <a:rPr lang="zh-CN" altLang="en-US" dirty="0">
                <a:ea typeface="ＭＳ Ｐゴシック" panose="020B0600070205080204" pitchFamily="34" charset="-128"/>
              </a:rPr>
              <a:t>两类感知器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28600" y="1600200"/>
            <a:ext cx="8305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‘perceptron.py’, import ‘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’, create a class of ‘</a:t>
            </a:r>
            <a:r>
              <a:rPr lang="en-US" altLang="zh-CN" sz="2200" dirty="0" err="1"/>
              <a:t>BinaryPerceptron</a:t>
            </a:r>
            <a:r>
              <a:rPr lang="en-US" altLang="zh-CN" sz="2200" dirty="0"/>
              <a:t>’, &amp; in its initialization function take a input parameter for maximum number of rounds in training </a:t>
            </a:r>
          </a:p>
          <a:p>
            <a:pPr algn="ctr"/>
            <a:r>
              <a:rPr lang="zh-CN" altLang="en-US" sz="2200" dirty="0"/>
              <a:t>开启一个新文件“</a:t>
            </a:r>
            <a:r>
              <a:rPr lang="en-US" altLang="zh-CN" sz="2200" dirty="0"/>
              <a:t>perceptron.py</a:t>
            </a:r>
            <a:r>
              <a:rPr lang="zh-CN" altLang="en-US" sz="2200" dirty="0"/>
              <a:t>”，导入“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”，创建“</a:t>
            </a:r>
            <a:r>
              <a:rPr lang="en-US" altLang="zh-CN" sz="2200" dirty="0" err="1"/>
              <a:t>BinaryPerceptron</a:t>
            </a:r>
            <a:r>
              <a:rPr lang="zh-CN" altLang="en-US" sz="2200" dirty="0"/>
              <a:t>”类型，并在其初始化函数中接受一个最大训练轮数的参数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31A289-FFE3-4D29-AC55-6C52A1ABF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764164"/>
            <a:ext cx="5944116" cy="13412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Perceptron </a:t>
            </a:r>
            <a:r>
              <a:rPr lang="zh-CN" altLang="en-US" dirty="0">
                <a:ea typeface="ＭＳ Ｐゴシック" panose="020B0600070205080204" pitchFamily="34" charset="-128"/>
              </a:rPr>
              <a:t>两类感知器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28600" y="1600200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Assuming two member variables of the class, bias b &amp; weight array w, are properly maintained, write a scoring member function to calculate the score of an input data sample</a:t>
            </a:r>
          </a:p>
          <a:p>
            <a:pPr algn="ctr"/>
            <a:r>
              <a:rPr lang="zh-CN" altLang="en-US" sz="2200" dirty="0"/>
              <a:t>假设我们恰当地维持着偏向</a:t>
            </a:r>
            <a:r>
              <a:rPr lang="en-US" altLang="zh-CN" sz="2200" dirty="0"/>
              <a:t>b</a:t>
            </a:r>
            <a:r>
              <a:rPr lang="zh-CN" altLang="en-US" sz="2200" dirty="0"/>
              <a:t>和权重</a:t>
            </a:r>
            <a:r>
              <a:rPr lang="en-US" altLang="zh-CN" sz="2200" dirty="0"/>
              <a:t>w</a:t>
            </a:r>
            <a:r>
              <a:rPr lang="zh-CN" altLang="en-US" sz="2200" dirty="0"/>
              <a:t>数组这两个成员变量，写一个计分的成员函数来计算某个给定输入数据的得分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34DBE-3609-4033-B783-880F9A9AC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06" y="3385304"/>
            <a:ext cx="6782388" cy="67061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7A806E96-20D1-4D24-9900-9C11A0B5E3E2}"/>
              </a:ext>
            </a:extLst>
          </p:cNvPr>
          <p:cNvGrpSpPr/>
          <p:nvPr/>
        </p:nvGrpSpPr>
        <p:grpSpPr>
          <a:xfrm>
            <a:off x="4191000" y="3718561"/>
            <a:ext cx="4953000" cy="1885235"/>
            <a:chOff x="4191000" y="3718561"/>
            <a:chExt cx="4953000" cy="188523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0323B5-3F3F-405A-BD5B-576A0B2031D3}"/>
                </a:ext>
              </a:extLst>
            </p:cNvPr>
            <p:cNvSpPr/>
            <p:nvPr/>
          </p:nvSpPr>
          <p:spPr bwMode="auto">
            <a:xfrm>
              <a:off x="5516881" y="3741419"/>
              <a:ext cx="868680" cy="266701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895ABB9-42FA-431C-9118-E1591CF3F642}"/>
                </a:ext>
              </a:extLst>
            </p:cNvPr>
            <p:cNvCxnSpPr>
              <a:cxnSpLocks/>
              <a:stCxn id="13" idx="0"/>
              <a:endCxn id="11" idx="2"/>
            </p:cNvCxnSpPr>
            <p:nvPr/>
          </p:nvCxnSpPr>
          <p:spPr bwMode="auto">
            <a:xfrm flipH="1" flipV="1">
              <a:off x="5951221" y="4008120"/>
              <a:ext cx="716279" cy="4876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144842-D7E9-4111-8C8A-60AEACDEE836}"/>
                </a:ext>
              </a:extLst>
            </p:cNvPr>
            <p:cNvSpPr txBox="1"/>
            <p:nvPr/>
          </p:nvSpPr>
          <p:spPr>
            <a:xfrm>
              <a:off x="4191000" y="4495800"/>
              <a:ext cx="4953000" cy="110799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Member variables properly maintained for weight array &amp; bias</a:t>
              </a:r>
            </a:p>
            <a:p>
              <a:pPr algn="ctr"/>
              <a:r>
                <a:rPr lang="zh-CN" altLang="en-US" sz="2200" dirty="0"/>
                <a:t>恰当维持的权重数组和偏向的成员变量</a:t>
              </a:r>
              <a:endParaRPr lang="en-US" altLang="zh-CN" sz="22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2F2AE1-7F0F-468F-BBA0-55C928B415E2}"/>
                </a:ext>
              </a:extLst>
            </p:cNvPr>
            <p:cNvSpPr/>
            <p:nvPr/>
          </p:nvSpPr>
          <p:spPr bwMode="auto">
            <a:xfrm>
              <a:off x="6888480" y="3718561"/>
              <a:ext cx="838200" cy="259079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8FC9AC9-B0A0-4AE7-8593-334E5D142040}"/>
                </a:ext>
              </a:extLst>
            </p:cNvPr>
            <p:cNvCxnSpPr>
              <a:cxnSpLocks/>
              <a:stCxn id="13" idx="0"/>
              <a:endCxn id="14" idx="2"/>
            </p:cNvCxnSpPr>
            <p:nvPr/>
          </p:nvCxnSpPr>
          <p:spPr bwMode="auto">
            <a:xfrm flipV="1">
              <a:off x="6667500" y="3977640"/>
              <a:ext cx="640080" cy="5181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1DFF3D4-91A7-47F2-8193-91251060F42A}"/>
              </a:ext>
            </a:extLst>
          </p:cNvPr>
          <p:cNvGrpSpPr/>
          <p:nvPr/>
        </p:nvGrpSpPr>
        <p:grpSpPr>
          <a:xfrm>
            <a:off x="2181373" y="3718559"/>
            <a:ext cx="4571706" cy="2891908"/>
            <a:chOff x="2181373" y="3718559"/>
            <a:chExt cx="4571706" cy="2891908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8391FEB-9E5D-4283-A639-C1B6925755DF}"/>
                </a:ext>
              </a:extLst>
            </p:cNvPr>
            <p:cNvCxnSpPr>
              <a:cxnSpLocks/>
              <a:stCxn id="28" idx="0"/>
              <a:endCxn id="26" idx="2"/>
            </p:cNvCxnSpPr>
            <p:nvPr/>
          </p:nvCxnSpPr>
          <p:spPr bwMode="auto">
            <a:xfrm flipV="1">
              <a:off x="4467226" y="4030980"/>
              <a:ext cx="24764" cy="181004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E71310E-5717-4FE5-B5CF-34A6893BDE87}"/>
                </a:ext>
              </a:extLst>
            </p:cNvPr>
            <p:cNvSpPr/>
            <p:nvPr/>
          </p:nvSpPr>
          <p:spPr bwMode="auto">
            <a:xfrm>
              <a:off x="2506980" y="3718559"/>
              <a:ext cx="3970020" cy="312421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434717D-1B7D-40BA-B679-0F7CC6C4EB34}"/>
                </a:ext>
              </a:extLst>
            </p:cNvPr>
            <p:cNvSpPr txBox="1"/>
            <p:nvPr/>
          </p:nvSpPr>
          <p:spPr>
            <a:xfrm>
              <a:off x="2181373" y="5841026"/>
              <a:ext cx="4571706" cy="7694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Calculate w/ vector dot product</a:t>
              </a:r>
            </a:p>
            <a:p>
              <a:pPr algn="ctr"/>
              <a:r>
                <a:rPr lang="zh-CN" altLang="en-US" sz="2200" dirty="0"/>
                <a:t>用向量点乘计算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0163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Perceptron </a:t>
            </a:r>
            <a:r>
              <a:rPr lang="zh-CN" altLang="en-US" dirty="0">
                <a:ea typeface="ＭＳ Ｐゴシック" panose="020B0600070205080204" pitchFamily="34" charset="-128"/>
              </a:rPr>
              <a:t>两类感知器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28600" y="1600200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Assuming two member variables of the class, bias b &amp; weight array w, are properly maintained, write a scoring member function to calculate the score of an input data sample</a:t>
            </a:r>
          </a:p>
          <a:p>
            <a:pPr algn="ctr"/>
            <a:r>
              <a:rPr lang="zh-CN" altLang="en-US" sz="2200" dirty="0"/>
              <a:t>假设我们恰当地维持着偏向</a:t>
            </a:r>
            <a:r>
              <a:rPr lang="en-US" altLang="zh-CN" sz="2200" dirty="0"/>
              <a:t>b</a:t>
            </a:r>
            <a:r>
              <a:rPr lang="zh-CN" altLang="en-US" sz="2200" dirty="0"/>
              <a:t>和权重</a:t>
            </a:r>
            <a:r>
              <a:rPr lang="en-US" altLang="zh-CN" sz="2200" dirty="0"/>
              <a:t>w</a:t>
            </a:r>
            <a:r>
              <a:rPr lang="zh-CN" altLang="en-US" sz="2200" dirty="0"/>
              <a:t>数组这两个成员变量，写一个计分的成员函数来计算某个给定输入数据的得分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34DBE-3609-4033-B783-880F9A9AC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06" y="3385304"/>
            <a:ext cx="6782388" cy="6706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565068-EA04-4510-982D-51C5D5AE085C}"/>
              </a:ext>
            </a:extLst>
          </p:cNvPr>
          <p:cNvSpPr txBox="1"/>
          <p:nvPr/>
        </p:nvSpPr>
        <p:spPr>
          <a:xfrm>
            <a:off x="419100" y="4259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another member function for classification based on the score  </a:t>
            </a:r>
            <a:r>
              <a:rPr lang="zh-CN" altLang="en-US" sz="2200" dirty="0"/>
              <a:t>再写一个成员函数，基于得分进行分类</a:t>
            </a:r>
            <a:endParaRPr lang="en-US" altLang="zh-C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D37663-51DF-4ED1-8091-467562C92C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06" y="5033236"/>
            <a:ext cx="4770534" cy="16155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428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Perceptron </a:t>
            </a:r>
            <a:r>
              <a:rPr lang="zh-CN" altLang="en-US" dirty="0">
                <a:ea typeface="ＭＳ Ｐゴシック" panose="020B0600070205080204" pitchFamily="34" charset="-128"/>
              </a:rPr>
              <a:t>两类感知器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28600" y="1600200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we write the member function for training: initialize the weight array based on the data dimension as well as the bias</a:t>
            </a:r>
            <a:r>
              <a:rPr lang="zh-CN" altLang="en-US" sz="2200" dirty="0"/>
              <a:t>现在我们来写用于训练的成员函数，根据数据的维度来初始化权重数组，并初始化偏向。</a:t>
            </a:r>
            <a:endParaRPr lang="en-US" altLang="zh-C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565068-EA04-4510-982D-51C5D5AE085C}"/>
              </a:ext>
            </a:extLst>
          </p:cNvPr>
          <p:cNvSpPr txBox="1"/>
          <p:nvPr/>
        </p:nvSpPr>
        <p:spPr>
          <a:xfrm>
            <a:off x="247650" y="4039850"/>
            <a:ext cx="86487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Loop for the maximum number of rounds in training, keeping a temporarily variable to record whether weights &amp; bias are updated or not in a round   </a:t>
            </a:r>
            <a:r>
              <a:rPr lang="zh-CN" altLang="en-US" sz="2200" dirty="0"/>
              <a:t>循环训练的最大轮数，用一个临时变量记录在这一轮是否修改了权重和偏向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8F257-09DE-463F-B011-987390219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06" y="2971760"/>
            <a:ext cx="7925486" cy="9144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E105D2-7656-42BC-A84A-64903EBE9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486400"/>
            <a:ext cx="5121084" cy="5791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575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Perceptron </a:t>
            </a:r>
            <a:r>
              <a:rPr lang="zh-CN" altLang="en-US" dirty="0">
                <a:ea typeface="ＭＳ Ｐゴシック" panose="020B0600070205080204" pitchFamily="34" charset="-128"/>
              </a:rPr>
              <a:t>两类感知器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561181" y="1600200"/>
            <a:ext cx="80216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Training for each data item in a round: update the weights &amp; the bias given an error</a:t>
            </a:r>
            <a:r>
              <a:rPr lang="zh-CN" altLang="en-US" sz="2200" dirty="0"/>
              <a:t> </a:t>
            </a:r>
            <a:r>
              <a:rPr lang="en-US" altLang="zh-CN" sz="2200" dirty="0"/>
              <a:t>&amp;</a:t>
            </a:r>
            <a:r>
              <a:rPr lang="zh-CN" altLang="en-US" sz="2200" dirty="0"/>
              <a:t> </a:t>
            </a:r>
            <a:r>
              <a:rPr lang="en-US" altLang="zh-CN" sz="2200" dirty="0"/>
              <a:t>stop training if no errors found</a:t>
            </a:r>
          </a:p>
          <a:p>
            <a:pPr algn="ctr"/>
            <a:r>
              <a:rPr lang="zh-CN" altLang="en-US" sz="2200" dirty="0"/>
              <a:t>在一轮中对每一个数据进行训练，在做错时对权重和偏向进行更新，如果没有错误则终止训练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CDEFA-49A6-4DE2-9E0B-58D810F71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26" y="2971760"/>
            <a:ext cx="6629974" cy="262150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B13C48E-5AF6-438D-BDE1-542BA731E408}"/>
              </a:ext>
            </a:extLst>
          </p:cNvPr>
          <p:cNvGrpSpPr/>
          <p:nvPr/>
        </p:nvGrpSpPr>
        <p:grpSpPr>
          <a:xfrm>
            <a:off x="761706" y="4036676"/>
            <a:ext cx="6477000" cy="2552696"/>
            <a:chOff x="504973" y="3682315"/>
            <a:chExt cx="6477000" cy="2552696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CB59C6B-25E6-46C6-A988-D30DCD0D878F}"/>
                </a:ext>
              </a:extLst>
            </p:cNvPr>
            <p:cNvCxnSpPr>
              <a:cxnSpLocks/>
              <a:stCxn id="13" idx="0"/>
              <a:endCxn id="12" idx="2"/>
            </p:cNvCxnSpPr>
            <p:nvPr/>
          </p:nvCxnSpPr>
          <p:spPr bwMode="auto">
            <a:xfrm flipV="1">
              <a:off x="3743473" y="3945790"/>
              <a:ext cx="5148" cy="15197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816AC4-AEEF-45F6-9DEF-42F190888918}"/>
                </a:ext>
              </a:extLst>
            </p:cNvPr>
            <p:cNvSpPr/>
            <p:nvPr/>
          </p:nvSpPr>
          <p:spPr bwMode="auto">
            <a:xfrm>
              <a:off x="2531480" y="3682315"/>
              <a:ext cx="2434281" cy="263475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F2E163-5462-4C1D-AF6B-37C47265330A}"/>
                </a:ext>
              </a:extLst>
            </p:cNvPr>
            <p:cNvSpPr txBox="1"/>
            <p:nvPr/>
          </p:nvSpPr>
          <p:spPr>
            <a:xfrm>
              <a:off x="504973" y="5465570"/>
              <a:ext cx="6477000" cy="7694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Error in classification w/ current weights &amp; bias</a:t>
              </a:r>
            </a:p>
            <a:p>
              <a:pPr algn="ctr"/>
              <a:r>
                <a:rPr lang="zh-CN" altLang="en-US" sz="2200" dirty="0"/>
                <a:t>当前权重和偏向下分类错误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9885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Binary Perceptron </a:t>
            </a:r>
            <a:r>
              <a:rPr lang="zh-CN" altLang="en-US" dirty="0">
                <a:ea typeface="ＭＳ Ｐゴシック" panose="020B0600070205080204" pitchFamily="34" charset="-128"/>
              </a:rPr>
              <a:t>两类感知器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561181" y="1600200"/>
            <a:ext cx="80216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Training for each data item in a round: update the</a:t>
            </a:r>
            <a:r>
              <a:rPr lang="zh-CN" altLang="en-US" sz="2200" dirty="0"/>
              <a:t> </a:t>
            </a:r>
            <a:r>
              <a:rPr lang="en-US" altLang="zh-CN" sz="2200" dirty="0"/>
              <a:t>weights &amp; the bias given an error</a:t>
            </a:r>
            <a:r>
              <a:rPr lang="zh-CN" altLang="en-US" sz="2200" dirty="0"/>
              <a:t> </a:t>
            </a:r>
            <a:r>
              <a:rPr lang="en-US" altLang="zh-CN" sz="2200" dirty="0"/>
              <a:t>&amp;</a:t>
            </a:r>
            <a:r>
              <a:rPr lang="zh-CN" altLang="en-US" sz="2200" dirty="0"/>
              <a:t> </a:t>
            </a:r>
            <a:r>
              <a:rPr lang="en-US" altLang="zh-CN" sz="2200" dirty="0"/>
              <a:t>stop training if no errors found</a:t>
            </a:r>
          </a:p>
          <a:p>
            <a:pPr algn="ctr"/>
            <a:r>
              <a:rPr lang="zh-CN" altLang="en-US" sz="2200" dirty="0"/>
              <a:t>在一轮中对每一个数据进行训练，在做错时对权重和偏向进行更新，如果没有错误则终止训练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CDEFA-49A6-4DE2-9E0B-58D810F71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26" y="2971760"/>
            <a:ext cx="6629974" cy="262150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B13C48E-5AF6-438D-BDE1-542BA731E408}"/>
              </a:ext>
            </a:extLst>
          </p:cNvPr>
          <p:cNvGrpSpPr/>
          <p:nvPr/>
        </p:nvGrpSpPr>
        <p:grpSpPr>
          <a:xfrm>
            <a:off x="304506" y="5041557"/>
            <a:ext cx="5105401" cy="1743963"/>
            <a:chOff x="47773" y="4687196"/>
            <a:chExt cx="5105401" cy="174396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CB59C6B-25E6-46C6-A988-D30DCD0D878F}"/>
                </a:ext>
              </a:extLst>
            </p:cNvPr>
            <p:cNvCxnSpPr>
              <a:cxnSpLocks/>
              <a:stCxn id="13" idx="0"/>
              <a:endCxn id="12" idx="2"/>
            </p:cNvCxnSpPr>
            <p:nvPr/>
          </p:nvCxnSpPr>
          <p:spPr bwMode="auto">
            <a:xfrm flipH="1" flipV="1">
              <a:off x="2598274" y="5193823"/>
              <a:ext cx="2200" cy="46789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816AC4-AEEF-45F6-9DEF-42F190888918}"/>
                </a:ext>
              </a:extLst>
            </p:cNvPr>
            <p:cNvSpPr/>
            <p:nvPr/>
          </p:nvSpPr>
          <p:spPr bwMode="auto">
            <a:xfrm>
              <a:off x="1602385" y="4687196"/>
              <a:ext cx="1991777" cy="50662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F2E163-5462-4C1D-AF6B-37C47265330A}"/>
                </a:ext>
              </a:extLst>
            </p:cNvPr>
            <p:cNvSpPr txBox="1"/>
            <p:nvPr/>
          </p:nvSpPr>
          <p:spPr>
            <a:xfrm>
              <a:off x="47773" y="5661718"/>
              <a:ext cx="5105401" cy="7694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Stop training if no errors in a round</a:t>
              </a:r>
            </a:p>
            <a:p>
              <a:pPr algn="ctr"/>
              <a:r>
                <a:rPr lang="zh-CN" altLang="en-US" sz="2200" dirty="0"/>
                <a:t>一轮无错即终止学习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044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</a:t>
            </a:r>
            <a:r>
              <a:rPr lang="zh-CN" altLang="en-US" dirty="0">
                <a:ea typeface="ＭＳ Ｐゴシック" panose="020B0600070205080204" pitchFamily="34" charset="-128"/>
              </a:rPr>
              <a:t>运行之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4799" y="1590514"/>
            <a:ext cx="8534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Based on Practice 4.2, in file ‘test.py’, now add a dimension parameter to the function ‘</a:t>
            </a:r>
            <a:r>
              <a:rPr lang="en-US" altLang="zh-CN" sz="2200" dirty="0" err="1"/>
              <a:t>generate_data</a:t>
            </a:r>
            <a:r>
              <a:rPr lang="en-US" altLang="zh-CN" sz="2200" dirty="0"/>
              <a:t>’   </a:t>
            </a:r>
            <a:r>
              <a:rPr lang="zh-CN" altLang="en-US" sz="2200" dirty="0"/>
              <a:t>基于实践</a:t>
            </a:r>
            <a:r>
              <a:rPr lang="en-US" altLang="zh-CN" sz="2200" dirty="0"/>
              <a:t>4.2</a:t>
            </a:r>
            <a:r>
              <a:rPr lang="zh-CN" altLang="en-US" sz="2200" dirty="0"/>
              <a:t>，在文件“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”中，为函数“</a:t>
            </a:r>
            <a:r>
              <a:rPr lang="en-US" altLang="zh-CN" sz="2200" dirty="0" err="1"/>
              <a:t>generate_data</a:t>
            </a:r>
            <a:r>
              <a:rPr lang="zh-CN" altLang="en-US" sz="2200" dirty="0"/>
              <a:t>”传入一个维度参数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EF98FE-0DCC-4B34-81F6-F9C7F49AE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704951"/>
            <a:ext cx="3901778" cy="4115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006118-8ABE-4651-930B-0C838AF149B7}"/>
              </a:ext>
            </a:extLst>
          </p:cNvPr>
          <p:cNvSpPr txBox="1"/>
          <p:nvPr/>
        </p:nvSpPr>
        <p:spPr>
          <a:xfrm>
            <a:off x="561179" y="3122908"/>
            <a:ext cx="8021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this parameter to determine whether to add the 2</a:t>
            </a:r>
            <a:r>
              <a:rPr lang="en-US" altLang="zh-CN" sz="2200" baseline="30000" dirty="0"/>
              <a:t>nd</a:t>
            </a:r>
            <a:r>
              <a:rPr lang="en-US" altLang="zh-CN" sz="2200" dirty="0"/>
              <a:t> dimension </a:t>
            </a:r>
            <a:r>
              <a:rPr lang="zh-CN" altLang="en-US" sz="2200" dirty="0"/>
              <a:t> 根据该参数决定是否加入第二维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E7A049-B902-4A3E-8470-4CA722EB6F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911490"/>
            <a:ext cx="2453852" cy="563928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482D1A-CF96-44C4-A054-0C0D2AFE302A}"/>
              </a:ext>
            </a:extLst>
          </p:cNvPr>
          <p:cNvSpPr txBox="1"/>
          <p:nvPr/>
        </p:nvSpPr>
        <p:spPr>
          <a:xfrm>
            <a:off x="561178" y="4546600"/>
            <a:ext cx="8021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an optional command line argument for data dimension </a:t>
            </a:r>
            <a:r>
              <a:rPr lang="zh-CN" altLang="en-US" sz="2200" dirty="0"/>
              <a:t> 为数据维度加入一个可选命令行参数</a:t>
            </a:r>
            <a:endParaRPr lang="en-US" altLang="zh-CN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886DF9-C228-46C1-AF18-11A0F2F773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278064"/>
            <a:ext cx="7788314" cy="640136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6E730B-C9C9-4756-A7E0-4FDC0ADCBF50}"/>
              </a:ext>
            </a:extLst>
          </p:cNvPr>
          <p:cNvSpPr txBox="1"/>
          <p:nvPr/>
        </p:nvSpPr>
        <p:spPr>
          <a:xfrm>
            <a:off x="561178" y="5918366"/>
            <a:ext cx="80216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Retrieve its value after parsing </a:t>
            </a:r>
            <a:r>
              <a:rPr lang="zh-CN" altLang="en-US" sz="2200" dirty="0"/>
              <a:t> 解析后获取</a:t>
            </a:r>
            <a:r>
              <a:rPr lang="zh-CN" altLang="en-US" sz="2200"/>
              <a:t>它的值</a:t>
            </a:r>
            <a:endParaRPr lang="en-US" altLang="zh-CN" sz="2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20939B-BA81-491C-ACF6-DCB8D8B5EC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26" y="6349253"/>
            <a:ext cx="3566470" cy="381034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07792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</a:t>
            </a:r>
            <a:r>
              <a:rPr lang="zh-CN" altLang="en-US" dirty="0">
                <a:ea typeface="ＭＳ Ｐゴシック" panose="020B0600070205080204" pitchFamily="34" charset="-128"/>
              </a:rPr>
              <a:t>运行之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4799" y="1590514"/>
            <a:ext cx="8534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training &amp; test data generation (2 places), pass in the dimension value  </a:t>
            </a:r>
            <a:r>
              <a:rPr lang="zh-CN" altLang="en-US" sz="2200" dirty="0"/>
              <a:t>在训练和测试数据生成时（两处），传入维度值</a:t>
            </a:r>
            <a:endParaRPr lang="en-US" altLang="zh-CN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006118-8ABE-4651-930B-0C838AF149B7}"/>
              </a:ext>
            </a:extLst>
          </p:cNvPr>
          <p:cNvSpPr txBox="1"/>
          <p:nvPr/>
        </p:nvSpPr>
        <p:spPr>
          <a:xfrm>
            <a:off x="228597" y="2843658"/>
            <a:ext cx="86867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import ‘perceptron’ &amp; create an instance of the ‘</a:t>
            </a:r>
            <a:r>
              <a:rPr lang="en-US" altLang="zh-CN" sz="2200" dirty="0" err="1"/>
              <a:t>BinaryPerceptron</a:t>
            </a:r>
            <a:r>
              <a:rPr lang="en-US" altLang="zh-CN" sz="2200" dirty="0"/>
              <a:t>’ class for classification   </a:t>
            </a:r>
            <a:r>
              <a:rPr lang="zh-CN" altLang="en-US" sz="2200" dirty="0"/>
              <a:t>现在，导入“</a:t>
            </a:r>
            <a:r>
              <a:rPr lang="en-US" altLang="zh-CN" sz="2200" dirty="0"/>
              <a:t>perceptron</a:t>
            </a:r>
            <a:r>
              <a:rPr lang="zh-CN" altLang="en-US" sz="2200" dirty="0"/>
              <a:t>”，生成“</a:t>
            </a:r>
            <a:r>
              <a:rPr lang="en-US" altLang="zh-CN" sz="2200" dirty="0" err="1"/>
              <a:t>BinaryPerceptron</a:t>
            </a:r>
            <a:r>
              <a:rPr lang="zh-CN" altLang="en-US" sz="2200" dirty="0"/>
              <a:t>”类型的实例，用于分类</a:t>
            </a:r>
            <a:endParaRPr lang="en-US" altLang="zh-CN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482D1A-CF96-44C4-A054-0C0D2AFE302A}"/>
              </a:ext>
            </a:extLst>
          </p:cNvPr>
          <p:cNvSpPr txBox="1"/>
          <p:nvPr/>
        </p:nvSpPr>
        <p:spPr>
          <a:xfrm>
            <a:off x="561178" y="5049550"/>
            <a:ext cx="80216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w/ the command lines like below</a:t>
            </a:r>
          </a:p>
          <a:p>
            <a:pPr algn="ctr"/>
            <a:r>
              <a:rPr lang="zh-CN" altLang="en-US" sz="2200" dirty="0"/>
              <a:t>用类似以下的命令行运行</a:t>
            </a:r>
            <a:endParaRPr lang="en-US" altLang="zh-CN" sz="2200" dirty="0"/>
          </a:p>
          <a:p>
            <a:pPr algn="ctr"/>
            <a:r>
              <a:rPr lang="en-US" altLang="zh-CN" sz="2200" dirty="0"/>
              <a:t>test.py -d 2 40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78A36-68FF-4ADF-9DCD-D4858CE20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61" y="2343768"/>
            <a:ext cx="4435224" cy="396274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FE2BF2-98CC-441D-97D1-72C55D567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97" y="4038600"/>
            <a:ext cx="2347164" cy="3505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0F0CDB-344B-483A-B86E-BA3CDE1BA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26" y="4442358"/>
            <a:ext cx="5669772" cy="45724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4654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16774</TotalTime>
  <Words>935</Words>
  <Application>Microsoft Office PowerPoint</Application>
  <PresentationFormat>On-screen Show (4:3)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5.1</vt:lpstr>
      <vt:lpstr>Binary Perceptron 两类感知器 (1)</vt:lpstr>
      <vt:lpstr>Binary Perceptron 两类感知器 (2)</vt:lpstr>
      <vt:lpstr>Binary Perceptron 两类感知器 (2)</vt:lpstr>
      <vt:lpstr>Binary Perceptron 两类感知器 (3)</vt:lpstr>
      <vt:lpstr>Binary Perceptron 两类感知器 (4)</vt:lpstr>
      <vt:lpstr>Binary Perceptron 两类感知器 (4)</vt:lpstr>
      <vt:lpstr>Run It 运行之 (1)</vt:lpstr>
      <vt:lpstr>Run It 运行之 (2)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1267</cp:revision>
  <dcterms:created xsi:type="dcterms:W3CDTF">2003-03-13T01:36:43Z</dcterms:created>
  <dcterms:modified xsi:type="dcterms:W3CDTF">2023-12-16T02:42:39Z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2020-01-04 06:39:23Z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