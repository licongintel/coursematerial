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ags/tag1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6"/>
  </p:notesMasterIdLst>
  <p:handoutMasterIdLst>
    <p:handoutMasterId r:id="rId17"/>
  </p:handoutMasterIdLst>
  <p:sldIdLst>
    <p:sldId id="286" r:id="rId2"/>
    <p:sldId id="440" r:id="rId3"/>
    <p:sldId id="462" r:id="rId4"/>
    <p:sldId id="463" r:id="rId5"/>
    <p:sldId id="464" r:id="rId6"/>
    <p:sldId id="465" r:id="rId7"/>
    <p:sldId id="466" r:id="rId8"/>
    <p:sldId id="468" r:id="rId9"/>
    <p:sldId id="467" r:id="rId10"/>
    <p:sldId id="469" r:id="rId11"/>
    <p:sldId id="470" r:id="rId12"/>
    <p:sldId id="471" r:id="rId13"/>
    <p:sldId id="472" r:id="rId14"/>
    <p:sldId id="353" r:id="rId15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6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705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4391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5663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507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4647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794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627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683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359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122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700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6.1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6.1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Suppress Output  </a:t>
            </a:r>
            <a:r>
              <a:rPr lang="zh-CN" altLang="en-US" dirty="0">
                <a:ea typeface="ＭＳ Ｐゴシック" panose="020B0600070205080204" pitchFamily="34" charset="-128"/>
              </a:rPr>
              <a:t>减少输出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19100" y="1628711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will run a large number of training &amp; testing passes. Therefore we need to suppress the output in ‘tester.py’.</a:t>
            </a:r>
          </a:p>
          <a:p>
            <a:pPr algn="ctr"/>
            <a:r>
              <a:rPr lang="zh-CN" altLang="en-US" sz="2200" dirty="0"/>
              <a:t>我们会运行很多轮训练和评估。因此我们需要减少“</a:t>
            </a:r>
            <a:r>
              <a:rPr lang="en-US" altLang="zh-CN" sz="2200" dirty="0"/>
              <a:t>tester.py</a:t>
            </a:r>
            <a:r>
              <a:rPr lang="zh-CN" altLang="en-US" sz="2200" dirty="0"/>
              <a:t>”中的输出。</a:t>
            </a:r>
            <a:endParaRPr lang="en-US" altLang="zh-CN" sz="2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9DA28E2-08F4-44A6-98AA-7F0BBE95096C}"/>
              </a:ext>
            </a:extLst>
          </p:cNvPr>
          <p:cNvGrpSpPr/>
          <p:nvPr/>
        </p:nvGrpSpPr>
        <p:grpSpPr>
          <a:xfrm>
            <a:off x="1600200" y="3048000"/>
            <a:ext cx="6005028" cy="1569796"/>
            <a:chOff x="1600200" y="3048000"/>
            <a:chExt cx="6005028" cy="156979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ED761EB-0A87-4010-9F48-9BF41C0EA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800" y="3048000"/>
              <a:ext cx="5395428" cy="64013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288F6AB-5519-4C85-8F0F-338ED2450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0200" y="3733800"/>
              <a:ext cx="5700254" cy="88399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CD07A53-B838-470F-8084-71E30EEC2A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97443" y="3239529"/>
              <a:ext cx="242093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2FED31-048B-41D9-9A07-2C7B56F2202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94686" y="3484605"/>
              <a:ext cx="466055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ECD84F6-DFA7-4E39-8374-2BF5F365C81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715529" y="3937686"/>
              <a:ext cx="54102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B9B511-CB52-444F-BD6A-94E14A208C5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42516" y="4178643"/>
              <a:ext cx="4660557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E558587-E44D-45EC-A504-4F883CFBF7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89886" y="4421658"/>
              <a:ext cx="284411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2C412C0-1545-48C6-A85B-857B658273A1}"/>
              </a:ext>
            </a:extLst>
          </p:cNvPr>
          <p:cNvSpPr txBox="1"/>
          <p:nvPr/>
        </p:nvSpPr>
        <p:spPr>
          <a:xfrm>
            <a:off x="285750" y="4722337"/>
            <a:ext cx="8572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will also return the accuracy after each round of training &amp; testing for upper level processing</a:t>
            </a:r>
          </a:p>
          <a:p>
            <a:pPr algn="ctr"/>
            <a:r>
              <a:rPr lang="zh-CN" altLang="en-US" sz="2200" dirty="0"/>
              <a:t>每一轮训练和评估结束之后，我们需要将准确率返回至上层进行处理</a:t>
            </a:r>
            <a:endParaRPr lang="en-US" altLang="zh-CN" sz="2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24B6C20-A2D1-4985-BB21-8D83BE8F80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5885839"/>
            <a:ext cx="2133784" cy="3657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A New Start  </a:t>
            </a:r>
            <a:r>
              <a:rPr lang="zh-CN" altLang="en-US" dirty="0"/>
              <a:t>重新开始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19100" y="1628711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a new file ‘test.py’ &amp; import the relevant components</a:t>
            </a:r>
          </a:p>
          <a:p>
            <a:pPr algn="ctr"/>
            <a:r>
              <a:rPr lang="zh-CN" altLang="en-US" sz="2200" dirty="0"/>
              <a:t>开始一个新的“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”文件，并导入相关组件</a:t>
            </a:r>
            <a:endParaRPr lang="en-US" altLang="zh-CN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C412C0-1545-48C6-A85B-857B658273A1}"/>
              </a:ext>
            </a:extLst>
          </p:cNvPr>
          <p:cNvSpPr txBox="1"/>
          <p:nvPr/>
        </p:nvSpPr>
        <p:spPr>
          <a:xfrm>
            <a:off x="0" y="3962400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define some constants: the maximum dimension allowed, relevant attribute number, total rounds, the test size in each round  </a:t>
            </a:r>
            <a:r>
              <a:rPr lang="zh-CN" altLang="en-US" sz="2200" dirty="0"/>
              <a:t>然后定义常数：最大允许维度、相关属性数、总轮数、每轮测试数据量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6F492-63AE-46C2-9F80-0711F2DE7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2363247"/>
            <a:ext cx="3459780" cy="15546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A6AD28-F331-4068-AF1F-9AC464C20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5095834"/>
            <a:ext cx="3200678" cy="10516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493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Generate Hyperplane </a:t>
            </a:r>
            <a:br>
              <a:rPr lang="en-US" altLang="zh-CN" dirty="0"/>
            </a:br>
            <a:r>
              <a:rPr lang="zh-CN" altLang="en-US" dirty="0"/>
              <a:t>生成超平面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10176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a new function ‘</a:t>
            </a:r>
            <a:r>
              <a:rPr lang="en-US" altLang="zh-CN" sz="2200" dirty="0" err="1"/>
              <a:t>generate_parameters</a:t>
            </a:r>
            <a:r>
              <a:rPr lang="en-US" altLang="zh-CN" sz="2200" dirty="0"/>
              <a:t>’, starting from randomly determining the attribute importance from a </a:t>
            </a:r>
            <a:r>
              <a:rPr lang="en-US" altLang="zh-CN" sz="2200" dirty="0">
                <a:solidFill>
                  <a:srgbClr val="FF0000"/>
                </a:solidFill>
              </a:rPr>
              <a:t>normal distribution</a:t>
            </a:r>
            <a:r>
              <a:rPr lang="en-US" altLang="zh-CN" sz="2200" dirty="0"/>
              <a:t>  </a:t>
            </a:r>
            <a:r>
              <a:rPr lang="zh-CN" altLang="en-US" sz="2200" dirty="0"/>
              <a:t>写一个新的“</a:t>
            </a:r>
            <a:r>
              <a:rPr lang="en-US" altLang="zh-CN" sz="2200" dirty="0" err="1"/>
              <a:t>generate_parameters</a:t>
            </a:r>
            <a:r>
              <a:rPr lang="zh-CN" altLang="en-US" sz="2200" dirty="0"/>
              <a:t>”函数，从一个</a:t>
            </a:r>
            <a:r>
              <a:rPr lang="zh-CN" altLang="en-US" sz="2200" dirty="0">
                <a:solidFill>
                  <a:srgbClr val="FF0000"/>
                </a:solidFill>
              </a:rPr>
              <a:t>正态分布</a:t>
            </a:r>
            <a:r>
              <a:rPr lang="zh-CN" altLang="en-US" sz="2200" dirty="0"/>
              <a:t>中确定属性的重要性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9B0D8-3CE6-4E3D-AE2B-7C4EFB336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75261"/>
            <a:ext cx="5624048" cy="1615580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B5E997-EE9E-42E2-9EB5-E9507EC0265A}"/>
                  </a:ext>
                </a:extLst>
              </p:cNvPr>
              <p:cNvSpPr txBox="1"/>
              <p:nvPr/>
            </p:nvSpPr>
            <p:spPr>
              <a:xfrm>
                <a:off x="979002" y="5207518"/>
                <a:ext cx="2826776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Normal distribution </a:t>
                </a:r>
              </a:p>
              <a:p>
                <a:pPr algn="ctr"/>
                <a:r>
                  <a:rPr lang="zh-CN" altLang="en-US" sz="2200" dirty="0"/>
                  <a:t>正态分布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B5E997-EE9E-42E2-9EB5-E9507EC02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02" y="5207518"/>
                <a:ext cx="2826776" cy="1107996"/>
              </a:xfrm>
              <a:prstGeom prst="rect">
                <a:avLst/>
              </a:prstGeom>
              <a:blipFill>
                <a:blip r:embed="rId7"/>
                <a:stretch>
                  <a:fillRect l="-1512" t="-3846" r="-4320" b="-6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25849DF-048E-4505-A8F7-05A3D1A9AC58}"/>
              </a:ext>
            </a:extLst>
          </p:cNvPr>
          <p:cNvGrpSpPr/>
          <p:nvPr/>
        </p:nvGrpSpPr>
        <p:grpSpPr>
          <a:xfrm>
            <a:off x="3930991" y="4786705"/>
            <a:ext cx="4050087" cy="2071295"/>
            <a:chOff x="3930991" y="4786705"/>
            <a:chExt cx="4050087" cy="207129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F7E0AFB-8D89-4379-9926-DAE0B50CC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1417" y="4786705"/>
              <a:ext cx="3799661" cy="207129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4DB028-EA25-471A-ABF3-E6C2FA1BE3D2}"/>
                </a:ext>
              </a:extLst>
            </p:cNvPr>
            <p:cNvSpPr txBox="1"/>
            <p:nvPr/>
          </p:nvSpPr>
          <p:spPr>
            <a:xfrm>
              <a:off x="3930991" y="5253238"/>
              <a:ext cx="369332" cy="1031991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zh-CN" altLang="en-US" sz="1200" dirty="0"/>
                <a:t>概率密度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9384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Generate Hyperplane </a:t>
            </a:r>
            <a:br>
              <a:rPr lang="en-US" altLang="zh-CN" dirty="0"/>
            </a:br>
            <a:r>
              <a:rPr lang="zh-CN" altLang="en-US" dirty="0"/>
              <a:t>生成超平面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57200" y="1623031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Sort the attributes </a:t>
            </a:r>
            <a:r>
              <a:rPr lang="en-US" altLang="zh-CN" sz="2200" dirty="0" err="1"/>
              <a:t>w.r.t.</a:t>
            </a:r>
            <a:r>
              <a:rPr lang="en-US" altLang="zh-CN" sz="2200" dirty="0"/>
              <a:t> the importance, &amp; then randomly determine the sign </a:t>
            </a:r>
            <a:r>
              <a:rPr lang="zh-CN" altLang="en-US" sz="2200" dirty="0"/>
              <a:t>根据重要性对属性排序，并随机确定其符号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C87A65-1420-41F3-A071-54141A11A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44" y="2377348"/>
            <a:ext cx="5105842" cy="1051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A2F6C0-D866-440C-BF9F-575D0DB2BC98}"/>
              </a:ext>
            </a:extLst>
          </p:cNvPr>
          <p:cNvSpPr txBox="1"/>
          <p:nvPr/>
        </p:nvSpPr>
        <p:spPr>
          <a:xfrm>
            <a:off x="457200" y="349096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Generate a random bias  </a:t>
            </a:r>
            <a:r>
              <a:rPr lang="zh-CN" altLang="en-US" sz="2200" dirty="0"/>
              <a:t>随机生成偏向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DC32B4-5450-4301-8424-6F45AEC876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05" y="3899016"/>
            <a:ext cx="3673158" cy="3048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F44A5A-3AAB-474A-8CA1-C8985EE35A16}"/>
              </a:ext>
            </a:extLst>
          </p:cNvPr>
          <p:cNvSpPr txBox="1"/>
          <p:nvPr/>
        </p:nvSpPr>
        <p:spPr>
          <a:xfrm>
            <a:off x="457200" y="4205798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Return the weights &amp; the bias  </a:t>
            </a:r>
            <a:r>
              <a:rPr lang="zh-CN" altLang="en-US" sz="2200" dirty="0"/>
              <a:t>返回权重和偏向</a:t>
            </a:r>
            <a:endParaRPr lang="en-US" altLang="zh-CN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1CDB61-8E84-4B83-84EB-56B472AABD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05" y="4611890"/>
            <a:ext cx="1767994" cy="3200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1988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Generate Data  </a:t>
            </a:r>
            <a:r>
              <a:rPr lang="zh-CN" altLang="en-US" dirty="0"/>
              <a:t>生成数据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609600" y="1610176"/>
            <a:ext cx="7924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a new function ‘</a:t>
            </a:r>
            <a:r>
              <a:rPr lang="en-US" altLang="zh-CN" sz="2200" dirty="0" err="1"/>
              <a:t>generate_data</a:t>
            </a:r>
            <a:r>
              <a:rPr lang="en-US" altLang="zh-CN" sz="2200" dirty="0"/>
              <a:t>’ to take inputs of the data dimension &amp; the hyperplane, initializing the attributes array &amp; the summation to get the ground truth class label</a:t>
            </a:r>
          </a:p>
          <a:p>
            <a:pPr algn="ctr"/>
            <a:r>
              <a:rPr lang="zh-CN" altLang="en-US" sz="2200" dirty="0"/>
              <a:t>写一个“</a:t>
            </a:r>
            <a:r>
              <a:rPr lang="en-US" altLang="zh-CN" sz="2200" dirty="0" err="1"/>
              <a:t>generate_data</a:t>
            </a:r>
            <a:r>
              <a:rPr lang="zh-CN" altLang="en-US" sz="2200" dirty="0"/>
              <a:t>”的新函数，接受数据维度和超平面的输入，并初始化属性数组和总和变量以获取真实类别标记</a:t>
            </a:r>
            <a:endParaRPr lang="en-US" altLang="zh-CN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886E15-8EAD-49BA-9F99-EB52563716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46" y="3352800"/>
            <a:ext cx="4694326" cy="86875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011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Generate Data  </a:t>
            </a:r>
            <a:r>
              <a:rPr lang="zh-CN" altLang="en-US" dirty="0"/>
              <a:t>生成数据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9173" y="1619951"/>
            <a:ext cx="820565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Randomly generate the values till the maximum dimension, but only use them as the attributes based on the dimension specified, &amp; also do the calculation based on the hyperplane</a:t>
            </a:r>
          </a:p>
          <a:p>
            <a:pPr algn="ctr"/>
            <a:r>
              <a:rPr lang="zh-CN" altLang="en-US" sz="2200" dirty="0"/>
              <a:t>依据最大维度生成随机数，但仅依据指定维度用作属性，同时根据超平面进行计算</a:t>
            </a:r>
            <a:endParaRPr lang="en-US" altLang="zh-CN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1E5A6B-ABC7-429E-A9F4-B201E37462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56" y="3377605"/>
            <a:ext cx="4541914" cy="1844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10C0892-7DD4-43D6-B3B6-0991D16539A5}"/>
              </a:ext>
            </a:extLst>
          </p:cNvPr>
          <p:cNvGrpSpPr/>
          <p:nvPr/>
        </p:nvGrpSpPr>
        <p:grpSpPr>
          <a:xfrm>
            <a:off x="234596" y="3933435"/>
            <a:ext cx="4571706" cy="2878579"/>
            <a:chOff x="1358279" y="3718559"/>
            <a:chExt cx="4571706" cy="2878579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FC7C0D0-912C-46CC-95A5-4755A47A4834}"/>
                </a:ext>
              </a:extLst>
            </p:cNvPr>
            <p:cNvCxnSpPr>
              <a:cxnSpLocks/>
              <a:stCxn id="12" idx="0"/>
              <a:endCxn id="11" idx="2"/>
            </p:cNvCxnSpPr>
            <p:nvPr/>
          </p:nvCxnSpPr>
          <p:spPr bwMode="auto">
            <a:xfrm flipV="1">
              <a:off x="3644132" y="4204724"/>
              <a:ext cx="0" cy="9458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8A21A-8607-49C9-AFC1-1EE9BCE9E3E7}"/>
                </a:ext>
              </a:extLst>
            </p:cNvPr>
            <p:cNvSpPr/>
            <p:nvPr/>
          </p:nvSpPr>
          <p:spPr bwMode="auto">
            <a:xfrm>
              <a:off x="2506980" y="3718559"/>
              <a:ext cx="2274303" cy="486165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1ED66A-1098-4241-9E2D-125EAABB1394}"/>
                </a:ext>
              </a:extLst>
            </p:cNvPr>
            <p:cNvSpPr txBox="1"/>
            <p:nvPr/>
          </p:nvSpPr>
          <p:spPr>
            <a:xfrm>
              <a:off x="1358279" y="5150588"/>
              <a:ext cx="4571706" cy="14465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Only use the values as the attributes based on the dimension specified</a:t>
              </a:r>
              <a:br>
                <a:rPr lang="en-US" altLang="zh-CN" sz="2200" dirty="0"/>
              </a:br>
              <a:r>
                <a:rPr lang="zh-CN" altLang="en-US" sz="2200" dirty="0"/>
                <a:t>仅依据指定维度用作属性</a:t>
              </a:r>
              <a:endParaRPr lang="en-US" altLang="zh-CN" sz="2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8152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Generate Data  </a:t>
            </a:r>
            <a:r>
              <a:rPr lang="zh-CN" altLang="en-US" dirty="0"/>
              <a:t>生成数据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9173" y="1619951"/>
            <a:ext cx="820565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Randomly generate the values till the maximum dimension, but only use them as the attributes based on the dimension specified, &amp; also do the calculation based on the hyperplane</a:t>
            </a:r>
          </a:p>
          <a:p>
            <a:pPr algn="ctr"/>
            <a:r>
              <a:rPr lang="zh-CN" altLang="en-US" sz="2200" dirty="0"/>
              <a:t>依据最大维度生成随机数，但仅依据指定维度用作属性，同时根据超平面进行计算</a:t>
            </a:r>
            <a:endParaRPr lang="en-US" altLang="zh-CN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1E5A6B-ABC7-429E-A9F4-B201E3746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56" y="3377605"/>
            <a:ext cx="4541914" cy="1844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10C0892-7DD4-43D6-B3B6-0991D16539A5}"/>
              </a:ext>
            </a:extLst>
          </p:cNvPr>
          <p:cNvGrpSpPr/>
          <p:nvPr/>
        </p:nvGrpSpPr>
        <p:grpSpPr>
          <a:xfrm>
            <a:off x="838200" y="4419599"/>
            <a:ext cx="3968101" cy="2311651"/>
            <a:chOff x="1961883" y="4204723"/>
            <a:chExt cx="3968101" cy="231165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FC7C0D0-912C-46CC-95A5-4755A47A4834}"/>
                </a:ext>
              </a:extLst>
            </p:cNvPr>
            <p:cNvCxnSpPr>
              <a:cxnSpLocks/>
              <a:stCxn id="12" idx="0"/>
              <a:endCxn id="11" idx="2"/>
            </p:cNvCxnSpPr>
            <p:nvPr/>
          </p:nvCxnSpPr>
          <p:spPr bwMode="auto">
            <a:xfrm flipV="1">
              <a:off x="3945933" y="4947832"/>
              <a:ext cx="1" cy="46054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8A21A-8607-49C9-AFC1-1EE9BCE9E3E7}"/>
                </a:ext>
              </a:extLst>
            </p:cNvPr>
            <p:cNvSpPr/>
            <p:nvPr/>
          </p:nvSpPr>
          <p:spPr bwMode="auto">
            <a:xfrm>
              <a:off x="1961883" y="4204723"/>
              <a:ext cx="3968101" cy="743109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1ED66A-1098-4241-9E2D-125EAABB1394}"/>
                </a:ext>
              </a:extLst>
            </p:cNvPr>
            <p:cNvSpPr txBox="1"/>
            <p:nvPr/>
          </p:nvSpPr>
          <p:spPr>
            <a:xfrm>
              <a:off x="2196331" y="5408378"/>
              <a:ext cx="3499204" cy="110799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Do the calculation based on the hyperplane</a:t>
              </a:r>
              <a:br>
                <a:rPr lang="en-US" altLang="zh-CN" sz="2200" dirty="0"/>
              </a:br>
              <a:r>
                <a:rPr lang="zh-CN" altLang="en-US" sz="2200" dirty="0"/>
                <a:t>根据超平面进行计算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2349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Generate Data  </a:t>
            </a:r>
            <a:r>
              <a:rPr lang="zh-CN" altLang="en-US" dirty="0"/>
              <a:t>生成数据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9173" y="1619951"/>
            <a:ext cx="82056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Determine the ground truth class label  </a:t>
            </a:r>
            <a:r>
              <a:rPr lang="zh-CN" altLang="en-US" sz="2200" dirty="0"/>
              <a:t>确定真实类别标记</a:t>
            </a:r>
            <a:endParaRPr lang="en-US" altLang="zh-CN" sz="2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E08365-4C54-4D32-B784-5EA48D2A9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42" y="2039884"/>
            <a:ext cx="1646062" cy="11278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5D2C02-9F15-4E7A-BD20-A68EAE035509}"/>
              </a:ext>
            </a:extLst>
          </p:cNvPr>
          <p:cNvSpPr txBox="1"/>
          <p:nvPr/>
        </p:nvSpPr>
        <p:spPr>
          <a:xfrm>
            <a:off x="448488" y="3226713"/>
            <a:ext cx="82056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Finally return the attributes &amp; the ground truth class label  </a:t>
            </a:r>
            <a:r>
              <a:rPr lang="zh-CN" altLang="en-US" sz="2200" dirty="0"/>
              <a:t>最后，返回属性和真实类别标记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6DA5D-AE27-495A-9178-571228F37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85" y="3962400"/>
            <a:ext cx="3535986" cy="3353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001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Main Section  </a:t>
            </a:r>
            <a:r>
              <a:rPr lang="zh-CN" altLang="en-US" dirty="0"/>
              <a:t>主程序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9173" y="1619951"/>
            <a:ext cx="82056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write the main section, starting w/ parsing the argument for training data size  </a:t>
            </a:r>
          </a:p>
          <a:p>
            <a:pPr algn="ctr"/>
            <a:r>
              <a:rPr lang="zh-CN" altLang="en-US" sz="2200" dirty="0"/>
              <a:t>现在写主程序，从命令行参数解析、获取训练数据量开始</a:t>
            </a:r>
            <a:endParaRPr lang="en-US" altLang="zh-C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D2C02-9F15-4E7A-BD20-A68EAE035509}"/>
              </a:ext>
            </a:extLst>
          </p:cNvPr>
          <p:cNvSpPr txBox="1"/>
          <p:nvPr/>
        </p:nvSpPr>
        <p:spPr>
          <a:xfrm>
            <a:off x="1156847" y="4454604"/>
            <a:ext cx="68303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Loop the dimension over 3 to 16, &amp; use a variable to track the average accuracy  </a:t>
            </a:r>
            <a:br>
              <a:rPr lang="en-US" altLang="zh-CN" sz="2200" dirty="0"/>
            </a:br>
            <a:r>
              <a:rPr lang="zh-CN" altLang="en-US" sz="2200" dirty="0"/>
              <a:t>从</a:t>
            </a:r>
            <a:r>
              <a:rPr lang="en-US" altLang="zh-CN" sz="2200" dirty="0"/>
              <a:t>3</a:t>
            </a:r>
            <a:r>
              <a:rPr lang="zh-CN" altLang="en-US" sz="2200" dirty="0"/>
              <a:t>到</a:t>
            </a:r>
            <a:r>
              <a:rPr lang="en-US" altLang="zh-CN" sz="2200" dirty="0"/>
              <a:t>16</a:t>
            </a:r>
            <a:r>
              <a:rPr lang="zh-CN" altLang="en-US" sz="2200" dirty="0"/>
              <a:t>作维度循环，用一个变量来记录平均准确率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B0B52-4033-47BE-AD13-4D068DAF9B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8" y="2699658"/>
            <a:ext cx="6995766" cy="16003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40C2FB-2A94-4BDC-BC3A-1FF20A546A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508172"/>
            <a:ext cx="4084674" cy="6248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672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Main Section  </a:t>
            </a:r>
            <a:r>
              <a:rPr lang="zh-CN" altLang="en-US" dirty="0"/>
              <a:t>主程序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9173" y="1619951"/>
            <a:ext cx="82056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numerous rounds. In each round, start w/ a different random seed &amp; generate the hyperplane  </a:t>
            </a:r>
          </a:p>
          <a:p>
            <a:pPr algn="ctr"/>
            <a:r>
              <a:rPr lang="zh-CN" altLang="en-US" sz="2200" dirty="0"/>
              <a:t>尝试很多轮，每一轮都用一个不同的随机种子，并生成超平面</a:t>
            </a:r>
            <a:endParaRPr lang="en-US" altLang="zh-C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D2C02-9F15-4E7A-BD20-A68EAE035509}"/>
              </a:ext>
            </a:extLst>
          </p:cNvPr>
          <p:cNvSpPr txBox="1"/>
          <p:nvPr/>
        </p:nvSpPr>
        <p:spPr>
          <a:xfrm>
            <a:off x="448488" y="3683913"/>
            <a:ext cx="82056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Generate the test data first  </a:t>
            </a:r>
            <a:r>
              <a:rPr lang="zh-CN" altLang="en-US" sz="2200" dirty="0"/>
              <a:t>先生成测试数据</a:t>
            </a:r>
            <a:endParaRPr lang="en-US" altLang="zh-C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089383-092F-4983-9C9D-3B1D6F21E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060372"/>
            <a:ext cx="6858594" cy="10973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39FF31-C64D-41D2-8629-70D62D9ABB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8" y="2682162"/>
            <a:ext cx="4602878" cy="8992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056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Main Section  </a:t>
            </a:r>
            <a:r>
              <a:rPr lang="zh-CN" altLang="en-US" dirty="0"/>
              <a:t>主程序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9173" y="1619951"/>
            <a:ext cx="82056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Next, generate training data  </a:t>
            </a:r>
            <a:r>
              <a:rPr lang="zh-CN" altLang="en-US" sz="2200" dirty="0"/>
              <a:t>然后生成训练数据</a:t>
            </a:r>
            <a:endParaRPr lang="en-US" altLang="zh-C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D2C02-9F15-4E7A-BD20-A68EAE035509}"/>
              </a:ext>
            </a:extLst>
          </p:cNvPr>
          <p:cNvSpPr txBox="1"/>
          <p:nvPr/>
        </p:nvSpPr>
        <p:spPr>
          <a:xfrm>
            <a:off x="448488" y="3285404"/>
            <a:ext cx="82056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use the perceptron for learning &amp; classification</a:t>
            </a:r>
          </a:p>
          <a:p>
            <a:pPr algn="ctr"/>
            <a:r>
              <a:rPr lang="zh-CN" altLang="en-US" sz="2200" dirty="0"/>
              <a:t>现在，用感知器进行学习和分类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178EB-0D88-4129-BC5C-033364A645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476" y="2046514"/>
            <a:ext cx="7422524" cy="10973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BAE5C-C93B-465C-BD01-43C35E68A6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590" y="4031970"/>
            <a:ext cx="7102456" cy="11278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632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Main Section  </a:t>
            </a:r>
            <a:r>
              <a:rPr lang="zh-CN" altLang="en-US" dirty="0"/>
              <a:t>主程序 </a:t>
            </a:r>
            <a:r>
              <a:rPr lang="en-US" altLang="zh-CN" dirty="0"/>
              <a:t>(4)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9173" y="1619951"/>
            <a:ext cx="82056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Finally, after the rounds for a dimension number, print the average accuracy</a:t>
            </a:r>
          </a:p>
          <a:p>
            <a:pPr algn="ctr"/>
            <a:r>
              <a:rPr lang="zh-CN" altLang="en-US" sz="2200" dirty="0"/>
              <a:t>最后，当一个维度的所有轮次都结束之后，输出平均准确率</a:t>
            </a:r>
            <a:endParaRPr lang="en-US" altLang="zh-C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D2C02-9F15-4E7A-BD20-A68EAE035509}"/>
              </a:ext>
            </a:extLst>
          </p:cNvPr>
          <p:cNvSpPr txBox="1"/>
          <p:nvPr/>
        </p:nvSpPr>
        <p:spPr>
          <a:xfrm>
            <a:off x="448488" y="3581400"/>
            <a:ext cx="82056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w/ the training size of 20, 50, &amp; 100</a:t>
            </a:r>
          </a:p>
          <a:p>
            <a:pPr algn="ctr"/>
            <a:r>
              <a:rPr lang="zh-CN" altLang="en-US" sz="2200" dirty="0"/>
              <a:t>尝试不同的训练数据量（</a:t>
            </a:r>
            <a:r>
              <a:rPr lang="en-US" altLang="zh-CN" sz="2200" dirty="0"/>
              <a:t>20</a:t>
            </a:r>
            <a:r>
              <a:rPr lang="zh-CN" altLang="en-US" sz="2200" dirty="0"/>
              <a:t>、</a:t>
            </a:r>
            <a:r>
              <a:rPr lang="en-US" altLang="zh-CN" sz="2200" dirty="0"/>
              <a:t>50</a:t>
            </a:r>
            <a:r>
              <a:rPr lang="zh-CN" altLang="en-US" sz="2200" dirty="0"/>
              <a:t>和</a:t>
            </a:r>
            <a:r>
              <a:rPr lang="en-US" altLang="zh-CN" sz="2200" dirty="0"/>
              <a:t>100</a:t>
            </a:r>
            <a:r>
              <a:rPr lang="zh-CN" altLang="en-US" sz="2200" dirty="0"/>
              <a:t>）运行该程序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4466A-08B6-47D4-8673-290E0817B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2743200"/>
            <a:ext cx="5243014" cy="6553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542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31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6|48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80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92.8|44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32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17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49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99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325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25.9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16967</TotalTime>
  <Words>997</Words>
  <Application>Microsoft Office PowerPoint</Application>
  <PresentationFormat>On-screen Show (4:3)</PresentationFormat>
  <Paragraphs>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Cookbook for Practice 6.1</vt:lpstr>
      <vt:lpstr>Suppress Output  减少输出</vt:lpstr>
      <vt:lpstr>A New Start  重新开始</vt:lpstr>
      <vt:lpstr>Generate Hyperplane  生成超平面 (1)</vt:lpstr>
      <vt:lpstr>Generate Hyperplane  生成超平面 (2)</vt:lpstr>
      <vt:lpstr>Generate Data  生成数据 (1)</vt:lpstr>
      <vt:lpstr>Generate Data  生成数据 (2)</vt:lpstr>
      <vt:lpstr>Generate Data  生成数据 (2)</vt:lpstr>
      <vt:lpstr>Generate Data  生成数据 (3)</vt:lpstr>
      <vt:lpstr>Main Section  主程序 (1)</vt:lpstr>
      <vt:lpstr>Main Section  主程序 (2)</vt:lpstr>
      <vt:lpstr>Main Section  主程序 (3)</vt:lpstr>
      <vt:lpstr>Main Section  主程序 (4)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1294</cp:revision>
  <dcterms:created xsi:type="dcterms:W3CDTF">2003-03-13T01:36:43Z</dcterms:created>
  <dcterms:modified xsi:type="dcterms:W3CDTF">2023-12-27T08:00:05Z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2020-01-20 00:11:25Z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