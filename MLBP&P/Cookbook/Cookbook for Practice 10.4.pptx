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12"/>
  </p:notesMasterIdLst>
  <p:handoutMasterIdLst>
    <p:handoutMasterId r:id="rId13"/>
  </p:handoutMasterIdLst>
  <p:sldIdLst>
    <p:sldId id="286" r:id="rId2"/>
    <p:sldId id="441" r:id="rId3"/>
    <p:sldId id="442" r:id="rId4"/>
    <p:sldId id="443" r:id="rId5"/>
    <p:sldId id="444" r:id="rId6"/>
    <p:sldId id="445" r:id="rId7"/>
    <p:sldId id="446" r:id="rId8"/>
    <p:sldId id="448" r:id="rId9"/>
    <p:sldId id="440" r:id="rId10"/>
    <p:sldId id="353" r:id="rId11"/>
  </p:sldIdLst>
  <p:sldSz cx="9144000" cy="6858000" type="screen4x3"/>
  <p:notesSz cx="7010400" cy="92964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B2B2B2"/>
    <a:srgbClr val="993366"/>
    <a:srgbClr val="339933"/>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5" autoAdjust="0"/>
    <p:restoredTop sz="93504" autoAdjust="0"/>
  </p:normalViewPr>
  <p:slideViewPr>
    <p:cSldViewPr>
      <p:cViewPr varScale="1">
        <p:scale>
          <a:sx n="68" d="100"/>
          <a:sy n="68" d="100"/>
        </p:scale>
        <p:origin x="62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275" y="6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689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689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689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FF96B3-5193-4D4F-ADAC-C41F873FC327}" type="slidenum">
              <a:rPr lang="en-US" altLang="zh-CN"/>
              <a:pPr>
                <a:defRPr/>
              </a:pPr>
              <a:t>‹#›</a:t>
            </a:fld>
            <a:endParaRPr lang="en-US" altLang="zh-CN"/>
          </a:p>
        </p:txBody>
      </p:sp>
    </p:spTree>
    <p:extLst>
      <p:ext uri="{BB962C8B-B14F-4D97-AF65-F5344CB8AC3E}">
        <p14:creationId xmlns:p14="http://schemas.microsoft.com/office/powerpoint/2010/main" val="1129582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3" name="Rectangle 3"/>
          <p:cNvSpPr>
            <a:spLocks noGrp="1" noChangeArrowheads="1"/>
          </p:cNvSpPr>
          <p:nvPr>
            <p:ph type="dt" idx="1"/>
          </p:nvPr>
        </p:nvSpPr>
        <p:spPr bwMode="auto">
          <a:xfrm>
            <a:off x="3971925"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7" name="Rectangle 7"/>
          <p:cNvSpPr>
            <a:spLocks noGrp="1" noChangeArrowheads="1"/>
          </p:cNvSpPr>
          <p:nvPr>
            <p:ph type="sldNum" sz="quarter" idx="5"/>
          </p:nvPr>
        </p:nvSpPr>
        <p:spPr bwMode="auto">
          <a:xfrm>
            <a:off x="3971925"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C806C1B-B03E-46DA-85CD-D90BC0B37545}" type="slidenum">
              <a:rPr lang="en-US" altLang="zh-CN"/>
              <a:pPr>
                <a:defRPr/>
              </a:pPr>
              <a:t>‹#›</a:t>
            </a:fld>
            <a:endParaRPr lang="en-US" altLang="zh-CN"/>
          </a:p>
        </p:txBody>
      </p:sp>
    </p:spTree>
    <p:extLst>
      <p:ext uri="{BB962C8B-B14F-4D97-AF65-F5344CB8AC3E}">
        <p14:creationId xmlns:p14="http://schemas.microsoft.com/office/powerpoint/2010/main" val="108636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D2CF438-6F28-4EDA-8826-7EA47CD870C5}"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893111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2</a:t>
            </a:fld>
            <a:endParaRPr lang="en-US" altLang="zh-CN"/>
          </a:p>
        </p:txBody>
      </p:sp>
    </p:spTree>
    <p:extLst>
      <p:ext uri="{BB962C8B-B14F-4D97-AF65-F5344CB8AC3E}">
        <p14:creationId xmlns:p14="http://schemas.microsoft.com/office/powerpoint/2010/main" val="4057898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3</a:t>
            </a:fld>
            <a:endParaRPr lang="en-US" altLang="zh-CN"/>
          </a:p>
        </p:txBody>
      </p:sp>
    </p:spTree>
    <p:extLst>
      <p:ext uri="{BB962C8B-B14F-4D97-AF65-F5344CB8AC3E}">
        <p14:creationId xmlns:p14="http://schemas.microsoft.com/office/powerpoint/2010/main" val="3535694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4</a:t>
            </a:fld>
            <a:endParaRPr lang="en-US" altLang="zh-CN"/>
          </a:p>
        </p:txBody>
      </p:sp>
    </p:spTree>
    <p:extLst>
      <p:ext uri="{BB962C8B-B14F-4D97-AF65-F5344CB8AC3E}">
        <p14:creationId xmlns:p14="http://schemas.microsoft.com/office/powerpoint/2010/main" val="3789331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a:t>
            </a:fld>
            <a:endParaRPr lang="en-US" altLang="zh-CN"/>
          </a:p>
        </p:txBody>
      </p:sp>
    </p:spTree>
    <p:extLst>
      <p:ext uri="{BB962C8B-B14F-4D97-AF65-F5344CB8AC3E}">
        <p14:creationId xmlns:p14="http://schemas.microsoft.com/office/powerpoint/2010/main" val="3245831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a:t>
            </a:fld>
            <a:endParaRPr lang="en-US" altLang="zh-CN"/>
          </a:p>
        </p:txBody>
      </p:sp>
    </p:spTree>
    <p:extLst>
      <p:ext uri="{BB962C8B-B14F-4D97-AF65-F5344CB8AC3E}">
        <p14:creationId xmlns:p14="http://schemas.microsoft.com/office/powerpoint/2010/main" val="568695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a:t>
            </a:fld>
            <a:endParaRPr lang="en-US" altLang="zh-CN"/>
          </a:p>
        </p:txBody>
      </p:sp>
    </p:spTree>
    <p:extLst>
      <p:ext uri="{BB962C8B-B14F-4D97-AF65-F5344CB8AC3E}">
        <p14:creationId xmlns:p14="http://schemas.microsoft.com/office/powerpoint/2010/main" val="117021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a:t>
            </a:fld>
            <a:endParaRPr lang="en-US" altLang="zh-CN"/>
          </a:p>
        </p:txBody>
      </p:sp>
    </p:spTree>
    <p:extLst>
      <p:ext uri="{BB962C8B-B14F-4D97-AF65-F5344CB8AC3E}">
        <p14:creationId xmlns:p14="http://schemas.microsoft.com/office/powerpoint/2010/main" val="2135154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a:t>
            </a:fld>
            <a:endParaRPr lang="en-US" altLang="zh-CN"/>
          </a:p>
        </p:txBody>
      </p:sp>
    </p:spTree>
    <p:extLst>
      <p:ext uri="{BB962C8B-B14F-4D97-AF65-F5344CB8AC3E}">
        <p14:creationId xmlns:p14="http://schemas.microsoft.com/office/powerpoint/2010/main" val="1369922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57F7688E-3E4A-461B-8D10-9B016CF52F5C}" type="slidenum">
              <a:rPr lang="en-US" altLang="zh-CN" smtClean="0">
                <a:latin typeface="Arial" panose="020B0604020202020204" pitchFamily="34" charset="0"/>
              </a:rPr>
              <a:pPr/>
              <a:t>10</a:t>
            </a:fld>
            <a:endParaRPr lang="en-US" altLang="zh-CN">
              <a:latin typeface="Arial" panose="020B0604020202020204" pitchFamily="34"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68014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24588"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2458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chemeClr val="bg2"/>
                </a:solidFill>
                <a:latin typeface="Tahoma" pitchFamily="34" charset="0"/>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Machine Learning Basics: 1. General Introduction</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400">
                <a:solidFill>
                  <a:schemeClr val="bg2"/>
                </a:solidFill>
                <a:latin typeface="Tahoma" panose="020B0604030504040204" pitchFamily="34" charset="0"/>
              </a:defRPr>
            </a:lvl1pPr>
          </a:lstStyle>
          <a:p>
            <a:pPr>
              <a:defRPr/>
            </a:pPr>
            <a:fld id="{EF41B76D-9336-435E-89FD-3D5A1B77420D}" type="slidenum">
              <a:rPr lang="en-US" altLang="zh-CN"/>
              <a:pPr>
                <a:defRPr/>
              </a:pPr>
              <a:t>‹#›</a:t>
            </a:fld>
            <a:endParaRPr lang="en-US" altLang="zh-CN"/>
          </a:p>
        </p:txBody>
      </p:sp>
    </p:spTree>
    <p:extLst>
      <p:ext uri="{BB962C8B-B14F-4D97-AF65-F5344CB8AC3E}">
        <p14:creationId xmlns:p14="http://schemas.microsoft.com/office/powerpoint/2010/main" val="189983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ltLang="zh-CN" dirty="0"/>
              <a:t>Machine Learning – Basic Principles &amp; Practice: 2. Rote Learning</a:t>
            </a:r>
          </a:p>
          <a:p>
            <a:pPr>
              <a:defRPr/>
            </a:pPr>
            <a:r>
              <a:rPr lang="zh-CN" altLang="en-US" dirty="0"/>
              <a:t>机器学习 </a:t>
            </a:r>
            <a:r>
              <a:rPr lang="en-US" altLang="zh-CN" dirty="0"/>
              <a:t>– </a:t>
            </a:r>
            <a:r>
              <a:rPr lang="zh-CN" altLang="en-US" dirty="0"/>
              <a:t>基本原理与实践：</a:t>
            </a:r>
            <a:r>
              <a:rPr lang="en-US" altLang="zh-CN" dirty="0"/>
              <a:t>2. </a:t>
            </a:r>
            <a:r>
              <a:rPr lang="zh-CN" altLang="en-US" dirty="0"/>
              <a:t>死记硬背的学习</a:t>
            </a:r>
            <a:endParaRPr lang="en-US" altLang="zh-CN" dirty="0"/>
          </a:p>
        </p:txBody>
      </p:sp>
    </p:spTree>
    <p:extLst>
      <p:ext uri="{BB962C8B-B14F-4D97-AF65-F5344CB8AC3E}">
        <p14:creationId xmlns:p14="http://schemas.microsoft.com/office/powerpoint/2010/main" val="348380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9853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50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1084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53766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162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2944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7928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4694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7050" y="457200"/>
            <a:ext cx="20383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457200"/>
            <a:ext cx="59626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70366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717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7" name="Rectangle 3"/>
          <p:cNvSpPr>
            <a:spLocks noChangeArrowheads="1"/>
          </p:cNvSpPr>
          <p:nvPr/>
        </p:nvSpPr>
        <p:spPr bwMode="ltGray">
          <a:xfrm>
            <a:off x="800100" y="717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8" name="Rectangle 4"/>
          <p:cNvSpPr>
            <a:spLocks noChangeArrowheads="1"/>
          </p:cNvSpPr>
          <p:nvPr/>
        </p:nvSpPr>
        <p:spPr bwMode="ltGray">
          <a:xfrm>
            <a:off x="541338" y="1139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9" name="Rectangle 5"/>
          <p:cNvSpPr>
            <a:spLocks noChangeArrowheads="1"/>
          </p:cNvSpPr>
          <p:nvPr/>
        </p:nvSpPr>
        <p:spPr bwMode="ltGray">
          <a:xfrm>
            <a:off x="911225" y="1139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0" name="Rectangle 6"/>
          <p:cNvSpPr>
            <a:spLocks noChangeArrowheads="1"/>
          </p:cNvSpPr>
          <p:nvPr/>
        </p:nvSpPr>
        <p:spPr bwMode="ltGray">
          <a:xfrm>
            <a:off x="127000" y="1066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1" name="Rectangle 7"/>
          <p:cNvSpPr>
            <a:spLocks noChangeArrowheads="1"/>
          </p:cNvSpPr>
          <p:nvPr/>
        </p:nvSpPr>
        <p:spPr bwMode="gray">
          <a:xfrm>
            <a:off x="762000" y="609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2" name="Rectangle 8"/>
          <p:cNvSpPr>
            <a:spLocks noChangeArrowheads="1"/>
          </p:cNvSpPr>
          <p:nvPr/>
        </p:nvSpPr>
        <p:spPr bwMode="gray">
          <a:xfrm>
            <a:off x="442913" y="1400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22363" y="457200"/>
            <a:ext cx="7793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762000" y="16002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3564" name="Rectangle 12"/>
          <p:cNvSpPr>
            <a:spLocks noGrp="1" noChangeArrowheads="1"/>
          </p:cNvSpPr>
          <p:nvPr>
            <p:ph type="ftr" sz="quarter" idx="3"/>
          </p:nvPr>
        </p:nvSpPr>
        <p:spPr bwMode="auto">
          <a:xfrm>
            <a:off x="762000" y="6243638"/>
            <a:ext cx="7772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pitchFamily="34" charset="0"/>
              </a:defRPr>
            </a:lvl1pPr>
          </a:lstStyle>
          <a:p>
            <a:pPr>
              <a:defRPr/>
            </a:pPr>
            <a:r>
              <a:rPr lang="en-US" altLang="zh-CN" dirty="0"/>
              <a:t>Machine Learning – Basic Principles &amp; Practice: 2. Rote Learning</a:t>
            </a:r>
          </a:p>
          <a:p>
            <a:pPr>
              <a:defRPr/>
            </a:pPr>
            <a:r>
              <a:rPr lang="zh-CN" altLang="en-US" dirty="0"/>
              <a:t>机器学习 </a:t>
            </a:r>
            <a:r>
              <a:rPr lang="en-US" altLang="zh-CN" dirty="0"/>
              <a:t>– </a:t>
            </a:r>
            <a:r>
              <a:rPr lang="zh-CN" altLang="en-US" dirty="0"/>
              <a:t>基本原理与实践：</a:t>
            </a:r>
            <a:r>
              <a:rPr lang="en-US" altLang="zh-CN" dirty="0"/>
              <a:t>2. </a:t>
            </a:r>
            <a:r>
              <a:rPr lang="zh-CN" altLang="en-US" dirty="0"/>
              <a:t>死记硬背的学习</a:t>
            </a:r>
            <a:endParaRPr lang="en-US" altLang="zh-CN" dirty="0"/>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676400"/>
            <a:ext cx="7772400" cy="1462088"/>
          </a:xfrm>
        </p:spPr>
        <p:txBody>
          <a:bodyPr/>
          <a:lstStyle/>
          <a:p>
            <a:pPr algn="ctr" eaLnBrk="1" hangingPunct="1"/>
            <a:r>
              <a:rPr lang="en-US" altLang="zh-CN" sz="3600" b="1" dirty="0">
                <a:ea typeface="SimSun" panose="02010600030101010101" pitchFamily="2" charset="-122"/>
              </a:rPr>
              <a:t>Cookbook for Practice 10.4</a:t>
            </a:r>
          </a:p>
        </p:txBody>
      </p:sp>
      <p:sp>
        <p:nvSpPr>
          <p:cNvPr id="5123" name="Rectangle 3"/>
          <p:cNvSpPr>
            <a:spLocks noGrp="1" noChangeArrowheads="1"/>
          </p:cNvSpPr>
          <p:nvPr>
            <p:ph type="subTitle" idx="1"/>
          </p:nvPr>
        </p:nvSpPr>
        <p:spPr>
          <a:xfrm>
            <a:off x="1219200" y="4876800"/>
            <a:ext cx="6553200" cy="762000"/>
          </a:xfrm>
        </p:spPr>
        <p:txBody>
          <a:bodyPr/>
          <a:lstStyle/>
          <a:p>
            <a:pPr eaLnBrk="1" hangingPunct="1"/>
            <a:r>
              <a:rPr lang="en-US" altLang="zh-CN" sz="2800" dirty="0">
                <a:ea typeface="SimSun" panose="02010600030101010101" pitchFamily="2" charset="-122"/>
              </a:rPr>
              <a:t>Cong Li </a:t>
            </a:r>
            <a:r>
              <a:rPr lang="zh-CN" altLang="en-US" sz="2800" dirty="0">
                <a:ea typeface="SimSun" panose="02010600030101010101" pitchFamily="2" charset="-122"/>
              </a:rPr>
              <a:t>李聪</a:t>
            </a:r>
            <a:endParaRPr lang="en-US" altLang="zh-CN" sz="2400" dirty="0">
              <a:ea typeface="SimSun" panose="02010600030101010101" pitchFamily="2" charset="-122"/>
            </a:endParaRPr>
          </a:p>
        </p:txBody>
      </p:sp>
      <p:sp>
        <p:nvSpPr>
          <p:cNvPr id="4" name="Rectangle 2">
            <a:extLst>
              <a:ext uri="{FF2B5EF4-FFF2-40B4-BE49-F238E27FC236}">
                <a16:creationId xmlns:a16="http://schemas.microsoft.com/office/drawing/2014/main" id="{D050F980-1D76-4E39-94EB-A1B939407DEF}"/>
              </a:ext>
            </a:extLst>
          </p:cNvPr>
          <p:cNvSpPr txBox="1">
            <a:spLocks noChangeArrowheads="1"/>
          </p:cNvSpPr>
          <p:nvPr/>
        </p:nvSpPr>
        <p:spPr bwMode="auto">
          <a:xfrm>
            <a:off x="609600" y="3477465"/>
            <a:ext cx="77724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a:lstStyle>
          <a:p>
            <a:pPr algn="ctr" eaLnBrk="1" hangingPunct="1"/>
            <a:r>
              <a:rPr lang="zh-CN" altLang="en-US" sz="3600" b="1" kern="0" dirty="0">
                <a:ea typeface="SimSun" panose="02010600030101010101" pitchFamily="2" charset="-122"/>
              </a:rPr>
              <a:t>实践</a:t>
            </a:r>
            <a:r>
              <a:rPr lang="en-US" altLang="zh-CN" sz="3600" b="1" kern="0" dirty="0">
                <a:ea typeface="SimSun" panose="02010600030101010101" pitchFamily="2" charset="-122"/>
              </a:rPr>
              <a:t>10.4</a:t>
            </a:r>
            <a:r>
              <a:rPr lang="zh-CN" altLang="en-US" sz="3600" b="1" kern="0" dirty="0">
                <a:ea typeface="SimSun" panose="02010600030101010101" pitchFamily="2" charset="-122"/>
              </a:rPr>
              <a:t>攻略</a:t>
            </a:r>
            <a:endParaRPr lang="en-US" altLang="zh-CN" sz="3600" b="1" kern="0" dirty="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F07F75-8A51-4101-B737-FB26DEAB7E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40" y="3681035"/>
            <a:ext cx="4191584" cy="1295580"/>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a:t>
            </a:r>
            <a:r>
              <a:rPr lang="zh-CN" altLang="en-US" dirty="0">
                <a:ea typeface="ＭＳ Ｐゴシック" panose="020B0600070205080204" pitchFamily="34" charset="-128"/>
              </a:rPr>
              <a:t>核计算</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633664" y="1534854"/>
            <a:ext cx="7848600" cy="2123658"/>
          </a:xfrm>
          <a:prstGeom prst="rect">
            <a:avLst/>
          </a:prstGeom>
          <a:noFill/>
        </p:spPr>
        <p:txBody>
          <a:bodyPr wrap="square" rtlCol="0">
            <a:spAutoFit/>
          </a:bodyPr>
          <a:lstStyle/>
          <a:p>
            <a:pPr algn="ctr"/>
            <a:r>
              <a:rPr lang="en-US" altLang="zh-CN" sz="2200" dirty="0"/>
              <a:t>Create a new file ‘kernels.py’, import ‘</a:t>
            </a:r>
            <a:r>
              <a:rPr lang="en-US" altLang="zh-CN" sz="2200" dirty="0" err="1"/>
              <a:t>numpy</a:t>
            </a:r>
            <a:r>
              <a:rPr lang="en-US" altLang="zh-CN" sz="2200" dirty="0"/>
              <a:t>’, &amp; create a new class ‘</a:t>
            </a:r>
            <a:r>
              <a:rPr lang="en-US" altLang="zh-CN" sz="2200" dirty="0" err="1"/>
              <a:t>PolynomialKernel</a:t>
            </a:r>
            <a:r>
              <a:rPr lang="en-US" altLang="zh-CN" sz="2200" dirty="0"/>
              <a:t>’. In its initialization function, accept a degree parameter &amp; store it in a member variable </a:t>
            </a:r>
          </a:p>
          <a:p>
            <a:pPr algn="ctr"/>
            <a:r>
              <a:rPr lang="zh-CN" altLang="en-US" sz="2200" dirty="0"/>
              <a:t>创建新文件“</a:t>
            </a:r>
            <a:r>
              <a:rPr lang="en-US" altLang="zh-CN" sz="2200" dirty="0"/>
              <a:t>kernels.py</a:t>
            </a:r>
            <a:r>
              <a:rPr lang="zh-CN" altLang="en-US" sz="2200" dirty="0"/>
              <a:t>”，导入“</a:t>
            </a:r>
            <a:r>
              <a:rPr lang="en-US" altLang="zh-CN" sz="2200" dirty="0" err="1"/>
              <a:t>numpy</a:t>
            </a:r>
            <a:r>
              <a:rPr lang="zh-CN" altLang="en-US" sz="2200" dirty="0"/>
              <a:t>”，创建一个新类型“</a:t>
            </a:r>
            <a:r>
              <a:rPr lang="en-US" altLang="zh-CN" sz="2200" dirty="0" err="1"/>
              <a:t>PolynomialKernel</a:t>
            </a:r>
            <a:r>
              <a:rPr lang="zh-CN" altLang="en-US" sz="2200" dirty="0"/>
              <a:t>”，在初始化函数中接受一个度数参数，并存于成员变量中</a:t>
            </a:r>
            <a:endParaRPr lang="en-US" altLang="zh-CN" sz="2200" dirty="0"/>
          </a:p>
        </p:txBody>
      </p:sp>
      <p:sp>
        <p:nvSpPr>
          <p:cNvPr id="10" name="TextBox 9">
            <a:extLst>
              <a:ext uri="{FF2B5EF4-FFF2-40B4-BE49-F238E27FC236}">
                <a16:creationId xmlns:a16="http://schemas.microsoft.com/office/drawing/2014/main" id="{42F3B866-B239-48FD-BB2D-20617AFCEC7F}"/>
              </a:ext>
            </a:extLst>
          </p:cNvPr>
          <p:cNvSpPr txBox="1"/>
          <p:nvPr/>
        </p:nvSpPr>
        <p:spPr>
          <a:xfrm>
            <a:off x="266699" y="5174159"/>
            <a:ext cx="8534399" cy="769441"/>
          </a:xfrm>
          <a:prstGeom prst="rect">
            <a:avLst/>
          </a:prstGeom>
          <a:noFill/>
        </p:spPr>
        <p:txBody>
          <a:bodyPr wrap="square" rtlCol="0">
            <a:spAutoFit/>
          </a:bodyPr>
          <a:lstStyle/>
          <a:p>
            <a:pPr algn="ctr"/>
            <a:r>
              <a:rPr lang="en-US" altLang="zh-CN" sz="2200" dirty="0"/>
              <a:t>Write another member function for kernel calculation</a:t>
            </a:r>
          </a:p>
          <a:p>
            <a:pPr algn="ctr"/>
            <a:r>
              <a:rPr lang="zh-CN" altLang="en-US" sz="2200" dirty="0"/>
              <a:t>另写一个成员函数进行核计算</a:t>
            </a:r>
            <a:endParaRPr lang="en-US" altLang="zh-CN" sz="2200" dirty="0"/>
          </a:p>
        </p:txBody>
      </p:sp>
      <p:pic>
        <p:nvPicPr>
          <p:cNvPr id="7" name="Picture 6">
            <a:extLst>
              <a:ext uri="{FF2B5EF4-FFF2-40B4-BE49-F238E27FC236}">
                <a16:creationId xmlns:a16="http://schemas.microsoft.com/office/drawing/2014/main" id="{97BA2FA5-D78B-414A-BC20-31CF884898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288" y="5941474"/>
            <a:ext cx="5410956" cy="876422"/>
          </a:xfrm>
          <a:prstGeom prst="rect">
            <a:avLst/>
          </a:prstGeom>
          <a:ln>
            <a:solidFill>
              <a:schemeClr val="tx1"/>
            </a:solidFill>
          </a:ln>
        </p:spPr>
      </p:pic>
    </p:spTree>
    <p:custDataLst>
      <p:tags r:id="rId1"/>
    </p:custDataLst>
    <p:extLst>
      <p:ext uri="{BB962C8B-B14F-4D97-AF65-F5344CB8AC3E}">
        <p14:creationId xmlns:p14="http://schemas.microsoft.com/office/powerpoint/2010/main" val="19861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Perceptron  </a:t>
            </a:r>
            <a:br>
              <a:rPr lang="en-US" altLang="zh-CN" dirty="0">
                <a:ea typeface="ＭＳ Ｐゴシック" panose="020B0600070205080204" pitchFamily="34" charset="-128"/>
              </a:rPr>
            </a:br>
            <a:r>
              <a:rPr lang="zh-CN" altLang="en-US" dirty="0">
                <a:ea typeface="ＭＳ Ｐゴシック" panose="020B0600070205080204" pitchFamily="34" charset="-128"/>
              </a:rPr>
              <a:t>核计算感知器 </a:t>
            </a:r>
            <a:r>
              <a:rPr lang="en-US" altLang="zh-CN" dirty="0">
                <a:ea typeface="ＭＳ Ｐゴシック" panose="020B0600070205080204" pitchFamily="34" charset="-128"/>
              </a:rPr>
              <a:t>(1)</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266699" y="1534854"/>
            <a:ext cx="8648701" cy="1785104"/>
          </a:xfrm>
          <a:prstGeom prst="rect">
            <a:avLst/>
          </a:prstGeom>
          <a:noFill/>
        </p:spPr>
        <p:txBody>
          <a:bodyPr wrap="square" rtlCol="0">
            <a:spAutoFit/>
          </a:bodyPr>
          <a:lstStyle/>
          <a:p>
            <a:pPr algn="ctr"/>
            <a:r>
              <a:rPr lang="en-US" altLang="zh-CN" sz="2200" dirty="0"/>
              <a:t>In ‘perceptron.py’, create a new class ‘</a:t>
            </a:r>
            <a:r>
              <a:rPr lang="en-US" altLang="zh-CN" sz="2200" dirty="0" err="1"/>
              <a:t>BinaryKernelPerceptron</a:t>
            </a:r>
            <a:r>
              <a:rPr lang="en-US" altLang="zh-CN" sz="2200" dirty="0"/>
              <a:t>’. In its initialization function, accept 3 parameters, the kernel, the maximum number of training iterations, &amp; the margin</a:t>
            </a:r>
          </a:p>
          <a:p>
            <a:pPr algn="ctr"/>
            <a:r>
              <a:rPr lang="zh-CN" altLang="en-US" sz="2200" dirty="0"/>
              <a:t>在“</a:t>
            </a:r>
            <a:r>
              <a:rPr lang="en-US" altLang="zh-CN" sz="2200" dirty="0"/>
              <a:t>perceptron.py</a:t>
            </a:r>
            <a:r>
              <a:rPr lang="zh-CN" altLang="en-US" sz="2200" dirty="0"/>
              <a:t>”中，创建新类型“</a:t>
            </a:r>
            <a:r>
              <a:rPr lang="en-US" altLang="zh-CN" sz="2200" dirty="0" err="1"/>
              <a:t>BinaryKernelPerceptron</a:t>
            </a:r>
            <a:r>
              <a:rPr lang="zh-CN" altLang="en-US" sz="2200" dirty="0"/>
              <a:t>”。在初始化函数中接受</a:t>
            </a:r>
            <a:r>
              <a:rPr lang="en-US" altLang="zh-CN" sz="2200" dirty="0"/>
              <a:t>3</a:t>
            </a:r>
            <a:r>
              <a:rPr lang="zh-CN" altLang="en-US" sz="2200" dirty="0"/>
              <a:t>个参数，核计算、最大训练轮数和间距。</a:t>
            </a:r>
            <a:endParaRPr lang="en-US" altLang="zh-CN" sz="2200" dirty="0"/>
          </a:p>
        </p:txBody>
      </p:sp>
      <p:pic>
        <p:nvPicPr>
          <p:cNvPr id="5" name="Picture 4">
            <a:extLst>
              <a:ext uri="{FF2B5EF4-FFF2-40B4-BE49-F238E27FC236}">
                <a16:creationId xmlns:a16="http://schemas.microsoft.com/office/drawing/2014/main" id="{604BF4A5-6FC3-4C0F-837B-0FE2B8172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872" y="3257366"/>
            <a:ext cx="8554644" cy="1314634"/>
          </a:xfrm>
          <a:prstGeom prst="rect">
            <a:avLst/>
          </a:prstGeom>
          <a:ln>
            <a:solidFill>
              <a:schemeClr val="tx1"/>
            </a:solidFill>
          </a:ln>
        </p:spPr>
      </p:pic>
    </p:spTree>
    <p:custDataLst>
      <p:tags r:id="rId1"/>
    </p:custDataLst>
    <p:extLst>
      <p:ext uri="{BB962C8B-B14F-4D97-AF65-F5344CB8AC3E}">
        <p14:creationId xmlns:p14="http://schemas.microsoft.com/office/powerpoint/2010/main" val="242893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Perceptron  </a:t>
            </a:r>
            <a:br>
              <a:rPr lang="en-US" altLang="zh-CN" dirty="0">
                <a:ea typeface="ＭＳ Ｐゴシック" panose="020B0600070205080204" pitchFamily="34" charset="-128"/>
              </a:rPr>
            </a:br>
            <a:r>
              <a:rPr lang="zh-CN" altLang="en-US" dirty="0">
                <a:ea typeface="ＭＳ Ｐゴシック" panose="020B0600070205080204" pitchFamily="34" charset="-128"/>
              </a:rPr>
              <a:t>核计算感知器 </a:t>
            </a:r>
            <a:r>
              <a:rPr lang="en-US" altLang="zh-CN" dirty="0">
                <a:ea typeface="ＭＳ Ｐゴシック" panose="020B0600070205080204" pitchFamily="34" charset="-128"/>
              </a:rPr>
              <a:t>(2)</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866257" y="1627040"/>
            <a:ext cx="7411485" cy="1785104"/>
          </a:xfrm>
          <a:prstGeom prst="rect">
            <a:avLst/>
          </a:prstGeom>
          <a:noFill/>
        </p:spPr>
        <p:txBody>
          <a:bodyPr wrap="square" rtlCol="0">
            <a:spAutoFit/>
          </a:bodyPr>
          <a:lstStyle/>
          <a:p>
            <a:pPr algn="ctr"/>
            <a:r>
              <a:rPr lang="en-US" altLang="zh-CN" sz="2200" dirty="0"/>
              <a:t>Write the scoring member function, assuming that the update history &amp; bias are properly maintained, as well as the training data stored in a member function</a:t>
            </a:r>
            <a:br>
              <a:rPr lang="en-US" altLang="zh-CN" sz="2200" dirty="0"/>
            </a:br>
            <a:r>
              <a:rPr lang="zh-CN" altLang="en-US" sz="2200" dirty="0"/>
              <a:t>假设我们正确地维护了更新历史和偏向，并把训练数据记录在一个成员变量中，写一个计算得分的成员函数</a:t>
            </a:r>
            <a:endParaRPr lang="en-US" altLang="zh-CN" sz="2200" dirty="0"/>
          </a:p>
        </p:txBody>
      </p:sp>
      <p:pic>
        <p:nvPicPr>
          <p:cNvPr id="4" name="Picture 3">
            <a:extLst>
              <a:ext uri="{FF2B5EF4-FFF2-40B4-BE49-F238E27FC236}">
                <a16:creationId xmlns:a16="http://schemas.microsoft.com/office/drawing/2014/main" id="{DACC80AF-89AB-4521-AA46-AFA398A874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3440906"/>
            <a:ext cx="7411484" cy="2076740"/>
          </a:xfrm>
          <a:prstGeom prst="rect">
            <a:avLst/>
          </a:prstGeom>
          <a:ln>
            <a:solidFill>
              <a:schemeClr val="tx1"/>
            </a:solidFill>
          </a:ln>
        </p:spPr>
      </p:pic>
      <p:grpSp>
        <p:nvGrpSpPr>
          <p:cNvPr id="9" name="Group 8">
            <a:extLst>
              <a:ext uri="{FF2B5EF4-FFF2-40B4-BE49-F238E27FC236}">
                <a16:creationId xmlns:a16="http://schemas.microsoft.com/office/drawing/2014/main" id="{E10C5828-0BF3-4F66-B9E7-8E006C887459}"/>
              </a:ext>
            </a:extLst>
          </p:cNvPr>
          <p:cNvGrpSpPr/>
          <p:nvPr/>
        </p:nvGrpSpPr>
        <p:grpSpPr>
          <a:xfrm>
            <a:off x="1280160" y="4431506"/>
            <a:ext cx="7010400" cy="1816894"/>
            <a:chOff x="1280160" y="3581400"/>
            <a:chExt cx="7010400" cy="1816894"/>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69AF3FD-4480-44AD-9812-C39766AB90AF}"/>
                    </a:ext>
                  </a:extLst>
                </p:cNvPr>
                <p:cNvSpPr txBox="1"/>
                <p:nvPr/>
              </p:nvSpPr>
              <p:spPr>
                <a:xfrm>
                  <a:off x="1280160" y="4938425"/>
                  <a:ext cx="7010400" cy="459869"/>
                </a:xfrm>
                <a:prstGeom prst="rect">
                  <a:avLst/>
                </a:prstGeom>
                <a:noFill/>
              </p:spPr>
              <p:txBody>
                <a:bodyPr wrap="square" rtlCol="0">
                  <a:spAutoFit/>
                </a:bodyPr>
                <a:lstStyle/>
                <a:p>
                  <a:pPr algn="ctr"/>
                  <a:r>
                    <a:rPr lang="en-US" altLang="zh-CN" sz="2200" dirty="0">
                      <a:ea typeface="Cambria Math" panose="02040503050406030204" pitchFamily="18" charset="0"/>
                    </a:rPr>
                    <a:t>Here we merge </a:t>
                  </a:r>
                  <a14:m>
                    <m:oMath xmlns:m="http://schemas.openxmlformats.org/officeDocument/2006/math">
                      <m:sSup>
                        <m:sSupPr>
                          <m:ctrlPr>
                            <a:rPr lang="en-US" altLang="zh-CN" sz="220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𝑐</m:t>
                          </m:r>
                        </m:e>
                        <m:sup>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m:t>
                          </m:r>
                        </m:sup>
                      </m:sSup>
                      <m:sSup>
                        <m:sSupPr>
                          <m:ctrlPr>
                            <a:rPr lang="en-US" altLang="zh-CN" sz="220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𝑦</m:t>
                          </m:r>
                        </m:e>
                        <m:sup>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m:t>
                          </m:r>
                        </m:sup>
                      </m:sSup>
                    </m:oMath>
                  </a14:m>
                  <a:r>
                    <a:rPr lang="en-US" altLang="zh-CN" sz="2200" dirty="0">
                      <a:ea typeface="Cambria Math" panose="02040503050406030204" pitchFamily="18" charset="0"/>
                    </a:rPr>
                    <a:t> into c[i]</a:t>
                  </a:r>
                  <a:endParaRPr lang="en-US" altLang="zh-CN" sz="2200" dirty="0"/>
                </a:p>
              </p:txBody>
            </p:sp>
          </mc:Choice>
          <mc:Fallback xmlns="">
            <p:sp>
              <p:nvSpPr>
                <p:cNvPr id="11" name="TextBox 10">
                  <a:extLst>
                    <a:ext uri="{FF2B5EF4-FFF2-40B4-BE49-F238E27FC236}">
                      <a16:creationId xmlns:a16="http://schemas.microsoft.com/office/drawing/2014/main" id="{869AF3FD-4480-44AD-9812-C39766AB90AF}"/>
                    </a:ext>
                  </a:extLst>
                </p:cNvPr>
                <p:cNvSpPr txBox="1">
                  <a:spLocks noRot="1" noChangeAspect="1" noMove="1" noResize="1" noEditPoints="1" noAdjustHandles="1" noChangeArrowheads="1" noChangeShapeType="1" noTextEdit="1"/>
                </p:cNvSpPr>
                <p:nvPr/>
              </p:nvSpPr>
              <p:spPr>
                <a:xfrm>
                  <a:off x="1280160" y="4938425"/>
                  <a:ext cx="7010400" cy="459869"/>
                </a:xfrm>
                <a:prstGeom prst="rect">
                  <a:avLst/>
                </a:prstGeom>
                <a:blipFill>
                  <a:blip r:embed="rId7"/>
                  <a:stretch>
                    <a:fillRect t="-6667" b="-22667"/>
                  </a:stretch>
                </a:blipFill>
              </p:spPr>
              <p:txBody>
                <a:bodyPr/>
                <a:lstStyle/>
                <a:p>
                  <a:r>
                    <a:rPr lang="zh-CN" altLang="en-US">
                      <a:noFill/>
                    </a:rPr>
                    <a:t> </a:t>
                  </a:r>
                </a:p>
              </p:txBody>
            </p:sp>
          </mc:Fallback>
        </mc:AlternateContent>
        <p:cxnSp>
          <p:nvCxnSpPr>
            <p:cNvPr id="12" name="Straight Arrow Connector 11">
              <a:extLst>
                <a:ext uri="{FF2B5EF4-FFF2-40B4-BE49-F238E27FC236}">
                  <a16:creationId xmlns:a16="http://schemas.microsoft.com/office/drawing/2014/main" id="{F14C9D57-BB5E-4F55-A44A-B384D9DE38DB}"/>
                </a:ext>
              </a:extLst>
            </p:cNvPr>
            <p:cNvCxnSpPr>
              <a:cxnSpLocks/>
              <a:stCxn id="11" idx="0"/>
              <a:endCxn id="13" idx="2"/>
            </p:cNvCxnSpPr>
            <p:nvPr/>
          </p:nvCxnSpPr>
          <p:spPr bwMode="auto">
            <a:xfrm flipH="1" flipV="1">
              <a:off x="4781551" y="3893820"/>
              <a:ext cx="3809" cy="104460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3" name="Rectangle 12">
              <a:extLst>
                <a:ext uri="{FF2B5EF4-FFF2-40B4-BE49-F238E27FC236}">
                  <a16:creationId xmlns:a16="http://schemas.microsoft.com/office/drawing/2014/main" id="{FC52A3F4-F443-4064-80CA-6A854226FF5D}"/>
                </a:ext>
              </a:extLst>
            </p:cNvPr>
            <p:cNvSpPr/>
            <p:nvPr/>
          </p:nvSpPr>
          <p:spPr bwMode="auto">
            <a:xfrm>
              <a:off x="4495801" y="3581400"/>
              <a:ext cx="571500" cy="312420"/>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spTree>
    <p:custDataLst>
      <p:tags r:id="rId1"/>
    </p:custDataLst>
    <p:extLst>
      <p:ext uri="{BB962C8B-B14F-4D97-AF65-F5344CB8AC3E}">
        <p14:creationId xmlns:p14="http://schemas.microsoft.com/office/powerpoint/2010/main" val="122799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Perceptron  </a:t>
            </a:r>
            <a:br>
              <a:rPr lang="en-US" altLang="zh-CN" dirty="0">
                <a:ea typeface="ＭＳ Ｐゴシック" panose="020B0600070205080204" pitchFamily="34" charset="-128"/>
              </a:rPr>
            </a:br>
            <a:r>
              <a:rPr lang="zh-CN" altLang="en-US" dirty="0">
                <a:ea typeface="ＭＳ Ｐゴシック" panose="020B0600070205080204" pitchFamily="34" charset="-128"/>
              </a:rPr>
              <a:t>核计算感知器 </a:t>
            </a:r>
            <a:r>
              <a:rPr lang="en-US" altLang="zh-CN" dirty="0">
                <a:ea typeface="ＭＳ Ｐゴシック" panose="020B0600070205080204" pitchFamily="34" charset="-128"/>
              </a:rPr>
              <a:t>(3)</a:t>
            </a:r>
            <a:endParaRPr lang="zh-CN" altLang="en-US" dirty="0"/>
          </a:p>
        </p:txBody>
      </p:sp>
      <p:pic>
        <p:nvPicPr>
          <p:cNvPr id="5" name="Picture 4">
            <a:extLst>
              <a:ext uri="{FF2B5EF4-FFF2-40B4-BE49-F238E27FC236}">
                <a16:creationId xmlns:a16="http://schemas.microsoft.com/office/drawing/2014/main" id="{7F12241B-D1B1-461D-BDB3-3DB60675F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114334"/>
            <a:ext cx="4725060" cy="1543266"/>
          </a:xfrm>
          <a:prstGeom prst="rect">
            <a:avLst/>
          </a:prstGeom>
          <a:ln>
            <a:solidFill>
              <a:schemeClr val="tx1"/>
            </a:solidFill>
          </a:ln>
        </p:spPr>
      </p:pic>
      <p:sp>
        <p:nvSpPr>
          <p:cNvPr id="14" name="TextBox 13">
            <a:extLst>
              <a:ext uri="{FF2B5EF4-FFF2-40B4-BE49-F238E27FC236}">
                <a16:creationId xmlns:a16="http://schemas.microsoft.com/office/drawing/2014/main" id="{51C292AE-7AC5-4BDD-AA16-DC11E438AF49}"/>
              </a:ext>
            </a:extLst>
          </p:cNvPr>
          <p:cNvSpPr txBox="1"/>
          <p:nvPr/>
        </p:nvSpPr>
        <p:spPr>
          <a:xfrm>
            <a:off x="247649" y="1687547"/>
            <a:ext cx="8648701" cy="430887"/>
          </a:xfrm>
          <a:prstGeom prst="rect">
            <a:avLst/>
          </a:prstGeom>
          <a:noFill/>
        </p:spPr>
        <p:txBody>
          <a:bodyPr wrap="square" rtlCol="0">
            <a:spAutoFit/>
          </a:bodyPr>
          <a:lstStyle/>
          <a:p>
            <a:pPr algn="ctr"/>
            <a:r>
              <a:rPr lang="en-US" altLang="zh-CN" sz="2200" dirty="0"/>
              <a:t>Then the classification function  </a:t>
            </a:r>
            <a:r>
              <a:rPr lang="zh-CN" altLang="en-US" sz="2200" dirty="0"/>
              <a:t>然后是分类函数</a:t>
            </a:r>
            <a:endParaRPr lang="en-US" altLang="zh-CN" sz="2200" dirty="0"/>
          </a:p>
        </p:txBody>
      </p:sp>
    </p:spTree>
    <p:extLst>
      <p:ext uri="{BB962C8B-B14F-4D97-AF65-F5344CB8AC3E}">
        <p14:creationId xmlns:p14="http://schemas.microsoft.com/office/powerpoint/2010/main" val="422984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Perceptron  </a:t>
            </a:r>
            <a:br>
              <a:rPr lang="en-US" altLang="zh-CN" dirty="0">
                <a:ea typeface="ＭＳ Ｐゴシック" panose="020B0600070205080204" pitchFamily="34" charset="-128"/>
              </a:rPr>
            </a:br>
            <a:r>
              <a:rPr lang="zh-CN" altLang="en-US" dirty="0">
                <a:ea typeface="ＭＳ Ｐゴシック" panose="020B0600070205080204" pitchFamily="34" charset="-128"/>
              </a:rPr>
              <a:t>核计算感知器 </a:t>
            </a:r>
            <a:r>
              <a:rPr lang="en-US" altLang="zh-CN" dirty="0">
                <a:ea typeface="ＭＳ Ｐゴシック" panose="020B0600070205080204" pitchFamily="34" charset="-128"/>
              </a:rPr>
              <a:t>(4)</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133349" y="1635204"/>
            <a:ext cx="8877301" cy="1107996"/>
          </a:xfrm>
          <a:prstGeom prst="rect">
            <a:avLst/>
          </a:prstGeom>
          <a:noFill/>
        </p:spPr>
        <p:txBody>
          <a:bodyPr wrap="square" rtlCol="0">
            <a:spAutoFit/>
          </a:bodyPr>
          <a:lstStyle/>
          <a:p>
            <a:pPr algn="ctr"/>
            <a:r>
              <a:rPr lang="en-US" altLang="zh-CN" sz="2200" dirty="0"/>
              <a:t>We also need to rewrite the way that we calculate the maximum norm &amp; the confidence threshold used in training w/ the kernel</a:t>
            </a:r>
            <a:br>
              <a:rPr lang="en-US" altLang="zh-CN" sz="2200" dirty="0"/>
            </a:br>
            <a:r>
              <a:rPr lang="zh-CN" altLang="en-US" sz="2200" dirty="0"/>
              <a:t>我们还要重写用核计算来计算训练中所要用到的最大长度和置信度阈值</a:t>
            </a:r>
            <a:endParaRPr lang="en-US" altLang="zh-CN" sz="2200" dirty="0"/>
          </a:p>
        </p:txBody>
      </p:sp>
      <p:pic>
        <p:nvPicPr>
          <p:cNvPr id="6" name="Picture 5">
            <a:extLst>
              <a:ext uri="{FF2B5EF4-FFF2-40B4-BE49-F238E27FC236}">
                <a16:creationId xmlns:a16="http://schemas.microsoft.com/office/drawing/2014/main" id="{C0034332-7478-4B23-BF70-F8FCC724CA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2723860"/>
            <a:ext cx="7506748" cy="2076740"/>
          </a:xfrm>
          <a:prstGeom prst="rect">
            <a:avLst/>
          </a:prstGeom>
          <a:ln>
            <a:solidFill>
              <a:schemeClr val="tx1"/>
            </a:solidFill>
          </a:ln>
        </p:spPr>
      </p:pic>
    </p:spTree>
    <p:custDataLst>
      <p:tags r:id="rId1"/>
    </p:custDataLst>
    <p:extLst>
      <p:ext uri="{BB962C8B-B14F-4D97-AF65-F5344CB8AC3E}">
        <p14:creationId xmlns:p14="http://schemas.microsoft.com/office/powerpoint/2010/main" val="1033270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Perceptron  </a:t>
            </a:r>
            <a:br>
              <a:rPr lang="en-US" altLang="zh-CN" dirty="0">
                <a:ea typeface="ＭＳ Ｐゴシック" panose="020B0600070205080204" pitchFamily="34" charset="-128"/>
              </a:rPr>
            </a:br>
            <a:r>
              <a:rPr lang="zh-CN" altLang="en-US" dirty="0">
                <a:ea typeface="ＭＳ Ｐゴシック" panose="020B0600070205080204" pitchFamily="34" charset="-128"/>
              </a:rPr>
              <a:t>核计算感知器 </a:t>
            </a:r>
            <a:r>
              <a:rPr lang="en-US" altLang="zh-CN" dirty="0">
                <a:ea typeface="ＭＳ Ｐゴシック" panose="020B0600070205080204" pitchFamily="34" charset="-128"/>
              </a:rPr>
              <a:t>(5)</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1009649" y="1610148"/>
            <a:ext cx="7124701" cy="1785104"/>
          </a:xfrm>
          <a:prstGeom prst="rect">
            <a:avLst/>
          </a:prstGeom>
          <a:noFill/>
        </p:spPr>
        <p:txBody>
          <a:bodyPr wrap="square" rtlCol="0">
            <a:spAutoFit/>
          </a:bodyPr>
          <a:lstStyle/>
          <a:p>
            <a:pPr algn="ctr"/>
            <a:r>
              <a:rPr lang="en-US" altLang="zh-CN" sz="2200" dirty="0"/>
              <a:t>Finally the training part: first record the training data, initialize the update history &amp; the bias, &amp; calculate the maximum norm &amp; the margin threshold</a:t>
            </a:r>
            <a:br>
              <a:rPr lang="en-US" altLang="zh-CN" sz="2200" dirty="0"/>
            </a:br>
            <a:r>
              <a:rPr lang="zh-CN" altLang="en-US" sz="2200" dirty="0"/>
              <a:t>最后进行训练：先记录下训练数据，初始化更新历史和偏向，并计算最大长度和置信度阈值</a:t>
            </a:r>
            <a:endParaRPr lang="en-US" altLang="zh-CN" sz="2200" dirty="0"/>
          </a:p>
        </p:txBody>
      </p:sp>
      <p:pic>
        <p:nvPicPr>
          <p:cNvPr id="4" name="Picture 3">
            <a:extLst>
              <a:ext uri="{FF2B5EF4-FFF2-40B4-BE49-F238E27FC236}">
                <a16:creationId xmlns:a16="http://schemas.microsoft.com/office/drawing/2014/main" id="{3123CB25-533B-4A7E-BB49-F20D682913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3383280"/>
            <a:ext cx="7373378" cy="1295580"/>
          </a:xfrm>
          <a:prstGeom prst="rect">
            <a:avLst/>
          </a:prstGeom>
          <a:ln>
            <a:solidFill>
              <a:schemeClr val="tx1"/>
            </a:solidFill>
          </a:ln>
        </p:spPr>
      </p:pic>
      <p:pic>
        <p:nvPicPr>
          <p:cNvPr id="7" name="Picture 6">
            <a:extLst>
              <a:ext uri="{FF2B5EF4-FFF2-40B4-BE49-F238E27FC236}">
                <a16:creationId xmlns:a16="http://schemas.microsoft.com/office/drawing/2014/main" id="{79D1E4BD-8748-4DF7-AEB4-E34970D4FC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4920" y="5562484"/>
            <a:ext cx="5125166" cy="838316"/>
          </a:xfrm>
          <a:prstGeom prst="rect">
            <a:avLst/>
          </a:prstGeom>
          <a:ln>
            <a:solidFill>
              <a:schemeClr val="tx1"/>
            </a:solidFill>
          </a:ln>
        </p:spPr>
      </p:pic>
      <p:sp>
        <p:nvSpPr>
          <p:cNvPr id="9" name="TextBox 8">
            <a:extLst>
              <a:ext uri="{FF2B5EF4-FFF2-40B4-BE49-F238E27FC236}">
                <a16:creationId xmlns:a16="http://schemas.microsoft.com/office/drawing/2014/main" id="{FADD5619-4653-4CF2-BB7A-2CF148679D6E}"/>
              </a:ext>
            </a:extLst>
          </p:cNvPr>
          <p:cNvSpPr txBox="1"/>
          <p:nvPr/>
        </p:nvSpPr>
        <p:spPr>
          <a:xfrm>
            <a:off x="1066800" y="4800600"/>
            <a:ext cx="7124701" cy="769441"/>
          </a:xfrm>
          <a:prstGeom prst="rect">
            <a:avLst/>
          </a:prstGeom>
          <a:noFill/>
        </p:spPr>
        <p:txBody>
          <a:bodyPr wrap="square" rtlCol="0">
            <a:spAutoFit/>
          </a:bodyPr>
          <a:lstStyle/>
          <a:p>
            <a:pPr algn="ctr"/>
            <a:r>
              <a:rPr lang="en-US" altLang="zh-CN" sz="2200" dirty="0"/>
              <a:t>Output something every 100 iterations</a:t>
            </a:r>
            <a:br>
              <a:rPr lang="en-US" altLang="zh-CN" sz="2200" dirty="0"/>
            </a:br>
            <a:r>
              <a:rPr lang="zh-CN" altLang="en-US" sz="2200" dirty="0"/>
              <a:t>每训练</a:t>
            </a:r>
            <a:r>
              <a:rPr lang="en-US" altLang="zh-CN" sz="2200" dirty="0"/>
              <a:t>100</a:t>
            </a:r>
            <a:r>
              <a:rPr lang="zh-CN" altLang="en-US" sz="2200" dirty="0"/>
              <a:t>轮输出一些信息</a:t>
            </a:r>
            <a:endParaRPr lang="en-US" altLang="zh-CN" sz="2200" dirty="0"/>
          </a:p>
        </p:txBody>
      </p:sp>
    </p:spTree>
    <p:custDataLst>
      <p:tags r:id="rId1"/>
    </p:custDataLst>
    <p:extLst>
      <p:ext uri="{BB962C8B-B14F-4D97-AF65-F5344CB8AC3E}">
        <p14:creationId xmlns:p14="http://schemas.microsoft.com/office/powerpoint/2010/main" val="133003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9F3A16-8B63-4CDF-A923-6E22082154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4083" y="2780912"/>
            <a:ext cx="6496956" cy="2781688"/>
          </a:xfrm>
          <a:prstGeom prst="rect">
            <a:avLst/>
          </a:prstGeom>
          <a:ln>
            <a:solidFill>
              <a:schemeClr val="tx1"/>
            </a:solidFill>
          </a:ln>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Kernel Perceptron  </a:t>
            </a:r>
            <a:br>
              <a:rPr lang="en-US" altLang="zh-CN" dirty="0">
                <a:ea typeface="ＭＳ Ｐゴシック" panose="020B0600070205080204" pitchFamily="34" charset="-128"/>
              </a:rPr>
            </a:br>
            <a:r>
              <a:rPr lang="zh-CN" altLang="en-US" dirty="0">
                <a:ea typeface="ＭＳ Ｐゴシック" panose="020B0600070205080204" pitchFamily="34" charset="-128"/>
              </a:rPr>
              <a:t>核计算感知器 </a:t>
            </a:r>
            <a:r>
              <a:rPr lang="en-US" altLang="zh-CN" dirty="0">
                <a:ea typeface="ＭＳ Ｐゴシック" panose="020B0600070205080204" pitchFamily="34" charset="-128"/>
              </a:rPr>
              <a:t>(6)</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790575" y="1659030"/>
            <a:ext cx="7677150" cy="1107996"/>
          </a:xfrm>
          <a:prstGeom prst="rect">
            <a:avLst/>
          </a:prstGeom>
          <a:noFill/>
        </p:spPr>
        <p:txBody>
          <a:bodyPr wrap="square" rtlCol="0">
            <a:spAutoFit/>
          </a:bodyPr>
          <a:lstStyle/>
          <a:p>
            <a:pPr algn="ctr"/>
            <a:r>
              <a:rPr lang="en-US" altLang="zh-CN" sz="2200" dirty="0"/>
              <a:t>Go through all the training data. When the condition is met, update the bias &amp; record the update history</a:t>
            </a:r>
            <a:br>
              <a:rPr lang="en-US" altLang="zh-CN" sz="2200" dirty="0"/>
            </a:br>
            <a:r>
              <a:rPr lang="zh-CN" altLang="en-US" sz="2200" dirty="0"/>
              <a:t>最遍历所有训练数据。满足条件时更新偏向并记录更新历史</a:t>
            </a:r>
            <a:endParaRPr lang="en-US" altLang="zh-CN" sz="2200" dirty="0"/>
          </a:p>
        </p:txBody>
      </p:sp>
    </p:spTree>
    <p:custDataLst>
      <p:tags r:id="rId1"/>
    </p:custDataLst>
    <p:extLst>
      <p:ext uri="{BB962C8B-B14F-4D97-AF65-F5344CB8AC3E}">
        <p14:creationId xmlns:p14="http://schemas.microsoft.com/office/powerpoint/2010/main" val="1957034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21637" cy="914400"/>
          </a:xfrm>
        </p:spPr>
        <p:txBody>
          <a:bodyPr/>
          <a:lstStyle/>
          <a:p>
            <a:r>
              <a:rPr lang="en-US" altLang="zh-CN" dirty="0">
                <a:ea typeface="ＭＳ Ｐゴシック" panose="020B0600070205080204" pitchFamily="34" charset="-128"/>
              </a:rPr>
              <a:t>Run It  </a:t>
            </a:r>
            <a:r>
              <a:rPr lang="zh-CN" altLang="en-US" dirty="0">
                <a:ea typeface="ＭＳ Ｐゴシック" panose="020B0600070205080204" pitchFamily="34" charset="-128"/>
              </a:rPr>
              <a:t>运行之</a:t>
            </a:r>
            <a:endParaRPr lang="zh-CN" altLang="en-US" dirty="0"/>
          </a:p>
        </p:txBody>
      </p:sp>
      <p:sp>
        <p:nvSpPr>
          <p:cNvPr id="8" name="TextBox 7">
            <a:extLst>
              <a:ext uri="{FF2B5EF4-FFF2-40B4-BE49-F238E27FC236}">
                <a16:creationId xmlns:a16="http://schemas.microsoft.com/office/drawing/2014/main" id="{FF640E0A-0D60-423C-93D7-008F60EB0CFA}"/>
              </a:ext>
            </a:extLst>
          </p:cNvPr>
          <p:cNvSpPr txBox="1"/>
          <p:nvPr/>
        </p:nvSpPr>
        <p:spPr>
          <a:xfrm>
            <a:off x="957261" y="1562052"/>
            <a:ext cx="7229473" cy="769441"/>
          </a:xfrm>
          <a:prstGeom prst="rect">
            <a:avLst/>
          </a:prstGeom>
          <a:noFill/>
        </p:spPr>
        <p:txBody>
          <a:bodyPr wrap="square" rtlCol="0">
            <a:spAutoFit/>
          </a:bodyPr>
          <a:lstStyle/>
          <a:p>
            <a:pPr algn="ctr"/>
            <a:r>
              <a:rPr lang="en-US" altLang="zh-CN" sz="2200" dirty="0"/>
              <a:t>Based on Practice 10.2, in ‘test.py’, import ‘kernels’</a:t>
            </a:r>
          </a:p>
          <a:p>
            <a:pPr algn="ctr"/>
            <a:r>
              <a:rPr lang="zh-CN" altLang="en-US" sz="2200" dirty="0"/>
              <a:t>基于实践</a:t>
            </a:r>
            <a:r>
              <a:rPr lang="en-US" altLang="zh-CN" sz="2200" dirty="0"/>
              <a:t>10.2</a:t>
            </a:r>
            <a:r>
              <a:rPr lang="zh-CN" altLang="en-US" sz="2200" dirty="0"/>
              <a:t>，在“</a:t>
            </a:r>
            <a:r>
              <a:rPr lang="en-US" altLang="zh-CN" sz="2200" dirty="0"/>
              <a:t>test.py</a:t>
            </a:r>
            <a:r>
              <a:rPr lang="zh-CN" altLang="en-US" sz="2200" dirty="0"/>
              <a:t>”中，导入“</a:t>
            </a:r>
            <a:r>
              <a:rPr lang="en-US" altLang="zh-CN" sz="2200" dirty="0"/>
              <a:t>kernels</a:t>
            </a:r>
            <a:r>
              <a:rPr lang="zh-CN" altLang="en-US" sz="2200" dirty="0"/>
              <a:t>”</a:t>
            </a:r>
            <a:endParaRPr lang="en-US" altLang="zh-CN" sz="2200" dirty="0"/>
          </a:p>
        </p:txBody>
      </p:sp>
      <p:sp>
        <p:nvSpPr>
          <p:cNvPr id="10" name="TextBox 9">
            <a:extLst>
              <a:ext uri="{FF2B5EF4-FFF2-40B4-BE49-F238E27FC236}">
                <a16:creationId xmlns:a16="http://schemas.microsoft.com/office/drawing/2014/main" id="{42F3B866-B239-48FD-BB2D-20617AFCEC7F}"/>
              </a:ext>
            </a:extLst>
          </p:cNvPr>
          <p:cNvSpPr txBox="1"/>
          <p:nvPr/>
        </p:nvSpPr>
        <p:spPr>
          <a:xfrm>
            <a:off x="304799" y="4793159"/>
            <a:ext cx="8534399" cy="769441"/>
          </a:xfrm>
          <a:prstGeom prst="rect">
            <a:avLst/>
          </a:prstGeom>
          <a:noFill/>
        </p:spPr>
        <p:txBody>
          <a:bodyPr wrap="square" rtlCol="0">
            <a:spAutoFit/>
          </a:bodyPr>
          <a:lstStyle/>
          <a:p>
            <a:pPr algn="ctr"/>
            <a:r>
              <a:rPr lang="en-US" altLang="zh-CN" sz="2200" dirty="0"/>
              <a:t>Run w/ the command line below  </a:t>
            </a:r>
            <a:r>
              <a:rPr lang="zh-CN" altLang="en-US" sz="2200" dirty="0"/>
              <a:t>用以下命令行运行</a:t>
            </a:r>
            <a:endParaRPr lang="en-US" altLang="zh-CN" sz="2200" dirty="0"/>
          </a:p>
          <a:p>
            <a:pPr algn="ctr"/>
            <a:r>
              <a:rPr lang="en-US" altLang="zh-CN" sz="2200" dirty="0"/>
              <a:t>test.py 50</a:t>
            </a:r>
          </a:p>
        </p:txBody>
      </p:sp>
      <p:pic>
        <p:nvPicPr>
          <p:cNvPr id="4" name="Picture 3">
            <a:extLst>
              <a:ext uri="{FF2B5EF4-FFF2-40B4-BE49-F238E27FC236}">
                <a16:creationId xmlns:a16="http://schemas.microsoft.com/office/drawing/2014/main" id="{978C4423-DF31-41F5-9C83-7703D69065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440" y="2298686"/>
            <a:ext cx="1962424" cy="323896"/>
          </a:xfrm>
          <a:prstGeom prst="rect">
            <a:avLst/>
          </a:prstGeom>
          <a:ln>
            <a:solidFill>
              <a:schemeClr val="tx1"/>
            </a:solidFill>
          </a:ln>
        </p:spPr>
      </p:pic>
      <p:sp>
        <p:nvSpPr>
          <p:cNvPr id="9" name="TextBox 8">
            <a:extLst>
              <a:ext uri="{FF2B5EF4-FFF2-40B4-BE49-F238E27FC236}">
                <a16:creationId xmlns:a16="http://schemas.microsoft.com/office/drawing/2014/main" id="{58E06489-B599-4A9F-A7C6-E301F5452D93}"/>
              </a:ext>
            </a:extLst>
          </p:cNvPr>
          <p:cNvSpPr txBox="1"/>
          <p:nvPr/>
        </p:nvSpPr>
        <p:spPr>
          <a:xfrm>
            <a:off x="152397" y="2778204"/>
            <a:ext cx="8839200" cy="1107996"/>
          </a:xfrm>
          <a:prstGeom prst="rect">
            <a:avLst/>
          </a:prstGeom>
          <a:noFill/>
        </p:spPr>
        <p:txBody>
          <a:bodyPr wrap="square" rtlCol="0">
            <a:spAutoFit/>
          </a:bodyPr>
          <a:lstStyle/>
          <a:p>
            <a:pPr algn="ctr"/>
            <a:r>
              <a:rPr lang="en-US" altLang="zh-CN" sz="2200" dirty="0"/>
              <a:t>Create a polynomial kernel instance w/ degree 2 &amp; derive a kernel perceptron from it</a:t>
            </a:r>
          </a:p>
          <a:p>
            <a:pPr algn="ctr"/>
            <a:r>
              <a:rPr lang="zh-CN" altLang="en-US" sz="2200" dirty="0"/>
              <a:t>创建一个度数为</a:t>
            </a:r>
            <a:r>
              <a:rPr lang="en-US" altLang="zh-CN" sz="2200" dirty="0"/>
              <a:t>2</a:t>
            </a:r>
            <a:r>
              <a:rPr lang="zh-CN" altLang="en-US" sz="2200" dirty="0"/>
              <a:t>的多项式核计算实例，并从中导出一个核计算感知器</a:t>
            </a:r>
            <a:endParaRPr lang="en-US" altLang="zh-CN" sz="2200" dirty="0"/>
          </a:p>
        </p:txBody>
      </p:sp>
      <p:pic>
        <p:nvPicPr>
          <p:cNvPr id="7" name="Picture 6">
            <a:extLst>
              <a:ext uri="{FF2B5EF4-FFF2-40B4-BE49-F238E27FC236}">
                <a16:creationId xmlns:a16="http://schemas.microsoft.com/office/drawing/2014/main" id="{8538C063-B657-465C-BF85-6FAFA2D59D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684" y="3886200"/>
            <a:ext cx="7240010" cy="800212"/>
          </a:xfrm>
          <a:prstGeom prst="rect">
            <a:avLst/>
          </a:prstGeom>
          <a:ln>
            <a:solidFill>
              <a:schemeClr val="tx1"/>
            </a:solidFill>
          </a:ln>
        </p:spPr>
      </p:pic>
    </p:spTree>
    <p:custDataLst>
      <p:tags r:id="rId1"/>
    </p:custDataLst>
    <p:extLst>
      <p:ext uri="{BB962C8B-B14F-4D97-AF65-F5344CB8AC3E}">
        <p14:creationId xmlns:p14="http://schemas.microsoft.com/office/powerpoint/2010/main" val="388205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685800" y="2636838"/>
            <a:ext cx="7772400" cy="1470025"/>
          </a:xfrm>
        </p:spPr>
        <p:txBody>
          <a:bodyPr/>
          <a:lstStyle/>
          <a:p>
            <a:pPr algn="ctr" eaLnBrk="1" hangingPunct="1"/>
            <a:r>
              <a:rPr lang="en-US" altLang="ja-JP" b="1" dirty="0">
                <a:ea typeface="ＭＳ Ｐゴシック" panose="020B0600070205080204" pitchFamily="34" charset="-128"/>
              </a:rPr>
              <a:t>The End </a:t>
            </a:r>
            <a:endParaRPr lang="en-US" altLang="zh-CN" b="1" dirty="0">
              <a:ea typeface="SimSun" panose="02010600030101010101" pitchFamily="2"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10.1|93.3"/>
</p:tagLst>
</file>

<file path=ppt/tags/tag2.xml><?xml version="1.0" encoding="utf-8"?>
<p:tagLst xmlns:a="http://schemas.openxmlformats.org/drawingml/2006/main" xmlns:r="http://schemas.openxmlformats.org/officeDocument/2006/relationships" xmlns:p="http://schemas.openxmlformats.org/presentationml/2006/main">
  <p:tag name="TIMING" val="|8.2"/>
</p:tagLst>
</file>

<file path=ppt/tags/tag3.xml><?xml version="1.0" encoding="utf-8"?>
<p:tagLst xmlns:a="http://schemas.openxmlformats.org/drawingml/2006/main" xmlns:r="http://schemas.openxmlformats.org/officeDocument/2006/relationships" xmlns:p="http://schemas.openxmlformats.org/presentationml/2006/main">
  <p:tag name="TIMING" val="|3.3|93.8"/>
</p:tagLst>
</file>

<file path=ppt/tags/tag4.xml><?xml version="1.0" encoding="utf-8"?>
<p:tagLst xmlns:a="http://schemas.openxmlformats.org/drawingml/2006/main" xmlns:r="http://schemas.openxmlformats.org/officeDocument/2006/relationships" xmlns:p="http://schemas.openxmlformats.org/presentationml/2006/main">
  <p:tag name="TIMING" val="|2"/>
</p:tagLst>
</file>

<file path=ppt/tags/tag5.xml><?xml version="1.0" encoding="utf-8"?>
<p:tagLst xmlns:a="http://schemas.openxmlformats.org/drawingml/2006/main" xmlns:r="http://schemas.openxmlformats.org/officeDocument/2006/relationships" xmlns:p="http://schemas.openxmlformats.org/presentationml/2006/main">
  <p:tag name="TIMING" val="|4.5|17"/>
</p:tagLst>
</file>

<file path=ppt/tags/tag6.xml><?xml version="1.0" encoding="utf-8"?>
<p:tagLst xmlns:a="http://schemas.openxmlformats.org/drawingml/2006/main" xmlns:r="http://schemas.openxmlformats.org/officeDocument/2006/relationships" xmlns:p="http://schemas.openxmlformats.org/presentationml/2006/main">
  <p:tag name="TIMING" val="|0.7"/>
</p:tagLst>
</file>

<file path=ppt/tags/tag7.xml><?xml version="1.0" encoding="utf-8"?>
<p:tagLst xmlns:a="http://schemas.openxmlformats.org/drawingml/2006/main" xmlns:r="http://schemas.openxmlformats.org/officeDocument/2006/relationships" xmlns:p="http://schemas.openxmlformats.org/presentationml/2006/main">
  <p:tag name="TIMING" val="|1.5|11|19.7"/>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17665</TotalTime>
  <Words>682</Words>
  <Application>Microsoft Office PowerPoint</Application>
  <PresentationFormat>On-screen Show (4:3)</PresentationFormat>
  <Paragraphs>41</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ＭＳ Ｐゴシック</vt:lpstr>
      <vt:lpstr>SimSun</vt:lpstr>
      <vt:lpstr>Arial</vt:lpstr>
      <vt:lpstr>Cambria Math</vt:lpstr>
      <vt:lpstr>Comic Sans MS</vt:lpstr>
      <vt:lpstr>Tahoma</vt:lpstr>
      <vt:lpstr>Times New Roman</vt:lpstr>
      <vt:lpstr>Wingdings</vt:lpstr>
      <vt:lpstr>Blends</vt:lpstr>
      <vt:lpstr>Cookbook for Practice 10.4</vt:lpstr>
      <vt:lpstr>Kernel  核计算</vt:lpstr>
      <vt:lpstr>Kernel Perceptron   核计算感知器 (1)</vt:lpstr>
      <vt:lpstr>Kernel Perceptron   核计算感知器 (2)</vt:lpstr>
      <vt:lpstr>Kernel Perceptron   核计算感知器 (3)</vt:lpstr>
      <vt:lpstr>Kernel Perceptron   核计算感知器 (4)</vt:lpstr>
      <vt:lpstr>Kernel Perceptron   核计算感知器 (5)</vt:lpstr>
      <vt:lpstr>Kernel Perceptron   核计算感知器 (6)</vt:lpstr>
      <vt:lpstr>Run It  运行之</vt:lpstr>
      <vt:lpstr>The End </vt:lpstr>
    </vt:vector>
  </TitlesOfParts>
  <Company>Children's Computer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1. General Introduction</dc:title>
  <dc:creator>Cong Li</dc:creator>
  <cp:keywords>CTPClassification=CTP_NT</cp:keywords>
  <cp:lastModifiedBy>Li, Cong</cp:lastModifiedBy>
  <cp:revision>1355</cp:revision>
  <dcterms:created xsi:type="dcterms:W3CDTF">2003-03-13T01:36:43Z</dcterms:created>
  <dcterms:modified xsi:type="dcterms:W3CDTF">2024-04-18T07:27:34Z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da94eae5-7620-43e6-9fb8-9e1bf58a26cb</vt:lpwstr>
  </property>
  <property fmtid="{D5CDD505-2E9C-101B-9397-08002B2CF9AE}" pid="3" name="CTP_TimeStamp">
    <vt:lpwstr>2020-02-06 04:28:12Z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