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13"/>
  </p:notesMasterIdLst>
  <p:handoutMasterIdLst>
    <p:handoutMasterId r:id="rId14"/>
  </p:handoutMasterIdLst>
  <p:sldIdLst>
    <p:sldId id="286" r:id="rId2"/>
    <p:sldId id="438" r:id="rId3"/>
    <p:sldId id="443" r:id="rId4"/>
    <p:sldId id="440" r:id="rId5"/>
    <p:sldId id="444" r:id="rId6"/>
    <p:sldId id="445" r:id="rId7"/>
    <p:sldId id="446" r:id="rId8"/>
    <p:sldId id="447" r:id="rId9"/>
    <p:sldId id="449" r:id="rId10"/>
    <p:sldId id="448" r:id="rId11"/>
    <p:sldId id="353" r:id="rId12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3" autoAdjust="0"/>
    <p:restoredTop sz="93504" autoAdjust="0"/>
  </p:normalViewPr>
  <p:slideViewPr>
    <p:cSldViewPr>
      <p:cViewPr varScale="1">
        <p:scale>
          <a:sx n="68" d="100"/>
          <a:sy n="68" d="100"/>
        </p:scale>
        <p:origin x="95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9922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1480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4576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38784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27399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86294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70876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26765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25283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11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4.1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4.1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Classification Data</a:t>
            </a:r>
            <a:r>
              <a:rPr lang="zh-CN" altLang="en-US" dirty="0">
                <a:ea typeface="ＭＳ Ｐゴシック" panose="020B0600070205080204" pitchFamily="34" charset="-128"/>
              </a:rPr>
              <a:t> 分类数据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609600" y="1600200"/>
            <a:ext cx="7924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Start a new file ‘classificationData.py’ w/ a new class. Later we will use this class for data in classification</a:t>
            </a:r>
          </a:p>
          <a:p>
            <a:pPr algn="ctr"/>
            <a:r>
              <a:rPr lang="zh-CN" altLang="en-US" sz="2200" dirty="0"/>
              <a:t>创建一个包含新的类型的新文件“</a:t>
            </a:r>
            <a:r>
              <a:rPr lang="en-US" altLang="zh-CN" sz="2200" dirty="0"/>
              <a:t>classificationData.py</a:t>
            </a:r>
            <a:r>
              <a:rPr lang="zh-CN" altLang="en-US" sz="2200" dirty="0"/>
              <a:t>”。以后的分类中，数据都会用到这个类型。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1002ED-1BF7-4456-B470-D44467D6A6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046750"/>
            <a:ext cx="4404742" cy="3505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E62C2B-54CA-4793-8989-AB87A34A1079}"/>
              </a:ext>
            </a:extLst>
          </p:cNvPr>
          <p:cNvSpPr txBox="1"/>
          <p:nvPr/>
        </p:nvSpPr>
        <p:spPr>
          <a:xfrm>
            <a:off x="381000" y="3460701"/>
            <a:ext cx="8382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the initialization function, initialize two empty arrays. One for class labels &amp; one for attribute data for each item.</a:t>
            </a:r>
          </a:p>
          <a:p>
            <a:pPr algn="ctr"/>
            <a:r>
              <a:rPr lang="zh-CN" altLang="en-US" sz="2200" dirty="0"/>
              <a:t>在初始化函数中，初始化两个数组。一个存储每条数据的真实类别，另一个存储每条数据用于分类的属性数据</a:t>
            </a:r>
            <a:endParaRPr lang="en-US" altLang="zh-CN" sz="2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830846-0556-4652-8D74-3488DF8F29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891962"/>
            <a:ext cx="2591024" cy="8992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75067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924800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Classification Data </a:t>
            </a:r>
            <a:r>
              <a:rPr lang="zh-CN" altLang="en-US" dirty="0">
                <a:ea typeface="ＭＳ Ｐゴシック" panose="020B0600070205080204" pitchFamily="34" charset="-128"/>
              </a:rPr>
              <a:t>分类数据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609600" y="1600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Write a member functions add a data item</a:t>
            </a:r>
          </a:p>
          <a:p>
            <a:pPr algn="ctr"/>
            <a:r>
              <a:rPr lang="zh-CN" altLang="en-US" sz="2200" dirty="0"/>
              <a:t>写一个成员函数，用来添加一条数据</a:t>
            </a:r>
            <a:endParaRPr lang="en-US" altLang="zh-CN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E62C2B-54CA-4793-8989-AB87A34A1079}"/>
              </a:ext>
            </a:extLst>
          </p:cNvPr>
          <p:cNvSpPr txBox="1"/>
          <p:nvPr/>
        </p:nvSpPr>
        <p:spPr>
          <a:xfrm>
            <a:off x="266700" y="3352800"/>
            <a:ext cx="8610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Write 3 member functions to retrieve the total number of data items, the attributes (features) &amp; label of a certain data item</a:t>
            </a:r>
          </a:p>
          <a:p>
            <a:pPr algn="ctr"/>
            <a:r>
              <a:rPr lang="zh-CN" altLang="en-US" sz="2200" dirty="0"/>
              <a:t>写三个成员函数，获取总数据量以及某条数据的属性（特征）和类别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EA988-4CCB-4222-9A09-28C748D381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344998"/>
            <a:ext cx="4724810" cy="8992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43F6CA-B308-4D89-B03C-6A44D50FE0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368" y="4477164"/>
            <a:ext cx="3947502" cy="21642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00682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Evaluation </a:t>
            </a:r>
            <a:r>
              <a:rPr lang="zh-CN" altLang="en-US" dirty="0">
                <a:ea typeface="ＭＳ Ｐゴシック" panose="020B0600070205080204" pitchFamily="34" charset="-128"/>
              </a:rPr>
              <a:t>评估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57150" y="1648361"/>
            <a:ext cx="90297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Modify the class ‘Tester’ w/ a new member function, taking the training data for training &amp; test data for evaluation </a:t>
            </a:r>
          </a:p>
          <a:p>
            <a:pPr algn="ctr"/>
            <a:r>
              <a:rPr lang="zh-CN" altLang="en-US" sz="2200" dirty="0"/>
              <a:t>修改“</a:t>
            </a:r>
            <a:r>
              <a:rPr lang="en-US" altLang="zh-CN" sz="2200" dirty="0"/>
              <a:t>Tester</a:t>
            </a:r>
            <a:r>
              <a:rPr lang="zh-CN" altLang="en-US" sz="2200" dirty="0"/>
              <a:t>”类型，加一个新的成员函数，接收训练数据用以训练和测试数据进行评估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639406-073F-4420-B7D4-B5DA9609EC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094911"/>
            <a:ext cx="6904318" cy="3657916"/>
          </a:xfrm>
          <a:prstGeom prst="rect">
            <a:avLst/>
          </a:prstGeom>
          <a:ln>
            <a:solidFill>
              <a:srgbClr val="00B050"/>
            </a:solidFill>
          </a:ln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5FB22912-B7A9-49E1-A860-F2C0E0735129}"/>
              </a:ext>
            </a:extLst>
          </p:cNvPr>
          <p:cNvGrpSpPr/>
          <p:nvPr/>
        </p:nvGrpSpPr>
        <p:grpSpPr>
          <a:xfrm>
            <a:off x="1219200" y="3371672"/>
            <a:ext cx="7543800" cy="769441"/>
            <a:chOff x="1219200" y="3371672"/>
            <a:chExt cx="7543800" cy="76944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0DB22CC-15B5-4FB7-AEAA-1EF389426E91}"/>
                </a:ext>
              </a:extLst>
            </p:cNvPr>
            <p:cNvSpPr/>
            <p:nvPr/>
          </p:nvSpPr>
          <p:spPr bwMode="auto">
            <a:xfrm>
              <a:off x="1219200" y="3429000"/>
              <a:ext cx="4876800" cy="228600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1CEBF3A-2EDD-46BF-B759-01EC473FE0FA}"/>
                </a:ext>
              </a:extLst>
            </p:cNvPr>
            <p:cNvCxnSpPr>
              <a:cxnSpLocks/>
              <a:stCxn id="11" idx="1"/>
              <a:endCxn id="8" idx="3"/>
            </p:cNvCxnSpPr>
            <p:nvPr/>
          </p:nvCxnSpPr>
          <p:spPr bwMode="auto">
            <a:xfrm flipH="1" flipV="1">
              <a:off x="6096000" y="3543300"/>
              <a:ext cx="1371600" cy="21309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6EEFDAB-2F66-45D2-8D3B-01EB7E369764}"/>
                </a:ext>
              </a:extLst>
            </p:cNvPr>
            <p:cNvSpPr txBox="1"/>
            <p:nvPr/>
          </p:nvSpPr>
          <p:spPr>
            <a:xfrm>
              <a:off x="7467600" y="3371672"/>
              <a:ext cx="12954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Training</a:t>
              </a:r>
            </a:p>
            <a:p>
              <a:pPr algn="ctr"/>
              <a:r>
                <a:rPr lang="zh-CN" altLang="en-US" sz="2200" dirty="0"/>
                <a:t>训练</a:t>
              </a:r>
              <a:endParaRPr lang="en-US" altLang="zh-CN" sz="22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95BCCAB-F6AB-48FA-AC54-A8FB3388CF02}"/>
              </a:ext>
            </a:extLst>
          </p:cNvPr>
          <p:cNvGrpSpPr/>
          <p:nvPr/>
        </p:nvGrpSpPr>
        <p:grpSpPr>
          <a:xfrm>
            <a:off x="1219200" y="3922294"/>
            <a:ext cx="7896225" cy="2012414"/>
            <a:chOff x="1219200" y="3922294"/>
            <a:chExt cx="7896225" cy="201241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7575E65-38A1-4735-8780-A8E82CB3AF52}"/>
                </a:ext>
              </a:extLst>
            </p:cNvPr>
            <p:cNvSpPr/>
            <p:nvPr/>
          </p:nvSpPr>
          <p:spPr bwMode="auto">
            <a:xfrm>
              <a:off x="1219200" y="3922294"/>
              <a:ext cx="6172200" cy="1993597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E90D73B-BDBD-4288-A6CC-EB17A0833D15}"/>
                </a:ext>
              </a:extLst>
            </p:cNvPr>
            <p:cNvCxnSpPr>
              <a:cxnSpLocks/>
              <a:stCxn id="18" idx="0"/>
              <a:endCxn id="14" idx="3"/>
            </p:cNvCxnSpPr>
            <p:nvPr/>
          </p:nvCxnSpPr>
          <p:spPr bwMode="auto">
            <a:xfrm flipH="1" flipV="1">
              <a:off x="7391400" y="4919093"/>
              <a:ext cx="947084" cy="24617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D4EE244-DEBE-411C-8848-65E5503911BE}"/>
                </a:ext>
              </a:extLst>
            </p:cNvPr>
            <p:cNvSpPr txBox="1"/>
            <p:nvPr/>
          </p:nvSpPr>
          <p:spPr>
            <a:xfrm>
              <a:off x="7561543" y="5165267"/>
              <a:ext cx="155388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Evaluation</a:t>
              </a:r>
            </a:p>
            <a:p>
              <a:pPr algn="ctr"/>
              <a:r>
                <a:rPr lang="zh-CN" altLang="en-US" sz="2200" dirty="0"/>
                <a:t>评估</a:t>
              </a:r>
              <a:endParaRPr lang="en-US" altLang="zh-CN" sz="2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98211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Configure Data Size </a:t>
            </a:r>
            <a:r>
              <a:rPr lang="zh-CN" altLang="en-US" dirty="0"/>
              <a:t>设置数据量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533400" y="1633010"/>
            <a:ext cx="80772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Start a new file ‘test.py’, import ‘</a:t>
            </a:r>
            <a:r>
              <a:rPr lang="en-US" altLang="zh-CN" sz="2200" dirty="0" err="1"/>
              <a:t>argparse</a:t>
            </a:r>
            <a:r>
              <a:rPr lang="en-US" altLang="zh-CN" sz="2200" dirty="0"/>
              <a:t>’, follow Practice 2.1 to use a mandatory command line argument to input the training data size, &amp; hard-code the test data size</a:t>
            </a:r>
          </a:p>
          <a:p>
            <a:pPr algn="ctr"/>
            <a:r>
              <a:rPr lang="zh-CN" altLang="en-US" sz="2200" dirty="0"/>
              <a:t>新开一个“</a:t>
            </a:r>
            <a:r>
              <a:rPr lang="en-US" altLang="zh-CN" sz="2200" dirty="0"/>
              <a:t>test.py</a:t>
            </a:r>
            <a:r>
              <a:rPr lang="zh-CN" altLang="en-US" sz="2200" dirty="0"/>
              <a:t>”文件，导入“</a:t>
            </a:r>
            <a:r>
              <a:rPr lang="en-US" altLang="zh-CN" sz="2200"/>
              <a:t>argparse</a:t>
            </a:r>
            <a:r>
              <a:rPr lang="zh-CN" altLang="en-US" sz="2200"/>
              <a:t>”</a:t>
            </a:r>
            <a:r>
              <a:rPr lang="zh-CN" altLang="en-US" sz="2200" dirty="0"/>
              <a:t>，参照实践</a:t>
            </a:r>
            <a:r>
              <a:rPr lang="en-US" altLang="zh-CN" sz="2200" dirty="0"/>
              <a:t>2.1</a:t>
            </a:r>
            <a:r>
              <a:rPr lang="zh-CN" altLang="en-US" sz="2200" dirty="0"/>
              <a:t>用一个必要命令行参数来输入训练数据量，将测试数据量设为</a:t>
            </a:r>
            <a:r>
              <a:rPr lang="en-US" altLang="zh-CN" sz="2200" dirty="0"/>
              <a:t>100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3E4387-C2F5-4EA8-AE98-4095301CF6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439579"/>
            <a:ext cx="7011008" cy="2347164"/>
          </a:xfrm>
          <a:prstGeom prst="rect">
            <a:avLst/>
          </a:prstGeom>
          <a:ln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3195516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Generate 1 Data Item             </a:t>
            </a:r>
            <a:r>
              <a:rPr lang="zh-CN" altLang="en-US" dirty="0"/>
              <a:t>生成一条数据</a:t>
            </a:r>
            <a:r>
              <a:rPr lang="en-US" altLang="zh-CN" dirty="0"/>
              <a:t> (1)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152400" y="1633010"/>
            <a:ext cx="87630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Import ‘random’ &amp; ‘</a:t>
            </a:r>
            <a:r>
              <a:rPr lang="en-US" altLang="zh-CN" sz="2200" dirty="0" err="1"/>
              <a:t>numpy</a:t>
            </a:r>
            <a:r>
              <a:rPr lang="en-US" altLang="zh-CN" sz="2200" dirty="0"/>
              <a:t>’. Before the main section, define a new function ‘</a:t>
            </a:r>
            <a:r>
              <a:rPr lang="en-US" altLang="zh-CN" sz="2200" dirty="0" err="1"/>
              <a:t>generate_data</a:t>
            </a:r>
            <a:r>
              <a:rPr lang="en-US" altLang="zh-CN" sz="2200" dirty="0"/>
              <a:t>’. In the function, generate 2 random numbers (-3~3 &amp; -15~15)  </a:t>
            </a:r>
          </a:p>
          <a:p>
            <a:pPr algn="ctr"/>
            <a:r>
              <a:rPr lang="zh-CN" altLang="en-US" sz="2200" dirty="0"/>
              <a:t>导入“</a:t>
            </a:r>
            <a:r>
              <a:rPr lang="en-US" altLang="zh-CN" sz="2200" dirty="0"/>
              <a:t>random</a:t>
            </a:r>
            <a:r>
              <a:rPr lang="zh-CN" altLang="en-US" sz="2200" dirty="0"/>
              <a:t>”和“</a:t>
            </a:r>
            <a:r>
              <a:rPr lang="en-US" altLang="zh-CN" sz="2200" dirty="0" err="1"/>
              <a:t>numpy</a:t>
            </a:r>
            <a:r>
              <a:rPr lang="zh-CN" altLang="en-US" sz="2200" dirty="0"/>
              <a:t>”。在</a:t>
            </a:r>
            <a:r>
              <a:rPr lang="en-US" altLang="zh-CN" sz="2200" dirty="0"/>
              <a:t>main</a:t>
            </a:r>
            <a:r>
              <a:rPr lang="zh-CN" altLang="en-US" sz="2200" dirty="0"/>
              <a:t>部分前声明一个函数“</a:t>
            </a:r>
            <a:r>
              <a:rPr lang="en-US" altLang="zh-CN" sz="2200" dirty="0" err="1"/>
              <a:t>generate_data</a:t>
            </a:r>
            <a:r>
              <a:rPr lang="zh-CN" altLang="en-US" sz="2200" dirty="0"/>
              <a:t>”。产生两个随机数（</a:t>
            </a:r>
            <a:r>
              <a:rPr lang="en-US" altLang="zh-CN" sz="2200" dirty="0"/>
              <a:t> -3~3</a:t>
            </a:r>
            <a:r>
              <a:rPr lang="zh-CN" altLang="en-US" sz="2200" dirty="0"/>
              <a:t>和</a:t>
            </a:r>
            <a:r>
              <a:rPr lang="en-US" altLang="zh-CN" sz="2200" dirty="0"/>
              <a:t>-15~15 </a:t>
            </a:r>
            <a:r>
              <a:rPr lang="zh-CN" altLang="en-US" sz="2200" dirty="0"/>
              <a:t>）</a:t>
            </a:r>
            <a:endParaRPr lang="en-US" altLang="zh-CN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435C58-ADE7-4A95-BFDD-3D1F543EBA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875" y="3439887"/>
            <a:ext cx="4618120" cy="160033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1546471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Generate 1 Data Item             </a:t>
            </a:r>
            <a:r>
              <a:rPr lang="zh-CN" altLang="en-US" dirty="0"/>
              <a:t>生成一条数据</a:t>
            </a:r>
            <a:r>
              <a:rPr lang="en-US" altLang="zh-CN" dirty="0"/>
              <a:t> (2)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76200" y="1633010"/>
            <a:ext cx="89154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Take the 1</a:t>
            </a:r>
            <a:r>
              <a:rPr lang="en-US" altLang="zh-CN" sz="2200" baseline="30000" dirty="0"/>
              <a:t>st</a:t>
            </a:r>
            <a:r>
              <a:rPr lang="en-US" altLang="zh-CN" sz="2200" dirty="0"/>
              <a:t> random number as the attribute (but leave the 2</a:t>
            </a:r>
            <a:r>
              <a:rPr lang="en-US" altLang="zh-CN" sz="2200" baseline="30000" dirty="0"/>
              <a:t>nd</a:t>
            </a:r>
            <a:r>
              <a:rPr lang="en-US" altLang="zh-CN" sz="2200" dirty="0"/>
              <a:t> one for future use, just to make the random series fixed) &amp; determine the class label. Return the data item (x in </a:t>
            </a:r>
            <a:r>
              <a:rPr lang="en-US" altLang="zh-CN" sz="2200" dirty="0" err="1"/>
              <a:t>numpy</a:t>
            </a:r>
            <a:r>
              <a:rPr lang="en-US" altLang="zh-CN" sz="2200" dirty="0"/>
              <a:t> array type)</a:t>
            </a:r>
          </a:p>
          <a:p>
            <a:pPr algn="ctr"/>
            <a:r>
              <a:rPr lang="zh-CN" altLang="en-US" sz="2200" dirty="0"/>
              <a:t>以第一个随机数作为属性（把第二个留到将来，仅仅为了保证随机序列的确定性），确定类别。返回该数据（</a:t>
            </a:r>
            <a:r>
              <a:rPr lang="en-US" altLang="zh-CN" sz="2200" dirty="0"/>
              <a:t>x</a:t>
            </a:r>
            <a:r>
              <a:rPr lang="zh-CN" altLang="en-US" sz="2200" dirty="0"/>
              <a:t>为</a:t>
            </a:r>
            <a:r>
              <a:rPr lang="en-US" altLang="zh-CN" sz="2200" dirty="0" err="1"/>
              <a:t>numpy</a:t>
            </a:r>
            <a:r>
              <a:rPr lang="zh-CN" altLang="en-US" sz="2200" dirty="0"/>
              <a:t>数组类型）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2F1840-2DC8-48DD-9D25-328AD354A6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308" y="3459338"/>
            <a:ext cx="3612194" cy="1646062"/>
          </a:xfrm>
          <a:prstGeom prst="rect">
            <a:avLst/>
          </a:prstGeom>
          <a:ln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547378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Training &amp; Test Data </a:t>
            </a:r>
            <a:br>
              <a:rPr lang="en-US" altLang="zh-CN" dirty="0"/>
            </a:br>
            <a:r>
              <a:rPr lang="zh-CN" altLang="en-US" dirty="0"/>
              <a:t>训练和测试数据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76200" y="1633010"/>
            <a:ext cx="8915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Import ‘</a:t>
            </a:r>
            <a:r>
              <a:rPr lang="en-US" altLang="zh-CN" sz="2200" dirty="0" err="1"/>
              <a:t>classificationData</a:t>
            </a:r>
            <a:r>
              <a:rPr lang="en-US" altLang="zh-CN" sz="2200" dirty="0"/>
              <a:t>’</a:t>
            </a:r>
            <a:r>
              <a:rPr lang="zh-CN" altLang="en-US" sz="2200" dirty="0"/>
              <a:t>  导入“</a:t>
            </a:r>
            <a:r>
              <a:rPr lang="en-US" altLang="zh-CN" sz="2200" dirty="0" err="1"/>
              <a:t>classificationData</a:t>
            </a:r>
            <a:r>
              <a:rPr lang="zh-CN" altLang="en-US" sz="2200" dirty="0"/>
              <a:t>”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498495-3871-4C6D-856B-E95DFECD46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019839"/>
            <a:ext cx="3520746" cy="320068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E9FDA5-CD31-4F76-B34C-BFA1F328877A}"/>
              </a:ext>
            </a:extLst>
          </p:cNvPr>
          <p:cNvSpPr txBox="1"/>
          <p:nvPr/>
        </p:nvSpPr>
        <p:spPr>
          <a:xfrm>
            <a:off x="76200" y="2438400"/>
            <a:ext cx="8915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the main section, initialize the random seed. Generate test data first (to make the data the same for different training data size) &amp; then the training data  </a:t>
            </a:r>
            <a:r>
              <a:rPr lang="zh-CN" altLang="en-US" sz="2200" dirty="0"/>
              <a:t>在</a:t>
            </a:r>
            <a:r>
              <a:rPr lang="en-US" altLang="zh-CN" sz="2200" dirty="0"/>
              <a:t>main</a:t>
            </a:r>
            <a:r>
              <a:rPr lang="zh-CN" altLang="en-US" sz="2200" dirty="0"/>
              <a:t>部分中，初始化随机数。先生成测试数据（以保证不同训练数据量下测试数据相同），然后生成训练数据</a:t>
            </a:r>
            <a:endParaRPr lang="en-US" altLang="zh-CN" sz="2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03C8E0-46B8-49F0-9D4E-6792DC9535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497" y="3884950"/>
            <a:ext cx="7453006" cy="2316680"/>
          </a:xfrm>
          <a:prstGeom prst="rect">
            <a:avLst/>
          </a:prstGeom>
          <a:ln>
            <a:solidFill>
              <a:srgbClr val="00B050"/>
            </a:solidFill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285D98AC-7E14-4CEC-9F7E-D09BA7206935}"/>
              </a:ext>
            </a:extLst>
          </p:cNvPr>
          <p:cNvGrpSpPr/>
          <p:nvPr/>
        </p:nvGrpSpPr>
        <p:grpSpPr>
          <a:xfrm>
            <a:off x="892628" y="4125686"/>
            <a:ext cx="6803571" cy="2640388"/>
            <a:chOff x="925285" y="4495800"/>
            <a:chExt cx="6803571" cy="264038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F4F3276-23B2-4D89-BF81-410FDE955C0B}"/>
                </a:ext>
              </a:extLst>
            </p:cNvPr>
            <p:cNvSpPr/>
            <p:nvPr/>
          </p:nvSpPr>
          <p:spPr bwMode="auto">
            <a:xfrm>
              <a:off x="925285" y="4495800"/>
              <a:ext cx="6803571" cy="1012371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6780DCD-04C7-4D60-9A3E-E5F40DC9666A}"/>
                </a:ext>
              </a:extLst>
            </p:cNvPr>
            <p:cNvCxnSpPr>
              <a:cxnSpLocks/>
              <a:stCxn id="13" idx="0"/>
              <a:endCxn id="11" idx="2"/>
            </p:cNvCxnSpPr>
            <p:nvPr/>
          </p:nvCxnSpPr>
          <p:spPr bwMode="auto">
            <a:xfrm flipV="1">
              <a:off x="4327071" y="5508171"/>
              <a:ext cx="0" cy="119713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165A608-E0DD-4E7C-B2F6-72AEC9193970}"/>
                </a:ext>
              </a:extLst>
            </p:cNvPr>
            <p:cNvSpPr txBox="1"/>
            <p:nvPr/>
          </p:nvSpPr>
          <p:spPr>
            <a:xfrm>
              <a:off x="1377043" y="6705301"/>
              <a:ext cx="590005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Generate test data </a:t>
              </a:r>
              <a:r>
                <a:rPr lang="zh-CN" altLang="en-US" sz="2200" dirty="0"/>
                <a:t>生成测试数据</a:t>
              </a:r>
              <a:endParaRPr lang="en-US" altLang="zh-CN" sz="2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06507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Training &amp; Test Data </a:t>
            </a:r>
            <a:br>
              <a:rPr lang="en-US" altLang="zh-CN" dirty="0"/>
            </a:br>
            <a:r>
              <a:rPr lang="zh-CN" altLang="en-US" dirty="0"/>
              <a:t>训练和测试数据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76200" y="1633010"/>
            <a:ext cx="8915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Import ‘</a:t>
            </a:r>
            <a:r>
              <a:rPr lang="en-US" altLang="zh-CN" sz="2200" dirty="0" err="1"/>
              <a:t>classificationData</a:t>
            </a:r>
            <a:r>
              <a:rPr lang="en-US" altLang="zh-CN" sz="2200" dirty="0"/>
              <a:t>’</a:t>
            </a:r>
            <a:r>
              <a:rPr lang="zh-CN" altLang="en-US" sz="2200" dirty="0"/>
              <a:t>  导入“</a:t>
            </a:r>
            <a:r>
              <a:rPr lang="en-US" altLang="zh-CN" sz="2200" dirty="0" err="1"/>
              <a:t>classificationData</a:t>
            </a:r>
            <a:r>
              <a:rPr lang="zh-CN" altLang="en-US" sz="2200" dirty="0"/>
              <a:t>”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498495-3871-4C6D-856B-E95DFECD46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019839"/>
            <a:ext cx="3520746" cy="320068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E9FDA5-CD31-4F76-B34C-BFA1F328877A}"/>
              </a:ext>
            </a:extLst>
          </p:cNvPr>
          <p:cNvSpPr txBox="1"/>
          <p:nvPr/>
        </p:nvSpPr>
        <p:spPr>
          <a:xfrm>
            <a:off x="76200" y="2438400"/>
            <a:ext cx="8915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the main section, initialize the random seed. Generate test data first (to make the data the same for different training data size) &amp; then the training data  </a:t>
            </a:r>
            <a:r>
              <a:rPr lang="zh-CN" altLang="en-US" sz="2200" dirty="0"/>
              <a:t>在</a:t>
            </a:r>
            <a:r>
              <a:rPr lang="en-US" altLang="zh-CN" sz="2200" dirty="0"/>
              <a:t>main</a:t>
            </a:r>
            <a:r>
              <a:rPr lang="zh-CN" altLang="en-US" sz="2200" dirty="0"/>
              <a:t>部分中，初始化随机数。先生成测试数据（以保证不同训练数据量下测试数据相同），然后生成训练数据</a:t>
            </a:r>
            <a:endParaRPr lang="en-US" altLang="zh-CN" sz="2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03C8E0-46B8-49F0-9D4E-6792DC9535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497" y="3884950"/>
            <a:ext cx="7453006" cy="2316680"/>
          </a:xfrm>
          <a:prstGeom prst="rect">
            <a:avLst/>
          </a:prstGeom>
          <a:ln>
            <a:solidFill>
              <a:srgbClr val="00B050"/>
            </a:solidFill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285D98AC-7E14-4CEC-9F7E-D09BA7206935}"/>
              </a:ext>
            </a:extLst>
          </p:cNvPr>
          <p:cNvGrpSpPr/>
          <p:nvPr/>
        </p:nvGrpSpPr>
        <p:grpSpPr>
          <a:xfrm>
            <a:off x="892628" y="5120640"/>
            <a:ext cx="7336972" cy="1706394"/>
            <a:chOff x="925285" y="5490754"/>
            <a:chExt cx="7336972" cy="170639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F4F3276-23B2-4D89-BF81-410FDE955C0B}"/>
                </a:ext>
              </a:extLst>
            </p:cNvPr>
            <p:cNvSpPr/>
            <p:nvPr/>
          </p:nvSpPr>
          <p:spPr bwMode="auto">
            <a:xfrm>
              <a:off x="925285" y="5490754"/>
              <a:ext cx="7336972" cy="1012371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6780DCD-04C7-4D60-9A3E-E5F40DC9666A}"/>
                </a:ext>
              </a:extLst>
            </p:cNvPr>
            <p:cNvCxnSpPr>
              <a:cxnSpLocks/>
              <a:stCxn id="13" idx="0"/>
              <a:endCxn id="11" idx="2"/>
            </p:cNvCxnSpPr>
            <p:nvPr/>
          </p:nvCxnSpPr>
          <p:spPr bwMode="auto">
            <a:xfrm flipH="1" flipV="1">
              <a:off x="4593771" y="6503125"/>
              <a:ext cx="7620" cy="26313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165A608-E0DD-4E7C-B2F6-72AEC9193970}"/>
                </a:ext>
              </a:extLst>
            </p:cNvPr>
            <p:cNvSpPr txBox="1"/>
            <p:nvPr/>
          </p:nvSpPr>
          <p:spPr>
            <a:xfrm>
              <a:off x="1651363" y="6766261"/>
              <a:ext cx="590005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Generate training data </a:t>
              </a:r>
              <a:r>
                <a:rPr lang="zh-CN" altLang="en-US" sz="2200" dirty="0"/>
                <a:t>生成训练数据</a:t>
              </a:r>
              <a:endParaRPr lang="en-US" altLang="zh-CN" sz="2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46785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Run It </a:t>
            </a:r>
            <a:r>
              <a:rPr lang="zh-CN" altLang="en-US" dirty="0"/>
              <a:t>运行之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76200" y="1633010"/>
            <a:ext cx="891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Import ‘tester’ &amp; ‘</a:t>
            </a:r>
            <a:r>
              <a:rPr lang="en-US" altLang="zh-CN" sz="2200" dirty="0" err="1"/>
              <a:t>nearestNeighbor</a:t>
            </a:r>
            <a:r>
              <a:rPr lang="en-US" altLang="zh-CN" sz="2200" dirty="0"/>
              <a:t>’  </a:t>
            </a:r>
          </a:p>
          <a:p>
            <a:pPr algn="ctr"/>
            <a:r>
              <a:rPr lang="zh-CN" altLang="en-US" sz="2200" dirty="0"/>
              <a:t>导入“</a:t>
            </a:r>
            <a:r>
              <a:rPr lang="en-US" altLang="zh-CN" sz="2200" dirty="0"/>
              <a:t>tester</a:t>
            </a:r>
            <a:r>
              <a:rPr lang="zh-CN" altLang="en-US" sz="2200" dirty="0"/>
              <a:t>”和“</a:t>
            </a:r>
            <a:r>
              <a:rPr lang="en-US" altLang="zh-CN" sz="2200" dirty="0" err="1"/>
              <a:t>nearestNeighbor</a:t>
            </a:r>
            <a:r>
              <a:rPr lang="zh-CN" altLang="en-US" sz="2200" dirty="0"/>
              <a:t>”</a:t>
            </a:r>
            <a:endParaRPr lang="en-US" altLang="zh-CN" sz="2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5F22CF-75C7-40F8-B0A1-322FCE5791AC}"/>
              </a:ext>
            </a:extLst>
          </p:cNvPr>
          <p:cNvSpPr txBox="1"/>
          <p:nvPr/>
        </p:nvSpPr>
        <p:spPr>
          <a:xfrm>
            <a:off x="0" y="3023013"/>
            <a:ext cx="8915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Create an instance of ‘</a:t>
            </a:r>
            <a:r>
              <a:rPr lang="en-US" altLang="zh-CN" sz="2200" dirty="0" err="1"/>
              <a:t>NearestNeighbor</a:t>
            </a:r>
            <a:r>
              <a:rPr lang="en-US" altLang="zh-CN" sz="2200" dirty="0"/>
              <a:t>’ class, an instance of ‘Tester’, &amp; evaluate the classification accuracy  </a:t>
            </a:r>
          </a:p>
          <a:p>
            <a:pPr algn="ctr"/>
            <a:r>
              <a:rPr lang="zh-CN" altLang="en-US" sz="2200" dirty="0"/>
              <a:t>生成“</a:t>
            </a:r>
            <a:r>
              <a:rPr lang="en-US" altLang="zh-CN" sz="2200" dirty="0" err="1"/>
              <a:t>NearestNeighbor</a:t>
            </a:r>
            <a:r>
              <a:rPr lang="zh-CN" altLang="en-US" sz="2200" dirty="0"/>
              <a:t>”类型的实例和“</a:t>
            </a:r>
            <a:r>
              <a:rPr lang="en-US" altLang="zh-CN" sz="2200" dirty="0"/>
              <a:t>Tester</a:t>
            </a:r>
            <a:r>
              <a:rPr lang="zh-CN" altLang="en-US" sz="2200" dirty="0"/>
              <a:t>”类型的实例，评估分类准确率</a:t>
            </a:r>
            <a:endParaRPr lang="en-US" altLang="zh-CN" sz="2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BA0FBAC-CAE6-4CE9-A80F-CB6D339E6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42" y="4465320"/>
            <a:ext cx="6340390" cy="868756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E1F4A59-50D8-4DFA-BA5B-F4FCBF37B328}"/>
              </a:ext>
            </a:extLst>
          </p:cNvPr>
          <p:cNvSpPr txBox="1"/>
          <p:nvPr/>
        </p:nvSpPr>
        <p:spPr>
          <a:xfrm>
            <a:off x="114300" y="5478959"/>
            <a:ext cx="891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Try training data size of 20, 40, 60, 80, 100, 120</a:t>
            </a:r>
          </a:p>
          <a:p>
            <a:pPr algn="ctr"/>
            <a:r>
              <a:rPr lang="zh-CN" altLang="en-US" sz="2200" dirty="0"/>
              <a:t>尝试不同的训练数据量：</a:t>
            </a:r>
            <a:r>
              <a:rPr lang="en-US" altLang="zh-CN" sz="2200" dirty="0"/>
              <a:t>20</a:t>
            </a:r>
            <a:r>
              <a:rPr lang="zh-CN" altLang="en-US" sz="2200" dirty="0"/>
              <a:t>，</a:t>
            </a:r>
            <a:r>
              <a:rPr lang="en-US" altLang="zh-CN" sz="2200" dirty="0"/>
              <a:t>40</a:t>
            </a:r>
            <a:r>
              <a:rPr lang="zh-CN" altLang="en-US" sz="2200" dirty="0"/>
              <a:t>，</a:t>
            </a:r>
            <a:r>
              <a:rPr lang="en-US" altLang="zh-CN" sz="2200" dirty="0"/>
              <a:t>60</a:t>
            </a:r>
            <a:r>
              <a:rPr lang="zh-CN" altLang="en-US" sz="2200" dirty="0"/>
              <a:t>，</a:t>
            </a:r>
            <a:r>
              <a:rPr lang="en-US" altLang="zh-CN" sz="2200" dirty="0"/>
              <a:t>80</a:t>
            </a:r>
            <a:r>
              <a:rPr lang="zh-CN" altLang="en-US" sz="2200" dirty="0"/>
              <a:t>，</a:t>
            </a:r>
            <a:r>
              <a:rPr lang="en-US" altLang="zh-CN" sz="2200" dirty="0"/>
              <a:t>100</a:t>
            </a:r>
            <a:r>
              <a:rPr lang="zh-CN" altLang="en-US" sz="2200" dirty="0"/>
              <a:t>，</a:t>
            </a:r>
            <a:r>
              <a:rPr lang="en-US" altLang="zh-CN" sz="2200" dirty="0"/>
              <a:t>120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D493FB-9A8A-4272-9EB1-05B681B0BB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362200"/>
            <a:ext cx="3002540" cy="60965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72178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16940</TotalTime>
  <Words>951</Words>
  <Application>Microsoft Office PowerPoint</Application>
  <PresentationFormat>On-screen Show (4:3)</PresentationFormat>
  <Paragraphs>56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ＭＳ Ｐゴシック</vt:lpstr>
      <vt:lpstr>SimSun</vt:lpstr>
      <vt:lpstr>Arial</vt:lpstr>
      <vt:lpstr>Comic Sans MS</vt:lpstr>
      <vt:lpstr>Tahoma</vt:lpstr>
      <vt:lpstr>Times New Roman</vt:lpstr>
      <vt:lpstr>Wingdings</vt:lpstr>
      <vt:lpstr>Blends</vt:lpstr>
      <vt:lpstr>Cookbook for Practice 4.1</vt:lpstr>
      <vt:lpstr>Classification Data 分类数据 (1)</vt:lpstr>
      <vt:lpstr>Classification Data 分类数据 (2)</vt:lpstr>
      <vt:lpstr>Evaluation 评估</vt:lpstr>
      <vt:lpstr>Configure Data Size 设置数据量</vt:lpstr>
      <vt:lpstr>Generate 1 Data Item             生成一条数据 (1)</vt:lpstr>
      <vt:lpstr>Generate 1 Data Item             生成一条数据 (2)</vt:lpstr>
      <vt:lpstr>Training &amp; Test Data  训练和测试数据</vt:lpstr>
      <vt:lpstr>Training &amp; Test Data  训练和测试数据</vt:lpstr>
      <vt:lpstr>Run It 运行之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1208</cp:revision>
  <dcterms:created xsi:type="dcterms:W3CDTF">2003-03-13T01:36:43Z</dcterms:created>
  <dcterms:modified xsi:type="dcterms:W3CDTF">2024-11-23T01:42:05Z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3a01b7e8-0c50-4c55-8923-07f46a24e22a</vt:lpwstr>
  </property>
  <property fmtid="{D5CDD505-2E9C-101B-9397-08002B2CF9AE}" pid="3" name="CTP_TimeStamp">
    <vt:lpwstr>2019-12-07 05:02:28Z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