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tags/tag9.xml" ContentType="application/vnd.openxmlformats-officedocument.presentationml.tags+xml"/>
  <Override PartName="/ppt/notesSlides/notesSlide14.xml" ContentType="application/vnd.openxmlformats-officedocument.presentationml.notesSlide+xml"/>
  <Override PartName="/ppt/tags/tag10.xml" ContentType="application/vnd.openxmlformats-officedocument.presentationml.tags+xml"/>
  <Override PartName="/ppt/notesSlides/notesSlide15.xml" ContentType="application/vnd.openxmlformats-officedocument.presentationml.notesSlide+xml"/>
  <Override PartName="/ppt/tags/tag1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19"/>
  </p:notesMasterIdLst>
  <p:handoutMasterIdLst>
    <p:handoutMasterId r:id="rId20"/>
  </p:handoutMasterIdLst>
  <p:sldIdLst>
    <p:sldId id="286" r:id="rId2"/>
    <p:sldId id="451" r:id="rId3"/>
    <p:sldId id="453" r:id="rId4"/>
    <p:sldId id="471" r:id="rId5"/>
    <p:sldId id="472" r:id="rId6"/>
    <p:sldId id="473" r:id="rId7"/>
    <p:sldId id="474" r:id="rId8"/>
    <p:sldId id="475" r:id="rId9"/>
    <p:sldId id="482" r:id="rId10"/>
    <p:sldId id="483" r:id="rId11"/>
    <p:sldId id="484" r:id="rId12"/>
    <p:sldId id="485" r:id="rId13"/>
    <p:sldId id="480" r:id="rId14"/>
    <p:sldId id="481" r:id="rId15"/>
    <p:sldId id="450" r:id="rId16"/>
    <p:sldId id="469" r:id="rId17"/>
    <p:sldId id="353" r:id="rId18"/>
  </p:sldIdLst>
  <p:sldSz cx="9144000" cy="6858000" type="screen4x3"/>
  <p:notesSz cx="7010400" cy="9296400"/>
  <p:defaultTextStyle>
    <a:defPPr>
      <a:defRPr lang="zh-CN"/>
    </a:defPPr>
    <a:lvl1pPr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5pPr>
    <a:lvl6pPr marL="22860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6pPr>
    <a:lvl7pPr marL="27432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7pPr>
    <a:lvl8pPr marL="32004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8pPr>
    <a:lvl9pPr marL="36576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B2B2B2"/>
    <a:srgbClr val="993366"/>
    <a:srgbClr val="339933"/>
    <a:srgbClr val="33CC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15" autoAdjust="0"/>
    <p:restoredTop sz="93504" autoAdjust="0"/>
  </p:normalViewPr>
  <p:slideViewPr>
    <p:cSldViewPr>
      <p:cViewPr varScale="1">
        <p:scale>
          <a:sx n="68" d="100"/>
          <a:sy n="68" d="100"/>
        </p:scale>
        <p:origin x="44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275" y="6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bwMode="auto">
          <a:xfrm>
            <a:off x="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68963" name="Rectangle 3"/>
          <p:cNvSpPr>
            <a:spLocks noGrp="1" noChangeArrowheads="1"/>
          </p:cNvSpPr>
          <p:nvPr>
            <p:ph type="dt" sz="quarter" idx="1"/>
          </p:nvPr>
        </p:nvSpPr>
        <p:spPr bwMode="auto">
          <a:xfrm>
            <a:off x="396240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68964" name="Rectangle 4"/>
          <p:cNvSpPr>
            <a:spLocks noGrp="1" noChangeArrowheads="1"/>
          </p:cNvSpPr>
          <p:nvPr>
            <p:ph type="ftr" sz="quarter" idx="2"/>
          </p:nvPr>
        </p:nvSpPr>
        <p:spPr bwMode="auto">
          <a:xfrm>
            <a:off x="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68965" name="Rectangle 5"/>
          <p:cNvSpPr>
            <a:spLocks noGrp="1" noChangeArrowheads="1"/>
          </p:cNvSpPr>
          <p:nvPr>
            <p:ph type="sldNum" sz="quarter" idx="3"/>
          </p:nvPr>
        </p:nvSpPr>
        <p:spPr bwMode="auto">
          <a:xfrm>
            <a:off x="396240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1FF96B3-5193-4D4F-ADAC-C41F873FC327}" type="slidenum">
              <a:rPr lang="en-US" altLang="zh-CN"/>
              <a:pPr>
                <a:defRPr/>
              </a:pPr>
              <a:t>‹#›</a:t>
            </a:fld>
            <a:endParaRPr lang="en-US" altLang="zh-CN"/>
          </a:p>
        </p:txBody>
      </p:sp>
    </p:spTree>
    <p:extLst>
      <p:ext uri="{BB962C8B-B14F-4D97-AF65-F5344CB8AC3E}">
        <p14:creationId xmlns:p14="http://schemas.microsoft.com/office/powerpoint/2010/main" val="11295822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3" name="Rectangle 3"/>
          <p:cNvSpPr>
            <a:spLocks noGrp="1" noChangeArrowheads="1"/>
          </p:cNvSpPr>
          <p:nvPr>
            <p:ph type="dt" idx="1"/>
          </p:nvPr>
        </p:nvSpPr>
        <p:spPr bwMode="auto">
          <a:xfrm>
            <a:off x="3971925"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7" name="Rectangle 7"/>
          <p:cNvSpPr>
            <a:spLocks noGrp="1" noChangeArrowheads="1"/>
          </p:cNvSpPr>
          <p:nvPr>
            <p:ph type="sldNum" sz="quarter" idx="5"/>
          </p:nvPr>
        </p:nvSpPr>
        <p:spPr bwMode="auto">
          <a:xfrm>
            <a:off x="3971925"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C806C1B-B03E-46DA-85CD-D90BC0B37545}" type="slidenum">
              <a:rPr lang="en-US" altLang="zh-CN"/>
              <a:pPr>
                <a:defRPr/>
              </a:pPr>
              <a:t>‹#›</a:t>
            </a:fld>
            <a:endParaRPr lang="en-US" altLang="zh-CN"/>
          </a:p>
        </p:txBody>
      </p:sp>
    </p:spTree>
    <p:extLst>
      <p:ext uri="{BB962C8B-B14F-4D97-AF65-F5344CB8AC3E}">
        <p14:creationId xmlns:p14="http://schemas.microsoft.com/office/powerpoint/2010/main" val="108636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SimSun"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SimSun"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SimSun"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SimSun"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SimSun"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D2CF438-6F28-4EDA-8826-7EA47CD870C5}" type="slidenum">
              <a:rPr lang="en-US" altLang="zh-CN" smtClean="0">
                <a:latin typeface="Arial" panose="020B0604020202020204" pitchFamily="34" charset="0"/>
              </a:rPr>
              <a:pPr/>
              <a:t>1</a:t>
            </a:fld>
            <a:endParaRPr lang="en-US" altLang="zh-CN">
              <a:latin typeface="Arial" panose="020B0604020202020204" pitchFamily="34"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893111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2</a:t>
            </a:fld>
            <a:endParaRPr lang="en-US" altLang="zh-CN"/>
          </a:p>
        </p:txBody>
      </p:sp>
    </p:spTree>
    <p:extLst>
      <p:ext uri="{BB962C8B-B14F-4D97-AF65-F5344CB8AC3E}">
        <p14:creationId xmlns:p14="http://schemas.microsoft.com/office/powerpoint/2010/main" val="2396541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3</a:t>
            </a:fld>
            <a:endParaRPr lang="en-US" altLang="zh-CN"/>
          </a:p>
        </p:txBody>
      </p:sp>
    </p:spTree>
    <p:extLst>
      <p:ext uri="{BB962C8B-B14F-4D97-AF65-F5344CB8AC3E}">
        <p14:creationId xmlns:p14="http://schemas.microsoft.com/office/powerpoint/2010/main" val="894334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4</a:t>
            </a:fld>
            <a:endParaRPr lang="en-US" altLang="zh-CN"/>
          </a:p>
        </p:txBody>
      </p:sp>
    </p:spTree>
    <p:extLst>
      <p:ext uri="{BB962C8B-B14F-4D97-AF65-F5344CB8AC3E}">
        <p14:creationId xmlns:p14="http://schemas.microsoft.com/office/powerpoint/2010/main" val="3266171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a:t>
            </a:fld>
            <a:endParaRPr lang="en-US" altLang="zh-CN"/>
          </a:p>
        </p:txBody>
      </p:sp>
    </p:spTree>
    <p:extLst>
      <p:ext uri="{BB962C8B-B14F-4D97-AF65-F5344CB8AC3E}">
        <p14:creationId xmlns:p14="http://schemas.microsoft.com/office/powerpoint/2010/main" val="1169190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6</a:t>
            </a:fld>
            <a:endParaRPr lang="en-US" altLang="zh-CN"/>
          </a:p>
        </p:txBody>
      </p:sp>
    </p:spTree>
    <p:extLst>
      <p:ext uri="{BB962C8B-B14F-4D97-AF65-F5344CB8AC3E}">
        <p14:creationId xmlns:p14="http://schemas.microsoft.com/office/powerpoint/2010/main" val="1478041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a:t>
            </a:fld>
            <a:endParaRPr lang="en-US" altLang="zh-CN"/>
          </a:p>
        </p:txBody>
      </p:sp>
    </p:spTree>
    <p:extLst>
      <p:ext uri="{BB962C8B-B14F-4D97-AF65-F5344CB8AC3E}">
        <p14:creationId xmlns:p14="http://schemas.microsoft.com/office/powerpoint/2010/main" val="2824022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a:t>
            </a:fld>
            <a:endParaRPr lang="en-US" altLang="zh-CN"/>
          </a:p>
        </p:txBody>
      </p:sp>
    </p:spTree>
    <p:extLst>
      <p:ext uri="{BB962C8B-B14F-4D97-AF65-F5344CB8AC3E}">
        <p14:creationId xmlns:p14="http://schemas.microsoft.com/office/powerpoint/2010/main" val="2570946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a:t>
            </a:fld>
            <a:endParaRPr lang="en-US" altLang="zh-CN"/>
          </a:p>
        </p:txBody>
      </p:sp>
    </p:spTree>
    <p:extLst>
      <p:ext uri="{BB962C8B-B14F-4D97-AF65-F5344CB8AC3E}">
        <p14:creationId xmlns:p14="http://schemas.microsoft.com/office/powerpoint/2010/main" val="2912344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10</a:t>
            </a:fld>
            <a:endParaRPr lang="en-US" altLang="zh-CN"/>
          </a:p>
        </p:txBody>
      </p:sp>
    </p:spTree>
    <p:extLst>
      <p:ext uri="{BB962C8B-B14F-4D97-AF65-F5344CB8AC3E}">
        <p14:creationId xmlns:p14="http://schemas.microsoft.com/office/powerpoint/2010/main" val="3346537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11</a:t>
            </a:fld>
            <a:endParaRPr lang="en-US" altLang="zh-CN"/>
          </a:p>
        </p:txBody>
      </p:sp>
    </p:spTree>
    <p:extLst>
      <p:ext uri="{BB962C8B-B14F-4D97-AF65-F5344CB8AC3E}">
        <p14:creationId xmlns:p14="http://schemas.microsoft.com/office/powerpoint/2010/main" val="2932784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12</a:t>
            </a:fld>
            <a:endParaRPr lang="en-US" altLang="zh-CN"/>
          </a:p>
        </p:txBody>
      </p:sp>
    </p:spTree>
    <p:extLst>
      <p:ext uri="{BB962C8B-B14F-4D97-AF65-F5344CB8AC3E}">
        <p14:creationId xmlns:p14="http://schemas.microsoft.com/office/powerpoint/2010/main" val="949241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13</a:t>
            </a:fld>
            <a:endParaRPr lang="en-US" altLang="zh-CN"/>
          </a:p>
        </p:txBody>
      </p:sp>
    </p:spTree>
    <p:extLst>
      <p:ext uri="{BB962C8B-B14F-4D97-AF65-F5344CB8AC3E}">
        <p14:creationId xmlns:p14="http://schemas.microsoft.com/office/powerpoint/2010/main" val="848448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14</a:t>
            </a:fld>
            <a:endParaRPr lang="en-US" altLang="zh-CN"/>
          </a:p>
        </p:txBody>
      </p:sp>
    </p:spTree>
    <p:extLst>
      <p:ext uri="{BB962C8B-B14F-4D97-AF65-F5344CB8AC3E}">
        <p14:creationId xmlns:p14="http://schemas.microsoft.com/office/powerpoint/2010/main" val="2012222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15</a:t>
            </a:fld>
            <a:endParaRPr lang="en-US" altLang="zh-CN"/>
          </a:p>
        </p:txBody>
      </p:sp>
    </p:spTree>
    <p:extLst>
      <p:ext uri="{BB962C8B-B14F-4D97-AF65-F5344CB8AC3E}">
        <p14:creationId xmlns:p14="http://schemas.microsoft.com/office/powerpoint/2010/main" val="3929600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16</a:t>
            </a:fld>
            <a:endParaRPr lang="en-US" altLang="zh-CN"/>
          </a:p>
        </p:txBody>
      </p:sp>
    </p:spTree>
    <p:extLst>
      <p:ext uri="{BB962C8B-B14F-4D97-AF65-F5344CB8AC3E}">
        <p14:creationId xmlns:p14="http://schemas.microsoft.com/office/powerpoint/2010/main" val="3395280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57F7688E-3E4A-461B-8D10-9B016CF52F5C}" type="slidenum">
              <a:rPr lang="en-US" altLang="zh-CN" smtClean="0">
                <a:latin typeface="Arial" panose="020B0604020202020204" pitchFamily="34" charset="0"/>
              </a:rPr>
              <a:pPr/>
              <a:t>17</a:t>
            </a:fld>
            <a:endParaRPr lang="en-US" altLang="zh-CN">
              <a:latin typeface="Arial" panose="020B0604020202020204" pitchFamily="34" charset="0"/>
            </a:endParaRPr>
          </a:p>
        </p:txBody>
      </p:sp>
      <p:sp>
        <p:nvSpPr>
          <p:cNvPr id="99331" name="Rectangle 2"/>
          <p:cNvSpPr>
            <a:spLocks noGrp="1" noRot="1" noChangeAspect="1" noChangeArrowheads="1" noTextEdit="1"/>
          </p:cNvSpPr>
          <p:nvPr>
            <p:ph type="sldImg"/>
          </p:nvPr>
        </p:nvSpPr>
        <p:spPr>
          <a:solidFill>
            <a:srgbClr val="FFFFFF"/>
          </a:solidFill>
          <a:ln/>
        </p:spPr>
      </p:sp>
      <p:sp>
        <p:nvSpPr>
          <p:cNvPr id="99332"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680143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24588"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2458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a:solidFill>
                  <a:schemeClr val="bg2"/>
                </a:solidFill>
                <a:latin typeface="Tahoma" pitchFamily="34" charset="0"/>
              </a:defRPr>
            </a:lvl1pPr>
          </a:lstStyle>
          <a:p>
            <a:pPr>
              <a:defRPr/>
            </a:pPr>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Machine Learning Basics: 1. General Introduction</a:t>
            </a:r>
          </a:p>
        </p:txBody>
      </p:sp>
      <p:sp>
        <p:nvSpPr>
          <p:cNvPr id="16" name="Rectangle 16"/>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sz="1400">
                <a:solidFill>
                  <a:schemeClr val="bg2"/>
                </a:solidFill>
                <a:latin typeface="Tahoma" panose="020B0604030504040204" pitchFamily="34" charset="0"/>
              </a:defRPr>
            </a:lvl1pPr>
          </a:lstStyle>
          <a:p>
            <a:pPr>
              <a:defRPr/>
            </a:pPr>
            <a:fld id="{EF41B76D-9336-435E-89FD-3D5A1B77420D}" type="slidenum">
              <a:rPr lang="en-US" altLang="zh-CN"/>
              <a:pPr>
                <a:defRPr/>
              </a:pPr>
              <a:t>‹#›</a:t>
            </a:fld>
            <a:endParaRPr lang="en-US" altLang="zh-CN"/>
          </a:p>
        </p:txBody>
      </p:sp>
    </p:spTree>
    <p:extLst>
      <p:ext uri="{BB962C8B-B14F-4D97-AF65-F5344CB8AC3E}">
        <p14:creationId xmlns:p14="http://schemas.microsoft.com/office/powerpoint/2010/main" val="189983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ltLang="zh-CN" dirty="0"/>
              <a:t>Machine Learning – Basic Principles &amp; Practice: 2. Rote Learning</a:t>
            </a:r>
          </a:p>
          <a:p>
            <a:pPr>
              <a:defRPr/>
            </a:pPr>
            <a:r>
              <a:rPr lang="zh-CN" altLang="en-US" dirty="0"/>
              <a:t>机器学习 </a:t>
            </a:r>
            <a:r>
              <a:rPr lang="en-US" altLang="zh-CN" dirty="0"/>
              <a:t>– </a:t>
            </a:r>
            <a:r>
              <a:rPr lang="zh-CN" altLang="en-US" dirty="0"/>
              <a:t>基本原理与实践：</a:t>
            </a:r>
            <a:r>
              <a:rPr lang="en-US" altLang="zh-CN" dirty="0"/>
              <a:t>2. </a:t>
            </a:r>
            <a:r>
              <a:rPr lang="zh-CN" altLang="en-US" dirty="0"/>
              <a:t>死记硬背的学习</a:t>
            </a:r>
            <a:endParaRPr lang="en-US" altLang="zh-CN" dirty="0"/>
          </a:p>
        </p:txBody>
      </p:sp>
    </p:spTree>
    <p:extLst>
      <p:ext uri="{BB962C8B-B14F-4D97-AF65-F5344CB8AC3E}">
        <p14:creationId xmlns:p14="http://schemas.microsoft.com/office/powerpoint/2010/main" val="3483801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98536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5094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108442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53766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1622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294439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792849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4694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7050" y="457200"/>
            <a:ext cx="203835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457200"/>
            <a:ext cx="596265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703662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717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7" name="Rectangle 3"/>
          <p:cNvSpPr>
            <a:spLocks noChangeArrowheads="1"/>
          </p:cNvSpPr>
          <p:nvPr/>
        </p:nvSpPr>
        <p:spPr bwMode="ltGray">
          <a:xfrm>
            <a:off x="800100" y="717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8" name="Rectangle 4"/>
          <p:cNvSpPr>
            <a:spLocks noChangeArrowheads="1"/>
          </p:cNvSpPr>
          <p:nvPr/>
        </p:nvSpPr>
        <p:spPr bwMode="ltGray">
          <a:xfrm>
            <a:off x="541338" y="1139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9" name="Rectangle 5"/>
          <p:cNvSpPr>
            <a:spLocks noChangeArrowheads="1"/>
          </p:cNvSpPr>
          <p:nvPr/>
        </p:nvSpPr>
        <p:spPr bwMode="ltGray">
          <a:xfrm>
            <a:off x="911225" y="1139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0" name="Rectangle 6"/>
          <p:cNvSpPr>
            <a:spLocks noChangeArrowheads="1"/>
          </p:cNvSpPr>
          <p:nvPr/>
        </p:nvSpPr>
        <p:spPr bwMode="ltGray">
          <a:xfrm>
            <a:off x="127000" y="1066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1" name="Rectangle 7"/>
          <p:cNvSpPr>
            <a:spLocks noChangeArrowheads="1"/>
          </p:cNvSpPr>
          <p:nvPr/>
        </p:nvSpPr>
        <p:spPr bwMode="gray">
          <a:xfrm>
            <a:off x="762000" y="609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2" name="Rectangle 8"/>
          <p:cNvSpPr>
            <a:spLocks noChangeArrowheads="1"/>
          </p:cNvSpPr>
          <p:nvPr/>
        </p:nvSpPr>
        <p:spPr bwMode="gray">
          <a:xfrm>
            <a:off x="442913" y="1400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3" name="Rectangle 9"/>
          <p:cNvSpPr>
            <a:spLocks noGrp="1" noChangeArrowheads="1"/>
          </p:cNvSpPr>
          <p:nvPr>
            <p:ph type="title"/>
          </p:nvPr>
        </p:nvSpPr>
        <p:spPr bwMode="auto">
          <a:xfrm>
            <a:off x="1122363" y="457200"/>
            <a:ext cx="77930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34" name="Rectangle 10"/>
          <p:cNvSpPr>
            <a:spLocks noGrp="1" noChangeArrowheads="1"/>
          </p:cNvSpPr>
          <p:nvPr>
            <p:ph type="body" idx="1"/>
          </p:nvPr>
        </p:nvSpPr>
        <p:spPr bwMode="auto">
          <a:xfrm>
            <a:off x="762000" y="16002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3564" name="Rectangle 12"/>
          <p:cNvSpPr>
            <a:spLocks noGrp="1" noChangeArrowheads="1"/>
          </p:cNvSpPr>
          <p:nvPr>
            <p:ph type="ftr" sz="quarter" idx="3"/>
          </p:nvPr>
        </p:nvSpPr>
        <p:spPr bwMode="auto">
          <a:xfrm>
            <a:off x="762000" y="6243638"/>
            <a:ext cx="7772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Tahoma" pitchFamily="34" charset="0"/>
              </a:defRPr>
            </a:lvl1pPr>
          </a:lstStyle>
          <a:p>
            <a:pPr>
              <a:defRPr/>
            </a:pPr>
            <a:r>
              <a:rPr lang="en-US" altLang="zh-CN" dirty="0"/>
              <a:t>Machine Learning – Basic Principles &amp; Practice: 2. Rote Learning</a:t>
            </a:r>
          </a:p>
          <a:p>
            <a:pPr>
              <a:defRPr/>
            </a:pPr>
            <a:r>
              <a:rPr lang="zh-CN" altLang="en-US" dirty="0"/>
              <a:t>机器学习 </a:t>
            </a:r>
            <a:r>
              <a:rPr lang="en-US" altLang="zh-CN" dirty="0"/>
              <a:t>– </a:t>
            </a:r>
            <a:r>
              <a:rPr lang="zh-CN" altLang="en-US" dirty="0"/>
              <a:t>基本原理与实践：</a:t>
            </a:r>
            <a:r>
              <a:rPr lang="en-US" altLang="zh-CN" dirty="0"/>
              <a:t>2. </a:t>
            </a:r>
            <a:r>
              <a:rPr lang="zh-CN" altLang="en-US" dirty="0"/>
              <a:t>死记硬背的学习</a:t>
            </a:r>
            <a:endParaRPr lang="en-US" altLang="zh-CN" dirty="0"/>
          </a:p>
        </p:txBody>
      </p:sp>
    </p:spTree>
  </p:cSld>
  <p:clrMap bg1="lt1" tx1="dk1" bg2="lt2" tx2="dk2" accent1="accent1" accent2="accent2" accent3="accent3" accent4="accent4" accent5="accent5" accent6="accent6" hlink="hlink" folHlink="folHlink"/>
  <p:sldLayoutIdLst>
    <p:sldLayoutId id="2147483770"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1676400"/>
            <a:ext cx="7772400" cy="1462088"/>
          </a:xfrm>
        </p:spPr>
        <p:txBody>
          <a:bodyPr/>
          <a:lstStyle/>
          <a:p>
            <a:pPr algn="ctr" eaLnBrk="1" hangingPunct="1"/>
            <a:r>
              <a:rPr lang="en-US" altLang="zh-CN" sz="3600" b="1" dirty="0">
                <a:ea typeface="SimSun" panose="02010600030101010101" pitchFamily="2" charset="-122"/>
              </a:rPr>
              <a:t>Cookbook for Practice 11.1</a:t>
            </a:r>
          </a:p>
        </p:txBody>
      </p:sp>
      <p:sp>
        <p:nvSpPr>
          <p:cNvPr id="5123" name="Rectangle 3"/>
          <p:cNvSpPr>
            <a:spLocks noGrp="1" noChangeArrowheads="1"/>
          </p:cNvSpPr>
          <p:nvPr>
            <p:ph type="subTitle" idx="1"/>
          </p:nvPr>
        </p:nvSpPr>
        <p:spPr>
          <a:xfrm>
            <a:off x="1219200" y="4876800"/>
            <a:ext cx="6553200" cy="762000"/>
          </a:xfrm>
        </p:spPr>
        <p:txBody>
          <a:bodyPr/>
          <a:lstStyle/>
          <a:p>
            <a:pPr eaLnBrk="1" hangingPunct="1"/>
            <a:r>
              <a:rPr lang="en-US" altLang="zh-CN" sz="2800" dirty="0">
                <a:ea typeface="SimSun" panose="02010600030101010101" pitchFamily="2" charset="-122"/>
              </a:rPr>
              <a:t>Cong Li </a:t>
            </a:r>
            <a:r>
              <a:rPr lang="zh-CN" altLang="en-US" sz="2800" dirty="0">
                <a:ea typeface="SimSun" panose="02010600030101010101" pitchFamily="2" charset="-122"/>
              </a:rPr>
              <a:t>李聪</a:t>
            </a:r>
            <a:endParaRPr lang="en-US" altLang="zh-CN" sz="2400" dirty="0">
              <a:ea typeface="SimSun" panose="02010600030101010101" pitchFamily="2" charset="-122"/>
            </a:endParaRPr>
          </a:p>
        </p:txBody>
      </p:sp>
      <p:sp>
        <p:nvSpPr>
          <p:cNvPr id="4" name="Rectangle 2">
            <a:extLst>
              <a:ext uri="{FF2B5EF4-FFF2-40B4-BE49-F238E27FC236}">
                <a16:creationId xmlns:a16="http://schemas.microsoft.com/office/drawing/2014/main" id="{D050F980-1D76-4E39-94EB-A1B939407DEF}"/>
              </a:ext>
            </a:extLst>
          </p:cNvPr>
          <p:cNvSpPr txBox="1">
            <a:spLocks noChangeArrowheads="1"/>
          </p:cNvSpPr>
          <p:nvPr/>
        </p:nvSpPr>
        <p:spPr bwMode="auto">
          <a:xfrm>
            <a:off x="609600" y="3477465"/>
            <a:ext cx="777240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a:lstStyle>
          <a:p>
            <a:pPr algn="ctr" eaLnBrk="1" hangingPunct="1"/>
            <a:r>
              <a:rPr lang="zh-CN" altLang="en-US" sz="3600" b="1" kern="0" dirty="0">
                <a:ea typeface="SimSun" panose="02010600030101010101" pitchFamily="2" charset="-122"/>
              </a:rPr>
              <a:t>实践</a:t>
            </a:r>
            <a:r>
              <a:rPr lang="en-US" altLang="zh-CN" sz="3600" b="1" kern="0" dirty="0">
                <a:ea typeface="SimSun" panose="02010600030101010101" pitchFamily="2" charset="-122"/>
              </a:rPr>
              <a:t>11.1</a:t>
            </a:r>
            <a:r>
              <a:rPr lang="zh-CN" altLang="en-US" sz="3600" b="1" kern="0" dirty="0">
                <a:ea typeface="SimSun" panose="02010600030101010101" pitchFamily="2" charset="-122"/>
              </a:rPr>
              <a:t>攻略</a:t>
            </a:r>
            <a:endParaRPr lang="en-US" altLang="zh-CN" sz="3600" b="1" kern="0" dirty="0">
              <a:ea typeface="SimSun"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Preparation  </a:t>
            </a:r>
            <a:r>
              <a:rPr lang="zh-CN" altLang="en-US" dirty="0">
                <a:ea typeface="ＭＳ Ｐゴシック" panose="020B0600070205080204" pitchFamily="34" charset="-128"/>
              </a:rPr>
              <a:t>准备工作</a:t>
            </a:r>
            <a:endParaRPr lang="zh-CN" altLang="en-US" dirty="0"/>
          </a:p>
        </p:txBody>
      </p:sp>
      <p:sp>
        <p:nvSpPr>
          <p:cNvPr id="9" name="TextBox 8">
            <a:extLst>
              <a:ext uri="{FF2B5EF4-FFF2-40B4-BE49-F238E27FC236}">
                <a16:creationId xmlns:a16="http://schemas.microsoft.com/office/drawing/2014/main" id="{80694E76-95F4-450B-953E-A935F928C311}"/>
              </a:ext>
            </a:extLst>
          </p:cNvPr>
          <p:cNvSpPr txBox="1"/>
          <p:nvPr/>
        </p:nvSpPr>
        <p:spPr>
          <a:xfrm>
            <a:off x="246063" y="1611391"/>
            <a:ext cx="8651874" cy="1446550"/>
          </a:xfrm>
          <a:prstGeom prst="rect">
            <a:avLst/>
          </a:prstGeom>
          <a:noFill/>
        </p:spPr>
        <p:txBody>
          <a:bodyPr wrap="square" rtlCol="0">
            <a:spAutoFit/>
          </a:bodyPr>
          <a:lstStyle/>
          <a:p>
            <a:pPr algn="ctr"/>
            <a:r>
              <a:rPr lang="en-US" altLang="zh-CN" sz="2200" dirty="0"/>
              <a:t>We will use a mature framework, TensorFlow, so that we do not need to code all the details, but just construct the network</a:t>
            </a:r>
          </a:p>
          <a:p>
            <a:pPr algn="ctr"/>
            <a:r>
              <a:rPr lang="zh-CN" altLang="en-US" sz="2200" dirty="0"/>
              <a:t>我们将会用一个成熟的框架</a:t>
            </a:r>
            <a:r>
              <a:rPr lang="en-US" altLang="zh-CN" sz="2200" dirty="0"/>
              <a:t>TensorFlow</a:t>
            </a:r>
            <a:r>
              <a:rPr lang="zh-CN" altLang="en-US" sz="2200" dirty="0"/>
              <a:t>，这样我们不用为所有的细节编程，只要构造网络即可</a:t>
            </a:r>
            <a:r>
              <a:rPr lang="en-US" altLang="zh-CN" sz="2200" dirty="0"/>
              <a:t> </a:t>
            </a:r>
          </a:p>
        </p:txBody>
      </p:sp>
      <p:sp>
        <p:nvSpPr>
          <p:cNvPr id="10" name="TextBox 9">
            <a:extLst>
              <a:ext uri="{FF2B5EF4-FFF2-40B4-BE49-F238E27FC236}">
                <a16:creationId xmlns:a16="http://schemas.microsoft.com/office/drawing/2014/main" id="{B066C617-CBD5-4A16-9AD3-CFE3E7711FE3}"/>
              </a:ext>
            </a:extLst>
          </p:cNvPr>
          <p:cNvSpPr txBox="1"/>
          <p:nvPr/>
        </p:nvSpPr>
        <p:spPr>
          <a:xfrm>
            <a:off x="246063" y="3125450"/>
            <a:ext cx="8651874" cy="769441"/>
          </a:xfrm>
          <a:prstGeom prst="rect">
            <a:avLst/>
          </a:prstGeom>
          <a:noFill/>
        </p:spPr>
        <p:txBody>
          <a:bodyPr wrap="square" rtlCol="0">
            <a:spAutoFit/>
          </a:bodyPr>
          <a:lstStyle/>
          <a:p>
            <a:pPr algn="ctr"/>
            <a:r>
              <a:rPr lang="en-US" altLang="zh-CN" sz="2200" dirty="0"/>
              <a:t>Install  </a:t>
            </a:r>
            <a:r>
              <a:rPr lang="zh-CN" altLang="en-US" sz="2200" dirty="0"/>
              <a:t>安装 </a:t>
            </a:r>
            <a:r>
              <a:rPr lang="en-US" altLang="zh-CN" sz="2200" dirty="0"/>
              <a:t> </a:t>
            </a:r>
          </a:p>
          <a:p>
            <a:pPr algn="ctr"/>
            <a:r>
              <a:rPr lang="en-US" altLang="zh-CN" sz="2200" dirty="0" err="1"/>
              <a:t>WinPython</a:t>
            </a:r>
            <a:r>
              <a:rPr lang="en-US" altLang="zh-CN" sz="2200" dirty="0"/>
              <a:t> 3.x</a:t>
            </a:r>
          </a:p>
        </p:txBody>
      </p:sp>
      <p:sp>
        <p:nvSpPr>
          <p:cNvPr id="15" name="TextBox 14">
            <a:extLst>
              <a:ext uri="{FF2B5EF4-FFF2-40B4-BE49-F238E27FC236}">
                <a16:creationId xmlns:a16="http://schemas.microsoft.com/office/drawing/2014/main" id="{91F5CF4C-F340-43C1-893A-2B950FA3CF0B}"/>
              </a:ext>
            </a:extLst>
          </p:cNvPr>
          <p:cNvSpPr txBox="1"/>
          <p:nvPr/>
        </p:nvSpPr>
        <p:spPr>
          <a:xfrm>
            <a:off x="246063" y="3962400"/>
            <a:ext cx="8651874" cy="769441"/>
          </a:xfrm>
          <a:prstGeom prst="rect">
            <a:avLst/>
          </a:prstGeom>
          <a:noFill/>
        </p:spPr>
        <p:txBody>
          <a:bodyPr wrap="square" rtlCol="0">
            <a:spAutoFit/>
          </a:bodyPr>
          <a:lstStyle/>
          <a:p>
            <a:pPr algn="ctr"/>
            <a:r>
              <a:rPr lang="en-US" altLang="zh-CN" sz="2200" dirty="0"/>
              <a:t>Run  </a:t>
            </a:r>
            <a:r>
              <a:rPr lang="zh-CN" altLang="en-US" sz="2200" dirty="0"/>
              <a:t>运行 </a:t>
            </a:r>
            <a:r>
              <a:rPr lang="en-US" altLang="zh-CN" sz="2200" dirty="0"/>
              <a:t> </a:t>
            </a:r>
          </a:p>
          <a:p>
            <a:pPr algn="ctr"/>
            <a:r>
              <a:rPr lang="en-US" altLang="zh-CN" sz="2200" dirty="0" err="1"/>
              <a:t>WinPython</a:t>
            </a:r>
            <a:r>
              <a:rPr lang="en-US" altLang="zh-CN" sz="2200" dirty="0"/>
              <a:t> Control Panel.exe</a:t>
            </a:r>
          </a:p>
        </p:txBody>
      </p:sp>
      <p:sp>
        <p:nvSpPr>
          <p:cNvPr id="16" name="TextBox 15">
            <a:extLst>
              <a:ext uri="{FF2B5EF4-FFF2-40B4-BE49-F238E27FC236}">
                <a16:creationId xmlns:a16="http://schemas.microsoft.com/office/drawing/2014/main" id="{3BC69964-0DCF-492E-9049-FCE48DFE7E9F}"/>
              </a:ext>
            </a:extLst>
          </p:cNvPr>
          <p:cNvSpPr txBox="1"/>
          <p:nvPr/>
        </p:nvSpPr>
        <p:spPr>
          <a:xfrm>
            <a:off x="246063" y="4799350"/>
            <a:ext cx="8651874" cy="769441"/>
          </a:xfrm>
          <a:prstGeom prst="rect">
            <a:avLst/>
          </a:prstGeom>
          <a:noFill/>
        </p:spPr>
        <p:txBody>
          <a:bodyPr wrap="square" rtlCol="0">
            <a:spAutoFit/>
          </a:bodyPr>
          <a:lstStyle/>
          <a:p>
            <a:pPr algn="ctr"/>
            <a:r>
              <a:rPr lang="en-US" altLang="zh-CN" sz="2200" dirty="0"/>
              <a:t>Click the menu item  </a:t>
            </a:r>
            <a:r>
              <a:rPr lang="zh-CN" altLang="en-US" sz="2200" dirty="0"/>
              <a:t>点击菜单项</a:t>
            </a:r>
            <a:endParaRPr lang="en-US" altLang="zh-CN" sz="2200" dirty="0"/>
          </a:p>
          <a:p>
            <a:pPr algn="ctr"/>
            <a:r>
              <a:rPr lang="en-US" altLang="zh-CN" sz="2200" dirty="0"/>
              <a:t>Advanced </a:t>
            </a:r>
            <a:r>
              <a:rPr lang="en-US" altLang="zh-CN" sz="2200" dirty="0">
                <a:latin typeface="等线" panose="02010600030101010101" pitchFamily="2" charset="-122"/>
                <a:ea typeface="等线" panose="02010600030101010101" pitchFamily="2" charset="-122"/>
              </a:rPr>
              <a:t>→ </a:t>
            </a:r>
            <a:r>
              <a:rPr lang="en-US" altLang="zh-CN" sz="2200" dirty="0"/>
              <a:t>Register distribution…</a:t>
            </a:r>
          </a:p>
        </p:txBody>
      </p:sp>
    </p:spTree>
    <p:custDataLst>
      <p:tags r:id="rId1"/>
    </p:custDataLst>
    <p:extLst>
      <p:ext uri="{BB962C8B-B14F-4D97-AF65-F5344CB8AC3E}">
        <p14:creationId xmlns:p14="http://schemas.microsoft.com/office/powerpoint/2010/main" val="1142076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(1)</a:t>
            </a:r>
            <a:endParaRPr lang="zh-CN" altLang="en-US" dirty="0"/>
          </a:p>
        </p:txBody>
      </p:sp>
      <p:sp>
        <p:nvSpPr>
          <p:cNvPr id="16" name="TextBox 15">
            <a:extLst>
              <a:ext uri="{FF2B5EF4-FFF2-40B4-BE49-F238E27FC236}">
                <a16:creationId xmlns:a16="http://schemas.microsoft.com/office/drawing/2014/main" id="{E27040D6-11A4-4B19-AB0A-61988AA8013B}"/>
              </a:ext>
            </a:extLst>
          </p:cNvPr>
          <p:cNvSpPr txBox="1"/>
          <p:nvPr/>
        </p:nvSpPr>
        <p:spPr>
          <a:xfrm>
            <a:off x="1257300" y="1524000"/>
            <a:ext cx="6629400" cy="1446550"/>
          </a:xfrm>
          <a:prstGeom prst="rect">
            <a:avLst/>
          </a:prstGeom>
          <a:noFill/>
        </p:spPr>
        <p:txBody>
          <a:bodyPr wrap="square" rtlCol="0">
            <a:spAutoFit/>
          </a:bodyPr>
          <a:lstStyle/>
          <a:p>
            <a:pPr algn="ctr"/>
            <a:r>
              <a:rPr lang="en-US" altLang="zh-CN" sz="2200" dirty="0"/>
              <a:t>Create a new file ‘uspsCNN.py’, import the required components from TensorFlow &amp; </a:t>
            </a:r>
            <a:r>
              <a:rPr lang="en-US" altLang="zh-CN" sz="2200" dirty="0" err="1"/>
              <a:t>Keras</a:t>
            </a:r>
            <a:endParaRPr lang="en-US" altLang="zh-CN" sz="2200" dirty="0"/>
          </a:p>
          <a:p>
            <a:pPr algn="ctr"/>
            <a:r>
              <a:rPr lang="zh-CN" altLang="en-US" sz="2200" dirty="0"/>
              <a:t>创建一个新文件“</a:t>
            </a:r>
            <a:r>
              <a:rPr lang="en-US" altLang="zh-CN" sz="2200" dirty="0"/>
              <a:t>uspsCNN.py</a:t>
            </a:r>
            <a:r>
              <a:rPr lang="zh-CN" altLang="en-US" sz="2200" dirty="0"/>
              <a:t>”，从</a:t>
            </a:r>
            <a:r>
              <a:rPr lang="en-US" altLang="zh-CN" sz="2200" dirty="0"/>
              <a:t>TensorFlow</a:t>
            </a:r>
            <a:r>
              <a:rPr lang="zh-CN" altLang="en-US" sz="2200" dirty="0"/>
              <a:t>和</a:t>
            </a:r>
            <a:r>
              <a:rPr lang="en-US" altLang="zh-CN" sz="2200" dirty="0" err="1"/>
              <a:t>Keras</a:t>
            </a:r>
            <a:r>
              <a:rPr lang="zh-CN" altLang="en-US" sz="2200" dirty="0"/>
              <a:t>中导入所需组件</a:t>
            </a:r>
            <a:endParaRPr lang="en-US" altLang="zh-CN" sz="2200" dirty="0"/>
          </a:p>
        </p:txBody>
      </p:sp>
      <p:pic>
        <p:nvPicPr>
          <p:cNvPr id="4" name="Picture 3">
            <a:extLst>
              <a:ext uri="{FF2B5EF4-FFF2-40B4-BE49-F238E27FC236}">
                <a16:creationId xmlns:a16="http://schemas.microsoft.com/office/drawing/2014/main" id="{156CDD51-0442-48DB-8B84-B0D17206D5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3708" y="2971800"/>
            <a:ext cx="8211696" cy="1086002"/>
          </a:xfrm>
          <a:prstGeom prst="rect">
            <a:avLst/>
          </a:prstGeom>
          <a:ln>
            <a:solidFill>
              <a:srgbClr val="C00000"/>
            </a:solidFill>
          </a:ln>
        </p:spPr>
      </p:pic>
      <p:pic>
        <p:nvPicPr>
          <p:cNvPr id="15" name="Picture 14">
            <a:extLst>
              <a:ext uri="{FF2B5EF4-FFF2-40B4-BE49-F238E27FC236}">
                <a16:creationId xmlns:a16="http://schemas.microsoft.com/office/drawing/2014/main" id="{3F3879F3-53B1-4215-A5B8-7E8C6FDAAE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612" y="5162398"/>
            <a:ext cx="5811060" cy="1086002"/>
          </a:xfrm>
          <a:prstGeom prst="rect">
            <a:avLst/>
          </a:prstGeom>
          <a:ln>
            <a:solidFill>
              <a:srgbClr val="C00000"/>
            </a:solidFill>
          </a:ln>
        </p:spPr>
      </p:pic>
      <p:sp>
        <p:nvSpPr>
          <p:cNvPr id="17" name="TextBox 16">
            <a:extLst>
              <a:ext uri="{FF2B5EF4-FFF2-40B4-BE49-F238E27FC236}">
                <a16:creationId xmlns:a16="http://schemas.microsoft.com/office/drawing/2014/main" id="{DD7B4CE4-9CFE-454C-9178-33C21C186AA4}"/>
              </a:ext>
            </a:extLst>
          </p:cNvPr>
          <p:cNvSpPr txBox="1"/>
          <p:nvPr/>
        </p:nvSpPr>
        <p:spPr>
          <a:xfrm>
            <a:off x="1257300" y="4412159"/>
            <a:ext cx="6629400" cy="769441"/>
          </a:xfrm>
          <a:prstGeom prst="rect">
            <a:avLst/>
          </a:prstGeom>
          <a:noFill/>
        </p:spPr>
        <p:txBody>
          <a:bodyPr wrap="square" rtlCol="0">
            <a:spAutoFit/>
          </a:bodyPr>
          <a:lstStyle/>
          <a:p>
            <a:pPr algn="ctr"/>
            <a:r>
              <a:rPr lang="en-US" altLang="zh-CN" sz="2200" dirty="0"/>
              <a:t>Disable GPU to ensure the result deterministic</a:t>
            </a:r>
          </a:p>
          <a:p>
            <a:pPr algn="ctr"/>
            <a:r>
              <a:rPr lang="zh-CN" altLang="en-US" sz="2200" dirty="0"/>
              <a:t>关闭</a:t>
            </a:r>
            <a:r>
              <a:rPr lang="en-US" altLang="zh-CN" sz="2200" dirty="0"/>
              <a:t>GPU</a:t>
            </a:r>
            <a:r>
              <a:rPr lang="zh-CN" altLang="en-US" sz="2200" dirty="0"/>
              <a:t>，保证结果的确定性</a:t>
            </a:r>
            <a:endParaRPr lang="en-US" altLang="zh-CN" sz="2200" dirty="0"/>
          </a:p>
        </p:txBody>
      </p:sp>
    </p:spTree>
    <p:custDataLst>
      <p:tags r:id="rId1"/>
    </p:custDataLst>
    <p:extLst>
      <p:ext uri="{BB962C8B-B14F-4D97-AF65-F5344CB8AC3E}">
        <p14:creationId xmlns:p14="http://schemas.microsoft.com/office/powerpoint/2010/main" val="91930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(2)</a:t>
            </a:r>
            <a:endParaRPr lang="zh-CN" altLang="en-US" dirty="0"/>
          </a:p>
        </p:txBody>
      </p:sp>
      <p:sp>
        <p:nvSpPr>
          <p:cNvPr id="16" name="TextBox 15">
            <a:extLst>
              <a:ext uri="{FF2B5EF4-FFF2-40B4-BE49-F238E27FC236}">
                <a16:creationId xmlns:a16="http://schemas.microsoft.com/office/drawing/2014/main" id="{E27040D6-11A4-4B19-AB0A-61988AA8013B}"/>
              </a:ext>
            </a:extLst>
          </p:cNvPr>
          <p:cNvSpPr txBox="1"/>
          <p:nvPr/>
        </p:nvSpPr>
        <p:spPr>
          <a:xfrm>
            <a:off x="417612" y="1615393"/>
            <a:ext cx="8305800" cy="1446550"/>
          </a:xfrm>
          <a:prstGeom prst="rect">
            <a:avLst/>
          </a:prstGeom>
          <a:noFill/>
        </p:spPr>
        <p:txBody>
          <a:bodyPr wrap="square" rtlCol="0">
            <a:spAutoFit/>
          </a:bodyPr>
          <a:lstStyle/>
          <a:p>
            <a:pPr algn="ctr"/>
            <a:r>
              <a:rPr lang="en-US" altLang="zh-CN" sz="2200" dirty="0"/>
              <a:t>Create a new class ‘USPSCNN’ &amp; during initialization accept the maximum number of epochs &amp; batch size as the input</a:t>
            </a:r>
          </a:p>
          <a:p>
            <a:pPr algn="ctr"/>
            <a:r>
              <a:rPr lang="zh-CN" altLang="en-US" sz="2200" dirty="0"/>
              <a:t>创建一个新类型“</a:t>
            </a:r>
            <a:r>
              <a:rPr lang="en-US" altLang="zh-CN" sz="2200" dirty="0"/>
              <a:t>USPSCNN</a:t>
            </a:r>
            <a:r>
              <a:rPr lang="zh-CN" altLang="en-US" sz="2200" dirty="0"/>
              <a:t>”，初始化时接受最大训练轮数和随机梯度下降的处理批量大小作为输入</a:t>
            </a:r>
            <a:endParaRPr lang="en-US" altLang="zh-CN" sz="2200" dirty="0"/>
          </a:p>
        </p:txBody>
      </p:sp>
      <p:pic>
        <p:nvPicPr>
          <p:cNvPr id="5" name="Picture 4">
            <a:extLst>
              <a:ext uri="{FF2B5EF4-FFF2-40B4-BE49-F238E27FC236}">
                <a16:creationId xmlns:a16="http://schemas.microsoft.com/office/drawing/2014/main" id="{94366499-0162-49C2-9C91-7D827868C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3708" y="3048000"/>
            <a:ext cx="7506748" cy="1086002"/>
          </a:xfrm>
          <a:prstGeom prst="rect">
            <a:avLst/>
          </a:prstGeom>
          <a:ln>
            <a:solidFill>
              <a:srgbClr val="C00000"/>
            </a:solidFill>
          </a:ln>
        </p:spPr>
      </p:pic>
    </p:spTree>
    <p:custDataLst>
      <p:tags r:id="rId1"/>
    </p:custDataLst>
    <p:extLst>
      <p:ext uri="{BB962C8B-B14F-4D97-AF65-F5344CB8AC3E}">
        <p14:creationId xmlns:p14="http://schemas.microsoft.com/office/powerpoint/2010/main" val="4123596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(3)</a:t>
            </a:r>
            <a:endParaRPr lang="zh-CN" altLang="en-US" dirty="0"/>
          </a:p>
        </p:txBody>
      </p:sp>
      <p:sp>
        <p:nvSpPr>
          <p:cNvPr id="16" name="TextBox 15">
            <a:extLst>
              <a:ext uri="{FF2B5EF4-FFF2-40B4-BE49-F238E27FC236}">
                <a16:creationId xmlns:a16="http://schemas.microsoft.com/office/drawing/2014/main" id="{E27040D6-11A4-4B19-AB0A-61988AA8013B}"/>
              </a:ext>
            </a:extLst>
          </p:cNvPr>
          <p:cNvSpPr txBox="1"/>
          <p:nvPr/>
        </p:nvSpPr>
        <p:spPr>
          <a:xfrm>
            <a:off x="531654" y="1676400"/>
            <a:ext cx="8080692" cy="1107996"/>
          </a:xfrm>
          <a:prstGeom prst="rect">
            <a:avLst/>
          </a:prstGeom>
          <a:noFill/>
        </p:spPr>
        <p:txBody>
          <a:bodyPr wrap="square" rtlCol="0">
            <a:spAutoFit/>
          </a:bodyPr>
          <a:lstStyle/>
          <a:p>
            <a:pPr algn="ctr"/>
            <a:r>
              <a:rPr lang="en-US" altLang="zh-CN" sz="2200" dirty="0"/>
              <a:t>Write a member function to convert the training data input into </a:t>
            </a:r>
            <a:r>
              <a:rPr lang="en-US" altLang="zh-CN" sz="2200" dirty="0" err="1"/>
              <a:t>numpy</a:t>
            </a:r>
            <a:r>
              <a:rPr lang="en-US" altLang="zh-CN" sz="2200" dirty="0"/>
              <a:t> array required by TensorFlow</a:t>
            </a:r>
          </a:p>
          <a:p>
            <a:pPr algn="ctr"/>
            <a:r>
              <a:rPr lang="zh-CN" altLang="en-US" sz="2200" dirty="0"/>
              <a:t>写一个成员函数把训练数据转化成</a:t>
            </a:r>
            <a:r>
              <a:rPr lang="en-US" altLang="zh-CN" sz="2200" dirty="0"/>
              <a:t>TensorFlow</a:t>
            </a:r>
            <a:r>
              <a:rPr lang="zh-CN" altLang="en-US" sz="2200" dirty="0"/>
              <a:t>所需的</a:t>
            </a:r>
            <a:r>
              <a:rPr lang="en-US" altLang="zh-CN" sz="2200" dirty="0" err="1"/>
              <a:t>numpy</a:t>
            </a:r>
            <a:r>
              <a:rPr lang="zh-CN" altLang="en-US" sz="2200" dirty="0"/>
              <a:t>数组</a:t>
            </a:r>
            <a:endParaRPr lang="en-US" altLang="zh-CN" sz="2200" dirty="0"/>
          </a:p>
        </p:txBody>
      </p:sp>
      <p:pic>
        <p:nvPicPr>
          <p:cNvPr id="4" name="Picture 3">
            <a:extLst>
              <a:ext uri="{FF2B5EF4-FFF2-40B4-BE49-F238E27FC236}">
                <a16:creationId xmlns:a16="http://schemas.microsoft.com/office/drawing/2014/main" id="{048D3F78-0A6E-4DC5-A55C-6BB86DD892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 y="2743200"/>
            <a:ext cx="5887272" cy="2076740"/>
          </a:xfrm>
          <a:prstGeom prst="rect">
            <a:avLst/>
          </a:prstGeom>
          <a:ln>
            <a:solidFill>
              <a:srgbClr val="C00000"/>
            </a:solidFill>
          </a:ln>
        </p:spPr>
      </p:pic>
      <p:grpSp>
        <p:nvGrpSpPr>
          <p:cNvPr id="8" name="Group 7">
            <a:extLst>
              <a:ext uri="{FF2B5EF4-FFF2-40B4-BE49-F238E27FC236}">
                <a16:creationId xmlns:a16="http://schemas.microsoft.com/office/drawing/2014/main" id="{5D48C23A-52E6-452A-93C6-077865D403F3}"/>
              </a:ext>
            </a:extLst>
          </p:cNvPr>
          <p:cNvGrpSpPr/>
          <p:nvPr/>
        </p:nvGrpSpPr>
        <p:grpSpPr>
          <a:xfrm>
            <a:off x="944880" y="4267200"/>
            <a:ext cx="7010400" cy="2242992"/>
            <a:chOff x="1302240" y="3646370"/>
            <a:chExt cx="7010400" cy="2242992"/>
          </a:xfrm>
        </p:grpSpPr>
        <p:sp>
          <p:nvSpPr>
            <p:cNvPr id="9" name="TextBox 8">
              <a:extLst>
                <a:ext uri="{FF2B5EF4-FFF2-40B4-BE49-F238E27FC236}">
                  <a16:creationId xmlns:a16="http://schemas.microsoft.com/office/drawing/2014/main" id="{8090FEF0-AE42-44AC-9EAA-E3C0A576FE67}"/>
                </a:ext>
              </a:extLst>
            </p:cNvPr>
            <p:cNvSpPr txBox="1"/>
            <p:nvPr/>
          </p:nvSpPr>
          <p:spPr>
            <a:xfrm>
              <a:off x="1302240" y="5119921"/>
              <a:ext cx="7010400" cy="769441"/>
            </a:xfrm>
            <a:prstGeom prst="rect">
              <a:avLst/>
            </a:prstGeom>
            <a:noFill/>
          </p:spPr>
          <p:txBody>
            <a:bodyPr wrap="square" rtlCol="0">
              <a:spAutoFit/>
            </a:bodyPr>
            <a:lstStyle/>
            <a:p>
              <a:pPr algn="ctr"/>
              <a:r>
                <a:rPr lang="en-US" altLang="zh-CN" sz="2200" dirty="0"/>
                <a:t>Convert class labels into integers</a:t>
              </a:r>
            </a:p>
            <a:p>
              <a:pPr algn="ctr"/>
              <a:r>
                <a:rPr lang="zh-CN" altLang="en-US" sz="2200" dirty="0"/>
                <a:t>把类别标记转换为整数</a:t>
              </a:r>
              <a:endParaRPr lang="en-US" altLang="zh-CN" sz="2200" dirty="0"/>
            </a:p>
          </p:txBody>
        </p:sp>
        <p:cxnSp>
          <p:nvCxnSpPr>
            <p:cNvPr id="10" name="Straight Arrow Connector 9">
              <a:extLst>
                <a:ext uri="{FF2B5EF4-FFF2-40B4-BE49-F238E27FC236}">
                  <a16:creationId xmlns:a16="http://schemas.microsoft.com/office/drawing/2014/main" id="{307006F5-D846-4C72-B82F-E73870585294}"/>
                </a:ext>
              </a:extLst>
            </p:cNvPr>
            <p:cNvCxnSpPr>
              <a:cxnSpLocks/>
              <a:stCxn id="9" idx="0"/>
              <a:endCxn id="11" idx="2"/>
            </p:cNvCxnSpPr>
            <p:nvPr/>
          </p:nvCxnSpPr>
          <p:spPr bwMode="auto">
            <a:xfrm flipV="1">
              <a:off x="4807440" y="3935930"/>
              <a:ext cx="189" cy="11839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 name="Rectangle 10">
              <a:extLst>
                <a:ext uri="{FF2B5EF4-FFF2-40B4-BE49-F238E27FC236}">
                  <a16:creationId xmlns:a16="http://schemas.microsoft.com/office/drawing/2014/main" id="{144ACB4A-7F30-4EB4-8A87-1C41688537DC}"/>
                </a:ext>
              </a:extLst>
            </p:cNvPr>
            <p:cNvSpPr/>
            <p:nvPr/>
          </p:nvSpPr>
          <p:spPr bwMode="auto">
            <a:xfrm>
              <a:off x="3337158" y="3646370"/>
              <a:ext cx="2940941" cy="289560"/>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spTree>
    <p:custDataLst>
      <p:tags r:id="rId1"/>
    </p:custDataLst>
    <p:extLst>
      <p:ext uri="{BB962C8B-B14F-4D97-AF65-F5344CB8AC3E}">
        <p14:creationId xmlns:p14="http://schemas.microsoft.com/office/powerpoint/2010/main" val="308310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(4)</a:t>
            </a:r>
            <a:endParaRPr lang="zh-CN" altLang="en-US" dirty="0"/>
          </a:p>
        </p:txBody>
      </p:sp>
      <p:sp>
        <p:nvSpPr>
          <p:cNvPr id="16" name="TextBox 15">
            <a:extLst>
              <a:ext uri="{FF2B5EF4-FFF2-40B4-BE49-F238E27FC236}">
                <a16:creationId xmlns:a16="http://schemas.microsoft.com/office/drawing/2014/main" id="{E27040D6-11A4-4B19-AB0A-61988AA8013B}"/>
              </a:ext>
            </a:extLst>
          </p:cNvPr>
          <p:cNvSpPr txBox="1"/>
          <p:nvPr/>
        </p:nvSpPr>
        <p:spPr>
          <a:xfrm>
            <a:off x="380127" y="1689229"/>
            <a:ext cx="8383746" cy="1107996"/>
          </a:xfrm>
          <a:prstGeom prst="rect">
            <a:avLst/>
          </a:prstGeom>
          <a:noFill/>
        </p:spPr>
        <p:txBody>
          <a:bodyPr wrap="square" rtlCol="0">
            <a:spAutoFit/>
          </a:bodyPr>
          <a:lstStyle/>
          <a:p>
            <a:pPr algn="ctr"/>
            <a:r>
              <a:rPr lang="en-US" altLang="zh-CN" sz="2200" dirty="0"/>
              <a:t>In training, first convert the 1D attribute vector into 2D x 1 channel (grey-scale) image</a:t>
            </a:r>
          </a:p>
          <a:p>
            <a:pPr algn="ctr"/>
            <a:r>
              <a:rPr lang="zh-CN" altLang="en-US" sz="2200" dirty="0"/>
              <a:t>训练时，先把一维的属性向量转换为二维单通道（灰度值）的图像</a:t>
            </a:r>
            <a:endParaRPr lang="en-US" altLang="zh-CN" sz="2200" dirty="0"/>
          </a:p>
        </p:txBody>
      </p:sp>
      <p:pic>
        <p:nvPicPr>
          <p:cNvPr id="13" name="Picture 12">
            <a:extLst>
              <a:ext uri="{FF2B5EF4-FFF2-40B4-BE49-F238E27FC236}">
                <a16:creationId xmlns:a16="http://schemas.microsoft.com/office/drawing/2014/main" id="{C67AA1F6-040F-4213-9386-B92A985F7F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 y="2762030"/>
            <a:ext cx="7640116" cy="1581370"/>
          </a:xfrm>
          <a:prstGeom prst="rect">
            <a:avLst/>
          </a:prstGeom>
          <a:ln>
            <a:solidFill>
              <a:srgbClr val="C00000"/>
            </a:solidFill>
          </a:ln>
        </p:spPr>
      </p:pic>
      <p:grpSp>
        <p:nvGrpSpPr>
          <p:cNvPr id="15" name="Group 14">
            <a:extLst>
              <a:ext uri="{FF2B5EF4-FFF2-40B4-BE49-F238E27FC236}">
                <a16:creationId xmlns:a16="http://schemas.microsoft.com/office/drawing/2014/main" id="{862BC658-AF77-4700-A18D-6B423FA857EE}"/>
              </a:ext>
            </a:extLst>
          </p:cNvPr>
          <p:cNvGrpSpPr/>
          <p:nvPr/>
        </p:nvGrpSpPr>
        <p:grpSpPr>
          <a:xfrm>
            <a:off x="617409" y="3552715"/>
            <a:ext cx="7010400" cy="2248206"/>
            <a:chOff x="2453049" y="3646370"/>
            <a:chExt cx="7010400" cy="2248206"/>
          </a:xfrm>
        </p:grpSpPr>
        <p:sp>
          <p:nvSpPr>
            <p:cNvPr id="17" name="TextBox 16">
              <a:extLst>
                <a:ext uri="{FF2B5EF4-FFF2-40B4-BE49-F238E27FC236}">
                  <a16:creationId xmlns:a16="http://schemas.microsoft.com/office/drawing/2014/main" id="{C956C213-223B-4074-BDD2-25FE3935B9AA}"/>
                </a:ext>
              </a:extLst>
            </p:cNvPr>
            <p:cNvSpPr txBox="1"/>
            <p:nvPr/>
          </p:nvSpPr>
          <p:spPr>
            <a:xfrm>
              <a:off x="2453049" y="5125135"/>
              <a:ext cx="7010400" cy="769441"/>
            </a:xfrm>
            <a:prstGeom prst="rect">
              <a:avLst/>
            </a:prstGeom>
            <a:noFill/>
          </p:spPr>
          <p:txBody>
            <a:bodyPr wrap="square" rtlCol="0">
              <a:spAutoFit/>
            </a:bodyPr>
            <a:lstStyle/>
            <a:p>
              <a:pPr algn="ctr"/>
              <a:r>
                <a:rPr lang="en-US" altLang="zh-CN" sz="2200" dirty="0"/>
                <a:t>Double-check to make sure the input is a square</a:t>
              </a:r>
            </a:p>
            <a:p>
              <a:pPr algn="ctr"/>
              <a:r>
                <a:rPr lang="zh-CN" altLang="en-US" sz="2200" dirty="0"/>
                <a:t>确保输入是一个正方形</a:t>
              </a:r>
              <a:endParaRPr lang="en-US" altLang="zh-CN" sz="2200" dirty="0"/>
            </a:p>
          </p:txBody>
        </p:sp>
        <p:cxnSp>
          <p:nvCxnSpPr>
            <p:cNvPr id="18" name="Straight Arrow Connector 17">
              <a:extLst>
                <a:ext uri="{FF2B5EF4-FFF2-40B4-BE49-F238E27FC236}">
                  <a16:creationId xmlns:a16="http://schemas.microsoft.com/office/drawing/2014/main" id="{3F86B9BC-F298-43F1-A0C9-C4518573C765}"/>
                </a:ext>
              </a:extLst>
            </p:cNvPr>
            <p:cNvCxnSpPr>
              <a:cxnSpLocks/>
              <a:stCxn id="17" idx="0"/>
              <a:endCxn id="19" idx="2"/>
            </p:cNvCxnSpPr>
            <p:nvPr/>
          </p:nvCxnSpPr>
          <p:spPr bwMode="auto">
            <a:xfrm flipV="1">
              <a:off x="5958249" y="3916355"/>
              <a:ext cx="0" cy="120878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9" name="Rectangle 18">
              <a:extLst>
                <a:ext uri="{FF2B5EF4-FFF2-40B4-BE49-F238E27FC236}">
                  <a16:creationId xmlns:a16="http://schemas.microsoft.com/office/drawing/2014/main" id="{66D23A61-35C4-413E-87B5-04E224C2DD8C}"/>
                </a:ext>
              </a:extLst>
            </p:cNvPr>
            <p:cNvSpPr/>
            <p:nvPr/>
          </p:nvSpPr>
          <p:spPr bwMode="auto">
            <a:xfrm>
              <a:off x="3337158" y="3646370"/>
              <a:ext cx="5242182" cy="269985"/>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spTree>
    <p:custDataLst>
      <p:tags r:id="rId1"/>
    </p:custDataLst>
    <p:extLst>
      <p:ext uri="{BB962C8B-B14F-4D97-AF65-F5344CB8AC3E}">
        <p14:creationId xmlns:p14="http://schemas.microsoft.com/office/powerpoint/2010/main" val="3922244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13EA34-BA85-4CF9-9DDC-3C493AA6E9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3491" y="2419124"/>
            <a:ext cx="6306430" cy="1619476"/>
          </a:xfrm>
          <a:prstGeom prst="rect">
            <a:avLst/>
          </a:prstGeom>
          <a:ln>
            <a:solidFill>
              <a:schemeClr val="tx1"/>
            </a:solidFill>
          </a:ln>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(5)</a:t>
            </a:r>
            <a:endParaRPr lang="zh-CN" altLang="en-US" dirty="0"/>
          </a:p>
        </p:txBody>
      </p:sp>
      <p:sp>
        <p:nvSpPr>
          <p:cNvPr id="16" name="TextBox 15">
            <a:extLst>
              <a:ext uri="{FF2B5EF4-FFF2-40B4-BE49-F238E27FC236}">
                <a16:creationId xmlns:a16="http://schemas.microsoft.com/office/drawing/2014/main" id="{E27040D6-11A4-4B19-AB0A-61988AA8013B}"/>
              </a:ext>
            </a:extLst>
          </p:cNvPr>
          <p:cNvSpPr txBox="1"/>
          <p:nvPr/>
        </p:nvSpPr>
        <p:spPr>
          <a:xfrm>
            <a:off x="380127" y="1673989"/>
            <a:ext cx="8383746" cy="769441"/>
          </a:xfrm>
          <a:prstGeom prst="rect">
            <a:avLst/>
          </a:prstGeom>
          <a:noFill/>
        </p:spPr>
        <p:txBody>
          <a:bodyPr wrap="square" rtlCol="0">
            <a:spAutoFit/>
          </a:bodyPr>
          <a:lstStyle/>
          <a:p>
            <a:pPr algn="ctr"/>
            <a:r>
              <a:rPr lang="en-US" altLang="zh-CN" sz="2200" dirty="0"/>
              <a:t>Stack the layers in the network: the 2 convolution layers first</a:t>
            </a:r>
          </a:p>
          <a:p>
            <a:pPr algn="ctr"/>
            <a:r>
              <a:rPr lang="zh-CN" altLang="en-US" sz="2200" dirty="0"/>
              <a:t>堆叠网络各层：先是两层卷积层</a:t>
            </a:r>
            <a:endParaRPr lang="en-US" altLang="zh-CN" sz="2200" dirty="0"/>
          </a:p>
        </p:txBody>
      </p:sp>
      <p:grpSp>
        <p:nvGrpSpPr>
          <p:cNvPr id="15" name="Group 14">
            <a:extLst>
              <a:ext uri="{FF2B5EF4-FFF2-40B4-BE49-F238E27FC236}">
                <a16:creationId xmlns:a16="http://schemas.microsoft.com/office/drawing/2014/main" id="{862BC658-AF77-4700-A18D-6B423FA857EE}"/>
              </a:ext>
            </a:extLst>
          </p:cNvPr>
          <p:cNvGrpSpPr/>
          <p:nvPr/>
        </p:nvGrpSpPr>
        <p:grpSpPr>
          <a:xfrm>
            <a:off x="1117599" y="2734734"/>
            <a:ext cx="7010400" cy="2761386"/>
            <a:chOff x="2953239" y="2828389"/>
            <a:chExt cx="7010400" cy="2761386"/>
          </a:xfrm>
        </p:grpSpPr>
        <p:sp>
          <p:nvSpPr>
            <p:cNvPr id="17" name="TextBox 16">
              <a:extLst>
                <a:ext uri="{FF2B5EF4-FFF2-40B4-BE49-F238E27FC236}">
                  <a16:creationId xmlns:a16="http://schemas.microsoft.com/office/drawing/2014/main" id="{C956C213-223B-4074-BDD2-25FE3935B9AA}"/>
                </a:ext>
              </a:extLst>
            </p:cNvPr>
            <p:cNvSpPr txBox="1"/>
            <p:nvPr/>
          </p:nvSpPr>
          <p:spPr>
            <a:xfrm>
              <a:off x="2953239" y="4820334"/>
              <a:ext cx="7010400" cy="769441"/>
            </a:xfrm>
            <a:prstGeom prst="rect">
              <a:avLst/>
            </a:prstGeom>
            <a:noFill/>
          </p:spPr>
          <p:txBody>
            <a:bodyPr wrap="square" rtlCol="0">
              <a:spAutoFit/>
            </a:bodyPr>
            <a:lstStyle/>
            <a:p>
              <a:pPr algn="ctr"/>
              <a:r>
                <a:rPr lang="en-US" altLang="zh-CN" sz="2200" dirty="0"/>
                <a:t>32 low level 3x3 convolution operators</a:t>
              </a:r>
            </a:p>
            <a:p>
              <a:pPr algn="ctr"/>
              <a:r>
                <a:rPr lang="en-US" altLang="zh-CN" sz="2200" dirty="0"/>
                <a:t>32</a:t>
              </a:r>
              <a:r>
                <a:rPr lang="zh-CN" altLang="en-US" sz="2200" dirty="0"/>
                <a:t>个低层</a:t>
              </a:r>
              <a:r>
                <a:rPr lang="en-US" altLang="zh-CN" sz="2200" dirty="0"/>
                <a:t>3x3</a:t>
              </a:r>
              <a:r>
                <a:rPr lang="zh-CN" altLang="en-US" sz="2200" dirty="0"/>
                <a:t>卷积算子</a:t>
              </a:r>
              <a:endParaRPr lang="en-US" altLang="zh-CN" sz="2200" dirty="0"/>
            </a:p>
          </p:txBody>
        </p:sp>
        <p:cxnSp>
          <p:nvCxnSpPr>
            <p:cNvPr id="18" name="Straight Arrow Connector 17">
              <a:extLst>
                <a:ext uri="{FF2B5EF4-FFF2-40B4-BE49-F238E27FC236}">
                  <a16:creationId xmlns:a16="http://schemas.microsoft.com/office/drawing/2014/main" id="{3F86B9BC-F298-43F1-A0C9-C4518573C765}"/>
                </a:ext>
              </a:extLst>
            </p:cNvPr>
            <p:cNvCxnSpPr>
              <a:cxnSpLocks/>
              <a:stCxn id="17" idx="0"/>
              <a:endCxn id="19" idx="2"/>
            </p:cNvCxnSpPr>
            <p:nvPr/>
          </p:nvCxnSpPr>
          <p:spPr bwMode="auto">
            <a:xfrm flipV="1">
              <a:off x="6458439" y="3556523"/>
              <a:ext cx="15146" cy="126381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9" name="Rectangle 18">
              <a:extLst>
                <a:ext uri="{FF2B5EF4-FFF2-40B4-BE49-F238E27FC236}">
                  <a16:creationId xmlns:a16="http://schemas.microsoft.com/office/drawing/2014/main" id="{66D23A61-35C4-413E-87B5-04E224C2DD8C}"/>
                </a:ext>
              </a:extLst>
            </p:cNvPr>
            <p:cNvSpPr/>
            <p:nvPr/>
          </p:nvSpPr>
          <p:spPr bwMode="auto">
            <a:xfrm>
              <a:off x="3364530" y="2828389"/>
              <a:ext cx="6218109" cy="728134"/>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spTree>
    <p:custDataLst>
      <p:tags r:id="rId1"/>
    </p:custDataLst>
    <p:extLst>
      <p:ext uri="{BB962C8B-B14F-4D97-AF65-F5344CB8AC3E}">
        <p14:creationId xmlns:p14="http://schemas.microsoft.com/office/powerpoint/2010/main" val="96391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13EA34-BA85-4CF9-9DDC-3C493AA6E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3491" y="2419124"/>
            <a:ext cx="6306430" cy="1619476"/>
          </a:xfrm>
          <a:prstGeom prst="rect">
            <a:avLst/>
          </a:prstGeom>
          <a:ln>
            <a:solidFill>
              <a:schemeClr val="tx1"/>
            </a:solidFill>
          </a:ln>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(5)</a:t>
            </a:r>
            <a:endParaRPr lang="zh-CN" altLang="en-US" dirty="0"/>
          </a:p>
        </p:txBody>
      </p:sp>
      <p:grpSp>
        <p:nvGrpSpPr>
          <p:cNvPr id="15" name="Group 14">
            <a:extLst>
              <a:ext uri="{FF2B5EF4-FFF2-40B4-BE49-F238E27FC236}">
                <a16:creationId xmlns:a16="http://schemas.microsoft.com/office/drawing/2014/main" id="{862BC658-AF77-4700-A18D-6B423FA857EE}"/>
              </a:ext>
            </a:extLst>
          </p:cNvPr>
          <p:cNvGrpSpPr/>
          <p:nvPr/>
        </p:nvGrpSpPr>
        <p:grpSpPr>
          <a:xfrm>
            <a:off x="1125219" y="3451859"/>
            <a:ext cx="7010400" cy="2059501"/>
            <a:chOff x="2960859" y="3530274"/>
            <a:chExt cx="7010400" cy="2059501"/>
          </a:xfrm>
        </p:grpSpPr>
        <p:sp>
          <p:nvSpPr>
            <p:cNvPr id="17" name="TextBox 16">
              <a:extLst>
                <a:ext uri="{FF2B5EF4-FFF2-40B4-BE49-F238E27FC236}">
                  <a16:creationId xmlns:a16="http://schemas.microsoft.com/office/drawing/2014/main" id="{C956C213-223B-4074-BDD2-25FE3935B9AA}"/>
                </a:ext>
              </a:extLst>
            </p:cNvPr>
            <p:cNvSpPr txBox="1"/>
            <p:nvPr/>
          </p:nvSpPr>
          <p:spPr>
            <a:xfrm>
              <a:off x="2960859" y="4820334"/>
              <a:ext cx="7010400" cy="769441"/>
            </a:xfrm>
            <a:prstGeom prst="rect">
              <a:avLst/>
            </a:prstGeom>
            <a:noFill/>
          </p:spPr>
          <p:txBody>
            <a:bodyPr wrap="square" rtlCol="0">
              <a:spAutoFit/>
            </a:bodyPr>
            <a:lstStyle/>
            <a:p>
              <a:pPr algn="ctr"/>
              <a:r>
                <a:rPr lang="en-US" altLang="zh-CN" sz="2200" dirty="0"/>
                <a:t>64 high level 3x3 convolution operators</a:t>
              </a:r>
            </a:p>
            <a:p>
              <a:pPr algn="ctr"/>
              <a:r>
                <a:rPr lang="en-US" altLang="zh-CN" sz="2200" dirty="0"/>
                <a:t>64</a:t>
              </a:r>
              <a:r>
                <a:rPr lang="zh-CN" altLang="en-US" sz="2200" dirty="0"/>
                <a:t>个高层</a:t>
              </a:r>
              <a:r>
                <a:rPr lang="en-US" altLang="zh-CN" sz="2200" dirty="0"/>
                <a:t>3x3</a:t>
              </a:r>
              <a:r>
                <a:rPr lang="zh-CN" altLang="en-US" sz="2200" dirty="0"/>
                <a:t>卷积算子</a:t>
              </a:r>
              <a:endParaRPr lang="en-US" altLang="zh-CN" sz="2200" dirty="0"/>
            </a:p>
          </p:txBody>
        </p:sp>
        <p:cxnSp>
          <p:nvCxnSpPr>
            <p:cNvPr id="18" name="Straight Arrow Connector 17">
              <a:extLst>
                <a:ext uri="{FF2B5EF4-FFF2-40B4-BE49-F238E27FC236}">
                  <a16:creationId xmlns:a16="http://schemas.microsoft.com/office/drawing/2014/main" id="{3F86B9BC-F298-43F1-A0C9-C4518573C765}"/>
                </a:ext>
              </a:extLst>
            </p:cNvPr>
            <p:cNvCxnSpPr>
              <a:cxnSpLocks/>
              <a:stCxn id="17" idx="0"/>
              <a:endCxn id="19" idx="2"/>
            </p:cNvCxnSpPr>
            <p:nvPr/>
          </p:nvCxnSpPr>
          <p:spPr bwMode="auto">
            <a:xfrm flipH="1" flipV="1">
              <a:off x="6463520" y="4074127"/>
              <a:ext cx="2539" cy="74620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9" name="Rectangle 18">
              <a:extLst>
                <a:ext uri="{FF2B5EF4-FFF2-40B4-BE49-F238E27FC236}">
                  <a16:creationId xmlns:a16="http://schemas.microsoft.com/office/drawing/2014/main" id="{66D23A61-35C4-413E-87B5-04E224C2DD8C}"/>
                </a:ext>
              </a:extLst>
            </p:cNvPr>
            <p:cNvSpPr/>
            <p:nvPr/>
          </p:nvSpPr>
          <p:spPr bwMode="auto">
            <a:xfrm>
              <a:off x="3344400" y="3530274"/>
              <a:ext cx="6238239" cy="543853"/>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sp>
        <p:nvSpPr>
          <p:cNvPr id="11" name="TextBox 10">
            <a:extLst>
              <a:ext uri="{FF2B5EF4-FFF2-40B4-BE49-F238E27FC236}">
                <a16:creationId xmlns:a16="http://schemas.microsoft.com/office/drawing/2014/main" id="{9A5A389B-A88E-475A-867E-088132FED0FD}"/>
              </a:ext>
            </a:extLst>
          </p:cNvPr>
          <p:cNvSpPr txBox="1"/>
          <p:nvPr/>
        </p:nvSpPr>
        <p:spPr>
          <a:xfrm>
            <a:off x="380127" y="1673989"/>
            <a:ext cx="8383746" cy="769441"/>
          </a:xfrm>
          <a:prstGeom prst="rect">
            <a:avLst/>
          </a:prstGeom>
          <a:noFill/>
        </p:spPr>
        <p:txBody>
          <a:bodyPr wrap="square" rtlCol="0">
            <a:spAutoFit/>
          </a:bodyPr>
          <a:lstStyle/>
          <a:p>
            <a:pPr algn="ctr"/>
            <a:r>
              <a:rPr lang="en-US" altLang="zh-CN" sz="2200" dirty="0"/>
              <a:t>Stack the layers in the network: the 2 convolution layers first</a:t>
            </a:r>
          </a:p>
          <a:p>
            <a:pPr algn="ctr"/>
            <a:r>
              <a:rPr lang="zh-CN" altLang="en-US" sz="2200" dirty="0"/>
              <a:t>堆叠网络各层：先是两层卷积层</a:t>
            </a:r>
            <a:endParaRPr lang="en-US" altLang="zh-CN" sz="2200" dirty="0"/>
          </a:p>
        </p:txBody>
      </p:sp>
    </p:spTree>
    <p:extLst>
      <p:ext uri="{BB962C8B-B14F-4D97-AF65-F5344CB8AC3E}">
        <p14:creationId xmlns:p14="http://schemas.microsoft.com/office/powerpoint/2010/main" val="3121957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13EA34-BA85-4CF9-9DDC-3C493AA6E9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3491" y="2419124"/>
            <a:ext cx="6306430" cy="1619476"/>
          </a:xfrm>
          <a:prstGeom prst="rect">
            <a:avLst/>
          </a:prstGeom>
          <a:ln>
            <a:solidFill>
              <a:schemeClr val="tx1"/>
            </a:solidFill>
          </a:ln>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(5)</a:t>
            </a:r>
            <a:endParaRPr lang="zh-CN" altLang="en-US" dirty="0"/>
          </a:p>
        </p:txBody>
      </p:sp>
      <p:sp>
        <p:nvSpPr>
          <p:cNvPr id="11" name="TextBox 10">
            <a:extLst>
              <a:ext uri="{FF2B5EF4-FFF2-40B4-BE49-F238E27FC236}">
                <a16:creationId xmlns:a16="http://schemas.microsoft.com/office/drawing/2014/main" id="{9A5A389B-A88E-475A-867E-088132FED0FD}"/>
              </a:ext>
            </a:extLst>
          </p:cNvPr>
          <p:cNvSpPr txBox="1"/>
          <p:nvPr/>
        </p:nvSpPr>
        <p:spPr>
          <a:xfrm>
            <a:off x="380127" y="1673989"/>
            <a:ext cx="8383746" cy="769441"/>
          </a:xfrm>
          <a:prstGeom prst="rect">
            <a:avLst/>
          </a:prstGeom>
          <a:noFill/>
        </p:spPr>
        <p:txBody>
          <a:bodyPr wrap="square" rtlCol="0">
            <a:spAutoFit/>
          </a:bodyPr>
          <a:lstStyle/>
          <a:p>
            <a:pPr algn="ctr"/>
            <a:r>
              <a:rPr lang="en-US" altLang="zh-CN" sz="2200" dirty="0"/>
              <a:t>Stack the layers in the network: the 2 convolution layers first</a:t>
            </a:r>
          </a:p>
          <a:p>
            <a:pPr algn="ctr"/>
            <a:r>
              <a:rPr lang="zh-CN" altLang="en-US" sz="2200" dirty="0"/>
              <a:t>堆叠网络各层：先是两层卷积层</a:t>
            </a:r>
            <a:endParaRPr lang="en-US" altLang="zh-CN" sz="2200" dirty="0"/>
          </a:p>
        </p:txBody>
      </p:sp>
      <p:sp>
        <p:nvSpPr>
          <p:cNvPr id="9" name="TextBox 8">
            <a:extLst>
              <a:ext uri="{FF2B5EF4-FFF2-40B4-BE49-F238E27FC236}">
                <a16:creationId xmlns:a16="http://schemas.microsoft.com/office/drawing/2014/main" id="{D7300D24-F943-4EE2-A3B8-45D2AF32C9BD}"/>
              </a:ext>
            </a:extLst>
          </p:cNvPr>
          <p:cNvSpPr txBox="1"/>
          <p:nvPr/>
        </p:nvSpPr>
        <p:spPr>
          <a:xfrm>
            <a:off x="380127" y="4099560"/>
            <a:ext cx="8383746" cy="769441"/>
          </a:xfrm>
          <a:prstGeom prst="rect">
            <a:avLst/>
          </a:prstGeom>
          <a:noFill/>
        </p:spPr>
        <p:txBody>
          <a:bodyPr wrap="square" rtlCol="0">
            <a:spAutoFit/>
          </a:bodyPr>
          <a:lstStyle/>
          <a:p>
            <a:pPr algn="ctr"/>
            <a:r>
              <a:rPr lang="en-US" altLang="zh-CN" sz="2200" dirty="0"/>
              <a:t>Then the pooling layer, fully-connected layer, &amp; </a:t>
            </a:r>
            <a:r>
              <a:rPr lang="en-US" altLang="zh-CN" sz="2200" dirty="0" err="1"/>
              <a:t>softmax</a:t>
            </a:r>
            <a:r>
              <a:rPr lang="en-US" altLang="zh-CN" sz="2200" dirty="0"/>
              <a:t> layer</a:t>
            </a:r>
          </a:p>
          <a:p>
            <a:pPr algn="ctr"/>
            <a:r>
              <a:rPr lang="zh-CN" altLang="en-US" sz="2200" dirty="0"/>
              <a:t>然后是积聚层、全连通层和指数归一化层</a:t>
            </a:r>
            <a:endParaRPr lang="en-US" altLang="zh-CN" sz="2200" dirty="0"/>
          </a:p>
        </p:txBody>
      </p:sp>
      <p:pic>
        <p:nvPicPr>
          <p:cNvPr id="10" name="Picture 9">
            <a:extLst>
              <a:ext uri="{FF2B5EF4-FFF2-40B4-BE49-F238E27FC236}">
                <a16:creationId xmlns:a16="http://schemas.microsoft.com/office/drawing/2014/main" id="{2315C46E-71F0-497B-877F-EDD53D9548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92605" y="4838521"/>
            <a:ext cx="7144748" cy="1143160"/>
          </a:xfrm>
          <a:prstGeom prst="rect">
            <a:avLst/>
          </a:prstGeom>
          <a:ln>
            <a:solidFill>
              <a:schemeClr val="tx1"/>
            </a:solidFill>
          </a:ln>
        </p:spPr>
      </p:pic>
      <p:grpSp>
        <p:nvGrpSpPr>
          <p:cNvPr id="12" name="Group 11">
            <a:extLst>
              <a:ext uri="{FF2B5EF4-FFF2-40B4-BE49-F238E27FC236}">
                <a16:creationId xmlns:a16="http://schemas.microsoft.com/office/drawing/2014/main" id="{44C4F07C-DB53-42B2-B6CE-04F7C2101193}"/>
              </a:ext>
            </a:extLst>
          </p:cNvPr>
          <p:cNvGrpSpPr/>
          <p:nvPr/>
        </p:nvGrpSpPr>
        <p:grpSpPr>
          <a:xfrm>
            <a:off x="1218584" y="4861560"/>
            <a:ext cx="7010400" cy="2072640"/>
            <a:chOff x="3049460" y="2828389"/>
            <a:chExt cx="7010400" cy="2072640"/>
          </a:xfrm>
        </p:grpSpPr>
        <p:sp>
          <p:nvSpPr>
            <p:cNvPr id="13" name="TextBox 12">
              <a:extLst>
                <a:ext uri="{FF2B5EF4-FFF2-40B4-BE49-F238E27FC236}">
                  <a16:creationId xmlns:a16="http://schemas.microsoft.com/office/drawing/2014/main" id="{81696BBF-BC6D-4FF3-BE0F-819320F54CA0}"/>
                </a:ext>
              </a:extLst>
            </p:cNvPr>
            <p:cNvSpPr txBox="1"/>
            <p:nvPr/>
          </p:nvSpPr>
          <p:spPr>
            <a:xfrm>
              <a:off x="3049460" y="4131588"/>
              <a:ext cx="7010400" cy="769441"/>
            </a:xfrm>
            <a:prstGeom prst="rect">
              <a:avLst/>
            </a:prstGeom>
            <a:noFill/>
          </p:spPr>
          <p:txBody>
            <a:bodyPr wrap="square" rtlCol="0">
              <a:spAutoFit/>
            </a:bodyPr>
            <a:lstStyle/>
            <a:p>
              <a:pPr algn="ctr"/>
              <a:r>
                <a:rPr lang="en-US" altLang="zh-CN" sz="2200" dirty="0"/>
                <a:t>2x2 max pooling  </a:t>
              </a:r>
            </a:p>
            <a:p>
              <a:pPr algn="ctr"/>
              <a:r>
                <a:rPr lang="en-US" altLang="zh-CN" sz="2200" dirty="0"/>
                <a:t>2x2</a:t>
              </a:r>
              <a:r>
                <a:rPr lang="zh-CN" altLang="en-US" sz="2200" dirty="0"/>
                <a:t>最大值积聚</a:t>
              </a:r>
              <a:endParaRPr lang="en-US" altLang="zh-CN" sz="2200" dirty="0"/>
            </a:p>
          </p:txBody>
        </p:sp>
        <p:cxnSp>
          <p:nvCxnSpPr>
            <p:cNvPr id="14" name="Straight Arrow Connector 13">
              <a:extLst>
                <a:ext uri="{FF2B5EF4-FFF2-40B4-BE49-F238E27FC236}">
                  <a16:creationId xmlns:a16="http://schemas.microsoft.com/office/drawing/2014/main" id="{EF0CFCAE-66EB-4624-81C9-0A1C326FE14C}"/>
                </a:ext>
              </a:extLst>
            </p:cNvPr>
            <p:cNvCxnSpPr>
              <a:cxnSpLocks/>
              <a:stCxn id="13" idx="0"/>
              <a:endCxn id="16" idx="2"/>
            </p:cNvCxnSpPr>
            <p:nvPr/>
          </p:nvCxnSpPr>
          <p:spPr bwMode="auto">
            <a:xfrm flipV="1">
              <a:off x="6554660" y="3098448"/>
              <a:ext cx="0" cy="103314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6" name="Rectangle 15">
              <a:extLst>
                <a:ext uri="{FF2B5EF4-FFF2-40B4-BE49-F238E27FC236}">
                  <a16:creationId xmlns:a16="http://schemas.microsoft.com/office/drawing/2014/main" id="{E808F4BD-B79F-4043-A404-51DCE9FE63FC}"/>
                </a:ext>
              </a:extLst>
            </p:cNvPr>
            <p:cNvSpPr/>
            <p:nvPr/>
          </p:nvSpPr>
          <p:spPr bwMode="auto">
            <a:xfrm>
              <a:off x="3364530" y="2828389"/>
              <a:ext cx="6380260" cy="270059"/>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spTree>
    <p:custDataLst>
      <p:tags r:id="rId1"/>
    </p:custDataLst>
    <p:extLst>
      <p:ext uri="{BB962C8B-B14F-4D97-AF65-F5344CB8AC3E}">
        <p14:creationId xmlns:p14="http://schemas.microsoft.com/office/powerpoint/2010/main" val="311995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13EA34-BA85-4CF9-9DDC-3C493AA6E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3491" y="2419124"/>
            <a:ext cx="6306430" cy="1619476"/>
          </a:xfrm>
          <a:prstGeom prst="rect">
            <a:avLst/>
          </a:prstGeom>
          <a:ln>
            <a:solidFill>
              <a:schemeClr val="tx1"/>
            </a:solidFill>
          </a:ln>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(5)</a:t>
            </a:r>
            <a:endParaRPr lang="zh-CN" altLang="en-US" dirty="0"/>
          </a:p>
        </p:txBody>
      </p:sp>
      <p:sp>
        <p:nvSpPr>
          <p:cNvPr id="11" name="TextBox 10">
            <a:extLst>
              <a:ext uri="{FF2B5EF4-FFF2-40B4-BE49-F238E27FC236}">
                <a16:creationId xmlns:a16="http://schemas.microsoft.com/office/drawing/2014/main" id="{9A5A389B-A88E-475A-867E-088132FED0FD}"/>
              </a:ext>
            </a:extLst>
          </p:cNvPr>
          <p:cNvSpPr txBox="1"/>
          <p:nvPr/>
        </p:nvSpPr>
        <p:spPr>
          <a:xfrm>
            <a:off x="380127" y="1673989"/>
            <a:ext cx="8383746" cy="769441"/>
          </a:xfrm>
          <a:prstGeom prst="rect">
            <a:avLst/>
          </a:prstGeom>
          <a:noFill/>
        </p:spPr>
        <p:txBody>
          <a:bodyPr wrap="square" rtlCol="0">
            <a:spAutoFit/>
          </a:bodyPr>
          <a:lstStyle/>
          <a:p>
            <a:pPr algn="ctr"/>
            <a:r>
              <a:rPr lang="en-US" altLang="zh-CN" sz="2200" dirty="0"/>
              <a:t>Stack the layers in the network: the 2 convolution layers first</a:t>
            </a:r>
          </a:p>
          <a:p>
            <a:pPr algn="ctr"/>
            <a:r>
              <a:rPr lang="zh-CN" altLang="en-US" sz="2200" dirty="0"/>
              <a:t>堆叠网络各层：先是两层卷积层</a:t>
            </a:r>
            <a:endParaRPr lang="en-US" altLang="zh-CN" sz="2200" dirty="0"/>
          </a:p>
        </p:txBody>
      </p:sp>
      <p:sp>
        <p:nvSpPr>
          <p:cNvPr id="9" name="TextBox 8">
            <a:extLst>
              <a:ext uri="{FF2B5EF4-FFF2-40B4-BE49-F238E27FC236}">
                <a16:creationId xmlns:a16="http://schemas.microsoft.com/office/drawing/2014/main" id="{D7300D24-F943-4EE2-A3B8-45D2AF32C9BD}"/>
              </a:ext>
            </a:extLst>
          </p:cNvPr>
          <p:cNvSpPr txBox="1"/>
          <p:nvPr/>
        </p:nvSpPr>
        <p:spPr>
          <a:xfrm>
            <a:off x="380127" y="4099560"/>
            <a:ext cx="8383746" cy="769441"/>
          </a:xfrm>
          <a:prstGeom prst="rect">
            <a:avLst/>
          </a:prstGeom>
          <a:noFill/>
        </p:spPr>
        <p:txBody>
          <a:bodyPr wrap="square" rtlCol="0">
            <a:spAutoFit/>
          </a:bodyPr>
          <a:lstStyle/>
          <a:p>
            <a:pPr algn="ctr"/>
            <a:r>
              <a:rPr lang="en-US" altLang="zh-CN" sz="2200" dirty="0"/>
              <a:t>Then the pooling layer, fully-connected layer, &amp; </a:t>
            </a:r>
            <a:r>
              <a:rPr lang="en-US" altLang="zh-CN" sz="2200" dirty="0" err="1"/>
              <a:t>softmax</a:t>
            </a:r>
            <a:r>
              <a:rPr lang="en-US" altLang="zh-CN" sz="2200" dirty="0"/>
              <a:t> layer</a:t>
            </a:r>
          </a:p>
          <a:p>
            <a:pPr algn="ctr"/>
            <a:r>
              <a:rPr lang="zh-CN" altLang="en-US" sz="2200" dirty="0"/>
              <a:t>然后是积聚层、全连通层和指数归一化层</a:t>
            </a:r>
            <a:endParaRPr lang="en-US" altLang="zh-CN" sz="2200" dirty="0"/>
          </a:p>
        </p:txBody>
      </p:sp>
      <p:pic>
        <p:nvPicPr>
          <p:cNvPr id="10" name="Picture 9">
            <a:extLst>
              <a:ext uri="{FF2B5EF4-FFF2-40B4-BE49-F238E27FC236}">
                <a16:creationId xmlns:a16="http://schemas.microsoft.com/office/drawing/2014/main" id="{2315C46E-71F0-497B-877F-EDD53D9548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2605" y="4838521"/>
            <a:ext cx="7144748" cy="1143160"/>
          </a:xfrm>
          <a:prstGeom prst="rect">
            <a:avLst/>
          </a:prstGeom>
          <a:ln>
            <a:solidFill>
              <a:schemeClr val="tx1"/>
            </a:solidFill>
          </a:ln>
        </p:spPr>
      </p:pic>
      <p:grpSp>
        <p:nvGrpSpPr>
          <p:cNvPr id="15" name="Group 14">
            <a:extLst>
              <a:ext uri="{FF2B5EF4-FFF2-40B4-BE49-F238E27FC236}">
                <a16:creationId xmlns:a16="http://schemas.microsoft.com/office/drawing/2014/main" id="{922A1FAA-72A0-48FE-9CA6-1D72038C4AF9}"/>
              </a:ext>
            </a:extLst>
          </p:cNvPr>
          <p:cNvGrpSpPr/>
          <p:nvPr/>
        </p:nvGrpSpPr>
        <p:grpSpPr>
          <a:xfrm>
            <a:off x="-304800" y="5129569"/>
            <a:ext cx="7010400" cy="1751112"/>
            <a:chOff x="1526076" y="3088651"/>
            <a:chExt cx="7010400" cy="1751112"/>
          </a:xfrm>
        </p:grpSpPr>
        <p:sp>
          <p:nvSpPr>
            <p:cNvPr id="17" name="TextBox 16">
              <a:extLst>
                <a:ext uri="{FF2B5EF4-FFF2-40B4-BE49-F238E27FC236}">
                  <a16:creationId xmlns:a16="http://schemas.microsoft.com/office/drawing/2014/main" id="{43BD3308-1BBD-4955-B7F8-C8A080BF9EAA}"/>
                </a:ext>
              </a:extLst>
            </p:cNvPr>
            <p:cNvSpPr txBox="1"/>
            <p:nvPr/>
          </p:nvSpPr>
          <p:spPr>
            <a:xfrm>
              <a:off x="1526076" y="4070322"/>
              <a:ext cx="7010400" cy="769441"/>
            </a:xfrm>
            <a:prstGeom prst="rect">
              <a:avLst/>
            </a:prstGeom>
            <a:noFill/>
          </p:spPr>
          <p:txBody>
            <a:bodyPr wrap="square" rtlCol="0">
              <a:spAutoFit/>
            </a:bodyPr>
            <a:lstStyle/>
            <a:p>
              <a:pPr algn="ctr"/>
              <a:r>
                <a:rPr lang="en-US" altLang="zh-CN" sz="2200" dirty="0"/>
                <a:t>Flatten a 3D tensor into a 1D vector</a:t>
              </a:r>
            </a:p>
            <a:p>
              <a:pPr algn="ctr"/>
              <a:r>
                <a:rPr lang="zh-CN" altLang="en-US" sz="2200" dirty="0"/>
                <a:t>把三维张量转成一维向量</a:t>
              </a:r>
              <a:endParaRPr lang="en-US" altLang="zh-CN" sz="2200" dirty="0"/>
            </a:p>
          </p:txBody>
        </p:sp>
        <p:cxnSp>
          <p:nvCxnSpPr>
            <p:cNvPr id="18" name="Straight Arrow Connector 17">
              <a:extLst>
                <a:ext uri="{FF2B5EF4-FFF2-40B4-BE49-F238E27FC236}">
                  <a16:creationId xmlns:a16="http://schemas.microsoft.com/office/drawing/2014/main" id="{35EBE92B-38E0-4DAC-83B1-AA40F46DB2D6}"/>
                </a:ext>
              </a:extLst>
            </p:cNvPr>
            <p:cNvCxnSpPr>
              <a:cxnSpLocks/>
              <a:stCxn id="17" idx="0"/>
              <a:endCxn id="19" idx="2"/>
            </p:cNvCxnSpPr>
            <p:nvPr/>
          </p:nvCxnSpPr>
          <p:spPr bwMode="auto">
            <a:xfrm flipV="1">
              <a:off x="5031276" y="3347731"/>
              <a:ext cx="0" cy="7225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9" name="Rectangle 18">
              <a:extLst>
                <a:ext uri="{FF2B5EF4-FFF2-40B4-BE49-F238E27FC236}">
                  <a16:creationId xmlns:a16="http://schemas.microsoft.com/office/drawing/2014/main" id="{0CFE6CA3-BE77-4503-8D72-8AABC5B127BD}"/>
                </a:ext>
              </a:extLst>
            </p:cNvPr>
            <p:cNvSpPr/>
            <p:nvPr/>
          </p:nvSpPr>
          <p:spPr bwMode="auto">
            <a:xfrm>
              <a:off x="3362496" y="3088651"/>
              <a:ext cx="3337560" cy="259080"/>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spTree>
    <p:extLst>
      <p:ext uri="{BB962C8B-B14F-4D97-AF65-F5344CB8AC3E}">
        <p14:creationId xmlns:p14="http://schemas.microsoft.com/office/powerpoint/2010/main" val="3119820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13EA34-BA85-4CF9-9DDC-3C493AA6E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3491" y="2419124"/>
            <a:ext cx="6306430" cy="1619476"/>
          </a:xfrm>
          <a:prstGeom prst="rect">
            <a:avLst/>
          </a:prstGeom>
          <a:ln>
            <a:solidFill>
              <a:schemeClr val="tx1"/>
            </a:solidFill>
          </a:ln>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(5)</a:t>
            </a:r>
            <a:endParaRPr lang="zh-CN" altLang="en-US" dirty="0"/>
          </a:p>
        </p:txBody>
      </p:sp>
      <p:sp>
        <p:nvSpPr>
          <p:cNvPr id="11" name="TextBox 10">
            <a:extLst>
              <a:ext uri="{FF2B5EF4-FFF2-40B4-BE49-F238E27FC236}">
                <a16:creationId xmlns:a16="http://schemas.microsoft.com/office/drawing/2014/main" id="{9A5A389B-A88E-475A-867E-088132FED0FD}"/>
              </a:ext>
            </a:extLst>
          </p:cNvPr>
          <p:cNvSpPr txBox="1"/>
          <p:nvPr/>
        </p:nvSpPr>
        <p:spPr>
          <a:xfrm>
            <a:off x="380127" y="1673989"/>
            <a:ext cx="8383746" cy="769441"/>
          </a:xfrm>
          <a:prstGeom prst="rect">
            <a:avLst/>
          </a:prstGeom>
          <a:noFill/>
        </p:spPr>
        <p:txBody>
          <a:bodyPr wrap="square" rtlCol="0">
            <a:spAutoFit/>
          </a:bodyPr>
          <a:lstStyle/>
          <a:p>
            <a:pPr algn="ctr"/>
            <a:r>
              <a:rPr lang="en-US" altLang="zh-CN" sz="2200" dirty="0"/>
              <a:t>Stack the layers in the network: the 2 convolution layers first</a:t>
            </a:r>
          </a:p>
          <a:p>
            <a:pPr algn="ctr"/>
            <a:r>
              <a:rPr lang="zh-CN" altLang="en-US" sz="2200" dirty="0"/>
              <a:t>堆叠网络各层：先是两层卷积层</a:t>
            </a:r>
            <a:endParaRPr lang="en-US" altLang="zh-CN" sz="2200" dirty="0"/>
          </a:p>
        </p:txBody>
      </p:sp>
      <p:sp>
        <p:nvSpPr>
          <p:cNvPr id="9" name="TextBox 8">
            <a:extLst>
              <a:ext uri="{FF2B5EF4-FFF2-40B4-BE49-F238E27FC236}">
                <a16:creationId xmlns:a16="http://schemas.microsoft.com/office/drawing/2014/main" id="{D7300D24-F943-4EE2-A3B8-45D2AF32C9BD}"/>
              </a:ext>
            </a:extLst>
          </p:cNvPr>
          <p:cNvSpPr txBox="1"/>
          <p:nvPr/>
        </p:nvSpPr>
        <p:spPr>
          <a:xfrm>
            <a:off x="380127" y="4099560"/>
            <a:ext cx="8383746" cy="769441"/>
          </a:xfrm>
          <a:prstGeom prst="rect">
            <a:avLst/>
          </a:prstGeom>
          <a:noFill/>
        </p:spPr>
        <p:txBody>
          <a:bodyPr wrap="square" rtlCol="0">
            <a:spAutoFit/>
          </a:bodyPr>
          <a:lstStyle/>
          <a:p>
            <a:pPr algn="ctr"/>
            <a:r>
              <a:rPr lang="en-US" altLang="zh-CN" sz="2200" dirty="0"/>
              <a:t>Then the pooling layer, fully-connected layer, &amp; </a:t>
            </a:r>
            <a:r>
              <a:rPr lang="en-US" altLang="zh-CN" sz="2200" dirty="0" err="1"/>
              <a:t>softmax</a:t>
            </a:r>
            <a:r>
              <a:rPr lang="en-US" altLang="zh-CN" sz="2200" dirty="0"/>
              <a:t> layer</a:t>
            </a:r>
          </a:p>
          <a:p>
            <a:pPr algn="ctr"/>
            <a:r>
              <a:rPr lang="zh-CN" altLang="en-US" sz="2200" dirty="0"/>
              <a:t>然后是积聚层、全连通层和指数归一化层</a:t>
            </a:r>
            <a:endParaRPr lang="en-US" altLang="zh-CN" sz="2200" dirty="0"/>
          </a:p>
        </p:txBody>
      </p:sp>
      <p:pic>
        <p:nvPicPr>
          <p:cNvPr id="10" name="Picture 9">
            <a:extLst>
              <a:ext uri="{FF2B5EF4-FFF2-40B4-BE49-F238E27FC236}">
                <a16:creationId xmlns:a16="http://schemas.microsoft.com/office/drawing/2014/main" id="{2315C46E-71F0-497B-877F-EDD53D9548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2605" y="4838521"/>
            <a:ext cx="7144748" cy="1143160"/>
          </a:xfrm>
          <a:prstGeom prst="rect">
            <a:avLst/>
          </a:prstGeom>
          <a:ln>
            <a:solidFill>
              <a:schemeClr val="tx1"/>
            </a:solidFill>
          </a:ln>
        </p:spPr>
      </p:pic>
      <p:grpSp>
        <p:nvGrpSpPr>
          <p:cNvPr id="12" name="Group 11">
            <a:extLst>
              <a:ext uri="{FF2B5EF4-FFF2-40B4-BE49-F238E27FC236}">
                <a16:creationId xmlns:a16="http://schemas.microsoft.com/office/drawing/2014/main" id="{D00D89E1-F28A-4790-9117-CA98AE57748B}"/>
              </a:ext>
            </a:extLst>
          </p:cNvPr>
          <p:cNvGrpSpPr/>
          <p:nvPr/>
        </p:nvGrpSpPr>
        <p:grpSpPr>
          <a:xfrm>
            <a:off x="1424940" y="5373409"/>
            <a:ext cx="7010400" cy="1537752"/>
            <a:chOff x="3255816" y="3332491"/>
            <a:chExt cx="7010400" cy="1537752"/>
          </a:xfrm>
        </p:grpSpPr>
        <p:sp>
          <p:nvSpPr>
            <p:cNvPr id="13" name="TextBox 12">
              <a:extLst>
                <a:ext uri="{FF2B5EF4-FFF2-40B4-BE49-F238E27FC236}">
                  <a16:creationId xmlns:a16="http://schemas.microsoft.com/office/drawing/2014/main" id="{75AAB325-9005-4B41-96CB-429128661A41}"/>
                </a:ext>
              </a:extLst>
            </p:cNvPr>
            <p:cNvSpPr txBox="1"/>
            <p:nvPr/>
          </p:nvSpPr>
          <p:spPr>
            <a:xfrm>
              <a:off x="3255816" y="4100802"/>
              <a:ext cx="7010400" cy="769441"/>
            </a:xfrm>
            <a:prstGeom prst="rect">
              <a:avLst/>
            </a:prstGeom>
            <a:noFill/>
          </p:spPr>
          <p:txBody>
            <a:bodyPr wrap="square" rtlCol="0">
              <a:spAutoFit/>
            </a:bodyPr>
            <a:lstStyle/>
            <a:p>
              <a:pPr algn="ctr"/>
              <a:r>
                <a:rPr lang="en-US" altLang="zh-CN" sz="2200" dirty="0"/>
                <a:t>Fully-connected layer</a:t>
              </a:r>
            </a:p>
            <a:p>
              <a:pPr algn="ctr"/>
              <a:r>
                <a:rPr lang="zh-CN" altLang="en-US" sz="2200" dirty="0"/>
                <a:t>全连通层</a:t>
              </a:r>
              <a:endParaRPr lang="en-US" altLang="zh-CN" sz="2200" dirty="0"/>
            </a:p>
          </p:txBody>
        </p:sp>
        <p:cxnSp>
          <p:nvCxnSpPr>
            <p:cNvPr id="14" name="Straight Arrow Connector 13">
              <a:extLst>
                <a:ext uri="{FF2B5EF4-FFF2-40B4-BE49-F238E27FC236}">
                  <a16:creationId xmlns:a16="http://schemas.microsoft.com/office/drawing/2014/main" id="{CC440DC5-20F1-48FD-B0D7-E4E3633218CF}"/>
                </a:ext>
              </a:extLst>
            </p:cNvPr>
            <p:cNvCxnSpPr>
              <a:cxnSpLocks/>
              <a:stCxn id="13" idx="0"/>
              <a:endCxn id="16" idx="2"/>
            </p:cNvCxnSpPr>
            <p:nvPr/>
          </p:nvCxnSpPr>
          <p:spPr bwMode="auto">
            <a:xfrm flipH="1" flipV="1">
              <a:off x="6757206" y="3583951"/>
              <a:ext cx="3810" cy="5168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6" name="Rectangle 15">
              <a:extLst>
                <a:ext uri="{FF2B5EF4-FFF2-40B4-BE49-F238E27FC236}">
                  <a16:creationId xmlns:a16="http://schemas.microsoft.com/office/drawing/2014/main" id="{5F357971-9EDC-4872-BDF9-E7F75ECEE6A5}"/>
                </a:ext>
              </a:extLst>
            </p:cNvPr>
            <p:cNvSpPr/>
            <p:nvPr/>
          </p:nvSpPr>
          <p:spPr bwMode="auto">
            <a:xfrm>
              <a:off x="3362496" y="3332491"/>
              <a:ext cx="6789420" cy="251460"/>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spTree>
    <p:extLst>
      <p:ext uri="{BB962C8B-B14F-4D97-AF65-F5344CB8AC3E}">
        <p14:creationId xmlns:p14="http://schemas.microsoft.com/office/powerpoint/2010/main" val="980336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13EA34-BA85-4CF9-9DDC-3C493AA6E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3491" y="2419124"/>
            <a:ext cx="6306430" cy="1619476"/>
          </a:xfrm>
          <a:prstGeom prst="rect">
            <a:avLst/>
          </a:prstGeom>
          <a:ln>
            <a:solidFill>
              <a:schemeClr val="tx1"/>
            </a:solidFill>
          </a:ln>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(5)</a:t>
            </a:r>
            <a:endParaRPr lang="zh-CN" altLang="en-US" dirty="0"/>
          </a:p>
        </p:txBody>
      </p:sp>
      <p:sp>
        <p:nvSpPr>
          <p:cNvPr id="11" name="TextBox 10">
            <a:extLst>
              <a:ext uri="{FF2B5EF4-FFF2-40B4-BE49-F238E27FC236}">
                <a16:creationId xmlns:a16="http://schemas.microsoft.com/office/drawing/2014/main" id="{9A5A389B-A88E-475A-867E-088132FED0FD}"/>
              </a:ext>
            </a:extLst>
          </p:cNvPr>
          <p:cNvSpPr txBox="1"/>
          <p:nvPr/>
        </p:nvSpPr>
        <p:spPr>
          <a:xfrm>
            <a:off x="380127" y="1673989"/>
            <a:ext cx="8383746" cy="769441"/>
          </a:xfrm>
          <a:prstGeom prst="rect">
            <a:avLst/>
          </a:prstGeom>
          <a:noFill/>
        </p:spPr>
        <p:txBody>
          <a:bodyPr wrap="square" rtlCol="0">
            <a:spAutoFit/>
          </a:bodyPr>
          <a:lstStyle/>
          <a:p>
            <a:pPr algn="ctr"/>
            <a:r>
              <a:rPr lang="en-US" altLang="zh-CN" sz="2200" dirty="0"/>
              <a:t>Stack the layers in the network: the 2 convolution layers first</a:t>
            </a:r>
          </a:p>
          <a:p>
            <a:pPr algn="ctr"/>
            <a:r>
              <a:rPr lang="zh-CN" altLang="en-US" sz="2200" dirty="0"/>
              <a:t>堆叠网络各层：先是两层卷积层</a:t>
            </a:r>
            <a:endParaRPr lang="en-US" altLang="zh-CN" sz="2200" dirty="0"/>
          </a:p>
        </p:txBody>
      </p:sp>
      <p:sp>
        <p:nvSpPr>
          <p:cNvPr id="9" name="TextBox 8">
            <a:extLst>
              <a:ext uri="{FF2B5EF4-FFF2-40B4-BE49-F238E27FC236}">
                <a16:creationId xmlns:a16="http://schemas.microsoft.com/office/drawing/2014/main" id="{D7300D24-F943-4EE2-A3B8-45D2AF32C9BD}"/>
              </a:ext>
            </a:extLst>
          </p:cNvPr>
          <p:cNvSpPr txBox="1"/>
          <p:nvPr/>
        </p:nvSpPr>
        <p:spPr>
          <a:xfrm>
            <a:off x="380127" y="4099560"/>
            <a:ext cx="8383746" cy="769441"/>
          </a:xfrm>
          <a:prstGeom prst="rect">
            <a:avLst/>
          </a:prstGeom>
          <a:noFill/>
        </p:spPr>
        <p:txBody>
          <a:bodyPr wrap="square" rtlCol="0">
            <a:spAutoFit/>
          </a:bodyPr>
          <a:lstStyle/>
          <a:p>
            <a:pPr algn="ctr"/>
            <a:r>
              <a:rPr lang="en-US" altLang="zh-CN" sz="2200" dirty="0"/>
              <a:t>Then the pooling layer, fully-connected layer, &amp; </a:t>
            </a:r>
            <a:r>
              <a:rPr lang="en-US" altLang="zh-CN" sz="2200" dirty="0" err="1"/>
              <a:t>softmax</a:t>
            </a:r>
            <a:r>
              <a:rPr lang="en-US" altLang="zh-CN" sz="2200" dirty="0"/>
              <a:t> layer</a:t>
            </a:r>
          </a:p>
          <a:p>
            <a:pPr algn="ctr"/>
            <a:r>
              <a:rPr lang="zh-CN" altLang="en-US" sz="2200" dirty="0"/>
              <a:t>然后是积聚层、全连通层和指数归一化层</a:t>
            </a:r>
            <a:endParaRPr lang="en-US" altLang="zh-CN" sz="2200" dirty="0"/>
          </a:p>
        </p:txBody>
      </p:sp>
      <p:pic>
        <p:nvPicPr>
          <p:cNvPr id="10" name="Picture 9">
            <a:extLst>
              <a:ext uri="{FF2B5EF4-FFF2-40B4-BE49-F238E27FC236}">
                <a16:creationId xmlns:a16="http://schemas.microsoft.com/office/drawing/2014/main" id="{2315C46E-71F0-497B-877F-EDD53D9548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2605" y="4838521"/>
            <a:ext cx="7144748" cy="1143160"/>
          </a:xfrm>
          <a:prstGeom prst="rect">
            <a:avLst/>
          </a:prstGeom>
          <a:ln>
            <a:solidFill>
              <a:schemeClr val="tx1"/>
            </a:solidFill>
          </a:ln>
        </p:spPr>
      </p:pic>
      <p:grpSp>
        <p:nvGrpSpPr>
          <p:cNvPr id="15" name="Group 14">
            <a:extLst>
              <a:ext uri="{FF2B5EF4-FFF2-40B4-BE49-F238E27FC236}">
                <a16:creationId xmlns:a16="http://schemas.microsoft.com/office/drawing/2014/main" id="{D7A2D6F4-4CE1-406C-90AF-FE94AC573033}"/>
              </a:ext>
            </a:extLst>
          </p:cNvPr>
          <p:cNvGrpSpPr/>
          <p:nvPr/>
        </p:nvGrpSpPr>
        <p:grpSpPr>
          <a:xfrm>
            <a:off x="1531620" y="5617249"/>
            <a:ext cx="7048500" cy="1263432"/>
            <a:chOff x="3362496" y="3576331"/>
            <a:chExt cx="7048500" cy="1263432"/>
          </a:xfrm>
        </p:grpSpPr>
        <p:sp>
          <p:nvSpPr>
            <p:cNvPr id="17" name="TextBox 16">
              <a:extLst>
                <a:ext uri="{FF2B5EF4-FFF2-40B4-BE49-F238E27FC236}">
                  <a16:creationId xmlns:a16="http://schemas.microsoft.com/office/drawing/2014/main" id="{BD3265F1-FD8E-4A47-9320-50739CA6A505}"/>
                </a:ext>
              </a:extLst>
            </p:cNvPr>
            <p:cNvSpPr txBox="1"/>
            <p:nvPr/>
          </p:nvSpPr>
          <p:spPr>
            <a:xfrm>
              <a:off x="3377736" y="4070322"/>
              <a:ext cx="7010400" cy="769441"/>
            </a:xfrm>
            <a:prstGeom prst="rect">
              <a:avLst/>
            </a:prstGeom>
            <a:noFill/>
          </p:spPr>
          <p:txBody>
            <a:bodyPr wrap="square" rtlCol="0">
              <a:spAutoFit/>
            </a:bodyPr>
            <a:lstStyle/>
            <a:p>
              <a:pPr algn="ctr"/>
              <a:r>
                <a:rPr lang="en-US" altLang="zh-CN" sz="2200" dirty="0" err="1"/>
                <a:t>Softmax</a:t>
              </a:r>
              <a:r>
                <a:rPr lang="en-US" altLang="zh-CN" sz="2200" dirty="0"/>
                <a:t>: the last layer</a:t>
              </a:r>
            </a:p>
            <a:p>
              <a:pPr algn="ctr"/>
              <a:r>
                <a:rPr lang="zh-CN" altLang="en-US" sz="2200" dirty="0"/>
                <a:t>指数归一化：最后一层</a:t>
              </a:r>
              <a:endParaRPr lang="en-US" altLang="zh-CN" sz="2200" dirty="0"/>
            </a:p>
          </p:txBody>
        </p:sp>
        <p:cxnSp>
          <p:nvCxnSpPr>
            <p:cNvPr id="18" name="Straight Arrow Connector 17">
              <a:extLst>
                <a:ext uri="{FF2B5EF4-FFF2-40B4-BE49-F238E27FC236}">
                  <a16:creationId xmlns:a16="http://schemas.microsoft.com/office/drawing/2014/main" id="{0A3A9B05-FF45-4EEE-88A7-740A5B51C828}"/>
                </a:ext>
              </a:extLst>
            </p:cNvPr>
            <p:cNvCxnSpPr>
              <a:cxnSpLocks/>
              <a:stCxn id="17" idx="0"/>
              <a:endCxn id="19" idx="2"/>
            </p:cNvCxnSpPr>
            <p:nvPr/>
          </p:nvCxnSpPr>
          <p:spPr bwMode="auto">
            <a:xfrm flipV="1">
              <a:off x="6882936" y="3858271"/>
              <a:ext cx="3810" cy="2120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9" name="Rectangle 18">
              <a:extLst>
                <a:ext uri="{FF2B5EF4-FFF2-40B4-BE49-F238E27FC236}">
                  <a16:creationId xmlns:a16="http://schemas.microsoft.com/office/drawing/2014/main" id="{6C85EB11-3FBF-49DC-9365-FDD01B605C5A}"/>
                </a:ext>
              </a:extLst>
            </p:cNvPr>
            <p:cNvSpPr/>
            <p:nvPr/>
          </p:nvSpPr>
          <p:spPr bwMode="auto">
            <a:xfrm>
              <a:off x="3362496" y="3576331"/>
              <a:ext cx="7048500" cy="281940"/>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spTree>
    <p:extLst>
      <p:ext uri="{BB962C8B-B14F-4D97-AF65-F5344CB8AC3E}">
        <p14:creationId xmlns:p14="http://schemas.microsoft.com/office/powerpoint/2010/main" val="3555227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CED21D-5180-4053-B00E-93AC767D0D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2962" y="2660556"/>
            <a:ext cx="6611272" cy="1562318"/>
          </a:xfrm>
          <a:prstGeom prst="rect">
            <a:avLst/>
          </a:prstGeom>
          <a:noFill/>
          <a:ln>
            <a:solidFill>
              <a:schemeClr val="tx1"/>
            </a:solidFill>
          </a:ln>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(6)</a:t>
            </a:r>
            <a:endParaRPr lang="zh-CN" altLang="en-US" dirty="0"/>
          </a:p>
        </p:txBody>
      </p:sp>
      <p:sp>
        <p:nvSpPr>
          <p:cNvPr id="16" name="TextBox 15">
            <a:extLst>
              <a:ext uri="{FF2B5EF4-FFF2-40B4-BE49-F238E27FC236}">
                <a16:creationId xmlns:a16="http://schemas.microsoft.com/office/drawing/2014/main" id="{E27040D6-11A4-4B19-AB0A-61988AA8013B}"/>
              </a:ext>
            </a:extLst>
          </p:cNvPr>
          <p:cNvSpPr txBox="1"/>
          <p:nvPr/>
        </p:nvSpPr>
        <p:spPr>
          <a:xfrm>
            <a:off x="38100" y="1603096"/>
            <a:ext cx="9067799" cy="1107996"/>
          </a:xfrm>
          <a:prstGeom prst="rect">
            <a:avLst/>
          </a:prstGeom>
          <a:noFill/>
        </p:spPr>
        <p:txBody>
          <a:bodyPr wrap="square" rtlCol="0">
            <a:spAutoFit/>
          </a:bodyPr>
          <a:lstStyle/>
          <a:p>
            <a:pPr algn="ctr"/>
            <a:r>
              <a:rPr lang="en-US" altLang="zh-CN" sz="2200" dirty="0"/>
              <a:t>Choose a specific variant of stochastic gradient descent ‘ADADELTA’ for maximum likelihood estimation &amp; start training</a:t>
            </a:r>
          </a:p>
          <a:p>
            <a:pPr algn="ctr"/>
            <a:r>
              <a:rPr lang="zh-CN" altLang="en-US" sz="2200" dirty="0"/>
              <a:t>选择随机梯度下降的变种“</a:t>
            </a:r>
            <a:r>
              <a:rPr lang="en-US" altLang="zh-CN" sz="2200" dirty="0"/>
              <a:t>ADADELTA</a:t>
            </a:r>
            <a:r>
              <a:rPr lang="zh-CN" altLang="en-US" sz="2200" dirty="0"/>
              <a:t>”进行极大似然估计，开始训练</a:t>
            </a:r>
            <a:endParaRPr lang="en-US" altLang="zh-CN" sz="2200" dirty="0"/>
          </a:p>
        </p:txBody>
      </p:sp>
      <p:grpSp>
        <p:nvGrpSpPr>
          <p:cNvPr id="15" name="Group 14">
            <a:extLst>
              <a:ext uri="{FF2B5EF4-FFF2-40B4-BE49-F238E27FC236}">
                <a16:creationId xmlns:a16="http://schemas.microsoft.com/office/drawing/2014/main" id="{862BC658-AF77-4700-A18D-6B423FA857EE}"/>
              </a:ext>
            </a:extLst>
          </p:cNvPr>
          <p:cNvGrpSpPr/>
          <p:nvPr/>
        </p:nvGrpSpPr>
        <p:grpSpPr>
          <a:xfrm>
            <a:off x="1800225" y="2933700"/>
            <a:ext cx="7010400" cy="2346634"/>
            <a:chOff x="3631101" y="3332491"/>
            <a:chExt cx="7010400" cy="2346634"/>
          </a:xfrm>
        </p:grpSpPr>
        <p:sp>
          <p:nvSpPr>
            <p:cNvPr id="17" name="TextBox 16">
              <a:extLst>
                <a:ext uri="{FF2B5EF4-FFF2-40B4-BE49-F238E27FC236}">
                  <a16:creationId xmlns:a16="http://schemas.microsoft.com/office/drawing/2014/main" id="{C956C213-223B-4074-BDD2-25FE3935B9AA}"/>
                </a:ext>
              </a:extLst>
            </p:cNvPr>
            <p:cNvSpPr txBox="1"/>
            <p:nvPr/>
          </p:nvSpPr>
          <p:spPr>
            <a:xfrm>
              <a:off x="3631101" y="4909684"/>
              <a:ext cx="7010400" cy="769441"/>
            </a:xfrm>
            <a:prstGeom prst="rect">
              <a:avLst/>
            </a:prstGeom>
            <a:noFill/>
          </p:spPr>
          <p:txBody>
            <a:bodyPr wrap="square" rtlCol="0">
              <a:spAutoFit/>
            </a:bodyPr>
            <a:lstStyle/>
            <a:p>
              <a:pPr algn="ctr"/>
              <a:r>
                <a:rPr lang="en-US" altLang="zh-CN" sz="2200" dirty="0"/>
                <a:t>Maximum likelihood estimation</a:t>
              </a:r>
            </a:p>
            <a:p>
              <a:pPr algn="ctr"/>
              <a:r>
                <a:rPr lang="zh-CN" altLang="en-US" sz="2200" dirty="0"/>
                <a:t>极大似然估计</a:t>
              </a:r>
              <a:endParaRPr lang="en-US" altLang="zh-CN" sz="2200" dirty="0"/>
            </a:p>
          </p:txBody>
        </p:sp>
        <p:cxnSp>
          <p:nvCxnSpPr>
            <p:cNvPr id="18" name="Straight Arrow Connector 17">
              <a:extLst>
                <a:ext uri="{FF2B5EF4-FFF2-40B4-BE49-F238E27FC236}">
                  <a16:creationId xmlns:a16="http://schemas.microsoft.com/office/drawing/2014/main" id="{3F86B9BC-F298-43F1-A0C9-C4518573C765}"/>
                </a:ext>
              </a:extLst>
            </p:cNvPr>
            <p:cNvCxnSpPr>
              <a:cxnSpLocks/>
              <a:stCxn id="17" idx="0"/>
              <a:endCxn id="19" idx="2"/>
            </p:cNvCxnSpPr>
            <p:nvPr/>
          </p:nvCxnSpPr>
          <p:spPr bwMode="auto">
            <a:xfrm flipV="1">
              <a:off x="7136301" y="3608716"/>
              <a:ext cx="4763" cy="130096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9" name="Rectangle 18">
              <a:extLst>
                <a:ext uri="{FF2B5EF4-FFF2-40B4-BE49-F238E27FC236}">
                  <a16:creationId xmlns:a16="http://schemas.microsoft.com/office/drawing/2014/main" id="{66D23A61-35C4-413E-87B5-04E224C2DD8C}"/>
                </a:ext>
              </a:extLst>
            </p:cNvPr>
            <p:cNvSpPr/>
            <p:nvPr/>
          </p:nvSpPr>
          <p:spPr bwMode="auto">
            <a:xfrm>
              <a:off x="4421676" y="3332491"/>
              <a:ext cx="5438775" cy="276225"/>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spTree>
    <p:custDataLst>
      <p:tags r:id="rId1"/>
    </p:custDataLst>
    <p:extLst>
      <p:ext uri="{BB962C8B-B14F-4D97-AF65-F5344CB8AC3E}">
        <p14:creationId xmlns:p14="http://schemas.microsoft.com/office/powerpoint/2010/main" val="146911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CNN for USPS</a:t>
            </a:r>
            <a:br>
              <a:rPr lang="en-US" altLang="zh-CN" dirty="0">
                <a:ea typeface="ＭＳ Ｐゴシック" panose="020B0600070205080204" pitchFamily="34" charset="-128"/>
              </a:rPr>
            </a:br>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的卷积神经网络 </a:t>
            </a:r>
            <a:r>
              <a:rPr lang="en-US" altLang="zh-CN" dirty="0">
                <a:ea typeface="ＭＳ Ｐゴシック" panose="020B0600070205080204" pitchFamily="34" charset="-128"/>
              </a:rPr>
              <a:t>(7)</a:t>
            </a:r>
            <a:endParaRPr lang="zh-CN" altLang="en-US" dirty="0"/>
          </a:p>
        </p:txBody>
      </p:sp>
      <p:sp>
        <p:nvSpPr>
          <p:cNvPr id="16" name="TextBox 15">
            <a:extLst>
              <a:ext uri="{FF2B5EF4-FFF2-40B4-BE49-F238E27FC236}">
                <a16:creationId xmlns:a16="http://schemas.microsoft.com/office/drawing/2014/main" id="{E27040D6-11A4-4B19-AB0A-61988AA8013B}"/>
              </a:ext>
            </a:extLst>
          </p:cNvPr>
          <p:cNvSpPr txBox="1"/>
          <p:nvPr/>
        </p:nvSpPr>
        <p:spPr>
          <a:xfrm>
            <a:off x="1238250" y="1493520"/>
            <a:ext cx="6667500" cy="1107996"/>
          </a:xfrm>
          <a:prstGeom prst="rect">
            <a:avLst/>
          </a:prstGeom>
          <a:noFill/>
        </p:spPr>
        <p:txBody>
          <a:bodyPr wrap="square" rtlCol="0">
            <a:spAutoFit/>
          </a:bodyPr>
          <a:lstStyle/>
          <a:p>
            <a:pPr algn="ctr"/>
            <a:r>
              <a:rPr lang="en-US" altLang="zh-CN" sz="2200" dirty="0"/>
              <a:t>In classification, first also convert the input 1D vector into 2D x 1 channel image</a:t>
            </a:r>
          </a:p>
          <a:p>
            <a:pPr algn="ctr"/>
            <a:r>
              <a:rPr lang="zh-CN" altLang="en-US" sz="2200" dirty="0"/>
              <a:t>分类时，也先把输入的一维向量转成二维单通道图像</a:t>
            </a:r>
            <a:endParaRPr lang="en-US" altLang="zh-CN" sz="2200" dirty="0"/>
          </a:p>
        </p:txBody>
      </p:sp>
      <p:pic>
        <p:nvPicPr>
          <p:cNvPr id="7" name="Picture 6">
            <a:extLst>
              <a:ext uri="{FF2B5EF4-FFF2-40B4-BE49-F238E27FC236}">
                <a16:creationId xmlns:a16="http://schemas.microsoft.com/office/drawing/2014/main" id="{A901DB45-BF5A-48B2-A8F5-2741574051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4247" y="2636520"/>
            <a:ext cx="7678222" cy="1086002"/>
          </a:xfrm>
          <a:prstGeom prst="rect">
            <a:avLst/>
          </a:prstGeom>
          <a:ln>
            <a:solidFill>
              <a:srgbClr val="00B050"/>
            </a:solidFill>
          </a:ln>
        </p:spPr>
      </p:pic>
      <p:pic>
        <p:nvPicPr>
          <p:cNvPr id="9" name="Picture 8">
            <a:extLst>
              <a:ext uri="{FF2B5EF4-FFF2-40B4-BE49-F238E27FC236}">
                <a16:creationId xmlns:a16="http://schemas.microsoft.com/office/drawing/2014/main" id="{4E4EBA59-3217-4874-9AB2-BEE6EE8EF7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58292" y="4678680"/>
            <a:ext cx="6725588" cy="2076740"/>
          </a:xfrm>
          <a:prstGeom prst="rect">
            <a:avLst/>
          </a:prstGeom>
          <a:ln>
            <a:solidFill>
              <a:srgbClr val="00B050"/>
            </a:solidFill>
          </a:ln>
        </p:spPr>
      </p:pic>
      <p:sp>
        <p:nvSpPr>
          <p:cNvPr id="20" name="TextBox 19">
            <a:extLst>
              <a:ext uri="{FF2B5EF4-FFF2-40B4-BE49-F238E27FC236}">
                <a16:creationId xmlns:a16="http://schemas.microsoft.com/office/drawing/2014/main" id="{19BCBA4E-C5A3-45D4-94FB-EFDB8CD75C22}"/>
              </a:ext>
            </a:extLst>
          </p:cNvPr>
          <p:cNvSpPr txBox="1"/>
          <p:nvPr/>
        </p:nvSpPr>
        <p:spPr>
          <a:xfrm>
            <a:off x="1238250" y="3916680"/>
            <a:ext cx="6667500" cy="769441"/>
          </a:xfrm>
          <a:prstGeom prst="rect">
            <a:avLst/>
          </a:prstGeom>
          <a:noFill/>
        </p:spPr>
        <p:txBody>
          <a:bodyPr wrap="square" rtlCol="0">
            <a:spAutoFit/>
          </a:bodyPr>
          <a:lstStyle/>
          <a:p>
            <a:pPr algn="ctr"/>
            <a:r>
              <a:rPr lang="en-US" altLang="zh-CN" sz="2200" dirty="0"/>
              <a:t>Then find the class label w/ the highest score</a:t>
            </a:r>
          </a:p>
          <a:p>
            <a:pPr algn="ctr"/>
            <a:r>
              <a:rPr lang="zh-CN" altLang="en-US" sz="2200" dirty="0"/>
              <a:t>然后找到得分最高的类别标记</a:t>
            </a:r>
            <a:endParaRPr lang="en-US" altLang="zh-CN" sz="2200" dirty="0"/>
          </a:p>
        </p:txBody>
      </p:sp>
    </p:spTree>
    <p:custDataLst>
      <p:tags r:id="rId1"/>
    </p:custDataLst>
    <p:extLst>
      <p:ext uri="{BB962C8B-B14F-4D97-AF65-F5344CB8AC3E}">
        <p14:creationId xmlns:p14="http://schemas.microsoft.com/office/powerpoint/2010/main" val="4002609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Run It  </a:t>
            </a:r>
            <a:r>
              <a:rPr lang="zh-CN" altLang="en-US" dirty="0">
                <a:ea typeface="ＭＳ Ｐゴシック" panose="020B0600070205080204" pitchFamily="34" charset="-128"/>
              </a:rPr>
              <a:t>运行之 </a:t>
            </a:r>
            <a:r>
              <a:rPr lang="en-US" altLang="zh-CN" dirty="0">
                <a:ea typeface="ＭＳ Ｐゴシック" panose="020B0600070205080204" pitchFamily="34" charset="-128"/>
              </a:rPr>
              <a:t>(1)</a:t>
            </a:r>
            <a:endParaRPr lang="zh-CN" altLang="en-US" dirty="0"/>
          </a:p>
        </p:txBody>
      </p:sp>
      <p:sp>
        <p:nvSpPr>
          <p:cNvPr id="8" name="TextBox 7">
            <a:extLst>
              <a:ext uri="{FF2B5EF4-FFF2-40B4-BE49-F238E27FC236}">
                <a16:creationId xmlns:a16="http://schemas.microsoft.com/office/drawing/2014/main" id="{FF640E0A-0D60-423C-93D7-008F60EB0CFA}"/>
              </a:ext>
            </a:extLst>
          </p:cNvPr>
          <p:cNvSpPr txBox="1"/>
          <p:nvPr/>
        </p:nvSpPr>
        <p:spPr>
          <a:xfrm>
            <a:off x="442911" y="1676400"/>
            <a:ext cx="8258176" cy="769441"/>
          </a:xfrm>
          <a:prstGeom prst="rect">
            <a:avLst/>
          </a:prstGeom>
          <a:noFill/>
        </p:spPr>
        <p:txBody>
          <a:bodyPr wrap="square" rtlCol="0">
            <a:spAutoFit/>
          </a:bodyPr>
          <a:lstStyle/>
          <a:p>
            <a:pPr algn="ctr"/>
            <a:r>
              <a:rPr lang="en-US" altLang="zh-CN" sz="2200" dirty="0"/>
              <a:t>Create a new file ‘test.py’ &amp; import the required components   </a:t>
            </a:r>
            <a:r>
              <a:rPr lang="zh-CN" altLang="en-US" sz="2200" dirty="0"/>
              <a:t>创建新文件“</a:t>
            </a:r>
            <a:r>
              <a:rPr lang="en-US" altLang="zh-CN" sz="2200" dirty="0"/>
              <a:t>test.py</a:t>
            </a:r>
            <a:r>
              <a:rPr lang="zh-CN" altLang="en-US" sz="2200" dirty="0"/>
              <a:t>”并导入所需组件</a:t>
            </a:r>
            <a:endParaRPr lang="en-US" altLang="zh-CN" sz="2200" dirty="0"/>
          </a:p>
        </p:txBody>
      </p:sp>
      <p:pic>
        <p:nvPicPr>
          <p:cNvPr id="12" name="Picture 11">
            <a:extLst>
              <a:ext uri="{FF2B5EF4-FFF2-40B4-BE49-F238E27FC236}">
                <a16:creationId xmlns:a16="http://schemas.microsoft.com/office/drawing/2014/main" id="{8ED0124E-E9B5-41F0-ACBB-C2F832D9F6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089" y="4427041"/>
            <a:ext cx="6020640" cy="876422"/>
          </a:xfrm>
          <a:prstGeom prst="rect">
            <a:avLst/>
          </a:prstGeom>
          <a:ln>
            <a:solidFill>
              <a:srgbClr val="C00000"/>
            </a:solidFill>
          </a:ln>
        </p:spPr>
      </p:pic>
      <p:sp>
        <p:nvSpPr>
          <p:cNvPr id="13" name="TextBox 12">
            <a:extLst>
              <a:ext uri="{FF2B5EF4-FFF2-40B4-BE49-F238E27FC236}">
                <a16:creationId xmlns:a16="http://schemas.microsoft.com/office/drawing/2014/main" id="{7A6F9F9D-2A9F-44AE-91A3-C9612F1A4E72}"/>
              </a:ext>
            </a:extLst>
          </p:cNvPr>
          <p:cNvSpPr txBox="1"/>
          <p:nvPr/>
        </p:nvSpPr>
        <p:spPr>
          <a:xfrm>
            <a:off x="442911" y="3657600"/>
            <a:ext cx="8258176" cy="769441"/>
          </a:xfrm>
          <a:prstGeom prst="rect">
            <a:avLst/>
          </a:prstGeom>
          <a:noFill/>
        </p:spPr>
        <p:txBody>
          <a:bodyPr wrap="square" rtlCol="0">
            <a:spAutoFit/>
          </a:bodyPr>
          <a:lstStyle/>
          <a:p>
            <a:pPr algn="ctr"/>
            <a:r>
              <a:rPr lang="en-US" altLang="zh-CN" sz="2200" dirty="0"/>
              <a:t>Read the data from the files</a:t>
            </a:r>
          </a:p>
          <a:p>
            <a:pPr algn="ctr"/>
            <a:r>
              <a:rPr lang="zh-CN" altLang="en-US" sz="2200" dirty="0"/>
              <a:t>从文件中读取数据</a:t>
            </a:r>
            <a:endParaRPr lang="en-US" altLang="zh-CN" sz="2200" dirty="0"/>
          </a:p>
        </p:txBody>
      </p:sp>
      <p:pic>
        <p:nvPicPr>
          <p:cNvPr id="4" name="Picture 3">
            <a:extLst>
              <a:ext uri="{FF2B5EF4-FFF2-40B4-BE49-F238E27FC236}">
                <a16:creationId xmlns:a16="http://schemas.microsoft.com/office/drawing/2014/main" id="{55FAA295-4B0B-41D0-9684-4893DE0EFE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569" y="2438400"/>
            <a:ext cx="2076740" cy="1047896"/>
          </a:xfrm>
          <a:prstGeom prst="rect">
            <a:avLst/>
          </a:prstGeom>
          <a:ln>
            <a:solidFill>
              <a:schemeClr val="tx1"/>
            </a:solidFill>
          </a:ln>
        </p:spPr>
      </p:pic>
    </p:spTree>
    <p:custDataLst>
      <p:tags r:id="rId1"/>
    </p:custDataLst>
    <p:extLst>
      <p:ext uri="{BB962C8B-B14F-4D97-AF65-F5344CB8AC3E}">
        <p14:creationId xmlns:p14="http://schemas.microsoft.com/office/powerpoint/2010/main" val="158054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Run It  </a:t>
            </a:r>
            <a:r>
              <a:rPr lang="zh-CN" altLang="en-US" dirty="0">
                <a:ea typeface="ＭＳ Ｐゴシック" panose="020B0600070205080204" pitchFamily="34" charset="-128"/>
              </a:rPr>
              <a:t>运行之 </a:t>
            </a:r>
            <a:r>
              <a:rPr lang="en-US" altLang="zh-CN" dirty="0">
                <a:ea typeface="ＭＳ Ｐゴシック" panose="020B0600070205080204" pitchFamily="34" charset="-128"/>
              </a:rPr>
              <a:t>(2)</a:t>
            </a:r>
            <a:endParaRPr lang="zh-CN" altLang="en-US" dirty="0"/>
          </a:p>
        </p:txBody>
      </p:sp>
      <p:sp>
        <p:nvSpPr>
          <p:cNvPr id="8" name="TextBox 7">
            <a:extLst>
              <a:ext uri="{FF2B5EF4-FFF2-40B4-BE49-F238E27FC236}">
                <a16:creationId xmlns:a16="http://schemas.microsoft.com/office/drawing/2014/main" id="{FF640E0A-0D60-423C-93D7-008F60EB0CFA}"/>
              </a:ext>
            </a:extLst>
          </p:cNvPr>
          <p:cNvSpPr txBox="1"/>
          <p:nvPr/>
        </p:nvSpPr>
        <p:spPr>
          <a:xfrm>
            <a:off x="682226" y="1680071"/>
            <a:ext cx="7779546" cy="1107996"/>
          </a:xfrm>
          <a:prstGeom prst="rect">
            <a:avLst/>
          </a:prstGeom>
          <a:noFill/>
        </p:spPr>
        <p:txBody>
          <a:bodyPr wrap="square" rtlCol="0">
            <a:spAutoFit/>
          </a:bodyPr>
          <a:lstStyle/>
          <a:p>
            <a:pPr algn="ctr"/>
            <a:r>
              <a:rPr lang="en-US" altLang="zh-CN" sz="2200" dirty="0"/>
              <a:t>Initialize the random seed, create an instance of the convolutional neural network, &amp; evaluate the accuracy</a:t>
            </a:r>
          </a:p>
          <a:p>
            <a:pPr algn="ctr"/>
            <a:r>
              <a:rPr lang="zh-CN" altLang="en-US" sz="2200" dirty="0"/>
              <a:t>初始化随机种子，生成卷积神经网络的实例，然后评估准确率</a:t>
            </a:r>
            <a:endParaRPr lang="en-US" altLang="zh-CN" sz="2200" dirty="0"/>
          </a:p>
        </p:txBody>
      </p:sp>
      <p:pic>
        <p:nvPicPr>
          <p:cNvPr id="9" name="Picture 8">
            <a:extLst>
              <a:ext uri="{FF2B5EF4-FFF2-40B4-BE49-F238E27FC236}">
                <a16:creationId xmlns:a16="http://schemas.microsoft.com/office/drawing/2014/main" id="{38B7659F-910A-4591-91B2-D22DB946EC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2937" y="2819400"/>
            <a:ext cx="6325482" cy="1086002"/>
          </a:xfrm>
          <a:prstGeom prst="rect">
            <a:avLst/>
          </a:prstGeom>
          <a:ln>
            <a:solidFill>
              <a:srgbClr val="C00000"/>
            </a:solidFill>
          </a:ln>
        </p:spPr>
      </p:pic>
      <p:sp>
        <p:nvSpPr>
          <p:cNvPr id="11" name="TextBox 10">
            <a:extLst>
              <a:ext uri="{FF2B5EF4-FFF2-40B4-BE49-F238E27FC236}">
                <a16:creationId xmlns:a16="http://schemas.microsoft.com/office/drawing/2014/main" id="{82593EC8-96F4-417A-8EFD-7B951015154E}"/>
              </a:ext>
            </a:extLst>
          </p:cNvPr>
          <p:cNvSpPr txBox="1"/>
          <p:nvPr/>
        </p:nvSpPr>
        <p:spPr>
          <a:xfrm>
            <a:off x="304799" y="4114800"/>
            <a:ext cx="8534399" cy="430887"/>
          </a:xfrm>
          <a:prstGeom prst="rect">
            <a:avLst/>
          </a:prstGeom>
          <a:noFill/>
        </p:spPr>
        <p:txBody>
          <a:bodyPr wrap="square" rtlCol="0">
            <a:spAutoFit/>
          </a:bodyPr>
          <a:lstStyle/>
          <a:p>
            <a:pPr algn="ctr"/>
            <a:r>
              <a:rPr lang="en-US" altLang="zh-CN" sz="2200" dirty="0"/>
              <a:t>Run it  </a:t>
            </a:r>
            <a:r>
              <a:rPr lang="zh-CN" altLang="en-US" sz="2200" dirty="0"/>
              <a:t>运行之</a:t>
            </a:r>
            <a:endParaRPr lang="en-US" altLang="zh-CN" sz="2200" dirty="0"/>
          </a:p>
        </p:txBody>
      </p:sp>
    </p:spTree>
    <p:custDataLst>
      <p:tags r:id="rId1"/>
    </p:custDataLst>
    <p:extLst>
      <p:ext uri="{BB962C8B-B14F-4D97-AF65-F5344CB8AC3E}">
        <p14:creationId xmlns:p14="http://schemas.microsoft.com/office/powerpoint/2010/main" val="3253055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ctrTitle"/>
          </p:nvPr>
        </p:nvSpPr>
        <p:spPr>
          <a:xfrm>
            <a:off x="685800" y="2636838"/>
            <a:ext cx="7772400" cy="1470025"/>
          </a:xfrm>
        </p:spPr>
        <p:txBody>
          <a:bodyPr/>
          <a:lstStyle/>
          <a:p>
            <a:pPr algn="ctr" eaLnBrk="1" hangingPunct="1"/>
            <a:r>
              <a:rPr lang="en-US" altLang="ja-JP" b="1" dirty="0">
                <a:ea typeface="ＭＳ Ｐゴシック" panose="020B0600070205080204" pitchFamily="34" charset="-128"/>
              </a:rPr>
              <a:t>The End </a:t>
            </a:r>
            <a:endParaRPr lang="en-US" altLang="zh-CN" b="1" dirty="0">
              <a:ea typeface="SimSun" panose="02010600030101010101" pitchFamily="2"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15.1|13.4|3.6|2.1"/>
</p:tagLst>
</file>

<file path=ppt/tags/tag2.xml><?xml version="1.0" encoding="utf-8"?>
<p:tagLst xmlns:a="http://schemas.openxmlformats.org/drawingml/2006/main" xmlns:r="http://schemas.openxmlformats.org/officeDocument/2006/relationships" xmlns:p="http://schemas.openxmlformats.org/presentationml/2006/main">
  <p:tag name="TIMING" val="|10.2|75.8"/>
</p:tagLst>
</file>

<file path=ppt/tags/tag3.xml><?xml version="1.0" encoding="utf-8"?>
<p:tagLst xmlns:a="http://schemas.openxmlformats.org/drawingml/2006/main" xmlns:r="http://schemas.openxmlformats.org/officeDocument/2006/relationships" xmlns:p="http://schemas.openxmlformats.org/presentationml/2006/main">
  <p:tag name="TIMING" val="|3.4"/>
</p:tagLst>
</file>

<file path=ppt/tags/tag4.xml><?xml version="1.0" encoding="utf-8"?>
<p:tagLst xmlns:a="http://schemas.openxmlformats.org/drawingml/2006/main" xmlns:r="http://schemas.openxmlformats.org/officeDocument/2006/relationships" xmlns:p="http://schemas.openxmlformats.org/presentationml/2006/main">
  <p:tag name="TIMING" val="|1.6|55.3"/>
</p:tagLst>
</file>

<file path=ppt/tags/tag5.xml><?xml version="1.0" encoding="utf-8"?>
<p:tagLst xmlns:a="http://schemas.openxmlformats.org/drawingml/2006/main" xmlns:r="http://schemas.openxmlformats.org/officeDocument/2006/relationships" xmlns:p="http://schemas.openxmlformats.org/presentationml/2006/main">
  <p:tag name="TIMING" val="|0.8|97.6"/>
</p:tagLst>
</file>

<file path=ppt/tags/tag6.xml><?xml version="1.0" encoding="utf-8"?>
<p:tagLst xmlns:a="http://schemas.openxmlformats.org/drawingml/2006/main" xmlns:r="http://schemas.openxmlformats.org/officeDocument/2006/relationships" xmlns:p="http://schemas.openxmlformats.org/presentationml/2006/main">
  <p:tag name="TIMING" val="|2.1|148.8"/>
</p:tagLst>
</file>

<file path=ppt/tags/tag7.xml><?xml version="1.0" encoding="utf-8"?>
<p:tagLst xmlns:a="http://schemas.openxmlformats.org/drawingml/2006/main" xmlns:r="http://schemas.openxmlformats.org/officeDocument/2006/relationships" xmlns:p="http://schemas.openxmlformats.org/presentationml/2006/main">
  <p:tag name="TIMING" val="|11.9"/>
</p:tagLst>
</file>

<file path=ppt/tags/tag8.xml><?xml version="1.0" encoding="utf-8"?>
<p:tagLst xmlns:a="http://schemas.openxmlformats.org/drawingml/2006/main" xmlns:r="http://schemas.openxmlformats.org/officeDocument/2006/relationships" xmlns:p="http://schemas.openxmlformats.org/presentationml/2006/main">
  <p:tag name="TIMING" val="|1.6|44.9"/>
</p:tagLst>
</file>

<file path=ppt/tags/tag9.xml><?xml version="1.0" encoding="utf-8"?>
<p:tagLst xmlns:a="http://schemas.openxmlformats.org/drawingml/2006/main" xmlns:r="http://schemas.openxmlformats.org/officeDocument/2006/relationships" xmlns:p="http://schemas.openxmlformats.org/presentationml/2006/main">
  <p:tag name="TIMING" val="|2.5|50.9"/>
</p:tagLst>
</file>

<file path=ppt/tags/tag10.xml><?xml version="1.0" encoding="utf-8"?>
<p:tagLst xmlns:a="http://schemas.openxmlformats.org/drawingml/2006/main" xmlns:r="http://schemas.openxmlformats.org/officeDocument/2006/relationships" xmlns:p="http://schemas.openxmlformats.org/presentationml/2006/main">
  <p:tag name="TIMING" val="|1.9|16.3"/>
</p:tagLst>
</file>

<file path=ppt/tags/tag11.xml><?xml version="1.0" encoding="utf-8"?>
<p:tagLst xmlns:a="http://schemas.openxmlformats.org/drawingml/2006/main" xmlns:r="http://schemas.openxmlformats.org/officeDocument/2006/relationships" xmlns:p="http://schemas.openxmlformats.org/presentationml/2006/main">
  <p:tag name="TIMING" val="|1|137.1"/>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18302</TotalTime>
  <Words>1153</Words>
  <Application>Microsoft Office PowerPoint</Application>
  <PresentationFormat>On-screen Show (4:3)</PresentationFormat>
  <Paragraphs>104</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ＭＳ Ｐゴシック</vt:lpstr>
      <vt:lpstr>SimSun</vt:lpstr>
      <vt:lpstr>等线</vt:lpstr>
      <vt:lpstr>Arial</vt:lpstr>
      <vt:lpstr>Comic Sans MS</vt:lpstr>
      <vt:lpstr>Tahoma</vt:lpstr>
      <vt:lpstr>Times New Roman</vt:lpstr>
      <vt:lpstr>Wingdings</vt:lpstr>
      <vt:lpstr>Blends</vt:lpstr>
      <vt:lpstr>Cookbook for Practice 11.1</vt:lpstr>
      <vt:lpstr>Preparation  准备工作</vt:lpstr>
      <vt:lpstr>CNN for USPS 用于USPS的卷积神经网络 (1)</vt:lpstr>
      <vt:lpstr>CNN for USPS 用于USPS的卷积神经网络 (2)</vt:lpstr>
      <vt:lpstr>CNN for USPS 用于USPS的卷积神经网络 (3)</vt:lpstr>
      <vt:lpstr>CNN for USPS 用于USPS的卷积神经网络 (4)</vt:lpstr>
      <vt:lpstr>CNN for USPS 用于USPS的卷积神经网络 (5)</vt:lpstr>
      <vt:lpstr>CNN for USPS 用于USPS的卷积神经网络 (5)</vt:lpstr>
      <vt:lpstr>CNN for USPS 用于USPS的卷积神经网络 (5)</vt:lpstr>
      <vt:lpstr>CNN for USPS 用于USPS的卷积神经网络 (5)</vt:lpstr>
      <vt:lpstr>CNN for USPS 用于USPS的卷积神经网络 (5)</vt:lpstr>
      <vt:lpstr>CNN for USPS 用于USPS的卷积神经网络 (5)</vt:lpstr>
      <vt:lpstr>CNN for USPS 用于USPS的卷积神经网络 (6)</vt:lpstr>
      <vt:lpstr>CNN for USPS 用于USPS的卷积神经网络 (7)</vt:lpstr>
      <vt:lpstr>Run It  运行之 (1)</vt:lpstr>
      <vt:lpstr>Run It  运行之 (2)</vt:lpstr>
      <vt:lpstr>The End </vt:lpstr>
    </vt:vector>
  </TitlesOfParts>
  <Company>Children's Computer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Basics: 1. General Introduction</dc:title>
  <dc:creator>Cong Li</dc:creator>
  <cp:keywords>CTPClassification=CTP_NT</cp:keywords>
  <cp:lastModifiedBy>Li, Cong</cp:lastModifiedBy>
  <cp:revision>1424</cp:revision>
  <dcterms:created xsi:type="dcterms:W3CDTF">2003-03-13T01:36:43Z</dcterms:created>
  <dcterms:modified xsi:type="dcterms:W3CDTF">2024-05-25T09:28:20Z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d4c30054-39fe-4645-8043-55a61c37087a</vt:lpwstr>
  </property>
  <property fmtid="{D5CDD505-2E9C-101B-9397-08002B2CF9AE}" pid="3" name="CTP_TimeStamp">
    <vt:lpwstr>2020-02-06 11:24:32Z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ies>
</file>