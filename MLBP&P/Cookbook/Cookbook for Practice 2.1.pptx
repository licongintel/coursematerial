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1"/>
  </p:notesMasterIdLst>
  <p:handoutMasterIdLst>
    <p:handoutMasterId r:id="rId22"/>
  </p:handoutMasterIdLst>
  <p:sldIdLst>
    <p:sldId id="286" r:id="rId2"/>
    <p:sldId id="430" r:id="rId3"/>
    <p:sldId id="431" r:id="rId4"/>
    <p:sldId id="415" r:id="rId5"/>
    <p:sldId id="416" r:id="rId6"/>
    <p:sldId id="417" r:id="rId7"/>
    <p:sldId id="418" r:id="rId8"/>
    <p:sldId id="419" r:id="rId9"/>
    <p:sldId id="420" r:id="rId10"/>
    <p:sldId id="421" r:id="rId11"/>
    <p:sldId id="423" r:id="rId12"/>
    <p:sldId id="422" r:id="rId13"/>
    <p:sldId id="425" r:id="rId14"/>
    <p:sldId id="424" r:id="rId15"/>
    <p:sldId id="426" r:id="rId16"/>
    <p:sldId id="427" r:id="rId17"/>
    <p:sldId id="428" r:id="rId18"/>
    <p:sldId id="429" r:id="rId19"/>
    <p:sldId id="353" r:id="rId20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30170-CA9F-4AE0-B3AE-A7C42502B76C}" v="8" dt="2022-09-24T00:30:51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80897" autoAdjust="0"/>
  </p:normalViewPr>
  <p:slideViewPr>
    <p:cSldViewPr>
      <p:cViewPr varScale="1">
        <p:scale>
          <a:sx n="61" d="100"/>
          <a:sy n="61" d="100"/>
        </p:scale>
        <p:origin x="80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E2F30170-CA9F-4AE0-B3AE-A7C42502B76C}"/>
    <pc:docChg chg="modSld">
      <pc:chgData name="Li, Cong" userId="025630f4-267e-4cb3-8cd5-8795177f99f4" providerId="ADAL" clId="{E2F30170-CA9F-4AE0-B3AE-A7C42502B76C}" dt="2022-09-24T00:30:51.943" v="7" actId="313"/>
      <pc:docMkLst>
        <pc:docMk/>
      </pc:docMkLst>
      <pc:sldChg chg="modSp">
        <pc:chgData name="Li, Cong" userId="025630f4-267e-4cb3-8cd5-8795177f99f4" providerId="ADAL" clId="{E2F30170-CA9F-4AE0-B3AE-A7C42502B76C}" dt="2022-09-24T00:30:51.943" v="7" actId="313"/>
        <pc:sldMkLst>
          <pc:docMk/>
          <pc:sldMk cId="288482214" sldId="420"/>
        </pc:sldMkLst>
        <pc:spChg chg="mod">
          <ac:chgData name="Li, Cong" userId="025630f4-267e-4cb3-8cd5-8795177f99f4" providerId="ADAL" clId="{E2F30170-CA9F-4AE0-B3AE-A7C42502B76C}" dt="2022-09-24T00:30:51.943" v="7" actId="313"/>
          <ac:spMkLst>
            <pc:docMk/>
            <pc:sldMk cId="288482214" sldId="420"/>
            <ac:spMk id="13" creationId="{3828AFFD-B9F9-4730-AF39-EA670241C4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22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5075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2.1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2.1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Preparation </a:t>
            </a:r>
            <a:r>
              <a:rPr lang="zh-CN" altLang="en-US" dirty="0">
                <a:ea typeface="ＭＳ Ｐゴシック" panose="020B0600070205080204" pitchFamily="34" charset="-128"/>
              </a:rPr>
              <a:t>准备工作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Install Python 3.x (to a specific directory)</a:t>
            </a:r>
          </a:p>
          <a:p>
            <a:pPr algn="ctr"/>
            <a:r>
              <a:rPr lang="zh-CN" altLang="en-US" sz="2200" dirty="0"/>
              <a:t>（在一个特定目录下）安装</a:t>
            </a:r>
            <a:r>
              <a:rPr lang="en-US" altLang="zh-CN" sz="2200" dirty="0"/>
              <a:t>Python 3.x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25A10-7F8F-4460-93BC-BB783348120D}"/>
              </a:ext>
            </a:extLst>
          </p:cNvPr>
          <p:cNvSpPr txBox="1"/>
          <p:nvPr/>
        </p:nvSpPr>
        <p:spPr>
          <a:xfrm>
            <a:off x="419100" y="3124200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Look at the data file &amp; understand the format</a:t>
            </a:r>
          </a:p>
          <a:p>
            <a:pPr algn="ctr"/>
            <a:r>
              <a:rPr lang="zh-CN" altLang="en-US" sz="2200" dirty="0"/>
              <a:t>看看数据文件，理解格式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484DB-18A5-4AC7-BC5B-86D22E372163}"/>
              </a:ext>
            </a:extLst>
          </p:cNvPr>
          <p:cNvSpPr txBox="1"/>
          <p:nvPr/>
        </p:nvSpPr>
        <p:spPr>
          <a:xfrm>
            <a:off x="419100" y="2351316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Go to the subdirectory ‘&lt;</a:t>
            </a:r>
            <a:r>
              <a:rPr lang="en-US" altLang="zh-CN" sz="2200" dirty="0" err="1"/>
              <a:t>install_dir</a:t>
            </a:r>
            <a:r>
              <a:rPr lang="en-US" altLang="zh-CN" sz="2200" dirty="0"/>
              <a:t>&gt;\lib\</a:t>
            </a:r>
            <a:r>
              <a:rPr lang="en-US" altLang="zh-CN" sz="2200" dirty="0" err="1"/>
              <a:t>idlelib</a:t>
            </a:r>
            <a:r>
              <a:rPr lang="en-US" altLang="zh-CN" sz="2200" dirty="0"/>
              <a:t>’ &amp; run ‘idle.bat’</a:t>
            </a:r>
          </a:p>
          <a:p>
            <a:pPr algn="ctr"/>
            <a:r>
              <a:rPr lang="zh-CN" altLang="en-US" sz="2200" dirty="0"/>
              <a:t>进入子目录“</a:t>
            </a:r>
            <a:r>
              <a:rPr lang="en-US" altLang="zh-CN" sz="2200" dirty="0"/>
              <a:t>&lt;</a:t>
            </a:r>
            <a:r>
              <a:rPr lang="en-US" altLang="zh-CN" sz="2200" dirty="0" err="1"/>
              <a:t>install_dir</a:t>
            </a:r>
            <a:r>
              <a:rPr lang="en-US" altLang="zh-CN" sz="2200" dirty="0"/>
              <a:t>&gt;\lib\</a:t>
            </a:r>
            <a:r>
              <a:rPr lang="en-US" altLang="zh-CN" sz="2200" dirty="0" err="1"/>
              <a:t>idlelib</a:t>
            </a:r>
            <a:r>
              <a:rPr lang="zh-CN" altLang="en-US" sz="2200" dirty="0"/>
              <a:t>”，运行“</a:t>
            </a:r>
            <a:r>
              <a:rPr lang="en-US" altLang="zh-CN" sz="2200" dirty="0"/>
              <a:t>idle.bat</a:t>
            </a:r>
            <a:r>
              <a:rPr lang="zh-CN" altLang="en-US" sz="2200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10AF7-58D3-4911-938F-772EF901E742}"/>
              </a:ext>
            </a:extLst>
          </p:cNvPr>
          <p:cNvSpPr txBox="1"/>
          <p:nvPr/>
        </p:nvSpPr>
        <p:spPr>
          <a:xfrm>
            <a:off x="419100" y="3931741"/>
            <a:ext cx="7200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7 1:-1.000000 2:-1.000000 3:-1.000000 4:-0.999997 …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6 1:-0.999927 2:-0.993644 3:-0.900309 4:-0.632621 …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5 1:-1.000000 2:-1.000000 3:-1.000000 4:-0.999995 …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CD09B1-DA8B-4F69-9FBC-74861FC4D73C}"/>
              </a:ext>
            </a:extLst>
          </p:cNvPr>
          <p:cNvGrpSpPr/>
          <p:nvPr/>
        </p:nvGrpSpPr>
        <p:grpSpPr>
          <a:xfrm>
            <a:off x="228600" y="3893641"/>
            <a:ext cx="2667000" cy="2512603"/>
            <a:chOff x="228600" y="3893641"/>
            <a:chExt cx="2667000" cy="251260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84488D0-9D37-4EB5-A6E4-A91034596464}"/>
                </a:ext>
              </a:extLst>
            </p:cNvPr>
            <p:cNvSpPr/>
            <p:nvPr/>
          </p:nvSpPr>
          <p:spPr bwMode="auto">
            <a:xfrm>
              <a:off x="419100" y="3893641"/>
              <a:ext cx="315686" cy="1135559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78F60E3-652A-452E-B781-F324C0ED239A}"/>
                </a:ext>
              </a:extLst>
            </p:cNvPr>
            <p:cNvSpPr txBox="1"/>
            <p:nvPr/>
          </p:nvSpPr>
          <p:spPr>
            <a:xfrm>
              <a:off x="228600" y="5636803"/>
              <a:ext cx="2667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Ground truth class</a:t>
              </a:r>
            </a:p>
            <a:p>
              <a:pPr algn="ctr"/>
              <a:r>
                <a:rPr lang="zh-CN" altLang="en-US" sz="2200" dirty="0"/>
                <a:t>真实类别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608710B-4672-47D3-8560-2092B4D5BA7E}"/>
                </a:ext>
              </a:extLst>
            </p:cNvPr>
            <p:cNvCxnSpPr>
              <a:stCxn id="17" idx="0"/>
              <a:endCxn id="3" idx="2"/>
            </p:cNvCxnSpPr>
            <p:nvPr/>
          </p:nvCxnSpPr>
          <p:spPr bwMode="auto">
            <a:xfrm flipH="1" flipV="1">
              <a:off x="576943" y="5029200"/>
              <a:ext cx="985157" cy="60760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5837C0-084F-4164-8BB4-D080D6B4D72E}"/>
              </a:ext>
            </a:extLst>
          </p:cNvPr>
          <p:cNvGrpSpPr/>
          <p:nvPr/>
        </p:nvGrpSpPr>
        <p:grpSpPr>
          <a:xfrm>
            <a:off x="734786" y="3871873"/>
            <a:ext cx="6656614" cy="2512603"/>
            <a:chOff x="734786" y="3871873"/>
            <a:chExt cx="6656614" cy="251260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66FCB38-7D73-4CC0-8C50-0434CB1DFC09}"/>
                </a:ext>
              </a:extLst>
            </p:cNvPr>
            <p:cNvSpPr/>
            <p:nvPr/>
          </p:nvSpPr>
          <p:spPr bwMode="auto">
            <a:xfrm>
              <a:off x="734786" y="3871873"/>
              <a:ext cx="6656614" cy="1135559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3F837A-8120-4A71-8066-1886ACFBC1D8}"/>
                </a:ext>
              </a:extLst>
            </p:cNvPr>
            <p:cNvSpPr txBox="1"/>
            <p:nvPr/>
          </p:nvSpPr>
          <p:spPr>
            <a:xfrm>
              <a:off x="3848100" y="5615035"/>
              <a:ext cx="2667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Data (attributes)</a:t>
              </a:r>
            </a:p>
            <a:p>
              <a:pPr algn="ctr"/>
              <a:r>
                <a:rPr lang="zh-CN" altLang="en-US" sz="2200" dirty="0"/>
                <a:t>数据（属性）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336C327-0460-4339-A45B-079CB87D6411}"/>
                </a:ext>
              </a:extLst>
            </p:cNvPr>
            <p:cNvCxnSpPr>
              <a:cxnSpLocks/>
              <a:stCxn id="21" idx="0"/>
              <a:endCxn id="20" idx="2"/>
            </p:cNvCxnSpPr>
            <p:nvPr/>
          </p:nvCxnSpPr>
          <p:spPr bwMode="auto">
            <a:xfrm flipH="1" flipV="1">
              <a:off x="4063093" y="5007432"/>
              <a:ext cx="1118507" cy="60760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1022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Preparation </a:t>
            </a:r>
            <a:r>
              <a:rPr lang="zh-CN" altLang="en-US" dirty="0">
                <a:ea typeface="ＭＳ Ｐゴシック" panose="020B0600070205080204" pitchFamily="34" charset="-128"/>
              </a:rPr>
              <a:t>准备工作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Install Python 3.x (to a specific directory)</a:t>
            </a:r>
          </a:p>
          <a:p>
            <a:pPr algn="ctr"/>
            <a:r>
              <a:rPr lang="zh-CN" altLang="en-US" sz="2200" dirty="0"/>
              <a:t>（在一个特定目录下）安装</a:t>
            </a:r>
            <a:r>
              <a:rPr lang="en-US" altLang="zh-CN" sz="2200" dirty="0"/>
              <a:t>Python 3.x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25A10-7F8F-4460-93BC-BB783348120D}"/>
              </a:ext>
            </a:extLst>
          </p:cNvPr>
          <p:cNvSpPr txBox="1"/>
          <p:nvPr/>
        </p:nvSpPr>
        <p:spPr>
          <a:xfrm>
            <a:off x="419100" y="3124200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Look at the data file &amp; understand the format</a:t>
            </a:r>
          </a:p>
          <a:p>
            <a:pPr algn="ctr"/>
            <a:r>
              <a:rPr lang="zh-CN" altLang="en-US" sz="2200" dirty="0"/>
              <a:t>看看数据文件，理解格式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484DB-18A5-4AC7-BC5B-86D22E372163}"/>
              </a:ext>
            </a:extLst>
          </p:cNvPr>
          <p:cNvSpPr txBox="1"/>
          <p:nvPr/>
        </p:nvSpPr>
        <p:spPr>
          <a:xfrm>
            <a:off x="419100" y="2351316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Go to the subdirectory ‘&lt;</a:t>
            </a:r>
            <a:r>
              <a:rPr lang="en-US" altLang="zh-CN" sz="2200" dirty="0" err="1"/>
              <a:t>install_dir</a:t>
            </a:r>
            <a:r>
              <a:rPr lang="en-US" altLang="zh-CN" sz="2200" dirty="0"/>
              <a:t>&gt;\lib\</a:t>
            </a:r>
            <a:r>
              <a:rPr lang="en-US" altLang="zh-CN" sz="2200" dirty="0" err="1"/>
              <a:t>idlelib</a:t>
            </a:r>
            <a:r>
              <a:rPr lang="en-US" altLang="zh-CN" sz="2200" dirty="0"/>
              <a:t>’ &amp; run ‘idle.bat’</a:t>
            </a:r>
          </a:p>
          <a:p>
            <a:pPr algn="ctr"/>
            <a:r>
              <a:rPr lang="zh-CN" altLang="en-US" sz="2200" dirty="0"/>
              <a:t>进入子目录“</a:t>
            </a:r>
            <a:r>
              <a:rPr lang="en-US" altLang="zh-CN" sz="2200" dirty="0"/>
              <a:t>&lt;</a:t>
            </a:r>
            <a:r>
              <a:rPr lang="en-US" altLang="zh-CN" sz="2200" dirty="0" err="1"/>
              <a:t>install_dir</a:t>
            </a:r>
            <a:r>
              <a:rPr lang="en-US" altLang="zh-CN" sz="2200" dirty="0"/>
              <a:t>&gt;\lib\</a:t>
            </a:r>
            <a:r>
              <a:rPr lang="en-US" altLang="zh-CN" sz="2200" dirty="0" err="1"/>
              <a:t>idlelib</a:t>
            </a:r>
            <a:r>
              <a:rPr lang="zh-CN" altLang="en-US" sz="2200" dirty="0"/>
              <a:t>”，运行“</a:t>
            </a:r>
            <a:r>
              <a:rPr lang="en-US" altLang="zh-CN" sz="2200" dirty="0"/>
              <a:t>idle.bat</a:t>
            </a:r>
            <a:r>
              <a:rPr lang="zh-CN" altLang="en-US" sz="2200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10AF7-58D3-4911-938F-772EF901E742}"/>
              </a:ext>
            </a:extLst>
          </p:cNvPr>
          <p:cNvSpPr txBox="1"/>
          <p:nvPr/>
        </p:nvSpPr>
        <p:spPr>
          <a:xfrm>
            <a:off x="419100" y="3931741"/>
            <a:ext cx="7200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7 1:-1.000000 2:-1.000000 3:-1.000000 4:-0.999997 …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6 1:-0.999927 2:-0.993644 3:-0.900309 4:-0.632621 …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5 1:-1.000000 2:-1.000000 3:-1.000000 4:-0.999995 …</a:t>
            </a:r>
          </a:p>
          <a:p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CD09B1-DA8B-4F69-9FBC-74861FC4D73C}"/>
              </a:ext>
            </a:extLst>
          </p:cNvPr>
          <p:cNvGrpSpPr/>
          <p:nvPr/>
        </p:nvGrpSpPr>
        <p:grpSpPr>
          <a:xfrm>
            <a:off x="3619500" y="4345398"/>
            <a:ext cx="5105400" cy="1802334"/>
            <a:chOff x="-1485900" y="3893642"/>
            <a:chExt cx="5105400" cy="180233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84488D0-9D37-4EB5-A6E4-A91034596464}"/>
                </a:ext>
              </a:extLst>
            </p:cNvPr>
            <p:cNvSpPr/>
            <p:nvPr/>
          </p:nvSpPr>
          <p:spPr bwMode="auto">
            <a:xfrm>
              <a:off x="304800" y="3893642"/>
              <a:ext cx="1524000" cy="302802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78F60E3-652A-452E-B781-F324C0ED239A}"/>
                </a:ext>
              </a:extLst>
            </p:cNvPr>
            <p:cNvSpPr txBox="1"/>
            <p:nvPr/>
          </p:nvSpPr>
          <p:spPr>
            <a:xfrm>
              <a:off x="-1485900" y="4926535"/>
              <a:ext cx="51054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The 4th attribute value is -0.632621</a:t>
              </a:r>
            </a:p>
            <a:p>
              <a:pPr algn="ctr"/>
              <a:r>
                <a:rPr lang="zh-CN" altLang="en-US" sz="2200" dirty="0"/>
                <a:t>第</a:t>
              </a:r>
              <a:r>
                <a:rPr lang="en-US" altLang="zh-CN" sz="2200" dirty="0"/>
                <a:t>4</a:t>
              </a:r>
              <a:r>
                <a:rPr lang="zh-CN" altLang="en-US" sz="2200" dirty="0"/>
                <a:t>个属性值是</a:t>
              </a:r>
              <a:r>
                <a:rPr lang="en-US" altLang="zh-CN" sz="2200" dirty="0"/>
                <a:t>-0.632621</a:t>
              </a:r>
              <a:endParaRPr lang="zh-CN" altLang="en-US" sz="22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608710B-4672-47D3-8560-2092B4D5BA7E}"/>
                </a:ext>
              </a:extLst>
            </p:cNvPr>
            <p:cNvCxnSpPr>
              <a:cxnSpLocks/>
              <a:stCxn id="17" idx="0"/>
              <a:endCxn id="3" idx="2"/>
            </p:cNvCxnSpPr>
            <p:nvPr/>
          </p:nvCxnSpPr>
          <p:spPr bwMode="auto">
            <a:xfrm flipV="1">
              <a:off x="1066800" y="4196444"/>
              <a:ext cx="0" cy="7300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74210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Let’s Start </a:t>
            </a:r>
            <a:r>
              <a:rPr lang="zh-CN" altLang="en-US" dirty="0">
                <a:ea typeface="ＭＳ Ｐゴシック" panose="020B0600070205080204" pitchFamily="34" charset="-128"/>
              </a:rPr>
              <a:t>让我们开始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in IDLE &amp; write a simple ‘main’ section</a:t>
            </a:r>
          </a:p>
          <a:p>
            <a:pPr algn="ctr"/>
            <a:r>
              <a:rPr lang="zh-CN" altLang="en-US" sz="2200" dirty="0"/>
              <a:t>在</a:t>
            </a:r>
            <a:r>
              <a:rPr lang="en-US" altLang="zh-CN" sz="2200" dirty="0"/>
              <a:t>IDLE</a:t>
            </a:r>
            <a:r>
              <a:rPr lang="zh-CN" altLang="en-US" sz="2200" dirty="0"/>
              <a:t>中创建一个新文件，写一个简单的</a:t>
            </a:r>
            <a:r>
              <a:rPr lang="en-US" altLang="zh-CN" sz="2200" dirty="0"/>
              <a:t>main</a:t>
            </a:r>
            <a:r>
              <a:rPr lang="zh-CN" altLang="en-US" sz="2200" dirty="0"/>
              <a:t>部分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558886-A59C-4A60-A7CC-8D4136ED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148" y="2514600"/>
            <a:ext cx="5349704" cy="5791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1DE95C-482F-43CB-B448-12615BEBB370}"/>
              </a:ext>
            </a:extLst>
          </p:cNvPr>
          <p:cNvSpPr txBox="1"/>
          <p:nvPr/>
        </p:nvSpPr>
        <p:spPr>
          <a:xfrm>
            <a:off x="609600" y="441005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solidFill>
                  <a:srgbClr val="C00000"/>
                </a:solidFill>
              </a:rPr>
              <a:t>Note: indentation after ‘:’ is mandatory in Python</a:t>
            </a:r>
          </a:p>
          <a:p>
            <a:pPr algn="ctr"/>
            <a:r>
              <a:rPr lang="zh-CN" altLang="en-US" sz="2200" dirty="0">
                <a:solidFill>
                  <a:srgbClr val="C00000"/>
                </a:solidFill>
              </a:rPr>
              <a:t>注意：在</a:t>
            </a:r>
            <a:r>
              <a:rPr lang="en-US" altLang="zh-CN" sz="2200" dirty="0">
                <a:solidFill>
                  <a:srgbClr val="C00000"/>
                </a:solidFill>
              </a:rPr>
              <a:t>Python</a:t>
            </a:r>
            <a:r>
              <a:rPr lang="zh-CN" altLang="en-US" sz="2200" dirty="0">
                <a:solidFill>
                  <a:srgbClr val="C00000"/>
                </a:solidFill>
              </a:rPr>
              <a:t>里，“</a:t>
            </a:r>
            <a:r>
              <a:rPr lang="en-US" altLang="zh-CN" sz="2200" dirty="0">
                <a:solidFill>
                  <a:srgbClr val="C00000"/>
                </a:solidFill>
              </a:rPr>
              <a:t>:</a:t>
            </a:r>
            <a:r>
              <a:rPr lang="zh-CN" altLang="en-US" sz="2200" dirty="0">
                <a:solidFill>
                  <a:srgbClr val="C00000"/>
                </a:solidFill>
              </a:rPr>
              <a:t>”之后的缩进是必须的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BD5F01-77FC-49FB-82DC-CA94A4C15085}"/>
              </a:ext>
            </a:extLst>
          </p:cNvPr>
          <p:cNvSpPr txBox="1"/>
          <p:nvPr/>
        </p:nvSpPr>
        <p:spPr>
          <a:xfrm>
            <a:off x="914400" y="3235404"/>
            <a:ext cx="6934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‘if’ statement in Python    </a:t>
            </a:r>
            <a:r>
              <a:rPr lang="en-US" altLang="zh-CN" sz="2200" dirty="0" err="1"/>
              <a:t>Python</a:t>
            </a:r>
            <a:r>
              <a:rPr lang="zh-CN" altLang="en-US" sz="2200" dirty="0"/>
              <a:t>中的“</a:t>
            </a:r>
            <a:r>
              <a:rPr lang="en-US" altLang="zh-CN" sz="2200" dirty="0"/>
              <a:t>if</a:t>
            </a:r>
            <a:r>
              <a:rPr lang="zh-CN" altLang="en-US" sz="2200" dirty="0"/>
              <a:t>”语句：</a:t>
            </a:r>
            <a:endParaRPr lang="en-US" altLang="zh-CN" sz="2200" dirty="0"/>
          </a:p>
          <a:p>
            <a:r>
              <a:rPr lang="en-US" altLang="zh-CN" sz="2200" dirty="0"/>
              <a:t>	</a:t>
            </a:r>
            <a:r>
              <a:rPr lang="en-US" altLang="zh-CN" sz="2200" b="1" dirty="0"/>
              <a:t>if</a:t>
            </a:r>
            <a:r>
              <a:rPr lang="en-US" altLang="zh-CN" sz="2200" dirty="0"/>
              <a:t> …</a:t>
            </a:r>
            <a:r>
              <a:rPr lang="en-US" altLang="zh-CN" sz="2200" b="1" dirty="0"/>
              <a:t>:</a:t>
            </a:r>
          </a:p>
          <a:p>
            <a:r>
              <a:rPr lang="en-US" altLang="zh-CN" sz="2200" dirty="0"/>
              <a:t>	    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C01136-8DBE-4D87-9492-FFDD362938AC}"/>
              </a:ext>
            </a:extLst>
          </p:cNvPr>
          <p:cNvSpPr txBox="1"/>
          <p:nvPr/>
        </p:nvSpPr>
        <p:spPr>
          <a:xfrm>
            <a:off x="623047" y="5257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Save as ‘test.py’ &amp; run it in IDLE w/ F5  </a:t>
            </a:r>
          </a:p>
          <a:p>
            <a:pPr algn="ctr"/>
            <a:r>
              <a:rPr lang="zh-CN" altLang="en-US" sz="2200" dirty="0"/>
              <a:t>在</a:t>
            </a:r>
            <a:r>
              <a:rPr lang="en-US" altLang="zh-CN" sz="2200" dirty="0"/>
              <a:t>IDLE</a:t>
            </a:r>
            <a:r>
              <a:rPr lang="zh-CN" altLang="en-US" sz="2200" dirty="0"/>
              <a:t>中存为“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”，按</a:t>
            </a:r>
            <a:r>
              <a:rPr lang="en-US" altLang="zh-CN" sz="2200" dirty="0"/>
              <a:t>F5</a:t>
            </a:r>
            <a:r>
              <a:rPr lang="zh-CN" altLang="en-US" sz="2200" dirty="0"/>
              <a:t>运行之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Encapsulate Functions in Class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把函数嵌入类型中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file ‘uspsData.py’ &amp; start w/ a </a:t>
            </a:r>
            <a:r>
              <a:rPr lang="en-US" altLang="zh-CN" sz="2200" dirty="0">
                <a:solidFill>
                  <a:srgbClr val="FF0000"/>
                </a:solidFill>
              </a:rPr>
              <a:t>class</a:t>
            </a:r>
          </a:p>
          <a:p>
            <a:pPr algn="ctr"/>
            <a:r>
              <a:rPr lang="zh-CN" altLang="en-US" sz="2200" dirty="0"/>
              <a:t>在</a:t>
            </a:r>
            <a:r>
              <a:rPr lang="en-US" altLang="zh-CN" sz="2200" dirty="0"/>
              <a:t>IDLE</a:t>
            </a:r>
            <a:r>
              <a:rPr lang="zh-CN" altLang="en-US" sz="2200" dirty="0"/>
              <a:t>中创建文件“</a:t>
            </a:r>
            <a:r>
              <a:rPr lang="en-US" altLang="zh-CN" sz="2200" dirty="0"/>
              <a:t>uspsData.py</a:t>
            </a:r>
            <a:r>
              <a:rPr lang="zh-CN" altLang="en-US" sz="2200" dirty="0"/>
              <a:t>”，从一个</a:t>
            </a:r>
            <a:r>
              <a:rPr lang="zh-CN" altLang="en-US" sz="2200" dirty="0">
                <a:solidFill>
                  <a:srgbClr val="FF0000"/>
                </a:solidFill>
              </a:rPr>
              <a:t>类型</a:t>
            </a:r>
            <a:r>
              <a:rPr lang="zh-CN" altLang="en-US" sz="2200" dirty="0"/>
              <a:t>开始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1DE95C-482F-43CB-B448-12615BEBB370}"/>
              </a:ext>
            </a:extLst>
          </p:cNvPr>
          <p:cNvSpPr txBox="1"/>
          <p:nvPr/>
        </p:nvSpPr>
        <p:spPr>
          <a:xfrm>
            <a:off x="609600" y="48006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solidFill>
                  <a:srgbClr val="C00000"/>
                </a:solidFill>
              </a:rPr>
              <a:t>Pay attention to indentation </a:t>
            </a:r>
            <a:r>
              <a:rPr lang="zh-CN" altLang="en-US" sz="2200" dirty="0">
                <a:solidFill>
                  <a:srgbClr val="C00000"/>
                </a:solidFill>
              </a:rPr>
              <a:t>注意缩进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2C4FED-2967-426B-868B-2358E3EB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445841"/>
            <a:ext cx="3398814" cy="4267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FC70DC3-1A0F-4DAD-A341-25E430EF993F}"/>
              </a:ext>
            </a:extLst>
          </p:cNvPr>
          <p:cNvSpPr txBox="1"/>
          <p:nvPr/>
        </p:nvSpPr>
        <p:spPr>
          <a:xfrm>
            <a:off x="591671" y="2865542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an initialization function ‘__</a:t>
            </a:r>
            <a:r>
              <a:rPr lang="en-US" altLang="zh-CN" sz="2200" dirty="0" err="1"/>
              <a:t>init</a:t>
            </a:r>
            <a:r>
              <a:rPr lang="en-US" altLang="zh-CN" sz="2200" dirty="0"/>
              <a:t>__’</a:t>
            </a:r>
            <a:r>
              <a:rPr lang="zh-CN" altLang="en-US" sz="2200" dirty="0"/>
              <a:t> </a:t>
            </a:r>
            <a:r>
              <a:rPr lang="en-US" altLang="zh-CN" sz="2200" dirty="0"/>
              <a:t>w/ an argument ‘filename’ passed in &amp; printed </a:t>
            </a:r>
            <a:r>
              <a:rPr lang="zh-CN" altLang="en-US" sz="2200" dirty="0"/>
              <a:t>写一个初始化函数“</a:t>
            </a:r>
            <a:r>
              <a:rPr lang="en-US" altLang="zh-CN" sz="2200" dirty="0"/>
              <a:t>__</a:t>
            </a:r>
            <a:r>
              <a:rPr lang="en-US" altLang="zh-CN" sz="2200" dirty="0" err="1"/>
              <a:t>init</a:t>
            </a:r>
            <a:r>
              <a:rPr lang="en-US" altLang="zh-CN" sz="2200" dirty="0"/>
              <a:t>__</a:t>
            </a:r>
            <a:r>
              <a:rPr lang="zh-CN" altLang="en-US" sz="2200" dirty="0"/>
              <a:t>”，传入一个参数“</a:t>
            </a:r>
            <a:r>
              <a:rPr lang="en-US" altLang="zh-CN" sz="2200" dirty="0"/>
              <a:t>filename</a:t>
            </a:r>
            <a:r>
              <a:rPr lang="zh-CN" altLang="en-US" sz="2200" dirty="0"/>
              <a:t>”并将其输出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07FF46-68D6-4E52-B01E-B69AE7100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093424"/>
            <a:ext cx="3993226" cy="6096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E6132FE-61E9-4DCF-9007-6A1E6B066200}"/>
              </a:ext>
            </a:extLst>
          </p:cNvPr>
          <p:cNvSpPr txBox="1"/>
          <p:nvPr/>
        </p:nvSpPr>
        <p:spPr>
          <a:xfrm>
            <a:off x="609600" y="5176611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When we initialize an </a:t>
            </a:r>
            <a:r>
              <a:rPr lang="en-US" altLang="zh-CN" sz="2200" dirty="0">
                <a:solidFill>
                  <a:srgbClr val="FF0000"/>
                </a:solidFill>
              </a:rPr>
              <a:t>instance</a:t>
            </a:r>
            <a:r>
              <a:rPr lang="en-US" altLang="zh-CN" sz="2200" dirty="0"/>
              <a:t> of a class, the function will be called  </a:t>
            </a:r>
            <a:r>
              <a:rPr lang="zh-CN" altLang="en-US" sz="2200" dirty="0"/>
              <a:t>当我们生成类型的一个</a:t>
            </a:r>
            <a:r>
              <a:rPr lang="zh-CN" altLang="en-US" sz="2200" dirty="0">
                <a:solidFill>
                  <a:srgbClr val="FF0000"/>
                </a:solidFill>
              </a:rPr>
              <a:t>实例</a:t>
            </a:r>
            <a:r>
              <a:rPr lang="zh-CN" altLang="en-US" sz="2200" dirty="0"/>
              <a:t>时，这个函数会被调用</a:t>
            </a:r>
          </a:p>
        </p:txBody>
      </p:sp>
    </p:spTree>
    <p:extLst>
      <p:ext uri="{BB962C8B-B14F-4D97-AF65-F5344CB8AC3E}">
        <p14:creationId xmlns:p14="http://schemas.microsoft.com/office/powerpoint/2010/main" val="364236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Encapsulate Functions in Class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把函数嵌入类型中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152400" y="16776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</a:t>
            </a:r>
            <a:r>
              <a:rPr lang="en-US" altLang="zh-CN" sz="2200" dirty="0">
                <a:solidFill>
                  <a:srgbClr val="FF0000"/>
                </a:solidFill>
              </a:rPr>
              <a:t>import</a:t>
            </a:r>
            <a:r>
              <a:rPr lang="en-US" altLang="zh-CN" sz="2200" dirty="0"/>
              <a:t> the file in the beginning of ‘test.py’ &amp; create an instance of the class in the ‘main’ section by passing a string ‘</a:t>
            </a:r>
            <a:r>
              <a:rPr lang="en-US" altLang="zh-CN" sz="2200" dirty="0" err="1"/>
              <a:t>usps</a:t>
            </a:r>
            <a:r>
              <a:rPr lang="en-US" altLang="zh-CN" sz="2200" dirty="0"/>
              <a:t>’  </a:t>
            </a:r>
            <a:r>
              <a:rPr lang="zh-CN" altLang="en-US" sz="2200" dirty="0"/>
              <a:t>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”一开始处</a:t>
            </a:r>
            <a:r>
              <a:rPr lang="zh-CN" altLang="en-US" sz="2200" dirty="0">
                <a:solidFill>
                  <a:srgbClr val="FF0000"/>
                </a:solidFill>
              </a:rPr>
              <a:t>导入</a:t>
            </a:r>
            <a:r>
              <a:rPr lang="zh-CN" altLang="en-US" sz="2200" dirty="0"/>
              <a:t>这个文件，并在“</a:t>
            </a:r>
            <a:r>
              <a:rPr lang="en-US" altLang="zh-CN" sz="2200" dirty="0"/>
              <a:t>main</a:t>
            </a:r>
            <a:r>
              <a:rPr lang="zh-CN" altLang="en-US" sz="2200" dirty="0"/>
              <a:t>”部分中生成这个类型的一个实例，传入字符串“</a:t>
            </a:r>
            <a:r>
              <a:rPr lang="en-US" altLang="zh-CN" sz="2200" dirty="0" err="1"/>
              <a:t>usps</a:t>
            </a:r>
            <a:r>
              <a:rPr lang="zh-CN" altLang="en-US" sz="2200" dirty="0"/>
              <a:t>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6132FE-61E9-4DCF-9007-6A1E6B066200}"/>
              </a:ext>
            </a:extLst>
          </p:cNvPr>
          <p:cNvSpPr txBox="1"/>
          <p:nvPr/>
        </p:nvSpPr>
        <p:spPr>
          <a:xfrm>
            <a:off x="609600" y="44196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12B526-924C-4B05-9178-3E2DD9A26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810" y="3200300"/>
            <a:ext cx="4983912" cy="1143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869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Member Variables &amp; Functions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成员变量与函数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5264" y="1656795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‘uspsData.py’, let’s remember ‘filename’ in a </a:t>
            </a:r>
            <a:r>
              <a:rPr lang="en-US" altLang="zh-CN" sz="2200" dirty="0">
                <a:solidFill>
                  <a:srgbClr val="FF0000"/>
                </a:solidFill>
              </a:rPr>
              <a:t>member variable</a:t>
            </a:r>
            <a:r>
              <a:rPr lang="en-US" altLang="zh-CN" sz="2200" dirty="0"/>
              <a:t>   </a:t>
            </a:r>
            <a:r>
              <a:rPr lang="zh-CN" altLang="en-US" sz="2200" dirty="0"/>
              <a:t>在“</a:t>
            </a:r>
            <a:r>
              <a:rPr lang="en-US" altLang="zh-CN" sz="2200" dirty="0"/>
              <a:t>uspsData.py</a:t>
            </a:r>
            <a:r>
              <a:rPr lang="zh-CN" altLang="en-US" sz="2200" dirty="0"/>
              <a:t>”中，用一个</a:t>
            </a:r>
            <a:r>
              <a:rPr lang="zh-CN" altLang="en-US" sz="2200" dirty="0">
                <a:solidFill>
                  <a:srgbClr val="FF0000"/>
                </a:solidFill>
              </a:rPr>
              <a:t>成员变量</a:t>
            </a:r>
            <a:r>
              <a:rPr lang="zh-CN" altLang="en-US" sz="2200" dirty="0"/>
              <a:t>记下“</a:t>
            </a:r>
            <a:r>
              <a:rPr lang="en-US" altLang="zh-CN" sz="2200" dirty="0"/>
              <a:t>filename</a:t>
            </a:r>
            <a:r>
              <a:rPr lang="zh-CN" altLang="en-US" sz="2200" dirty="0"/>
              <a:t>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6132FE-61E9-4DCF-9007-6A1E6B066200}"/>
              </a:ext>
            </a:extLst>
          </p:cNvPr>
          <p:cNvSpPr txBox="1"/>
          <p:nvPr/>
        </p:nvSpPr>
        <p:spPr>
          <a:xfrm>
            <a:off x="609600" y="6274713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1191B0-166A-464B-A648-0E320B58A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389094"/>
            <a:ext cx="3947502" cy="5944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984421-C70B-411D-B7EF-F923D42BAD77}"/>
              </a:ext>
            </a:extLst>
          </p:cNvPr>
          <p:cNvSpPr txBox="1"/>
          <p:nvPr/>
        </p:nvSpPr>
        <p:spPr>
          <a:xfrm>
            <a:off x="305264" y="3108906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</a:t>
            </a:r>
            <a:r>
              <a:rPr lang="en-US" altLang="zh-CN" sz="2200" dirty="0">
                <a:solidFill>
                  <a:srgbClr val="FF0000"/>
                </a:solidFill>
              </a:rPr>
              <a:t>member function</a:t>
            </a:r>
            <a:r>
              <a:rPr lang="en-US" altLang="zh-CN" sz="2200" dirty="0"/>
              <a:t> to print the variable out</a:t>
            </a:r>
          </a:p>
          <a:p>
            <a:pPr algn="ctr"/>
            <a:r>
              <a:rPr lang="zh-CN" altLang="en-US" sz="2200" dirty="0"/>
              <a:t>创建一个</a:t>
            </a:r>
            <a:r>
              <a:rPr lang="zh-CN" altLang="en-US" sz="2200" dirty="0">
                <a:solidFill>
                  <a:srgbClr val="FF0000"/>
                </a:solidFill>
              </a:rPr>
              <a:t>成员函数</a:t>
            </a:r>
            <a:r>
              <a:rPr lang="zh-CN" altLang="en-US" sz="2200" dirty="0"/>
              <a:t>将这个变量输出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2DC255-E5FB-4DAE-9528-9057BB4D2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481" y="3870906"/>
            <a:ext cx="2484336" cy="624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A7C27D-C22E-4664-B5F7-C150687B95B4}"/>
              </a:ext>
            </a:extLst>
          </p:cNvPr>
          <p:cNvSpPr txBox="1"/>
          <p:nvPr/>
        </p:nvSpPr>
        <p:spPr>
          <a:xfrm>
            <a:off x="228600" y="4572000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‘test.py’, initialize an instance &amp; call the member function</a:t>
            </a:r>
          </a:p>
          <a:p>
            <a:pPr algn="ctr"/>
            <a:r>
              <a:rPr lang="zh-CN" altLang="en-US" sz="2200" dirty="0"/>
              <a:t>修改“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”，生成一个实例并调用其成员函数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915471-D75F-40ED-A2DC-8353EAAEB8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9" y="5334000"/>
            <a:ext cx="4892464" cy="8992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761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Read from File </a:t>
            </a:r>
            <a:r>
              <a:rPr lang="zh-CN" altLang="en-US" dirty="0">
                <a:ea typeface="ＭＳ Ｐゴシック" panose="020B0600070205080204" pitchFamily="34" charset="-128"/>
              </a:rPr>
              <a:t>读取文件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5264" y="1656795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‘uspsData.py’, read</a:t>
            </a:r>
            <a:r>
              <a:rPr lang="zh-CN" altLang="en-US" sz="2200" dirty="0"/>
              <a:t> </a:t>
            </a:r>
            <a:r>
              <a:rPr lang="en-US" altLang="zh-CN" sz="2200" dirty="0"/>
              <a:t>the</a:t>
            </a:r>
            <a:r>
              <a:rPr lang="zh-CN" altLang="en-US" sz="2200" dirty="0"/>
              <a:t> </a:t>
            </a:r>
            <a:r>
              <a:rPr lang="en-US" altLang="zh-CN" sz="2200" dirty="0"/>
              <a:t>file</a:t>
            </a:r>
            <a:r>
              <a:rPr lang="zh-CN" altLang="en-US" sz="2200" dirty="0"/>
              <a:t> </a:t>
            </a:r>
            <a:r>
              <a:rPr lang="en-US" altLang="zh-CN" sz="2200" dirty="0"/>
              <a:t>‘</a:t>
            </a:r>
            <a:r>
              <a:rPr lang="en-US" altLang="zh-CN" sz="2200" dirty="0" err="1"/>
              <a:t>usps</a:t>
            </a:r>
            <a:r>
              <a:rPr lang="en-US" altLang="zh-CN" sz="2200" dirty="0"/>
              <a:t>’ &amp; output each line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uspsData.py</a:t>
            </a:r>
            <a:r>
              <a:rPr lang="zh-CN" altLang="en-US" sz="2200" dirty="0"/>
              <a:t>”中，读出文件“</a:t>
            </a:r>
            <a:r>
              <a:rPr lang="en-US" altLang="zh-CN" sz="2200" dirty="0" err="1"/>
              <a:t>usps</a:t>
            </a:r>
            <a:r>
              <a:rPr lang="zh-CN" altLang="en-US" sz="2200" dirty="0"/>
              <a:t>”并输出每一行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7C27D-C22E-4664-B5F7-C150687B95B4}"/>
              </a:ext>
            </a:extLst>
          </p:cNvPr>
          <p:cNvSpPr txBox="1"/>
          <p:nvPr/>
        </p:nvSpPr>
        <p:spPr>
          <a:xfrm>
            <a:off x="228600" y="5181600"/>
            <a:ext cx="868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‘test.py’, initialize an instance,</a:t>
            </a:r>
            <a:r>
              <a:rPr lang="zh-CN" altLang="en-US" sz="2200" dirty="0"/>
              <a:t> </a:t>
            </a:r>
            <a:r>
              <a:rPr lang="en-US" altLang="zh-CN" sz="2200" dirty="0"/>
              <a:t>place</a:t>
            </a:r>
            <a:r>
              <a:rPr lang="zh-CN" altLang="en-US" sz="2200" dirty="0"/>
              <a:t> </a:t>
            </a:r>
            <a:r>
              <a:rPr lang="en-US" altLang="zh-CN" sz="2200" dirty="0"/>
              <a:t>the</a:t>
            </a:r>
            <a:r>
              <a:rPr lang="zh-CN" altLang="en-US" sz="2200" dirty="0"/>
              <a:t> </a:t>
            </a:r>
            <a:r>
              <a:rPr lang="en-US" altLang="zh-CN" sz="2200" dirty="0"/>
              <a:t>file</a:t>
            </a:r>
            <a:r>
              <a:rPr lang="zh-CN" altLang="en-US" sz="2200" dirty="0"/>
              <a:t> </a:t>
            </a:r>
            <a:r>
              <a:rPr lang="en-US" altLang="zh-CN" sz="2200" dirty="0"/>
              <a:t>‘</a:t>
            </a:r>
            <a:r>
              <a:rPr lang="en-US" altLang="zh-CN" sz="2200" dirty="0" err="1"/>
              <a:t>usps</a:t>
            </a:r>
            <a:r>
              <a:rPr lang="en-US" altLang="zh-CN" sz="2200" dirty="0"/>
              <a:t>’</a:t>
            </a:r>
            <a:r>
              <a:rPr lang="zh-CN" altLang="en-US" sz="2200" dirty="0"/>
              <a:t> </a:t>
            </a:r>
            <a:r>
              <a:rPr lang="en-US" altLang="zh-CN" sz="2200" dirty="0"/>
              <a:t>to</a:t>
            </a:r>
            <a:r>
              <a:rPr lang="zh-CN" altLang="en-US" sz="2200" dirty="0"/>
              <a:t> </a:t>
            </a:r>
            <a:r>
              <a:rPr lang="en-US" altLang="zh-CN" sz="2200" dirty="0"/>
              <a:t>the</a:t>
            </a:r>
            <a:r>
              <a:rPr lang="zh-CN" altLang="en-US" sz="2200" dirty="0"/>
              <a:t> </a:t>
            </a:r>
            <a:r>
              <a:rPr lang="en-US" altLang="zh-CN" sz="2200" dirty="0"/>
              <a:t>same directory, &amp; run it  </a:t>
            </a:r>
            <a:r>
              <a:rPr lang="zh-CN" altLang="en-US" sz="2200" dirty="0"/>
              <a:t>修改“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”，生成一个实例，把文件“</a:t>
            </a:r>
            <a:r>
              <a:rPr lang="en-US" altLang="zh-CN" sz="2200" dirty="0" err="1"/>
              <a:t>usps</a:t>
            </a:r>
            <a:r>
              <a:rPr lang="zh-CN" altLang="en-US" sz="2200" dirty="0"/>
              <a:t>”置于同一目录下，运行之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6C5CF-4667-4B94-858A-74AD5AE94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878" y="2457933"/>
            <a:ext cx="3993226" cy="14631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4D0046-7337-4887-A03E-536B5E962717}"/>
              </a:ext>
            </a:extLst>
          </p:cNvPr>
          <p:cNvSpPr txBox="1"/>
          <p:nvPr/>
        </p:nvSpPr>
        <p:spPr>
          <a:xfrm>
            <a:off x="890604" y="4073604"/>
            <a:ext cx="7110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‘for’ statement in Python    </a:t>
            </a:r>
            <a:r>
              <a:rPr lang="en-US" altLang="zh-CN" sz="2200" dirty="0" err="1"/>
              <a:t>Python</a:t>
            </a:r>
            <a:r>
              <a:rPr lang="zh-CN" altLang="en-US" sz="2200" dirty="0"/>
              <a:t>中的“</a:t>
            </a:r>
            <a:r>
              <a:rPr lang="en-US" altLang="zh-CN" sz="2200" dirty="0"/>
              <a:t>for</a:t>
            </a:r>
            <a:r>
              <a:rPr lang="zh-CN" altLang="en-US" sz="2200" dirty="0"/>
              <a:t>”语句：</a:t>
            </a:r>
            <a:endParaRPr lang="en-US" altLang="zh-CN" sz="2200" dirty="0"/>
          </a:p>
          <a:p>
            <a:r>
              <a:rPr lang="en-US" altLang="zh-CN" sz="2200" dirty="0"/>
              <a:t>	</a:t>
            </a:r>
            <a:r>
              <a:rPr lang="en-US" altLang="zh-CN" sz="2200" b="1" dirty="0"/>
              <a:t>for</a:t>
            </a:r>
            <a:r>
              <a:rPr lang="en-US" altLang="zh-CN" sz="2200" dirty="0"/>
              <a:t> … in …</a:t>
            </a:r>
            <a:r>
              <a:rPr lang="en-US" altLang="zh-CN" sz="2200" b="1" dirty="0"/>
              <a:t>:</a:t>
            </a:r>
          </a:p>
          <a:p>
            <a:r>
              <a:rPr lang="en-US" altLang="zh-CN" sz="2200" dirty="0"/>
              <a:t>	    …</a:t>
            </a:r>
          </a:p>
        </p:txBody>
      </p:sp>
    </p:spTree>
    <p:extLst>
      <p:ext uri="{BB962C8B-B14F-4D97-AF65-F5344CB8AC3E}">
        <p14:creationId xmlns:p14="http://schemas.microsoft.com/office/powerpoint/2010/main" val="95006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Process the Line </a:t>
            </a:r>
            <a:r>
              <a:rPr lang="zh-CN" altLang="en-US" dirty="0">
                <a:ea typeface="ＭＳ Ｐゴシック" panose="020B0600070205080204" pitchFamily="34" charset="-128"/>
              </a:rPr>
              <a:t>处理每一行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5264" y="1656795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‘split’ to</a:t>
            </a:r>
            <a:r>
              <a:rPr lang="zh-CN" altLang="en-US" sz="2200" dirty="0"/>
              <a:t> </a:t>
            </a:r>
            <a:r>
              <a:rPr lang="en-US" altLang="zh-CN" sz="2200" dirty="0"/>
              <a:t>split a string into chunks (string</a:t>
            </a:r>
            <a:r>
              <a:rPr lang="zh-CN" altLang="en-US" sz="2200" dirty="0"/>
              <a:t> </a:t>
            </a:r>
            <a:r>
              <a:rPr lang="en-US" altLang="zh-CN" sz="2200" dirty="0"/>
              <a:t>array) by spaces</a:t>
            </a:r>
          </a:p>
          <a:p>
            <a:pPr algn="ctr"/>
            <a:r>
              <a:rPr lang="zh-CN" altLang="en-US" sz="2200" dirty="0"/>
              <a:t>用“</a:t>
            </a:r>
            <a:r>
              <a:rPr lang="en-US" altLang="zh-CN" sz="2200" dirty="0"/>
              <a:t>split</a:t>
            </a:r>
            <a:r>
              <a:rPr lang="zh-CN" altLang="en-US" sz="2200" dirty="0"/>
              <a:t>”把字符串按空格切成很多块（字符串数组）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7C27D-C22E-4664-B5F7-C150687B95B4}"/>
              </a:ext>
            </a:extLst>
          </p:cNvPr>
          <p:cNvSpPr txBox="1"/>
          <p:nvPr/>
        </p:nvSpPr>
        <p:spPr>
          <a:xfrm>
            <a:off x="114300" y="2909047"/>
            <a:ext cx="891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‘int’ &amp; ‘str’ to convert between different data types, renaming the categories  </a:t>
            </a:r>
            <a:r>
              <a:rPr lang="zh-CN" altLang="en-US" sz="2200" dirty="0"/>
              <a:t>用“</a:t>
            </a:r>
            <a:r>
              <a:rPr lang="en-US" altLang="zh-CN" sz="2200" dirty="0"/>
              <a:t>int</a:t>
            </a:r>
            <a:r>
              <a:rPr lang="zh-CN" altLang="en-US" sz="2200" dirty="0"/>
              <a:t>”和“</a:t>
            </a:r>
            <a:r>
              <a:rPr lang="en-US" altLang="zh-CN" sz="2200" dirty="0"/>
              <a:t>str</a:t>
            </a:r>
            <a:r>
              <a:rPr lang="zh-CN" altLang="en-US" sz="2200" dirty="0"/>
              <a:t>”进行数据类型转换，重命名类别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D2E70D-16F8-4D5F-B7D2-CED360D68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691" y="2453608"/>
            <a:ext cx="2743438" cy="3657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8A2AB6-42EB-4BA3-B58B-C4C1E13B1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691" y="3703284"/>
            <a:ext cx="4084674" cy="4115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28AFFD-B9F9-4730-AF39-EA670241C490}"/>
              </a:ext>
            </a:extLst>
          </p:cNvPr>
          <p:cNvSpPr txBox="1"/>
          <p:nvPr/>
        </p:nvSpPr>
        <p:spPr>
          <a:xfrm>
            <a:off x="114300" y="4284462"/>
            <a:ext cx="8915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an array with all ‘0’s,</a:t>
            </a:r>
            <a:r>
              <a:rPr lang="zh-CN" altLang="en-US" sz="2200" dirty="0"/>
              <a:t> </a:t>
            </a:r>
            <a:r>
              <a:rPr lang="en-US" altLang="zh-CN" sz="2200" dirty="0"/>
              <a:t>use</a:t>
            </a:r>
            <a:r>
              <a:rPr lang="zh-CN" altLang="en-US" sz="2200" dirty="0"/>
              <a:t> </a:t>
            </a:r>
            <a:r>
              <a:rPr lang="en-US" altLang="zh-CN" sz="2200" dirty="0"/>
              <a:t>‘split(“</a:t>
            </a:r>
            <a:r>
              <a:rPr lang="en-US" altLang="zh-CN" sz="2200" dirty="0">
                <a:sym typeface="Wingdings" panose="05000000000000000000" pitchFamily="2" charset="2"/>
              </a:rPr>
              <a:t>:”)’ to process each chunk, &amp; put the (float) values into the array </a:t>
            </a:r>
            <a:r>
              <a:rPr lang="en-US" altLang="zh-CN" sz="2200" dirty="0"/>
              <a:t>  </a:t>
            </a:r>
            <a:r>
              <a:rPr lang="zh-CN" altLang="en-US" sz="2200" dirty="0"/>
              <a:t>生成一个全</a:t>
            </a:r>
            <a:r>
              <a:rPr lang="en-US" altLang="zh-CN" sz="2200" dirty="0"/>
              <a:t>0</a:t>
            </a:r>
            <a:r>
              <a:rPr lang="zh-CN" altLang="en-US" sz="2200" dirty="0"/>
              <a:t>的数组，用“</a:t>
            </a:r>
            <a:r>
              <a:rPr lang="en-US" altLang="zh-CN" sz="2200"/>
              <a:t>split(“</a:t>
            </a:r>
            <a:r>
              <a:rPr lang="en-US" altLang="zh-CN" sz="2200">
                <a:sym typeface="Wingdings" panose="05000000000000000000" pitchFamily="2" charset="2"/>
              </a:rPr>
              <a:t>:”)</a:t>
            </a:r>
            <a:r>
              <a:rPr lang="zh-CN" altLang="en-US" sz="2200" dirty="0"/>
              <a:t>”切分每一块，并将（浮点）数值存入数组中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4F3916-8601-4DD6-8F35-29A5B22594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588" y="5410108"/>
            <a:ext cx="5563082" cy="10668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48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Complete Picture </a:t>
            </a:r>
            <a:r>
              <a:rPr lang="zh-CN" altLang="en-US" dirty="0">
                <a:ea typeface="ＭＳ Ｐゴシック" panose="020B0600070205080204" pitchFamily="34" charset="-128"/>
              </a:rPr>
              <a:t>完整的拼图</a:t>
            </a:r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11C5AB-F5AB-4CE4-A709-A4479AF39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63" y="1828800"/>
            <a:ext cx="6599492" cy="364267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6115C5-269C-412D-9B73-0F51EE42FD6F}"/>
              </a:ext>
            </a:extLst>
          </p:cNvPr>
          <p:cNvCxnSpPr/>
          <p:nvPr/>
        </p:nvCxnSpPr>
        <p:spPr bwMode="auto">
          <a:xfrm flipH="1">
            <a:off x="3276600" y="2438400"/>
            <a:ext cx="1828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52A4FD7-F868-40FC-96F1-A27F7C97C26B}"/>
              </a:ext>
            </a:extLst>
          </p:cNvPr>
          <p:cNvSpPr txBox="1"/>
          <p:nvPr/>
        </p:nvSpPr>
        <p:spPr>
          <a:xfrm>
            <a:off x="4953000" y="1545848"/>
            <a:ext cx="3962400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Member variables to store the data &amp; the ground truth class.</a:t>
            </a:r>
            <a:r>
              <a:rPr lang="zh-CN" altLang="en-US" sz="2200" dirty="0"/>
              <a:t> </a:t>
            </a:r>
            <a:r>
              <a:rPr lang="en-US" altLang="zh-CN" sz="2200" dirty="0"/>
              <a:t>x</a:t>
            </a:r>
            <a:r>
              <a:rPr lang="zh-CN" altLang="en-US" sz="2200" dirty="0"/>
              <a:t> </a:t>
            </a:r>
            <a:r>
              <a:rPr lang="en-US" altLang="zh-CN" sz="2200" dirty="0"/>
              <a:t>is</a:t>
            </a:r>
            <a:r>
              <a:rPr lang="zh-CN" altLang="en-US" sz="2200" dirty="0"/>
              <a:t> </a:t>
            </a:r>
            <a:r>
              <a:rPr lang="en-US" altLang="zh-CN" sz="2200" dirty="0"/>
              <a:t>a 2-D array</a:t>
            </a:r>
          </a:p>
          <a:p>
            <a:pPr algn="ctr"/>
            <a:r>
              <a:rPr lang="zh-CN" altLang="en-US" sz="2200" dirty="0"/>
              <a:t>存储数据和真实类别的成员变量，其中</a:t>
            </a:r>
            <a:r>
              <a:rPr lang="en-US" altLang="zh-CN" sz="2200" dirty="0"/>
              <a:t>x</a:t>
            </a:r>
            <a:r>
              <a:rPr lang="zh-CN" altLang="en-US" sz="2200" dirty="0"/>
              <a:t>是</a:t>
            </a:r>
            <a:r>
              <a:rPr lang="en-US" altLang="zh-CN" sz="2200" dirty="0"/>
              <a:t>2</a:t>
            </a:r>
            <a:r>
              <a:rPr lang="zh-CN" altLang="en-US" sz="2200" dirty="0"/>
              <a:t>维数组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DF240-601B-4EF6-8501-39DF0E8CA39B}"/>
              </a:ext>
            </a:extLst>
          </p:cNvPr>
          <p:cNvSpPr txBox="1"/>
          <p:nvPr/>
        </p:nvSpPr>
        <p:spPr>
          <a:xfrm>
            <a:off x="5110942" y="5125480"/>
            <a:ext cx="396240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Append data &amp; class into the member variables  </a:t>
            </a:r>
            <a:r>
              <a:rPr lang="zh-CN" altLang="en-US" sz="2200" dirty="0"/>
              <a:t>将数据和真实类别添加入成员变量中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97E137-2A0A-4A56-B7E2-4E1774CFEEC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953000" y="3810000"/>
            <a:ext cx="685800" cy="13154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AB8556-E634-4F07-B6DA-42A956C40A73}"/>
              </a:ext>
            </a:extLst>
          </p:cNvPr>
          <p:cNvCxnSpPr>
            <a:cxnSpLocks/>
            <a:stCxn id="17" idx="1"/>
          </p:cNvCxnSpPr>
          <p:nvPr/>
        </p:nvCxnSpPr>
        <p:spPr bwMode="auto">
          <a:xfrm flipH="1" flipV="1">
            <a:off x="3886202" y="5162342"/>
            <a:ext cx="1224740" cy="5171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6744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Expose Data &amp; Ground Truth Class  </a:t>
            </a:r>
            <a:r>
              <a:rPr lang="zh-CN" altLang="en-US" dirty="0">
                <a:ea typeface="ＭＳ Ｐゴシック" panose="020B0600070205080204" pitchFamily="34" charset="-128"/>
              </a:rPr>
              <a:t>提供数据和真实类别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85518" y="1627857"/>
            <a:ext cx="8725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2 member functions to expose the data &amp; ground truth class</a:t>
            </a:r>
          </a:p>
          <a:p>
            <a:pPr algn="ctr"/>
            <a:r>
              <a:rPr lang="zh-CN" altLang="en-US" sz="2200" dirty="0"/>
              <a:t>加两个</a:t>
            </a:r>
            <a:r>
              <a:rPr lang="zh-CN" altLang="en-US" sz="2200"/>
              <a:t>成员函数提</a:t>
            </a:r>
            <a:r>
              <a:rPr lang="zh-CN" altLang="en-US" sz="2200" dirty="0"/>
              <a:t>供数据和真实类别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97986-8371-4F88-BCE9-77C7EBC58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362200"/>
            <a:ext cx="3993226" cy="14174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7F44F9-D355-4AF3-A2DF-AA53CC0DDCC2}"/>
              </a:ext>
            </a:extLst>
          </p:cNvPr>
          <p:cNvSpPr txBox="1"/>
          <p:nvPr/>
        </p:nvSpPr>
        <p:spPr>
          <a:xfrm>
            <a:off x="209318" y="3886200"/>
            <a:ext cx="8725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Take a look at the 1st data &amp; ground truth class in ‘test.py’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”中检查一下第一条数据和真实类别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2E6A1B-0C53-4AA6-97F6-E003F54AA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48200"/>
            <a:ext cx="4938188" cy="11888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E9888E-88E3-49EF-94BF-C985521BF204}"/>
              </a:ext>
            </a:extLst>
          </p:cNvPr>
          <p:cNvSpPr txBox="1"/>
          <p:nvPr/>
        </p:nvSpPr>
        <p:spPr>
          <a:xfrm>
            <a:off x="609600" y="5969913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</a:p>
        </p:txBody>
      </p:sp>
    </p:spTree>
    <p:extLst>
      <p:ext uri="{BB962C8B-B14F-4D97-AF65-F5344CB8AC3E}">
        <p14:creationId xmlns:p14="http://schemas.microsoft.com/office/powerpoint/2010/main" val="32296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Start Drawing  </a:t>
            </a:r>
            <a:r>
              <a:rPr lang="zh-CN" altLang="en-US" dirty="0">
                <a:ea typeface="ＭＳ Ｐゴシック" panose="020B0600070205080204" pitchFamily="34" charset="-128"/>
              </a:rPr>
              <a:t>开始画图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85518" y="1627857"/>
            <a:ext cx="87253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Place the file ‘graphics.py’ in the same directory, create a file ‘plotter.py’ to import ‘graphics’ &amp; to create a new class ‘Plotter’</a:t>
            </a:r>
          </a:p>
          <a:p>
            <a:pPr algn="ctr"/>
            <a:r>
              <a:rPr lang="zh-CN" altLang="en-US" sz="2200" dirty="0"/>
              <a:t> 将文件“</a:t>
            </a:r>
            <a:r>
              <a:rPr lang="en-US" altLang="zh-CN" sz="2200" dirty="0"/>
              <a:t>graphics.py</a:t>
            </a:r>
            <a:r>
              <a:rPr lang="zh-CN" altLang="en-US" sz="2200" dirty="0"/>
              <a:t>”放入同一目录，创建文件“</a:t>
            </a:r>
            <a:r>
              <a:rPr lang="en-US" altLang="zh-CN" sz="2200" dirty="0"/>
              <a:t>plotter.py</a:t>
            </a:r>
            <a:r>
              <a:rPr lang="zh-CN" altLang="en-US" sz="2200" dirty="0"/>
              <a:t>”，导入“</a:t>
            </a:r>
            <a:r>
              <a:rPr lang="en-US" altLang="zh-CN" sz="2200" dirty="0"/>
              <a:t>graphics</a:t>
            </a:r>
            <a:r>
              <a:rPr lang="zh-CN" altLang="en-US" sz="2200" dirty="0"/>
              <a:t>”，并创建一个新的类型“</a:t>
            </a:r>
            <a:r>
              <a:rPr lang="en-US" altLang="zh-CN" sz="2200" dirty="0"/>
              <a:t>Plotter</a:t>
            </a:r>
            <a:r>
              <a:rPr lang="zh-CN" altLang="en-US" sz="2200" dirty="0"/>
              <a:t>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F44F9-D355-4AF3-A2DF-AA53CC0DDCC2}"/>
              </a:ext>
            </a:extLst>
          </p:cNvPr>
          <p:cNvSpPr txBox="1"/>
          <p:nvPr/>
        </p:nvSpPr>
        <p:spPr>
          <a:xfrm>
            <a:off x="104659" y="4107359"/>
            <a:ext cx="89346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Define the initialization function, passing in the arguments of ground truth class &amp; the data  </a:t>
            </a:r>
          </a:p>
          <a:p>
            <a:pPr algn="ctr"/>
            <a:r>
              <a:rPr lang="zh-CN" altLang="en-US" sz="2200" dirty="0"/>
              <a:t>定义初始化函数，用参数传入真实类别和数据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8DC3E8-A159-4992-879E-71785592A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023064"/>
            <a:ext cx="3048264" cy="9144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05F0A3-406E-4C54-80F4-AB37D6054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5221941"/>
            <a:ext cx="4328536" cy="3962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595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Start Drawing  </a:t>
            </a:r>
            <a:r>
              <a:rPr lang="zh-CN" altLang="en-US" dirty="0">
                <a:ea typeface="ＭＳ Ｐゴシック" panose="020B0600070205080204" pitchFamily="34" charset="-128"/>
              </a:rPr>
              <a:t>开始画图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85518" y="1627857"/>
            <a:ext cx="87253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beginning of the initialization function, create a new 256x 256 window. The caption is the ground truth class &amp; the background is white  </a:t>
            </a:r>
            <a:r>
              <a:rPr lang="zh-CN" altLang="en-US" sz="2200" dirty="0"/>
              <a:t>在初始化函数的起始处，创建一个</a:t>
            </a:r>
            <a:r>
              <a:rPr lang="en-US" altLang="zh-CN" sz="2200" dirty="0"/>
              <a:t>256x256</a:t>
            </a:r>
            <a:r>
              <a:rPr lang="zh-CN" altLang="en-US" sz="2200" dirty="0"/>
              <a:t>的窗口，标题为真实类别，底色为白色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B8835-25F4-42BC-B89D-9CFBAB5A1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048000"/>
            <a:ext cx="5441152" cy="624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DEA313-FA8C-4EF7-9D8C-3EEA65F52807}"/>
              </a:ext>
            </a:extLst>
          </p:cNvPr>
          <p:cNvSpPr txBox="1"/>
          <p:nvPr/>
        </p:nvSpPr>
        <p:spPr>
          <a:xfrm>
            <a:off x="682205" y="3805781"/>
            <a:ext cx="77795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end of the initialization function, wait for a mouse click &amp; then close the window  </a:t>
            </a:r>
          </a:p>
          <a:p>
            <a:pPr algn="ctr"/>
            <a:r>
              <a:rPr lang="zh-CN" altLang="en-US" sz="2200" dirty="0"/>
              <a:t>在初始化函数的末尾，等待鼠标的点击并关闭窗口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A56A45-12B6-4C23-AC19-D3EC20464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635" y="4913777"/>
            <a:ext cx="2011854" cy="640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741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Start Drawing  </a:t>
            </a:r>
            <a:r>
              <a:rPr lang="zh-CN" altLang="en-US" dirty="0">
                <a:ea typeface="ＭＳ Ｐゴシック" panose="020B0600070205080204" pitchFamily="34" charset="-128"/>
              </a:rPr>
              <a:t>开始画图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85518" y="1627857"/>
            <a:ext cx="87253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‘test.py’, import ‘plotter’ &amp; create a new instance of ‘Plotter’ passing in the 1st data  </a:t>
            </a:r>
            <a:r>
              <a:rPr lang="zh-CN" altLang="en-US" sz="2200" dirty="0"/>
              <a:t>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”中，导入“</a:t>
            </a:r>
            <a:r>
              <a:rPr lang="en-US" altLang="zh-CN" sz="2200" dirty="0"/>
              <a:t>plotter</a:t>
            </a:r>
            <a:r>
              <a:rPr lang="zh-CN" altLang="en-US" sz="2200" dirty="0"/>
              <a:t>”，生成一个“</a:t>
            </a:r>
            <a:r>
              <a:rPr lang="en-US" altLang="zh-CN" sz="2200" dirty="0"/>
              <a:t>Plotter</a:t>
            </a:r>
            <a:r>
              <a:rPr lang="zh-CN" altLang="en-US" sz="2200" dirty="0"/>
              <a:t>”的实例，并传入第一条数据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77D1A3-5491-4255-858E-A9FC5AE4B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98" y="2735853"/>
            <a:ext cx="6492802" cy="18746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A9526E7-503B-42DF-ABBA-3D2E8FA3140E}"/>
              </a:ext>
            </a:extLst>
          </p:cNvPr>
          <p:cNvSpPr txBox="1"/>
          <p:nvPr/>
        </p:nvSpPr>
        <p:spPr>
          <a:xfrm>
            <a:off x="609600" y="47244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</a:p>
        </p:txBody>
      </p:sp>
    </p:spTree>
    <p:extLst>
      <p:ext uri="{BB962C8B-B14F-4D97-AF65-F5344CB8AC3E}">
        <p14:creationId xmlns:p14="http://schemas.microsoft.com/office/powerpoint/2010/main" val="139183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Plot the Data  </a:t>
            </a:r>
            <a:r>
              <a:rPr lang="zh-CN" altLang="en-US" dirty="0">
                <a:ea typeface="ＭＳ Ｐゴシック" panose="020B0600070205080204" pitchFamily="34" charset="-128"/>
              </a:rPr>
              <a:t>依数据绘制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85518" y="1627857"/>
            <a:ext cx="87253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‘plotter.py’, create a member function for ‘Plotter’, translating a</a:t>
            </a:r>
            <a:r>
              <a:rPr lang="zh-CN" altLang="en-US" sz="2200" dirty="0"/>
              <a:t> </a:t>
            </a:r>
            <a:r>
              <a:rPr lang="en-US" altLang="zh-CN" sz="2200" dirty="0"/>
              <a:t>value</a:t>
            </a:r>
            <a:r>
              <a:rPr lang="zh-CN" altLang="en-US" sz="2200" dirty="0"/>
              <a:t> </a:t>
            </a:r>
            <a:r>
              <a:rPr lang="en-US" altLang="zh-CN" sz="2200" dirty="0"/>
              <a:t>in [-1,1] to a gray-scale color  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plotter.py</a:t>
            </a:r>
            <a:r>
              <a:rPr lang="zh-CN" altLang="en-US" sz="2200" dirty="0"/>
              <a:t>”中，为“</a:t>
            </a:r>
            <a:r>
              <a:rPr lang="en-US" altLang="zh-CN" sz="2200" dirty="0"/>
              <a:t>Plotter</a:t>
            </a:r>
            <a:r>
              <a:rPr lang="zh-CN" altLang="en-US" sz="2200" dirty="0"/>
              <a:t>”添加一个新的成员函数，将</a:t>
            </a:r>
            <a:r>
              <a:rPr lang="en-US" altLang="zh-CN" sz="2200" dirty="0"/>
              <a:t>[-1,1]</a:t>
            </a:r>
            <a:r>
              <a:rPr lang="zh-CN" altLang="en-US" sz="2200" dirty="0"/>
              <a:t>中的一个数值转换成一个灰度颜色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B3641-7835-466B-BABC-6918DFA6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10" y="3031597"/>
            <a:ext cx="6355630" cy="9449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1E6A67-87ED-459D-938F-C676009BF78A}"/>
              </a:ext>
            </a:extLst>
          </p:cNvPr>
          <p:cNvSpPr txBox="1"/>
          <p:nvPr/>
        </p:nvSpPr>
        <p:spPr>
          <a:xfrm>
            <a:off x="209318" y="4104411"/>
            <a:ext cx="87253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middle of the initialization function, loop over all the elements in the data, get the color &amp; the coordinates</a:t>
            </a:r>
          </a:p>
          <a:p>
            <a:pPr algn="ctr"/>
            <a:r>
              <a:rPr lang="zh-CN" altLang="en-US" sz="2200" dirty="0"/>
              <a:t>在初始化函数中，循环数据中的所有元素，获取颜色和坐标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5E0DA0-BE22-4227-B33E-7E32707C4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5211984"/>
            <a:ext cx="4724810" cy="11126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382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Plot the Data  </a:t>
            </a:r>
            <a:r>
              <a:rPr lang="zh-CN" altLang="en-US" dirty="0">
                <a:ea typeface="ＭＳ Ｐゴシック" panose="020B0600070205080204" pitchFamily="34" charset="-128"/>
              </a:rPr>
              <a:t>依数据绘制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285518" y="1627857"/>
            <a:ext cx="87253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Within the loop &amp; continuing from the pervious code, based on x &amp; y determine the coordinates</a:t>
            </a:r>
            <a:r>
              <a:rPr lang="zh-CN" altLang="en-US" sz="2200" dirty="0"/>
              <a:t> </a:t>
            </a:r>
            <a:r>
              <a:rPr lang="en-US" altLang="zh-CN" sz="2200" dirty="0"/>
              <a:t>of</a:t>
            </a:r>
            <a:r>
              <a:rPr lang="zh-CN" altLang="en-US" sz="2200" dirty="0"/>
              <a:t> </a:t>
            </a:r>
            <a:r>
              <a:rPr lang="en-US" altLang="zh-CN" sz="2200" dirty="0"/>
              <a:t>the upper-left &amp; lower-right vertices of the target square  </a:t>
            </a:r>
            <a:r>
              <a:rPr lang="zh-CN" altLang="en-US" sz="2200" dirty="0"/>
              <a:t>在循环中，紧跟先前的程序，依据</a:t>
            </a:r>
            <a:r>
              <a:rPr lang="en-US" altLang="zh-CN" sz="2200" dirty="0"/>
              <a:t>x</a:t>
            </a:r>
            <a:r>
              <a:rPr lang="zh-CN" altLang="en-US" sz="2200" dirty="0"/>
              <a:t>和</a:t>
            </a:r>
            <a:r>
              <a:rPr lang="en-US" altLang="zh-CN" sz="2200" dirty="0"/>
              <a:t>y</a:t>
            </a:r>
            <a:r>
              <a:rPr lang="zh-CN" altLang="en-US" sz="2200" dirty="0"/>
              <a:t>确定目标方块的左上和右下顶点的</a:t>
            </a:r>
            <a:r>
              <a:rPr lang="en-US" altLang="zh-CN" sz="2200" dirty="0"/>
              <a:t> </a:t>
            </a:r>
            <a:r>
              <a:rPr lang="zh-CN" altLang="en-US" sz="2200" dirty="0"/>
              <a:t>坐标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E6A67-87ED-459D-938F-C676009BF78A}"/>
              </a:ext>
            </a:extLst>
          </p:cNvPr>
          <p:cNvSpPr txBox="1"/>
          <p:nvPr/>
        </p:nvSpPr>
        <p:spPr>
          <a:xfrm>
            <a:off x="209318" y="3818873"/>
            <a:ext cx="8725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Draw the square using the two vertex &amp; the color</a:t>
            </a:r>
          </a:p>
          <a:p>
            <a:pPr algn="ctr"/>
            <a:r>
              <a:rPr lang="zh-CN" altLang="en-US" sz="2200" dirty="0"/>
              <a:t>用两个顶点和对应的颜色画方块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A15438-7555-4022-8799-BBBF04453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358" y="3108912"/>
            <a:ext cx="7422524" cy="5486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D983B1-EE99-4803-BA5A-E37FC7D3E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358" y="4571908"/>
            <a:ext cx="5166808" cy="10668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685ACA-2AE9-4D14-B848-12F8E50C626A}"/>
              </a:ext>
            </a:extLst>
          </p:cNvPr>
          <p:cNvSpPr txBox="1"/>
          <p:nvPr/>
        </p:nvSpPr>
        <p:spPr>
          <a:xfrm>
            <a:off x="609600" y="5741313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</a:p>
        </p:txBody>
      </p:sp>
    </p:spTree>
    <p:extLst>
      <p:ext uri="{BB962C8B-B14F-4D97-AF65-F5344CB8AC3E}">
        <p14:creationId xmlns:p14="http://schemas.microsoft.com/office/powerpoint/2010/main" val="408197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Command Line Parsing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命令行解析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104659" y="1622694"/>
            <a:ext cx="893468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‘test.py’, import ‘</a:t>
            </a:r>
            <a:r>
              <a:rPr lang="en-US" altLang="zh-CN" sz="2200" dirty="0" err="1"/>
              <a:t>argparse</a:t>
            </a:r>
            <a:r>
              <a:rPr lang="en-US" altLang="zh-CN" sz="2200" dirty="0"/>
              <a:t>’, new an instance of ‘</a:t>
            </a:r>
            <a:r>
              <a:rPr lang="en-US" altLang="zh-CN" sz="2200" dirty="0" err="1"/>
              <a:t>AugmentParser</a:t>
            </a:r>
            <a:r>
              <a:rPr lang="en-US" altLang="zh-CN" sz="2200" dirty="0"/>
              <a:t>’, add a mandatory argument ‘index’ &amp; an optional argument ‘filename’, parse the arguments, &amp; retrieve the value  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”中，导入“</a:t>
            </a:r>
            <a:r>
              <a:rPr lang="en-US" altLang="zh-CN" sz="2200" dirty="0" err="1"/>
              <a:t>argparse</a:t>
            </a:r>
            <a:r>
              <a:rPr lang="zh-CN" altLang="en-US" sz="2200" dirty="0"/>
              <a:t>”，生成“</a:t>
            </a:r>
            <a:r>
              <a:rPr lang="en-US" altLang="zh-CN" sz="2200" dirty="0" err="1"/>
              <a:t>AugmentParser</a:t>
            </a:r>
            <a:r>
              <a:rPr lang="zh-CN" altLang="en-US" sz="2200" dirty="0"/>
              <a:t>”的实例，加入必要参数“</a:t>
            </a:r>
            <a:r>
              <a:rPr lang="en-US" altLang="zh-CN" sz="2200" dirty="0"/>
              <a:t>index</a:t>
            </a:r>
            <a:r>
              <a:rPr lang="zh-CN" altLang="en-US" sz="2200" dirty="0"/>
              <a:t>”和可选参数“</a:t>
            </a:r>
            <a:r>
              <a:rPr lang="en-US" altLang="zh-CN" sz="2200" dirty="0"/>
              <a:t>filename</a:t>
            </a:r>
            <a:r>
              <a:rPr lang="zh-CN" altLang="en-US" sz="2200" dirty="0"/>
              <a:t>”，解析参数并获取对应的值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088DF8-6FD4-4323-A03B-AC42F48DE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733800"/>
            <a:ext cx="8733276" cy="28653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8672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Command Line Parsing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命令行解析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104659" y="1622694"/>
            <a:ext cx="89346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the remaining code to read from the corresponding file &amp; visualize the corresponding data  </a:t>
            </a:r>
          </a:p>
          <a:p>
            <a:pPr algn="ctr"/>
            <a:r>
              <a:rPr lang="zh-CN" altLang="en-US" sz="2200" dirty="0"/>
              <a:t>修改后面的程序，从对应文件中读取数据，并展现对应的数据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5EDD8D-A188-493C-BAC3-FEDF2D1DD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43200"/>
            <a:ext cx="6492802" cy="8230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03B809-C76B-45CC-A980-B7B9BAEAFBB0}"/>
              </a:ext>
            </a:extLst>
          </p:cNvPr>
          <p:cNvSpPr txBox="1"/>
          <p:nvPr/>
        </p:nvSpPr>
        <p:spPr>
          <a:xfrm>
            <a:off x="4482" y="3657600"/>
            <a:ext cx="91395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Copy ‘usps.t’ to the directory &amp; run from the command line to visualize different data from different files</a:t>
            </a:r>
          </a:p>
          <a:p>
            <a:pPr algn="ctr"/>
            <a:r>
              <a:rPr lang="zh-CN" altLang="en-US" sz="2200" dirty="0"/>
              <a:t>将“</a:t>
            </a:r>
            <a:r>
              <a:rPr lang="en-US" altLang="zh-CN" sz="2200" dirty="0"/>
              <a:t>usps.t</a:t>
            </a:r>
            <a:r>
              <a:rPr lang="zh-CN" altLang="en-US" sz="2200" dirty="0"/>
              <a:t>”放入该目录中，从命令行运行，展示不同文件中的不同数据</a:t>
            </a:r>
            <a:endParaRPr lang="en-US" altLang="zh-C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F9A82-A75C-46A5-979F-A2171BFDA25E}"/>
              </a:ext>
            </a:extLst>
          </p:cNvPr>
          <p:cNvSpPr txBox="1"/>
          <p:nvPr/>
        </p:nvSpPr>
        <p:spPr>
          <a:xfrm>
            <a:off x="914400" y="5562600"/>
            <a:ext cx="7315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solidFill>
                  <a:srgbClr val="C00000"/>
                </a:solidFill>
              </a:rPr>
              <a:t>Note: running in IDLE becomes difficult due to the mandatory argument</a:t>
            </a:r>
          </a:p>
          <a:p>
            <a:pPr algn="ctr"/>
            <a:r>
              <a:rPr lang="zh-CN" altLang="en-US" sz="2200" dirty="0">
                <a:solidFill>
                  <a:srgbClr val="C00000"/>
                </a:solidFill>
              </a:rPr>
              <a:t>注意：由于必要参数的存在，在</a:t>
            </a:r>
            <a:r>
              <a:rPr lang="en-US" altLang="zh-CN" sz="2200" dirty="0">
                <a:solidFill>
                  <a:srgbClr val="C00000"/>
                </a:solidFill>
              </a:rPr>
              <a:t>IDLE</a:t>
            </a:r>
            <a:r>
              <a:rPr lang="zh-CN" altLang="en-US" sz="2200" dirty="0">
                <a:solidFill>
                  <a:srgbClr val="C00000"/>
                </a:solidFill>
              </a:rPr>
              <a:t>里运行变得很麻烦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AD0B16-4DDD-4AE9-9FD8-441DB8FFDD2F}"/>
              </a:ext>
            </a:extLst>
          </p:cNvPr>
          <p:cNvSpPr txBox="1"/>
          <p:nvPr/>
        </p:nvSpPr>
        <p:spPr>
          <a:xfrm>
            <a:off x="1054811" y="4737847"/>
            <a:ext cx="70343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Example command line  </a:t>
            </a:r>
            <a:r>
              <a:rPr lang="zh-CN" altLang="en-US" sz="2200" dirty="0"/>
              <a:t>命令行示例</a:t>
            </a:r>
            <a:endParaRPr lang="en-US" altLang="zh-CN" sz="2200" dirty="0"/>
          </a:p>
          <a:p>
            <a:pPr algn="ctr"/>
            <a:r>
              <a:rPr lang="en-US" altLang="zh-CN" sz="2200" dirty="0"/>
              <a:t>test.py –f usps.t 5</a:t>
            </a:r>
          </a:p>
        </p:txBody>
      </p:sp>
    </p:spTree>
    <p:extLst>
      <p:ext uri="{BB962C8B-B14F-4D97-AF65-F5344CB8AC3E}">
        <p14:creationId xmlns:p14="http://schemas.microsoft.com/office/powerpoint/2010/main" val="291557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15732</TotalTime>
  <Words>2025</Words>
  <Application>Microsoft Office PowerPoint</Application>
  <PresentationFormat>On-screen Show (4:3)</PresentationFormat>
  <Paragraphs>118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2.1</vt:lpstr>
      <vt:lpstr>Preparation 准备工作</vt:lpstr>
      <vt:lpstr>Preparation 准备工作</vt:lpstr>
      <vt:lpstr>Let’s Start 让我们开始</vt:lpstr>
      <vt:lpstr>Encapsulate Functions in Class 把函数嵌入类型中 (1)</vt:lpstr>
      <vt:lpstr>Encapsulate Functions in Class 把函数嵌入类型中 (2)</vt:lpstr>
      <vt:lpstr>Member Variables &amp; Functions 成员变量与函数</vt:lpstr>
      <vt:lpstr>Read from File 读取文件</vt:lpstr>
      <vt:lpstr>Process the Line 处理每一行</vt:lpstr>
      <vt:lpstr>Complete Picture 完整的拼图</vt:lpstr>
      <vt:lpstr>Expose Data &amp; Ground Truth Class  提供数据和真实类别</vt:lpstr>
      <vt:lpstr>Start Drawing  开始画图 (1)</vt:lpstr>
      <vt:lpstr>Start Drawing  开始画图 (2)</vt:lpstr>
      <vt:lpstr>Start Drawing  开始画图 (3)</vt:lpstr>
      <vt:lpstr>Plot the Data  依数据绘制(1)</vt:lpstr>
      <vt:lpstr>Plot the Data  依数据绘制 (2)</vt:lpstr>
      <vt:lpstr>Command Line Parsing  命令行解析 (1)</vt:lpstr>
      <vt:lpstr>Command Line Parsing  命令行解析 (2)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1146</cp:revision>
  <dcterms:created xsi:type="dcterms:W3CDTF">2003-03-13T01:36:43Z</dcterms:created>
  <dcterms:modified xsi:type="dcterms:W3CDTF">2023-09-16T00:07:37Z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