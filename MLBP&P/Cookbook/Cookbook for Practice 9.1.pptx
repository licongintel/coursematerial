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notesSlides/notesSlide14.xml" ContentType="application/vnd.openxmlformats-officedocument.presentationml.notesSlide+xml"/>
  <Override PartName="/ppt/tags/tag11.xml" ContentType="application/vnd.openxmlformats-officedocument.presentationml.tags+xml"/>
  <Override PartName="/ppt/notesSlides/notesSlide15.xml" ContentType="application/vnd.openxmlformats-officedocument.presentationml.notesSlide+xml"/>
  <Override PartName="/ppt/tags/tag12.xml" ContentType="application/vnd.openxmlformats-officedocument.presentationml.tags+xml"/>
  <Override PartName="/ppt/notesSlides/notesSlide16.xml" ContentType="application/vnd.openxmlformats-officedocument.presentationml.notesSlide+xml"/>
  <Override PartName="/ppt/tags/tag13.xml" ContentType="application/vnd.openxmlformats-officedocument.presentationml.tags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ppt/notesSlides/notesSlide18.xml" ContentType="application/vnd.openxmlformats-officedocument.presentationml.notesSlide+xml"/>
  <Override PartName="/ppt/tags/tag15.xml" ContentType="application/vnd.openxmlformats-officedocument.presentationml.tags+xml"/>
  <Override PartName="/ppt/notesSlides/notesSlide19.xml" ContentType="application/vnd.openxmlformats-officedocument.presentationml.notesSlide+xml"/>
  <Override PartName="/ppt/tags/tag16.xml" ContentType="application/vnd.openxmlformats-officedocument.presentationml.tags+xml"/>
  <Override PartName="/ppt/notesSlides/notesSlide20.xml" ContentType="application/vnd.openxmlformats-officedocument.presentationml.notesSlide+xml"/>
  <Override PartName="/ppt/tags/tag17.xml" ContentType="application/vnd.openxmlformats-officedocument.presentationml.tags+xml"/>
  <Override PartName="/ppt/notesSlides/notesSlide21.xml" ContentType="application/vnd.openxmlformats-officedocument.presentationml.notesSlide+xml"/>
  <Override PartName="/ppt/tags/tag18.xml" ContentType="application/vnd.openxmlformats-officedocument.presentationml.tags+xml"/>
  <Override PartName="/ppt/notesSlides/notesSlide22.xml" ContentType="application/vnd.openxmlformats-officedocument.presentationml.notesSlide+xml"/>
  <Override PartName="/ppt/tags/tag19.xml" ContentType="application/vnd.openxmlformats-officedocument.presentationml.tags+xml"/>
  <Override PartName="/ppt/notesSlides/notesSlide23.xml" ContentType="application/vnd.openxmlformats-officedocument.presentationml.notesSlide+xml"/>
  <Override PartName="/ppt/tags/tag20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7"/>
  </p:notesMasterIdLst>
  <p:handoutMasterIdLst>
    <p:handoutMasterId r:id="rId28"/>
  </p:handoutMasterIdLst>
  <p:sldIdLst>
    <p:sldId id="286" r:id="rId2"/>
    <p:sldId id="440" r:id="rId3"/>
    <p:sldId id="472" r:id="rId4"/>
    <p:sldId id="474" r:id="rId5"/>
    <p:sldId id="475" r:id="rId6"/>
    <p:sldId id="476" r:id="rId7"/>
    <p:sldId id="473" r:id="rId8"/>
    <p:sldId id="477" r:id="rId9"/>
    <p:sldId id="492" r:id="rId10"/>
    <p:sldId id="478" r:id="rId11"/>
    <p:sldId id="479" r:id="rId12"/>
    <p:sldId id="483" r:id="rId13"/>
    <p:sldId id="481" r:id="rId14"/>
    <p:sldId id="480" r:id="rId15"/>
    <p:sldId id="482" r:id="rId16"/>
    <p:sldId id="484" r:id="rId17"/>
    <p:sldId id="485" r:id="rId18"/>
    <p:sldId id="486" r:id="rId19"/>
    <p:sldId id="487" r:id="rId20"/>
    <p:sldId id="488" r:id="rId21"/>
    <p:sldId id="470" r:id="rId22"/>
    <p:sldId id="489" r:id="rId23"/>
    <p:sldId id="490" r:id="rId24"/>
    <p:sldId id="491" r:id="rId25"/>
    <p:sldId id="353" r:id="rId26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5" autoAdjust="0"/>
    <p:restoredTop sz="93504" autoAdjust="0"/>
  </p:normalViewPr>
  <p:slideViewPr>
    <p:cSldViewPr>
      <p:cViewPr varScale="1">
        <p:scale>
          <a:sx n="68" d="100"/>
          <a:sy n="68" d="100"/>
        </p:scale>
        <p:origin x="31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922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7719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9962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8281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4491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537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5596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8575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5300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863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9870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5555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7783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475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80558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3658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64277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92497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9058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0475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11423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52520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55579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9.1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9.1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400050" y="1559469"/>
            <a:ext cx="8343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Based on Practice 8.2, rename the file ‘interestData.py’ to ‘interestDataEnsemble.py’, change the class name accordingly</a:t>
            </a:r>
          </a:p>
          <a:p>
            <a:pPr algn="ctr"/>
            <a:r>
              <a:rPr lang="zh-CN" altLang="en-US" sz="2200" dirty="0"/>
              <a:t>基于实践</a:t>
            </a:r>
            <a:r>
              <a:rPr lang="en-US" altLang="zh-CN" sz="2200" dirty="0"/>
              <a:t>8.2</a:t>
            </a:r>
            <a:r>
              <a:rPr lang="zh-CN" altLang="en-US" sz="2200" dirty="0"/>
              <a:t>，将文件“</a:t>
            </a:r>
            <a:r>
              <a:rPr lang="en-US" altLang="zh-CN" sz="2200" dirty="0"/>
              <a:t>interestData.py</a:t>
            </a:r>
            <a:r>
              <a:rPr lang="zh-CN" altLang="en-US" sz="2200" dirty="0"/>
              <a:t>”重命名为“</a:t>
            </a:r>
            <a:r>
              <a:rPr lang="en-US" altLang="zh-CN" sz="2200" dirty="0"/>
              <a:t>interestDataEnsemble.py</a:t>
            </a:r>
            <a:r>
              <a:rPr lang="zh-CN" altLang="en-US" sz="2200" dirty="0"/>
              <a:t>”，对类型名也作相应改动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209624-4641-46AC-B1CB-560A2530FB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91" y="2935650"/>
            <a:ext cx="4686954" cy="38105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205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5F4713-4362-4F3C-B142-779EB1B6DC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524" y="2971800"/>
            <a:ext cx="6249272" cy="22863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F4AF05-52BD-4783-B4E3-4BDB9612C3D7}"/>
              </a:ext>
            </a:extLst>
          </p:cNvPr>
          <p:cNvSpPr txBox="1"/>
          <p:nvPr/>
        </p:nvSpPr>
        <p:spPr>
          <a:xfrm>
            <a:off x="111292" y="1600200"/>
            <a:ext cx="89214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member function ‘</a:t>
            </a:r>
            <a:r>
              <a:rPr lang="en-US" altLang="zh-CN" sz="2200" dirty="0" err="1"/>
              <a:t>get_items_and_label</a:t>
            </a:r>
            <a:r>
              <a:rPr lang="en-US" altLang="zh-CN" sz="2200" dirty="0"/>
              <a:t>’, rewrite the for loop to find &amp; return the position of ‘interest’ as well  </a:t>
            </a:r>
          </a:p>
          <a:p>
            <a:pPr algn="ctr"/>
            <a:r>
              <a:rPr lang="zh-CN" altLang="en-US" sz="2200" dirty="0"/>
              <a:t>在成员函数“</a:t>
            </a:r>
            <a:r>
              <a:rPr lang="en-US" altLang="zh-CN" sz="2200" dirty="0" err="1"/>
              <a:t>get_items_and_label</a:t>
            </a:r>
            <a:r>
              <a:rPr lang="zh-CN" altLang="en-US" sz="2200" dirty="0"/>
              <a:t>”中，重写</a:t>
            </a:r>
            <a:r>
              <a:rPr lang="en-US" altLang="zh-CN" sz="2200" dirty="0"/>
              <a:t>for</a:t>
            </a:r>
            <a:r>
              <a:rPr lang="zh-CN" altLang="en-US" sz="2200" dirty="0"/>
              <a:t>循环，找到“</a:t>
            </a:r>
            <a:r>
              <a:rPr lang="en-US" altLang="zh-CN" sz="2200" dirty="0"/>
              <a:t>interest</a:t>
            </a:r>
            <a:r>
              <a:rPr lang="zh-CN" altLang="en-US" sz="2200" dirty="0"/>
              <a:t>”的位置并追加返回该位置</a:t>
            </a:r>
            <a:endParaRPr lang="en-US" altLang="zh-CN" sz="2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3BA87B-1B73-45F1-A4CA-CB0113E033C3}"/>
              </a:ext>
            </a:extLst>
          </p:cNvPr>
          <p:cNvGrpSpPr/>
          <p:nvPr/>
        </p:nvGrpSpPr>
        <p:grpSpPr>
          <a:xfrm>
            <a:off x="196615" y="3010655"/>
            <a:ext cx="4419600" cy="3468458"/>
            <a:chOff x="1997786" y="3151825"/>
            <a:chExt cx="4419600" cy="346845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A185D4-C62D-45AC-B74A-21E5D0A97A7C}"/>
                </a:ext>
              </a:extLst>
            </p:cNvPr>
            <p:cNvSpPr txBox="1"/>
            <p:nvPr/>
          </p:nvSpPr>
          <p:spPr>
            <a:xfrm>
              <a:off x="1997786" y="5512287"/>
              <a:ext cx="44196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Variable to locate the position of ‘interest’</a:t>
              </a:r>
            </a:p>
            <a:p>
              <a:pPr algn="ctr"/>
              <a:r>
                <a:rPr lang="zh-CN" altLang="en-US" sz="2200" dirty="0"/>
                <a:t>用于找到“</a:t>
              </a:r>
              <a:r>
                <a:rPr lang="en-US" altLang="zh-CN" sz="2200" dirty="0"/>
                <a:t>interest</a:t>
              </a:r>
              <a:r>
                <a:rPr lang="zh-CN" altLang="en-US" sz="2200" dirty="0"/>
                <a:t>”位置的变量</a:t>
              </a:r>
              <a:endParaRPr lang="en-US" altLang="zh-CN" sz="2200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CF420D3-AD53-4E79-83A0-8DB023D0F010}"/>
                </a:ext>
              </a:extLst>
            </p:cNvPr>
            <p:cNvCxnSpPr>
              <a:cxnSpLocks/>
              <a:stCxn id="15" idx="0"/>
              <a:endCxn id="18" idx="2"/>
            </p:cNvCxnSpPr>
            <p:nvPr/>
          </p:nvCxnSpPr>
          <p:spPr bwMode="auto">
            <a:xfrm flipV="1">
              <a:off x="4207586" y="3353602"/>
              <a:ext cx="1" cy="21586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BF856F8-D8FF-4D88-AE31-8755370EB336}"/>
                </a:ext>
              </a:extLst>
            </p:cNvPr>
            <p:cNvSpPr/>
            <p:nvPr/>
          </p:nvSpPr>
          <p:spPr bwMode="auto">
            <a:xfrm>
              <a:off x="3341413" y="3151825"/>
              <a:ext cx="1732347" cy="20177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0736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5F4713-4362-4F3C-B142-779EB1B6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524" y="2971800"/>
            <a:ext cx="6249272" cy="22863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F4AF05-52BD-4783-B4E3-4BDB9612C3D7}"/>
              </a:ext>
            </a:extLst>
          </p:cNvPr>
          <p:cNvSpPr txBox="1"/>
          <p:nvPr/>
        </p:nvSpPr>
        <p:spPr>
          <a:xfrm>
            <a:off x="111292" y="1600200"/>
            <a:ext cx="89214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member function ‘</a:t>
            </a:r>
            <a:r>
              <a:rPr lang="en-US" altLang="zh-CN" sz="2200" dirty="0" err="1"/>
              <a:t>get_items_and_label</a:t>
            </a:r>
            <a:r>
              <a:rPr lang="en-US" altLang="zh-CN" sz="2200" dirty="0"/>
              <a:t>’, rewrite the for loop to find &amp; return the position of ‘interest’ as well  </a:t>
            </a:r>
          </a:p>
          <a:p>
            <a:pPr algn="ctr"/>
            <a:r>
              <a:rPr lang="zh-CN" altLang="en-US" sz="2200" dirty="0"/>
              <a:t>在成员函数“</a:t>
            </a:r>
            <a:r>
              <a:rPr lang="en-US" altLang="zh-CN" sz="2200" dirty="0" err="1"/>
              <a:t>get_items_and_label</a:t>
            </a:r>
            <a:r>
              <a:rPr lang="zh-CN" altLang="en-US" sz="2200" dirty="0"/>
              <a:t>”中，重写</a:t>
            </a:r>
            <a:r>
              <a:rPr lang="en-US" altLang="zh-CN" sz="2200" dirty="0"/>
              <a:t>for</a:t>
            </a:r>
            <a:r>
              <a:rPr lang="zh-CN" altLang="en-US" sz="2200" dirty="0"/>
              <a:t>循环，找到“</a:t>
            </a:r>
            <a:r>
              <a:rPr lang="en-US" altLang="zh-CN" sz="2200" dirty="0"/>
              <a:t>interest</a:t>
            </a:r>
            <a:r>
              <a:rPr lang="zh-CN" altLang="en-US" sz="2200" dirty="0"/>
              <a:t>”的位置并追加返回该位置</a:t>
            </a:r>
            <a:endParaRPr lang="en-US" altLang="zh-CN" sz="2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3BA87B-1B73-45F1-A4CA-CB0113E033C3}"/>
              </a:ext>
            </a:extLst>
          </p:cNvPr>
          <p:cNvGrpSpPr/>
          <p:nvPr/>
        </p:nvGrpSpPr>
        <p:grpSpPr>
          <a:xfrm>
            <a:off x="1203960" y="3208020"/>
            <a:ext cx="5257800" cy="3572530"/>
            <a:chOff x="3005131" y="3349190"/>
            <a:chExt cx="5257800" cy="35725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A185D4-C62D-45AC-B74A-21E5D0A97A7C}"/>
                </a:ext>
              </a:extLst>
            </p:cNvPr>
            <p:cNvSpPr txBox="1"/>
            <p:nvPr/>
          </p:nvSpPr>
          <p:spPr>
            <a:xfrm>
              <a:off x="3005131" y="5475170"/>
              <a:ext cx="525780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Change the for loop type to iterate all the positions, not all the word items</a:t>
              </a:r>
            </a:p>
            <a:p>
              <a:pPr algn="ctr"/>
              <a:r>
                <a:rPr lang="zh-CN" altLang="en-US" sz="2200" dirty="0"/>
                <a:t>改变</a:t>
              </a:r>
              <a:r>
                <a:rPr lang="en-US" altLang="zh-CN" sz="2200" dirty="0"/>
                <a:t>for</a:t>
              </a:r>
              <a:r>
                <a:rPr lang="zh-CN" altLang="en-US" sz="2200" dirty="0"/>
                <a:t>循环的类型，遍历所有的位置，而非所有的词项</a:t>
              </a:r>
              <a:endParaRPr lang="en-US" altLang="zh-CN" sz="2200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CF420D3-AD53-4E79-83A0-8DB023D0F010}"/>
                </a:ext>
              </a:extLst>
            </p:cNvPr>
            <p:cNvCxnSpPr>
              <a:cxnSpLocks/>
              <a:stCxn id="15" idx="0"/>
              <a:endCxn id="18" idx="2"/>
            </p:cNvCxnSpPr>
            <p:nvPr/>
          </p:nvCxnSpPr>
          <p:spPr bwMode="auto">
            <a:xfrm flipV="1">
              <a:off x="5634031" y="3631130"/>
              <a:ext cx="0" cy="184404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BF856F8-D8FF-4D88-AE31-8755370EB336}"/>
                </a:ext>
              </a:extLst>
            </p:cNvPr>
            <p:cNvSpPr/>
            <p:nvPr/>
          </p:nvSpPr>
          <p:spPr bwMode="auto">
            <a:xfrm>
              <a:off x="3363271" y="3349190"/>
              <a:ext cx="4541520" cy="28194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8676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5F4713-4362-4F3C-B142-779EB1B6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524" y="2971800"/>
            <a:ext cx="6249272" cy="22863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F4AF05-52BD-4783-B4E3-4BDB9612C3D7}"/>
              </a:ext>
            </a:extLst>
          </p:cNvPr>
          <p:cNvSpPr txBox="1"/>
          <p:nvPr/>
        </p:nvSpPr>
        <p:spPr>
          <a:xfrm>
            <a:off x="111292" y="1600200"/>
            <a:ext cx="89214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member function ‘</a:t>
            </a:r>
            <a:r>
              <a:rPr lang="en-US" altLang="zh-CN" sz="2200" dirty="0" err="1"/>
              <a:t>get_items_and_label</a:t>
            </a:r>
            <a:r>
              <a:rPr lang="en-US" altLang="zh-CN" sz="2200" dirty="0"/>
              <a:t>’, rewrite the for loop to find &amp; return the position of ‘interest’ as well  </a:t>
            </a:r>
          </a:p>
          <a:p>
            <a:pPr algn="ctr"/>
            <a:r>
              <a:rPr lang="zh-CN" altLang="en-US" sz="2200" dirty="0"/>
              <a:t>在成员函数“</a:t>
            </a:r>
            <a:r>
              <a:rPr lang="en-US" altLang="zh-CN" sz="2200" dirty="0" err="1"/>
              <a:t>get_items_and_label</a:t>
            </a:r>
            <a:r>
              <a:rPr lang="zh-CN" altLang="en-US" sz="2200" dirty="0"/>
              <a:t>”中，重写</a:t>
            </a:r>
            <a:r>
              <a:rPr lang="en-US" altLang="zh-CN" sz="2200" dirty="0"/>
              <a:t>for</a:t>
            </a:r>
            <a:r>
              <a:rPr lang="zh-CN" altLang="en-US" sz="2200" dirty="0"/>
              <a:t>循环，找到“</a:t>
            </a:r>
            <a:r>
              <a:rPr lang="en-US" altLang="zh-CN" sz="2200" dirty="0"/>
              <a:t>interest</a:t>
            </a:r>
            <a:r>
              <a:rPr lang="zh-CN" altLang="en-US" sz="2200" dirty="0"/>
              <a:t>”的位置并追加返回该位置</a:t>
            </a:r>
            <a:endParaRPr lang="en-US" altLang="zh-CN" sz="2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3BA87B-1B73-45F1-A4CA-CB0113E033C3}"/>
              </a:ext>
            </a:extLst>
          </p:cNvPr>
          <p:cNvGrpSpPr/>
          <p:nvPr/>
        </p:nvGrpSpPr>
        <p:grpSpPr>
          <a:xfrm>
            <a:off x="797560" y="4229100"/>
            <a:ext cx="5257800" cy="2019300"/>
            <a:chOff x="2598731" y="4370270"/>
            <a:chExt cx="5257800" cy="201930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A185D4-C62D-45AC-B74A-21E5D0A97A7C}"/>
                </a:ext>
              </a:extLst>
            </p:cNvPr>
            <p:cNvSpPr txBox="1"/>
            <p:nvPr/>
          </p:nvSpPr>
          <p:spPr>
            <a:xfrm>
              <a:off x="2598731" y="5620129"/>
              <a:ext cx="52578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Record the position of ‘interest’</a:t>
              </a:r>
            </a:p>
            <a:p>
              <a:pPr algn="ctr"/>
              <a:r>
                <a:rPr lang="zh-CN" altLang="en-US" sz="2200" dirty="0"/>
                <a:t>记录“</a:t>
              </a:r>
              <a:r>
                <a:rPr lang="en-US" altLang="zh-CN" sz="2200" dirty="0"/>
                <a:t>interest</a:t>
              </a:r>
              <a:r>
                <a:rPr lang="zh-CN" altLang="en-US" sz="2200" dirty="0"/>
                <a:t>”的位置</a:t>
              </a:r>
              <a:endParaRPr lang="en-US" altLang="zh-CN" sz="2200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CF420D3-AD53-4E79-83A0-8DB023D0F010}"/>
                </a:ext>
              </a:extLst>
            </p:cNvPr>
            <p:cNvCxnSpPr>
              <a:cxnSpLocks/>
              <a:stCxn id="15" idx="0"/>
              <a:endCxn id="18" idx="2"/>
            </p:cNvCxnSpPr>
            <p:nvPr/>
          </p:nvCxnSpPr>
          <p:spPr bwMode="auto">
            <a:xfrm flipH="1" flipV="1">
              <a:off x="5211121" y="4649670"/>
              <a:ext cx="16510" cy="97045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BF856F8-D8FF-4D88-AE31-8755370EB336}"/>
                </a:ext>
              </a:extLst>
            </p:cNvPr>
            <p:cNvSpPr/>
            <p:nvPr/>
          </p:nvSpPr>
          <p:spPr bwMode="auto">
            <a:xfrm>
              <a:off x="4379271" y="4370270"/>
              <a:ext cx="1663700" cy="27940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2794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5F4713-4362-4F3C-B142-779EB1B6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524" y="2971800"/>
            <a:ext cx="6249272" cy="22863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F4AF05-52BD-4783-B4E3-4BDB9612C3D7}"/>
              </a:ext>
            </a:extLst>
          </p:cNvPr>
          <p:cNvSpPr txBox="1"/>
          <p:nvPr/>
        </p:nvSpPr>
        <p:spPr>
          <a:xfrm>
            <a:off x="111292" y="1600200"/>
            <a:ext cx="89214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member function ‘</a:t>
            </a:r>
            <a:r>
              <a:rPr lang="en-US" altLang="zh-CN" sz="2200" dirty="0" err="1"/>
              <a:t>get_items_and_label</a:t>
            </a:r>
            <a:r>
              <a:rPr lang="en-US" altLang="zh-CN" sz="2200" dirty="0"/>
              <a:t>’, rewrite the for loop to find &amp; return the position of ‘interest’ as well  </a:t>
            </a:r>
          </a:p>
          <a:p>
            <a:pPr algn="ctr"/>
            <a:r>
              <a:rPr lang="zh-CN" altLang="en-US" sz="2200" dirty="0"/>
              <a:t>在成员函数“</a:t>
            </a:r>
            <a:r>
              <a:rPr lang="en-US" altLang="zh-CN" sz="2200" dirty="0" err="1"/>
              <a:t>get_items_and_label</a:t>
            </a:r>
            <a:r>
              <a:rPr lang="zh-CN" altLang="en-US" sz="2200" dirty="0"/>
              <a:t>”中，重写</a:t>
            </a:r>
            <a:r>
              <a:rPr lang="en-US" altLang="zh-CN" sz="2200" dirty="0"/>
              <a:t>for</a:t>
            </a:r>
            <a:r>
              <a:rPr lang="zh-CN" altLang="en-US" sz="2200" dirty="0"/>
              <a:t>循环，找到“</a:t>
            </a:r>
            <a:r>
              <a:rPr lang="en-US" altLang="zh-CN" sz="2200" dirty="0"/>
              <a:t>interest</a:t>
            </a:r>
            <a:r>
              <a:rPr lang="zh-CN" altLang="en-US" sz="2200" dirty="0"/>
              <a:t>”的位置并追加返回该位置</a:t>
            </a:r>
            <a:endParaRPr lang="en-US" altLang="zh-CN" sz="2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3BA87B-1B73-45F1-A4CA-CB0113E033C3}"/>
              </a:ext>
            </a:extLst>
          </p:cNvPr>
          <p:cNvGrpSpPr/>
          <p:nvPr/>
        </p:nvGrpSpPr>
        <p:grpSpPr>
          <a:xfrm>
            <a:off x="2384636" y="4953000"/>
            <a:ext cx="5257800" cy="1430867"/>
            <a:chOff x="2316367" y="4370270"/>
            <a:chExt cx="5257800" cy="143086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A185D4-C62D-45AC-B74A-21E5D0A97A7C}"/>
                </a:ext>
              </a:extLst>
            </p:cNvPr>
            <p:cNvSpPr txBox="1"/>
            <p:nvPr/>
          </p:nvSpPr>
          <p:spPr>
            <a:xfrm>
              <a:off x="2316367" y="5031696"/>
              <a:ext cx="52578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Return the position</a:t>
              </a:r>
            </a:p>
            <a:p>
              <a:pPr algn="ctr"/>
              <a:r>
                <a:rPr lang="zh-CN" altLang="en-US" sz="2200" dirty="0"/>
                <a:t>返回该位置</a:t>
              </a:r>
              <a:endParaRPr lang="en-US" altLang="zh-CN" sz="2200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CF420D3-AD53-4E79-83A0-8DB023D0F010}"/>
                </a:ext>
              </a:extLst>
            </p:cNvPr>
            <p:cNvCxnSpPr>
              <a:cxnSpLocks/>
              <a:stCxn id="15" idx="0"/>
              <a:endCxn id="18" idx="2"/>
            </p:cNvCxnSpPr>
            <p:nvPr/>
          </p:nvCxnSpPr>
          <p:spPr bwMode="auto">
            <a:xfrm flipV="1">
              <a:off x="4945267" y="4641203"/>
              <a:ext cx="1" cy="39049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BF856F8-D8FF-4D88-AE31-8755370EB336}"/>
                </a:ext>
              </a:extLst>
            </p:cNvPr>
            <p:cNvSpPr/>
            <p:nvPr/>
          </p:nvSpPr>
          <p:spPr bwMode="auto">
            <a:xfrm>
              <a:off x="4379271" y="4370270"/>
              <a:ext cx="1131993" cy="270933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9652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5F4713-4362-4F3C-B142-779EB1B6DC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524" y="2971800"/>
            <a:ext cx="6249272" cy="22863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F4AF05-52BD-4783-B4E3-4BDB9612C3D7}"/>
              </a:ext>
            </a:extLst>
          </p:cNvPr>
          <p:cNvSpPr txBox="1"/>
          <p:nvPr/>
        </p:nvSpPr>
        <p:spPr>
          <a:xfrm>
            <a:off x="111292" y="1600200"/>
            <a:ext cx="89214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member function ‘</a:t>
            </a:r>
            <a:r>
              <a:rPr lang="en-US" altLang="zh-CN" sz="2200" dirty="0" err="1"/>
              <a:t>get_items_and_label</a:t>
            </a:r>
            <a:r>
              <a:rPr lang="en-US" altLang="zh-CN" sz="2200" dirty="0"/>
              <a:t>’, rewrite the for loop to find &amp; return the position of ‘interest’ as well  </a:t>
            </a:r>
          </a:p>
          <a:p>
            <a:pPr algn="ctr"/>
            <a:r>
              <a:rPr lang="zh-CN" altLang="en-US" sz="2200" dirty="0"/>
              <a:t>在成员函数“</a:t>
            </a:r>
            <a:r>
              <a:rPr lang="en-US" altLang="zh-CN" sz="2200" dirty="0" err="1"/>
              <a:t>get_items_and_label</a:t>
            </a:r>
            <a:r>
              <a:rPr lang="zh-CN" altLang="en-US" sz="2200" dirty="0"/>
              <a:t>”中，重写</a:t>
            </a:r>
            <a:r>
              <a:rPr lang="en-US" altLang="zh-CN" sz="2200" dirty="0"/>
              <a:t>for</a:t>
            </a:r>
            <a:r>
              <a:rPr lang="zh-CN" altLang="en-US" sz="2200" dirty="0"/>
              <a:t>循环，找到“</a:t>
            </a:r>
            <a:r>
              <a:rPr lang="en-US" altLang="zh-CN" sz="2200" dirty="0"/>
              <a:t>interest</a:t>
            </a:r>
            <a:r>
              <a:rPr lang="zh-CN" altLang="en-US" sz="2200" dirty="0"/>
              <a:t>”的位置并追加返回该位置</a:t>
            </a:r>
            <a:endParaRPr lang="en-US" altLang="zh-CN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C9C1AC-532A-4FC5-8109-DF18FECEF09F}"/>
              </a:ext>
            </a:extLst>
          </p:cNvPr>
          <p:cNvSpPr txBox="1"/>
          <p:nvPr/>
        </p:nvSpPr>
        <p:spPr>
          <a:xfrm>
            <a:off x="55646" y="5478959"/>
            <a:ext cx="90327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Modify member function ‘</a:t>
            </a:r>
            <a:r>
              <a:rPr lang="en-US" altLang="zh-CN" sz="2200" dirty="0" err="1"/>
              <a:t>build_dict</a:t>
            </a:r>
            <a:r>
              <a:rPr lang="en-US" altLang="zh-CN" sz="2200" dirty="0"/>
              <a:t>’ to accept the new return value  </a:t>
            </a:r>
            <a:r>
              <a:rPr lang="zh-CN" altLang="en-US" sz="2200" dirty="0"/>
              <a:t>修改“</a:t>
            </a:r>
            <a:r>
              <a:rPr lang="en-US" altLang="zh-CN" sz="2200" dirty="0" err="1"/>
              <a:t>build_dict</a:t>
            </a:r>
            <a:r>
              <a:rPr lang="zh-CN" altLang="en-US" sz="2200" dirty="0"/>
              <a:t>”成员函数以接受新返回的值</a:t>
            </a:r>
            <a:endParaRPr lang="en-US" altLang="zh-CN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69AF3A-DBC1-4A3C-BF32-43D27A2A8E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6248400"/>
            <a:ext cx="4401164" cy="552528"/>
          </a:xfrm>
          <a:prstGeom prst="rect">
            <a:avLst/>
          </a:prstGeom>
          <a:ln>
            <a:solidFill>
              <a:srgbClr val="C00000"/>
            </a:solidFill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2BA7976-89C8-4FBD-89AE-86C64723B5ED}"/>
              </a:ext>
            </a:extLst>
          </p:cNvPr>
          <p:cNvGrpSpPr/>
          <p:nvPr/>
        </p:nvGrpSpPr>
        <p:grpSpPr>
          <a:xfrm>
            <a:off x="4529014" y="4426388"/>
            <a:ext cx="4533939" cy="2109227"/>
            <a:chOff x="4486146" y="3843658"/>
            <a:chExt cx="4533939" cy="210922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38E6EB-D7FF-4511-9D78-D5D98087FE00}"/>
                </a:ext>
              </a:extLst>
            </p:cNvPr>
            <p:cNvSpPr txBox="1"/>
            <p:nvPr/>
          </p:nvSpPr>
          <p:spPr>
            <a:xfrm>
              <a:off x="7038885" y="3843658"/>
              <a:ext cx="198120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Accept new return value</a:t>
              </a:r>
            </a:p>
            <a:p>
              <a:pPr algn="ctr"/>
              <a:r>
                <a:rPr lang="zh-CN" altLang="en-US" sz="2200" dirty="0"/>
                <a:t>接受新返回值</a:t>
              </a:r>
              <a:endParaRPr lang="en-US" altLang="zh-CN" sz="2200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F0AB57-6D0C-4D31-A908-2F2B5BD8A5C2}"/>
                </a:ext>
              </a:extLst>
            </p:cNvPr>
            <p:cNvCxnSpPr>
              <a:cxnSpLocks/>
              <a:stCxn id="8" idx="1"/>
              <a:endCxn id="13" idx="3"/>
            </p:cNvCxnSpPr>
            <p:nvPr/>
          </p:nvCxnSpPr>
          <p:spPr bwMode="auto">
            <a:xfrm flipH="1">
              <a:off x="5089885" y="4397656"/>
              <a:ext cx="1949000" cy="143545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53072C7-AC59-4F49-B2C1-416D21BC5E50}"/>
                </a:ext>
              </a:extLst>
            </p:cNvPr>
            <p:cNvSpPr/>
            <p:nvPr/>
          </p:nvSpPr>
          <p:spPr bwMode="auto">
            <a:xfrm>
              <a:off x="4486146" y="5713334"/>
              <a:ext cx="603739" cy="239551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7271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F4AF05-52BD-4783-B4E3-4BDB9612C3D7}"/>
              </a:ext>
            </a:extLst>
          </p:cNvPr>
          <p:cNvSpPr txBox="1"/>
          <p:nvPr/>
        </p:nvSpPr>
        <p:spPr>
          <a:xfrm>
            <a:off x="111292" y="1600200"/>
            <a:ext cx="892141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Rewrite the member function ‘</a:t>
            </a:r>
            <a:r>
              <a:rPr lang="en-US" altLang="zh-CN" sz="2200" dirty="0" err="1"/>
              <a:t>convert_features_and_label</a:t>
            </a:r>
            <a:r>
              <a:rPr lang="en-US" altLang="zh-CN" sz="2200" dirty="0"/>
              <a:t>’. Add a new input parameter for context size. Calculate the left &amp; the right side of the context given the position of ‘interest’.</a:t>
            </a:r>
          </a:p>
          <a:p>
            <a:pPr algn="ctr"/>
            <a:r>
              <a:rPr lang="zh-CN" altLang="en-US" sz="2200" dirty="0"/>
              <a:t>重写成员函数“</a:t>
            </a:r>
            <a:r>
              <a:rPr lang="en-US" altLang="zh-CN" sz="2200" dirty="0" err="1"/>
              <a:t>convert_features_and_label</a:t>
            </a:r>
            <a:r>
              <a:rPr lang="zh-CN" altLang="en-US" sz="2200" dirty="0"/>
              <a:t>”。为上下文大小加一个新的输入参数。根据“</a:t>
            </a:r>
            <a:r>
              <a:rPr lang="en-US" altLang="zh-CN" sz="2200" dirty="0"/>
              <a:t>interest</a:t>
            </a:r>
            <a:r>
              <a:rPr lang="zh-CN" altLang="en-US" sz="2200" dirty="0"/>
              <a:t>”的位置计算上下文的左右边界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329F0-012F-4EEB-A3A5-19E58E76C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58" y="3352800"/>
            <a:ext cx="6535062" cy="2286320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8425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F4AF05-52BD-4783-B4E3-4BDB9612C3D7}"/>
              </a:ext>
            </a:extLst>
          </p:cNvPr>
          <p:cNvSpPr txBox="1"/>
          <p:nvPr/>
        </p:nvSpPr>
        <p:spPr>
          <a:xfrm>
            <a:off x="111292" y="1600200"/>
            <a:ext cx="89214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converting word items to the attributes (features), rewrite the for loop to use based on the left and right side of the context </a:t>
            </a:r>
          </a:p>
          <a:p>
            <a:pPr algn="ctr"/>
            <a:r>
              <a:rPr lang="zh-CN" altLang="en-US" sz="2200" dirty="0"/>
              <a:t>当把词项转换成属性时，基于上下文左右边界重写</a:t>
            </a:r>
            <a:r>
              <a:rPr lang="en-US" altLang="zh-CN" sz="2200" dirty="0"/>
              <a:t>for</a:t>
            </a:r>
            <a:r>
              <a:rPr lang="zh-CN" altLang="en-US" sz="2200" dirty="0"/>
              <a:t>循环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8DD29B-7704-4CA3-88F3-EB2ADC2AA3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480" y="2667000"/>
            <a:ext cx="5506218" cy="8573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7191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 </a:t>
            </a:r>
            <a:r>
              <a:rPr lang="en-US" altLang="zh-CN" dirty="0">
                <a:ea typeface="ＭＳ Ｐゴシック" panose="020B0600070205080204" pitchFamily="34" charset="-128"/>
              </a:rPr>
              <a:t>(5)</a:t>
            </a:r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F4AF05-52BD-4783-B4E3-4BDB9612C3D7}"/>
              </a:ext>
            </a:extLst>
          </p:cNvPr>
          <p:cNvSpPr txBox="1"/>
          <p:nvPr/>
        </p:nvSpPr>
        <p:spPr>
          <a:xfrm>
            <a:off x="180223" y="1676400"/>
            <a:ext cx="878355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modify the initialization function. Recall that the original initialization function read the input file &amp; convert each valid line into the attributes &amp; a class label. Here we want to convert each valid line to a set of contexts w/ different sizes &amp; a class label</a:t>
            </a:r>
          </a:p>
          <a:p>
            <a:pPr algn="ctr"/>
            <a:r>
              <a:rPr lang="zh-CN" altLang="en-US" sz="2200" dirty="0"/>
              <a:t>现在修改初始化函数。回忆一下，原先的初始化函数读取输入文件，把每一有效行转换成属性和类别标记的。这里我们要把每一有效行转换成一组不同大小的上下文和类别标记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B7F322-9981-4802-B9EB-52684F7E2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8" y="5334000"/>
            <a:ext cx="4058216" cy="6096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FA0FF7-83C1-415F-B9A0-CFEB5BD1F799}"/>
              </a:ext>
            </a:extLst>
          </p:cNvPr>
          <p:cNvSpPr txBox="1"/>
          <p:nvPr/>
        </p:nvSpPr>
        <p:spPr>
          <a:xfrm>
            <a:off x="152400" y="4268450"/>
            <a:ext cx="89214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At the beginning, use an array for different context size: 1, 3, 5, 7, &amp; full context   </a:t>
            </a:r>
            <a:r>
              <a:rPr lang="zh-CN" altLang="en-US" sz="2200" dirty="0"/>
              <a:t>在起始处，用一个数组记录不同的上下文大小：</a:t>
            </a:r>
            <a:r>
              <a:rPr lang="en-US" altLang="zh-CN" sz="2200" dirty="0"/>
              <a:t>1</a:t>
            </a:r>
            <a:r>
              <a:rPr lang="zh-CN" altLang="en-US" sz="2200" dirty="0"/>
              <a:t>，</a:t>
            </a:r>
            <a:r>
              <a:rPr lang="en-US" altLang="zh-CN" sz="2200" dirty="0"/>
              <a:t>3</a:t>
            </a:r>
            <a:r>
              <a:rPr lang="zh-CN" altLang="en-US" sz="2200" dirty="0"/>
              <a:t>，</a:t>
            </a:r>
            <a:r>
              <a:rPr lang="en-US" altLang="zh-CN" sz="2200" dirty="0"/>
              <a:t>5</a:t>
            </a:r>
            <a:r>
              <a:rPr lang="zh-CN" altLang="en-US" sz="2200" dirty="0"/>
              <a:t>，</a:t>
            </a:r>
            <a:r>
              <a:rPr lang="en-US" altLang="zh-CN" sz="2200" dirty="0"/>
              <a:t>7</a:t>
            </a:r>
            <a:r>
              <a:rPr lang="zh-CN" altLang="en-US" sz="2200" dirty="0"/>
              <a:t>和所有上下文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81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 </a:t>
            </a:r>
            <a:r>
              <a:rPr lang="en-US" altLang="zh-CN" dirty="0">
                <a:ea typeface="ＭＳ Ｐゴシック" panose="020B0600070205080204" pitchFamily="34" charset="-128"/>
              </a:rPr>
              <a:t>(6)</a:t>
            </a:r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F4AF05-52BD-4783-B4E3-4BDB9612C3D7}"/>
              </a:ext>
            </a:extLst>
          </p:cNvPr>
          <p:cNvSpPr txBox="1"/>
          <p:nvPr/>
        </p:nvSpPr>
        <p:spPr>
          <a:xfrm>
            <a:off x="855746" y="1628656"/>
            <a:ext cx="743250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rewrite the processing of each line. Here we use a 2D array for contexts w/ different sizes. Each context is an 1D array of attributes</a:t>
            </a:r>
          </a:p>
          <a:p>
            <a:pPr algn="ctr"/>
            <a:r>
              <a:rPr lang="zh-CN" altLang="en-US" sz="2200" dirty="0"/>
              <a:t>然后我们重写对每一行的处理。这里我们用一个二维数组来表示不同大小的上下文。每一个上下文是一个一维数组</a:t>
            </a:r>
            <a:endParaRPr lang="en-US" altLang="zh-CN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354706-2B97-4A14-A940-FB86BB7BC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978" y="3466818"/>
            <a:ext cx="5753902" cy="2019582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1276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Modify Classifiers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修改分类器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649931" y="1676400"/>
            <a:ext cx="784413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‘perceptron.py’, in the class ‘Perceptron’ add a new member function ‘</a:t>
            </a:r>
            <a:r>
              <a:rPr lang="en-US" altLang="zh-CN" sz="2200" dirty="0" err="1"/>
              <a:t>score_all</a:t>
            </a:r>
            <a:r>
              <a:rPr lang="en-US" altLang="zh-CN" sz="2200" dirty="0"/>
              <a:t>’ to return the scores of all the class labels in a dictionary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perceptron.py</a:t>
            </a:r>
            <a:r>
              <a:rPr lang="zh-CN" altLang="en-US" sz="2200" dirty="0"/>
              <a:t>”中的“</a:t>
            </a:r>
            <a:r>
              <a:rPr lang="en-US" altLang="zh-CN" sz="2200" dirty="0"/>
              <a:t>Perceptron</a:t>
            </a:r>
            <a:r>
              <a:rPr lang="zh-CN" altLang="en-US" sz="2200" dirty="0"/>
              <a:t>”类型中，加入一个新的成员函数“</a:t>
            </a:r>
            <a:r>
              <a:rPr lang="en-US" altLang="zh-CN" sz="2200" dirty="0" err="1"/>
              <a:t>score_all</a:t>
            </a:r>
            <a:r>
              <a:rPr lang="zh-CN" altLang="en-US" sz="2200" dirty="0"/>
              <a:t>”，返回所有类别标记的分数的字典</a:t>
            </a:r>
            <a:endParaRPr lang="en-US" altLang="zh-C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8ECD68-83C6-4BFD-87EE-4E26838285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36" y="3505200"/>
            <a:ext cx="6535062" cy="1848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0431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Modify Classifiers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修改分类器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156862" y="1592759"/>
            <a:ext cx="88302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Similarly in the class ‘</a:t>
            </a:r>
            <a:r>
              <a:rPr lang="en-US" altLang="zh-CN" sz="2200" dirty="0" err="1"/>
              <a:t>LogisticRegression</a:t>
            </a:r>
            <a:r>
              <a:rPr lang="en-US" altLang="zh-CN" sz="2200" dirty="0"/>
              <a:t>’ in ‘logisticRegression.py’, add a new member function ‘</a:t>
            </a:r>
            <a:r>
              <a:rPr lang="en-US" altLang="zh-CN" sz="2200" dirty="0" err="1"/>
              <a:t>score_all</a:t>
            </a:r>
            <a:r>
              <a:rPr lang="en-US" altLang="zh-CN" sz="2200" dirty="0"/>
              <a:t>’ to return the scores</a:t>
            </a:r>
          </a:p>
          <a:p>
            <a:pPr algn="ctr"/>
            <a:r>
              <a:rPr lang="zh-CN" altLang="en-US" sz="2200" dirty="0"/>
              <a:t>类似地，在“</a:t>
            </a:r>
            <a:r>
              <a:rPr lang="en-US" altLang="zh-CN" sz="2200" dirty="0"/>
              <a:t>logisticRegression.py</a:t>
            </a:r>
            <a:r>
              <a:rPr lang="zh-CN" altLang="en-US" sz="2200" dirty="0"/>
              <a:t>”中的“</a:t>
            </a:r>
            <a:r>
              <a:rPr lang="en-US" altLang="zh-CN" sz="2200" dirty="0" err="1"/>
              <a:t>LogisticRegression</a:t>
            </a:r>
            <a:r>
              <a:rPr lang="zh-CN" altLang="en-US" sz="2200" dirty="0"/>
              <a:t>”类型中，加入一个新的成员函数“</a:t>
            </a:r>
            <a:r>
              <a:rPr lang="en-US" altLang="zh-CN" sz="2200" dirty="0" err="1"/>
              <a:t>score_all</a:t>
            </a:r>
            <a:r>
              <a:rPr lang="zh-CN" altLang="en-US" sz="2200" dirty="0"/>
              <a:t>”，返回所有的分数</a:t>
            </a:r>
            <a:endParaRPr lang="en-US" altLang="zh-C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B06EB6-0EF7-43B1-95A7-CDE6378CA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36" y="2990598"/>
            <a:ext cx="6363588" cy="18100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9189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Learning Algorithm Instances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学习算法实例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156862" y="1592759"/>
            <a:ext cx="88302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‘ensemble.py’ &amp; import the required components</a:t>
            </a:r>
          </a:p>
          <a:p>
            <a:pPr algn="ctr"/>
            <a:r>
              <a:rPr lang="zh-CN" altLang="en-US" sz="2200" dirty="0"/>
              <a:t>创建一个新文件“</a:t>
            </a:r>
            <a:r>
              <a:rPr lang="en-US" altLang="zh-CN" sz="2200" dirty="0"/>
              <a:t>ensemble.py</a:t>
            </a:r>
            <a:r>
              <a:rPr lang="zh-CN" altLang="en-US" sz="2200" dirty="0"/>
              <a:t>”，导入需要的组件</a:t>
            </a:r>
            <a:endParaRPr lang="en-US" altLang="zh-C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26B043-6957-4978-B925-15DC73EFA5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32" y="2316480"/>
            <a:ext cx="6706536" cy="819264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B772CB-2752-4CE9-907B-E403BB4320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247786"/>
            <a:ext cx="7030432" cy="26102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4E9F09-FA7F-448A-BE80-86A7DCEABE5C}"/>
              </a:ext>
            </a:extLst>
          </p:cNvPr>
          <p:cNvSpPr txBox="1"/>
          <p:nvPr/>
        </p:nvSpPr>
        <p:spPr>
          <a:xfrm>
            <a:off x="156862" y="3155030"/>
            <a:ext cx="88302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class ‘</a:t>
            </a:r>
            <a:r>
              <a:rPr lang="en-US" altLang="zh-CN" sz="2200" dirty="0" err="1"/>
              <a:t>ClassifierFactory</a:t>
            </a:r>
            <a:r>
              <a:rPr lang="en-US" altLang="zh-CN" sz="2200" dirty="0"/>
              <a:t>’ &amp; accept an algorithm name w/ a set of parameters as the input  </a:t>
            </a:r>
            <a:r>
              <a:rPr lang="zh-CN" altLang="en-US" sz="2200" dirty="0"/>
              <a:t>创建一个新类型“</a:t>
            </a:r>
            <a:r>
              <a:rPr lang="en-US" altLang="zh-CN" sz="2200" dirty="0"/>
              <a:t>Classifier-Factory</a:t>
            </a:r>
            <a:r>
              <a:rPr lang="zh-CN" altLang="en-US" sz="2200" dirty="0"/>
              <a:t>”，在初始化函数中接受一个算法的名字和一组相应的参数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759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Learning Algorithm Instances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学习算法实例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156862" y="1592759"/>
            <a:ext cx="88302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 member function ‘</a:t>
            </a:r>
            <a:r>
              <a:rPr lang="en-US" altLang="zh-CN" sz="2200" dirty="0" err="1"/>
              <a:t>get_classifier</a:t>
            </a:r>
            <a:r>
              <a:rPr lang="en-US" altLang="zh-CN" sz="2200" dirty="0"/>
              <a:t>’ to return a new learning algorithm instance based on the classifier name &amp; parameters</a:t>
            </a:r>
          </a:p>
          <a:p>
            <a:pPr algn="ctr"/>
            <a:r>
              <a:rPr lang="zh-CN" altLang="en-US" sz="2200" dirty="0"/>
              <a:t>加一个成员函数“</a:t>
            </a:r>
            <a:r>
              <a:rPr lang="en-US" altLang="zh-CN" sz="2200" dirty="0" err="1"/>
              <a:t>get_classifier</a:t>
            </a:r>
            <a:r>
              <a:rPr lang="zh-CN" altLang="en-US" sz="2200" dirty="0"/>
              <a:t>”用作基于学习算法的名字和参数返回一个新的学习算法实例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154A4-231F-4227-B471-B591C172E7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" y="3048000"/>
            <a:ext cx="6878010" cy="30674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5479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Ensemble Learning </a:t>
            </a:r>
            <a:r>
              <a:rPr lang="zh-CN" altLang="en-US" dirty="0">
                <a:ea typeface="ＭＳ Ｐゴシック" panose="020B0600070205080204" pitchFamily="34" charset="-128"/>
              </a:rPr>
              <a:t>合奏学习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156862" y="1592759"/>
            <a:ext cx="883027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another class ‘Ensemble’ &amp; in its initialization function, taking a parameter for the </a:t>
            </a:r>
            <a:r>
              <a:rPr lang="en-US" altLang="zh-CN" sz="2200" dirty="0">
                <a:solidFill>
                  <a:srgbClr val="FF0000"/>
                </a:solidFill>
              </a:rPr>
              <a:t>factory</a:t>
            </a:r>
            <a:r>
              <a:rPr lang="en-US" altLang="zh-CN" sz="2200" dirty="0"/>
              <a:t> which will return a new learning algorithm instance on demand</a:t>
            </a:r>
          </a:p>
          <a:p>
            <a:pPr algn="ctr"/>
            <a:r>
              <a:rPr lang="zh-CN" altLang="en-US" sz="2200" dirty="0"/>
              <a:t>创建另一个新的类型“</a:t>
            </a:r>
            <a:r>
              <a:rPr lang="en-US" altLang="zh-CN" sz="2200" dirty="0"/>
              <a:t>Ensemble</a:t>
            </a:r>
            <a:r>
              <a:rPr lang="zh-CN" altLang="en-US" sz="2200" dirty="0"/>
              <a:t>”，在初始化函数中，接受一个</a:t>
            </a:r>
            <a:r>
              <a:rPr lang="zh-CN" altLang="en-US" sz="2200" dirty="0">
                <a:solidFill>
                  <a:srgbClr val="FF0000"/>
                </a:solidFill>
              </a:rPr>
              <a:t>生成器</a:t>
            </a:r>
            <a:r>
              <a:rPr lang="zh-CN" altLang="en-US" sz="2200" dirty="0"/>
              <a:t>参数，能够按需返回一个新的学习算法的实例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3FC16-DFF4-4CDF-B653-462ED363FC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0" y="3352800"/>
            <a:ext cx="4286848" cy="8383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8985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Ensemble Learning </a:t>
            </a:r>
            <a:r>
              <a:rPr lang="zh-CN" altLang="en-US" dirty="0">
                <a:ea typeface="ＭＳ Ｐゴシック" panose="020B0600070205080204" pitchFamily="34" charset="-128"/>
              </a:rPr>
              <a:t>合奏学习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F47F41-5F9F-4051-B3B9-B552296134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07" y="3810000"/>
            <a:ext cx="7697274" cy="13908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FAEAAA-FF4E-44EF-BF1A-F4FFCD41D196}"/>
              </a:ext>
            </a:extLst>
          </p:cNvPr>
          <p:cNvSpPr txBox="1"/>
          <p:nvPr/>
        </p:nvSpPr>
        <p:spPr>
          <a:xfrm>
            <a:off x="36095" y="1676400"/>
            <a:ext cx="91079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training, first get the training data to see how many contexts w/ different sizes there are to determine how many classifiers need to be trained. Then in a loop, get the learning algorithm instance from the factory</a:t>
            </a:r>
          </a:p>
          <a:p>
            <a:pPr algn="ctr"/>
            <a:r>
              <a:rPr lang="zh-CN" altLang="en-US" sz="2200" dirty="0"/>
              <a:t>训练时，先从训练数据中察看有多少不同大小的上下文，以决定要训练多少个分类器。然后在循环中通过生成器获取学习算法的实例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7027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Ensemble Learning </a:t>
            </a:r>
            <a:r>
              <a:rPr lang="zh-CN" altLang="en-US" dirty="0">
                <a:ea typeface="ＭＳ Ｐゴシック" panose="020B0600070205080204" pitchFamily="34" charset="-128"/>
              </a:rPr>
              <a:t>合奏学习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FAEAAA-FF4E-44EF-BF1A-F4FFCD41D196}"/>
              </a:ext>
            </a:extLst>
          </p:cNvPr>
          <p:cNvSpPr txBox="1"/>
          <p:nvPr/>
        </p:nvSpPr>
        <p:spPr>
          <a:xfrm>
            <a:off x="36095" y="1676400"/>
            <a:ext cx="91079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construct a new set of training data for the context with a certain size</a:t>
            </a:r>
            <a:r>
              <a:rPr lang="zh-CN" altLang="en-US" sz="2200" dirty="0"/>
              <a:t> </a:t>
            </a:r>
            <a:r>
              <a:rPr lang="en-US" altLang="zh-CN" sz="2200" dirty="0"/>
              <a:t>from the aggregated training data, train the classifier &amp; put the classifier in the ensemble list</a:t>
            </a:r>
          </a:p>
          <a:p>
            <a:pPr algn="ctr"/>
            <a:r>
              <a:rPr lang="zh-CN" altLang="en-US" sz="2200" dirty="0"/>
              <a:t>从聚合的训练数据中构造一个特定大小上下文的训练数据集，用来训练分类器，并把训练好的分类器放进合奏列表中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E76FC1-CD59-4B37-9E78-947CD8B8B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87" y="3390650"/>
            <a:ext cx="6725588" cy="1790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9417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Ensemble Learning </a:t>
            </a:r>
            <a:r>
              <a:rPr lang="zh-CN" altLang="en-US" dirty="0">
                <a:ea typeface="ＭＳ Ｐゴシック" panose="020B0600070205080204" pitchFamily="34" charset="-128"/>
              </a:rPr>
              <a:t>合奏学习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FAEAAA-FF4E-44EF-BF1A-F4FFCD41D196}"/>
              </a:ext>
            </a:extLst>
          </p:cNvPr>
          <p:cNvSpPr txBox="1"/>
          <p:nvPr/>
        </p:nvSpPr>
        <p:spPr>
          <a:xfrm>
            <a:off x="36095" y="1676400"/>
            <a:ext cx="91079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classification, for each class label, add the scores (weighted voting) from all the classifiers together using a dictionary</a:t>
            </a:r>
          </a:p>
          <a:p>
            <a:pPr algn="ctr"/>
            <a:r>
              <a:rPr lang="zh-CN" altLang="en-US" sz="2200" dirty="0"/>
              <a:t>分类时，对每一个类别标记，把所有的分类器给出的分数加起来（带权投票），记在一个字典里</a:t>
            </a:r>
            <a:endParaRPr lang="en-US" altLang="zh-CN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4F4089-324F-434B-9571-CA34CB111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49" y="3085776"/>
            <a:ext cx="6496956" cy="23244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0682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Ensemble Learning </a:t>
            </a:r>
            <a:r>
              <a:rPr lang="zh-CN" altLang="en-US" dirty="0">
                <a:ea typeface="ＭＳ Ｐゴシック" panose="020B0600070205080204" pitchFamily="34" charset="-128"/>
              </a:rPr>
              <a:t>合奏学习 </a:t>
            </a:r>
            <a:r>
              <a:rPr lang="en-US" altLang="zh-CN" dirty="0">
                <a:ea typeface="ＭＳ Ｐゴシック" panose="020B0600070205080204" pitchFamily="34" charset="-128"/>
              </a:rPr>
              <a:t>(5)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FAEAAA-FF4E-44EF-BF1A-F4FFCD41D196}"/>
              </a:ext>
            </a:extLst>
          </p:cNvPr>
          <p:cNvSpPr txBox="1"/>
          <p:nvPr/>
        </p:nvSpPr>
        <p:spPr>
          <a:xfrm>
            <a:off x="36095" y="1676400"/>
            <a:ext cx="91079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Finally get the result by choosing the highest voted label</a:t>
            </a:r>
          </a:p>
          <a:p>
            <a:pPr algn="ctr"/>
            <a:r>
              <a:rPr lang="zh-CN" altLang="en-US" sz="2200" dirty="0"/>
              <a:t>最后，获取最高票数的类别标记作为分类结果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2915C9-4DAE-442D-8830-88F831BD8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168" y="2457198"/>
            <a:ext cx="4629796" cy="18100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642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Main Program  </a:t>
            </a:r>
            <a:r>
              <a:rPr lang="zh-CN" altLang="en-US" dirty="0">
                <a:ea typeface="ＭＳ Ｐゴシック" panose="020B0600070205080204" pitchFamily="34" charset="-128"/>
              </a:rPr>
              <a:t>主程序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04799" y="1590514"/>
            <a:ext cx="8534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‘test.py’ &amp; import the required components</a:t>
            </a:r>
          </a:p>
          <a:p>
            <a:pPr algn="ctr"/>
            <a:r>
              <a:rPr lang="zh-CN" altLang="en-US" sz="2200" dirty="0"/>
              <a:t>创建一个新文件“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”，导入所需组件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8483F8-85E7-4D0F-91A3-328DF7319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28" y="2334128"/>
            <a:ext cx="3696216" cy="129558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CC0118-AF05-424A-A0B9-79BAB05098E2}"/>
              </a:ext>
            </a:extLst>
          </p:cNvPr>
          <p:cNvSpPr txBox="1"/>
          <p:nvPr/>
        </p:nvSpPr>
        <p:spPr>
          <a:xfrm>
            <a:off x="304798" y="3944048"/>
            <a:ext cx="85343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the main program, starting from reading the data from the file &amp; constructing the contexts w/ different sizes</a:t>
            </a:r>
          </a:p>
          <a:p>
            <a:pPr algn="ctr"/>
            <a:r>
              <a:rPr lang="zh-CN" altLang="en-US" sz="2200" dirty="0"/>
              <a:t>写主程序，起始处从文件中读入数据，并构造出不同大小的上下文</a:t>
            </a:r>
            <a:endParaRPr lang="en-US" altLang="zh-CN" sz="2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A8EE7A-FBF1-4D88-938A-38959B9A39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28" y="5029200"/>
            <a:ext cx="7259064" cy="1105054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713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Main Program  </a:t>
            </a:r>
            <a:r>
              <a:rPr lang="zh-CN" altLang="en-US" dirty="0">
                <a:ea typeface="ＭＳ Ｐゴシック" panose="020B0600070205080204" pitchFamily="34" charset="-128"/>
              </a:rPr>
              <a:t>主程序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8099" y="1676400"/>
            <a:ext cx="90677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Randomly split the data into the training part &amp; the evaluation part</a:t>
            </a:r>
          </a:p>
          <a:p>
            <a:pPr algn="ctr"/>
            <a:r>
              <a:rPr lang="zh-CN" altLang="en-US" sz="2200" dirty="0"/>
              <a:t>把数据随机划分成训练部分和评估部分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F7BF0-1D91-41F9-8772-A0BAC57AE0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28" y="2445841"/>
            <a:ext cx="7411484" cy="2095792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4625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Main Program  </a:t>
            </a:r>
            <a:r>
              <a:rPr lang="zh-CN" altLang="en-US" dirty="0">
                <a:ea typeface="ＭＳ Ｐゴシック" panose="020B0600070205080204" pitchFamily="34" charset="-128"/>
              </a:rPr>
              <a:t>主程序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561181" y="1601450"/>
            <a:ext cx="80216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factory generating perceptron instances, use it to create an ensemble classifier, &amp; evaluate its performance  </a:t>
            </a:r>
          </a:p>
          <a:p>
            <a:pPr algn="ctr"/>
            <a:r>
              <a:rPr lang="zh-CN" altLang="en-US" sz="2200" dirty="0"/>
              <a:t>创建一个生成感知器实例的生成器，用它创建一个合奏分类器，并评价其准确率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DA49E-B678-41BC-B054-D37E40AD45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75" y="3048000"/>
            <a:ext cx="6725588" cy="137179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EA66AE-F456-4530-9DC9-E2422E904E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12" y="5410200"/>
            <a:ext cx="4725060" cy="3620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3C6705-E725-4FB4-AC59-48C8FACD46E0}"/>
              </a:ext>
            </a:extLst>
          </p:cNvPr>
          <p:cNvSpPr txBox="1"/>
          <p:nvPr/>
        </p:nvSpPr>
        <p:spPr>
          <a:xfrm>
            <a:off x="561181" y="4640759"/>
            <a:ext cx="80216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Add a pause before going forward</a:t>
            </a:r>
          </a:p>
          <a:p>
            <a:pPr algn="ctr"/>
            <a:r>
              <a:rPr lang="zh-CN" altLang="en-US" sz="2200" dirty="0"/>
              <a:t>继续运行前加入一个停顿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186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Main Program  </a:t>
            </a:r>
            <a:r>
              <a:rPr lang="zh-CN" altLang="en-US" dirty="0">
                <a:ea typeface="ＭＳ Ｐゴシック" panose="020B0600070205080204" pitchFamily="34" charset="-128"/>
              </a:rPr>
              <a:t>主程序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0" y="1601450"/>
            <a:ext cx="89153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another factory generating logistic regression instances, use it to create an ensemble classifier, &amp; evaluate its performance  </a:t>
            </a:r>
          </a:p>
          <a:p>
            <a:pPr algn="ctr"/>
            <a:r>
              <a:rPr lang="zh-CN" altLang="en-US" sz="2200" dirty="0"/>
              <a:t>创建一个生成对数几率回归实例的生成器，用它创建一个合奏分类器，并评价其准确率</a:t>
            </a:r>
            <a:endParaRPr lang="en-US" altLang="zh-C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3C6705-E725-4FB4-AC59-48C8FACD46E0}"/>
              </a:ext>
            </a:extLst>
          </p:cNvPr>
          <p:cNvSpPr txBox="1"/>
          <p:nvPr/>
        </p:nvSpPr>
        <p:spPr>
          <a:xfrm>
            <a:off x="561180" y="4693816"/>
            <a:ext cx="80216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1DB01-AC0E-43C9-8032-37F8E4336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81" y="3028734"/>
            <a:ext cx="7754432" cy="15432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61C5B0-AD69-4609-85F1-5DBFA990FB3B}"/>
              </a:ext>
            </a:extLst>
          </p:cNvPr>
          <p:cNvSpPr txBox="1"/>
          <p:nvPr/>
        </p:nvSpPr>
        <p:spPr>
          <a:xfrm>
            <a:off x="561181" y="5124703"/>
            <a:ext cx="80216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If you have enough time (e.g., 1 hour), hit enter to continue</a:t>
            </a:r>
          </a:p>
          <a:p>
            <a:pPr algn="ctr"/>
            <a:r>
              <a:rPr lang="zh-CN" altLang="en-US" sz="2200" dirty="0"/>
              <a:t>如果你有足够的时间（例如</a:t>
            </a:r>
            <a:r>
              <a:rPr lang="en-US" altLang="zh-CN" sz="2200" dirty="0"/>
              <a:t>1</a:t>
            </a:r>
            <a:r>
              <a:rPr lang="zh-CN" altLang="en-US" sz="2200" dirty="0"/>
              <a:t>小时），按回车继续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962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39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8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2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8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34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6.5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17451</TotalTime>
  <Words>2175</Words>
  <Application>Microsoft Office PowerPoint</Application>
  <PresentationFormat>On-screen Show (4:3)</PresentationFormat>
  <Paragraphs>118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Cookbook for Practice 9.1</vt:lpstr>
      <vt:lpstr>Different Context Sizes 不同的上下文大小 (1)</vt:lpstr>
      <vt:lpstr>Different Context Sizes 不同的上下文大小 (2)</vt:lpstr>
      <vt:lpstr>Different Context Sizes 不同的上下文大小 (2)</vt:lpstr>
      <vt:lpstr>Different Context Sizes 不同的上下文大小 (2)</vt:lpstr>
      <vt:lpstr>Different Context Sizes 不同的上下文大小 (2)</vt:lpstr>
      <vt:lpstr>Different Context Sizes 不同的上下文大小 (2)</vt:lpstr>
      <vt:lpstr>Different Context Sizes 不同的上下文大小 (3)</vt:lpstr>
      <vt:lpstr>Different Context Sizes 不同的上下文大小 (4)</vt:lpstr>
      <vt:lpstr>Different Context Sizes 不同的上下文大小 (5)</vt:lpstr>
      <vt:lpstr>Different Context Sizes 不同的上下文大小 (6)</vt:lpstr>
      <vt:lpstr>Modify Classifiers  修改分类器 (1)</vt:lpstr>
      <vt:lpstr>Modify Classifiers   修改分类器 (2)</vt:lpstr>
      <vt:lpstr>Learning Algorithm Instances 学习算法实例 (1)</vt:lpstr>
      <vt:lpstr>Learning Algorithm Instances 学习算法实例 (2)</vt:lpstr>
      <vt:lpstr>Ensemble Learning 合奏学习 (1)</vt:lpstr>
      <vt:lpstr>Ensemble Learning 合奏学习 (2)</vt:lpstr>
      <vt:lpstr>Ensemble Learning 合奏学习 (3)</vt:lpstr>
      <vt:lpstr>Ensemble Learning 合奏学习 (4)</vt:lpstr>
      <vt:lpstr>Ensemble Learning 合奏学习 (5)</vt:lpstr>
      <vt:lpstr>Main Program  主程序 (1)</vt:lpstr>
      <vt:lpstr>Main Program  主程序 (2)</vt:lpstr>
      <vt:lpstr>Main Program  主程序 (3)</vt:lpstr>
      <vt:lpstr>Main Program  主程序 (4)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1331</cp:revision>
  <dcterms:created xsi:type="dcterms:W3CDTF">2003-03-13T01:36:43Z</dcterms:created>
  <dcterms:modified xsi:type="dcterms:W3CDTF">2025-03-15T09:19:41Z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d4c30054-39fe-4645-8043-55a61c37087a</vt:lpwstr>
  </property>
  <property fmtid="{D5CDD505-2E9C-101B-9397-08002B2CF9AE}" pid="3" name="CTP_TimeStamp">
    <vt:lpwstr>2020-02-04 12:00:00Z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