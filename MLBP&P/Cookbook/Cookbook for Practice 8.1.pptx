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tags/tag7.xml" ContentType="application/vnd.openxmlformats-officedocument.presentationml.tags+xml"/>
  <Override PartName="/ppt/notesSlides/notesSlide8.xml" ContentType="application/vnd.openxmlformats-officedocument.presentationml.notesSlide+xml"/>
  <Override PartName="/ppt/tags/tag8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12"/>
  </p:notesMasterIdLst>
  <p:handoutMasterIdLst>
    <p:handoutMasterId r:id="rId13"/>
  </p:handoutMasterIdLst>
  <p:sldIdLst>
    <p:sldId id="286" r:id="rId2"/>
    <p:sldId id="440" r:id="rId3"/>
    <p:sldId id="464" r:id="rId4"/>
    <p:sldId id="465" r:id="rId5"/>
    <p:sldId id="466" r:id="rId6"/>
    <p:sldId id="467" r:id="rId7"/>
    <p:sldId id="468" r:id="rId8"/>
    <p:sldId id="469" r:id="rId9"/>
    <p:sldId id="470" r:id="rId10"/>
    <p:sldId id="353" r:id="rId11"/>
  </p:sldIdLst>
  <p:sldSz cx="9144000" cy="6858000" type="screen4x3"/>
  <p:notesSz cx="7010400" cy="92964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99"/>
    <a:srgbClr val="B2B2B2"/>
    <a:srgbClr val="993366"/>
    <a:srgbClr val="339933"/>
    <a:srgbClr val="33CC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63" autoAdjust="0"/>
    <p:restoredTop sz="93504" autoAdjust="0"/>
  </p:normalViewPr>
  <p:slideViewPr>
    <p:cSldViewPr>
      <p:cViewPr varScale="1">
        <p:scale>
          <a:sx n="68" d="100"/>
          <a:sy n="68" d="100"/>
        </p:scale>
        <p:origin x="307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275" y="6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1FF96B3-5193-4D4F-ADAC-C41F873FC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82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806C1B-B03E-46DA-85CD-D90BC0B37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36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D2CF438-6F28-4EDA-8826-7EA47CD870C5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1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99229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41218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336879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74469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213358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266913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510684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820475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57F7688E-3E4A-461B-8D10-9B016CF52F5C}" type="slidenum">
              <a:rPr lang="en-US" altLang="zh-CN" smtClean="0">
                <a:latin typeface="Arial" panose="020B0604020202020204" pitchFamily="34" charset="0"/>
              </a:rPr>
              <a:pPr/>
              <a:t>10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4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F41B76D-9336-435E-89FD-3D5A1B7742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8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380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9853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094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10844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53766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62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944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7928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9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457200"/>
            <a:ext cx="20383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457200"/>
            <a:ext cx="59626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366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717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717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39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39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066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09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00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22363" y="457200"/>
            <a:ext cx="77930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0" y="6243638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7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462088"/>
          </a:xfrm>
        </p:spPr>
        <p:txBody>
          <a:bodyPr/>
          <a:lstStyle/>
          <a:p>
            <a:pPr algn="ctr" eaLnBrk="1" hangingPunct="1"/>
            <a:r>
              <a:rPr lang="en-US" altLang="zh-CN" sz="3600" b="1" dirty="0">
                <a:ea typeface="SimSun" panose="02010600030101010101" pitchFamily="2" charset="-122"/>
              </a:rPr>
              <a:t>Cookbook for Practice 8.1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876800"/>
            <a:ext cx="6553200" cy="76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SimSun" panose="02010600030101010101" pitchFamily="2" charset="-122"/>
              </a:rPr>
              <a:t>Cong Li </a:t>
            </a:r>
            <a:r>
              <a:rPr lang="zh-CN" altLang="en-US" sz="2800" dirty="0">
                <a:ea typeface="SimSun" panose="02010600030101010101" pitchFamily="2" charset="-122"/>
              </a:rPr>
              <a:t>李聪</a:t>
            </a: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50F980-1D76-4E39-94EB-A1B939407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477465"/>
            <a:ext cx="7772400" cy="115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zh-CN" altLang="en-US" sz="3600" b="1" kern="0" dirty="0">
                <a:ea typeface="SimSun" panose="02010600030101010101" pitchFamily="2" charset="-122"/>
              </a:rPr>
              <a:t>实践</a:t>
            </a:r>
            <a:r>
              <a:rPr lang="en-US" altLang="zh-CN" sz="3600" b="1" kern="0" dirty="0">
                <a:ea typeface="SimSun" panose="02010600030101010101" pitchFamily="2" charset="-122"/>
              </a:rPr>
              <a:t>8.1</a:t>
            </a:r>
            <a:r>
              <a:rPr lang="zh-CN" altLang="en-US" sz="3600" b="1" kern="0" dirty="0">
                <a:ea typeface="SimSun" panose="02010600030101010101" pitchFamily="2" charset="-122"/>
              </a:rPr>
              <a:t>攻略</a:t>
            </a:r>
            <a:endParaRPr lang="en-US" altLang="zh-CN" sz="3600" b="1" kern="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Binary Logistic Regression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两类对数几率回归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190500" y="1600200"/>
            <a:ext cx="87630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Start a new file ‘logisticRegression.py’, import ‘</a:t>
            </a:r>
            <a:r>
              <a:rPr lang="en-US" altLang="zh-CN" sz="2200" dirty="0" err="1"/>
              <a:t>numpy</a:t>
            </a:r>
            <a:r>
              <a:rPr lang="en-US" altLang="zh-CN" sz="2200" dirty="0"/>
              <a:t>’ &amp;</a:t>
            </a:r>
            <a:r>
              <a:rPr lang="zh-CN" altLang="en-US" sz="2200" dirty="0"/>
              <a:t> </a:t>
            </a:r>
            <a:r>
              <a:rPr lang="en-US" altLang="zh-CN" sz="2200" dirty="0"/>
              <a:t>‘math’, create a class of ‘</a:t>
            </a:r>
            <a:r>
              <a:rPr lang="en-US" altLang="zh-CN" sz="2200" dirty="0" err="1"/>
              <a:t>BinaryLogisticRegression</a:t>
            </a:r>
            <a:r>
              <a:rPr lang="en-US" altLang="zh-CN" sz="2200" dirty="0"/>
              <a:t>’, &amp; in its initialization function take 4 input parameters for the regularization parameter, tolerance in gradient descent, maximum number of iterations, &amp; learning rate.  </a:t>
            </a:r>
          </a:p>
          <a:p>
            <a:pPr algn="ctr"/>
            <a:r>
              <a:rPr lang="zh-CN" altLang="en-US" sz="2200" dirty="0"/>
              <a:t>开启一个新文件“</a:t>
            </a:r>
            <a:r>
              <a:rPr lang="en-US" altLang="zh-CN" sz="2200" dirty="0"/>
              <a:t>logisticRegression.py</a:t>
            </a:r>
            <a:r>
              <a:rPr lang="zh-CN" altLang="en-US" sz="2200" dirty="0"/>
              <a:t>”，导入“</a:t>
            </a:r>
            <a:r>
              <a:rPr lang="en-US" altLang="zh-CN" sz="2200" dirty="0" err="1"/>
              <a:t>numpy</a:t>
            </a:r>
            <a:r>
              <a:rPr lang="zh-CN" altLang="en-US" sz="2200" dirty="0"/>
              <a:t>”和“</a:t>
            </a:r>
            <a:r>
              <a:rPr lang="en-US" altLang="zh-CN" sz="2200" dirty="0"/>
              <a:t>math</a:t>
            </a:r>
            <a:r>
              <a:rPr lang="zh-CN" altLang="en-US" sz="2200" dirty="0"/>
              <a:t>”，创建“</a:t>
            </a:r>
            <a:r>
              <a:rPr lang="en-US" altLang="zh-CN" sz="2200" dirty="0" err="1"/>
              <a:t>BinaryLogisticRegression</a:t>
            </a:r>
            <a:r>
              <a:rPr lang="zh-CN" altLang="en-US" sz="2200" dirty="0"/>
              <a:t>”类型，并在其初始化函数中接受</a:t>
            </a:r>
            <a:r>
              <a:rPr lang="en-US" altLang="zh-CN" sz="2200" dirty="0"/>
              <a:t>4</a:t>
            </a:r>
            <a:r>
              <a:rPr lang="zh-CN" altLang="en-US" sz="2200" dirty="0"/>
              <a:t>个参数：调整参数、损失变化容忍度、最大训练轮数的参数和学习速度。</a:t>
            </a:r>
            <a:endParaRPr lang="en-US" altLang="zh-CN" sz="2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48E0AC-D599-4BD5-9B63-D6F3B39D6F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06" y="4724400"/>
            <a:ext cx="8630854" cy="156231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82051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Binary Logistic Regression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两类对数几率回归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228600" y="1600200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Use 4 member variables to store those parameters</a:t>
            </a:r>
          </a:p>
          <a:p>
            <a:pPr algn="ctr"/>
            <a:r>
              <a:rPr lang="zh-CN" altLang="en-US" sz="2200" dirty="0"/>
              <a:t>用</a:t>
            </a:r>
            <a:r>
              <a:rPr lang="en-US" altLang="zh-CN" sz="2200" dirty="0"/>
              <a:t>4</a:t>
            </a:r>
            <a:r>
              <a:rPr lang="zh-CN" altLang="en-US" sz="2200" dirty="0"/>
              <a:t>个成员变量存储这些参数</a:t>
            </a:r>
            <a:endParaRPr lang="en-US" altLang="zh-CN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41AC14-96E9-434C-BA4F-482C8409AF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2362052"/>
            <a:ext cx="4648848" cy="10669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22E553E-2F8A-4A53-AB1B-079DD48626D6}"/>
              </a:ext>
            </a:extLst>
          </p:cNvPr>
          <p:cNvSpPr txBox="1"/>
          <p:nvPr/>
        </p:nvSpPr>
        <p:spPr>
          <a:xfrm>
            <a:off x="228600" y="3600336"/>
            <a:ext cx="83058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Assuming two member variables of the class, bias b &amp; weight array w, are properly maintained, write a scoring member function to calculate the score of an input data sample</a:t>
            </a:r>
          </a:p>
          <a:p>
            <a:pPr algn="ctr"/>
            <a:r>
              <a:rPr lang="zh-CN" altLang="en-US" sz="2200" dirty="0"/>
              <a:t>假设我们恰当地维持着偏向</a:t>
            </a:r>
            <a:r>
              <a:rPr lang="en-US" altLang="zh-CN" sz="2200" dirty="0"/>
              <a:t>b</a:t>
            </a:r>
            <a:r>
              <a:rPr lang="zh-CN" altLang="en-US" sz="2200" dirty="0"/>
              <a:t>和权重</a:t>
            </a:r>
            <a:r>
              <a:rPr lang="en-US" altLang="zh-CN" sz="2200" dirty="0"/>
              <a:t>w</a:t>
            </a:r>
            <a:r>
              <a:rPr lang="zh-CN" altLang="en-US" sz="2200" dirty="0"/>
              <a:t>数组这两个成员变量，写一个计分的成员函数来计算某个给定输入数据的得分</a:t>
            </a:r>
            <a:endParaRPr lang="en-US" altLang="zh-CN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D0AB42-57B1-4B6A-AA3A-0205E8AD15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822" y="5352936"/>
            <a:ext cx="7011378" cy="8192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71080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Binary Logistic Regression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两类对数几率回归 </a:t>
            </a:r>
            <a:r>
              <a:rPr lang="en-US" altLang="zh-CN" dirty="0">
                <a:ea typeface="ＭＳ Ｐゴシック" panose="020B0600070205080204" pitchFamily="34" charset="-128"/>
              </a:rPr>
              <a:t>(3)</a:t>
            </a:r>
            <a:endParaRPr lang="zh-CN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2E553E-2F8A-4A53-AB1B-079DD48626D6}"/>
              </a:ext>
            </a:extLst>
          </p:cNvPr>
          <p:cNvSpPr txBox="1"/>
          <p:nvPr/>
        </p:nvSpPr>
        <p:spPr>
          <a:xfrm>
            <a:off x="228600" y="4038600"/>
            <a:ext cx="8305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Use a member function to translate the class label of negative samples from -1 to 0</a:t>
            </a:r>
            <a:br>
              <a:rPr lang="en-US" altLang="zh-CN" sz="2200" dirty="0"/>
            </a:br>
            <a:r>
              <a:rPr lang="zh-CN" altLang="en-US" sz="2200" dirty="0"/>
              <a:t>用一个成员函数把反例的类别标记从</a:t>
            </a:r>
            <a:r>
              <a:rPr lang="en-US" altLang="zh-CN" sz="2200" dirty="0"/>
              <a:t>-1</a:t>
            </a:r>
            <a:r>
              <a:rPr lang="zh-CN" altLang="en-US" sz="2200" dirty="0"/>
              <a:t>转化成</a:t>
            </a:r>
            <a:r>
              <a:rPr lang="en-US" altLang="zh-CN" sz="22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1E8008-2995-48DD-BB9D-7F154F84D76E}"/>
              </a:ext>
            </a:extLst>
          </p:cNvPr>
          <p:cNvSpPr txBox="1"/>
          <p:nvPr/>
        </p:nvSpPr>
        <p:spPr>
          <a:xfrm>
            <a:off x="419100" y="1592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Write another member function for classification based on the score  </a:t>
            </a:r>
            <a:r>
              <a:rPr lang="zh-CN" altLang="en-US" sz="2200" dirty="0"/>
              <a:t>再写一个成员函数，基于得分进行分类</a:t>
            </a:r>
            <a:endParaRPr lang="en-US" altLang="zh-C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CF64C5-B2E4-467D-9C33-1469FB213B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801" y="2323882"/>
            <a:ext cx="4782218" cy="15623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87422F8-5253-4725-A06C-73A9120393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859" y="5105400"/>
            <a:ext cx="4458322" cy="106694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6030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Binary Logistic Regression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两类对数几率回归 </a:t>
            </a:r>
            <a:r>
              <a:rPr lang="en-US" altLang="zh-CN" dirty="0">
                <a:ea typeface="ＭＳ Ｐゴシック" panose="020B0600070205080204" pitchFamily="34" charset="-128"/>
              </a:rPr>
              <a:t>(4)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1E8008-2995-48DD-BB9D-7F154F84D76E}"/>
              </a:ext>
            </a:extLst>
          </p:cNvPr>
          <p:cNvSpPr txBox="1"/>
          <p:nvPr/>
        </p:nvSpPr>
        <p:spPr>
          <a:xfrm>
            <a:off x="419100" y="1592759"/>
            <a:ext cx="83058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Now we come to the training part. At the beginning, initialize the weights &amp; bias. Use a temporarily variable to record the previous loss. In each iteration of training, initialize the gradients &amp; the loss.</a:t>
            </a:r>
          </a:p>
          <a:p>
            <a:pPr algn="ctr"/>
            <a:r>
              <a:rPr lang="zh-CN" altLang="en-US" sz="2200" dirty="0"/>
              <a:t>现在我们进入训练部分。一开始，初始化权重和偏向，用一个临时变量记录上一轮的损失。在每一轮训练开始之际初始化梯度和损失</a:t>
            </a:r>
            <a:endParaRPr lang="en-US" altLang="zh-CN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C61193-A3A7-4D5B-A9A7-CB882D2970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757" y="3733800"/>
            <a:ext cx="7925906" cy="230537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26812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Binary Logistic Regression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两类对数几率回归 </a:t>
            </a:r>
            <a:r>
              <a:rPr lang="en-US" altLang="zh-CN" dirty="0">
                <a:ea typeface="ＭＳ Ｐゴシック" panose="020B0600070205080204" pitchFamily="34" charset="-128"/>
              </a:rPr>
              <a:t>(5)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81E8008-2995-48DD-BB9D-7F154F84D76E}"/>
                  </a:ext>
                </a:extLst>
              </p:cNvPr>
              <p:cNvSpPr txBox="1"/>
              <p:nvPr/>
            </p:nvSpPr>
            <p:spPr>
              <a:xfrm>
                <a:off x="419100" y="1592759"/>
                <a:ext cx="8305800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For each training sample, calculate the loss, </a:t>
                </a:r>
                <a14:m>
                  <m:oMath xmlns:m="http://schemas.openxmlformats.org/officeDocument/2006/math">
                    <m:r>
                      <a:rPr lang="en-US" altLang="zh-CN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zh-CN" sz="22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𝐰</m:t>
                    </m:r>
                  </m:oMath>
                </a14:m>
                <a:r>
                  <a:rPr lang="en-US" altLang="zh-CN" sz="2200" dirty="0"/>
                  <a:t>, &amp; </a:t>
                </a:r>
                <a14:m>
                  <m:oMath xmlns:m="http://schemas.openxmlformats.org/officeDocument/2006/math">
                    <m:r>
                      <a:rPr lang="en-US" altLang="zh-CN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endParaRPr lang="en-US" altLang="zh-CN" sz="2200" dirty="0"/>
              </a:p>
              <a:p>
                <a:pPr algn="ctr"/>
                <a:r>
                  <a:rPr lang="zh-CN" altLang="en-US" sz="2200" dirty="0"/>
                  <a:t>对每一个训练数据，计算损失、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zh-CN" sz="22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𝐰</m:t>
                    </m:r>
                  </m:oMath>
                </a14:m>
                <a:r>
                  <a:rPr lang="zh-CN" altLang="en-US" sz="2200" dirty="0"/>
                  <a:t>和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endParaRPr lang="en-US" altLang="zh-CN" sz="2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81E8008-2995-48DD-BB9D-7F154F84D7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" y="1592759"/>
                <a:ext cx="8305800" cy="769441"/>
              </a:xfrm>
              <a:prstGeom prst="rect">
                <a:avLst/>
              </a:prstGeom>
              <a:blipFill>
                <a:blip r:embed="rId6"/>
                <a:stretch>
                  <a:fillRect t="-4724" b="-118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769D9274-696A-4CCE-BD0D-EE10C4799A9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8536" y="2362200"/>
            <a:ext cx="6516010" cy="2324424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2B9536B9-6128-4878-AEF4-789B428611F2}"/>
              </a:ext>
            </a:extLst>
          </p:cNvPr>
          <p:cNvGrpSpPr/>
          <p:nvPr/>
        </p:nvGrpSpPr>
        <p:grpSpPr>
          <a:xfrm>
            <a:off x="1600200" y="3646370"/>
            <a:ext cx="7668571" cy="2443879"/>
            <a:chOff x="1600200" y="3646370"/>
            <a:chExt cx="7668571" cy="24438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F9D4AE9-1D83-4D25-947A-242966ACD54B}"/>
                    </a:ext>
                  </a:extLst>
                </p:cNvPr>
                <p:cNvSpPr txBox="1"/>
                <p:nvPr/>
              </p:nvSpPr>
              <p:spPr>
                <a:xfrm>
                  <a:off x="1600200" y="5320808"/>
                  <a:ext cx="7668571" cy="7694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CN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  <m:r>
                          <a:rPr lang="en-US" altLang="zh-CN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  <m:r>
                          <m:rPr>
                            <m:sty m:val="p"/>
                          </m:rPr>
                          <a:rPr lang="en-US" altLang="zh-CN" sz="2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e>
                            <m:r>
                              <a:rPr lang="en-US" altLang="zh-CN" sz="2200" b="1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𝐱</m:t>
                            </m:r>
                          </m:e>
                        </m:d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nor/>
                          </m:rPr>
                          <a:rPr lang="en-US" altLang="zh-CN" sz="2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altLang="zh-CN" sz="2200" b="1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𝐱</m:t>
                            </m:r>
                          </m:e>
                        </m:d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altLang="zh-CN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en-US" altLang="zh-CN" sz="2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zh-CN" sz="2200" b="1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𝐱</m:t>
                            </m:r>
                          </m:e>
                        </m:d>
                      </m:oMath>
                    </m:oMathPara>
                  </a14:m>
                  <a:endParaRPr lang="en-US" altLang="zh-CN" sz="2200" b="0" i="1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 marL="2695575" indent="-170815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nor/>
                          </m:rPr>
                          <a:rPr lang="en-US" altLang="zh-CN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altLang="zh-CN" sz="2200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𝐱</m:t>
                            </m:r>
                          </m:e>
                        </m:d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en-US" altLang="zh-CN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(1−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altLang="zh-CN" sz="2200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𝐱</m:t>
                            </m:r>
                          </m:e>
                        </m:d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altLang="zh-CN" sz="22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F9D4AE9-1D83-4D25-947A-242966ACD5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00200" y="5320808"/>
                  <a:ext cx="7668571" cy="769441"/>
                </a:xfrm>
                <a:prstGeom prst="rect">
                  <a:avLst/>
                </a:prstGeom>
                <a:blipFill>
                  <a:blip r:embed="rId8"/>
                  <a:stretch>
                    <a:fillRect l="-159" b="-952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3F9B7985-2C12-4634-96C2-BC09B69CA59F}"/>
                </a:ext>
              </a:extLst>
            </p:cNvPr>
            <p:cNvCxnSpPr>
              <a:cxnSpLocks/>
              <a:stCxn id="10" idx="0"/>
              <a:endCxn id="13" idx="2"/>
            </p:cNvCxnSpPr>
            <p:nvPr/>
          </p:nvCxnSpPr>
          <p:spPr bwMode="auto">
            <a:xfrm flipV="1">
              <a:off x="5434486" y="4174958"/>
              <a:ext cx="324830" cy="114585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BE494C8-DDDF-4A45-AD44-42268B29E4BF}"/>
                </a:ext>
              </a:extLst>
            </p:cNvPr>
            <p:cNvSpPr/>
            <p:nvPr/>
          </p:nvSpPr>
          <p:spPr bwMode="auto">
            <a:xfrm>
              <a:off x="3337158" y="3646370"/>
              <a:ext cx="4844315" cy="528588"/>
            </a:xfrm>
            <a:prstGeom prst="rect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243427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Binary Logistic Regression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两类对数几率回归 </a:t>
            </a:r>
            <a:r>
              <a:rPr lang="en-US" altLang="zh-CN" dirty="0">
                <a:ea typeface="ＭＳ Ｐゴシック" panose="020B0600070205080204" pitchFamily="34" charset="-128"/>
              </a:rPr>
              <a:t>(6)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1E8008-2995-48DD-BB9D-7F154F84D76E}"/>
              </a:ext>
            </a:extLst>
          </p:cNvPr>
          <p:cNvSpPr txBox="1"/>
          <p:nvPr/>
        </p:nvSpPr>
        <p:spPr>
          <a:xfrm>
            <a:off x="419100" y="1592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Add the regularization term &amp; print the loss</a:t>
            </a:r>
          </a:p>
          <a:p>
            <a:pPr algn="ctr"/>
            <a:r>
              <a:rPr lang="zh-CN" altLang="en-US" sz="2200" dirty="0"/>
              <a:t>加入调整项，输出损失</a:t>
            </a:r>
            <a:endParaRPr lang="en-US" altLang="zh-CN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DAB303-1E2A-40BC-8D75-97D7B260B3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8536" y="2334457"/>
            <a:ext cx="6516010" cy="16194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EFA0ED4-77DF-4DFC-B155-C4358F1BECE7}"/>
              </a:ext>
            </a:extLst>
          </p:cNvPr>
          <p:cNvSpPr txBox="1"/>
          <p:nvPr/>
        </p:nvSpPr>
        <p:spPr>
          <a:xfrm>
            <a:off x="419100" y="4192250"/>
            <a:ext cx="8305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Compare w/ the previous loss. Stop training if the change is within the tolerance. Otherwise update the previous loss</a:t>
            </a:r>
          </a:p>
          <a:p>
            <a:pPr algn="ctr"/>
            <a:r>
              <a:rPr lang="zh-CN" altLang="en-US" sz="2200" dirty="0"/>
              <a:t>和上一轮的损失进行比较，如果变化小于容忍度，则终止训练。否则更新上一轮的损失</a:t>
            </a:r>
            <a:endParaRPr lang="en-US" altLang="zh-CN" sz="22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8952F3D-36E5-4C35-A650-53292355C8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8536" y="5657694"/>
            <a:ext cx="6649378" cy="112410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99978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Binary Logistic Regression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两类对数几率回归 </a:t>
            </a:r>
            <a:r>
              <a:rPr lang="en-US" altLang="zh-CN" dirty="0">
                <a:ea typeface="ＭＳ Ｐゴシック" panose="020B0600070205080204" pitchFamily="34" charset="-128"/>
              </a:rPr>
              <a:t>(7)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1E8008-2995-48DD-BB9D-7F154F84D76E}"/>
              </a:ext>
            </a:extLst>
          </p:cNvPr>
          <p:cNvSpPr txBox="1"/>
          <p:nvPr/>
        </p:nvSpPr>
        <p:spPr>
          <a:xfrm>
            <a:off x="971550" y="1567696"/>
            <a:ext cx="72009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Add the regularization term part to the weight components in the gradient. Divide the gradients w/ the training data size. Update the weights &amp; the bias</a:t>
            </a:r>
          </a:p>
          <a:p>
            <a:pPr algn="ctr"/>
            <a:r>
              <a:rPr lang="zh-CN" altLang="en-US" sz="2200" dirty="0"/>
              <a:t>为权重部分的梯度加入调整项相关的部分。将梯度除以训练数据量。最后更新权重和偏向</a:t>
            </a:r>
            <a:endParaRPr lang="en-US" altLang="zh-CN" sz="2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3263A1-BBFF-409F-B898-3DFD3A1B21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0436" y="3352800"/>
            <a:ext cx="5868218" cy="129558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24555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Run It </a:t>
            </a:r>
            <a:r>
              <a:rPr lang="zh-CN" altLang="en-US" dirty="0">
                <a:ea typeface="ＭＳ Ｐゴシック" panose="020B0600070205080204" pitchFamily="34" charset="-128"/>
              </a:rPr>
              <a:t>运行之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304799" y="1590514"/>
            <a:ext cx="853439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Based on Practice 4.1, in file ‘test.py’, now replace the nearest neighbor related lines w/ the logistic regression related lines</a:t>
            </a:r>
          </a:p>
          <a:p>
            <a:pPr algn="ctr"/>
            <a:r>
              <a:rPr lang="zh-CN" altLang="en-US" sz="2200" dirty="0"/>
              <a:t>基于实践</a:t>
            </a:r>
            <a:r>
              <a:rPr lang="en-US" altLang="zh-CN" sz="2200" dirty="0"/>
              <a:t>4.1</a:t>
            </a:r>
            <a:r>
              <a:rPr lang="zh-CN" altLang="en-US" sz="2200" dirty="0"/>
              <a:t>，把最近邻相关的语句换成对数几率回归相关的语句</a:t>
            </a:r>
            <a:endParaRPr lang="en-US" altLang="zh-CN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A4C5A5-DC4F-4191-8ABA-8A7B8ED85C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306" y="2667000"/>
            <a:ext cx="3429478" cy="609686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F2D2652-1B95-47B3-A945-E556EF212203}"/>
              </a:ext>
            </a:extLst>
          </p:cNvPr>
          <p:cNvCxnSpPr/>
          <p:nvPr/>
        </p:nvCxnSpPr>
        <p:spPr bwMode="auto">
          <a:xfrm>
            <a:off x="173006" y="2847045"/>
            <a:ext cx="2887694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0FA27A02-A4E7-4589-9EA7-59C0539B74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3343138"/>
            <a:ext cx="7506748" cy="838316"/>
          </a:xfrm>
          <a:prstGeom prst="rect">
            <a:avLst/>
          </a:prstGeom>
          <a:ln>
            <a:solidFill>
              <a:srgbClr val="C00000"/>
            </a:solidFill>
          </a:ln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97F412A-3A60-4376-B0EE-2BB1D494E979}"/>
              </a:ext>
            </a:extLst>
          </p:cNvPr>
          <p:cNvCxnSpPr>
            <a:cxnSpLocks/>
          </p:cNvCxnSpPr>
          <p:nvPr/>
        </p:nvCxnSpPr>
        <p:spPr bwMode="auto">
          <a:xfrm>
            <a:off x="723900" y="3517900"/>
            <a:ext cx="61214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EB1753B-841E-4BBC-99A7-E9DB22C9018C}"/>
              </a:ext>
            </a:extLst>
          </p:cNvPr>
          <p:cNvSpPr txBox="1"/>
          <p:nvPr/>
        </p:nvSpPr>
        <p:spPr>
          <a:xfrm>
            <a:off x="304799" y="4378404"/>
            <a:ext cx="85343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Run w/ the command line below  </a:t>
            </a:r>
            <a:r>
              <a:rPr lang="zh-CN" altLang="en-US" sz="2200" dirty="0"/>
              <a:t>用以下命令行运行</a:t>
            </a:r>
            <a:endParaRPr lang="en-US" altLang="zh-CN" sz="2200" dirty="0"/>
          </a:p>
          <a:p>
            <a:pPr algn="ctr"/>
            <a:r>
              <a:rPr lang="en-US" altLang="zh-CN" sz="2200" dirty="0"/>
              <a:t>test.py 20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47139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ja-JP" b="1" dirty="0">
                <a:ea typeface="ＭＳ Ｐゴシック" panose="020B0600070205080204" pitchFamily="34" charset="-128"/>
              </a:rPr>
              <a:t>The End </a:t>
            </a:r>
            <a:endParaRPr lang="en-US" altLang="zh-CN" b="1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7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2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|7.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5|65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192.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3|31.1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17177</TotalTime>
  <Words>817</Words>
  <Application>Microsoft Office PowerPoint</Application>
  <PresentationFormat>On-screen Show (4:3)</PresentationFormat>
  <Paragraphs>46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ＭＳ Ｐゴシック</vt:lpstr>
      <vt:lpstr>SimSun</vt:lpstr>
      <vt:lpstr>Arial</vt:lpstr>
      <vt:lpstr>Cambria Math</vt:lpstr>
      <vt:lpstr>Comic Sans MS</vt:lpstr>
      <vt:lpstr>Tahoma</vt:lpstr>
      <vt:lpstr>Times New Roman</vt:lpstr>
      <vt:lpstr>Wingdings</vt:lpstr>
      <vt:lpstr>Blends</vt:lpstr>
      <vt:lpstr>Cookbook for Practice 8.1</vt:lpstr>
      <vt:lpstr>Binary Logistic Regression 两类对数几率回归 (1)</vt:lpstr>
      <vt:lpstr>Binary Logistic Regression 两类对数几率回归 (2)</vt:lpstr>
      <vt:lpstr>Binary Logistic Regression 两类对数几率回归 (3)</vt:lpstr>
      <vt:lpstr>Binary Logistic Regression 两类对数几率回归 (4)</vt:lpstr>
      <vt:lpstr>Binary Logistic Regression 两类对数几率回归 (5)</vt:lpstr>
      <vt:lpstr>Binary Logistic Regression 两类对数几率回归 (6)</vt:lpstr>
      <vt:lpstr>Binary Logistic Regression 两类对数几率回归 (7)</vt:lpstr>
      <vt:lpstr>Run It 运行之</vt:lpstr>
      <vt:lpstr>The End </vt:lpstr>
    </vt:vector>
  </TitlesOfParts>
  <Company>Children's Computer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Basics: 1. General Introduction</dc:title>
  <dc:creator>Cong Li</dc:creator>
  <cp:keywords>CTPClassification=CTP_NT</cp:keywords>
  <cp:lastModifiedBy>Li, Cong</cp:lastModifiedBy>
  <cp:revision>1298</cp:revision>
  <dcterms:created xsi:type="dcterms:W3CDTF">2003-03-13T01:36:43Z</dcterms:created>
  <dcterms:modified xsi:type="dcterms:W3CDTF">2025-03-15T09:17:37Z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3a01b7e8-0c50-4c55-8923-07f46a24e22a</vt:lpwstr>
  </property>
  <property fmtid="{D5CDD505-2E9C-101B-9397-08002B2CF9AE}" pid="3" name="CTP_TimeStamp">
    <vt:lpwstr>2020-02-04 06:15:59Z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