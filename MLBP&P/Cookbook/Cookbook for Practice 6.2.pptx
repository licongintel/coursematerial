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286" r:id="rId2"/>
    <p:sldId id="440" r:id="rId3"/>
    <p:sldId id="462" r:id="rId4"/>
    <p:sldId id="473" r:id="rId5"/>
    <p:sldId id="474" r:id="rId6"/>
    <p:sldId id="463" r:id="rId7"/>
    <p:sldId id="475" r:id="rId8"/>
    <p:sldId id="353" r:id="rId9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705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824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692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391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259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6.2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6.2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Mysterious Dictionary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神秘的字典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8000" y="1628711"/>
            <a:ext cx="33236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yields/NNS 3386</a:t>
            </a:r>
          </a:p>
          <a:p>
            <a:r>
              <a:rPr lang="en-US" altLang="zh-CN" sz="2200" dirty="0"/>
              <a:t>on/IN 96</a:t>
            </a:r>
          </a:p>
          <a:p>
            <a:r>
              <a:rPr lang="en-US" altLang="zh-CN" sz="2200" dirty="0"/>
              <a:t>money-market/JJ 7478</a:t>
            </a:r>
          </a:p>
          <a:p>
            <a:r>
              <a:rPr lang="en-US" altLang="zh-CN" sz="2200" dirty="0"/>
              <a:t>mutual/JJ 358</a:t>
            </a:r>
          </a:p>
          <a:p>
            <a:r>
              <a:rPr lang="en-US" altLang="zh-CN" sz="2200" dirty="0"/>
              <a:t>…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3DD15C-667E-4A2B-9677-2D79635CB4AD}"/>
              </a:ext>
            </a:extLst>
          </p:cNvPr>
          <p:cNvGrpSpPr/>
          <p:nvPr/>
        </p:nvGrpSpPr>
        <p:grpSpPr>
          <a:xfrm>
            <a:off x="3048000" y="1664569"/>
            <a:ext cx="1638300" cy="2195318"/>
            <a:chOff x="1210235" y="3922294"/>
            <a:chExt cx="1638300" cy="21953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D19BDB-84B8-49FB-AE3A-599BBE335D77}"/>
                </a:ext>
              </a:extLst>
            </p:cNvPr>
            <p:cNvSpPr/>
            <p:nvPr/>
          </p:nvSpPr>
          <p:spPr bwMode="auto">
            <a:xfrm>
              <a:off x="1219200" y="3922294"/>
              <a:ext cx="1629335" cy="331815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68E79E3-D52F-432C-A16D-0627BC8279C0}"/>
                </a:ext>
              </a:extLst>
            </p:cNvPr>
            <p:cNvCxnSpPr>
              <a:cxnSpLocks/>
              <a:stCxn id="21" idx="0"/>
              <a:endCxn id="16" idx="2"/>
            </p:cNvCxnSpPr>
            <p:nvPr/>
          </p:nvCxnSpPr>
          <p:spPr bwMode="auto">
            <a:xfrm flipV="1">
              <a:off x="2029385" y="4254109"/>
              <a:ext cx="4483" cy="14326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B58FFF-FB06-4BE2-AB5D-514F0EC9A108}"/>
                </a:ext>
              </a:extLst>
            </p:cNvPr>
            <p:cNvSpPr txBox="1"/>
            <p:nvPr/>
          </p:nvSpPr>
          <p:spPr>
            <a:xfrm>
              <a:off x="1210235" y="5686725"/>
              <a:ext cx="16383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Word </a:t>
              </a:r>
              <a:r>
                <a:rPr lang="zh-CN" altLang="en-US" sz="2200" dirty="0"/>
                <a:t>词</a:t>
              </a:r>
              <a:endParaRPr lang="en-US" altLang="zh-CN" sz="2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6AE009-5625-4AAD-BAA8-582AB2CD1526}"/>
              </a:ext>
            </a:extLst>
          </p:cNvPr>
          <p:cNvGrpSpPr/>
          <p:nvPr/>
        </p:nvGrpSpPr>
        <p:grpSpPr>
          <a:xfrm>
            <a:off x="3880597" y="1682499"/>
            <a:ext cx="2495550" cy="3125542"/>
            <a:chOff x="344020" y="3922295"/>
            <a:chExt cx="2495550" cy="312554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84E9E0-F44E-4235-A2F9-368500664B9B}"/>
                </a:ext>
              </a:extLst>
            </p:cNvPr>
            <p:cNvSpPr/>
            <p:nvPr/>
          </p:nvSpPr>
          <p:spPr bwMode="auto">
            <a:xfrm>
              <a:off x="1219201" y="3922295"/>
              <a:ext cx="740708" cy="313886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210F933-57A0-456E-BC68-BAF01CBFF9D6}"/>
                </a:ext>
              </a:extLst>
            </p:cNvPr>
            <p:cNvCxnSpPr>
              <a:cxnSpLocks/>
              <a:stCxn id="28" idx="0"/>
              <a:endCxn id="26" idx="2"/>
            </p:cNvCxnSpPr>
            <p:nvPr/>
          </p:nvCxnSpPr>
          <p:spPr bwMode="auto">
            <a:xfrm flipH="1" flipV="1">
              <a:off x="1589555" y="4236181"/>
              <a:ext cx="2240" cy="204221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5C71185-BB4B-41EB-AAC4-E7E7A91ED4E2}"/>
                </a:ext>
              </a:extLst>
            </p:cNvPr>
            <p:cNvSpPr txBox="1"/>
            <p:nvPr/>
          </p:nvSpPr>
          <p:spPr>
            <a:xfrm>
              <a:off x="344020" y="6278396"/>
              <a:ext cx="24955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Attribute index </a:t>
              </a:r>
              <a:r>
                <a:rPr lang="zh-CN" altLang="en-US" sz="2200" dirty="0"/>
                <a:t>属性下标</a:t>
              </a:r>
              <a:endParaRPr lang="en-US" altLang="zh-CN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Use the Dictionary (1)</a:t>
            </a:r>
            <a:br>
              <a:rPr lang="en-US" altLang="zh-CN" dirty="0"/>
            </a:br>
            <a:r>
              <a:rPr lang="zh-CN" altLang="en-US" dirty="0"/>
              <a:t>使用该字典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09550" y="1606253"/>
            <a:ext cx="8724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‘interestData.py’, in the initialization function, pass in a new variable for the dimension, &amp; use a member variable to store it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interestData.py</a:t>
            </a:r>
            <a:r>
              <a:rPr lang="zh-CN" altLang="en-US" sz="2200" dirty="0"/>
              <a:t>”文件里，为初始化函数传入一个新的维度变量，并用一个成员变量来存储之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76FC3C-E003-42F3-A832-453112BB4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82" y="3048000"/>
            <a:ext cx="5867908" cy="5639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89645D-9912-464F-A2AB-747BAFFB6466}"/>
              </a:ext>
            </a:extLst>
          </p:cNvPr>
          <p:cNvGrpSpPr/>
          <p:nvPr/>
        </p:nvGrpSpPr>
        <p:grpSpPr>
          <a:xfrm>
            <a:off x="3787140" y="3056429"/>
            <a:ext cx="3810000" cy="2323787"/>
            <a:chOff x="196775" y="3922294"/>
            <a:chExt cx="3810000" cy="23237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7C52A5-9CDA-422D-A1E7-AE874F47E09B}"/>
                </a:ext>
              </a:extLst>
            </p:cNvPr>
            <p:cNvSpPr/>
            <p:nvPr/>
          </p:nvSpPr>
          <p:spPr bwMode="auto">
            <a:xfrm>
              <a:off x="1219200" y="3922294"/>
              <a:ext cx="1743635" cy="32177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9CEF1B8-089E-4ED6-9D11-56EAA144162B}"/>
                </a:ext>
              </a:extLst>
            </p:cNvPr>
            <p:cNvCxnSpPr>
              <a:cxnSpLocks/>
              <a:stCxn id="14" idx="0"/>
              <a:endCxn id="12" idx="2"/>
            </p:cNvCxnSpPr>
            <p:nvPr/>
          </p:nvCxnSpPr>
          <p:spPr bwMode="auto">
            <a:xfrm flipH="1" flipV="1">
              <a:off x="2091018" y="4244065"/>
              <a:ext cx="10757" cy="8940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D3D264-98CD-4FFB-BDB2-2E8D6E9EACE6}"/>
                </a:ext>
              </a:extLst>
            </p:cNvPr>
            <p:cNvSpPr txBox="1"/>
            <p:nvPr/>
          </p:nvSpPr>
          <p:spPr>
            <a:xfrm>
              <a:off x="196775" y="5138085"/>
              <a:ext cx="38100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A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default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of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0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means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using all the attributes</a:t>
              </a:r>
            </a:p>
            <a:p>
              <a:pPr algn="ctr"/>
              <a:r>
                <a:rPr lang="zh-CN" altLang="en-US" sz="2200" dirty="0"/>
                <a:t>缺省值</a:t>
              </a:r>
              <a:r>
                <a:rPr lang="en-US" altLang="zh-CN" sz="2200" dirty="0"/>
                <a:t>0</a:t>
              </a:r>
              <a:r>
                <a:rPr lang="zh-CN" altLang="en-US" sz="2200" dirty="0"/>
                <a:t>表示使用所有的属性</a:t>
              </a:r>
              <a:endParaRPr lang="en-US" altLang="zh-CN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1493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Use the Dictionary (2)</a:t>
            </a:r>
            <a:br>
              <a:rPr lang="en-US" altLang="zh-CN" dirty="0"/>
            </a:br>
            <a:r>
              <a:rPr lang="zh-CN" altLang="en-US" dirty="0"/>
              <a:t>使用该字典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09550" y="1606253"/>
            <a:ext cx="8724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 new member function to read the dictionary &amp; only include the specified dimension of attributes</a:t>
            </a:r>
          </a:p>
          <a:p>
            <a:pPr algn="ctr"/>
            <a:r>
              <a:rPr lang="zh-CN" altLang="en-US" sz="2200" dirty="0"/>
              <a:t>写一个新的成员函数来读取该字典，并只引入特定维度的属性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C0270-2DEF-4F0C-A4C8-33BD54037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4" y="2727754"/>
            <a:ext cx="7666384" cy="23776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6373F72-3D06-4729-95F1-2CECE70F9E3A}"/>
              </a:ext>
            </a:extLst>
          </p:cNvPr>
          <p:cNvGrpSpPr/>
          <p:nvPr/>
        </p:nvGrpSpPr>
        <p:grpSpPr>
          <a:xfrm>
            <a:off x="2406725" y="4288329"/>
            <a:ext cx="6051475" cy="2306067"/>
            <a:chOff x="1219200" y="3922294"/>
            <a:chExt cx="6051475" cy="23060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F7251F-C28F-45F6-9208-1F5845CBA5D8}"/>
                </a:ext>
              </a:extLst>
            </p:cNvPr>
            <p:cNvSpPr/>
            <p:nvPr/>
          </p:nvSpPr>
          <p:spPr bwMode="auto">
            <a:xfrm>
              <a:off x="1219200" y="3922294"/>
              <a:ext cx="6051475" cy="28367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F0D48EB-A647-447B-B18E-7141CF8CE64F}"/>
                </a:ext>
              </a:extLst>
            </p:cNvPr>
            <p:cNvCxnSpPr>
              <a:cxnSpLocks/>
              <a:stCxn id="11" idx="0"/>
              <a:endCxn id="9" idx="2"/>
            </p:cNvCxnSpPr>
            <p:nvPr/>
          </p:nvCxnSpPr>
          <p:spPr bwMode="auto">
            <a:xfrm flipH="1" flipV="1">
              <a:off x="4244938" y="4205965"/>
              <a:ext cx="15837" cy="9144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293306-616B-468A-A767-A44B24A07EC6}"/>
                </a:ext>
              </a:extLst>
            </p:cNvPr>
            <p:cNvSpPr txBox="1"/>
            <p:nvPr/>
          </p:nvSpPr>
          <p:spPr>
            <a:xfrm>
              <a:off x="2355775" y="5120365"/>
              <a:ext cx="38100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Check whether the attribute should be used</a:t>
              </a:r>
            </a:p>
            <a:p>
              <a:pPr algn="ctr"/>
              <a:r>
                <a:rPr lang="zh-CN" altLang="en-US" sz="2200" dirty="0"/>
                <a:t>检查是否需要使用该属性</a:t>
              </a:r>
              <a:endParaRPr lang="en-US" altLang="zh-CN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890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Use the Dictionary (3)</a:t>
            </a:r>
            <a:br>
              <a:rPr lang="en-US" altLang="zh-CN" dirty="0"/>
            </a:br>
            <a:r>
              <a:rPr lang="zh-CN" altLang="en-US" dirty="0"/>
              <a:t>使用该字典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09550" y="1606253"/>
            <a:ext cx="8724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Go back to the initialization function, now read the dictionary instead of building the dictionary</a:t>
            </a:r>
          </a:p>
          <a:p>
            <a:pPr algn="ctr"/>
            <a:r>
              <a:rPr lang="zh-CN" altLang="en-US" sz="2200" dirty="0"/>
              <a:t>回到初始化函数，现在将创建字典改为读取字典</a:t>
            </a:r>
            <a:endParaRPr lang="en-US" altLang="zh-C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53AD4-7925-45FB-BEE1-2B5F2F662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5" y="3228325"/>
            <a:ext cx="3246402" cy="350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AE723C7-4ED2-4EB1-A7DE-C7ECFC0FE492}"/>
              </a:ext>
            </a:extLst>
          </p:cNvPr>
          <p:cNvGrpSpPr/>
          <p:nvPr/>
        </p:nvGrpSpPr>
        <p:grpSpPr>
          <a:xfrm>
            <a:off x="1485900" y="2773650"/>
            <a:ext cx="3368332" cy="350550"/>
            <a:chOff x="1485900" y="2773650"/>
            <a:chExt cx="3368332" cy="3505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6B96592-DBB4-4CB7-A479-67AD0E33C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900" y="2773650"/>
              <a:ext cx="3368332" cy="3505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A7A3124-8C6A-47B0-87DA-DB34F9D968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505933" y="2948925"/>
              <a:ext cx="3345467" cy="264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0834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Run It  </a:t>
            </a:r>
            <a:r>
              <a:rPr lang="zh-CN" altLang="en-US" dirty="0"/>
              <a:t>运行之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1017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5.2, in ‘test.py’, import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</a:t>
            </a:r>
            <a:br>
              <a:rPr lang="en-US" altLang="zh-CN" sz="2200" dirty="0"/>
            </a:br>
            <a:r>
              <a:rPr lang="zh-CN" altLang="en-US" sz="2200" dirty="0"/>
              <a:t>基于实践</a:t>
            </a:r>
            <a:r>
              <a:rPr lang="en-US" altLang="zh-CN" sz="2200" dirty="0"/>
              <a:t>5.2</a:t>
            </a:r>
            <a:r>
              <a:rPr lang="zh-CN" altLang="en-US" sz="2200" dirty="0"/>
              <a:t>，在“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”中导入“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6FF32-31B6-4FAB-89D8-6CA272587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60447"/>
            <a:ext cx="1676546" cy="3962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E3D00B-BEEE-473D-85E1-7A9FF6F1BB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62" y="3553875"/>
            <a:ext cx="6340390" cy="381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3CB96A-7414-45E6-A9B9-06E5B65214AA}"/>
              </a:ext>
            </a:extLst>
          </p:cNvPr>
          <p:cNvSpPr txBox="1"/>
          <p:nvPr/>
        </p:nvSpPr>
        <p:spPr>
          <a:xfrm>
            <a:off x="304800" y="2844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main section, involve all the code into a loop</a:t>
            </a:r>
          </a:p>
          <a:p>
            <a:pPr algn="ctr"/>
            <a:r>
              <a:rPr lang="zh-CN" altLang="en-US" sz="2200" dirty="0"/>
              <a:t>在主程序中，把所有的代码放置于一个循环里</a:t>
            </a:r>
            <a:endParaRPr lang="en-US" altLang="zh-CN" sz="2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B6D2A-DBF0-4A1B-B6C0-E3A51A21C42F}"/>
              </a:ext>
            </a:extLst>
          </p:cNvPr>
          <p:cNvSpPr txBox="1"/>
          <p:nvPr/>
        </p:nvSpPr>
        <p:spPr>
          <a:xfrm>
            <a:off x="266700" y="4077444"/>
            <a:ext cx="8724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the dimension when reading the data</a:t>
            </a:r>
          </a:p>
          <a:p>
            <a:pPr algn="ctr"/>
            <a:r>
              <a:rPr lang="zh-CN" altLang="en-US" sz="2200" dirty="0"/>
              <a:t>在读取数据的时候加入维度参数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4F3A1-46FD-42D4-B38E-8BCB382A7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75" y="4818844"/>
            <a:ext cx="7529213" cy="5151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5478BC0-D3EA-49E1-935F-01A926F4ECAD}"/>
              </a:ext>
            </a:extLst>
          </p:cNvPr>
          <p:cNvGrpSpPr/>
          <p:nvPr/>
        </p:nvGrpSpPr>
        <p:grpSpPr>
          <a:xfrm>
            <a:off x="2171701" y="5026417"/>
            <a:ext cx="3810000" cy="1481960"/>
            <a:chOff x="984176" y="4660382"/>
            <a:chExt cx="3810000" cy="14819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F4480A3-94AF-49BB-BDAC-4376318E3FF6}"/>
                </a:ext>
              </a:extLst>
            </p:cNvPr>
            <p:cNvSpPr/>
            <p:nvPr/>
          </p:nvSpPr>
          <p:spPr bwMode="auto">
            <a:xfrm>
              <a:off x="1403276" y="4660382"/>
              <a:ext cx="2971800" cy="28367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B83AA65-2A59-4EB6-9C39-EFAC372A558E}"/>
                </a:ext>
              </a:extLst>
            </p:cNvPr>
            <p:cNvCxnSpPr>
              <a:cxnSpLocks/>
              <a:stCxn id="24" idx="0"/>
              <a:endCxn id="22" idx="2"/>
            </p:cNvCxnSpPr>
            <p:nvPr/>
          </p:nvCxnSpPr>
          <p:spPr bwMode="auto">
            <a:xfrm flipV="1">
              <a:off x="2889176" y="4944053"/>
              <a:ext cx="0" cy="4288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6F5DB9-47BB-4B22-9CE2-A83A22CB20BA}"/>
                </a:ext>
              </a:extLst>
            </p:cNvPr>
            <p:cNvSpPr txBox="1"/>
            <p:nvPr/>
          </p:nvSpPr>
          <p:spPr>
            <a:xfrm>
              <a:off x="984176" y="5372901"/>
              <a:ext cx="381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Add the dimension</a:t>
              </a:r>
            </a:p>
            <a:p>
              <a:pPr algn="ctr"/>
              <a:r>
                <a:rPr lang="zh-CN" altLang="en-US" sz="2200" dirty="0"/>
                <a:t>加入维度</a:t>
              </a:r>
              <a:endParaRPr lang="en-US" altLang="zh-CN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9384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Run It  </a:t>
            </a:r>
            <a:r>
              <a:rPr lang="zh-CN" altLang="en-US" dirty="0"/>
              <a:t>运行之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B6D2A-DBF0-4A1B-B6C0-E3A51A21C42F}"/>
              </a:ext>
            </a:extLst>
          </p:cNvPr>
          <p:cNvSpPr txBox="1"/>
          <p:nvPr/>
        </p:nvSpPr>
        <p:spPr>
          <a:xfrm>
            <a:off x="266700" y="1711404"/>
            <a:ext cx="8724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Rename the variable of the instance of the class ‘tester’ into ‘t’ to avoid ambiguity in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iteration of the loop, &amp; extract the accuracy  </a:t>
            </a:r>
            <a:r>
              <a:rPr lang="zh-CN" altLang="en-US" sz="2200" dirty="0"/>
              <a:t>把“</a:t>
            </a:r>
            <a:r>
              <a:rPr lang="en-US" altLang="zh-CN" sz="2200" dirty="0"/>
              <a:t>tester</a:t>
            </a:r>
            <a:r>
              <a:rPr lang="zh-CN" altLang="en-US" sz="2200" dirty="0"/>
              <a:t>”类型的实例的变量名改为“</a:t>
            </a:r>
            <a:r>
              <a:rPr lang="en-US" altLang="zh-CN" sz="2200" dirty="0"/>
              <a:t>t</a:t>
            </a:r>
            <a:r>
              <a:rPr lang="zh-CN" altLang="en-US" sz="2200" dirty="0"/>
              <a:t>”，防止循环体执行第二次时产生歧义，并取回准确率</a:t>
            </a:r>
            <a:endParaRPr lang="en-US" altLang="zh-CN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B2DF9-8014-417B-9469-F47F8061544D}"/>
              </a:ext>
            </a:extLst>
          </p:cNvPr>
          <p:cNvSpPr txBox="1"/>
          <p:nvPr/>
        </p:nvSpPr>
        <p:spPr>
          <a:xfrm>
            <a:off x="609600" y="52841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C267D-30FE-4981-BDEB-6408DF124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24" y="3162220"/>
            <a:ext cx="7163800" cy="5715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4B8FA4-5E30-4ED7-84A0-590286474B46}"/>
              </a:ext>
            </a:extLst>
          </p:cNvPr>
          <p:cNvSpPr txBox="1"/>
          <p:nvPr/>
        </p:nvSpPr>
        <p:spPr>
          <a:xfrm>
            <a:off x="209550" y="3962400"/>
            <a:ext cx="8724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Output the dimension &amp; the corresponding accuracy</a:t>
            </a:r>
          </a:p>
          <a:p>
            <a:pPr algn="ctr"/>
            <a:r>
              <a:rPr lang="zh-CN" altLang="en-US" sz="2200" dirty="0"/>
              <a:t>输出维度和相应的准确率</a:t>
            </a:r>
            <a:endParaRPr lang="en-US" altLang="zh-C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196343-CE3C-4070-9CB1-1CA78A222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24" y="4784162"/>
            <a:ext cx="7125694" cy="28579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276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1|4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6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4|8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11.7|36.4|58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11.7|36.4|58.8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17056</TotalTime>
  <Words>485</Words>
  <Application>Microsoft Office PowerPoint</Application>
  <PresentationFormat>On-screen Show (4:3)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6.2</vt:lpstr>
      <vt:lpstr>Mysterious Dictionary   神秘的字典</vt:lpstr>
      <vt:lpstr>Use the Dictionary (1) 使用该字典</vt:lpstr>
      <vt:lpstr>Use the Dictionary (2) 使用该字典</vt:lpstr>
      <vt:lpstr>Use the Dictionary (3) 使用该字典</vt:lpstr>
      <vt:lpstr>Run It  运行之 (1)</vt:lpstr>
      <vt:lpstr>Run It  运行之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1302</cp:revision>
  <dcterms:created xsi:type="dcterms:W3CDTF">2003-03-13T01:36:43Z</dcterms:created>
  <dcterms:modified xsi:type="dcterms:W3CDTF">2024-02-23T06:50:15Z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2020-01-05 11:19:42Z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