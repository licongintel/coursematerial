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86" r:id="rId2"/>
    <p:sldId id="438" r:id="rId3"/>
    <p:sldId id="439" r:id="rId4"/>
    <p:sldId id="440" r:id="rId5"/>
    <p:sldId id="431" r:id="rId6"/>
    <p:sldId id="435" r:id="rId7"/>
    <p:sldId id="436" r:id="rId8"/>
    <p:sldId id="415" r:id="rId9"/>
    <p:sldId id="437" r:id="rId10"/>
    <p:sldId id="353" r:id="rId1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1025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576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07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527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7730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>
                <a:ea typeface="SimSun" panose="02010600030101010101" pitchFamily="2" charset="-122"/>
              </a:rPr>
              <a:t>2.2</a:t>
            </a:r>
            <a:r>
              <a:rPr lang="zh-CN" altLang="en-US" sz="3600" b="1" kern="0">
                <a:ea typeface="SimSun" panose="02010600030101010101" pitchFamily="2" charset="-122"/>
              </a:rPr>
              <a:t>攻</a:t>
            </a:r>
            <a:r>
              <a:rPr lang="zh-CN" altLang="en-US" sz="3600" b="1" kern="0" dirty="0">
                <a:ea typeface="SimSun" panose="02010600030101010101" pitchFamily="2" charset="-122"/>
              </a:rPr>
              <a:t>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Rote Learning </a:t>
            </a:r>
            <a:r>
              <a:rPr lang="zh-CN" altLang="en-US" dirty="0">
                <a:ea typeface="ＭＳ Ｐゴシック" panose="020B0600070205080204" pitchFamily="34" charset="-128"/>
              </a:rPr>
              <a:t>死记硬背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‘roteLearner.py’ w/ a new class</a:t>
            </a:r>
          </a:p>
          <a:p>
            <a:pPr algn="ctr"/>
            <a:r>
              <a:rPr lang="zh-CN" altLang="en-US" sz="2200" dirty="0"/>
              <a:t>创建一个包含新的类型的新文件“</a:t>
            </a:r>
            <a:r>
              <a:rPr lang="en-US" altLang="zh-CN" sz="2200" dirty="0"/>
              <a:t>roteLearner.py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2B23C2-62BF-4857-B7F8-3104B29E813E}"/>
              </a:ext>
            </a:extLst>
          </p:cNvPr>
          <p:cNvSpPr txBox="1"/>
          <p:nvPr/>
        </p:nvSpPr>
        <p:spPr>
          <a:xfrm>
            <a:off x="145473" y="2864577"/>
            <a:ext cx="8763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will use a member variable to memorize the training data. So we initialize it in the initialization function &amp; assign its value in a member function for training</a:t>
            </a:r>
          </a:p>
          <a:p>
            <a:pPr algn="ctr"/>
            <a:r>
              <a:rPr lang="zh-CN" altLang="en-US" sz="2200" dirty="0"/>
              <a:t>我们将用一个成员变量记录训练数据。因此我们在初始化函数中对其初始化，并在一个用于训练的成员函数中对其赋值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125BE-E1A2-4563-A4F9-ED64505CD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77408"/>
            <a:ext cx="3490262" cy="365792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053772-32BC-4DF3-BA33-D93CF49FA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48200"/>
            <a:ext cx="5212532" cy="1341236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2750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Rote Learning </a:t>
            </a:r>
            <a:r>
              <a:rPr lang="zh-CN" altLang="en-US" dirty="0">
                <a:ea typeface="ＭＳ Ｐゴシック" panose="020B0600070205080204" pitchFamily="34" charset="-128"/>
              </a:rPr>
              <a:t>死记硬背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Since we need to loop over all the items in the training data for matching, we go to the class ‘</a:t>
            </a:r>
            <a:r>
              <a:rPr lang="en-US" altLang="zh-CN" sz="2200" dirty="0" err="1"/>
              <a:t>USPSData</a:t>
            </a:r>
            <a:r>
              <a:rPr lang="en-US" altLang="zh-CN" sz="2200" dirty="0"/>
              <a:t>’ &amp; add a member function to return the number of items</a:t>
            </a:r>
          </a:p>
          <a:p>
            <a:pPr algn="ctr"/>
            <a:r>
              <a:rPr lang="zh-CN" altLang="en-US" sz="2200" dirty="0"/>
              <a:t>由于我们需要遍历所有的训练数据进行匹配，因此我们在“</a:t>
            </a:r>
            <a:r>
              <a:rPr lang="en-US" altLang="zh-CN" sz="2200" dirty="0" err="1"/>
              <a:t>USPSData</a:t>
            </a:r>
            <a:r>
              <a:rPr lang="zh-CN" altLang="en-US" sz="2200" dirty="0"/>
              <a:t>”类型中加一个成员函数，返回训练数据的数量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69D76-3325-4F45-9288-CA881B65A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389567"/>
            <a:ext cx="3292126" cy="70110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19009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Rote Learning </a:t>
            </a:r>
            <a:r>
              <a:rPr lang="zh-CN" altLang="en-US" dirty="0">
                <a:ea typeface="ＭＳ Ｐゴシック" panose="020B0600070205080204" pitchFamily="34" charset="-128"/>
              </a:rPr>
              <a:t>死记硬背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we complete the classification in ‘roteLearner.py’</a:t>
            </a:r>
          </a:p>
          <a:p>
            <a:pPr algn="ctr"/>
            <a:r>
              <a:rPr lang="zh-CN" altLang="en-US" sz="2200" dirty="0"/>
              <a:t>现在我们在“</a:t>
            </a:r>
            <a:r>
              <a:rPr lang="en-US" altLang="zh-CN" sz="2200" dirty="0"/>
              <a:t>roteLearner.py</a:t>
            </a:r>
            <a:r>
              <a:rPr lang="zh-CN" altLang="en-US" sz="2200" dirty="0"/>
              <a:t>”中完成分类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F9787-6BB0-49A7-B6F4-5484DB77A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377190"/>
            <a:ext cx="7788314" cy="28806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1F74481-94EF-44B5-93F1-CB950E3B787E}"/>
              </a:ext>
            </a:extLst>
          </p:cNvPr>
          <p:cNvGrpSpPr/>
          <p:nvPr/>
        </p:nvGrpSpPr>
        <p:grpSpPr>
          <a:xfrm>
            <a:off x="1043603" y="2971800"/>
            <a:ext cx="6828194" cy="3284041"/>
            <a:chOff x="1516043" y="4038600"/>
            <a:chExt cx="6828194" cy="32840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C0D049-7F32-4EB9-A2F8-627619C237C4}"/>
                </a:ext>
              </a:extLst>
            </p:cNvPr>
            <p:cNvSpPr txBox="1"/>
            <p:nvPr/>
          </p:nvSpPr>
          <p:spPr>
            <a:xfrm>
              <a:off x="1516043" y="6553200"/>
              <a:ext cx="682819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Get the </a:t>
              </a:r>
              <a:r>
                <a:rPr lang="en-US" altLang="zh-CN" sz="2200" dirty="0" err="1"/>
                <a:t>ith</a:t>
              </a:r>
              <a:r>
                <a:rPr lang="en-US" altLang="zh-CN" sz="2200" dirty="0"/>
                <a:t> training data item &amp; match w/ it</a:t>
              </a:r>
            </a:p>
            <a:p>
              <a:pPr algn="ctr"/>
              <a:r>
                <a:rPr lang="zh-CN" altLang="en-US" sz="2200" dirty="0"/>
                <a:t>取出第</a:t>
              </a:r>
              <a:r>
                <a:rPr lang="en-US" altLang="zh-CN" sz="2200" dirty="0"/>
                <a:t>i</a:t>
              </a:r>
              <a:r>
                <a:rPr lang="zh-CN" altLang="en-US" sz="2200" dirty="0"/>
                <a:t>条数据并对其进行匹配</a:t>
              </a:r>
              <a:endParaRPr lang="en-US" altLang="zh-CN" sz="22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050772-A211-467D-A7FA-4AA5E83E355F}"/>
                </a:ext>
              </a:extLst>
            </p:cNvPr>
            <p:cNvSpPr/>
            <p:nvPr/>
          </p:nvSpPr>
          <p:spPr bwMode="auto">
            <a:xfrm>
              <a:off x="2453640" y="4038600"/>
              <a:ext cx="4953000" cy="14478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EA8FCBC-C0A8-475F-AB8E-DE8AA517AD95}"/>
                </a:ext>
              </a:extLst>
            </p:cNvPr>
            <p:cNvCxnSpPr>
              <a:cxnSpLocks/>
              <a:stCxn id="9" idx="0"/>
              <a:endCxn id="10" idx="2"/>
            </p:cNvCxnSpPr>
            <p:nvPr/>
          </p:nvCxnSpPr>
          <p:spPr bwMode="auto">
            <a:xfrm flipV="1">
              <a:off x="4930140" y="5486400"/>
              <a:ext cx="0" cy="1066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9821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Evaluation </a:t>
            </a:r>
            <a:r>
              <a:rPr lang="zh-CN" altLang="en-US" dirty="0">
                <a:ea typeface="ＭＳ Ｐゴシック" panose="020B0600070205080204" pitchFamily="34" charset="-128"/>
              </a:rPr>
              <a:t> 评估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‘tester.py’ w/ a class, put in a classifier in initialization</a:t>
            </a:r>
            <a:r>
              <a:rPr lang="zh-CN" altLang="en-US" sz="2200" dirty="0"/>
              <a:t>  开启一个新文件“</a:t>
            </a:r>
            <a:r>
              <a:rPr lang="en-US" altLang="zh-CN" sz="2200"/>
              <a:t>tester.</a:t>
            </a:r>
            <a:r>
              <a:rPr lang="en-US" altLang="zh-CN" sz="2200" dirty="0"/>
              <a:t>py</a:t>
            </a:r>
            <a:r>
              <a:rPr lang="zh-CN" altLang="en-US" sz="2200" dirty="0"/>
              <a:t>”和一个新类型，将一个分类器作为参数进行初始化</a:t>
            </a:r>
            <a:endParaRPr lang="en-US" altLang="zh-CN" sz="2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DE1572-8BBD-4F1D-8CA0-BF309F3BE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727846"/>
            <a:ext cx="4922946" cy="131075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22B23C2-62BF-4857-B7F8-3104B29E813E}"/>
              </a:ext>
            </a:extLst>
          </p:cNvPr>
          <p:cNvSpPr txBox="1"/>
          <p:nvPr/>
        </p:nvSpPr>
        <p:spPr>
          <a:xfrm>
            <a:off x="190500" y="4107359"/>
            <a:ext cx="876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another member function to train the classifier w/ a training data file  </a:t>
            </a:r>
            <a:r>
              <a:rPr lang="zh-CN" altLang="en-US" sz="2200" dirty="0"/>
              <a:t>加一个成员函数，用训练数据文件对分类器进行训练</a:t>
            </a:r>
            <a:endParaRPr lang="en-US" altLang="zh-CN" sz="2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DD64997-9485-46B7-9088-C6268AD73F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25" y="4861480"/>
            <a:ext cx="7727350" cy="92972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74210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D489958-F9FB-40D0-B965-C00D9EC0E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2274812"/>
            <a:ext cx="6782388" cy="313971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Evaluation </a:t>
            </a:r>
            <a:r>
              <a:rPr lang="zh-CN" altLang="en-US" dirty="0">
                <a:ea typeface="ＭＳ Ｐゴシック" panose="020B0600070205080204" pitchFamily="34" charset="-128"/>
              </a:rPr>
              <a:t> 评估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800" y="1551091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a member function to test the classifier w/ a test data file</a:t>
            </a:r>
          </a:p>
          <a:p>
            <a:pPr algn="ctr"/>
            <a:r>
              <a:rPr lang="zh-CN" altLang="en-US" sz="2200" dirty="0"/>
              <a:t>用一个成员函数，以一个测试数据文件对分类器进行测试</a:t>
            </a:r>
            <a:endParaRPr lang="en-US" altLang="zh-CN" sz="2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133BB-9E1C-4AD7-BF95-7E851F292927}"/>
              </a:ext>
            </a:extLst>
          </p:cNvPr>
          <p:cNvGrpSpPr/>
          <p:nvPr/>
        </p:nvGrpSpPr>
        <p:grpSpPr>
          <a:xfrm>
            <a:off x="1122363" y="2895600"/>
            <a:ext cx="6828194" cy="3482698"/>
            <a:chOff x="1594803" y="3962400"/>
            <a:chExt cx="6828194" cy="34826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BE33A8-188C-48AE-8DC2-479D3D1D1EBA}"/>
                </a:ext>
              </a:extLst>
            </p:cNvPr>
            <p:cNvSpPr txBox="1"/>
            <p:nvPr/>
          </p:nvSpPr>
          <p:spPr>
            <a:xfrm>
              <a:off x="1594803" y="6675657"/>
              <a:ext cx="682819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Check the result of classifying each data item</a:t>
              </a:r>
            </a:p>
            <a:p>
              <a:pPr algn="ctr"/>
              <a:r>
                <a:rPr lang="zh-CN" altLang="en-US" sz="2200" dirty="0"/>
                <a:t>对每条数据的分类结果进行检查</a:t>
              </a:r>
              <a:endParaRPr lang="en-US" altLang="zh-CN" sz="2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EAE311-AFBC-4C56-9C68-B307BDD4D6B2}"/>
                </a:ext>
              </a:extLst>
            </p:cNvPr>
            <p:cNvSpPr/>
            <p:nvPr/>
          </p:nvSpPr>
          <p:spPr bwMode="auto">
            <a:xfrm>
              <a:off x="1981200" y="3962400"/>
              <a:ext cx="6035040" cy="14478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6903D1-C002-4A49-94D7-953970F16F28}"/>
                </a:ext>
              </a:extLst>
            </p:cNvPr>
            <p:cNvCxnSpPr>
              <a:cxnSpLocks/>
              <a:stCxn id="10" idx="0"/>
              <a:endCxn id="11" idx="2"/>
            </p:cNvCxnSpPr>
            <p:nvPr/>
          </p:nvCxnSpPr>
          <p:spPr bwMode="auto">
            <a:xfrm flipH="1" flipV="1">
              <a:off x="4998720" y="5410200"/>
              <a:ext cx="10180" cy="12654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96188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F408CD3-A5DA-4B3A-BE07-348D104C5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2274812"/>
            <a:ext cx="6782388" cy="313971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Evaluation </a:t>
            </a:r>
            <a:r>
              <a:rPr lang="zh-CN" altLang="en-US" dirty="0">
                <a:ea typeface="ＭＳ Ｐゴシック" panose="020B0600070205080204" pitchFamily="34" charset="-128"/>
              </a:rPr>
              <a:t> 评估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800" y="1551091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a member function to test the classifier w/ a test data file</a:t>
            </a:r>
          </a:p>
          <a:p>
            <a:pPr algn="ctr"/>
            <a:r>
              <a:rPr lang="zh-CN" altLang="en-US" sz="2200" dirty="0"/>
              <a:t>用一个成员函数，以一个测试数据文件对分类器进行测试</a:t>
            </a:r>
            <a:endParaRPr lang="en-US" altLang="zh-CN" sz="2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133BB-9E1C-4AD7-BF95-7E851F292927}"/>
              </a:ext>
            </a:extLst>
          </p:cNvPr>
          <p:cNvGrpSpPr/>
          <p:nvPr/>
        </p:nvGrpSpPr>
        <p:grpSpPr>
          <a:xfrm>
            <a:off x="1157903" y="4343400"/>
            <a:ext cx="6828194" cy="2247475"/>
            <a:chOff x="1660823" y="4495800"/>
            <a:chExt cx="6828194" cy="22474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BE33A8-188C-48AE-8DC2-479D3D1D1EBA}"/>
                </a:ext>
              </a:extLst>
            </p:cNvPr>
            <p:cNvSpPr txBox="1"/>
            <p:nvPr/>
          </p:nvSpPr>
          <p:spPr>
            <a:xfrm>
              <a:off x="1660823" y="5973834"/>
              <a:ext cx="682819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Calculate &amp; output the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accuracy</a:t>
              </a:r>
            </a:p>
            <a:p>
              <a:pPr algn="ctr"/>
              <a:r>
                <a:rPr lang="zh-CN" altLang="en-US" sz="2200" dirty="0"/>
                <a:t>计算并输出准确率</a:t>
              </a:r>
              <a:endParaRPr lang="en-US" altLang="zh-CN" sz="2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EAE311-AFBC-4C56-9C68-B307BDD4D6B2}"/>
                </a:ext>
              </a:extLst>
            </p:cNvPr>
            <p:cNvSpPr/>
            <p:nvPr/>
          </p:nvSpPr>
          <p:spPr bwMode="auto">
            <a:xfrm>
              <a:off x="1981200" y="4495800"/>
              <a:ext cx="6172200" cy="102108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6903D1-C002-4A49-94D7-953970F16F28}"/>
                </a:ext>
              </a:extLst>
            </p:cNvPr>
            <p:cNvCxnSpPr>
              <a:cxnSpLocks/>
              <a:stCxn id="10" idx="0"/>
              <a:endCxn id="11" idx="2"/>
            </p:cNvCxnSpPr>
            <p:nvPr/>
          </p:nvCxnSpPr>
          <p:spPr bwMode="auto">
            <a:xfrm flipH="1" flipV="1">
              <a:off x="5067300" y="5516880"/>
              <a:ext cx="7620" cy="45695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9222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8EEDE9-E7D1-4011-970D-884B80BB9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82" y="3122950"/>
            <a:ext cx="8047418" cy="33530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CF21CE-8E8C-481D-9D52-8F7D83E30DB4}"/>
              </a:ext>
            </a:extLst>
          </p:cNvPr>
          <p:cNvSpPr txBox="1"/>
          <p:nvPr/>
        </p:nvSpPr>
        <p:spPr>
          <a:xfrm>
            <a:off x="609600" y="16764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‘test.py’ w/ a main section &amp; accept 2 arguments for training &amp; test data file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写一个带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部分的新文件“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”，接受训练和测试数据文件这两个参数，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CF21CE-8E8C-481D-9D52-8F7D83E30DB4}"/>
              </a:ext>
            </a:extLst>
          </p:cNvPr>
          <p:cNvSpPr txBox="1"/>
          <p:nvPr/>
        </p:nvSpPr>
        <p:spPr>
          <a:xfrm>
            <a:off x="609600" y="16265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the files written  </a:t>
            </a:r>
            <a:r>
              <a:rPr lang="zh-CN" altLang="en-US" sz="2200" dirty="0"/>
              <a:t>导入新写的文件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4DD79-51DF-4C7B-B0F2-C524A6A0A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22" y="2122502"/>
            <a:ext cx="2530060" cy="57917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4D4F5-5028-40EA-B0F1-D0111A5EDDA2}"/>
              </a:ext>
            </a:extLst>
          </p:cNvPr>
          <p:cNvSpPr txBox="1"/>
          <p:nvPr/>
        </p:nvSpPr>
        <p:spPr>
          <a:xfrm>
            <a:off x="495300" y="2819400"/>
            <a:ext cx="8153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the instances for the class ‘</a:t>
            </a:r>
            <a:r>
              <a:rPr lang="en-US" altLang="zh-CN" sz="2200" dirty="0" err="1"/>
              <a:t>RoteLearner</a:t>
            </a:r>
            <a:r>
              <a:rPr lang="en-US" altLang="zh-CN" sz="2200" dirty="0"/>
              <a:t>’ &amp; ‘Tester’, &amp; then perform the evaluation on the training &amp; testing files  </a:t>
            </a:r>
            <a:r>
              <a:rPr lang="zh-CN" altLang="en-US" sz="2200" dirty="0"/>
              <a:t>为类型“</a:t>
            </a:r>
            <a:r>
              <a:rPr lang="en-US" altLang="zh-CN" sz="2200" dirty="0" err="1"/>
              <a:t>RoteLearner</a:t>
            </a:r>
            <a:r>
              <a:rPr lang="zh-CN" altLang="en-US" sz="2200" dirty="0"/>
              <a:t>”和“</a:t>
            </a:r>
            <a:r>
              <a:rPr lang="en-US" altLang="zh-CN" sz="2200" dirty="0"/>
              <a:t>Tester</a:t>
            </a:r>
            <a:r>
              <a:rPr lang="zh-CN" altLang="en-US" sz="2200" dirty="0"/>
              <a:t>”创建实例，用训练和测试数据文件对死记硬背进行评估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E215C-E566-43AB-8D75-87371F186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267200"/>
            <a:ext cx="5273496" cy="11431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1DF1DB-6C75-4849-BE4E-FBCD378E95A1}"/>
              </a:ext>
            </a:extLst>
          </p:cNvPr>
          <p:cNvSpPr txBox="1"/>
          <p:nvPr/>
        </p:nvSpPr>
        <p:spPr>
          <a:xfrm>
            <a:off x="495300" y="5515730"/>
            <a:ext cx="815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to train on ‘</a:t>
            </a:r>
            <a:r>
              <a:rPr lang="en-US" altLang="zh-CN" sz="2200" dirty="0" err="1"/>
              <a:t>usps</a:t>
            </a:r>
            <a:r>
              <a:rPr lang="en-US" altLang="zh-CN" sz="2200" dirty="0"/>
              <a:t>’, test on ‘</a:t>
            </a:r>
            <a:r>
              <a:rPr lang="en-US" altLang="zh-CN" sz="2200" dirty="0" err="1"/>
              <a:t>usps</a:t>
            </a:r>
            <a:r>
              <a:rPr lang="en-US" altLang="zh-CN" sz="2200" dirty="0"/>
              <a:t>’ &amp; ‘usps.t’</a:t>
            </a:r>
          </a:p>
          <a:p>
            <a:pPr algn="ctr"/>
            <a:r>
              <a:rPr lang="zh-CN" altLang="en-US" sz="2200" dirty="0"/>
              <a:t>尝试用“</a:t>
            </a:r>
            <a:r>
              <a:rPr lang="en-US" altLang="zh-CN" sz="2200" dirty="0" err="1"/>
              <a:t>usps</a:t>
            </a:r>
            <a:r>
              <a:rPr lang="zh-CN" altLang="en-US" sz="2200" dirty="0"/>
              <a:t>”进行训练，用“</a:t>
            </a:r>
            <a:r>
              <a:rPr lang="en-US" altLang="zh-CN" sz="2200" dirty="0" err="1"/>
              <a:t>usps</a:t>
            </a:r>
            <a:r>
              <a:rPr lang="zh-CN" altLang="en-US" sz="2200" dirty="0"/>
              <a:t>”和“</a:t>
            </a:r>
            <a:r>
              <a:rPr lang="en-US" altLang="zh-CN" sz="2200" dirty="0"/>
              <a:t>usps.t</a:t>
            </a:r>
            <a:r>
              <a:rPr lang="zh-CN" altLang="en-US" sz="2200" dirty="0"/>
              <a:t>”进行评估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91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15808</TotalTime>
  <Words>707</Words>
  <Application>Microsoft Office PowerPoint</Application>
  <PresentationFormat>On-screen Show (4:3)</PresentationFormat>
  <Paragraphs>46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2.2</vt:lpstr>
      <vt:lpstr>Rote Learning 死记硬背 (1)</vt:lpstr>
      <vt:lpstr>Rote Learning 死记硬背 (2)</vt:lpstr>
      <vt:lpstr>Rote Learning 死记硬背 (3)</vt:lpstr>
      <vt:lpstr>Evaluation  评估 (1)</vt:lpstr>
      <vt:lpstr>Evaluation  评估 (2)</vt:lpstr>
      <vt:lpstr>Evaluation  评估 (2)</vt:lpstr>
      <vt:lpstr>Run It 运行之 (1)</vt:lpstr>
      <vt:lpstr>Run It 运行之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1175</cp:revision>
  <dcterms:created xsi:type="dcterms:W3CDTF">2003-03-13T01:36:43Z</dcterms:created>
  <dcterms:modified xsi:type="dcterms:W3CDTF">2023-10-20T08:17:11Z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2019-09-28 02:05:00Z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