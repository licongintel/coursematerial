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9"/>
  </p:notesMasterIdLst>
  <p:handoutMasterIdLst>
    <p:handoutMasterId r:id="rId20"/>
  </p:handoutMasterIdLst>
  <p:sldIdLst>
    <p:sldId id="286" r:id="rId2"/>
    <p:sldId id="438" r:id="rId3"/>
    <p:sldId id="439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353" r:id="rId18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572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627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154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2027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8903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8064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1829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6939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1595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54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968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856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930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4.3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Look at the Data First </a:t>
            </a:r>
            <a:r>
              <a:rPr lang="zh-CN" altLang="en-US" dirty="0">
                <a:ea typeface="ＭＳ Ｐゴシック" panose="020B0600070205080204" pitchFamily="34" charset="-128"/>
              </a:rPr>
              <a:t>先看数据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…</a:t>
            </a:r>
          </a:p>
          <a:p>
            <a:r>
              <a:rPr lang="en-US" altLang="zh-CN" sz="2000" dirty="0"/>
              <a:t>====================================== [ </a:t>
            </a:r>
            <a:r>
              <a:rPr lang="en-US" altLang="zh-CN" sz="2000" dirty="0" err="1"/>
              <a:t>finmeccanica</a:t>
            </a:r>
            <a:r>
              <a:rPr lang="en-US" altLang="zh-CN" sz="2000" dirty="0"/>
              <a:t>/NP ] is/VBZ [ an/DT </a:t>
            </a:r>
            <a:r>
              <a:rPr lang="en-US" altLang="zh-CN" sz="2000" dirty="0" err="1"/>
              <a:t>italian</a:t>
            </a:r>
            <a:r>
              <a:rPr lang="en-US" altLang="zh-CN" sz="2000" dirty="0"/>
              <a:t>/JJ state-owned/JJ holding/VBG company/NN ] with/IN [ interests_5/NNS ] in/IN [ the/DT mechanical/JJ engineering/NN industry/NN ] ./. </a:t>
            </a:r>
          </a:p>
          <a:p>
            <a:r>
              <a:rPr lang="en-US" altLang="zh-CN" sz="2000" dirty="0"/>
              <a:t>$$</a:t>
            </a:r>
          </a:p>
          <a:p>
            <a:r>
              <a:rPr lang="en-US" altLang="zh-CN" sz="2000" dirty="0"/>
              <a:t>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FC9D4A-7F2B-4C4F-A2F4-73EDEF47471B}"/>
              </a:ext>
            </a:extLst>
          </p:cNvPr>
          <p:cNvGrpSpPr/>
          <p:nvPr/>
        </p:nvGrpSpPr>
        <p:grpSpPr>
          <a:xfrm>
            <a:off x="633663" y="1978934"/>
            <a:ext cx="5005137" cy="2222706"/>
            <a:chOff x="1219200" y="3922295"/>
            <a:chExt cx="5005137" cy="222270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8534B3-B2E5-44D5-A9F5-145E5DC21C4A}"/>
                </a:ext>
              </a:extLst>
            </p:cNvPr>
            <p:cNvSpPr/>
            <p:nvPr/>
          </p:nvSpPr>
          <p:spPr bwMode="auto">
            <a:xfrm>
              <a:off x="1219200" y="3922295"/>
              <a:ext cx="5005137" cy="230866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0F10FCA-741E-442E-95C9-24009A8BD523}"/>
                </a:ext>
              </a:extLst>
            </p:cNvPr>
            <p:cNvCxnSpPr>
              <a:cxnSpLocks/>
              <a:stCxn id="11" idx="0"/>
              <a:endCxn id="8" idx="2"/>
            </p:cNvCxnSpPr>
            <p:nvPr/>
          </p:nvCxnSpPr>
          <p:spPr bwMode="auto">
            <a:xfrm flipV="1">
              <a:off x="3709737" y="4153161"/>
              <a:ext cx="12032" cy="12223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926F93-B81F-4729-A5FE-0D064E148803}"/>
                </a:ext>
              </a:extLst>
            </p:cNvPr>
            <p:cNvSpPr txBox="1"/>
            <p:nvPr/>
          </p:nvSpPr>
          <p:spPr>
            <a:xfrm>
              <a:off x="2109537" y="5375560"/>
              <a:ext cx="3200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Garbage characters</a:t>
              </a:r>
            </a:p>
            <a:p>
              <a:pPr algn="ctr"/>
              <a:r>
                <a:rPr lang="zh-CN" altLang="en-US" sz="2200" dirty="0"/>
                <a:t>垃圾字符</a:t>
              </a:r>
              <a:endParaRPr lang="en-US" altLang="zh-CN" sz="2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B44D69-B7BD-46C6-8056-1236F623FB67}"/>
              </a:ext>
            </a:extLst>
          </p:cNvPr>
          <p:cNvGrpSpPr/>
          <p:nvPr/>
        </p:nvGrpSpPr>
        <p:grpSpPr>
          <a:xfrm>
            <a:off x="5370095" y="1941342"/>
            <a:ext cx="3200400" cy="3352177"/>
            <a:chOff x="5370095" y="1941342"/>
            <a:chExt cx="3200400" cy="33521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F9ED88-CD56-43ED-B08F-7DC1296CBB65}"/>
                </a:ext>
              </a:extLst>
            </p:cNvPr>
            <p:cNvSpPr txBox="1"/>
            <p:nvPr/>
          </p:nvSpPr>
          <p:spPr>
            <a:xfrm>
              <a:off x="5370095" y="3846969"/>
              <a:ext cx="32004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Base noun phrase tags which we do not use  </a:t>
              </a:r>
              <a:r>
                <a:rPr lang="zh-CN" altLang="en-US" sz="2200" dirty="0"/>
                <a:t>基本名词短语标记，我们不用</a:t>
              </a:r>
              <a:endParaRPr lang="en-US" altLang="zh-CN" sz="2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1F26ECE-7CB1-4981-B4EC-E0C72072BAFD}"/>
                </a:ext>
              </a:extLst>
            </p:cNvPr>
            <p:cNvCxnSpPr>
              <a:cxnSpLocks/>
              <a:stCxn id="17" idx="0"/>
              <a:endCxn id="24" idx="2"/>
            </p:cNvCxnSpPr>
            <p:nvPr/>
          </p:nvCxnSpPr>
          <p:spPr bwMode="auto">
            <a:xfrm flipV="1">
              <a:off x="6970295" y="2265341"/>
              <a:ext cx="1039617" cy="15816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BD6030-0BBE-4241-B6EB-C9BA25175D99}"/>
                </a:ext>
              </a:extLst>
            </p:cNvPr>
            <p:cNvSpPr/>
            <p:nvPr/>
          </p:nvSpPr>
          <p:spPr bwMode="auto">
            <a:xfrm>
              <a:off x="5709430" y="1941342"/>
              <a:ext cx="164431" cy="307066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E554A2D-FFE0-4BAA-835C-233932C8D1B4}"/>
                </a:ext>
              </a:extLst>
            </p:cNvPr>
            <p:cNvSpPr/>
            <p:nvPr/>
          </p:nvSpPr>
          <p:spPr bwMode="auto">
            <a:xfrm>
              <a:off x="7927696" y="1958275"/>
              <a:ext cx="164431" cy="307066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C1D4958-777A-45B4-AD64-C82D3091416D}"/>
                </a:ext>
              </a:extLst>
            </p:cNvPr>
            <p:cNvCxnSpPr>
              <a:cxnSpLocks/>
              <a:stCxn id="17" idx="0"/>
              <a:endCxn id="22" idx="2"/>
            </p:cNvCxnSpPr>
            <p:nvPr/>
          </p:nvCxnSpPr>
          <p:spPr bwMode="auto">
            <a:xfrm flipH="1" flipV="1">
              <a:off x="5791646" y="2248408"/>
              <a:ext cx="1178649" cy="15985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9B548C-CF01-4B24-BBB3-E8B9BD855D74}"/>
              </a:ext>
            </a:extLst>
          </p:cNvPr>
          <p:cNvGrpSpPr/>
          <p:nvPr/>
        </p:nvGrpSpPr>
        <p:grpSpPr>
          <a:xfrm>
            <a:off x="573505" y="3114350"/>
            <a:ext cx="3200400" cy="2296837"/>
            <a:chOff x="1159042" y="3922295"/>
            <a:chExt cx="3200400" cy="22968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ACE18AD-4E98-48DD-A59F-3525DC0A6BD6}"/>
                </a:ext>
              </a:extLst>
            </p:cNvPr>
            <p:cNvSpPr/>
            <p:nvPr/>
          </p:nvSpPr>
          <p:spPr bwMode="auto">
            <a:xfrm>
              <a:off x="1219200" y="3922295"/>
              <a:ext cx="452605" cy="39085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C7ECE0D-87C2-4BA4-85FE-B6CCD9FF001D}"/>
                </a:ext>
              </a:extLst>
            </p:cNvPr>
            <p:cNvCxnSpPr>
              <a:cxnSpLocks/>
              <a:stCxn id="34" idx="0"/>
              <a:endCxn id="32" idx="2"/>
            </p:cNvCxnSpPr>
            <p:nvPr/>
          </p:nvCxnSpPr>
          <p:spPr bwMode="auto">
            <a:xfrm flipH="1" flipV="1">
              <a:off x="1445503" y="4313145"/>
              <a:ext cx="1313739" cy="11365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03694FF-F88B-45F6-8FA0-6F7ADF4972BC}"/>
                </a:ext>
              </a:extLst>
            </p:cNvPr>
            <p:cNvSpPr txBox="1"/>
            <p:nvPr/>
          </p:nvSpPr>
          <p:spPr>
            <a:xfrm>
              <a:off x="1159042" y="5449691"/>
              <a:ext cx="3200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Skip the next line</a:t>
              </a:r>
            </a:p>
            <a:p>
              <a:pPr algn="ctr"/>
              <a:r>
                <a:rPr lang="zh-CN" altLang="en-US" sz="2200" dirty="0"/>
                <a:t>跳过后面一行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750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Look at the Data First </a:t>
            </a:r>
            <a:r>
              <a:rPr lang="zh-CN" altLang="en-US" dirty="0">
                <a:ea typeface="ＭＳ Ｐゴシック" panose="020B0600070205080204" pitchFamily="34" charset="-128"/>
              </a:rPr>
              <a:t>先看数据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…</a:t>
            </a:r>
          </a:p>
          <a:p>
            <a:r>
              <a:rPr lang="en-US" altLang="zh-CN" sz="2000" dirty="0"/>
              <a:t>====================================== [ </a:t>
            </a:r>
            <a:r>
              <a:rPr lang="en-US" altLang="zh-CN" sz="2000" dirty="0" err="1"/>
              <a:t>finmeccanica</a:t>
            </a:r>
            <a:r>
              <a:rPr lang="en-US" altLang="zh-CN" sz="2000" dirty="0"/>
              <a:t>/NP ] is/VBZ [ an/DT </a:t>
            </a:r>
            <a:r>
              <a:rPr lang="en-US" altLang="zh-CN" sz="2000" dirty="0" err="1"/>
              <a:t>italian</a:t>
            </a:r>
            <a:r>
              <a:rPr lang="en-US" altLang="zh-CN" sz="2000" dirty="0"/>
              <a:t>/JJ state-owned/JJ holding/VBG company/NN ] with/IN [ interests_5/NNS ] in/IN [ the/DT mechanical/JJ engineering/NN industry/NN ] ./. </a:t>
            </a:r>
          </a:p>
          <a:p>
            <a:r>
              <a:rPr lang="en-US" altLang="zh-CN" sz="2000" dirty="0"/>
              <a:t>$$</a:t>
            </a:r>
          </a:p>
          <a:p>
            <a:r>
              <a:rPr lang="en-US" altLang="zh-CN" sz="2000" dirty="0"/>
              <a:t>…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9B548C-CF01-4B24-BBB3-E8B9BD855D74}"/>
              </a:ext>
            </a:extLst>
          </p:cNvPr>
          <p:cNvGrpSpPr/>
          <p:nvPr/>
        </p:nvGrpSpPr>
        <p:grpSpPr>
          <a:xfrm>
            <a:off x="2082800" y="2514600"/>
            <a:ext cx="4648200" cy="2805002"/>
            <a:chOff x="-339558" y="3922295"/>
            <a:chExt cx="4648200" cy="280500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ACE18AD-4E98-48DD-A59F-3525DC0A6BD6}"/>
                </a:ext>
              </a:extLst>
            </p:cNvPr>
            <p:cNvSpPr/>
            <p:nvPr/>
          </p:nvSpPr>
          <p:spPr bwMode="auto">
            <a:xfrm>
              <a:off x="1260642" y="3922295"/>
              <a:ext cx="1447800" cy="36406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C7ECE0D-87C2-4BA4-85FE-B6CCD9FF001D}"/>
                </a:ext>
              </a:extLst>
            </p:cNvPr>
            <p:cNvCxnSpPr>
              <a:cxnSpLocks/>
              <a:stCxn id="34" idx="0"/>
              <a:endCxn id="32" idx="2"/>
            </p:cNvCxnSpPr>
            <p:nvPr/>
          </p:nvCxnSpPr>
          <p:spPr bwMode="auto">
            <a:xfrm flipV="1">
              <a:off x="1984542" y="4286362"/>
              <a:ext cx="0" cy="9943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03694FF-F88B-45F6-8FA0-6F7ADF4972BC}"/>
                </a:ext>
              </a:extLst>
            </p:cNvPr>
            <p:cNvSpPr txBox="1"/>
            <p:nvPr/>
          </p:nvSpPr>
          <p:spPr>
            <a:xfrm>
              <a:off x="-339558" y="5280747"/>
              <a:ext cx="46482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Label format: ‘_’ after ‘interest(s)’, then the class label </a:t>
              </a:r>
            </a:p>
            <a:p>
              <a:pPr algn="ctr"/>
              <a:r>
                <a:rPr lang="zh-CN" altLang="en-US" sz="2200" dirty="0"/>
                <a:t>标注格式：“</a:t>
              </a:r>
              <a:r>
                <a:rPr lang="en-US" altLang="zh-CN" sz="2200" dirty="0"/>
                <a:t>interest(s)</a:t>
              </a:r>
              <a:r>
                <a:rPr lang="zh-CN" altLang="en-US" sz="2200" dirty="0"/>
                <a:t>”后面跟随“</a:t>
              </a:r>
              <a:r>
                <a:rPr lang="en-US" altLang="zh-CN" sz="2200" dirty="0"/>
                <a:t>_</a:t>
              </a:r>
              <a:r>
                <a:rPr lang="zh-CN" altLang="en-US" sz="2200" dirty="0"/>
                <a:t>”，然后是类别标记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283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Regular Expression </a:t>
            </a:r>
            <a:r>
              <a:rPr lang="zh-CN" altLang="en-US" dirty="0">
                <a:ea typeface="ＭＳ Ｐゴシック" panose="020B0600070205080204" pitchFamily="34" charset="-128"/>
              </a:rPr>
              <a:t>正则表达式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‘interestData.py’ w/ a new class</a:t>
            </a:r>
          </a:p>
          <a:p>
            <a:pPr algn="ctr"/>
            <a:r>
              <a:rPr lang="zh-CN" altLang="en-US" sz="2200" dirty="0"/>
              <a:t>创建一个包含新的类型的新文件“</a:t>
            </a:r>
            <a:r>
              <a:rPr lang="en-US" altLang="zh-CN" sz="2200" dirty="0"/>
              <a:t>interestData.py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62C2B-54CA-4793-8989-AB87A34A1079}"/>
              </a:ext>
            </a:extLst>
          </p:cNvPr>
          <p:cNvSpPr txBox="1"/>
          <p:nvPr/>
        </p:nvSpPr>
        <p:spPr>
          <a:xfrm>
            <a:off x="381000" y="2801073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‘re’ for regular expression processing</a:t>
            </a:r>
          </a:p>
          <a:p>
            <a:pPr algn="ctr"/>
            <a:r>
              <a:rPr lang="zh-CN" altLang="en-US" sz="2200" dirty="0"/>
              <a:t>导入“</a:t>
            </a:r>
            <a:r>
              <a:rPr lang="en-US" altLang="zh-CN" sz="2200" dirty="0"/>
              <a:t>re</a:t>
            </a:r>
            <a:r>
              <a:rPr lang="zh-CN" altLang="en-US" sz="2200" dirty="0"/>
              <a:t>”处理正则表达式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2CE8C-778B-47DA-A80A-7EE2FA44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4" y="2362200"/>
            <a:ext cx="3627434" cy="381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25432F-3955-4857-8EE6-7B7129C57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9" y="3581400"/>
            <a:ext cx="1310754" cy="350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FC33E9-75FF-4569-ADF8-54F82CE68BF4}"/>
              </a:ext>
            </a:extLst>
          </p:cNvPr>
          <p:cNvSpPr txBox="1"/>
          <p:nvPr/>
        </p:nvSpPr>
        <p:spPr>
          <a:xfrm>
            <a:off x="152400" y="396240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a regular expression, ‘?’ represents the preceding character can be either absent or present, &amp; ‘\d’ represent a digit from 0~9</a:t>
            </a:r>
          </a:p>
          <a:p>
            <a:pPr algn="ctr"/>
            <a:r>
              <a:rPr lang="zh-CN" altLang="en-US" sz="2200" dirty="0"/>
              <a:t>在一个正则表达式中，“</a:t>
            </a:r>
            <a:r>
              <a:rPr lang="en-US" altLang="zh-CN" sz="2200" dirty="0"/>
              <a:t>?</a:t>
            </a:r>
            <a:r>
              <a:rPr lang="zh-CN" altLang="en-US" sz="2200" dirty="0"/>
              <a:t>”表示前一个字符可有可无，“</a:t>
            </a:r>
            <a:r>
              <a:rPr lang="en-US" altLang="zh-CN" sz="2200" dirty="0"/>
              <a:t>\d</a:t>
            </a:r>
            <a:r>
              <a:rPr lang="zh-CN" altLang="en-US" sz="2200" dirty="0"/>
              <a:t>”表示一个</a:t>
            </a:r>
            <a:r>
              <a:rPr lang="en-US" altLang="zh-CN" sz="2200" dirty="0"/>
              <a:t>0~9</a:t>
            </a:r>
            <a:r>
              <a:rPr lang="zh-CN" altLang="en-US" sz="2200" dirty="0"/>
              <a:t>之间的数字</a:t>
            </a:r>
            <a:endParaRPr lang="en-US" altLang="zh-CN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A524E-7F89-4ABC-B77B-BABFA00BFF61}"/>
              </a:ext>
            </a:extLst>
          </p:cNvPr>
          <p:cNvSpPr txBox="1"/>
          <p:nvPr/>
        </p:nvSpPr>
        <p:spPr>
          <a:xfrm>
            <a:off x="152400" y="5396702"/>
            <a:ext cx="883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Example: </a:t>
            </a:r>
            <a:r>
              <a:rPr lang="zh-CN" altLang="en-US" sz="2200" dirty="0"/>
              <a:t>示例：</a:t>
            </a:r>
            <a:r>
              <a:rPr lang="en-US" altLang="zh-CN" sz="2200" dirty="0"/>
              <a:t> ‘interests?_\d’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40D38-0AD2-4506-A5C3-A0193D0DAF45}"/>
              </a:ext>
            </a:extLst>
          </p:cNvPr>
          <p:cNvGrpSpPr/>
          <p:nvPr/>
        </p:nvGrpSpPr>
        <p:grpSpPr>
          <a:xfrm>
            <a:off x="3621314" y="5464629"/>
            <a:ext cx="4648200" cy="1378623"/>
            <a:chOff x="-912872" y="3922295"/>
            <a:chExt cx="4648200" cy="137862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837CD7-9E73-45FF-BC32-C9F98BD292A4}"/>
                </a:ext>
              </a:extLst>
            </p:cNvPr>
            <p:cNvSpPr/>
            <p:nvPr/>
          </p:nvSpPr>
          <p:spPr bwMode="auto">
            <a:xfrm>
              <a:off x="1260642" y="3922295"/>
              <a:ext cx="301172" cy="33620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D492432-2E3D-421F-9C84-7BD6BC9A5DE7}"/>
                </a:ext>
              </a:extLst>
            </p:cNvPr>
            <p:cNvCxnSpPr>
              <a:cxnSpLocks/>
              <a:stCxn id="16" idx="0"/>
              <a:endCxn id="14" idx="2"/>
            </p:cNvCxnSpPr>
            <p:nvPr/>
          </p:nvCxnSpPr>
          <p:spPr bwMode="auto">
            <a:xfrm flipV="1">
              <a:off x="1411228" y="4258502"/>
              <a:ext cx="0" cy="27297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308450-EC4B-4FF0-8D22-EF39F76D0A27}"/>
                </a:ext>
              </a:extLst>
            </p:cNvPr>
            <p:cNvSpPr txBox="1"/>
            <p:nvPr/>
          </p:nvSpPr>
          <p:spPr>
            <a:xfrm>
              <a:off x="-912872" y="4531477"/>
              <a:ext cx="4648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‘s’</a:t>
              </a:r>
              <a:r>
                <a:rPr lang="zh-CN" altLang="en-US" sz="2200" dirty="0"/>
                <a:t> </a:t>
              </a:r>
              <a:r>
                <a:rPr lang="en-US" altLang="zh-CN" sz="2200" dirty="0"/>
                <a:t>either present or absent</a:t>
              </a:r>
            </a:p>
            <a:p>
              <a:pPr algn="ctr"/>
              <a:r>
                <a:rPr lang="zh-CN" altLang="en-US" sz="2200" dirty="0"/>
                <a:t>“</a:t>
              </a:r>
              <a:r>
                <a:rPr lang="en-US" altLang="zh-CN" sz="2200" dirty="0"/>
                <a:t>s</a:t>
              </a:r>
              <a:r>
                <a:rPr lang="zh-CN" altLang="en-US" sz="2200" dirty="0"/>
                <a:t>”可有可无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Regular Expression </a:t>
            </a:r>
            <a:r>
              <a:rPr lang="zh-CN" altLang="en-US" dirty="0">
                <a:ea typeface="ＭＳ Ｐゴシック" panose="020B0600070205080204" pitchFamily="34" charset="-128"/>
              </a:rPr>
              <a:t>正则表达式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‘interestData.py’ w/ a new class </a:t>
            </a:r>
          </a:p>
          <a:p>
            <a:pPr algn="ctr"/>
            <a:r>
              <a:rPr lang="zh-CN" altLang="en-US" sz="2200" dirty="0"/>
              <a:t>创建一个包含新的类型的新文件“</a:t>
            </a:r>
            <a:r>
              <a:rPr lang="en-US" altLang="zh-CN" sz="2200" dirty="0"/>
              <a:t>interestData.py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62C2B-54CA-4793-8989-AB87A34A1079}"/>
              </a:ext>
            </a:extLst>
          </p:cNvPr>
          <p:cNvSpPr txBox="1"/>
          <p:nvPr/>
        </p:nvSpPr>
        <p:spPr>
          <a:xfrm>
            <a:off x="381000" y="2801073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‘re’ for regular expression processing</a:t>
            </a:r>
          </a:p>
          <a:p>
            <a:pPr algn="ctr"/>
            <a:r>
              <a:rPr lang="zh-CN" altLang="en-US" sz="2200" dirty="0"/>
              <a:t>导入“</a:t>
            </a:r>
            <a:r>
              <a:rPr lang="en-US" altLang="zh-CN" sz="2200" dirty="0"/>
              <a:t>re</a:t>
            </a:r>
            <a:r>
              <a:rPr lang="zh-CN" altLang="en-US" sz="2200" dirty="0"/>
              <a:t>”处理正则表达式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2CE8C-778B-47DA-A80A-7EE2FA44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4" y="2362200"/>
            <a:ext cx="3627434" cy="381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25432F-3955-4857-8EE6-7B7129C57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9" y="3581400"/>
            <a:ext cx="1310754" cy="3505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FC33E9-75FF-4569-ADF8-54F82CE68BF4}"/>
              </a:ext>
            </a:extLst>
          </p:cNvPr>
          <p:cNvSpPr txBox="1"/>
          <p:nvPr/>
        </p:nvSpPr>
        <p:spPr>
          <a:xfrm>
            <a:off x="152400" y="396240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a regular expression, ‘?’ represents the preceding character can be either absent or present, &amp; ‘\d’ represent a digit from 0~9</a:t>
            </a:r>
          </a:p>
          <a:p>
            <a:pPr algn="ctr"/>
            <a:r>
              <a:rPr lang="zh-CN" altLang="en-US" sz="2200" dirty="0"/>
              <a:t>在一个正则表达式中，“</a:t>
            </a:r>
            <a:r>
              <a:rPr lang="en-US" altLang="zh-CN" sz="2200" dirty="0"/>
              <a:t>?</a:t>
            </a:r>
            <a:r>
              <a:rPr lang="zh-CN" altLang="en-US" sz="2200" dirty="0"/>
              <a:t>”表示前一个字符可有可无，“</a:t>
            </a:r>
            <a:r>
              <a:rPr lang="en-US" altLang="zh-CN" sz="2200" dirty="0"/>
              <a:t>\d</a:t>
            </a:r>
            <a:r>
              <a:rPr lang="zh-CN" altLang="en-US" sz="2200" dirty="0"/>
              <a:t>”表示一个</a:t>
            </a:r>
            <a:r>
              <a:rPr lang="en-US" altLang="zh-CN" sz="2200" dirty="0"/>
              <a:t>0~9</a:t>
            </a:r>
            <a:r>
              <a:rPr lang="zh-CN" altLang="en-US" sz="2200" dirty="0"/>
              <a:t>之间的数字</a:t>
            </a:r>
            <a:endParaRPr lang="en-US" altLang="zh-CN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A524E-7F89-4ABC-B77B-BABFA00BFF61}"/>
              </a:ext>
            </a:extLst>
          </p:cNvPr>
          <p:cNvSpPr txBox="1"/>
          <p:nvPr/>
        </p:nvSpPr>
        <p:spPr>
          <a:xfrm>
            <a:off x="152400" y="5396702"/>
            <a:ext cx="883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Example: </a:t>
            </a:r>
            <a:r>
              <a:rPr lang="zh-CN" altLang="en-US" sz="2200" dirty="0"/>
              <a:t>示例：</a:t>
            </a:r>
            <a:r>
              <a:rPr lang="en-US" altLang="zh-CN" sz="2200" dirty="0"/>
              <a:t> ‘interests?_\d’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40D38-0AD2-4506-A5C3-A0193D0DAF45}"/>
              </a:ext>
            </a:extLst>
          </p:cNvPr>
          <p:cNvGrpSpPr/>
          <p:nvPr/>
        </p:nvGrpSpPr>
        <p:grpSpPr>
          <a:xfrm>
            <a:off x="4114800" y="5439400"/>
            <a:ext cx="4648200" cy="1040069"/>
            <a:chOff x="-912872" y="3922295"/>
            <a:chExt cx="4648200" cy="10400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837CD7-9E73-45FF-BC32-C9F98BD292A4}"/>
                </a:ext>
              </a:extLst>
            </p:cNvPr>
            <p:cNvSpPr/>
            <p:nvPr/>
          </p:nvSpPr>
          <p:spPr bwMode="auto">
            <a:xfrm>
              <a:off x="1260642" y="3922295"/>
              <a:ext cx="301172" cy="33620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D492432-2E3D-421F-9C84-7BD6BC9A5DE7}"/>
                </a:ext>
              </a:extLst>
            </p:cNvPr>
            <p:cNvCxnSpPr>
              <a:cxnSpLocks/>
              <a:stCxn id="16" idx="0"/>
              <a:endCxn id="14" idx="2"/>
            </p:cNvCxnSpPr>
            <p:nvPr/>
          </p:nvCxnSpPr>
          <p:spPr bwMode="auto">
            <a:xfrm flipV="1">
              <a:off x="1411228" y="4258502"/>
              <a:ext cx="0" cy="27297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308450-EC4B-4FF0-8D22-EF39F76D0A27}"/>
                </a:ext>
              </a:extLst>
            </p:cNvPr>
            <p:cNvSpPr txBox="1"/>
            <p:nvPr/>
          </p:nvSpPr>
          <p:spPr>
            <a:xfrm>
              <a:off x="-912872" y="4531477"/>
              <a:ext cx="4648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Single digit  </a:t>
              </a:r>
              <a:r>
                <a:rPr lang="zh-CN" altLang="en-US" sz="2200" dirty="0"/>
                <a:t>单个数字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8344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Regular Expression </a:t>
            </a:r>
            <a:r>
              <a:rPr lang="zh-CN" altLang="en-US" dirty="0">
                <a:ea typeface="ＭＳ Ｐゴシック" panose="020B0600070205080204" pitchFamily="34" charset="-128"/>
              </a:rPr>
              <a:t>正则表达式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match_label</a:t>
            </a:r>
            <a:r>
              <a:rPr lang="en-US" altLang="zh-CN" sz="2200" dirty="0"/>
              <a:t>’ to extract the label from an ‘interest’ word item, but return None if it is not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match_label</a:t>
            </a:r>
            <a:r>
              <a:rPr lang="zh-CN" altLang="en-US" sz="2200" dirty="0"/>
              <a:t>”，从一个“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”词项中抽取出类别标记，否则返回</a:t>
            </a:r>
            <a:r>
              <a:rPr lang="en-US" altLang="zh-CN" sz="2200" dirty="0"/>
              <a:t>None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72DC32-883A-42A2-ACD4-36638705B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03461"/>
            <a:ext cx="7529212" cy="1615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9E105BE-BD73-4C60-81D2-538E1AEEED6D}"/>
              </a:ext>
            </a:extLst>
          </p:cNvPr>
          <p:cNvGrpSpPr/>
          <p:nvPr/>
        </p:nvGrpSpPr>
        <p:grpSpPr>
          <a:xfrm>
            <a:off x="1524000" y="3297121"/>
            <a:ext cx="4648200" cy="2216823"/>
            <a:chOff x="1068328" y="3922295"/>
            <a:chExt cx="4648200" cy="22168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74259D-6592-4CB9-AC7B-AA109B0DE467}"/>
                </a:ext>
              </a:extLst>
            </p:cNvPr>
            <p:cNvSpPr/>
            <p:nvPr/>
          </p:nvSpPr>
          <p:spPr bwMode="auto">
            <a:xfrm>
              <a:off x="1260641" y="3922295"/>
              <a:ext cx="4259943" cy="295165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1D6697F-51C4-4252-9CA8-AB0F1CF9D74C}"/>
                </a:ext>
              </a:extLst>
            </p:cNvPr>
            <p:cNvCxnSpPr>
              <a:cxnSpLocks/>
              <a:stCxn id="20" idx="0"/>
              <a:endCxn id="18" idx="2"/>
            </p:cNvCxnSpPr>
            <p:nvPr/>
          </p:nvCxnSpPr>
          <p:spPr bwMode="auto">
            <a:xfrm flipH="1" flipV="1">
              <a:off x="3390613" y="4217460"/>
              <a:ext cx="1815" cy="115221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36B1D2-1A65-4B02-9A2A-5978585B9775}"/>
                </a:ext>
              </a:extLst>
            </p:cNvPr>
            <p:cNvSpPr txBox="1"/>
            <p:nvPr/>
          </p:nvSpPr>
          <p:spPr>
            <a:xfrm>
              <a:off x="1068328" y="5369677"/>
              <a:ext cx="4648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Match w/ the regular expression  </a:t>
              </a:r>
              <a:r>
                <a:rPr lang="zh-CN" altLang="en-US" sz="2200" dirty="0"/>
                <a:t>用该正则表达式匹配</a:t>
              </a:r>
              <a:endParaRPr lang="en-US" altLang="zh-CN" sz="2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52F78C-8E3A-4BB1-8872-C35619CD9217}"/>
              </a:ext>
            </a:extLst>
          </p:cNvPr>
          <p:cNvGrpSpPr/>
          <p:nvPr/>
        </p:nvGrpSpPr>
        <p:grpSpPr>
          <a:xfrm>
            <a:off x="1613494" y="3559629"/>
            <a:ext cx="6858000" cy="3077211"/>
            <a:chOff x="1025692" y="3887390"/>
            <a:chExt cx="4648200" cy="32890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7600C4F-F3AB-4B2A-9DD3-64468FAA9A29}"/>
                </a:ext>
              </a:extLst>
            </p:cNvPr>
            <p:cNvSpPr/>
            <p:nvPr/>
          </p:nvSpPr>
          <p:spPr bwMode="auto">
            <a:xfrm>
              <a:off x="1179000" y="3887390"/>
              <a:ext cx="4341584" cy="33007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56E9F32-92B9-49B0-B929-9649F24C5C5E}"/>
                </a:ext>
              </a:extLst>
            </p:cNvPr>
            <p:cNvCxnSpPr>
              <a:cxnSpLocks/>
              <a:stCxn id="28" idx="0"/>
              <a:endCxn id="26" idx="2"/>
            </p:cNvCxnSpPr>
            <p:nvPr/>
          </p:nvCxnSpPr>
          <p:spPr bwMode="auto">
            <a:xfrm flipV="1">
              <a:off x="3349792" y="4217460"/>
              <a:ext cx="0" cy="21365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054E46-5F8E-44AB-BE5E-0203C2496BBF}"/>
                </a:ext>
              </a:extLst>
            </p:cNvPr>
            <p:cNvSpPr txBox="1"/>
            <p:nvPr/>
          </p:nvSpPr>
          <p:spPr>
            <a:xfrm>
              <a:off x="1025692" y="6354013"/>
              <a:ext cx="4648200" cy="82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Extract the first match  </a:t>
              </a:r>
            </a:p>
            <a:p>
              <a:pPr algn="ctr"/>
              <a:r>
                <a:rPr lang="zh-CN" altLang="en-US" sz="2200" dirty="0"/>
                <a:t>抽取出第一个匹配的字符串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627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Regular Expression </a:t>
            </a:r>
            <a:r>
              <a:rPr lang="zh-CN" altLang="en-US" dirty="0">
                <a:ea typeface="ＭＳ Ｐゴシック" panose="020B0600070205080204" pitchFamily="34" charset="-128"/>
              </a:rPr>
              <a:t>正则表达式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match_label</a:t>
            </a:r>
            <a:r>
              <a:rPr lang="en-US" altLang="zh-CN" sz="2200" dirty="0"/>
              <a:t>’ to extract the label from an ‘interest’ word item, but return None if it is not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match_label</a:t>
            </a:r>
            <a:r>
              <a:rPr lang="zh-CN" altLang="en-US" sz="2200" dirty="0"/>
              <a:t>”，从一个“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”词项中抽取出类别标记，否则返回</a:t>
            </a:r>
            <a:r>
              <a:rPr lang="en-US" altLang="zh-CN" sz="2200" dirty="0"/>
              <a:t>None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72DC32-883A-42A2-ACD4-36638705B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03461"/>
            <a:ext cx="7529212" cy="1615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A52F78C-8E3A-4BB1-8872-C35619CD9217}"/>
              </a:ext>
            </a:extLst>
          </p:cNvPr>
          <p:cNvGrpSpPr/>
          <p:nvPr/>
        </p:nvGrpSpPr>
        <p:grpSpPr>
          <a:xfrm>
            <a:off x="927684" y="3799114"/>
            <a:ext cx="7197844" cy="1957011"/>
            <a:chOff x="557628" y="3906976"/>
            <a:chExt cx="4878539" cy="209171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7600C4F-F3AB-4B2A-9DD3-64468FAA9A29}"/>
                </a:ext>
              </a:extLst>
            </p:cNvPr>
            <p:cNvSpPr/>
            <p:nvPr/>
          </p:nvSpPr>
          <p:spPr bwMode="auto">
            <a:xfrm>
              <a:off x="1179000" y="3906976"/>
              <a:ext cx="3641543" cy="32578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56E9F32-92B9-49B0-B929-9649F24C5C5E}"/>
                </a:ext>
              </a:extLst>
            </p:cNvPr>
            <p:cNvCxnSpPr>
              <a:cxnSpLocks/>
              <a:stCxn id="28" idx="0"/>
              <a:endCxn id="26" idx="2"/>
            </p:cNvCxnSpPr>
            <p:nvPr/>
          </p:nvCxnSpPr>
          <p:spPr bwMode="auto">
            <a:xfrm flipV="1">
              <a:off x="2996898" y="4232758"/>
              <a:ext cx="2874" cy="94353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054E46-5F8E-44AB-BE5E-0203C2496BBF}"/>
                </a:ext>
              </a:extLst>
            </p:cNvPr>
            <p:cNvSpPr txBox="1"/>
            <p:nvPr/>
          </p:nvSpPr>
          <p:spPr>
            <a:xfrm>
              <a:off x="557628" y="5176291"/>
              <a:ext cx="4878539" cy="82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Use substitution (deletion) to extract the single digit</a:t>
              </a:r>
            </a:p>
            <a:p>
              <a:pPr algn="ctr"/>
              <a:r>
                <a:rPr lang="zh-CN" altLang="en-US" sz="2200" dirty="0"/>
                <a:t>用替换（删除）的方式抽取出单个数字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38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Process a Line </a:t>
            </a:r>
            <a:r>
              <a:rPr lang="zh-CN" altLang="en-US" dirty="0">
                <a:ea typeface="ＭＳ Ｐゴシック" panose="020B0600070205080204" pitchFamily="34" charset="-128"/>
              </a:rPr>
              <a:t>处理一行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588303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 taking a line as the input &amp; returning the context word items &amp; the class label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”，输入一行，输出上下文词项和类别标记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8971B-49B0-4A24-9828-26BD435E1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19321"/>
            <a:ext cx="5700254" cy="336833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903A065-8280-4859-8F78-AF2C2648720D}"/>
              </a:ext>
            </a:extLst>
          </p:cNvPr>
          <p:cNvGrpSpPr/>
          <p:nvPr/>
        </p:nvGrpSpPr>
        <p:grpSpPr>
          <a:xfrm>
            <a:off x="1393370" y="2983936"/>
            <a:ext cx="7772401" cy="1446550"/>
            <a:chOff x="894139" y="3514650"/>
            <a:chExt cx="5267961" cy="154612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D9C750-D144-484E-A49A-62F9CA2423DD}"/>
                </a:ext>
              </a:extLst>
            </p:cNvPr>
            <p:cNvSpPr/>
            <p:nvPr/>
          </p:nvSpPr>
          <p:spPr bwMode="auto">
            <a:xfrm>
              <a:off x="894139" y="3862364"/>
              <a:ext cx="2626603" cy="837722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B1D459D-9432-42FB-833D-42C4762420FB}"/>
                </a:ext>
              </a:extLst>
            </p:cNvPr>
            <p:cNvCxnSpPr>
              <a:cxnSpLocks/>
              <a:stCxn id="22" idx="1"/>
              <a:endCxn id="16" idx="3"/>
            </p:cNvCxnSpPr>
            <p:nvPr/>
          </p:nvCxnSpPr>
          <p:spPr bwMode="auto">
            <a:xfrm flipH="1" flipV="1">
              <a:off x="3520742" y="4281225"/>
              <a:ext cx="372273" cy="648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9B7643-701C-4611-B327-340D509D2076}"/>
                </a:ext>
              </a:extLst>
            </p:cNvPr>
            <p:cNvSpPr txBox="1"/>
            <p:nvPr/>
          </p:nvSpPr>
          <p:spPr>
            <a:xfrm>
              <a:off x="3893015" y="3514650"/>
              <a:ext cx="2269085" cy="15461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Use replacement to delete useless characters  </a:t>
              </a:r>
              <a:r>
                <a:rPr lang="zh-CN" altLang="en-US" sz="2200" dirty="0"/>
                <a:t>用替换来删除无用的字符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8547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BDC24C2-819A-4CF3-B35D-90DD88D59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19321"/>
            <a:ext cx="5700254" cy="33683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Process a Line </a:t>
            </a:r>
            <a:r>
              <a:rPr lang="zh-CN" altLang="en-US" dirty="0">
                <a:ea typeface="ＭＳ Ｐゴシック" panose="020B0600070205080204" pitchFamily="34" charset="-128"/>
              </a:rPr>
              <a:t>处理一行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588303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 taking a line as the input &amp; returning the context word items &amp; the class label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”，输入一行，输出上下文词项和类别标记</a:t>
            </a:r>
            <a:endParaRPr lang="en-US" altLang="zh-CN" sz="2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03A065-8280-4859-8F78-AF2C2648720D}"/>
              </a:ext>
            </a:extLst>
          </p:cNvPr>
          <p:cNvGrpSpPr/>
          <p:nvPr/>
        </p:nvGrpSpPr>
        <p:grpSpPr>
          <a:xfrm>
            <a:off x="1905000" y="3019321"/>
            <a:ext cx="7200899" cy="3055994"/>
            <a:chOff x="894139" y="1896394"/>
            <a:chExt cx="4880610" cy="326634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D9C750-D144-484E-A49A-62F9CA2423DD}"/>
                </a:ext>
              </a:extLst>
            </p:cNvPr>
            <p:cNvSpPr/>
            <p:nvPr/>
          </p:nvSpPr>
          <p:spPr bwMode="auto">
            <a:xfrm>
              <a:off x="894139" y="3835186"/>
              <a:ext cx="3098800" cy="1327556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B1D459D-9432-42FB-833D-42C4762420FB}"/>
                </a:ext>
              </a:extLst>
            </p:cNvPr>
            <p:cNvCxnSpPr>
              <a:cxnSpLocks/>
              <a:stCxn id="22" idx="2"/>
              <a:endCxn id="16" idx="0"/>
            </p:cNvCxnSpPr>
            <p:nvPr/>
          </p:nvCxnSpPr>
          <p:spPr bwMode="auto">
            <a:xfrm flipH="1">
              <a:off x="2443539" y="3442515"/>
              <a:ext cx="1156884" cy="39267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9B7643-701C-4611-B327-340D509D2076}"/>
                </a:ext>
              </a:extLst>
            </p:cNvPr>
            <p:cNvSpPr txBox="1"/>
            <p:nvPr/>
          </p:nvSpPr>
          <p:spPr>
            <a:xfrm>
              <a:off x="1426098" y="1896394"/>
              <a:ext cx="4348651" cy="15461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If an item does not contain the class label, then put it into context word items, otherwise extract the label  </a:t>
              </a:r>
              <a:r>
                <a:rPr lang="zh-CN" altLang="en-US" sz="2200" dirty="0"/>
                <a:t>如果某一项不包含类别标记，则加入上下文词项，否则抽取标记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36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Build the Dictionary </a:t>
            </a:r>
            <a:r>
              <a:rPr lang="zh-CN" altLang="en-US" dirty="0"/>
              <a:t>创建字典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586864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build_dict</a:t>
            </a:r>
            <a:r>
              <a:rPr lang="en-US" altLang="zh-CN" sz="2200" dirty="0"/>
              <a:t>’ to build the dictionary from a file &amp; start w/ a member variable of dictionary type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build_dict</a:t>
            </a:r>
            <a:r>
              <a:rPr lang="zh-CN" altLang="en-US" sz="2200" dirty="0"/>
              <a:t>”，从一个文件中创建字典，开始时声明一个字典类型的成员变量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7B847A-FE4A-44DA-AE30-742FC8DDF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48000"/>
            <a:ext cx="4206604" cy="655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8ECCA9-5867-4B35-A25D-9544717E1BBC}"/>
              </a:ext>
            </a:extLst>
          </p:cNvPr>
          <p:cNvSpPr txBox="1"/>
          <p:nvPr/>
        </p:nvSpPr>
        <p:spPr>
          <a:xfrm>
            <a:off x="419100" y="38862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Variables of dictionary type can be accessed w/ array-style syntax, e.g.,  </a:t>
            </a:r>
            <a:r>
              <a:rPr lang="zh-CN" altLang="en-US" sz="2200" dirty="0"/>
              <a:t>字典类型的变量可以用数组形式的方式访问，例如</a:t>
            </a:r>
            <a:endParaRPr lang="en-US" altLang="zh-C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DDD31F-CC4C-432D-A913-43E274412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592589"/>
            <a:ext cx="3200678" cy="91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4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Build the Dictionary </a:t>
            </a:r>
            <a:r>
              <a:rPr lang="zh-CN" altLang="en-US" dirty="0"/>
              <a:t>创建字典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586864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lines from the file &amp; create the context word dictionary</a:t>
            </a:r>
          </a:p>
          <a:p>
            <a:pPr algn="ctr"/>
            <a:r>
              <a:rPr lang="zh-CN" altLang="en-US" sz="2200" dirty="0"/>
              <a:t>从文件中读取每一行，创建上下文单词的字典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3F968-8323-437E-8906-53754E8D6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60" y="2382292"/>
            <a:ext cx="7392040" cy="26215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2594950-C2C1-40E0-B45F-2347FD8AEE0D}"/>
              </a:ext>
            </a:extLst>
          </p:cNvPr>
          <p:cNvGrpSpPr/>
          <p:nvPr/>
        </p:nvGrpSpPr>
        <p:grpSpPr>
          <a:xfrm>
            <a:off x="1512207" y="3144723"/>
            <a:ext cx="3124200" cy="2766282"/>
            <a:chOff x="1056535" y="3776439"/>
            <a:chExt cx="3124200" cy="26475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8BC129-8EA8-4C0E-838D-92F504C74F1C}"/>
                </a:ext>
              </a:extLst>
            </p:cNvPr>
            <p:cNvSpPr/>
            <p:nvPr/>
          </p:nvSpPr>
          <p:spPr bwMode="auto">
            <a:xfrm>
              <a:off x="1413041" y="3776439"/>
              <a:ext cx="2411187" cy="29638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309FE01-4EAB-4A53-A040-1DD2E6E4B787}"/>
                </a:ext>
              </a:extLst>
            </p:cNvPr>
            <p:cNvCxnSpPr>
              <a:cxnSpLocks/>
              <a:stCxn id="14" idx="0"/>
              <a:endCxn id="11" idx="2"/>
            </p:cNvCxnSpPr>
            <p:nvPr/>
          </p:nvCxnSpPr>
          <p:spPr bwMode="auto">
            <a:xfrm flipV="1">
              <a:off x="2618635" y="4072820"/>
              <a:ext cx="0" cy="16147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D606B3-DA25-42B5-A0D2-CA20645A4C96}"/>
                </a:ext>
              </a:extLst>
            </p:cNvPr>
            <p:cNvSpPr txBox="1"/>
            <p:nvPr/>
          </p:nvSpPr>
          <p:spPr>
            <a:xfrm>
              <a:off x="1056535" y="5687539"/>
              <a:ext cx="3124200" cy="736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Filter irrelevant lines</a:t>
              </a:r>
            </a:p>
            <a:p>
              <a:pPr algn="ctr"/>
              <a:r>
                <a:rPr lang="zh-CN" altLang="en-US" sz="2200" dirty="0"/>
                <a:t>过滤无关行</a:t>
              </a:r>
              <a:endParaRPr lang="en-US" altLang="zh-CN" sz="2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4E90B4-16DA-47C5-ABEA-4E4A5CB662DA}"/>
              </a:ext>
            </a:extLst>
          </p:cNvPr>
          <p:cNvGrpSpPr/>
          <p:nvPr/>
        </p:nvGrpSpPr>
        <p:grpSpPr>
          <a:xfrm>
            <a:off x="1537607" y="3916984"/>
            <a:ext cx="6488793" cy="2798237"/>
            <a:chOff x="3341" y="3776438"/>
            <a:chExt cx="6488793" cy="26780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CBB54D-B95E-4C0C-99C6-C38F5FC53BC2}"/>
                </a:ext>
              </a:extLst>
            </p:cNvPr>
            <p:cNvSpPr/>
            <p:nvPr/>
          </p:nvSpPr>
          <p:spPr bwMode="auto">
            <a:xfrm>
              <a:off x="1413041" y="3776438"/>
              <a:ext cx="3669393" cy="74843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F280715-93E5-41B9-8639-69502DE74CDA}"/>
                </a:ext>
              </a:extLst>
            </p:cNvPr>
            <p:cNvCxnSpPr>
              <a:cxnSpLocks/>
              <a:stCxn id="27" idx="0"/>
              <a:endCxn id="25" idx="2"/>
            </p:cNvCxnSpPr>
            <p:nvPr/>
          </p:nvCxnSpPr>
          <p:spPr bwMode="auto">
            <a:xfrm flipV="1">
              <a:off x="3247738" y="4524875"/>
              <a:ext cx="0" cy="119324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D7A8CD-FCCA-4EBC-84BA-8619E2A66938}"/>
                </a:ext>
              </a:extLst>
            </p:cNvPr>
            <p:cNvSpPr txBox="1"/>
            <p:nvPr/>
          </p:nvSpPr>
          <p:spPr>
            <a:xfrm>
              <a:off x="3341" y="5718121"/>
              <a:ext cx="6488793" cy="736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Add index entry for a new context word item</a:t>
              </a:r>
            </a:p>
            <a:p>
              <a:pPr algn="ctr"/>
              <a:r>
                <a:rPr lang="zh-CN" altLang="en-US" sz="2200" dirty="0"/>
                <a:t>为新上下文单词添加下标索引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9519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Convert the Line </a:t>
            </a:r>
            <a:r>
              <a:rPr lang="zh-CN" altLang="en-US" dirty="0"/>
              <a:t>变换一行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586864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convert_features_and_label</a:t>
            </a:r>
            <a:r>
              <a:rPr lang="en-US" altLang="zh-CN" sz="2200" dirty="0"/>
              <a:t>’ to convert a line to attributes (features) &amp; class label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convert_features_and_label</a:t>
            </a:r>
            <a:r>
              <a:rPr lang="zh-CN" altLang="en-US" sz="2200" dirty="0"/>
              <a:t>”，把一行变成属性（特征）和类别标记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3E3B1-D67E-4B5C-9195-8EF8C9D4A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17358"/>
            <a:ext cx="6889076" cy="1859442"/>
          </a:xfrm>
          <a:prstGeom prst="rect">
            <a:avLst/>
          </a:prstGeom>
          <a:ln>
            <a:solidFill>
              <a:srgbClr val="00B050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8597017-75BE-491A-815A-C5F33427AB63}"/>
              </a:ext>
            </a:extLst>
          </p:cNvPr>
          <p:cNvGrpSpPr/>
          <p:nvPr/>
        </p:nvGrpSpPr>
        <p:grpSpPr>
          <a:xfrm>
            <a:off x="1680634" y="4051311"/>
            <a:ext cx="4800146" cy="2457973"/>
            <a:chOff x="146368" y="3904987"/>
            <a:chExt cx="4800146" cy="235242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71B5705-11C0-4AF3-A4DA-323B59F2D7F5}"/>
                </a:ext>
              </a:extLst>
            </p:cNvPr>
            <p:cNvSpPr/>
            <p:nvPr/>
          </p:nvSpPr>
          <p:spPr bwMode="auto">
            <a:xfrm>
              <a:off x="307235" y="3904987"/>
              <a:ext cx="4457700" cy="51049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CE758FA-1407-4452-B175-9F143B5AD3E0}"/>
                </a:ext>
              </a:extLst>
            </p:cNvPr>
            <p:cNvCxnSpPr>
              <a:cxnSpLocks/>
              <a:stCxn id="19" idx="0"/>
              <a:endCxn id="17" idx="2"/>
            </p:cNvCxnSpPr>
            <p:nvPr/>
          </p:nvCxnSpPr>
          <p:spPr bwMode="auto">
            <a:xfrm flipH="1" flipV="1">
              <a:off x="2536085" y="4415484"/>
              <a:ext cx="10356" cy="78151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5D1751-318B-4AB7-9E8B-28BD48276000}"/>
                </a:ext>
              </a:extLst>
            </p:cNvPr>
            <p:cNvSpPr txBox="1"/>
            <p:nvPr/>
          </p:nvSpPr>
          <p:spPr>
            <a:xfrm>
              <a:off x="146368" y="5196995"/>
              <a:ext cx="4800146" cy="1060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Check the dictionary to retrieve the corresponding index</a:t>
              </a:r>
            </a:p>
            <a:p>
              <a:pPr algn="ctr"/>
              <a:r>
                <a:rPr lang="zh-CN" altLang="en-US" sz="2200" dirty="0"/>
                <a:t>从字典中找到对应的下标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820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Processing File </a:t>
            </a:r>
            <a:r>
              <a:rPr lang="zh-CN" altLang="en-US" dirty="0"/>
              <a:t>处理文件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2438400"/>
            <a:ext cx="830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file in the initialization function of the class &amp; store the data in 2 member variables</a:t>
            </a:r>
          </a:p>
          <a:p>
            <a:pPr algn="ctr"/>
            <a:r>
              <a:rPr lang="zh-CN" altLang="en-US" sz="2200" dirty="0"/>
              <a:t>在该类型的初始化函数中读取文件，把数据存入两个成员变量中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D5976-000A-4F37-81E6-EA81B2E21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81400"/>
            <a:ext cx="8123624" cy="30787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4175F6-54FE-4FB4-A9B9-3297DE3CF3AB}"/>
              </a:ext>
            </a:extLst>
          </p:cNvPr>
          <p:cNvSpPr txBox="1"/>
          <p:nvPr/>
        </p:nvSpPr>
        <p:spPr>
          <a:xfrm>
            <a:off x="419100" y="156735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  </a:t>
            </a:r>
            <a:r>
              <a:rPr lang="zh-CN" altLang="en-US" sz="2200" dirty="0"/>
              <a:t>导入“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17A349-88D0-4147-88F4-E7C18451F4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993900"/>
            <a:ext cx="1691786" cy="381034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96842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Return Data  </a:t>
            </a:r>
            <a:r>
              <a:rPr lang="zh-CN" altLang="en-US" dirty="0"/>
              <a:t>返回数据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175F6-54FE-4FB4-A9B9-3297DE3CF3AB}"/>
              </a:ext>
            </a:extLst>
          </p:cNvPr>
          <p:cNvSpPr txBox="1"/>
          <p:nvPr/>
        </p:nvSpPr>
        <p:spPr>
          <a:xfrm>
            <a:off x="419100" y="15673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get_data</a:t>
            </a:r>
            <a:r>
              <a:rPr lang="en-US" altLang="zh-CN" sz="2200" dirty="0"/>
              <a:t>’ to allow data retrieval</a:t>
            </a:r>
          </a:p>
          <a:p>
            <a:pPr algn="ctr"/>
            <a:r>
              <a:rPr lang="zh-CN" altLang="en-US" sz="2200" dirty="0"/>
              <a:t>添加一个成员函数“</a:t>
            </a:r>
            <a:r>
              <a:rPr lang="en-US" altLang="zh-CN" sz="2200" dirty="0" err="1"/>
              <a:t>get_data</a:t>
            </a:r>
            <a:r>
              <a:rPr lang="zh-CN" altLang="en-US" sz="2200" dirty="0"/>
              <a:t>”，以便获取数据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7A121-72ED-4C79-A82B-D086426FD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80159"/>
            <a:ext cx="3642676" cy="624894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255313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Main Program </a:t>
            </a:r>
            <a:r>
              <a:rPr lang="zh-CN" altLang="en-US" dirty="0"/>
              <a:t>主程序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175F6-54FE-4FB4-A9B9-3297DE3CF3AB}"/>
              </a:ext>
            </a:extLst>
          </p:cNvPr>
          <p:cNvSpPr txBox="1"/>
          <p:nvPr/>
        </p:nvSpPr>
        <p:spPr>
          <a:xfrm>
            <a:off x="419100" y="15673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the relevant components</a:t>
            </a:r>
          </a:p>
          <a:p>
            <a:pPr algn="ctr"/>
            <a:r>
              <a:rPr lang="zh-CN" altLang="en-US" sz="2200" dirty="0"/>
              <a:t>导入相关组件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F1A4E-4A3B-427F-877D-9804E98D8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36800"/>
            <a:ext cx="3398814" cy="1356478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FF2E8-AE67-4788-8ECE-ACD334D26753}"/>
              </a:ext>
            </a:extLst>
          </p:cNvPr>
          <p:cNvSpPr txBox="1"/>
          <p:nvPr/>
        </p:nvSpPr>
        <p:spPr>
          <a:xfrm>
            <a:off x="279400" y="375176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the main section from reading the data from file </a:t>
            </a: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部分，从文件中读取数据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F98A0E-14F7-4E14-B78B-E329A22D49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4495800"/>
            <a:ext cx="7803556" cy="899238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46324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Main Program </a:t>
            </a:r>
            <a:r>
              <a:rPr lang="zh-CN" altLang="en-US" dirty="0"/>
              <a:t>主程序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175F6-54FE-4FB4-A9B9-3297DE3CF3AB}"/>
              </a:ext>
            </a:extLst>
          </p:cNvPr>
          <p:cNvSpPr txBox="1"/>
          <p:nvPr/>
        </p:nvSpPr>
        <p:spPr>
          <a:xfrm>
            <a:off x="419100" y="15673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Randomly split the data for training &amp; testing</a:t>
            </a:r>
          </a:p>
          <a:p>
            <a:pPr algn="ctr"/>
            <a:r>
              <a:rPr lang="zh-CN" altLang="en-US" sz="2200" dirty="0"/>
              <a:t>随机切分数据，用作训练和评估</a:t>
            </a:r>
            <a:endParaRPr lang="en-US" altLang="zh-C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FF2E8-AE67-4788-8ECE-ACD334D26753}"/>
              </a:ext>
            </a:extLst>
          </p:cNvPr>
          <p:cNvSpPr txBox="1"/>
          <p:nvPr/>
        </p:nvSpPr>
        <p:spPr>
          <a:xfrm>
            <a:off x="419100" y="44958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Perform nearest neighbor classification </a:t>
            </a:r>
          </a:p>
          <a:p>
            <a:pPr algn="ctr"/>
            <a:r>
              <a:rPr lang="zh-CN" altLang="en-US" sz="2200" dirty="0"/>
              <a:t>进行最近邻分类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DE3CC-EB1D-4DBC-B08D-97F9B6722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1400"/>
            <a:ext cx="7376800" cy="205757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CCDB6E-A1D8-4149-AB39-398884E35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5257800"/>
            <a:ext cx="6309906" cy="883996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776A03-38D3-4DDF-8537-7581C4AC4071}"/>
              </a:ext>
            </a:extLst>
          </p:cNvPr>
          <p:cNvSpPr txBox="1"/>
          <p:nvPr/>
        </p:nvSpPr>
        <p:spPr>
          <a:xfrm>
            <a:off x="373700" y="6286956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Does it perform well? </a:t>
            </a:r>
            <a:r>
              <a:rPr lang="zh-CN" altLang="en-US" sz="2200" dirty="0"/>
              <a:t>表现如何？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48959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17195</TotalTime>
  <Words>1416</Words>
  <Application>Microsoft Office PowerPoint</Application>
  <PresentationFormat>On-screen Show (4:3)</PresentationFormat>
  <Paragraphs>110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4.3</vt:lpstr>
      <vt:lpstr>Look at the Data First 先看数据</vt:lpstr>
      <vt:lpstr>Look at the Data First 先看数据</vt:lpstr>
      <vt:lpstr>Regular Expression 正则表达式(1)</vt:lpstr>
      <vt:lpstr>Regular Expression 正则表达式(1)</vt:lpstr>
      <vt:lpstr>Regular Expression 正则表达式(2)</vt:lpstr>
      <vt:lpstr>Regular Expression 正则表达式(2)</vt:lpstr>
      <vt:lpstr>Process a Line 处理一行</vt:lpstr>
      <vt:lpstr>Process a Line 处理一行</vt:lpstr>
      <vt:lpstr>Build the Dictionary 创建字典 (1)</vt:lpstr>
      <vt:lpstr>Build the Dictionary 创建字典 (2)</vt:lpstr>
      <vt:lpstr>Convert the Line 变换一行</vt:lpstr>
      <vt:lpstr>Processing File 处理文件</vt:lpstr>
      <vt:lpstr>Return Data  返回数据</vt:lpstr>
      <vt:lpstr>Main Program 主程序 (1)</vt:lpstr>
      <vt:lpstr>Main Program 主程序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1239</cp:revision>
  <dcterms:created xsi:type="dcterms:W3CDTF">2003-03-13T01:36:43Z</dcterms:created>
  <dcterms:modified xsi:type="dcterms:W3CDTF">2023-11-24T22:22:40Z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2019-11-10 10:31:14Z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