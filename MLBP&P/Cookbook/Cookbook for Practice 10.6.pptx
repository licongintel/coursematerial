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86" r:id="rId2"/>
    <p:sldId id="451" r:id="rId3"/>
    <p:sldId id="453" r:id="rId4"/>
    <p:sldId id="452" r:id="rId5"/>
    <p:sldId id="454" r:id="rId6"/>
    <p:sldId id="455" r:id="rId7"/>
    <p:sldId id="458" r:id="rId8"/>
    <p:sldId id="456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8" r:id="rId18"/>
    <p:sldId id="450" r:id="rId19"/>
    <p:sldId id="469" r:id="rId20"/>
    <p:sldId id="449" r:id="rId21"/>
    <p:sldId id="353" r:id="rId22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5" autoAdjust="0"/>
    <p:restoredTop sz="93504" autoAdjust="0"/>
  </p:normalViewPr>
  <p:slideViewPr>
    <p:cSldViewPr>
      <p:cViewPr varScale="1">
        <p:scale>
          <a:sx n="66" d="100"/>
          <a:sy n="66" d="100"/>
        </p:scale>
        <p:origin x="116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541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334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275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9306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270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815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08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839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442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1541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6833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570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7367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2838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572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1979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9600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5280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145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10.6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10.6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RBF Kernel  </a:t>
            </a:r>
            <a:r>
              <a:rPr lang="zh-CN" altLang="en-US" dirty="0">
                <a:ea typeface="ＭＳ Ｐゴシック" panose="020B0600070205080204" pitchFamily="34" charset="-128"/>
              </a:rPr>
              <a:t>径向基核计算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94E76-95F4-450B-953E-A935F928C311}"/>
              </a:ext>
            </a:extLst>
          </p:cNvPr>
          <p:cNvSpPr txBox="1"/>
          <p:nvPr/>
        </p:nvSpPr>
        <p:spPr>
          <a:xfrm>
            <a:off x="935036" y="1606262"/>
            <a:ext cx="7273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‘kernels.py’, add another class ‘</a:t>
            </a:r>
            <a:r>
              <a:rPr lang="en-US" altLang="zh-CN" sz="2200" dirty="0" err="1"/>
              <a:t>RBFKernel</a:t>
            </a:r>
            <a:r>
              <a:rPr lang="en-US" altLang="zh-CN" sz="2200" dirty="0"/>
              <a:t>’ w/ the initialization function taking </a:t>
            </a:r>
            <a:r>
              <a:rPr lang="en-US" altLang="zh-CN" sz="2200" dirty="0">
                <a:solidFill>
                  <a:srgbClr val="FF0000"/>
                </a:solidFill>
              </a:rPr>
              <a:t>either</a:t>
            </a:r>
            <a:r>
              <a:rPr lang="en-US" altLang="zh-CN" sz="2200" dirty="0"/>
              <a:t> of the 2 inputs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kernels.py</a:t>
            </a:r>
            <a:r>
              <a:rPr lang="zh-CN" altLang="en-US" sz="2200" dirty="0"/>
              <a:t>”中加入新类型“</a:t>
            </a:r>
            <a:r>
              <a:rPr lang="en-US" altLang="zh-CN" sz="2200" dirty="0" err="1"/>
              <a:t>RBFKernel</a:t>
            </a:r>
            <a:r>
              <a:rPr lang="zh-CN" altLang="en-US" sz="2200" dirty="0"/>
              <a:t>”，其初始化函数接受两个参数之一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3D202-C881-449E-A8F8-A4FBFA338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8" y="2990662"/>
            <a:ext cx="6249272" cy="13527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51556-E99B-40C9-92EE-4B59EE4875B2}"/>
              </a:ext>
            </a:extLst>
          </p:cNvPr>
          <p:cNvGrpSpPr/>
          <p:nvPr/>
        </p:nvGrpSpPr>
        <p:grpSpPr>
          <a:xfrm>
            <a:off x="1375589" y="3299414"/>
            <a:ext cx="7010400" cy="2881309"/>
            <a:chOff x="1195560" y="3646370"/>
            <a:chExt cx="7010400" cy="28813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4B19BD-804C-414C-A63C-0468D5956E47}"/>
                    </a:ext>
                  </a:extLst>
                </p:cNvPr>
                <p:cNvSpPr txBox="1"/>
                <p:nvPr/>
              </p:nvSpPr>
              <p:spPr>
                <a:xfrm>
                  <a:off x="1195560" y="5119921"/>
                  <a:ext cx="7010400" cy="14077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altLang="zh-CN" sz="2200" dirty="0"/>
                    <a:t> </a:t>
                  </a:r>
                </a:p>
                <a:p>
                  <a:pPr algn="ctr"/>
                  <a:r>
                    <a:rPr lang="en-US" altLang="zh-CN" sz="2200" dirty="0"/>
                    <a:t>or </a:t>
                  </a:r>
                  <a:r>
                    <a:rPr lang="zh-CN" altLang="en-US" sz="2200" dirty="0"/>
                    <a:t>或</a:t>
                  </a:r>
                  <a:endParaRPr lang="en-US" altLang="zh-CN" sz="22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200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200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  <a:endParaRPr lang="en-US" altLang="zh-CN" sz="2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4B19BD-804C-414C-A63C-0468D5956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560" y="5119921"/>
                  <a:ext cx="7010400" cy="140775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111D4C2-5AA6-4590-9658-E0626B6E689C}"/>
                </a:ext>
              </a:extLst>
            </p:cNvPr>
            <p:cNvCxnSpPr>
              <a:cxnSpLocks/>
              <a:stCxn id="12" idx="0"/>
              <a:endCxn id="14" idx="2"/>
            </p:cNvCxnSpPr>
            <p:nvPr/>
          </p:nvCxnSpPr>
          <p:spPr bwMode="auto">
            <a:xfrm flipV="1">
              <a:off x="4700760" y="3896272"/>
              <a:ext cx="0" cy="122364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D8776B-8E08-4E0F-80DF-AE0A71F50ABB}"/>
                </a:ext>
              </a:extLst>
            </p:cNvPr>
            <p:cNvSpPr/>
            <p:nvPr/>
          </p:nvSpPr>
          <p:spPr bwMode="auto">
            <a:xfrm>
              <a:off x="3337159" y="3646370"/>
              <a:ext cx="2727202" cy="249902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420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RBF Kernel  </a:t>
            </a:r>
            <a:r>
              <a:rPr lang="zh-CN" altLang="en-US" dirty="0">
                <a:ea typeface="ＭＳ Ｐゴシック" panose="020B0600070205080204" pitchFamily="34" charset="-128"/>
              </a:rPr>
              <a:t>径向基核计算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3D202-C881-449E-A8F8-A4FBFA338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8" y="2990662"/>
            <a:ext cx="6249272" cy="13527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51556-E99B-40C9-92EE-4B59EE4875B2}"/>
              </a:ext>
            </a:extLst>
          </p:cNvPr>
          <p:cNvGrpSpPr/>
          <p:nvPr/>
        </p:nvGrpSpPr>
        <p:grpSpPr>
          <a:xfrm>
            <a:off x="1537854" y="3792708"/>
            <a:ext cx="5119255" cy="1837780"/>
            <a:chOff x="2921930" y="3646369"/>
            <a:chExt cx="5119255" cy="183778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4B19BD-804C-414C-A63C-0468D5956E47}"/>
                </a:ext>
              </a:extLst>
            </p:cNvPr>
            <p:cNvSpPr txBox="1"/>
            <p:nvPr/>
          </p:nvSpPr>
          <p:spPr>
            <a:xfrm>
              <a:off x="3176760" y="4714708"/>
              <a:ext cx="46081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If gamma is 0, use sigma instead</a:t>
              </a:r>
            </a:p>
            <a:p>
              <a:pPr algn="ctr"/>
              <a:r>
                <a:rPr lang="zh-CN" altLang="en-US" sz="2200" dirty="0"/>
                <a:t>如果</a:t>
              </a:r>
              <a:r>
                <a:rPr lang="en-US" altLang="zh-CN" sz="2200" dirty="0"/>
                <a:t>gamma</a:t>
              </a:r>
              <a:r>
                <a:rPr lang="zh-CN" altLang="en-US" sz="2200" dirty="0"/>
                <a:t>为</a:t>
              </a:r>
              <a:r>
                <a:rPr lang="en-US" altLang="zh-CN" sz="2200" dirty="0"/>
                <a:t>0</a:t>
              </a:r>
              <a:r>
                <a:rPr lang="zh-CN" altLang="en-US" sz="2200" dirty="0"/>
                <a:t>，就用</a:t>
              </a:r>
              <a:r>
                <a:rPr lang="en-US" altLang="zh-CN" sz="2200" dirty="0"/>
                <a:t>sigma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111D4C2-5AA6-4590-9658-E0626B6E689C}"/>
                </a:ext>
              </a:extLst>
            </p:cNvPr>
            <p:cNvCxnSpPr>
              <a:cxnSpLocks/>
              <a:stCxn id="12" idx="0"/>
              <a:endCxn id="14" idx="2"/>
            </p:cNvCxnSpPr>
            <p:nvPr/>
          </p:nvCxnSpPr>
          <p:spPr bwMode="auto">
            <a:xfrm flipV="1">
              <a:off x="5480818" y="4134716"/>
              <a:ext cx="740" cy="57999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D8776B-8E08-4E0F-80DF-AE0A71F50ABB}"/>
                </a:ext>
              </a:extLst>
            </p:cNvPr>
            <p:cNvSpPr/>
            <p:nvPr/>
          </p:nvSpPr>
          <p:spPr bwMode="auto">
            <a:xfrm>
              <a:off x="2921930" y="3646369"/>
              <a:ext cx="5119255" cy="48834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27040D6-11A4-4B19-AB0A-61988AA8013B}"/>
              </a:ext>
            </a:extLst>
          </p:cNvPr>
          <p:cNvSpPr txBox="1"/>
          <p:nvPr/>
        </p:nvSpPr>
        <p:spPr>
          <a:xfrm>
            <a:off x="935036" y="1606262"/>
            <a:ext cx="7273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‘kernels.py’, add another class ‘</a:t>
            </a:r>
            <a:r>
              <a:rPr lang="en-US" altLang="zh-CN" sz="2200" dirty="0" err="1"/>
              <a:t>RBFKernel</a:t>
            </a:r>
            <a:r>
              <a:rPr lang="en-US" altLang="zh-CN" sz="2200" dirty="0"/>
              <a:t>’ w/ the initialization function taking </a:t>
            </a:r>
            <a:r>
              <a:rPr lang="en-US" altLang="zh-CN" sz="2200" dirty="0">
                <a:solidFill>
                  <a:srgbClr val="FF0000"/>
                </a:solidFill>
              </a:rPr>
              <a:t>either</a:t>
            </a:r>
            <a:r>
              <a:rPr lang="en-US" altLang="zh-CN" sz="2200" dirty="0"/>
              <a:t> of the 2 inputs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kernels.py</a:t>
            </a:r>
            <a:r>
              <a:rPr lang="zh-CN" altLang="en-US" sz="2200" dirty="0"/>
              <a:t>”中加入新类型“</a:t>
            </a:r>
            <a:r>
              <a:rPr lang="en-US" altLang="zh-CN" sz="2200" dirty="0" err="1"/>
              <a:t>RBFKernel</a:t>
            </a:r>
            <a:r>
              <a:rPr lang="zh-CN" altLang="en-US" sz="2200" dirty="0"/>
              <a:t>”，其初始化函数接受两个参数之一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9193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RBF Kernel  </a:t>
            </a:r>
            <a:r>
              <a:rPr lang="zh-CN" altLang="en-US" dirty="0">
                <a:ea typeface="ＭＳ Ｐゴシック" panose="020B0600070205080204" pitchFamily="34" charset="-128"/>
              </a:rPr>
              <a:t>径向基核计算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3D202-C881-449E-A8F8-A4FBFA338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8" y="2990662"/>
            <a:ext cx="6249272" cy="13527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083465-3BEE-424D-80DF-F5B3D81EC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73" y="5181600"/>
            <a:ext cx="5658640" cy="10669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8343CD-3D1F-4C3B-B74B-2F49B694252A}"/>
              </a:ext>
            </a:extLst>
          </p:cNvPr>
          <p:cNvSpPr txBox="1"/>
          <p:nvPr/>
        </p:nvSpPr>
        <p:spPr>
          <a:xfrm>
            <a:off x="935036" y="4476327"/>
            <a:ext cx="727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the kernel calculation</a:t>
            </a:r>
          </a:p>
          <a:p>
            <a:pPr algn="ctr"/>
            <a:r>
              <a:rPr lang="zh-CN" altLang="en-US" sz="2200" dirty="0"/>
              <a:t>然后是核计算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935036" y="1606262"/>
            <a:ext cx="7273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‘kernels.py’, add another class ‘</a:t>
            </a:r>
            <a:r>
              <a:rPr lang="en-US" altLang="zh-CN" sz="2200" dirty="0" err="1"/>
              <a:t>RBFKernel</a:t>
            </a:r>
            <a:r>
              <a:rPr lang="en-US" altLang="zh-CN" sz="2200" dirty="0"/>
              <a:t>’ w/ the initialization function taking </a:t>
            </a:r>
            <a:r>
              <a:rPr lang="en-US" altLang="zh-CN" sz="2200" dirty="0">
                <a:solidFill>
                  <a:srgbClr val="FF0000"/>
                </a:solidFill>
              </a:rPr>
              <a:t>either</a:t>
            </a:r>
            <a:r>
              <a:rPr lang="en-US" altLang="zh-CN" sz="2200" dirty="0"/>
              <a:t> of the 2 inputs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kernels.py</a:t>
            </a:r>
            <a:r>
              <a:rPr lang="zh-CN" altLang="en-US" sz="2200" dirty="0"/>
              <a:t>”中加入新类型“</a:t>
            </a:r>
            <a:r>
              <a:rPr lang="en-US" altLang="zh-CN" sz="2200" dirty="0" err="1"/>
              <a:t>RBFKernel</a:t>
            </a:r>
            <a:r>
              <a:rPr lang="zh-CN" altLang="en-US" sz="2200" dirty="0"/>
              <a:t>”，其初始化函数接受两个参数之一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55252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Gram Matrix  </a:t>
            </a:r>
            <a:r>
              <a:rPr lang="zh-CN" altLang="en-US" dirty="0">
                <a:ea typeface="ＭＳ Ｐゴシック" panose="020B0600070205080204" pitchFamily="34" charset="-128"/>
              </a:rPr>
              <a:t>格拉姆矩阵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694E76-95F4-450B-953E-A935F928C311}"/>
                  </a:ext>
                </a:extLst>
              </p:cNvPr>
              <p:cNvSpPr txBox="1"/>
              <p:nvPr/>
            </p:nvSpPr>
            <p:spPr>
              <a:xfrm>
                <a:off x="561181" y="1628656"/>
                <a:ext cx="8021637" cy="286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Note that during training, the kernel calculation is perform repeatedly for the training data pairs. Caching the results accelerates the process. This is called the Gram matrix.</a:t>
                </a:r>
              </a:p>
              <a:p>
                <a:pPr algn="ctr"/>
                <a:r>
                  <a:rPr lang="zh-CN" altLang="en-US" sz="2200" dirty="0"/>
                  <a:t>在训练中，注意到训练数据对会被反复进行核计算。缓存计算结果可以进行加速。这叫做格拉姆矩阵。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694E76-95F4-450B-953E-A935F928C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1" y="1628656"/>
                <a:ext cx="8021637" cy="2861168"/>
              </a:xfrm>
              <a:prstGeom prst="rect">
                <a:avLst/>
              </a:prstGeom>
              <a:blipFill>
                <a:blip r:embed="rId6"/>
                <a:stretch>
                  <a:fillRect l="-988" t="-1702" r="-1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78136-9349-43CA-AFEA-4AD59995575C}"/>
                  </a:ext>
                </a:extLst>
              </p:cNvPr>
              <p:cNvSpPr txBox="1"/>
              <p:nvPr/>
            </p:nvSpPr>
            <p:spPr>
              <a:xfrm>
                <a:off x="561181" y="4660249"/>
                <a:ext cx="8021637" cy="1130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Also note that  </a:t>
                </a:r>
                <a:r>
                  <a:rPr lang="zh-CN" altLang="en-US" sz="2200" dirty="0"/>
                  <a:t>同时注意到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:r>
                  <a:rPr lang="en-US" altLang="zh-CN" sz="2200" dirty="0"/>
                  <a:t>This matrix is symmetric  </a:t>
                </a:r>
                <a:r>
                  <a:rPr lang="zh-CN" altLang="en-US" sz="2200" dirty="0"/>
                  <a:t>这个矩阵是对称的</a:t>
                </a:r>
                <a:endParaRPr lang="en-US" altLang="zh-CN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78136-9349-43CA-AFEA-4AD599955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1" y="4660249"/>
                <a:ext cx="8021637" cy="1130951"/>
              </a:xfrm>
              <a:prstGeom prst="rect">
                <a:avLst/>
              </a:prstGeom>
              <a:blipFill>
                <a:blip r:embed="rId7"/>
                <a:stretch>
                  <a:fillRect t="-5376" b="-10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0083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7023C-5D3C-44FD-93CF-FD3823F41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8" y="2987040"/>
            <a:ext cx="5106112" cy="10669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Gram Matrix  </a:t>
            </a:r>
            <a:r>
              <a:rPr lang="zh-CN" altLang="en-US" dirty="0">
                <a:ea typeface="ＭＳ Ｐゴシック" panose="020B0600070205080204" pitchFamily="34" charset="-128"/>
              </a:rPr>
              <a:t>格拉姆矩阵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1534317" y="1571384"/>
            <a:ext cx="6075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class ‘</a:t>
            </a:r>
            <a:r>
              <a:rPr lang="en-US" altLang="zh-CN" sz="2200" dirty="0" err="1"/>
              <a:t>GramMatrix</a:t>
            </a:r>
            <a:r>
              <a:rPr lang="en-US" altLang="zh-CN" sz="2200" dirty="0"/>
              <a:t>’ w/ the initialization function taking the input data &amp; the kernel</a:t>
            </a:r>
          </a:p>
          <a:p>
            <a:pPr algn="ctr"/>
            <a:r>
              <a:rPr lang="zh-CN" altLang="en-US" sz="2200" dirty="0"/>
              <a:t>加入新类型“</a:t>
            </a:r>
            <a:r>
              <a:rPr lang="en-US" altLang="zh-CN" sz="2200" dirty="0" err="1"/>
              <a:t>GramMatrix</a:t>
            </a:r>
            <a:r>
              <a:rPr lang="zh-CN" altLang="en-US" sz="2200" dirty="0"/>
              <a:t>”，其初始化函数接受训练数据和核计算作为输入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076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Gram Matrix  </a:t>
            </a:r>
            <a:r>
              <a:rPr lang="zh-CN" altLang="en-US" dirty="0">
                <a:ea typeface="ＭＳ Ｐゴシック" panose="020B0600070205080204" pitchFamily="34" charset="-128"/>
              </a:rPr>
              <a:t>格拉姆矩阵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1534318" y="1592759"/>
            <a:ext cx="6075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then calculate the matrix</a:t>
            </a:r>
          </a:p>
          <a:p>
            <a:pPr algn="ctr"/>
            <a:r>
              <a:rPr lang="zh-CN" altLang="en-US" sz="2200" dirty="0"/>
              <a:t>然后我们计算这个矩阵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650903-8D33-470E-943E-489D278A1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077" y="2362200"/>
            <a:ext cx="5410956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511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Gram Matrix  </a:t>
            </a:r>
            <a:r>
              <a:rPr lang="zh-CN" altLang="en-US" dirty="0">
                <a:ea typeface="ＭＳ Ｐゴシック" panose="020B0600070205080204" pitchFamily="34" charset="-128"/>
              </a:rPr>
              <a:t>格拉姆矩阵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5F6C23-97D7-4351-8CFF-5729DA0D3DF5}"/>
                  </a:ext>
                </a:extLst>
              </p:cNvPr>
              <p:cNvSpPr txBox="1"/>
              <p:nvPr/>
            </p:nvSpPr>
            <p:spPr>
              <a:xfrm>
                <a:off x="571500" y="1698924"/>
                <a:ext cx="8001000" cy="171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Note that in kernel perceptron  </a:t>
                </a:r>
                <a:r>
                  <a:rPr lang="zh-CN" altLang="en-US" sz="2200" dirty="0"/>
                  <a:t>注意在核计算感知器中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5F6C23-97D7-4351-8CFF-5729DA0D3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698924"/>
                <a:ext cx="8001000" cy="1716560"/>
              </a:xfrm>
              <a:prstGeom prst="rect">
                <a:avLst/>
              </a:prstGeom>
              <a:blipFill>
                <a:blip r:embed="rId6"/>
                <a:stretch>
                  <a:fillRect t="-3915" b="-3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2310405-3B8A-4261-BCFD-B0A5A342644A}"/>
              </a:ext>
            </a:extLst>
          </p:cNvPr>
          <p:cNvSpPr txBox="1"/>
          <p:nvPr/>
        </p:nvSpPr>
        <p:spPr>
          <a:xfrm>
            <a:off x="685800" y="3739487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only need to provide a row in the matrix</a:t>
            </a:r>
          </a:p>
          <a:p>
            <a:pPr algn="ctr"/>
            <a:r>
              <a:rPr lang="zh-CN" altLang="en-US" sz="2200" dirty="0"/>
              <a:t>我们只需要提供矩阵中的一行</a:t>
            </a:r>
            <a:endParaRPr lang="en-US" altLang="zh-CN" sz="2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AFF415-51F0-4E69-B253-C8769A32D0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47" y="4511040"/>
            <a:ext cx="3353268" cy="552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540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Gram Matrix  </a:t>
            </a:r>
            <a:r>
              <a:rPr lang="zh-CN" altLang="en-US" dirty="0">
                <a:ea typeface="ＭＳ Ｐゴシック" panose="020B0600070205080204" pitchFamily="34" charset="-128"/>
              </a:rPr>
              <a:t>格拉姆矩阵 </a:t>
            </a:r>
            <a:r>
              <a:rPr lang="en-US" altLang="zh-CN" dirty="0">
                <a:ea typeface="ＭＳ Ｐゴシック" panose="020B0600070205080204" pitchFamily="34" charset="-128"/>
              </a:rPr>
              <a:t>(5)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571500" y="1698924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also know the maximum norm from the matrix</a:t>
            </a:r>
          </a:p>
          <a:p>
            <a:pPr algn="ctr"/>
            <a:r>
              <a:rPr lang="zh-CN" altLang="en-US" sz="2200" dirty="0"/>
              <a:t>我们也从矩阵中知道了最大长度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8AD6D-A574-443B-9739-7BBD8C444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47" y="2464844"/>
            <a:ext cx="5944430" cy="16194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94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Accelerate Kernel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加速核计算感知器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266700" y="2824424"/>
            <a:ext cx="8610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class ‘</a:t>
            </a:r>
            <a:r>
              <a:rPr lang="en-US" altLang="zh-CN" sz="2200" dirty="0" err="1"/>
              <a:t>BinaryKernelPerceptron</a:t>
            </a:r>
            <a:r>
              <a:rPr lang="en-US" altLang="zh-CN" sz="2200" dirty="0"/>
              <a:t>’, add a new member function to calculate the score from a row of calculated kernel results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”的“</a:t>
            </a:r>
            <a:r>
              <a:rPr lang="en-US" altLang="zh-CN" sz="2200" dirty="0" err="1"/>
              <a:t>BinaryKernelPerceptron</a:t>
            </a:r>
            <a:r>
              <a:rPr lang="zh-CN" altLang="en-US" sz="2200" dirty="0"/>
              <a:t>”类型中，加入一个新的成员函数，用已经计算好的一行核计算结果来计算分数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A9325-D724-4275-84FF-59D9E1C12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48" y="4267200"/>
            <a:ext cx="5715798" cy="5715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970771-CD03-46EB-A39A-08FEB32489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01240"/>
            <a:ext cx="1943372" cy="3429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876300" y="1582815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‘perceptron.py’,</a:t>
            </a:r>
            <a:r>
              <a:rPr lang="zh-CN" altLang="en-US" sz="2200" dirty="0"/>
              <a:t> </a:t>
            </a:r>
            <a:r>
              <a:rPr lang="en-US" altLang="zh-CN" sz="2200" dirty="0"/>
              <a:t>import</a:t>
            </a:r>
            <a:r>
              <a:rPr lang="zh-CN" altLang="en-US" sz="2200" dirty="0"/>
              <a:t> </a:t>
            </a:r>
            <a:r>
              <a:rPr lang="en-US" altLang="zh-CN" sz="2200" dirty="0"/>
              <a:t>‘kernels’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”中导入“</a:t>
            </a:r>
            <a:r>
              <a:rPr lang="en-US" altLang="zh-CN" sz="2200" dirty="0"/>
              <a:t>kernels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66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Accelerate Kernel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加速核计算感知器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95250" y="4610666"/>
            <a:ext cx="8953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use the matrix to get the maximum norm &amp; calculate the confidence threshold (removing the old calculation)</a:t>
            </a:r>
          </a:p>
          <a:p>
            <a:pPr algn="ctr"/>
            <a:r>
              <a:rPr lang="zh-CN" altLang="en-US" sz="2200" dirty="0"/>
              <a:t>现在从这个矩阵中获得最大长度并计算置信度阈值（删除原先的计算）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1FCB0-6782-4FE0-BBA2-5700A5E62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88" y="3276600"/>
            <a:ext cx="6706536" cy="10669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1276350" y="1509227"/>
            <a:ext cx="65913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member function ‘train’, accept an optional parameter of the Gram matrix. If the matrix is not provided, then calculate the matrix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/>
              <a:t>train</a:t>
            </a:r>
            <a:r>
              <a:rPr lang="zh-CN" altLang="en-US" sz="2200"/>
              <a:t>”</a:t>
            </a:r>
            <a:r>
              <a:rPr lang="zh-CN" altLang="en-US" sz="2200" dirty="0"/>
              <a:t>中接受一个可选的格拉姆矩阵参数，如果矩阵未被传入，则计算之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04FFC-2B94-4953-BEDE-36398D6A8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" y="5715000"/>
            <a:ext cx="6496956" cy="8383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FA11B6-B5BB-4D7A-BA62-FB67E549D033}"/>
              </a:ext>
            </a:extLst>
          </p:cNvPr>
          <p:cNvCxnSpPr>
            <a:cxnSpLocks/>
          </p:cNvCxnSpPr>
          <p:nvPr/>
        </p:nvCxnSpPr>
        <p:spPr bwMode="auto">
          <a:xfrm>
            <a:off x="1592866" y="5913120"/>
            <a:ext cx="442693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09199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7DE1CE-4E62-4A87-B502-156C8A828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124" y="2304936"/>
            <a:ext cx="5506218" cy="81926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Accelerate Kernel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加速核计算感知器</a:t>
            </a:r>
            <a:r>
              <a:rPr lang="en-US" altLang="zh-CN" dirty="0">
                <a:ea typeface="ＭＳ Ｐゴシック" panose="020B0600070205080204" pitchFamily="34" charset="-128"/>
              </a:rPr>
              <a:t> 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95250" y="3352800"/>
            <a:ext cx="89535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of scoring for classification, also accept an optional parameter of a kernel result row (which can be calculated only once in multi-class classification) for fast calculation. If it is not available, follow the original code path</a:t>
            </a:r>
          </a:p>
          <a:p>
            <a:pPr algn="ctr"/>
            <a:r>
              <a:rPr lang="zh-CN" altLang="en-US" sz="2200" dirty="0"/>
              <a:t>在分类时计算分数的成员函数中，也接受可选的一行核计算结果（在多类分类时只需要计算一次）用于快速计算。如果未被传入，则遵循原先的流程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1276350" y="1509227"/>
            <a:ext cx="6591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the matrix to do scoring in training</a:t>
            </a:r>
          </a:p>
          <a:p>
            <a:pPr algn="ctr"/>
            <a:r>
              <a:rPr lang="zh-CN" altLang="en-US" sz="2200" dirty="0"/>
              <a:t>在训练时用矩阵计算分数</a:t>
            </a:r>
            <a:endParaRPr lang="en-US" altLang="zh-CN" sz="2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FA11B6-B5BB-4D7A-BA62-FB67E549D033}"/>
              </a:ext>
            </a:extLst>
          </p:cNvPr>
          <p:cNvCxnSpPr>
            <a:cxnSpLocks/>
          </p:cNvCxnSpPr>
          <p:nvPr/>
        </p:nvCxnSpPr>
        <p:spPr bwMode="auto">
          <a:xfrm>
            <a:off x="2568364" y="2472576"/>
            <a:ext cx="497543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1F4DE5E-8157-425A-BA6B-EB416BB99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28" y="5848230"/>
            <a:ext cx="6801800" cy="857370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98E7FC-464A-4E50-924D-F7DDE0F9A02C}"/>
              </a:ext>
            </a:extLst>
          </p:cNvPr>
          <p:cNvCxnSpPr>
            <a:cxnSpLocks/>
          </p:cNvCxnSpPr>
          <p:nvPr/>
        </p:nvCxnSpPr>
        <p:spPr bwMode="auto">
          <a:xfrm>
            <a:off x="2590800" y="2716416"/>
            <a:ext cx="3505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7430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466724" y="4073604"/>
            <a:ext cx="8210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If a kernel is used, calculate the Gram matrix &amp; store the training data in a member variable</a:t>
            </a:r>
          </a:p>
          <a:p>
            <a:pPr algn="ctr"/>
            <a:r>
              <a:rPr lang="zh-CN" altLang="en-US" sz="2200" dirty="0"/>
              <a:t>如果用了核计算，则计算格拉姆矩阵并用成员函数存储训练数据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376237" y="1595699"/>
            <a:ext cx="83915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initialization function of class ‘Perceptron’,</a:t>
            </a:r>
            <a:r>
              <a:rPr lang="zh-CN" altLang="en-US" sz="2200" dirty="0"/>
              <a:t> </a:t>
            </a:r>
            <a:r>
              <a:rPr lang="en-US" altLang="zh-CN" sz="2200" dirty="0"/>
              <a:t>accept an optional parameter of kernel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”类的初始化函数中，接受一个可选的核计算参数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55920-0807-49A9-9E26-74A854F39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76" y="2697332"/>
            <a:ext cx="7392432" cy="106694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01259E-7299-4B30-9094-76F5A6A9D3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6" y="5181600"/>
            <a:ext cx="6687484" cy="135273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131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376237" y="1595699"/>
            <a:ext cx="83915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When creating binary classifier instances, choose the right class depending on whether a kernel is used</a:t>
            </a:r>
          </a:p>
          <a:p>
            <a:pPr algn="ctr"/>
            <a:r>
              <a:rPr lang="zh-CN" altLang="en-US" sz="2200" dirty="0"/>
              <a:t>当创建两类分类器实例时，根据是否用了核计算选择正确的类型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8FED6-B780-4A20-979F-012269D6C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618" y="2743217"/>
            <a:ext cx="5563376" cy="230537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354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</a:t>
            </a:r>
            <a:r>
              <a:rPr lang="en-US" altLang="zh-CN" dirty="0">
                <a:ea typeface="ＭＳ Ｐゴシック" panose="020B0600070205080204" pitchFamily="34" charset="-128"/>
              </a:rPr>
              <a:t> (3)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376237" y="1595699"/>
            <a:ext cx="83915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When training the binary classifier instances, pass in the matrix depending on whether a kernel is used</a:t>
            </a:r>
          </a:p>
          <a:p>
            <a:pPr algn="ctr"/>
            <a:r>
              <a:rPr lang="zh-CN" altLang="en-US" sz="2200" dirty="0"/>
              <a:t>当训练两类分类器实例时，根据是否用了核计算决定是否传入矩阵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1BC75-53E3-4EA5-AAFC-178A3C947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316" y="2697480"/>
            <a:ext cx="6211166" cy="135273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215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</a:t>
            </a:r>
            <a:r>
              <a:rPr lang="en-US" altLang="zh-CN" dirty="0">
                <a:ea typeface="ＭＳ Ｐゴシック" panose="020B0600070205080204" pitchFamily="34" charset="-128"/>
              </a:rPr>
              <a:t> (4)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28E6-3E6F-4DDE-B318-1CA9DC29016B}"/>
              </a:ext>
            </a:extLst>
          </p:cNvPr>
          <p:cNvSpPr txBox="1"/>
          <p:nvPr/>
        </p:nvSpPr>
        <p:spPr>
          <a:xfrm>
            <a:off x="376237" y="1595699"/>
            <a:ext cx="83915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classification, write another member function to calculate the row of kernel results</a:t>
            </a:r>
          </a:p>
          <a:p>
            <a:pPr algn="ctr"/>
            <a:r>
              <a:rPr lang="zh-CN" altLang="en-US" sz="2200" dirty="0"/>
              <a:t>在分类时，另外写一个成员函数计算一行核计算的结果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CB36E-D6D4-40C0-8C4F-A3FC91C1B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72" y="2704882"/>
            <a:ext cx="8078328" cy="156231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6972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Perceptron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多类感知器</a:t>
            </a:r>
            <a:r>
              <a:rPr lang="en-US" altLang="zh-CN" dirty="0">
                <a:ea typeface="ＭＳ Ｐゴシック" panose="020B0600070205080204" pitchFamily="34" charset="-128"/>
              </a:rPr>
              <a:t> (5)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6C23-97D7-4351-8CFF-5729DA0D3DF5}"/>
              </a:ext>
            </a:extLst>
          </p:cNvPr>
          <p:cNvSpPr txBox="1"/>
          <p:nvPr/>
        </p:nvSpPr>
        <p:spPr>
          <a:xfrm>
            <a:off x="1431131" y="1600200"/>
            <a:ext cx="62817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member function ‘classify’, calculate the kernel result row only once if a kernel is used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classify</a:t>
            </a:r>
            <a:r>
              <a:rPr lang="zh-CN" altLang="en-US" sz="2200" dirty="0"/>
              <a:t>”成员函数中，如果用了核计算，一次性计算核计算结果行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91999-5A68-4514-96FB-4007FF52E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6" y="3046750"/>
            <a:ext cx="7887800" cy="108600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7B8697-281D-4A2D-8854-11BF731C3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026774"/>
            <a:ext cx="5525272" cy="55252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5A2C60-E024-48C2-849B-4687C0CB9845}"/>
              </a:ext>
            </a:extLst>
          </p:cNvPr>
          <p:cNvSpPr txBox="1"/>
          <p:nvPr/>
        </p:nvSpPr>
        <p:spPr>
          <a:xfrm>
            <a:off x="1447800" y="4267200"/>
            <a:ext cx="6281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scoring, pass in the kernel result row  </a:t>
            </a:r>
          </a:p>
          <a:p>
            <a:pPr algn="ctr"/>
            <a:r>
              <a:rPr lang="zh-CN" altLang="en-US" sz="2200" dirty="0"/>
              <a:t>在计算得分时，传入核计算结果行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967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442911" y="1676400"/>
            <a:ext cx="8258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‘test.py’ &amp; import the required components   </a:t>
            </a:r>
            <a:r>
              <a:rPr lang="zh-CN" altLang="en-US" sz="2200" dirty="0"/>
              <a:t>创建新文件“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”并导入所需组件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1A87E1-92D1-4854-8F7F-754A30F1F4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2219" r="-7" b="-948"/>
          <a:stretch/>
        </p:blipFill>
        <p:spPr>
          <a:xfrm>
            <a:off x="458089" y="2426368"/>
            <a:ext cx="3448800" cy="108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D0124E-E9B5-41F0-ACBB-C2F832D9F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89" y="4427041"/>
            <a:ext cx="6020640" cy="87642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6F9F9D-2A9F-44AE-91A3-C9612F1A4E72}"/>
              </a:ext>
            </a:extLst>
          </p:cNvPr>
          <p:cNvSpPr txBox="1"/>
          <p:nvPr/>
        </p:nvSpPr>
        <p:spPr>
          <a:xfrm>
            <a:off x="442911" y="3657600"/>
            <a:ext cx="8258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data from the files</a:t>
            </a:r>
          </a:p>
          <a:p>
            <a:pPr algn="ctr"/>
            <a:r>
              <a:rPr lang="zh-CN" altLang="en-US" sz="2200" dirty="0"/>
              <a:t>从文件中读取数据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5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983454" y="1699503"/>
            <a:ext cx="7177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an instance of the RBF kernel, derive a perceptron classifier from it, &amp; evaluate its accuracy</a:t>
            </a:r>
          </a:p>
          <a:p>
            <a:pPr algn="ctr"/>
            <a:r>
              <a:rPr lang="zh-CN" altLang="en-US" sz="2200" dirty="0"/>
              <a:t>生成一个径向基核计算的实例，导出一个感知器分类器，并评价其准确率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F9F9D-2A9F-44AE-91A3-C9612F1A4E72}"/>
              </a:ext>
            </a:extLst>
          </p:cNvPr>
          <p:cNvSpPr txBox="1"/>
          <p:nvPr/>
        </p:nvSpPr>
        <p:spPr>
          <a:xfrm>
            <a:off x="442911" y="4640759"/>
            <a:ext cx="8258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pause before going forward</a:t>
            </a:r>
          </a:p>
          <a:p>
            <a:pPr algn="ctr"/>
            <a:r>
              <a:rPr lang="zh-CN" altLang="en-US" sz="2200" dirty="0"/>
              <a:t>继续运行前加入一个等待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F9654-838D-4EC8-9EEE-FED59D5DB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17" y="3124200"/>
            <a:ext cx="7411484" cy="13527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D1FF20-A97F-411D-93B6-1103090F0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97" y="5410200"/>
            <a:ext cx="4706006" cy="38105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305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B866-B239-48FD-BB2D-20617AFCEC7F}"/>
              </a:ext>
            </a:extLst>
          </p:cNvPr>
          <p:cNvSpPr txBox="1"/>
          <p:nvPr/>
        </p:nvSpPr>
        <p:spPr>
          <a:xfrm>
            <a:off x="304799" y="4724400"/>
            <a:ext cx="8534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E96D6-8870-4C3A-BFC7-2D1D19022A53}"/>
              </a:ext>
            </a:extLst>
          </p:cNvPr>
          <p:cNvSpPr txBox="1"/>
          <p:nvPr/>
        </p:nvSpPr>
        <p:spPr>
          <a:xfrm>
            <a:off x="983454" y="1699503"/>
            <a:ext cx="7177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an instance of the polynomial kernel, derive a perceptron classifier from it, &amp; evaluate its accuracy</a:t>
            </a:r>
          </a:p>
          <a:p>
            <a:pPr algn="ctr"/>
            <a:r>
              <a:rPr lang="zh-CN" altLang="en-US" sz="2200" dirty="0"/>
              <a:t>生成一个多项式核计算的实例，导出一个感知器分类器，并评价其准确率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2DA3D8-8A75-43EC-AE84-E2135C125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3124200"/>
            <a:ext cx="7392432" cy="135273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035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3|5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95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6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8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8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41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1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2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9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18465</TotalTime>
  <Words>1483</Words>
  <Application>Microsoft Office PowerPoint</Application>
  <PresentationFormat>On-screen Show (4:3)</PresentationFormat>
  <Paragraphs>110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Cookbook for Practice 10.6</vt:lpstr>
      <vt:lpstr>RBF Kernel  径向基核计算</vt:lpstr>
      <vt:lpstr>RBF Kernel  径向基核计算</vt:lpstr>
      <vt:lpstr>RBF Kernel  径向基核计算</vt:lpstr>
      <vt:lpstr>Gram Matrix  格拉姆矩阵 (1)</vt:lpstr>
      <vt:lpstr>Gram Matrix  格拉姆矩阵 (2)</vt:lpstr>
      <vt:lpstr>Gram Matrix  格拉姆矩阵 (3)</vt:lpstr>
      <vt:lpstr>Gram Matrix  格拉姆矩阵 (4)</vt:lpstr>
      <vt:lpstr>Gram Matrix  格拉姆矩阵 (5)</vt:lpstr>
      <vt:lpstr>Accelerate Kernel Perceptron 加速核计算感知器 (1)</vt:lpstr>
      <vt:lpstr>Accelerate Kernel Perceptron 加速核计算感知器 (2)</vt:lpstr>
      <vt:lpstr>Accelerate Kernel Perceptron 加速核计算感知器 (3)</vt:lpstr>
      <vt:lpstr>Multi-class Perceptron 多类感知器 (1)</vt:lpstr>
      <vt:lpstr>Multi-class Perceptron 多类感知器 (2)</vt:lpstr>
      <vt:lpstr>Multi-class Perceptron 多类感知器 (3)</vt:lpstr>
      <vt:lpstr>Multi-class Perceptron 多类感知器 (4)</vt:lpstr>
      <vt:lpstr>Multi-class Perceptron 多类感知器 (5)</vt:lpstr>
      <vt:lpstr>Run It  运行之 (1)</vt:lpstr>
      <vt:lpstr>Run It  运行之 (2)</vt:lpstr>
      <vt:lpstr>Run It  运行之 (3)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1404</cp:revision>
  <dcterms:created xsi:type="dcterms:W3CDTF">2003-03-13T01:36:43Z</dcterms:created>
  <dcterms:modified xsi:type="dcterms:W3CDTF">2024-05-04T02:36:36Z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2020-02-06 08:36:41Z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