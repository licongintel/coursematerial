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1" r:id="rId1"/>
  </p:sldMasterIdLst>
  <p:notesMasterIdLst>
    <p:notesMasterId r:id="rId8"/>
  </p:notesMasterIdLst>
  <p:handoutMasterIdLst>
    <p:handoutMasterId r:id="rId9"/>
  </p:handoutMasterIdLst>
  <p:sldIdLst>
    <p:sldId id="286" r:id="rId2"/>
    <p:sldId id="438" r:id="rId3"/>
    <p:sldId id="440" r:id="rId4"/>
    <p:sldId id="442" r:id="rId5"/>
    <p:sldId id="441" r:id="rId6"/>
    <p:sldId id="353" r:id="rId7"/>
  </p:sldIdLst>
  <p:sldSz cx="9144000" cy="6858000" type="screen4x3"/>
  <p:notesSz cx="7010400" cy="92964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99"/>
    <a:srgbClr val="B2B2B2"/>
    <a:srgbClr val="993366"/>
    <a:srgbClr val="339933"/>
    <a:srgbClr val="33CC33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563" autoAdjust="0"/>
    <p:restoredTop sz="93504" autoAdjust="0"/>
  </p:normalViewPr>
  <p:slideViewPr>
    <p:cSldViewPr>
      <p:cViewPr varScale="1">
        <p:scale>
          <a:sx n="68" d="100"/>
          <a:sy n="68" d="100"/>
        </p:scale>
        <p:origin x="1138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3" d="100"/>
          <a:sy n="53" d="100"/>
        </p:scale>
        <p:origin x="2275" y="62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2400" y="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920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91FF96B3-5193-4D4F-ADAC-C41F873FC32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2958223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>
            <a:lvl1pPr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1925" y="0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>
            <a:lvl1pPr algn="r"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675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b" anchorCtr="0" compatLnSpc="1">
            <a:prstTxWarp prst="textNoShape">
              <a:avLst/>
            </a:prstTxWarp>
          </a:bodyPr>
          <a:lstStyle>
            <a:lvl1pPr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1925" y="8829675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b" anchorCtr="0" compatLnSpc="1">
            <a:prstTxWarp prst="textNoShape">
              <a:avLst/>
            </a:prstTxWarp>
          </a:bodyPr>
          <a:lstStyle>
            <a:lvl1pPr algn="r" defTabSz="915988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5C806C1B-B03E-46DA-85CD-D90BC0B3754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86362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fld id="{7D2CF438-6F28-4EDA-8826-7EA47CD870C5}" type="slidenum">
              <a:rPr lang="en-US" altLang="zh-CN" smtClean="0">
                <a:latin typeface="Arial" panose="020B0604020202020204" pitchFamily="34" charset="0"/>
              </a:rPr>
              <a:pPr/>
              <a:t>1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31111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699229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645765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157934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355410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fld id="{57F7688E-3E4A-461B-8D10-9B016CF52F5C}" type="slidenum">
              <a:rPr lang="en-US" altLang="zh-CN" smtClean="0">
                <a:latin typeface="Arial" panose="020B0604020202020204" pitchFamily="34" charset="0"/>
              </a:rPr>
              <a:pPr/>
              <a:t>6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3450" y="4416425"/>
            <a:ext cx="5143500" cy="4183063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01432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</p:grpSp>
      <p:sp>
        <p:nvSpPr>
          <p:cNvPr id="2458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4589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chemeClr val="bg2"/>
                </a:solidFill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8580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chemeClr val="bg2"/>
                </a:solidFill>
                <a:latin typeface="Tahoma" panose="020B0604030504040204" pitchFamily="34" charset="0"/>
              </a:defRPr>
            </a:lvl1pPr>
          </a:lstStyle>
          <a:p>
            <a:pPr>
              <a:defRPr/>
            </a:pPr>
            <a:fld id="{EF41B76D-9336-435E-89FD-3D5A1B77420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998355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 dirty="0"/>
              <a:t>Machine Learning – Basic Principles &amp; Practice: 2. Rote Learning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基本原理与实践：</a:t>
            </a:r>
            <a:r>
              <a:rPr lang="en-US" altLang="zh-CN" dirty="0"/>
              <a:t>2. </a:t>
            </a:r>
            <a:r>
              <a:rPr lang="zh-CN" altLang="en-US" dirty="0"/>
              <a:t>死记硬背的学习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4838016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9853619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2000" y="16002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4400" y="16002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450943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108442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5376639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4162289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294439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7928499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346944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7050" y="457200"/>
            <a:ext cx="2038350" cy="5715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457200"/>
            <a:ext cx="5962650" cy="5715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37036624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417513" y="717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800100" y="717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541338" y="1139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911225" y="1139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127000" y="1066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762000" y="609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442913" y="1400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22363" y="457200"/>
            <a:ext cx="7793037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title style</a:t>
            </a: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762000" y="1600200"/>
            <a:ext cx="77724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23564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762000" y="6243638"/>
            <a:ext cx="7772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Tahoma" pitchFamily="34" charset="0"/>
              </a:defRPr>
            </a:lvl1pPr>
          </a:lstStyle>
          <a:p>
            <a:pPr>
              <a:defRPr/>
            </a:pPr>
            <a:r>
              <a:rPr lang="en-US" altLang="zh-CN" dirty="0"/>
              <a:t>Machine Learning – Basic Principles &amp; Practice: 2. Rote Learning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基本原理与实践：</a:t>
            </a:r>
            <a:r>
              <a:rPr lang="en-US" altLang="zh-CN" dirty="0"/>
              <a:t>2. </a:t>
            </a:r>
            <a:r>
              <a:rPr lang="zh-CN" altLang="en-US" dirty="0"/>
              <a:t>死记硬背的学习</a:t>
            </a:r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  <p:sldLayoutId id="2147483760" r:id="rId2"/>
    <p:sldLayoutId id="2147483761" r:id="rId3"/>
    <p:sldLayoutId id="2147483762" r:id="rId4"/>
    <p:sldLayoutId id="2147483763" r:id="rId5"/>
    <p:sldLayoutId id="2147483764" r:id="rId6"/>
    <p:sldLayoutId id="2147483765" r:id="rId7"/>
    <p:sldLayoutId id="2147483766" r:id="rId8"/>
    <p:sldLayoutId id="2147483767" r:id="rId9"/>
    <p:sldLayoutId id="2147483768" r:id="rId10"/>
    <p:sldLayoutId id="2147483769" r:id="rId11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676400"/>
            <a:ext cx="7772400" cy="1462088"/>
          </a:xfrm>
        </p:spPr>
        <p:txBody>
          <a:bodyPr/>
          <a:lstStyle/>
          <a:p>
            <a:pPr algn="ctr" eaLnBrk="1" hangingPunct="1"/>
            <a:r>
              <a:rPr lang="en-US" altLang="zh-CN" sz="3600" b="1" dirty="0">
                <a:ea typeface="SimSun" panose="02010600030101010101" pitchFamily="2" charset="-122"/>
              </a:rPr>
              <a:t>Cookbook for Practice 3.1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19200" y="4876800"/>
            <a:ext cx="6553200" cy="762000"/>
          </a:xfrm>
        </p:spPr>
        <p:txBody>
          <a:bodyPr/>
          <a:lstStyle/>
          <a:p>
            <a:pPr eaLnBrk="1" hangingPunct="1"/>
            <a:r>
              <a:rPr lang="en-US" altLang="zh-CN" sz="2800" dirty="0">
                <a:ea typeface="SimSun" panose="02010600030101010101" pitchFamily="2" charset="-122"/>
              </a:rPr>
              <a:t>Cong Li </a:t>
            </a:r>
            <a:r>
              <a:rPr lang="zh-CN" altLang="en-US" sz="2800" dirty="0">
                <a:ea typeface="SimSun" panose="02010600030101010101" pitchFamily="2" charset="-122"/>
              </a:rPr>
              <a:t>李聪</a:t>
            </a:r>
            <a:endParaRPr lang="en-US" altLang="zh-CN" sz="2400" dirty="0">
              <a:ea typeface="SimSun" panose="02010600030101010101" pitchFamily="2" charset="-122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050F980-1D76-4E39-94EB-A1B939407D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3477465"/>
            <a:ext cx="7772400" cy="1157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9pPr>
          </a:lstStyle>
          <a:p>
            <a:pPr algn="ctr" eaLnBrk="1" hangingPunct="1"/>
            <a:r>
              <a:rPr lang="zh-CN" altLang="en-US" sz="3600" b="1" kern="0" dirty="0">
                <a:ea typeface="SimSun" panose="02010600030101010101" pitchFamily="2" charset="-122"/>
              </a:rPr>
              <a:t>实践</a:t>
            </a:r>
            <a:r>
              <a:rPr lang="en-US" altLang="zh-CN" sz="3600" b="1" kern="0" dirty="0">
                <a:ea typeface="SimSun" panose="02010600030101010101" pitchFamily="2" charset="-122"/>
              </a:rPr>
              <a:t>3.1</a:t>
            </a:r>
            <a:r>
              <a:rPr lang="zh-CN" altLang="en-US" sz="3600" b="1" kern="0" dirty="0">
                <a:ea typeface="SimSun" panose="02010600030101010101" pitchFamily="2" charset="-122"/>
              </a:rPr>
              <a:t>攻略</a:t>
            </a:r>
            <a:endParaRPr lang="en-US" altLang="zh-CN" sz="3600" b="1" kern="0" dirty="0"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Nearest Neighbor </a:t>
            </a:r>
            <a:r>
              <a:rPr lang="zh-CN" altLang="en-US" dirty="0">
                <a:ea typeface="ＭＳ Ｐゴシック" panose="020B0600070205080204" pitchFamily="34" charset="-128"/>
              </a:rPr>
              <a:t>最近邻 </a:t>
            </a:r>
            <a:r>
              <a:rPr lang="en-US" altLang="zh-CN" dirty="0">
                <a:ea typeface="ＭＳ Ｐゴシック" panose="020B0600070205080204" pitchFamily="34" charset="-128"/>
              </a:rPr>
              <a:t>(1)</a:t>
            </a:r>
            <a:endParaRPr lang="zh-CN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268317-4080-45A4-B02D-99077E586DE5}"/>
              </a:ext>
            </a:extLst>
          </p:cNvPr>
          <p:cNvSpPr txBox="1"/>
          <p:nvPr/>
        </p:nvSpPr>
        <p:spPr>
          <a:xfrm>
            <a:off x="609600" y="1600200"/>
            <a:ext cx="79248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Start a new file ‘nearestNeighbor.py’ w/ a new class. Follow the training part in rote learning.</a:t>
            </a:r>
          </a:p>
          <a:p>
            <a:pPr algn="ctr"/>
            <a:r>
              <a:rPr lang="zh-CN" altLang="en-US" sz="2200" dirty="0"/>
              <a:t>创建一个包含新的类型的新文件“</a:t>
            </a:r>
            <a:r>
              <a:rPr lang="en-US" altLang="zh-CN" sz="2200" dirty="0"/>
              <a:t>nearestNeighbor.py</a:t>
            </a:r>
            <a:r>
              <a:rPr lang="zh-CN" altLang="en-US" sz="2200" dirty="0"/>
              <a:t>”。训练部分参照死记硬背的学习。</a:t>
            </a:r>
            <a:endParaRPr lang="en-US" altLang="zh-CN" sz="2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9F3E8D-8E70-4B44-ADDE-5E7785ADC2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3093552"/>
            <a:ext cx="5745978" cy="193564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2750676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Nearest Neighbor </a:t>
            </a:r>
            <a:r>
              <a:rPr lang="zh-CN" altLang="en-US" dirty="0">
                <a:ea typeface="ＭＳ Ｐゴシック" panose="020B0600070205080204" pitchFamily="34" charset="-128"/>
              </a:rPr>
              <a:t>最近邻 </a:t>
            </a:r>
            <a:r>
              <a:rPr lang="en-US" altLang="zh-CN" dirty="0">
                <a:ea typeface="ＭＳ Ｐゴシック" panose="020B0600070205080204" pitchFamily="34" charset="-128"/>
              </a:rPr>
              <a:t>(2)</a:t>
            </a:r>
            <a:endParaRPr lang="zh-CN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268317-4080-45A4-B02D-99077E586DE5}"/>
              </a:ext>
            </a:extLst>
          </p:cNvPr>
          <p:cNvSpPr txBox="1"/>
          <p:nvPr/>
        </p:nvSpPr>
        <p:spPr>
          <a:xfrm>
            <a:off x="57150" y="1648361"/>
            <a:ext cx="90297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Now we write the ‘classify’ function, starting w/ a local variable for minimal distance &amp; another for the nearest data sample seen so far</a:t>
            </a:r>
          </a:p>
          <a:p>
            <a:pPr algn="ctr"/>
            <a:r>
              <a:rPr lang="zh-CN" altLang="en-US" sz="2200" dirty="0"/>
              <a:t>现在我们写“</a:t>
            </a:r>
            <a:r>
              <a:rPr lang="en-US" altLang="zh-CN" sz="2200" dirty="0"/>
              <a:t>classify</a:t>
            </a:r>
            <a:r>
              <a:rPr lang="zh-CN" altLang="en-US" sz="2200" dirty="0"/>
              <a:t>”函数，为到目前为止遇到的最小距离</a:t>
            </a:r>
            <a:r>
              <a:rPr lang="zh-CN" altLang="en-US" sz="2200"/>
              <a:t>和最邻近的</a:t>
            </a:r>
            <a:r>
              <a:rPr lang="zh-CN" altLang="en-US" sz="2200" dirty="0"/>
              <a:t>数据各准备一个局部变量</a:t>
            </a:r>
            <a:endParaRPr lang="en-US" altLang="zh-CN" sz="2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B5FAEC-801F-4847-80BD-236F9D47BD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3124200"/>
            <a:ext cx="4404742" cy="929720"/>
          </a:xfrm>
          <a:prstGeom prst="rect">
            <a:avLst/>
          </a:prstGeom>
          <a:ln>
            <a:solidFill>
              <a:srgbClr val="00B050"/>
            </a:solidFill>
          </a:ln>
        </p:spPr>
      </p:pic>
    </p:spTree>
    <p:extLst>
      <p:ext uri="{BB962C8B-B14F-4D97-AF65-F5344CB8AC3E}">
        <p14:creationId xmlns:p14="http://schemas.microsoft.com/office/powerpoint/2010/main" val="10982115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E17BA15D-95A3-4E32-80B3-FE11463E30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1837" y="3402496"/>
            <a:ext cx="7300592" cy="2469094"/>
          </a:xfrm>
          <a:prstGeom prst="rect">
            <a:avLst/>
          </a:prstGeom>
          <a:ln>
            <a:solidFill>
              <a:srgbClr val="00B050"/>
            </a:solidFill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Nearest Neighbor </a:t>
            </a:r>
            <a:r>
              <a:rPr lang="zh-CN" altLang="en-US" dirty="0">
                <a:ea typeface="ＭＳ Ｐゴシック" panose="020B0600070205080204" pitchFamily="34" charset="-128"/>
              </a:rPr>
              <a:t>最近邻 </a:t>
            </a:r>
            <a:r>
              <a:rPr lang="en-US" altLang="zh-CN" dirty="0">
                <a:ea typeface="ＭＳ Ｐゴシック" panose="020B0600070205080204" pitchFamily="34" charset="-128"/>
              </a:rPr>
              <a:t>(3)</a:t>
            </a:r>
            <a:endParaRPr lang="zh-CN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268317-4080-45A4-B02D-99077E586DE5}"/>
              </a:ext>
            </a:extLst>
          </p:cNvPr>
          <p:cNvSpPr txBox="1"/>
          <p:nvPr/>
        </p:nvSpPr>
        <p:spPr>
          <a:xfrm>
            <a:off x="57150" y="1648361"/>
            <a:ext cx="9029700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Loop over all the training data samples, calculate the distance, &amp; update the minimum distance &amp; the nearest neighbor on demand. Return the class label of the nearest neighbor at the end.</a:t>
            </a:r>
          </a:p>
          <a:p>
            <a:pPr algn="ctr"/>
            <a:r>
              <a:rPr lang="zh-CN" altLang="en-US" sz="2200" dirty="0"/>
              <a:t>遍历所有的训练数据，计算距离，并根据情况更新最小距离和最近邻。最后返回最近邻的类别。</a:t>
            </a:r>
            <a:endParaRPr lang="en-US" altLang="zh-CN" sz="2200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1DDAB357-83CF-44C5-BECE-03CF6C6E3841}"/>
              </a:ext>
            </a:extLst>
          </p:cNvPr>
          <p:cNvGrpSpPr/>
          <p:nvPr/>
        </p:nvGrpSpPr>
        <p:grpSpPr>
          <a:xfrm>
            <a:off x="1569383" y="4000500"/>
            <a:ext cx="6828194" cy="2615743"/>
            <a:chOff x="1584623" y="3962400"/>
            <a:chExt cx="6828194" cy="2615743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C9C173F-8995-414A-861F-72409163D990}"/>
                </a:ext>
              </a:extLst>
            </p:cNvPr>
            <p:cNvSpPr txBox="1"/>
            <p:nvPr/>
          </p:nvSpPr>
          <p:spPr>
            <a:xfrm>
              <a:off x="1584623" y="6147256"/>
              <a:ext cx="6828194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200" dirty="0"/>
                <a:t>Distance calculation  </a:t>
              </a:r>
              <a:r>
                <a:rPr lang="zh-CN" altLang="en-US" sz="2200" dirty="0"/>
                <a:t>距离计算</a:t>
              </a:r>
              <a:endParaRPr lang="en-US" altLang="zh-CN" sz="2200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869D018-E7CE-437A-A310-1E15D8292E1B}"/>
                </a:ext>
              </a:extLst>
            </p:cNvPr>
            <p:cNvSpPr/>
            <p:nvPr/>
          </p:nvSpPr>
          <p:spPr bwMode="auto">
            <a:xfrm>
              <a:off x="1981200" y="3962400"/>
              <a:ext cx="6035040" cy="774700"/>
            </a:xfrm>
            <a:prstGeom prst="rect">
              <a:avLst/>
            </a:prstGeom>
            <a:noFill/>
            <a:ln w="9525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895746FB-3AB0-4A9F-83BA-9088658D0516}"/>
                </a:ext>
              </a:extLst>
            </p:cNvPr>
            <p:cNvCxnSpPr>
              <a:cxnSpLocks/>
              <a:stCxn id="9" idx="0"/>
              <a:endCxn id="10" idx="2"/>
            </p:cNvCxnSpPr>
            <p:nvPr/>
          </p:nvCxnSpPr>
          <p:spPr bwMode="auto">
            <a:xfrm flipV="1">
              <a:off x="4998720" y="4737100"/>
              <a:ext cx="0" cy="1410156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18650271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Run It </a:t>
            </a:r>
            <a:r>
              <a:rPr lang="zh-CN" altLang="en-US" dirty="0">
                <a:ea typeface="ＭＳ Ｐゴシック" panose="020B0600070205080204" pitchFamily="34" charset="-128"/>
              </a:rPr>
              <a:t>运行之</a:t>
            </a:r>
            <a:endParaRPr lang="zh-CN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268317-4080-45A4-B02D-99077E586DE5}"/>
              </a:ext>
            </a:extLst>
          </p:cNvPr>
          <p:cNvSpPr txBox="1"/>
          <p:nvPr/>
        </p:nvSpPr>
        <p:spPr>
          <a:xfrm>
            <a:off x="609600" y="1600200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In ‘tester.py’, print something for every 100 data samples classified  </a:t>
            </a:r>
            <a:r>
              <a:rPr lang="zh-CN" altLang="en-US" sz="2200" dirty="0"/>
              <a:t>在“</a:t>
            </a:r>
            <a:r>
              <a:rPr lang="en-US" altLang="zh-CN" sz="2200" dirty="0"/>
              <a:t>tester.py</a:t>
            </a:r>
            <a:r>
              <a:rPr lang="zh-CN" altLang="en-US" sz="2200" dirty="0"/>
              <a:t>”中，每分类</a:t>
            </a:r>
            <a:r>
              <a:rPr lang="en-US" altLang="zh-CN" sz="2200" dirty="0"/>
              <a:t>100</a:t>
            </a:r>
            <a:r>
              <a:rPr lang="zh-CN" altLang="en-US" sz="2200" dirty="0"/>
              <a:t>个数据就打印一下</a:t>
            </a:r>
            <a:endParaRPr lang="en-US" altLang="zh-CN" sz="22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5EC317A-73EF-4134-95DF-6BF106C26A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8012" y="2407741"/>
            <a:ext cx="6050804" cy="868756"/>
          </a:xfrm>
          <a:prstGeom prst="rect">
            <a:avLst/>
          </a:prstGeom>
          <a:ln>
            <a:solidFill>
              <a:srgbClr val="00B050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ADDCB72-5957-403C-9C9A-41776D4450E6}"/>
              </a:ext>
            </a:extLst>
          </p:cNvPr>
          <p:cNvSpPr txBox="1"/>
          <p:nvPr/>
        </p:nvSpPr>
        <p:spPr>
          <a:xfrm>
            <a:off x="685800" y="3276497"/>
            <a:ext cx="79248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In ‘test.py’, import ‘</a:t>
            </a:r>
            <a:r>
              <a:rPr lang="en-US" altLang="zh-CN" sz="2200" dirty="0" err="1"/>
              <a:t>nearestNeighbor</a:t>
            </a:r>
            <a:r>
              <a:rPr lang="en-US" altLang="zh-CN" sz="2200" dirty="0"/>
              <a:t>’, follow rote learning to create an instance for performance evaluation</a:t>
            </a:r>
          </a:p>
          <a:p>
            <a:pPr algn="ctr"/>
            <a:r>
              <a:rPr lang="zh-CN" altLang="en-US" sz="2200" dirty="0"/>
              <a:t>在“</a:t>
            </a:r>
            <a:r>
              <a:rPr lang="en-US" altLang="zh-CN" sz="2200" dirty="0"/>
              <a:t>test.py</a:t>
            </a:r>
            <a:r>
              <a:rPr lang="zh-CN" altLang="en-US" sz="2200" dirty="0"/>
              <a:t>”中，导入“</a:t>
            </a:r>
            <a:r>
              <a:rPr lang="en-US" altLang="zh-CN" sz="2200" dirty="0" err="1"/>
              <a:t>nearestNeighbor</a:t>
            </a:r>
            <a:r>
              <a:rPr lang="zh-CN" altLang="en-US" sz="2200" dirty="0"/>
              <a:t>”，参照死记硬背的学习，创建其中类型的实例，对其分类性能进行评估</a:t>
            </a:r>
            <a:endParaRPr lang="en-US" altLang="zh-CN" sz="22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60488F8-580C-439C-966E-5224B382A5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4723047"/>
            <a:ext cx="3063506" cy="381034"/>
          </a:xfrm>
          <a:prstGeom prst="rect">
            <a:avLst/>
          </a:prstGeom>
          <a:ln>
            <a:solidFill>
              <a:srgbClr val="00B050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91106FB-A25B-4218-9342-B830F0919BC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335" y="5219700"/>
            <a:ext cx="6187976" cy="609652"/>
          </a:xfrm>
          <a:prstGeom prst="rect">
            <a:avLst/>
          </a:prstGeom>
          <a:ln>
            <a:solidFill>
              <a:srgbClr val="00B050"/>
            </a:solidFill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82F3700-3153-42BE-997F-1CA8AC81740B}"/>
              </a:ext>
            </a:extLst>
          </p:cNvPr>
          <p:cNvSpPr txBox="1"/>
          <p:nvPr/>
        </p:nvSpPr>
        <p:spPr>
          <a:xfrm>
            <a:off x="-76200" y="5867452"/>
            <a:ext cx="9296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Train on ‘</a:t>
            </a:r>
            <a:r>
              <a:rPr lang="en-US" altLang="zh-CN" sz="2200" dirty="0" err="1"/>
              <a:t>usps</a:t>
            </a:r>
            <a:r>
              <a:rPr lang="en-US" altLang="zh-CN" sz="2200" dirty="0"/>
              <a:t>’, test on ‘usps.t’ (&amp; be very patient)</a:t>
            </a:r>
          </a:p>
          <a:p>
            <a:pPr algn="ctr"/>
            <a:r>
              <a:rPr lang="zh-CN" altLang="en-US" sz="2200" dirty="0"/>
              <a:t>用“</a:t>
            </a:r>
            <a:r>
              <a:rPr lang="en-US" altLang="zh-CN" sz="2200" dirty="0" err="1"/>
              <a:t>usps</a:t>
            </a:r>
            <a:r>
              <a:rPr lang="zh-CN" altLang="en-US" sz="2200" dirty="0"/>
              <a:t>”进行训练，用“</a:t>
            </a:r>
            <a:r>
              <a:rPr lang="en-US" altLang="zh-CN" sz="2200" dirty="0"/>
              <a:t>usps.t</a:t>
            </a:r>
            <a:r>
              <a:rPr lang="zh-CN" altLang="en-US" sz="2200" dirty="0"/>
              <a:t>”进行评估（并表现出异常的耐心）</a:t>
            </a:r>
            <a:endParaRPr lang="en-US" altLang="zh-CN" sz="2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3616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636838"/>
            <a:ext cx="7772400" cy="1470025"/>
          </a:xfrm>
        </p:spPr>
        <p:txBody>
          <a:bodyPr/>
          <a:lstStyle/>
          <a:p>
            <a:pPr algn="ctr" eaLnBrk="1" hangingPunct="1"/>
            <a:r>
              <a:rPr lang="en-US" altLang="ja-JP" b="1" dirty="0">
                <a:ea typeface="ＭＳ Ｐゴシック" panose="020B0600070205080204" pitchFamily="34" charset="-128"/>
              </a:rPr>
              <a:t>The End </a:t>
            </a:r>
            <a:endParaRPr lang="en-US" altLang="zh-CN" b="1" dirty="0">
              <a:ea typeface="SimSun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SimSun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SimSun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15896</TotalTime>
  <Words>404</Words>
  <Application>Microsoft Office PowerPoint</Application>
  <PresentationFormat>On-screen Show (4:3)</PresentationFormat>
  <Paragraphs>26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Comic Sans MS</vt:lpstr>
      <vt:lpstr>Tahoma</vt:lpstr>
      <vt:lpstr>Times New Roman</vt:lpstr>
      <vt:lpstr>Wingdings</vt:lpstr>
      <vt:lpstr>Blends</vt:lpstr>
      <vt:lpstr>Cookbook for Practice 3.1</vt:lpstr>
      <vt:lpstr>Nearest Neighbor 最近邻 (1)</vt:lpstr>
      <vt:lpstr>Nearest Neighbor 最近邻 (2)</vt:lpstr>
      <vt:lpstr>Nearest Neighbor 最近邻 (3)</vt:lpstr>
      <vt:lpstr>Run It 运行之</vt:lpstr>
      <vt:lpstr>The End </vt:lpstr>
    </vt:vector>
  </TitlesOfParts>
  <Company>Children's Computer Center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Basics: 1. General Introduction</dc:title>
  <dc:creator>Cong Li</dc:creator>
  <cp:keywords>CTPClassification=CTP_NT</cp:keywords>
  <cp:lastModifiedBy>Li, Cong</cp:lastModifiedBy>
  <cp:revision>1188</cp:revision>
  <dcterms:created xsi:type="dcterms:W3CDTF">2003-03-13T01:36:43Z</dcterms:created>
  <dcterms:modified xsi:type="dcterms:W3CDTF">2023-11-03T23:59:36Z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3a01b7e8-0c50-4c55-8923-07f46a24e22a</vt:lpwstr>
  </property>
  <property fmtid="{D5CDD505-2E9C-101B-9397-08002B2CF9AE}" pid="3" name="CTP_TimeStamp">
    <vt:lpwstr>2019-11-23 10:23:37Z</vt:lpwstr>
  </property>
  <property fmtid="{D5CDD505-2E9C-101B-9397-08002B2CF9AE}" pid="4" name="CTP_BU">
    <vt:lpwstr>NA</vt:lpwstr>
  </property>
  <property fmtid="{D5CDD505-2E9C-101B-9397-08002B2CF9AE}" pid="5" name="CTP_IDSID">
    <vt:lpwstr>NA</vt:lpwstr>
  </property>
  <property fmtid="{D5CDD505-2E9C-101B-9397-08002B2CF9AE}" pid="6" name="CTP_WWID">
    <vt:lpwstr>NA</vt:lpwstr>
  </property>
  <property fmtid="{D5CDD505-2E9C-101B-9397-08002B2CF9AE}" pid="7" name="CTPClassification">
    <vt:lpwstr>CTP_NT</vt:lpwstr>
  </property>
</Properties>
</file>