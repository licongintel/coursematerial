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.xml" ContentType="application/vnd.openxmlformats-officedocument.presentationml.notesSlide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4.xml" ContentType="application/vnd.openxmlformats-officedocument.presentationml.notesSlide+xml"/>
  <Override PartName="/ppt/tags/tag38.xml" ContentType="application/vnd.openxmlformats-officedocument.presentationml.tags+xml"/>
  <Override PartName="/ppt/notesSlides/notesSlide5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6.xml" ContentType="application/vnd.openxmlformats-officedocument.presentationml.notesSlide+xml"/>
  <Override PartName="/ppt/tags/tag41.xml" ContentType="application/vnd.openxmlformats-officedocument.presentationml.tags+xml"/>
  <Override PartName="/ppt/notesSlides/notesSlide7.xml" ContentType="application/vnd.openxmlformats-officedocument.presentationml.notesSlide+xml"/>
  <Override PartName="/ppt/tags/tag42.xml" ContentType="application/vnd.openxmlformats-officedocument.presentationml.tags+xml"/>
  <Override PartName="/ppt/notesSlides/notesSlide8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9.xml" ContentType="application/vnd.openxmlformats-officedocument.presentationml.notesSlide+xml"/>
  <Override PartName="/ppt/tags/tag46.xml" ContentType="application/vnd.openxmlformats-officedocument.presentationml.tags+xml"/>
  <Override PartName="/ppt/notesSlides/notesSlide10.xml" ContentType="application/vnd.openxmlformats-officedocument.presentationml.notesSlide+xml"/>
  <Override PartName="/ppt/tags/tag47.xml" ContentType="application/vnd.openxmlformats-officedocument.presentationml.tags+xml"/>
  <Override PartName="/ppt/notesSlides/notesSlide11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</p:sldMasterIdLst>
  <p:notesMasterIdLst>
    <p:notesMasterId r:id="rId61"/>
  </p:notesMasterIdLst>
  <p:handoutMasterIdLst>
    <p:handoutMasterId r:id="rId62"/>
  </p:handoutMasterIdLst>
  <p:sldIdLst>
    <p:sldId id="286" r:id="rId5"/>
    <p:sldId id="370" r:id="rId6"/>
    <p:sldId id="467" r:id="rId7"/>
    <p:sldId id="468" r:id="rId8"/>
    <p:sldId id="412" r:id="rId9"/>
    <p:sldId id="469" r:id="rId10"/>
    <p:sldId id="470" r:id="rId11"/>
    <p:sldId id="471" r:id="rId12"/>
    <p:sldId id="481" r:id="rId13"/>
    <p:sldId id="472" r:id="rId14"/>
    <p:sldId id="473" r:id="rId15"/>
    <p:sldId id="474" r:id="rId16"/>
    <p:sldId id="475" r:id="rId17"/>
    <p:sldId id="476" r:id="rId18"/>
    <p:sldId id="411" r:id="rId19"/>
    <p:sldId id="477" r:id="rId20"/>
    <p:sldId id="478" r:id="rId21"/>
    <p:sldId id="479" r:id="rId22"/>
    <p:sldId id="497" r:id="rId23"/>
    <p:sldId id="480" r:id="rId24"/>
    <p:sldId id="482" r:id="rId25"/>
    <p:sldId id="484" r:id="rId26"/>
    <p:sldId id="483" r:id="rId27"/>
    <p:sldId id="485" r:id="rId28"/>
    <p:sldId id="486" r:id="rId29"/>
    <p:sldId id="487" r:id="rId30"/>
    <p:sldId id="488" r:id="rId31"/>
    <p:sldId id="489" r:id="rId32"/>
    <p:sldId id="490" r:id="rId33"/>
    <p:sldId id="530" r:id="rId34"/>
    <p:sldId id="491" r:id="rId35"/>
    <p:sldId id="492" r:id="rId36"/>
    <p:sldId id="493" r:id="rId37"/>
    <p:sldId id="498" r:id="rId38"/>
    <p:sldId id="536" r:id="rId39"/>
    <p:sldId id="537" r:id="rId40"/>
    <p:sldId id="398" r:id="rId41"/>
    <p:sldId id="399" r:id="rId42"/>
    <p:sldId id="402" r:id="rId43"/>
    <p:sldId id="417" r:id="rId44"/>
    <p:sldId id="419" r:id="rId45"/>
    <p:sldId id="421" r:id="rId46"/>
    <p:sldId id="426" r:id="rId47"/>
    <p:sldId id="428" r:id="rId48"/>
    <p:sldId id="429" r:id="rId49"/>
    <p:sldId id="538" r:id="rId50"/>
    <p:sldId id="542" r:id="rId51"/>
    <p:sldId id="540" r:id="rId52"/>
    <p:sldId id="541" r:id="rId53"/>
    <p:sldId id="543" r:id="rId54"/>
    <p:sldId id="544" r:id="rId55"/>
    <p:sldId id="539" r:id="rId56"/>
    <p:sldId id="545" r:id="rId57"/>
    <p:sldId id="546" r:id="rId58"/>
    <p:sldId id="466" r:id="rId59"/>
    <p:sldId id="353" r:id="rId60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5D7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2EAFC-19D3-480A-8D4B-D0B41B562223}" v="6" dt="2026-09-06T07:55:43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1" autoAdjust="0"/>
    <p:restoredTop sz="89758" autoAdjust="0"/>
  </p:normalViewPr>
  <p:slideViewPr>
    <p:cSldViewPr>
      <p:cViewPr varScale="1">
        <p:scale>
          <a:sx n="64" d="100"/>
          <a:sy n="64" d="100"/>
        </p:scale>
        <p:origin x="106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 sldOrd">
      <pc:chgData name="Li, Cong" userId="025630f4-267e-4cb3-8cd5-8795177f99f4" providerId="ADAL" clId="{929A2CC8-B112-421C-81E2-D5D63B23E300}" dt="2026-09-06T07:55:43.233" v="26085" actId="20577"/>
      <pc:docMkLst>
        <pc:docMk/>
      </pc:docMkLst>
      <pc:sldChg chg="modSp">
        <pc:chgData name="Li, Cong" userId="025630f4-267e-4cb3-8cd5-8795177f99f4" providerId="ADAL" clId="{929A2CC8-B112-421C-81E2-D5D63B23E300}" dt="2026-09-06T07:55:43.233" v="26085" actId="20577"/>
        <pc:sldMkLst>
          <pc:docMk/>
          <pc:sldMk cId="1564177983" sldId="540"/>
        </pc:sldMkLst>
        <pc:spChg chg="mod">
          <ac:chgData name="Li, Cong" userId="025630f4-267e-4cb3-8cd5-8795177f99f4" providerId="ADAL" clId="{929A2CC8-B112-421C-81E2-D5D63B23E300}" dt="2026-09-06T07:55:43.233" v="26085" actId="20577"/>
          <ac:spMkLst>
            <pc:docMk/>
            <pc:sldMk cId="1564177983" sldId="540"/>
            <ac:spMk id="21" creationId="{D691CA4E-B93D-CDB9-4A1B-6B085346CCD9}"/>
          </ac:spMkLst>
        </pc:spChg>
      </pc:sldChg>
      <pc:sldChg chg="modSp">
        <pc:chgData name="Li, Cong" userId="025630f4-267e-4cb3-8cd5-8795177f99f4" providerId="ADAL" clId="{929A2CC8-B112-421C-81E2-D5D63B23E300}" dt="2026-09-05T05:53:09.574" v="26083"/>
        <pc:sldMkLst>
          <pc:docMk/>
          <pc:sldMk cId="2596997907" sldId="545"/>
        </pc:sldMkLst>
        <pc:spChg chg="mod">
          <ac:chgData name="Li, Cong" userId="025630f4-267e-4cb3-8cd5-8795177f99f4" providerId="ADAL" clId="{929A2CC8-B112-421C-81E2-D5D63B23E300}" dt="2026-09-05T05:53:09.574" v="26083"/>
          <ac:spMkLst>
            <pc:docMk/>
            <pc:sldMk cId="2596997907" sldId="545"/>
            <ac:spMk id="7" creationId="{60D5BDB1-08F2-49A8-A220-CC7715BA7EF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ersonal\newCourse\bifurcation\C\tim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13648293963252"/>
          <c:y val="9.5379965457685678E-2"/>
          <c:w val="0.80964129483814529"/>
          <c:h val="0.7137812274760991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23</c:v>
                </c:pt>
                <c:pt idx="2">
                  <c:v>23</c:v>
                </c:pt>
                <c:pt idx="3">
                  <c:v>25</c:v>
                </c:pt>
                <c:pt idx="4">
                  <c:v>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21E-4221-BD6C-C6C40ED335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9506096"/>
        <c:axId val="919501296"/>
      </c:scatterChart>
      <c:valAx>
        <c:axId val="9195060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Series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501296"/>
        <c:crosses val="autoZero"/>
        <c:crossBetween val="midCat"/>
      </c:valAx>
      <c:valAx>
        <c:axId val="919501296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Time (</a:t>
                </a:r>
                <a:r>
                  <a:rPr lang="en-US" dirty="0" err="1"/>
                  <a:t>ms</a:t>
                </a:r>
                <a:r>
                  <a:rPr lang="en-US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506096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3163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6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40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592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41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631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406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2840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5863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F6BEB-8423-B662-D2B9-CCEE82C6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5C12D-CADF-0133-5CAB-FC9C8CFD0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1E068-A754-3B5D-E94C-C508BB461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24537-4D3C-18EA-160F-9645A3F90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6807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A4A2F-A6CB-788F-3857-882A1E66F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B2803-CC3B-FA59-3A16-E381EB361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5CCC0-5694-77D8-B81C-8E7F4C68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E5012-5EC8-0598-FD56-A1138DAE3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938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8E979-554E-0579-8898-923BAB67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24E7A-AB5E-C9D6-5882-CEC36EFB4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8DA27-497A-547C-AC86-3C71B2015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D8C1D-CB02-8B7C-834A-C008954B7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0517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56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6" Type="http://schemas.openxmlformats.org/officeDocument/2006/relationships/image" Target="../media/image8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tags" Target="../tags/tag4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4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tags" Target="../tags/tag46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14512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How Computing Works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Modern Paradigms of Architecture &amp; System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3. Parallelism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74423"/>
            <a:ext cx="82296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计算如何运作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架构与系统的现代范式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3. </a:t>
            </a:r>
            <a:r>
              <a:rPr lang="zh-CN" altLang="en-US" sz="3600" b="1" kern="0" dirty="0">
                <a:ea typeface="SimSun" panose="02010600030101010101" pitchFamily="2" charset="-122"/>
              </a:rPr>
              <a:t>并行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 Recall …  </a:t>
            </a:r>
            <a:r>
              <a:rPr lang="zh-CN" altLang="en-US" dirty="0"/>
              <a:t>让我们回忆</a:t>
            </a:r>
            <a:r>
              <a:rPr lang="en-US" altLang="zh-CN" dirty="0"/>
              <a:t>……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1D823-59E3-4307-88B6-15D9752672FA}"/>
              </a:ext>
            </a:extLst>
          </p:cNvPr>
          <p:cNvSpPr txBox="1"/>
          <p:nvPr/>
        </p:nvSpPr>
        <p:spPr>
          <a:xfrm>
            <a:off x="415290" y="1676400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How do we calculate multiple series?</a:t>
            </a:r>
          </a:p>
          <a:p>
            <a:pPr algn="ctr"/>
            <a:r>
              <a:rPr lang="zh-CN" altLang="en-US" sz="2800" dirty="0"/>
              <a:t>我们如何计算多个数列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22DB3-4889-792B-BD53-6E1BFBE11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19246"/>
            <a:ext cx="5730087" cy="101455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C2759BB-B7E4-8B41-AB7A-3EF6BABA5D7F}"/>
              </a:ext>
            </a:extLst>
          </p:cNvPr>
          <p:cNvSpPr/>
          <p:nvPr/>
        </p:nvSpPr>
        <p:spPr bwMode="auto">
          <a:xfrm>
            <a:off x="1523999" y="3074256"/>
            <a:ext cx="5080001" cy="64261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9E0726-4C40-8B5E-F97A-A6422FA654C0}"/>
              </a:ext>
            </a:extLst>
          </p:cNvPr>
          <p:cNvCxnSpPr>
            <a:cxnSpLocks/>
            <a:stCxn id="20" idx="0"/>
            <a:endCxn id="18" idx="2"/>
          </p:cNvCxnSpPr>
          <p:nvPr/>
        </p:nvCxnSpPr>
        <p:spPr bwMode="auto">
          <a:xfrm flipH="1" flipV="1">
            <a:off x="4064000" y="3716868"/>
            <a:ext cx="11776" cy="8968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6A0ADF-03EB-12BE-4819-D8311BC90935}"/>
              </a:ext>
            </a:extLst>
          </p:cNvPr>
          <p:cNvSpPr txBox="1"/>
          <p:nvPr/>
        </p:nvSpPr>
        <p:spPr>
          <a:xfrm>
            <a:off x="216894" y="4613701"/>
            <a:ext cx="7717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Inner loop - iterative calculation: the next iteration depends on the result of the current iteration </a:t>
            </a:r>
          </a:p>
          <a:p>
            <a:pPr algn="ctr"/>
            <a:r>
              <a:rPr lang="zh-CN" altLang="en-US" sz="2400" dirty="0"/>
              <a:t>内重循环 </a:t>
            </a:r>
            <a:r>
              <a:rPr lang="en-US" altLang="zh-CN" sz="2400" dirty="0"/>
              <a:t>– </a:t>
            </a:r>
            <a:r>
              <a:rPr lang="zh-CN" altLang="en-US" sz="2400" dirty="0"/>
              <a:t>迭代计算：下一轮依赖于这一轮的计算结果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089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E6297-2A96-9F72-D79B-EF15996C9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93C6-FE48-4841-6DA9-7E0653A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 Recall …  </a:t>
            </a:r>
            <a:r>
              <a:rPr lang="zh-CN" altLang="en-US" dirty="0"/>
              <a:t>让我们回忆</a:t>
            </a:r>
            <a:r>
              <a:rPr lang="en-US" altLang="zh-CN" dirty="0"/>
              <a:t>……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B3C5-157E-883F-A1CC-273ABFDB13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4E427-5B40-BA4B-526B-CF77D0621507}"/>
              </a:ext>
            </a:extLst>
          </p:cNvPr>
          <p:cNvSpPr txBox="1"/>
          <p:nvPr/>
        </p:nvSpPr>
        <p:spPr>
          <a:xfrm>
            <a:off x="415290" y="1676400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How do we calculate multiple series?</a:t>
            </a:r>
          </a:p>
          <a:p>
            <a:pPr algn="ctr"/>
            <a:r>
              <a:rPr lang="zh-CN" altLang="en-US" sz="2800" dirty="0"/>
              <a:t>我们如何计算多个数列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11487A-987F-0D17-8F44-0B5FBD17A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19246"/>
            <a:ext cx="5730087" cy="101455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3C1DA04-CCC0-B1A5-4BD4-FFCE2A8AFA84}"/>
              </a:ext>
            </a:extLst>
          </p:cNvPr>
          <p:cNvSpPr/>
          <p:nvPr/>
        </p:nvSpPr>
        <p:spPr bwMode="auto">
          <a:xfrm>
            <a:off x="933449" y="2749152"/>
            <a:ext cx="3531871" cy="308374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E9AE90-BE69-522D-BCDB-9F1BD3609650}"/>
              </a:ext>
            </a:extLst>
          </p:cNvPr>
          <p:cNvCxnSpPr>
            <a:cxnSpLocks/>
            <a:stCxn id="20" idx="0"/>
            <a:endCxn id="18" idx="2"/>
          </p:cNvCxnSpPr>
          <p:nvPr/>
        </p:nvCxnSpPr>
        <p:spPr bwMode="auto">
          <a:xfrm flipH="1" flipV="1">
            <a:off x="2699385" y="3057526"/>
            <a:ext cx="740857" cy="12096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BD62AF-3320-ED96-1EE9-2515DDF487D3}"/>
              </a:ext>
            </a:extLst>
          </p:cNvPr>
          <p:cNvSpPr txBox="1"/>
          <p:nvPr/>
        </p:nvSpPr>
        <p:spPr>
          <a:xfrm>
            <a:off x="251083" y="4267200"/>
            <a:ext cx="6378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Outer loop – walk through multiple series </a:t>
            </a:r>
          </a:p>
          <a:p>
            <a:pPr algn="ctr"/>
            <a:r>
              <a:rPr lang="zh-CN" altLang="en-US" sz="2400" dirty="0"/>
              <a:t>内重循环 </a:t>
            </a:r>
            <a:r>
              <a:rPr lang="en-US" altLang="zh-CN" sz="2400" dirty="0"/>
              <a:t>– </a:t>
            </a:r>
            <a:r>
              <a:rPr lang="zh-CN" altLang="en-US" sz="2400" dirty="0"/>
              <a:t>遍历各个数列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2159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A2A8-8BED-B014-3433-70EAFEF8A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CFA6-E615-1ABD-BC59-738978F7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 Recall …  </a:t>
            </a:r>
            <a:r>
              <a:rPr lang="zh-CN" altLang="en-US" dirty="0"/>
              <a:t>让我们回忆</a:t>
            </a:r>
            <a:r>
              <a:rPr lang="en-US" altLang="zh-CN" dirty="0"/>
              <a:t>……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DA74F-CE00-29E2-E909-3E783BF9B1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BF939-5FCF-B640-75F1-286128ED1A5A}"/>
              </a:ext>
            </a:extLst>
          </p:cNvPr>
          <p:cNvSpPr txBox="1"/>
          <p:nvPr/>
        </p:nvSpPr>
        <p:spPr>
          <a:xfrm>
            <a:off x="415290" y="1676400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How do we calculate multiple series?</a:t>
            </a:r>
          </a:p>
          <a:p>
            <a:pPr algn="ctr"/>
            <a:r>
              <a:rPr lang="zh-CN" altLang="en-US" sz="2800" dirty="0"/>
              <a:t>我们如何计算多个数列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9EEB3C-78AB-717C-BCF1-E1F0E279A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19246"/>
            <a:ext cx="5730087" cy="10145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FEBAEE-8D62-A9E8-84AD-2526DEFA2424}"/>
              </a:ext>
            </a:extLst>
          </p:cNvPr>
          <p:cNvSpPr txBox="1"/>
          <p:nvPr/>
        </p:nvSpPr>
        <p:spPr>
          <a:xfrm>
            <a:off x="415290" y="3962400"/>
            <a:ext cx="83134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What we’re running: A sequential execution flow, series by series, iteration by iteration inside</a:t>
            </a:r>
          </a:p>
          <a:p>
            <a:pPr algn="ctr"/>
            <a:r>
              <a:rPr lang="zh-CN" altLang="en-US" sz="2800" dirty="0"/>
              <a:t>我们运行的是一个串行执行的流程：一个个数列串行执行，数列内又是一个个迭代串行执行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166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3.1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3.1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let’s change it</a:t>
            </a:r>
          </a:p>
          <a:p>
            <a:pPr algn="ctr"/>
            <a:r>
              <a:rPr lang="zh-CN" altLang="en-US" sz="2200" dirty="0"/>
              <a:t>实践时刻：变化一下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Re-order the loop, Python first</a:t>
            </a:r>
          </a:p>
          <a:p>
            <a:pPr algn="ctr"/>
            <a:r>
              <a:rPr lang="zh-CN" altLang="en-US" sz="2200" dirty="0"/>
              <a:t>重排循环，先从</a:t>
            </a:r>
            <a:r>
              <a:rPr lang="en-US" altLang="zh-CN" sz="2200" dirty="0"/>
              <a:t>Python</a:t>
            </a:r>
            <a:r>
              <a:rPr lang="zh-CN" altLang="en-US" sz="2200" dirty="0"/>
              <a:t>开始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38A0C3C-CF8B-E8B4-834E-913DB82128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959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0E4F7-87EE-DDEC-32D7-0CC92D7C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7F5822-A513-5C45-C0EA-6B9C36261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92385"/>
            <a:ext cx="5658639" cy="10002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8AFF43-EB5A-F226-3829-C6FA94BE2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 Runs Faster</a:t>
            </a:r>
            <a:br>
              <a:rPr lang="en-US" altLang="zh-CN" dirty="0"/>
            </a:br>
            <a:r>
              <a:rPr lang="zh-CN" altLang="en-US" dirty="0"/>
              <a:t>程序跑得快了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282AC-1EA2-8C63-5DB2-B9A26F623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E07DFB-3252-EB1E-FF51-0D776028665A}"/>
              </a:ext>
            </a:extLst>
          </p:cNvPr>
          <p:cNvSpPr/>
          <p:nvPr/>
        </p:nvSpPr>
        <p:spPr bwMode="auto">
          <a:xfrm>
            <a:off x="923926" y="2011648"/>
            <a:ext cx="4010024" cy="302927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187853-EAD2-10C3-B4AF-789BC8F5AAD3}"/>
              </a:ext>
            </a:extLst>
          </p:cNvPr>
          <p:cNvCxnSpPr>
            <a:cxnSpLocks/>
            <a:stCxn id="20" idx="0"/>
            <a:endCxn id="18" idx="2"/>
          </p:cNvCxnSpPr>
          <p:nvPr/>
        </p:nvCxnSpPr>
        <p:spPr bwMode="auto">
          <a:xfrm flipH="1" flipV="1">
            <a:off x="2928938" y="2314575"/>
            <a:ext cx="701344" cy="12988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F0AF0E-3B2D-1B4D-EEB8-7B9A9F6B6275}"/>
              </a:ext>
            </a:extLst>
          </p:cNvPr>
          <p:cNvSpPr txBox="1"/>
          <p:nvPr/>
        </p:nvSpPr>
        <p:spPr>
          <a:xfrm>
            <a:off x="-228600" y="3613435"/>
            <a:ext cx="7717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Iterative calculation now from the outer loop</a:t>
            </a:r>
          </a:p>
          <a:p>
            <a:pPr algn="ctr"/>
            <a:r>
              <a:rPr lang="zh-CN" altLang="en-US" sz="2400" dirty="0"/>
              <a:t>迭代计算现在由外重循环处理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01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5B6A-2EA1-50E4-83C1-9AC5BAD3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A6E623-F28D-5A9D-A018-2A4786523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92385"/>
            <a:ext cx="5658639" cy="10002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908CF7-2C5A-6794-95B1-21334656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 Runs Faster</a:t>
            </a:r>
            <a:br>
              <a:rPr lang="en-US" altLang="zh-CN" dirty="0"/>
            </a:br>
            <a:r>
              <a:rPr lang="zh-CN" altLang="en-US" dirty="0"/>
              <a:t>程序跑得快了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89067-8B8D-8FD2-6519-D08010C615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89B2F0-A060-6E67-D1BC-0FFD14647F97}"/>
              </a:ext>
            </a:extLst>
          </p:cNvPr>
          <p:cNvSpPr/>
          <p:nvPr/>
        </p:nvSpPr>
        <p:spPr bwMode="auto">
          <a:xfrm>
            <a:off x="1524000" y="2341054"/>
            <a:ext cx="5016500" cy="63074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75C115E-BFB7-0F6E-2448-D572E9280197}"/>
              </a:ext>
            </a:extLst>
          </p:cNvPr>
          <p:cNvCxnSpPr>
            <a:cxnSpLocks/>
            <a:stCxn id="20" idx="0"/>
            <a:endCxn id="18" idx="2"/>
          </p:cNvCxnSpPr>
          <p:nvPr/>
        </p:nvCxnSpPr>
        <p:spPr bwMode="auto">
          <a:xfrm flipV="1">
            <a:off x="4032250" y="2971800"/>
            <a:ext cx="0" cy="6543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A4CD6B-2E80-2723-FB8F-BE9134F10EB1}"/>
              </a:ext>
            </a:extLst>
          </p:cNvPr>
          <p:cNvSpPr txBox="1"/>
          <p:nvPr/>
        </p:nvSpPr>
        <p:spPr>
          <a:xfrm>
            <a:off x="173368" y="3626135"/>
            <a:ext cx="7717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Inner loop deals w/ multiple </a:t>
            </a:r>
            <a:r>
              <a:rPr lang="en-US" altLang="zh-CN" sz="2400" b="1" dirty="0"/>
              <a:t>independent</a:t>
            </a:r>
            <a:r>
              <a:rPr lang="en-US" altLang="zh-CN" sz="2400" dirty="0"/>
              <a:t> series </a:t>
            </a:r>
          </a:p>
          <a:p>
            <a:pPr algn="ctr"/>
            <a:r>
              <a:rPr lang="zh-CN" altLang="en-US" sz="2400" dirty="0"/>
              <a:t>内重循环处理多个</a:t>
            </a:r>
            <a:r>
              <a:rPr lang="zh-CN" altLang="en-US" sz="2400" b="1" dirty="0"/>
              <a:t>独立</a:t>
            </a:r>
            <a:r>
              <a:rPr lang="zh-CN" altLang="en-US" sz="2400" dirty="0"/>
              <a:t>的数字序列</a:t>
            </a:r>
            <a:endParaRPr lang="en-US" altLang="zh-C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2DAD6-7125-D566-FCF4-C5BCAC3AE8FF}"/>
              </a:ext>
            </a:extLst>
          </p:cNvPr>
          <p:cNvSpPr txBox="1"/>
          <p:nvPr/>
        </p:nvSpPr>
        <p:spPr>
          <a:xfrm>
            <a:off x="713118" y="4648200"/>
            <a:ext cx="7717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How does that help the acceleration?</a:t>
            </a:r>
          </a:p>
          <a:p>
            <a:pPr algn="ctr"/>
            <a:r>
              <a:rPr lang="zh-CN" altLang="en-US" sz="2400" dirty="0"/>
              <a:t>这种改变如何带来执行的加速？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034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43EF3-7CC0-5901-CD1C-B525CF5C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1DE3-427C-E04B-EB0B-9238DD592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3.2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3.2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98F72-0D04-8AED-1694-5E8882B2E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03E1F2-9092-C403-003A-967A38AD3090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let’s try C/C++</a:t>
            </a:r>
          </a:p>
          <a:p>
            <a:pPr algn="ctr"/>
            <a:r>
              <a:rPr lang="zh-CN" altLang="en-US" sz="2200" dirty="0"/>
              <a:t>实践时刻：我们来试试</a:t>
            </a:r>
            <a:r>
              <a:rPr lang="en-US" altLang="zh-CN" sz="2200" dirty="0"/>
              <a:t>C/C++</a:t>
            </a:r>
            <a:endParaRPr lang="zh-CN" altLang="en-US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068506-B336-CB0B-60E8-1F4D5FC19F1F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 us to examine the content of the compiled executable</a:t>
            </a:r>
          </a:p>
          <a:p>
            <a:pPr algn="ctr"/>
            <a:r>
              <a:rPr lang="zh-CN" altLang="en-US" sz="2200" dirty="0"/>
              <a:t>便于我们查看编译后的可执行文件内容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942DB95-443E-E012-6F29-533B7378CC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226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07B1-E950-0F62-2DB3-DDA3875C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C0E7-1EEA-5726-4045-08AB6814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Execution  Efficiency  </a:t>
            </a:r>
            <a:r>
              <a:rPr lang="zh-CN" altLang="en-US" dirty="0"/>
              <a:t>执行效率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B75BA-BB8F-011D-C17A-449B9F8CB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CPU Execution  CPU</a:t>
            </a:r>
            <a:r>
              <a:rPr lang="zh-CN" altLang="en-US" dirty="0"/>
              <a:t>执行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Driven by CPU clock cycles  </a:t>
            </a:r>
            <a:br>
              <a:rPr lang="en-US" altLang="zh-CN" dirty="0"/>
            </a:br>
            <a:r>
              <a:rPr lang="zh-CN" altLang="en-US" dirty="0"/>
              <a:t>由</a:t>
            </a:r>
            <a:r>
              <a:rPr lang="en-US" altLang="zh-CN" dirty="0"/>
              <a:t>CPU</a:t>
            </a:r>
            <a:r>
              <a:rPr lang="zh-CN" altLang="en-US" dirty="0"/>
              <a:t>时钟周期驱动</a:t>
            </a:r>
            <a:endParaRPr lang="en-US" altLang="zh-CN" dirty="0"/>
          </a:p>
          <a:p>
            <a:r>
              <a:rPr lang="en-US" altLang="zh-CN" dirty="0"/>
              <a:t>Execution Efficiency Governed by</a:t>
            </a:r>
            <a:br>
              <a:rPr lang="en-US" altLang="zh-CN" dirty="0"/>
            </a:br>
            <a:r>
              <a:rPr lang="zh-CN" altLang="en-US" dirty="0"/>
              <a:t>执行效率取决于</a:t>
            </a:r>
            <a:endParaRPr lang="en-US" altLang="zh-CN" dirty="0"/>
          </a:p>
          <a:p>
            <a:pPr lvl="1"/>
            <a:r>
              <a:rPr lang="en-US" altLang="zh-CN" dirty="0"/>
              <a:t>How many instructions executed in those cycles  </a:t>
            </a:r>
            <a:r>
              <a:rPr lang="zh-CN" altLang="en-US" dirty="0"/>
              <a:t>这些周期内执行了多少指令</a:t>
            </a:r>
            <a:endParaRPr lang="en-US" altLang="zh-CN" dirty="0"/>
          </a:p>
          <a:p>
            <a:pPr lvl="1"/>
            <a:r>
              <a:rPr lang="en-US" altLang="zh-CN" dirty="0"/>
              <a:t>How much work done by the instructions  </a:t>
            </a:r>
            <a:r>
              <a:rPr lang="zh-CN" altLang="en-US" dirty="0"/>
              <a:t>这些指令完成了多少工作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C39CC-EAB9-71AC-FF45-69247EB3B8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249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A6F6-1EF2-B922-D103-8685A111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37DB-912F-4252-DF56-763A50A1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9138E-2A46-7A02-A7B7-1D095D36C2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B7265F-A600-3C5D-F4E4-DD4F8EAD6152}"/>
              </a:ext>
            </a:extLst>
          </p:cNvPr>
          <p:cNvSpPr/>
          <p:nvPr/>
        </p:nvSpPr>
        <p:spPr bwMode="auto">
          <a:xfrm>
            <a:off x="4419600" y="2628900"/>
            <a:ext cx="4876800" cy="22479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vmulpd</a:t>
            </a:r>
            <a:r>
              <a:rPr lang="en-US" altLang="zh-CN" sz="2000" dirty="0">
                <a:latin typeface="Consolas" panose="020B0609020204030204" pitchFamily="49" charset="0"/>
              </a:rPr>
              <a:t> %ymm2,%ymm5,%ymm2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vfnmadd213pd %ymm0,%ymm19,%ymm2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vmovupd</a:t>
            </a:r>
            <a:r>
              <a:rPr lang="en-US" altLang="zh-CN" sz="2000" dirty="0">
                <a:latin typeface="Consolas" panose="020B0609020204030204" pitchFamily="49" charset="0"/>
              </a:rPr>
              <a:t> %ymm2,(%rax,%rcx,1)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8CC8B1-B679-8435-72AA-7B665FEADB3B}"/>
              </a:ext>
            </a:extLst>
          </p:cNvPr>
          <p:cNvSpPr/>
          <p:nvPr/>
        </p:nvSpPr>
        <p:spPr bwMode="auto">
          <a:xfrm>
            <a:off x="533400" y="2400300"/>
            <a:ext cx="2971800" cy="1943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%xmm6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movapd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%xmm8,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latin typeface="Consolas" panose="020B0609020204030204" pitchFamily="49" charset="0"/>
              </a:rPr>
              <a:t>s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ubpd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D2A6C-BB98-16A1-2881-AC8DE903078C}"/>
              </a:ext>
            </a:extLst>
          </p:cNvPr>
          <p:cNvSpPr txBox="1"/>
          <p:nvPr/>
        </p:nvSpPr>
        <p:spPr>
          <a:xfrm>
            <a:off x="0" y="1600200"/>
            <a:ext cx="370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</a:t>
            </a:r>
          </a:p>
          <a:p>
            <a:pPr algn="ctr"/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BB0F95-BF21-0F30-487A-488459474D19}"/>
              </a:ext>
            </a:extLst>
          </p:cNvPr>
          <p:cNvSpPr txBox="1"/>
          <p:nvPr/>
        </p:nvSpPr>
        <p:spPr>
          <a:xfrm>
            <a:off x="4343400" y="1600199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</a:t>
            </a:r>
          </a:p>
          <a:p>
            <a:pPr algn="ctr"/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1C2D3-A24F-694F-529F-939524F21CBC}"/>
              </a:ext>
            </a:extLst>
          </p:cNvPr>
          <p:cNvSpPr txBox="1"/>
          <p:nvPr/>
        </p:nvSpPr>
        <p:spPr>
          <a:xfrm>
            <a:off x="906831" y="5044586"/>
            <a:ext cx="7332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>
                <a:latin typeface="Consolas" panose="020B0609020204030204" pitchFamily="49" charset="0"/>
              </a:rPr>
              <a:t>mul</a:t>
            </a:r>
            <a:r>
              <a:rPr lang="en-US" altLang="zh-CN" sz="2800" dirty="0"/>
              <a:t>:  multiplication  </a:t>
            </a:r>
            <a:r>
              <a:rPr lang="zh-CN" altLang="en-US" sz="2800" dirty="0"/>
              <a:t>乘法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01FC3E-860D-E935-8478-EA9CB3B99838}"/>
              </a:ext>
            </a:extLst>
          </p:cNvPr>
          <p:cNvSpPr/>
          <p:nvPr/>
        </p:nvSpPr>
        <p:spPr bwMode="auto">
          <a:xfrm>
            <a:off x="601908" y="2752636"/>
            <a:ext cx="452192" cy="612864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50EFA1-CF24-6806-82F2-D110BE16522E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 bwMode="auto">
          <a:xfrm flipH="1" flipV="1">
            <a:off x="828004" y="3365500"/>
            <a:ext cx="3744912" cy="16790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38432-6DAC-E836-8603-01AF933E6197}"/>
              </a:ext>
            </a:extLst>
          </p:cNvPr>
          <p:cNvSpPr/>
          <p:nvPr/>
        </p:nvSpPr>
        <p:spPr bwMode="auto">
          <a:xfrm>
            <a:off x="4622836" y="2996260"/>
            <a:ext cx="417542" cy="25923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658337-0628-075A-ADB5-2CE6811DE356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 bwMode="auto">
          <a:xfrm flipV="1">
            <a:off x="4572916" y="3255492"/>
            <a:ext cx="258691" cy="17890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4537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1" grpId="0"/>
      <p:bldP spid="12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A985F-74BC-0D49-31E5-FC8AB816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E3D7-75AE-7C03-18D0-0E6C59DE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84F0E-6AD7-6329-68F5-0069CA2D32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9BE17E-935B-3E8D-CC52-C145DFFF9FE2}"/>
              </a:ext>
            </a:extLst>
          </p:cNvPr>
          <p:cNvSpPr/>
          <p:nvPr/>
        </p:nvSpPr>
        <p:spPr bwMode="auto">
          <a:xfrm>
            <a:off x="4419600" y="2628900"/>
            <a:ext cx="4876800" cy="22479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vmulpd</a:t>
            </a:r>
            <a:r>
              <a:rPr lang="en-US" altLang="zh-CN" sz="2000" dirty="0">
                <a:latin typeface="Consolas" panose="020B0609020204030204" pitchFamily="49" charset="0"/>
              </a:rPr>
              <a:t> %ymm2,%ymm5,%ymm2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vfnmadd213pd %ymm0,%ymm19,%ymm2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vmovupd</a:t>
            </a:r>
            <a:r>
              <a:rPr lang="en-US" altLang="zh-CN" sz="2000" dirty="0">
                <a:latin typeface="Consolas" panose="020B0609020204030204" pitchFamily="49" charset="0"/>
              </a:rPr>
              <a:t> %ymm2,(%rax,%rcx,1)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FA8FBD-39F6-E3DB-7158-B2C3CE282E54}"/>
              </a:ext>
            </a:extLst>
          </p:cNvPr>
          <p:cNvSpPr/>
          <p:nvPr/>
        </p:nvSpPr>
        <p:spPr bwMode="auto">
          <a:xfrm>
            <a:off x="533400" y="2400300"/>
            <a:ext cx="2971800" cy="1943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%xmm6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movapd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%xmm8,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latin typeface="Consolas" panose="020B0609020204030204" pitchFamily="49" charset="0"/>
              </a:rPr>
              <a:t>s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ubpd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D85944-8F5C-6622-8007-E4FC9D489FF7}"/>
              </a:ext>
            </a:extLst>
          </p:cNvPr>
          <p:cNvSpPr txBox="1"/>
          <p:nvPr/>
        </p:nvSpPr>
        <p:spPr>
          <a:xfrm>
            <a:off x="0" y="1600200"/>
            <a:ext cx="370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</a:t>
            </a:r>
          </a:p>
          <a:p>
            <a:pPr algn="ctr"/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A3AD82-7DE0-A79A-F798-CE7C257D991F}"/>
              </a:ext>
            </a:extLst>
          </p:cNvPr>
          <p:cNvSpPr txBox="1"/>
          <p:nvPr/>
        </p:nvSpPr>
        <p:spPr>
          <a:xfrm>
            <a:off x="4343400" y="1600199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</a:t>
            </a:r>
          </a:p>
          <a:p>
            <a:pPr algn="ctr"/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B816DA-7ED1-024F-2178-5BF7E528A611}"/>
              </a:ext>
            </a:extLst>
          </p:cNvPr>
          <p:cNvSpPr txBox="1"/>
          <p:nvPr/>
        </p:nvSpPr>
        <p:spPr>
          <a:xfrm>
            <a:off x="1295400" y="5107113"/>
            <a:ext cx="5410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</a:rPr>
              <a:t>mov</a:t>
            </a:r>
            <a:r>
              <a:rPr lang="en-US" altLang="zh-CN" sz="2800" dirty="0"/>
              <a:t>:  think as variable assignment  </a:t>
            </a:r>
            <a:r>
              <a:rPr lang="zh-CN" altLang="en-US" sz="2800" dirty="0"/>
              <a:t>想象成变量赋值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8F4638-99B1-A3CE-B257-B0C30CA8668B}"/>
              </a:ext>
            </a:extLst>
          </p:cNvPr>
          <p:cNvSpPr/>
          <p:nvPr/>
        </p:nvSpPr>
        <p:spPr bwMode="auto">
          <a:xfrm>
            <a:off x="601907" y="3380776"/>
            <a:ext cx="456425" cy="268357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DA29F1-A46C-B4D3-0C9C-CF2C74D0C4DE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 bwMode="auto">
          <a:xfrm flipH="1" flipV="1">
            <a:off x="830120" y="3649133"/>
            <a:ext cx="3170380" cy="14579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5DC317F-B83D-7BB7-2887-C5A0098243B1}"/>
              </a:ext>
            </a:extLst>
          </p:cNvPr>
          <p:cNvSpPr/>
          <p:nvPr/>
        </p:nvSpPr>
        <p:spPr bwMode="auto">
          <a:xfrm>
            <a:off x="4648200" y="4236568"/>
            <a:ext cx="417542" cy="25923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2F4BAE-8500-1DC4-5007-5E2877E2FA46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 bwMode="auto">
          <a:xfrm flipV="1">
            <a:off x="4000500" y="4495800"/>
            <a:ext cx="856471" cy="6113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46124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B449-D94B-97A6-78E5-BF176237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118E-4380-6AA7-2FD8-3886C797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1B214-973E-FB8B-0F9D-2BD5DA0975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1B988-AA1C-7988-788F-1D6878E55198}"/>
              </a:ext>
            </a:extLst>
          </p:cNvPr>
          <p:cNvSpPr/>
          <p:nvPr/>
        </p:nvSpPr>
        <p:spPr bwMode="auto">
          <a:xfrm>
            <a:off x="4419600" y="2628900"/>
            <a:ext cx="4876800" cy="22479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vmulpd</a:t>
            </a:r>
            <a:r>
              <a:rPr lang="en-US" altLang="zh-CN" sz="2000" dirty="0">
                <a:latin typeface="Consolas" panose="020B0609020204030204" pitchFamily="49" charset="0"/>
              </a:rPr>
              <a:t> %ymm2,%ymm5,%ymm2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vfnmadd213pd %ymm0,%ymm19,%ymm2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vmovupd</a:t>
            </a:r>
            <a:r>
              <a:rPr lang="en-US" altLang="zh-CN" sz="2000" dirty="0">
                <a:latin typeface="Consolas" panose="020B0609020204030204" pitchFamily="49" charset="0"/>
              </a:rPr>
              <a:t> %ymm2,(%rax,%rcx,1)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FF3D1-8A7D-1526-3871-57DC04D133AB}"/>
              </a:ext>
            </a:extLst>
          </p:cNvPr>
          <p:cNvSpPr/>
          <p:nvPr/>
        </p:nvSpPr>
        <p:spPr bwMode="auto">
          <a:xfrm>
            <a:off x="533400" y="2400300"/>
            <a:ext cx="2971800" cy="1943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%xmm6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movapd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%xmm8,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latin typeface="Consolas" panose="020B0609020204030204" pitchFamily="49" charset="0"/>
              </a:rPr>
              <a:t>s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ubpd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58E2D-8E48-13EB-E043-D4E6181620DB}"/>
              </a:ext>
            </a:extLst>
          </p:cNvPr>
          <p:cNvSpPr txBox="1"/>
          <p:nvPr/>
        </p:nvSpPr>
        <p:spPr>
          <a:xfrm>
            <a:off x="0" y="1600200"/>
            <a:ext cx="370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</a:t>
            </a:r>
          </a:p>
          <a:p>
            <a:pPr algn="ctr"/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C46E0-F8E7-F89F-2587-A2EC46B0AE27}"/>
              </a:ext>
            </a:extLst>
          </p:cNvPr>
          <p:cNvSpPr txBox="1"/>
          <p:nvPr/>
        </p:nvSpPr>
        <p:spPr>
          <a:xfrm>
            <a:off x="4343400" y="1600199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</a:t>
            </a:r>
          </a:p>
          <a:p>
            <a:pPr algn="ctr"/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CC63A-41A8-FA7C-2ECA-8A929F776649}"/>
              </a:ext>
            </a:extLst>
          </p:cNvPr>
          <p:cNvSpPr txBox="1"/>
          <p:nvPr/>
        </p:nvSpPr>
        <p:spPr>
          <a:xfrm>
            <a:off x="326571" y="5317319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</a:rPr>
              <a:t>sub</a:t>
            </a:r>
            <a:r>
              <a:rPr lang="en-US" altLang="zh-CN" sz="2800" dirty="0"/>
              <a:t>:  subtraction  </a:t>
            </a:r>
            <a:r>
              <a:rPr lang="zh-CN" altLang="en-US" sz="2800" dirty="0"/>
              <a:t>减法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B1BD16-BC9F-A454-26B6-FD4F7041F6FC}"/>
              </a:ext>
            </a:extLst>
          </p:cNvPr>
          <p:cNvSpPr/>
          <p:nvPr/>
        </p:nvSpPr>
        <p:spPr bwMode="auto">
          <a:xfrm>
            <a:off x="601907" y="3696531"/>
            <a:ext cx="456425" cy="268357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9D4AF0-D324-C7A7-EBF9-8671299CCDF6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 bwMode="auto">
          <a:xfrm flipH="1" flipV="1">
            <a:off x="830120" y="3964888"/>
            <a:ext cx="1553851" cy="13524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1882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89A6-3640-C89B-7440-B000DE49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36DC-A4F3-2A68-0689-86FD4088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FF5AA-0638-88F1-18B3-74D9E82F22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B85E5A-5811-244F-90A5-6B98FABC5D60}"/>
              </a:ext>
            </a:extLst>
          </p:cNvPr>
          <p:cNvSpPr/>
          <p:nvPr/>
        </p:nvSpPr>
        <p:spPr bwMode="auto">
          <a:xfrm>
            <a:off x="4419600" y="2628900"/>
            <a:ext cx="4876800" cy="22479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vmulpd</a:t>
            </a:r>
            <a:r>
              <a:rPr lang="en-US" altLang="zh-CN" sz="2000" dirty="0">
                <a:latin typeface="Consolas" panose="020B0609020204030204" pitchFamily="49" charset="0"/>
              </a:rPr>
              <a:t> %ymm2,%ymm5,%ymm2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vfnmadd213pd %ymm0,%ymm19,%ymm2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vmovupd</a:t>
            </a:r>
            <a:r>
              <a:rPr lang="en-US" altLang="zh-CN" sz="2000" dirty="0">
                <a:latin typeface="Consolas" panose="020B0609020204030204" pitchFamily="49" charset="0"/>
              </a:rPr>
              <a:t> %ymm2,(%rax,%rcx,1)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87879C-C75B-7810-3009-BBCAEA838055}"/>
              </a:ext>
            </a:extLst>
          </p:cNvPr>
          <p:cNvSpPr/>
          <p:nvPr/>
        </p:nvSpPr>
        <p:spPr bwMode="auto">
          <a:xfrm>
            <a:off x="533400" y="2400300"/>
            <a:ext cx="2971800" cy="1943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%xmm6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movapd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%xmm8,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latin typeface="Consolas" panose="020B0609020204030204" pitchFamily="49" charset="0"/>
              </a:rPr>
              <a:t>s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ubpd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EA5EA-96CF-48B3-B566-B931785E90F6}"/>
              </a:ext>
            </a:extLst>
          </p:cNvPr>
          <p:cNvSpPr txBox="1"/>
          <p:nvPr/>
        </p:nvSpPr>
        <p:spPr>
          <a:xfrm>
            <a:off x="0" y="1600200"/>
            <a:ext cx="370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</a:t>
            </a:r>
          </a:p>
          <a:p>
            <a:pPr algn="ctr"/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3952AA-EA4D-5048-160D-82B03B59CED5}"/>
              </a:ext>
            </a:extLst>
          </p:cNvPr>
          <p:cNvSpPr txBox="1"/>
          <p:nvPr/>
        </p:nvSpPr>
        <p:spPr>
          <a:xfrm>
            <a:off x="4343400" y="1600199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</a:t>
            </a:r>
          </a:p>
          <a:p>
            <a:pPr algn="ctr"/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820A5-C757-6FB9-76CC-44C106ABD2AB}"/>
              </a:ext>
            </a:extLst>
          </p:cNvPr>
          <p:cNvSpPr txBox="1"/>
          <p:nvPr/>
        </p:nvSpPr>
        <p:spPr>
          <a:xfrm>
            <a:off x="1240970" y="5141893"/>
            <a:ext cx="5693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>
                <a:latin typeface="Consolas" panose="020B0609020204030204" pitchFamily="49" charset="0"/>
              </a:rPr>
              <a:t>fnmadd</a:t>
            </a:r>
            <a:r>
              <a:rPr lang="en-US" altLang="zh-CN" sz="2800" dirty="0"/>
              <a:t>:  multiplication, negation, &amp; add  </a:t>
            </a:r>
            <a:r>
              <a:rPr lang="zh-CN" altLang="en-US" sz="2800" dirty="0"/>
              <a:t>先乘，取负，再加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FA0E5B-803D-778F-D59A-08268978F545}"/>
              </a:ext>
            </a:extLst>
          </p:cNvPr>
          <p:cNvSpPr/>
          <p:nvPr/>
        </p:nvSpPr>
        <p:spPr bwMode="auto">
          <a:xfrm>
            <a:off x="4648200" y="3618671"/>
            <a:ext cx="838200" cy="267529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30EF6E-8D5A-E737-3C41-1FDEC0D7CBF4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 bwMode="auto">
          <a:xfrm flipV="1">
            <a:off x="4087585" y="3886200"/>
            <a:ext cx="979715" cy="12556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35135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4476E-3D21-3335-A04D-E8EA250C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BEB2-B8CB-05CA-9E65-42BB11971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EC330-2A64-F25B-D2D2-0D411C253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3E459C-DF54-B7C1-B3DF-556F3FAFE8F9}"/>
              </a:ext>
            </a:extLst>
          </p:cNvPr>
          <p:cNvSpPr/>
          <p:nvPr/>
        </p:nvSpPr>
        <p:spPr bwMode="auto">
          <a:xfrm>
            <a:off x="4419600" y="2628900"/>
            <a:ext cx="4876800" cy="22479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vmulpd</a:t>
            </a:r>
            <a:r>
              <a:rPr lang="en-US" altLang="zh-CN" sz="2000" dirty="0">
                <a:latin typeface="Consolas" panose="020B0609020204030204" pitchFamily="49" charset="0"/>
              </a:rPr>
              <a:t> %ymm2,%ymm5,%ymm2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vfnmadd213pd %ymm0,%ymm19,%ymm2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vmovupd</a:t>
            </a:r>
            <a:r>
              <a:rPr lang="en-US" altLang="zh-CN" sz="2000" dirty="0">
                <a:latin typeface="Consolas" panose="020B0609020204030204" pitchFamily="49" charset="0"/>
              </a:rPr>
              <a:t> %ymm2,(%rax,%rcx,1)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FBF12A-62BD-4D36-7291-D5A302D45120}"/>
              </a:ext>
            </a:extLst>
          </p:cNvPr>
          <p:cNvSpPr/>
          <p:nvPr/>
        </p:nvSpPr>
        <p:spPr bwMode="auto">
          <a:xfrm>
            <a:off x="533400" y="2400300"/>
            <a:ext cx="2971800" cy="1943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%xmm6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movapd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%xmm8,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latin typeface="Consolas" panose="020B0609020204030204" pitchFamily="49" charset="0"/>
              </a:rPr>
              <a:t>s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ubpd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%xmm10, %xmm6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982417-F902-C74F-08E1-9BF5965080E8}"/>
              </a:ext>
            </a:extLst>
          </p:cNvPr>
          <p:cNvSpPr txBox="1"/>
          <p:nvPr/>
        </p:nvSpPr>
        <p:spPr>
          <a:xfrm>
            <a:off x="0" y="1600200"/>
            <a:ext cx="370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</a:t>
            </a:r>
          </a:p>
          <a:p>
            <a:pPr algn="ctr"/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6344C-063F-E36F-FCC5-FDCEF92FFDED}"/>
              </a:ext>
            </a:extLst>
          </p:cNvPr>
          <p:cNvSpPr txBox="1"/>
          <p:nvPr/>
        </p:nvSpPr>
        <p:spPr>
          <a:xfrm>
            <a:off x="4343400" y="1600199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</a:t>
            </a:r>
          </a:p>
          <a:p>
            <a:pPr algn="ctr"/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2E367-8ECE-3195-4D71-58E775117C01}"/>
              </a:ext>
            </a:extLst>
          </p:cNvPr>
          <p:cNvSpPr txBox="1"/>
          <p:nvPr/>
        </p:nvSpPr>
        <p:spPr>
          <a:xfrm>
            <a:off x="76200" y="5218093"/>
            <a:ext cx="73321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But those’re the real story here</a:t>
            </a:r>
          </a:p>
          <a:p>
            <a:pPr algn="ctr"/>
            <a:r>
              <a:rPr lang="zh-CN" altLang="en-US" sz="2800" dirty="0"/>
              <a:t>但这些才是我们今天要关注的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8AEABC-F914-0C1B-0B06-AB6B0E19E161}"/>
              </a:ext>
            </a:extLst>
          </p:cNvPr>
          <p:cNvSpPr/>
          <p:nvPr/>
        </p:nvSpPr>
        <p:spPr bwMode="auto">
          <a:xfrm>
            <a:off x="1023688" y="2752636"/>
            <a:ext cx="319338" cy="600164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D803EA-66A5-9D0D-DDD8-F89FD5BDC345}"/>
              </a:ext>
            </a:extLst>
          </p:cNvPr>
          <p:cNvCxnSpPr>
            <a:cxnSpLocks/>
            <a:stCxn id="11" idx="0"/>
            <a:endCxn id="12" idx="3"/>
          </p:cNvCxnSpPr>
          <p:nvPr/>
        </p:nvCxnSpPr>
        <p:spPr bwMode="auto">
          <a:xfrm flipH="1" flipV="1">
            <a:off x="1343026" y="3052718"/>
            <a:ext cx="2399259" cy="21653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E5FBE-A92F-5DC8-5FC0-A21B2717D737}"/>
              </a:ext>
            </a:extLst>
          </p:cNvPr>
          <p:cNvSpPr/>
          <p:nvPr/>
        </p:nvSpPr>
        <p:spPr bwMode="auto">
          <a:xfrm>
            <a:off x="5049370" y="2996260"/>
            <a:ext cx="307480" cy="25923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DDD55E6-3F04-997F-7E12-B8B5224A02BD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 bwMode="auto">
          <a:xfrm flipV="1">
            <a:off x="3742285" y="3255492"/>
            <a:ext cx="1460825" cy="19626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AADCE4D-DB57-4060-F38D-CA09CBE0F2CB}"/>
              </a:ext>
            </a:extLst>
          </p:cNvPr>
          <p:cNvSpPr/>
          <p:nvPr/>
        </p:nvSpPr>
        <p:spPr bwMode="auto">
          <a:xfrm>
            <a:off x="5895201" y="3616490"/>
            <a:ext cx="307479" cy="26209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D3A860-843F-2A68-3B9C-EA0CC2B54DED}"/>
              </a:ext>
            </a:extLst>
          </p:cNvPr>
          <p:cNvSpPr/>
          <p:nvPr/>
        </p:nvSpPr>
        <p:spPr bwMode="auto">
          <a:xfrm>
            <a:off x="5203110" y="4241069"/>
            <a:ext cx="307479" cy="26209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D428DA-DE84-D203-F1C9-709D2909E89D}"/>
              </a:ext>
            </a:extLst>
          </p:cNvPr>
          <p:cNvSpPr/>
          <p:nvPr/>
        </p:nvSpPr>
        <p:spPr bwMode="auto">
          <a:xfrm>
            <a:off x="1171717" y="3408547"/>
            <a:ext cx="307479" cy="26209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E4FB05-3E3F-C30C-812E-C2DDD34F641C}"/>
              </a:ext>
            </a:extLst>
          </p:cNvPr>
          <p:cNvSpPr/>
          <p:nvPr/>
        </p:nvSpPr>
        <p:spPr bwMode="auto">
          <a:xfrm>
            <a:off x="1035546" y="3690874"/>
            <a:ext cx="307479" cy="26209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97FD29-2386-0B85-206B-B3EC7AE5F7C1}"/>
              </a:ext>
            </a:extLst>
          </p:cNvPr>
          <p:cNvSpPr/>
          <p:nvPr/>
        </p:nvSpPr>
        <p:spPr bwMode="auto">
          <a:xfrm>
            <a:off x="4478263" y="3008960"/>
            <a:ext cx="211776" cy="150114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B83D97-5AAD-D743-21E7-0A89EB73C749}"/>
              </a:ext>
            </a:extLst>
          </p:cNvPr>
          <p:cNvCxnSpPr>
            <a:cxnSpLocks/>
            <a:stCxn id="11" idx="0"/>
            <a:endCxn id="23" idx="3"/>
          </p:cNvCxnSpPr>
          <p:nvPr/>
        </p:nvCxnSpPr>
        <p:spPr bwMode="auto">
          <a:xfrm flipH="1" flipV="1">
            <a:off x="1479196" y="3539592"/>
            <a:ext cx="2263089" cy="16785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4CB4227-9DB9-2C7C-25BB-C052602AAB60}"/>
              </a:ext>
            </a:extLst>
          </p:cNvPr>
          <p:cNvCxnSpPr>
            <a:cxnSpLocks/>
            <a:stCxn id="11" idx="0"/>
            <a:endCxn id="25" idx="3"/>
          </p:cNvCxnSpPr>
          <p:nvPr/>
        </p:nvCxnSpPr>
        <p:spPr bwMode="auto">
          <a:xfrm flipH="1" flipV="1">
            <a:off x="1343025" y="3821919"/>
            <a:ext cx="2399260" cy="13961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E809567-E90F-E666-0534-ABBB7F63319E}"/>
              </a:ext>
            </a:extLst>
          </p:cNvPr>
          <p:cNvCxnSpPr>
            <a:cxnSpLocks/>
            <a:stCxn id="11" idx="0"/>
            <a:endCxn id="19" idx="2"/>
          </p:cNvCxnSpPr>
          <p:nvPr/>
        </p:nvCxnSpPr>
        <p:spPr bwMode="auto">
          <a:xfrm flipV="1">
            <a:off x="3742285" y="3878580"/>
            <a:ext cx="2306656" cy="13395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6E57371-BE8C-6895-FC7E-B5B1B65A92C2}"/>
              </a:ext>
            </a:extLst>
          </p:cNvPr>
          <p:cNvCxnSpPr>
            <a:cxnSpLocks/>
            <a:stCxn id="11" idx="0"/>
            <a:endCxn id="21" idx="2"/>
          </p:cNvCxnSpPr>
          <p:nvPr/>
        </p:nvCxnSpPr>
        <p:spPr bwMode="auto">
          <a:xfrm flipV="1">
            <a:off x="3742285" y="4503159"/>
            <a:ext cx="1614565" cy="7149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730C57F-FF4C-4174-54C9-2630A1FB475B}"/>
              </a:ext>
            </a:extLst>
          </p:cNvPr>
          <p:cNvCxnSpPr>
            <a:cxnSpLocks/>
            <a:stCxn id="11" idx="0"/>
            <a:endCxn id="30" idx="1"/>
          </p:cNvCxnSpPr>
          <p:nvPr/>
        </p:nvCxnSpPr>
        <p:spPr bwMode="auto">
          <a:xfrm flipV="1">
            <a:off x="3742285" y="3759533"/>
            <a:ext cx="735978" cy="14585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293742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699F-04AD-3795-0907-F747265D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7826-AAD9-5B4C-C067-07F387C5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CPU  </a:t>
            </a:r>
            <a:r>
              <a:rPr lang="zh-CN" altLang="en-US" dirty="0"/>
              <a:t>看看</a:t>
            </a:r>
            <a:r>
              <a:rPr lang="en-US" altLang="zh-CN" dirty="0"/>
              <a:t>CPU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2303F-D33A-3563-73AC-A514C1BC1B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EC9A9-A7E5-6851-3AF3-9F29F253CB7D}"/>
              </a:ext>
            </a:extLst>
          </p:cNvPr>
          <p:cNvSpPr txBox="1"/>
          <p:nvPr/>
        </p:nvSpPr>
        <p:spPr>
          <a:xfrm>
            <a:off x="415290" y="1610380"/>
            <a:ext cx="8313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Run CPU-z  </a:t>
            </a:r>
            <a:r>
              <a:rPr lang="zh-CN" altLang="en-US" sz="2800" dirty="0"/>
              <a:t>运行</a:t>
            </a:r>
            <a:r>
              <a:rPr lang="en-US" altLang="zh-CN" sz="2800" dirty="0"/>
              <a:t>CPU-z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418D50-33C7-0D89-9B28-8D638DF65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62" y="2209800"/>
            <a:ext cx="3876675" cy="3848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BDDAD1-4254-46B6-F3C5-6CF8DBBC7992}"/>
              </a:ext>
            </a:extLst>
          </p:cNvPr>
          <p:cNvSpPr/>
          <p:nvPr/>
        </p:nvSpPr>
        <p:spPr bwMode="auto">
          <a:xfrm>
            <a:off x="2819400" y="4095750"/>
            <a:ext cx="3581400" cy="28575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09C977-BD0D-EC5B-A1AE-C233D88D96AA}"/>
              </a:ext>
            </a:extLst>
          </p:cNvPr>
          <p:cNvCxnSpPr>
            <a:cxnSpLocks/>
            <a:stCxn id="15" idx="0"/>
          </p:cNvCxnSpPr>
          <p:nvPr/>
        </p:nvCxnSpPr>
        <p:spPr bwMode="auto">
          <a:xfrm flipV="1">
            <a:off x="1318693" y="4381500"/>
            <a:ext cx="3329507" cy="5009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715209E-64CA-9083-7AA6-C44183E5A5AE}"/>
              </a:ext>
            </a:extLst>
          </p:cNvPr>
          <p:cNvSpPr txBox="1"/>
          <p:nvPr/>
        </p:nvSpPr>
        <p:spPr>
          <a:xfrm>
            <a:off x="-304800" y="4882455"/>
            <a:ext cx="32469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Instruction-set extension</a:t>
            </a:r>
          </a:p>
          <a:p>
            <a:pPr algn="ctr"/>
            <a:r>
              <a:rPr lang="zh-CN" altLang="en-US" sz="2800" dirty="0"/>
              <a:t>指令集的扩展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072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1D134-1827-E56F-79B0-9988E6BA8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03A7-80FD-372E-DEA3-5D12F01D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 Instruction, Multiple Data (SIMD) </a:t>
            </a:r>
            <a:r>
              <a:rPr lang="zh-CN" altLang="en-US" dirty="0"/>
              <a:t>单指令多数据 </a:t>
            </a:r>
            <a:r>
              <a:rPr lang="en-US" altLang="zh-CN" dirty="0"/>
              <a:t>(1)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385F4-7F58-F339-239E-CEEDE00C79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496C8-ECA0-CB0C-0972-7A8A2B3026DB}"/>
              </a:ext>
            </a:extLst>
          </p:cNvPr>
          <p:cNvSpPr txBox="1"/>
          <p:nvPr/>
        </p:nvSpPr>
        <p:spPr>
          <a:xfrm>
            <a:off x="415290" y="1676400"/>
            <a:ext cx="83134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>
                <a:latin typeface="Consolas" panose="020B0609020204030204" pitchFamily="49" charset="0"/>
              </a:rPr>
              <a:t>sub</a:t>
            </a:r>
            <a:r>
              <a:rPr lang="en-US" altLang="zh-CN" sz="2800" dirty="0" err="1">
                <a:solidFill>
                  <a:srgbClr val="C00000"/>
                </a:solidFill>
                <a:latin typeface="Consolas" panose="020B0609020204030204" pitchFamily="49" charset="0"/>
              </a:rPr>
              <a:t>pd</a:t>
            </a:r>
            <a:r>
              <a:rPr lang="en-US" altLang="zh-CN" sz="2800" dirty="0">
                <a:latin typeface="Consolas" panose="020B0609020204030204" pitchFamily="49" charset="0"/>
              </a:rPr>
              <a:t>, </a:t>
            </a:r>
            <a:r>
              <a:rPr lang="en-US" altLang="zh-CN" sz="2800" dirty="0" err="1">
                <a:latin typeface="Consolas" panose="020B0609020204030204" pitchFamily="49" charset="0"/>
              </a:rPr>
              <a:t>mul</a:t>
            </a:r>
            <a:r>
              <a:rPr lang="en-US" altLang="zh-CN" sz="2800" dirty="0" err="1">
                <a:solidFill>
                  <a:srgbClr val="C00000"/>
                </a:solidFill>
                <a:latin typeface="Consolas" panose="020B0609020204030204" pitchFamily="49" charset="0"/>
              </a:rPr>
              <a:t>pd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mov</a:t>
            </a:r>
            <a:r>
              <a:rPr lang="en-US" altLang="zh-CN" sz="2800" dirty="0" err="1">
                <a:latin typeface="Consolas" panose="020B0609020204030204" pitchFamily="49" charset="0"/>
              </a:rPr>
              <a:t>a</a:t>
            </a:r>
            <a:r>
              <a:rPr lang="en-US" altLang="zh-CN" sz="2800" dirty="0" err="1">
                <a:solidFill>
                  <a:srgbClr val="C00000"/>
                </a:solidFill>
                <a:latin typeface="Consolas" panose="020B0609020204030204" pitchFamily="49" charset="0"/>
              </a:rPr>
              <a:t>pd</a:t>
            </a:r>
            <a:r>
              <a:rPr lang="en-US" altLang="zh-CN" sz="2800" dirty="0"/>
              <a:t>: </a:t>
            </a:r>
          </a:p>
          <a:p>
            <a:pPr algn="ctr"/>
            <a:r>
              <a:rPr lang="en-US" altLang="zh-CN" sz="2800" dirty="0"/>
              <a:t>2 double-precision numbers packed in operation</a:t>
            </a:r>
          </a:p>
          <a:p>
            <a:pPr algn="ctr"/>
            <a:r>
              <a:rPr lang="en-US" altLang="zh-CN" sz="2800" dirty="0"/>
              <a:t>2</a:t>
            </a:r>
            <a:r>
              <a:rPr lang="zh-CN" altLang="en-US" sz="2800" dirty="0"/>
              <a:t>个双精度数套在一起操作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F721A-6412-8E1B-57BD-774B979E93B9}"/>
              </a:ext>
            </a:extLst>
          </p:cNvPr>
          <p:cNvSpPr txBox="1"/>
          <p:nvPr/>
        </p:nvSpPr>
        <p:spPr>
          <a:xfrm>
            <a:off x="297180" y="3352800"/>
            <a:ext cx="83134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>
                <a:solidFill>
                  <a:srgbClr val="C00000"/>
                </a:solidFill>
                <a:latin typeface="Consolas" panose="020B0609020204030204" pitchFamily="49" charset="0"/>
              </a:rPr>
              <a:t>v</a:t>
            </a:r>
            <a:r>
              <a:rPr lang="en-US" altLang="zh-CN" sz="2800" dirty="0" err="1">
                <a:latin typeface="Consolas" panose="020B0609020204030204" pitchFamily="49" charset="0"/>
              </a:rPr>
              <a:t>mulpd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v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fnmadd213pd, </a:t>
            </a:r>
            <a:r>
              <a:rPr lang="en-US" altLang="zh-CN" sz="2800" dirty="0" err="1">
                <a:solidFill>
                  <a:srgbClr val="C00000"/>
                </a:solidFill>
                <a:latin typeface="Consolas" panose="020B0609020204030204" pitchFamily="49" charset="0"/>
              </a:rPr>
              <a:t>v</a:t>
            </a:r>
            <a:r>
              <a:rPr lang="en-US" altLang="zh-CN" sz="2800" dirty="0" err="1">
                <a:latin typeface="Consolas" panose="020B0609020204030204" pitchFamily="49" charset="0"/>
              </a:rPr>
              <a:t>movupd</a:t>
            </a:r>
            <a:r>
              <a:rPr lang="en-US" altLang="zh-CN" sz="2800" dirty="0"/>
              <a:t>: </a:t>
            </a:r>
          </a:p>
          <a:p>
            <a:pPr algn="ctr"/>
            <a:r>
              <a:rPr lang="en-US" altLang="zh-CN" sz="2800" dirty="0"/>
              <a:t>Vector extension, now 4 numbers packed</a:t>
            </a:r>
          </a:p>
          <a:p>
            <a:pPr algn="ctr"/>
            <a:r>
              <a:rPr lang="zh-CN" altLang="en-US" sz="2800" dirty="0"/>
              <a:t>向量拓展，现在</a:t>
            </a:r>
            <a:r>
              <a:rPr lang="en-US" altLang="zh-CN" sz="2800" dirty="0"/>
              <a:t>4</a:t>
            </a:r>
            <a:r>
              <a:rPr lang="zh-CN" altLang="en-US" sz="2800" dirty="0"/>
              <a:t>个双精度数套在了一起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6CEC5-998A-2A25-210E-BE4D3240CE5B}"/>
              </a:ext>
            </a:extLst>
          </p:cNvPr>
          <p:cNvSpPr txBox="1"/>
          <p:nvPr/>
        </p:nvSpPr>
        <p:spPr>
          <a:xfrm>
            <a:off x="-763" y="5054144"/>
            <a:ext cx="9144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More </a:t>
            </a:r>
            <a:r>
              <a:rPr lang="en-US" altLang="zh-CN" sz="2800" b="1" dirty="0"/>
              <a:t>independent</a:t>
            </a:r>
            <a:r>
              <a:rPr lang="en-US" altLang="zh-CN" sz="2800" dirty="0"/>
              <a:t> work accomplished in 1 instruction  </a:t>
            </a:r>
            <a:r>
              <a:rPr lang="zh-CN" altLang="en-US" sz="2800" dirty="0"/>
              <a:t>一条指令中完成了更多</a:t>
            </a:r>
            <a:r>
              <a:rPr lang="zh-CN" altLang="en-US" sz="2800" b="1" dirty="0"/>
              <a:t>独立</a:t>
            </a:r>
            <a:r>
              <a:rPr lang="zh-CN" altLang="en-US" sz="2800" dirty="0"/>
              <a:t>的工作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2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C958-857E-AA18-6826-F53BD008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342E-FAC0-FCDF-01FF-941437003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 Instruction, Multiple Data (SIMD) </a:t>
            </a:r>
            <a:r>
              <a:rPr lang="zh-CN" altLang="en-US" dirty="0"/>
              <a:t>单指令多数据 </a:t>
            </a:r>
            <a:r>
              <a:rPr lang="en-US" altLang="zh-CN" dirty="0"/>
              <a:t>(2)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5DFFC-B730-93DA-A37A-79929E3EEB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BC36F-0DAB-460D-2035-F22BD0358EED}"/>
              </a:ext>
            </a:extLst>
          </p:cNvPr>
          <p:cNvSpPr txBox="1"/>
          <p:nvPr/>
        </p:nvSpPr>
        <p:spPr>
          <a:xfrm>
            <a:off x="415290" y="1524000"/>
            <a:ext cx="83134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Now we process 2~4 numbers in </a:t>
            </a:r>
            <a:br>
              <a:rPr lang="en-US" altLang="zh-CN" sz="2800" dirty="0"/>
            </a:br>
            <a:r>
              <a:rPr lang="en-US" altLang="zh-CN" sz="2800" dirty="0"/>
              <a:t>1 instruction. So we’re 2~4x faster </a:t>
            </a:r>
          </a:p>
          <a:p>
            <a:pPr algn="ctr"/>
            <a:r>
              <a:rPr lang="zh-CN" altLang="en-US" sz="2800" dirty="0"/>
              <a:t>现在我们一条指令处理</a:t>
            </a:r>
            <a:r>
              <a:rPr lang="en-US" altLang="zh-CN" sz="2800" dirty="0"/>
              <a:t>2~4</a:t>
            </a:r>
            <a:r>
              <a:rPr lang="zh-CN" altLang="en-US" sz="2800" dirty="0"/>
              <a:t>个数，</a:t>
            </a:r>
            <a:br>
              <a:rPr lang="en-US" altLang="zh-CN" sz="2800" dirty="0"/>
            </a:br>
            <a:r>
              <a:rPr lang="zh-CN" altLang="en-US" sz="2800" dirty="0"/>
              <a:t>所以我们比之前快了</a:t>
            </a:r>
            <a:r>
              <a:rPr lang="en-US" altLang="zh-CN" sz="2800" dirty="0"/>
              <a:t>2~4</a:t>
            </a:r>
            <a:r>
              <a:rPr lang="zh-CN" altLang="en-US" sz="2800" dirty="0"/>
              <a:t>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F20437-BA5E-F06A-5939-FA528FD4D352}"/>
              </a:ext>
            </a:extLst>
          </p:cNvPr>
          <p:cNvSpPr txBox="1"/>
          <p:nvPr/>
        </p:nvSpPr>
        <p:spPr>
          <a:xfrm>
            <a:off x="415290" y="3644205"/>
            <a:ext cx="83134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But beyond 2~4 series, execution time will become times longer, right?</a:t>
            </a:r>
          </a:p>
          <a:p>
            <a:pPr algn="ctr"/>
            <a:r>
              <a:rPr lang="zh-CN" altLang="en-US" sz="2800" dirty="0"/>
              <a:t>但超过</a:t>
            </a:r>
            <a:r>
              <a:rPr lang="en-US" altLang="zh-CN" sz="2800" dirty="0"/>
              <a:t>2~4</a:t>
            </a:r>
            <a:r>
              <a:rPr lang="zh-CN" altLang="en-US" sz="2800" dirty="0"/>
              <a:t>个序列，运行时间就会成倍增加，对吧？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86B6F-6390-FAEA-2FB6-F6E690CB5CF0}"/>
              </a:ext>
            </a:extLst>
          </p:cNvPr>
          <p:cNvSpPr txBox="1"/>
          <p:nvPr/>
        </p:nvSpPr>
        <p:spPr>
          <a:xfrm>
            <a:off x="297180" y="5218093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Not exactly!!</a:t>
            </a:r>
          </a:p>
          <a:p>
            <a:pPr algn="ctr"/>
            <a:r>
              <a:rPr lang="zh-CN" altLang="en-US" sz="2800" dirty="0"/>
              <a:t>不完全是！！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598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ADF5-6440-A42F-FA58-5D055A4A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5E53-84A7-A203-0162-83E1C39F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3.3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3.3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5A74B-3785-DA87-9DC2-1C6E9EBE2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AEDBD2-01E0-5535-51A8-E705030CDC72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vary the number of series</a:t>
            </a:r>
          </a:p>
          <a:p>
            <a:pPr algn="ctr"/>
            <a:r>
              <a:rPr lang="zh-CN" altLang="en-US" sz="2200" dirty="0"/>
              <a:t>实践时刻：改变序列的数量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87ABD7-42D1-BFAB-1A78-91AB43B1EF3C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Examine how execution time changes</a:t>
            </a:r>
          </a:p>
          <a:p>
            <a:pPr algn="ctr"/>
            <a:r>
              <a:rPr lang="zh-CN" altLang="en-US" sz="2200" dirty="0"/>
              <a:t>看看执行时间如何变化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8A1A98-2CCB-D518-6525-DF33D19D73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165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5BBF0-B77B-1F24-F1E1-9D3103ED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987E-4D93-338B-88E9-D29ED7ED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Execution on a System</a:t>
            </a:r>
            <a:br>
              <a:rPr lang="en-US" altLang="zh-CN" dirty="0"/>
            </a:br>
            <a:r>
              <a:rPr lang="zh-CN" altLang="en-US" dirty="0"/>
              <a:t>在一台机器上的执行时间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517A0-79BD-8395-083C-4B7515C608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30B5158-7693-008B-6BF5-E13A2D3E79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1507016"/>
              </p:ext>
            </p:extLst>
          </p:nvPr>
        </p:nvGraphicFramePr>
        <p:xfrm>
          <a:off x="1371600" y="1447800"/>
          <a:ext cx="5867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5323E12-FBF6-FB37-F968-C48741CEB7ED}"/>
              </a:ext>
            </a:extLst>
          </p:cNvPr>
          <p:cNvSpPr txBox="1"/>
          <p:nvPr/>
        </p:nvSpPr>
        <p:spPr>
          <a:xfrm>
            <a:off x="297180" y="5218093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Relatively flat execution time till 32 series </a:t>
            </a:r>
          </a:p>
          <a:p>
            <a:pPr algn="ctr"/>
            <a:r>
              <a:rPr lang="zh-CN" altLang="en-US" sz="2800" dirty="0"/>
              <a:t>直到</a:t>
            </a:r>
            <a:r>
              <a:rPr lang="en-US" altLang="zh-CN" sz="2800" dirty="0"/>
              <a:t>32</a:t>
            </a:r>
            <a:r>
              <a:rPr lang="zh-CN" altLang="en-US" sz="2800" dirty="0"/>
              <a:t>个序列，执行时间依然平稳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522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CC5F5-D013-7495-7E4A-8D991F86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EDAB-8FE2-DD2F-D7F5-EBF83071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Superscalar Execution</a:t>
            </a:r>
            <a:br>
              <a:rPr lang="en-US" altLang="zh-CN" dirty="0"/>
            </a:br>
            <a:r>
              <a:rPr lang="zh-CN" altLang="en-US" dirty="0"/>
              <a:t>超越标量的执行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D666C-C295-8A9D-42BD-7F6E49352D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6B622-4E4D-F0B6-CEA4-C9CABE1A437B}"/>
              </a:ext>
            </a:extLst>
          </p:cNvPr>
          <p:cNvSpPr/>
          <p:nvPr/>
        </p:nvSpPr>
        <p:spPr bwMode="auto">
          <a:xfrm>
            <a:off x="914400" y="1676400"/>
            <a:ext cx="7391401" cy="365039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One CPU Core  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个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CPU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核心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AA413-1D78-9E68-7258-996D001B26EB}"/>
              </a:ext>
            </a:extLst>
          </p:cNvPr>
          <p:cNvSpPr/>
          <p:nvPr/>
        </p:nvSpPr>
        <p:spPr bwMode="auto">
          <a:xfrm>
            <a:off x="2286000" y="3733800"/>
            <a:ext cx="1295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mul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9C5FB9-F02F-ABCC-E255-CC20C4AE062B}"/>
              </a:ext>
            </a:extLst>
          </p:cNvPr>
          <p:cNvSpPr/>
          <p:nvPr/>
        </p:nvSpPr>
        <p:spPr bwMode="auto">
          <a:xfrm>
            <a:off x="5715000" y="3733800"/>
            <a:ext cx="1295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mul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A84B8F-CEED-759D-957B-679F89AC4632}"/>
              </a:ext>
            </a:extLst>
          </p:cNvPr>
          <p:cNvSpPr txBox="1"/>
          <p:nvPr/>
        </p:nvSpPr>
        <p:spPr>
          <a:xfrm>
            <a:off x="1655444" y="4495800"/>
            <a:ext cx="5833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 SIMD multiplication execution units</a:t>
            </a:r>
          </a:p>
          <a:p>
            <a:pPr algn="ctr"/>
            <a:r>
              <a:rPr lang="zh-CN" altLang="en-US" sz="2400" dirty="0"/>
              <a:t>两个</a:t>
            </a:r>
            <a:r>
              <a:rPr lang="en-US" altLang="zh-CN" sz="2400" dirty="0"/>
              <a:t>SIMD</a:t>
            </a:r>
            <a:r>
              <a:rPr lang="zh-CN" altLang="en-US" sz="2400" dirty="0"/>
              <a:t>乘法执行单元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AA3A5-BE30-98B7-56A5-F283687E50DB}"/>
              </a:ext>
            </a:extLst>
          </p:cNvPr>
          <p:cNvSpPr txBox="1"/>
          <p:nvPr/>
        </p:nvSpPr>
        <p:spPr>
          <a:xfrm>
            <a:off x="5808345" y="206320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EFC179-2FFD-E259-900E-77742A2A46A4}"/>
              </a:ext>
            </a:extLst>
          </p:cNvPr>
          <p:cNvSpPr txBox="1"/>
          <p:nvPr/>
        </p:nvSpPr>
        <p:spPr>
          <a:xfrm>
            <a:off x="2379345" y="205740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F26A4E-5642-CE6F-554B-22CE771A0E31}"/>
              </a:ext>
            </a:extLst>
          </p:cNvPr>
          <p:cNvCxnSpPr>
            <a:cxnSpLocks/>
            <a:stCxn id="14" idx="2"/>
            <a:endCxn id="6" idx="0"/>
          </p:cNvCxnSpPr>
          <p:nvPr/>
        </p:nvCxnSpPr>
        <p:spPr bwMode="auto">
          <a:xfrm>
            <a:off x="2933700" y="2519065"/>
            <a:ext cx="0" cy="12147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9F75A7-7215-866C-3D61-68888525CB59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 bwMode="auto">
          <a:xfrm>
            <a:off x="6362700" y="2524870"/>
            <a:ext cx="0" cy="12089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EDD566E-1264-5FCF-5B26-24B74782D863}"/>
              </a:ext>
            </a:extLst>
          </p:cNvPr>
          <p:cNvSpPr txBox="1"/>
          <p:nvPr/>
        </p:nvSpPr>
        <p:spPr>
          <a:xfrm>
            <a:off x="3028951" y="2457271"/>
            <a:ext cx="3238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 instructions issued at the same time</a:t>
            </a:r>
          </a:p>
          <a:p>
            <a:pPr algn="ctr"/>
            <a:r>
              <a:rPr lang="zh-CN" altLang="en-US" sz="2400" dirty="0"/>
              <a:t>两条指令同时发送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2FC1A7-E0B3-48CA-C062-E45210262334}"/>
              </a:ext>
            </a:extLst>
          </p:cNvPr>
          <p:cNvSpPr txBox="1"/>
          <p:nvPr/>
        </p:nvSpPr>
        <p:spPr>
          <a:xfrm>
            <a:off x="312420" y="5379720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More </a:t>
            </a:r>
            <a:r>
              <a:rPr lang="en-US" altLang="zh-CN" sz="2800" b="1" dirty="0"/>
              <a:t>independent</a:t>
            </a:r>
            <a:r>
              <a:rPr lang="en-US" altLang="zh-CN" sz="2800" dirty="0"/>
              <a:t> instructions in 1 cycle</a:t>
            </a:r>
          </a:p>
          <a:p>
            <a:pPr algn="ctr"/>
            <a:r>
              <a:rPr lang="zh-CN" altLang="en-US" sz="2800" dirty="0"/>
              <a:t>一个周期中更多</a:t>
            </a:r>
            <a:r>
              <a:rPr lang="zh-CN" altLang="en-US" sz="2800" b="1" dirty="0"/>
              <a:t>独立</a:t>
            </a:r>
            <a:r>
              <a:rPr lang="zh-CN" altLang="en-US" sz="2800" dirty="0"/>
              <a:t>的指令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757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/>
      <p:bldP spid="12" grpId="0"/>
      <p:bldP spid="14" grpId="0"/>
      <p:bldP spid="21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BD0A-6B01-57C9-609C-B1415190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765EC-35EA-70A0-6887-CBA25D92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execution pipeline</a:t>
            </a:r>
            <a:br>
              <a:rPr lang="en-US" altLang="zh-CN" dirty="0"/>
            </a:br>
            <a:r>
              <a:rPr lang="zh-CN" altLang="en-US" dirty="0"/>
              <a:t>指令执行流水线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F0546-477F-A82B-3CCF-7C9D3CEE2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01C196-086A-2879-F8D5-7BB85F3F7566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38E3DD-B607-3530-55A8-F6329C250B0D}"/>
              </a:ext>
            </a:extLst>
          </p:cNvPr>
          <p:cNvSpPr txBox="1"/>
          <p:nvPr/>
        </p:nvSpPr>
        <p:spPr>
          <a:xfrm>
            <a:off x="5334000" y="2131367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8372F0-EFF4-7195-C5B2-6A6877A49E32}"/>
              </a:ext>
            </a:extLst>
          </p:cNvPr>
          <p:cNvSpPr txBox="1"/>
          <p:nvPr/>
        </p:nvSpPr>
        <p:spPr>
          <a:xfrm>
            <a:off x="6248400" y="19467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1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601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320E-721D-7CEC-EED4-1B583A76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7046-58BD-6EDF-17D4-D6F292DC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execution pipeline</a:t>
            </a:r>
            <a:br>
              <a:rPr lang="en-US" altLang="zh-CN" dirty="0"/>
            </a:br>
            <a:r>
              <a:rPr lang="zh-CN" altLang="en-US" dirty="0"/>
              <a:t>指令执行流水线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A8320-7BB9-A073-FEA3-D9341FAE42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44F9E1-29D0-D697-C8FD-382D0AD637A5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E814F8-95CF-BC43-7E29-207356ECA302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01A14C-075E-470A-5493-A2B54F5C897A}"/>
              </a:ext>
            </a:extLst>
          </p:cNvPr>
          <p:cNvSpPr txBox="1"/>
          <p:nvPr/>
        </p:nvSpPr>
        <p:spPr>
          <a:xfrm>
            <a:off x="5334000" y="308747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F66AFC-1697-F147-062B-93CB547CC714}"/>
              </a:ext>
            </a:extLst>
          </p:cNvPr>
          <p:cNvSpPr txBox="1"/>
          <p:nvPr/>
        </p:nvSpPr>
        <p:spPr>
          <a:xfrm>
            <a:off x="6248400" y="2902803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2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598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ACB74-1FEC-90F2-2564-3D00C0C9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AF93F-2CAE-BDD9-EB15-FE70097E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execution pipeline</a:t>
            </a:r>
            <a:br>
              <a:rPr lang="en-US" altLang="zh-CN" dirty="0"/>
            </a:br>
            <a:r>
              <a:rPr lang="zh-CN" altLang="en-US" dirty="0"/>
              <a:t>指令执行流水线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8E43B-9C75-4887-0EE8-6200C71358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D9BD5B-01A8-3375-76BE-09D06DBA2DEE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A92AA9-102A-FC49-4793-4AFA90E3BB25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5091A7-48CD-A252-B2E7-1494764B3693}"/>
              </a:ext>
            </a:extLst>
          </p:cNvPr>
          <p:cNvSpPr/>
          <p:nvPr/>
        </p:nvSpPr>
        <p:spPr bwMode="auto">
          <a:xfrm>
            <a:off x="370681" y="39624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2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第二部分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838DE-9DD5-3BDD-6FE1-F93DDCC53DF9}"/>
              </a:ext>
            </a:extLst>
          </p:cNvPr>
          <p:cNvSpPr txBox="1"/>
          <p:nvPr/>
        </p:nvSpPr>
        <p:spPr>
          <a:xfrm>
            <a:off x="5334000" y="4070867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BB67C8-975B-56B4-6512-C1A99F61F0E0}"/>
              </a:ext>
            </a:extLst>
          </p:cNvPr>
          <p:cNvSpPr txBox="1"/>
          <p:nvPr/>
        </p:nvSpPr>
        <p:spPr>
          <a:xfrm>
            <a:off x="6248400" y="38862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3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6750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FF3ED-C4BF-0957-ECAF-719F6743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86E7-A06A-FFC8-1CFE-5641ACF7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execution pipeline</a:t>
            </a:r>
            <a:br>
              <a:rPr lang="en-US" altLang="zh-CN" dirty="0"/>
            </a:br>
            <a:r>
              <a:rPr lang="zh-CN" altLang="en-US" dirty="0"/>
              <a:t>指令执行流水线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C140D2-FD05-615D-607E-AE50376B2D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40F60-D726-B184-8956-46155CA26D8A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EA66BE-62CE-5484-C5BD-8BD3C97775A1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41A086-AD69-C8E0-DC94-B18CAB871B14}"/>
              </a:ext>
            </a:extLst>
          </p:cNvPr>
          <p:cNvSpPr/>
          <p:nvPr/>
        </p:nvSpPr>
        <p:spPr bwMode="auto">
          <a:xfrm>
            <a:off x="370681" y="39624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2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第二部分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11B60E-95D5-CFDE-05A9-83F495BCFBDA}"/>
              </a:ext>
            </a:extLst>
          </p:cNvPr>
          <p:cNvSpPr/>
          <p:nvPr/>
        </p:nvSpPr>
        <p:spPr bwMode="auto">
          <a:xfrm>
            <a:off x="370680" y="496824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Rounding &amp; write-back </a:t>
            </a:r>
          </a:p>
          <a:p>
            <a:pPr algn="ctr"/>
            <a:r>
              <a:rPr lang="zh-CN" altLang="en-US" sz="2400" dirty="0"/>
              <a:t>四舍五入并输出结果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AE935D-15CA-BDB3-9FB5-71E83FCFBA48}"/>
              </a:ext>
            </a:extLst>
          </p:cNvPr>
          <p:cNvSpPr txBox="1"/>
          <p:nvPr/>
        </p:nvSpPr>
        <p:spPr>
          <a:xfrm>
            <a:off x="5334000" y="512963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39C7F-C2F1-9879-15D9-AF87C4635427}"/>
              </a:ext>
            </a:extLst>
          </p:cNvPr>
          <p:cNvSpPr txBox="1"/>
          <p:nvPr/>
        </p:nvSpPr>
        <p:spPr>
          <a:xfrm>
            <a:off x="6248400" y="4944963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4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4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7856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ABF4-CD31-1F5C-41E4-CB76B8C70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931F-18B3-6F7C-D039-805B1D99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Pipelining Multiple Instructions</a:t>
            </a:r>
            <a:br>
              <a:rPr lang="en-US" altLang="zh-CN" dirty="0"/>
            </a:br>
            <a:r>
              <a:rPr lang="zh-CN" altLang="en-US" dirty="0"/>
              <a:t>多指令执行流水化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4AFAF-9436-A8EE-FC60-1D39F38089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3F9B6-1582-B2FA-A598-DEC00CEE41A0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8E30E4-06EF-8B27-511C-FB8DEB026306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EBAFD-7AD4-9B69-0D8D-69919C6DCE85}"/>
              </a:ext>
            </a:extLst>
          </p:cNvPr>
          <p:cNvSpPr/>
          <p:nvPr/>
        </p:nvSpPr>
        <p:spPr bwMode="auto">
          <a:xfrm>
            <a:off x="370681" y="39624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2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第二部分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6826D-F468-4774-BB03-8A7A6863A9CC}"/>
              </a:ext>
            </a:extLst>
          </p:cNvPr>
          <p:cNvSpPr/>
          <p:nvPr/>
        </p:nvSpPr>
        <p:spPr bwMode="auto">
          <a:xfrm>
            <a:off x="370680" y="496824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Rounding &amp; write-back </a:t>
            </a:r>
          </a:p>
          <a:p>
            <a:pPr algn="ctr"/>
            <a:r>
              <a:rPr lang="zh-CN" altLang="en-US" sz="2400" dirty="0"/>
              <a:t>四舍五入并输出结果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8D0F1-4D6F-B810-7A7C-465DE14E7C59}"/>
              </a:ext>
            </a:extLst>
          </p:cNvPr>
          <p:cNvSpPr txBox="1"/>
          <p:nvPr/>
        </p:nvSpPr>
        <p:spPr>
          <a:xfrm>
            <a:off x="5334000" y="2089667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39558A-4979-FD40-E584-28D2A7A18E1E}"/>
              </a:ext>
            </a:extLst>
          </p:cNvPr>
          <p:cNvSpPr txBox="1"/>
          <p:nvPr/>
        </p:nvSpPr>
        <p:spPr>
          <a:xfrm>
            <a:off x="6248400" y="19050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Cycle1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385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6319C-4383-C8A7-D543-E2F6394E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D3D6-842D-E8DB-8EFB-E5CA7501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Pipelining Multiple Instructions</a:t>
            </a:r>
            <a:br>
              <a:rPr lang="en-US" altLang="zh-CN" dirty="0"/>
            </a:br>
            <a:r>
              <a:rPr lang="zh-CN" altLang="en-US" dirty="0"/>
              <a:t>多指令执行流水化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76A2A-6770-AAB4-94D9-DA385A48F2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A7B04-DE75-DA28-ECB5-E99EF68221A5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1AC1FD-423A-57B1-1A4D-8115FCD3855D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E33B0-FDE7-BAAC-DF79-7CB928C02254}"/>
              </a:ext>
            </a:extLst>
          </p:cNvPr>
          <p:cNvSpPr/>
          <p:nvPr/>
        </p:nvSpPr>
        <p:spPr bwMode="auto">
          <a:xfrm>
            <a:off x="370681" y="39624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2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第二部分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472968-E02B-3DBA-8109-3891CBD372C8}"/>
              </a:ext>
            </a:extLst>
          </p:cNvPr>
          <p:cNvSpPr/>
          <p:nvPr/>
        </p:nvSpPr>
        <p:spPr bwMode="auto">
          <a:xfrm>
            <a:off x="370680" y="496824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Rounding &amp; write-back </a:t>
            </a:r>
          </a:p>
          <a:p>
            <a:pPr algn="ctr"/>
            <a:r>
              <a:rPr lang="zh-CN" altLang="en-US" sz="2400" dirty="0"/>
              <a:t>四舍五入并输出结果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64F67C-8D84-A321-58F7-C8A6B4C48FE0}"/>
              </a:ext>
            </a:extLst>
          </p:cNvPr>
          <p:cNvSpPr txBox="1"/>
          <p:nvPr/>
        </p:nvSpPr>
        <p:spPr>
          <a:xfrm>
            <a:off x="5334000" y="312420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BCC63E-F9AF-008A-5EDA-73A8131BD09B}"/>
              </a:ext>
            </a:extLst>
          </p:cNvPr>
          <p:cNvSpPr txBox="1"/>
          <p:nvPr/>
        </p:nvSpPr>
        <p:spPr>
          <a:xfrm>
            <a:off x="6248400" y="19050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2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6BFF9-7E9A-49AF-3DD6-3F4E290699C9}"/>
              </a:ext>
            </a:extLst>
          </p:cNvPr>
          <p:cNvSpPr txBox="1"/>
          <p:nvPr/>
        </p:nvSpPr>
        <p:spPr>
          <a:xfrm>
            <a:off x="5353050" y="212913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3520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7C396-2DB2-38F0-A659-221689C5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4AC6-0254-428C-EF6C-6B9B9304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Pipelining Multiple Instructions</a:t>
            </a:r>
            <a:br>
              <a:rPr lang="en-US" altLang="zh-CN" dirty="0"/>
            </a:br>
            <a:r>
              <a:rPr lang="zh-CN" altLang="en-US" dirty="0"/>
              <a:t>多指令执行流水化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52258B-5D1F-7B0A-57E8-6AAE39DB59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799911-6E48-7D77-FA8D-C015E6334A40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2C41E1-9A96-0AE4-369C-A6C60FC5289E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34ECC8-7988-3770-8F8B-9081618E3173}"/>
              </a:ext>
            </a:extLst>
          </p:cNvPr>
          <p:cNvSpPr/>
          <p:nvPr/>
        </p:nvSpPr>
        <p:spPr bwMode="auto">
          <a:xfrm>
            <a:off x="370681" y="39624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2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第二部分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76C80-4F5C-2520-67BD-1500BA76D057}"/>
              </a:ext>
            </a:extLst>
          </p:cNvPr>
          <p:cNvSpPr/>
          <p:nvPr/>
        </p:nvSpPr>
        <p:spPr bwMode="auto">
          <a:xfrm>
            <a:off x="370680" y="496824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Rounding &amp; write-back </a:t>
            </a:r>
          </a:p>
          <a:p>
            <a:pPr algn="ctr"/>
            <a:r>
              <a:rPr lang="zh-CN" altLang="en-US" sz="2400" dirty="0"/>
              <a:t>四舍五入并输出结果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A0658-7A5A-54E3-C09B-D1C4AA31375F}"/>
              </a:ext>
            </a:extLst>
          </p:cNvPr>
          <p:cNvSpPr txBox="1"/>
          <p:nvPr/>
        </p:nvSpPr>
        <p:spPr>
          <a:xfrm>
            <a:off x="5334000" y="312420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961C8-6C05-21C3-21AB-35BC16C4C5A4}"/>
              </a:ext>
            </a:extLst>
          </p:cNvPr>
          <p:cNvSpPr txBox="1"/>
          <p:nvPr/>
        </p:nvSpPr>
        <p:spPr>
          <a:xfrm>
            <a:off x="6248400" y="19050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3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8CD77-C3F0-944C-683C-39942895F4EE}"/>
              </a:ext>
            </a:extLst>
          </p:cNvPr>
          <p:cNvSpPr txBox="1"/>
          <p:nvPr/>
        </p:nvSpPr>
        <p:spPr>
          <a:xfrm>
            <a:off x="5353050" y="212913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E508F-11A7-58FE-BB52-40D6C1BB6688}"/>
              </a:ext>
            </a:extLst>
          </p:cNvPr>
          <p:cNvSpPr txBox="1"/>
          <p:nvPr/>
        </p:nvSpPr>
        <p:spPr>
          <a:xfrm>
            <a:off x="5349240" y="412557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1946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3267F-DF53-5008-7726-E9053730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DBED-41BE-96E6-6634-BBD50345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Pipelining Multiple Instructions</a:t>
            </a:r>
            <a:br>
              <a:rPr lang="en-US" altLang="zh-CN" dirty="0"/>
            </a:br>
            <a:r>
              <a:rPr lang="zh-CN" altLang="en-US" dirty="0"/>
              <a:t>多指令执行流水化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57AD4-11CC-E3AC-E06B-50ADB3C64C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B35D-95A4-A36F-42AD-227D89C3E06F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2528C1-5F69-98A5-7DE5-1D0715D623B7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5DFE3D-8B67-3682-84A5-32D289722D10}"/>
              </a:ext>
            </a:extLst>
          </p:cNvPr>
          <p:cNvSpPr/>
          <p:nvPr/>
        </p:nvSpPr>
        <p:spPr bwMode="auto">
          <a:xfrm>
            <a:off x="370681" y="39624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2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第二部分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62D568-7628-EE43-F98E-EC6C217145AB}"/>
              </a:ext>
            </a:extLst>
          </p:cNvPr>
          <p:cNvSpPr/>
          <p:nvPr/>
        </p:nvSpPr>
        <p:spPr bwMode="auto">
          <a:xfrm>
            <a:off x="370680" y="496824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Rounding &amp; write-back </a:t>
            </a:r>
          </a:p>
          <a:p>
            <a:pPr algn="ctr"/>
            <a:r>
              <a:rPr lang="zh-CN" altLang="en-US" sz="2400" dirty="0"/>
              <a:t>四舍五入并输出结果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36270-B5C5-DBB4-2724-E47D88484AD8}"/>
              </a:ext>
            </a:extLst>
          </p:cNvPr>
          <p:cNvSpPr txBox="1"/>
          <p:nvPr/>
        </p:nvSpPr>
        <p:spPr>
          <a:xfrm>
            <a:off x="5334000" y="312420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1D46BA-6F8F-9B4F-F43E-DDEBFA26C214}"/>
              </a:ext>
            </a:extLst>
          </p:cNvPr>
          <p:cNvSpPr txBox="1"/>
          <p:nvPr/>
        </p:nvSpPr>
        <p:spPr>
          <a:xfrm>
            <a:off x="6248400" y="19050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4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4</a:t>
            </a:r>
            <a:endParaRPr lang="zh-CN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A05C0-269E-5B15-A8D1-0A0885557ACC}"/>
              </a:ext>
            </a:extLst>
          </p:cNvPr>
          <p:cNvSpPr txBox="1"/>
          <p:nvPr/>
        </p:nvSpPr>
        <p:spPr>
          <a:xfrm>
            <a:off x="5353050" y="212913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020CB-2298-C68E-D5A5-83A74B2F3498}"/>
              </a:ext>
            </a:extLst>
          </p:cNvPr>
          <p:cNvSpPr txBox="1"/>
          <p:nvPr/>
        </p:nvSpPr>
        <p:spPr>
          <a:xfrm>
            <a:off x="5349240" y="412557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789FA-D094-4720-DBB2-480FAF100BA8}"/>
              </a:ext>
            </a:extLst>
          </p:cNvPr>
          <p:cNvSpPr txBox="1"/>
          <p:nvPr/>
        </p:nvSpPr>
        <p:spPr>
          <a:xfrm>
            <a:off x="5334000" y="509647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2731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94F2-2211-EE24-2BD9-850448ED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3767-6573-3A4B-EA8E-E627E301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Pipelining Multiple Instructions</a:t>
            </a:r>
            <a:br>
              <a:rPr lang="en-US" altLang="zh-CN" dirty="0"/>
            </a:br>
            <a:r>
              <a:rPr lang="zh-CN" altLang="en-US" dirty="0"/>
              <a:t>多指令执行流水化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D67D4-E0F9-193C-A8DF-016DFA499D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011BB6-F35E-11BC-407A-A794428DD43A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82B184-778C-698C-3B92-1736690E6681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95FF9-7349-6887-21E2-18D19D90620E}"/>
              </a:ext>
            </a:extLst>
          </p:cNvPr>
          <p:cNvSpPr/>
          <p:nvPr/>
        </p:nvSpPr>
        <p:spPr bwMode="auto">
          <a:xfrm>
            <a:off x="370681" y="39624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2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第二部分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00655A-25FB-012B-B44E-2BB9261F33DC}"/>
              </a:ext>
            </a:extLst>
          </p:cNvPr>
          <p:cNvSpPr/>
          <p:nvPr/>
        </p:nvSpPr>
        <p:spPr bwMode="auto">
          <a:xfrm>
            <a:off x="370680" y="496824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Rounding &amp; write-back </a:t>
            </a:r>
          </a:p>
          <a:p>
            <a:pPr algn="ctr"/>
            <a:r>
              <a:rPr lang="zh-CN" altLang="en-US" sz="2400" dirty="0"/>
              <a:t>四舍五入并输出结果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7858A3-94AD-3511-DA7D-4B6EBB49D2E5}"/>
              </a:ext>
            </a:extLst>
          </p:cNvPr>
          <p:cNvSpPr txBox="1"/>
          <p:nvPr/>
        </p:nvSpPr>
        <p:spPr>
          <a:xfrm>
            <a:off x="5334000" y="312420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A04E9-5820-F951-6710-53A141EABEAA}"/>
              </a:ext>
            </a:extLst>
          </p:cNvPr>
          <p:cNvSpPr txBox="1"/>
          <p:nvPr/>
        </p:nvSpPr>
        <p:spPr>
          <a:xfrm>
            <a:off x="6248400" y="19050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5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5</a:t>
            </a:r>
            <a:endParaRPr lang="zh-CN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637DD-A357-8F75-ED0D-AD3956350CEA}"/>
              </a:ext>
            </a:extLst>
          </p:cNvPr>
          <p:cNvSpPr txBox="1"/>
          <p:nvPr/>
        </p:nvSpPr>
        <p:spPr>
          <a:xfrm>
            <a:off x="5353050" y="212913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21500-E9BB-8717-F61E-5829C5452FB5}"/>
              </a:ext>
            </a:extLst>
          </p:cNvPr>
          <p:cNvSpPr txBox="1"/>
          <p:nvPr/>
        </p:nvSpPr>
        <p:spPr>
          <a:xfrm>
            <a:off x="5349240" y="412557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9525C-986F-3D8F-5213-0E99690CB2C2}"/>
              </a:ext>
            </a:extLst>
          </p:cNvPr>
          <p:cNvSpPr txBox="1"/>
          <p:nvPr/>
        </p:nvSpPr>
        <p:spPr>
          <a:xfrm>
            <a:off x="5334000" y="509647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028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8C008-961E-DD8A-E5CA-D1CAFF05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05EA-E007-1E29-6F71-0C58C04C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Pipelining Multiple Instructions</a:t>
            </a:r>
            <a:br>
              <a:rPr lang="en-US" altLang="zh-CN" dirty="0"/>
            </a:br>
            <a:r>
              <a:rPr lang="zh-CN" altLang="en-US" dirty="0"/>
              <a:t>多指令执行流水化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1C510-7578-08EB-4321-AA03F33BE8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FBB99-CE93-A633-44EE-658B75AB59F1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7710D3-AAC7-BE8B-41F9-7937DC6B86B2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79DD40-DB3C-6F05-50C9-86E7DC2D0290}"/>
              </a:ext>
            </a:extLst>
          </p:cNvPr>
          <p:cNvSpPr/>
          <p:nvPr/>
        </p:nvSpPr>
        <p:spPr bwMode="auto">
          <a:xfrm>
            <a:off x="370681" y="39624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2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第二部分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B192A5-011F-4C5E-1FDB-30EA1DAF3503}"/>
              </a:ext>
            </a:extLst>
          </p:cNvPr>
          <p:cNvSpPr/>
          <p:nvPr/>
        </p:nvSpPr>
        <p:spPr bwMode="auto">
          <a:xfrm>
            <a:off x="370680" y="496824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Rounding &amp; write-back </a:t>
            </a:r>
          </a:p>
          <a:p>
            <a:pPr algn="ctr"/>
            <a:r>
              <a:rPr lang="zh-CN" altLang="en-US" sz="2400" dirty="0"/>
              <a:t>四舍五入并输出结果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C5797-993E-4A6E-FF6E-7A11BC3C0DED}"/>
              </a:ext>
            </a:extLst>
          </p:cNvPr>
          <p:cNvSpPr txBox="1"/>
          <p:nvPr/>
        </p:nvSpPr>
        <p:spPr>
          <a:xfrm>
            <a:off x="5334000" y="312420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2F8023-3025-9495-21EF-7955DA76529B}"/>
              </a:ext>
            </a:extLst>
          </p:cNvPr>
          <p:cNvSpPr txBox="1"/>
          <p:nvPr/>
        </p:nvSpPr>
        <p:spPr>
          <a:xfrm>
            <a:off x="6248400" y="19050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6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6</a:t>
            </a:r>
            <a:endParaRPr lang="zh-CN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A4A0A5-5259-4890-A66C-F3087615112A}"/>
              </a:ext>
            </a:extLst>
          </p:cNvPr>
          <p:cNvSpPr txBox="1"/>
          <p:nvPr/>
        </p:nvSpPr>
        <p:spPr>
          <a:xfrm>
            <a:off x="5353050" y="212913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C3D36-41F4-B8F3-C3E8-6DEF17B0CE8A}"/>
              </a:ext>
            </a:extLst>
          </p:cNvPr>
          <p:cNvSpPr txBox="1"/>
          <p:nvPr/>
        </p:nvSpPr>
        <p:spPr>
          <a:xfrm>
            <a:off x="5349240" y="412557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70F32-5D5E-76E2-1E5C-747784E5EBFE}"/>
              </a:ext>
            </a:extLst>
          </p:cNvPr>
          <p:cNvSpPr txBox="1"/>
          <p:nvPr/>
        </p:nvSpPr>
        <p:spPr>
          <a:xfrm>
            <a:off x="5334000" y="509647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75793-D767-8CF1-DF4D-4712BED4EBD6}"/>
              </a:ext>
            </a:extLst>
          </p:cNvPr>
          <p:cNvSpPr txBox="1"/>
          <p:nvPr/>
        </p:nvSpPr>
        <p:spPr>
          <a:xfrm>
            <a:off x="6531451" y="3218587"/>
            <a:ext cx="2315369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400" dirty="0"/>
              <a:t>1 instruction in 4 cycles</a:t>
            </a:r>
          </a:p>
          <a:p>
            <a:pPr algn="ctr"/>
            <a:r>
              <a:rPr lang="zh-CN" altLang="en-US" sz="2400" dirty="0"/>
              <a:t>在</a:t>
            </a:r>
            <a:r>
              <a:rPr lang="en-US" altLang="zh-CN" sz="2400" dirty="0"/>
              <a:t>4</a:t>
            </a:r>
            <a:r>
              <a:rPr lang="zh-CN" altLang="en-US" sz="2400" dirty="0"/>
              <a:t>个周期中完成</a:t>
            </a:r>
            <a:r>
              <a:rPr lang="en-US" altLang="zh-CN" sz="2400" dirty="0"/>
              <a:t>1</a:t>
            </a:r>
            <a:r>
              <a:rPr lang="zh-CN" altLang="en-US" sz="2400" dirty="0"/>
              <a:t>条指令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95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5DBFB-A500-8A34-F40C-13B19261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C1B8-95FF-6CAD-0A57-9E86F220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Pipelining Multiple Instructions</a:t>
            </a:r>
            <a:br>
              <a:rPr lang="en-US" altLang="zh-CN" dirty="0"/>
            </a:br>
            <a:r>
              <a:rPr lang="zh-CN" altLang="en-US" dirty="0"/>
              <a:t>多指令执行流水化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824F0-9DE5-DCBA-59DF-AD06F6A4EC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64DCE-7392-C50C-E4BA-CDAE0EAD7D91}"/>
              </a:ext>
            </a:extLst>
          </p:cNvPr>
          <p:cNvSpPr/>
          <p:nvPr/>
        </p:nvSpPr>
        <p:spPr bwMode="auto">
          <a:xfrm>
            <a:off x="370681" y="19812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Instruction fetch &amp; decode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/>
              <a:t>指令获取与解析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E388BE-48EF-C681-5CCD-CE2B2BE97DD7}"/>
              </a:ext>
            </a:extLst>
          </p:cNvPr>
          <p:cNvSpPr/>
          <p:nvPr/>
        </p:nvSpPr>
        <p:spPr bwMode="auto">
          <a:xfrm>
            <a:off x="370681" y="29718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1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第一部分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D222E9-6576-C252-C5B7-8CA3401CCF99}"/>
              </a:ext>
            </a:extLst>
          </p:cNvPr>
          <p:cNvSpPr/>
          <p:nvPr/>
        </p:nvSpPr>
        <p:spPr bwMode="auto">
          <a:xfrm>
            <a:off x="370681" y="396240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Compute, part 2</a:t>
            </a:r>
            <a:b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lang="zh-CN" altLang="en-US" sz="2400" dirty="0"/>
              <a:t>计算的</a:t>
            </a:r>
            <a:r>
              <a:rPr lang="zh-CN" altLang="en-US" sz="2000" dirty="0"/>
              <a:t>第二部分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4B9F4-B07F-24AD-9AE9-BC2D2EAFAD34}"/>
              </a:ext>
            </a:extLst>
          </p:cNvPr>
          <p:cNvSpPr/>
          <p:nvPr/>
        </p:nvSpPr>
        <p:spPr bwMode="auto">
          <a:xfrm>
            <a:off x="370680" y="4968240"/>
            <a:ext cx="4506119" cy="762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Rounding &amp; write-back </a:t>
            </a:r>
          </a:p>
          <a:p>
            <a:pPr algn="ctr"/>
            <a:r>
              <a:rPr lang="zh-CN" altLang="en-US" sz="2400" dirty="0"/>
              <a:t>四舍五入并输出结果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553D73-423D-9A22-62C8-7DC65EC4CA48}"/>
              </a:ext>
            </a:extLst>
          </p:cNvPr>
          <p:cNvSpPr txBox="1"/>
          <p:nvPr/>
        </p:nvSpPr>
        <p:spPr>
          <a:xfrm>
            <a:off x="5334000" y="312420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8D0E45-A7ED-4514-9FF6-8CCF669BD2A4}"/>
              </a:ext>
            </a:extLst>
          </p:cNvPr>
          <p:cNvSpPr txBox="1"/>
          <p:nvPr/>
        </p:nvSpPr>
        <p:spPr>
          <a:xfrm>
            <a:off x="6248400" y="19050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Cycle 6</a:t>
            </a:r>
          </a:p>
          <a:p>
            <a:pPr algn="ctr"/>
            <a:r>
              <a:rPr lang="zh-CN" altLang="en-US" sz="2400" dirty="0"/>
              <a:t>周期</a:t>
            </a:r>
            <a:r>
              <a:rPr lang="en-US" altLang="zh-CN" sz="2400" dirty="0"/>
              <a:t>6</a:t>
            </a:r>
            <a:endParaRPr lang="zh-CN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EBEC3-3D31-08AA-DDB7-ED7E6E66CC70}"/>
              </a:ext>
            </a:extLst>
          </p:cNvPr>
          <p:cNvSpPr txBox="1"/>
          <p:nvPr/>
        </p:nvSpPr>
        <p:spPr>
          <a:xfrm>
            <a:off x="5353050" y="212913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8E8C8-9225-20B9-8828-44A471F32C97}"/>
              </a:ext>
            </a:extLst>
          </p:cNvPr>
          <p:cNvSpPr txBox="1"/>
          <p:nvPr/>
        </p:nvSpPr>
        <p:spPr>
          <a:xfrm>
            <a:off x="5349240" y="4125575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57346-0D0A-8A8C-A157-D9F6DD832AFA}"/>
              </a:ext>
            </a:extLst>
          </p:cNvPr>
          <p:cNvSpPr txBox="1"/>
          <p:nvPr/>
        </p:nvSpPr>
        <p:spPr>
          <a:xfrm>
            <a:off x="5334000" y="5096470"/>
            <a:ext cx="110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mulpd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98E75-AA4B-60AB-A909-343BB88687A8}"/>
              </a:ext>
            </a:extLst>
          </p:cNvPr>
          <p:cNvSpPr txBox="1"/>
          <p:nvPr/>
        </p:nvSpPr>
        <p:spPr>
          <a:xfrm>
            <a:off x="6531451" y="3218587"/>
            <a:ext cx="2315369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 </a:t>
            </a:r>
            <a:r>
              <a:rPr lang="en-US" altLang="zh-CN" sz="2400" b="1" dirty="0"/>
              <a:t>independent</a:t>
            </a:r>
            <a:r>
              <a:rPr lang="zh-CN" altLang="en-US" sz="2400" dirty="0"/>
              <a:t> </a:t>
            </a:r>
            <a:r>
              <a:rPr lang="en-US" altLang="zh-CN" sz="2400" dirty="0"/>
              <a:t>instructions in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latin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Symbol" panose="05050102010706020507" pitchFamily="18" charset="2"/>
                <a:cs typeface="Times New Roman" panose="02020603050405020304" pitchFamily="18" charset="0"/>
              </a:rPr>
              <a:t>+ 3</a:t>
            </a:r>
            <a:r>
              <a:rPr lang="en-US" altLang="zh-CN" sz="2400" dirty="0"/>
              <a:t> cycles</a:t>
            </a:r>
          </a:p>
          <a:p>
            <a:pPr algn="ctr"/>
            <a:r>
              <a:rPr lang="zh-CN" altLang="en-US" sz="2400" dirty="0"/>
              <a:t>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latin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Symbol" panose="05050102010706020507" pitchFamily="18" charset="2"/>
                <a:cs typeface="Times New Roman" panose="02020603050405020304" pitchFamily="18" charset="0"/>
              </a:rPr>
              <a:t>+ 3</a:t>
            </a:r>
            <a:r>
              <a:rPr lang="zh-CN" altLang="en-US" sz="2400" dirty="0"/>
              <a:t>个周期中完成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条</a:t>
            </a:r>
            <a:r>
              <a:rPr lang="zh-CN" altLang="en-US" sz="2400" b="1" dirty="0"/>
              <a:t>独立</a:t>
            </a:r>
            <a:r>
              <a:rPr lang="zh-CN" altLang="en-US" sz="2400" dirty="0"/>
              <a:t>指令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3079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BA07-95BD-EFA5-A3FB-EED45DFEE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EC19-A62A-BEA9-3DD5-70A1AC363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Original Loop Order</a:t>
            </a:r>
            <a:br>
              <a:rPr lang="en-US" altLang="zh-CN" dirty="0"/>
            </a:br>
            <a:r>
              <a:rPr lang="zh-CN" altLang="en-US" dirty="0"/>
              <a:t>原先的循环顺序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DA131-FFA5-853D-FEE8-6564071E95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C4ECFF-3F7F-3ED7-783D-AD949A1D1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52600"/>
            <a:ext cx="5730087" cy="10145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0FFCD19-8D2B-79CD-B7CB-3565EB699B25}"/>
              </a:ext>
            </a:extLst>
          </p:cNvPr>
          <p:cNvSpPr txBox="1"/>
          <p:nvPr/>
        </p:nvSpPr>
        <p:spPr>
          <a:xfrm>
            <a:off x="713118" y="2971800"/>
            <a:ext cx="7717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All the calculations are dependent</a:t>
            </a:r>
          </a:p>
          <a:p>
            <a:pPr algn="ctr"/>
            <a:r>
              <a:rPr lang="zh-CN" altLang="en-US" sz="2400" dirty="0"/>
              <a:t>所有的计算都是前后依赖的</a:t>
            </a:r>
            <a:endParaRPr lang="en-US" altLang="zh-C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D45C4B-1EF7-B143-AB25-FC5CED1051B2}"/>
              </a:ext>
            </a:extLst>
          </p:cNvPr>
          <p:cNvSpPr txBox="1"/>
          <p:nvPr/>
        </p:nvSpPr>
        <p:spPr>
          <a:xfrm>
            <a:off x="713118" y="3875425"/>
            <a:ext cx="7717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 cannot pack multiple numbers in 1 operation</a:t>
            </a:r>
          </a:p>
          <a:p>
            <a:pPr algn="ctr"/>
            <a:r>
              <a:rPr lang="zh-CN" altLang="en-US" sz="2400" dirty="0"/>
              <a:t>我们不能把多个数套在一个运算里计算</a:t>
            </a:r>
            <a:endParaRPr lang="en-US" altLang="zh-C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E153A-84A6-1F36-B8CB-7022466ADD0F}"/>
              </a:ext>
            </a:extLst>
          </p:cNvPr>
          <p:cNvSpPr txBox="1"/>
          <p:nvPr/>
        </p:nvSpPr>
        <p:spPr>
          <a:xfrm>
            <a:off x="728358" y="4819471"/>
            <a:ext cx="7717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 cannot run the other arithmetic </a:t>
            </a:r>
          </a:p>
          <a:p>
            <a:pPr algn="ctr"/>
            <a:r>
              <a:rPr lang="en-US" altLang="zh-CN" sz="2400" dirty="0"/>
              <a:t>instruction before we finish the previous one</a:t>
            </a:r>
          </a:p>
          <a:p>
            <a:pPr algn="ctr"/>
            <a:r>
              <a:rPr lang="zh-CN" altLang="en-US" sz="2400" dirty="0"/>
              <a:t>在一个算术运算指令结束之前，我们不能运行下一个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275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1DC6-4BEF-A6BC-2938-540EE6F4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63BB-0F02-E407-315F-FDAE8269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Modified Loop Order</a:t>
            </a:r>
            <a:br>
              <a:rPr lang="en-US" altLang="zh-CN" dirty="0"/>
            </a:br>
            <a:r>
              <a:rPr lang="zh-CN" altLang="en-US" dirty="0"/>
              <a:t>改变后的循环顺序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CFF68-0707-8876-4067-B8A891FA51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BF14DA-30D2-7B6D-42D0-B1E681325EAE}"/>
              </a:ext>
            </a:extLst>
          </p:cNvPr>
          <p:cNvSpPr txBox="1"/>
          <p:nvPr/>
        </p:nvSpPr>
        <p:spPr>
          <a:xfrm>
            <a:off x="713118" y="2971800"/>
            <a:ext cx="7717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Calculations for different series are independent</a:t>
            </a:r>
          </a:p>
          <a:p>
            <a:pPr algn="ctr"/>
            <a:r>
              <a:rPr lang="zh-CN" altLang="en-US" sz="2400" dirty="0"/>
              <a:t>不同序列的计算是独立的</a:t>
            </a:r>
            <a:endParaRPr lang="en-US" altLang="zh-C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01E69-7397-CB8B-5768-A9B8786AFBF6}"/>
              </a:ext>
            </a:extLst>
          </p:cNvPr>
          <p:cNvSpPr txBox="1"/>
          <p:nvPr/>
        </p:nvSpPr>
        <p:spPr>
          <a:xfrm>
            <a:off x="327230" y="3875425"/>
            <a:ext cx="8489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Now we can pack multiple numbers in 1 SIMD instruction</a:t>
            </a:r>
          </a:p>
          <a:p>
            <a:pPr algn="ctr"/>
            <a:r>
              <a:rPr lang="zh-CN" altLang="en-US" sz="2400" dirty="0"/>
              <a:t>现在我们能把多个数套在一个</a:t>
            </a:r>
            <a:r>
              <a:rPr lang="en-US" altLang="zh-CN" sz="2400" dirty="0"/>
              <a:t>SIMD</a:t>
            </a:r>
            <a:r>
              <a:rPr lang="zh-CN" altLang="en-US" sz="2400" dirty="0"/>
              <a:t>指令中</a:t>
            </a:r>
            <a:endParaRPr lang="en-US" altLang="zh-C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37279-BBAD-651B-00B4-D58A426AD3C1}"/>
              </a:ext>
            </a:extLst>
          </p:cNvPr>
          <p:cNvSpPr txBox="1"/>
          <p:nvPr/>
        </p:nvSpPr>
        <p:spPr>
          <a:xfrm>
            <a:off x="-82007" y="4819471"/>
            <a:ext cx="9338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 can issue multiple independent instructions w/ </a:t>
            </a:r>
          </a:p>
          <a:p>
            <a:pPr algn="ctr"/>
            <a:r>
              <a:rPr lang="en-US" altLang="zh-CN" sz="2400" dirty="0"/>
              <a:t>superscalar execution &amp; pipelining multiple instructions</a:t>
            </a:r>
          </a:p>
          <a:p>
            <a:pPr algn="ctr"/>
            <a:r>
              <a:rPr lang="zh-CN" altLang="en-US" sz="2400" dirty="0"/>
              <a:t>我们可以用超越标量的执行和多指令执行流水化运行多条独立指令</a:t>
            </a:r>
            <a:endParaRPr lang="en-US" altLang="zh-C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1C618-3D5F-4887-834E-876C0B96D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42935"/>
            <a:ext cx="5658639" cy="10002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920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B2DCF-43F0-1165-CFE8-DF331FEAD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DC4D-ED40-E3A7-BF4E-48E749F0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Actual Execution  Efficiency  </a:t>
            </a:r>
            <a:br>
              <a:rPr lang="en-US" altLang="zh-CN" dirty="0"/>
            </a:br>
            <a:r>
              <a:rPr lang="zh-CN" altLang="en-US" dirty="0"/>
              <a:t>实际执行效率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8C12B-B1CC-1A62-6DF5-362AED107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Depending on Compiler  </a:t>
            </a:r>
            <a:r>
              <a:rPr lang="zh-CN" altLang="en-US" dirty="0"/>
              <a:t>取决于编译器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Generate appropriate instruction stream  </a:t>
            </a:r>
            <a:br>
              <a:rPr lang="en-US" altLang="zh-CN" dirty="0"/>
            </a:br>
            <a:r>
              <a:rPr lang="zh-CN" altLang="en-US" dirty="0"/>
              <a:t>产生合适的指令流</a:t>
            </a:r>
            <a:endParaRPr lang="en-US" altLang="zh-CN" dirty="0"/>
          </a:p>
          <a:p>
            <a:r>
              <a:rPr lang="en-US" altLang="zh-CN" dirty="0"/>
              <a:t>Depending on CPU  </a:t>
            </a:r>
            <a:r>
              <a:rPr lang="zh-CN" altLang="en-US" dirty="0"/>
              <a:t>取决于</a:t>
            </a:r>
            <a:r>
              <a:rPr lang="en-US" altLang="zh-CN" dirty="0"/>
              <a:t>CPU</a:t>
            </a:r>
          </a:p>
          <a:p>
            <a:pPr lvl="1"/>
            <a:r>
              <a:rPr lang="en-US" altLang="zh-CN" dirty="0"/>
              <a:t>Optimize the execution of the instruction stream, e.g., superscalar execution, pipelining  </a:t>
            </a:r>
            <a:r>
              <a:rPr lang="zh-CN" altLang="en-US" dirty="0"/>
              <a:t>优化指令流的执行，例如超越标量的执行、流水化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A77D7-C092-0B04-C731-788319C2EF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2183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A269A-3CB0-91F7-7166-65819DBC3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C494D-15A5-C756-A845-AD7AC082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Now to Something Subtle</a:t>
            </a:r>
            <a:br>
              <a:rPr lang="en-US" altLang="zh-CN" dirty="0"/>
            </a:br>
            <a:r>
              <a:rPr lang="zh-CN" altLang="en-US" dirty="0"/>
              <a:t>现在迈向微妙之处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38CD1-0F22-3276-DB1F-FCFDB278FC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BB502B-6D33-F871-2839-3298C80381ED}"/>
              </a:ext>
            </a:extLst>
          </p:cNvPr>
          <p:cNvSpPr txBox="1"/>
          <p:nvPr/>
        </p:nvSpPr>
        <p:spPr>
          <a:xfrm>
            <a:off x="505149" y="1782246"/>
            <a:ext cx="813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This example is naturally parallel: Each data point</a:t>
            </a:r>
          </a:p>
          <a:p>
            <a:pPr algn="ctr"/>
            <a:r>
              <a:rPr lang="en-US" altLang="zh-CN" sz="2400" dirty="0"/>
              <a:t> goes for simple &amp; independent computation</a:t>
            </a:r>
          </a:p>
          <a:p>
            <a:pPr algn="ctr"/>
            <a:r>
              <a:rPr lang="zh-CN" altLang="en-US" sz="2400" dirty="0"/>
              <a:t>这个例子是天然并行的：每个数据点都进行独立的简单运算</a:t>
            </a:r>
            <a:endParaRPr lang="en-US" altLang="zh-C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A313F-78C2-2FDC-7872-A527617833E3}"/>
              </a:ext>
            </a:extLst>
          </p:cNvPr>
          <p:cNvSpPr txBox="1"/>
          <p:nvPr/>
        </p:nvSpPr>
        <p:spPr>
          <a:xfrm>
            <a:off x="713118" y="3275261"/>
            <a:ext cx="7717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Computation in other problems may be more complex &amp; may not always be independent</a:t>
            </a:r>
          </a:p>
          <a:p>
            <a:pPr algn="ctr"/>
            <a:r>
              <a:rPr lang="zh-CN" altLang="en-US" sz="2400" dirty="0"/>
              <a:t>别的问题中的计算可能会更复杂，并非完全独立</a:t>
            </a:r>
            <a:endParaRPr lang="en-US" altLang="zh-C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1CFE5-CD67-14DE-2BBE-1F226C02751C}"/>
              </a:ext>
            </a:extLst>
          </p:cNvPr>
          <p:cNvSpPr txBox="1"/>
          <p:nvPr/>
        </p:nvSpPr>
        <p:spPr>
          <a:xfrm>
            <a:off x="713118" y="4831585"/>
            <a:ext cx="7717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Problem first! Let’s see a different problem</a:t>
            </a:r>
          </a:p>
          <a:p>
            <a:pPr algn="ctr"/>
            <a:r>
              <a:rPr lang="zh-CN" altLang="en-US" sz="2400" dirty="0"/>
              <a:t>先讨论问题！让我们来看另一个问题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29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Problem  </a:t>
            </a:r>
            <a:r>
              <a:rPr lang="zh-CN" altLang="en-US" dirty="0"/>
              <a:t>这个问题</a:t>
            </a:r>
            <a:endParaRPr lang="zh-CN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C01F3-2ED9-4B4E-8C3E-260F0927D24A}"/>
              </a:ext>
            </a:extLst>
          </p:cNvPr>
          <p:cNvSpPr txBox="1"/>
          <p:nvPr/>
        </p:nvSpPr>
        <p:spPr>
          <a:xfrm>
            <a:off x="1676400" y="1600200"/>
            <a:ext cx="579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Handwritten ZIP code recognition</a:t>
            </a:r>
          </a:p>
          <a:p>
            <a:pPr algn="ctr"/>
            <a:r>
              <a:rPr lang="zh-CN" altLang="en-US" sz="2200" dirty="0"/>
              <a:t>手写邮政编码识别</a:t>
            </a:r>
            <a:r>
              <a:rPr lang="en-US" altLang="zh-CN" sz="2200" dirty="0"/>
              <a:t> </a:t>
            </a:r>
            <a:endParaRPr lang="zh-CN" alt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A35C97-D792-4471-BBC5-C0389943E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040203"/>
            <a:ext cx="297206" cy="3200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10A567-A3BA-4890-A74B-87ADEA698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876" y="2476843"/>
            <a:ext cx="388654" cy="3581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637A44-F40C-469C-BFEC-9F64E7E16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3591760"/>
            <a:ext cx="373412" cy="350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2BB9ED-2EBA-4B12-B4FF-A92ED29A0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031" y="4087554"/>
            <a:ext cx="350550" cy="37341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0C7E3ED2-0F30-4F70-9078-9F3BF022DCD8}"/>
              </a:ext>
            </a:extLst>
          </p:cNvPr>
          <p:cNvSpPr/>
          <p:nvPr/>
        </p:nvSpPr>
        <p:spPr bwMode="auto">
          <a:xfrm>
            <a:off x="4229100" y="2566385"/>
            <a:ext cx="685800" cy="1790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0949F74-08A9-4A53-A6BB-BA5E3325CE36}"/>
              </a:ext>
            </a:extLst>
          </p:cNvPr>
          <p:cNvSpPr/>
          <p:nvPr/>
        </p:nvSpPr>
        <p:spPr bwMode="auto">
          <a:xfrm>
            <a:off x="4229100" y="3129512"/>
            <a:ext cx="685800" cy="1790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3CCCD8E-1439-48C9-9FBF-AD8FB2702A5B}"/>
              </a:ext>
            </a:extLst>
          </p:cNvPr>
          <p:cNvSpPr/>
          <p:nvPr/>
        </p:nvSpPr>
        <p:spPr bwMode="auto">
          <a:xfrm>
            <a:off x="4229100" y="3677492"/>
            <a:ext cx="685800" cy="1790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59EC5A8-BE3A-4A09-91F3-6D944AD5BECA}"/>
              </a:ext>
            </a:extLst>
          </p:cNvPr>
          <p:cNvSpPr/>
          <p:nvPr/>
        </p:nvSpPr>
        <p:spPr bwMode="auto">
          <a:xfrm>
            <a:off x="4229100" y="4184717"/>
            <a:ext cx="685800" cy="1790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95DE03-81EC-4EB0-B753-48775FE6FCC7}"/>
              </a:ext>
            </a:extLst>
          </p:cNvPr>
          <p:cNvSpPr txBox="1"/>
          <p:nvPr/>
        </p:nvSpPr>
        <p:spPr>
          <a:xfrm>
            <a:off x="5317633" y="2440484"/>
            <a:ext cx="413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</a:t>
            </a:r>
            <a:endParaRPr lang="zh-CN" altLang="en-US" sz="2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8C1606-BA30-40BD-A185-62B4E38F8BFC}"/>
              </a:ext>
            </a:extLst>
          </p:cNvPr>
          <p:cNvSpPr txBox="1"/>
          <p:nvPr/>
        </p:nvSpPr>
        <p:spPr>
          <a:xfrm>
            <a:off x="5317633" y="3003611"/>
            <a:ext cx="413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</a:t>
            </a:r>
            <a:endParaRPr lang="zh-CN" altLang="en-US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CF1658-E64E-418C-A994-09302EDA3C1D}"/>
              </a:ext>
            </a:extLst>
          </p:cNvPr>
          <p:cNvSpPr txBox="1"/>
          <p:nvPr/>
        </p:nvSpPr>
        <p:spPr>
          <a:xfrm>
            <a:off x="5317633" y="3566738"/>
            <a:ext cx="413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4</a:t>
            </a:r>
            <a:endParaRPr lang="zh-CN" altLang="en-US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3E5EDB-779A-4AA1-B6C3-C480796281C4}"/>
              </a:ext>
            </a:extLst>
          </p:cNvPr>
          <p:cNvSpPr txBox="1"/>
          <p:nvPr/>
        </p:nvSpPr>
        <p:spPr>
          <a:xfrm>
            <a:off x="5318699" y="4074553"/>
            <a:ext cx="413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6</a:t>
            </a:r>
            <a:endParaRPr lang="zh-CN" altLang="en-US" sz="2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B7D7BF-35C7-4434-A11A-D7A4C8D2251A}"/>
              </a:ext>
            </a:extLst>
          </p:cNvPr>
          <p:cNvSpPr txBox="1"/>
          <p:nvPr/>
        </p:nvSpPr>
        <p:spPr>
          <a:xfrm>
            <a:off x="3315560" y="4769140"/>
            <a:ext cx="461665" cy="4653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BB1154-2345-4406-9F9E-C14AE79F0402}"/>
              </a:ext>
            </a:extLst>
          </p:cNvPr>
          <p:cNvSpPr txBox="1"/>
          <p:nvPr/>
        </p:nvSpPr>
        <p:spPr>
          <a:xfrm>
            <a:off x="4417367" y="4769140"/>
            <a:ext cx="461665" cy="6066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89480B-C90D-4371-B154-4AB340F0C54A}"/>
              </a:ext>
            </a:extLst>
          </p:cNvPr>
          <p:cNvSpPr txBox="1"/>
          <p:nvPr/>
        </p:nvSpPr>
        <p:spPr>
          <a:xfrm>
            <a:off x="5366658" y="4792427"/>
            <a:ext cx="461665" cy="46537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FEED95-E7B0-4F94-CB5D-8E8BE28B4C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102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061FEF-B574-4CD3-AEDA-FFA0609BF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77" y="2786360"/>
            <a:ext cx="2895055" cy="27178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Define the Input </a:t>
            </a:r>
            <a:r>
              <a:rPr lang="zh-CN" altLang="en-US" dirty="0">
                <a:latin typeface="+mj-ea"/>
              </a:rPr>
              <a:t>定义输入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AA9C06-E645-4BA2-B65C-AA2C364DEF19}"/>
              </a:ext>
            </a:extLst>
          </p:cNvPr>
          <p:cNvGraphicFramePr>
            <a:graphicFrameLocks noGrp="1"/>
          </p:cNvGraphicFramePr>
          <p:nvPr/>
        </p:nvGraphicFramePr>
        <p:xfrm>
          <a:off x="406577" y="2773664"/>
          <a:ext cx="2895600" cy="2717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975">
                  <a:extLst>
                    <a:ext uri="{9D8B030D-6E8A-4147-A177-3AD203B41FA5}">
                      <a16:colId xmlns:a16="http://schemas.microsoft.com/office/drawing/2014/main" val="10997176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1325880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32797996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350796746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1378731859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309816433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1954079805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424554737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932003077"/>
                    </a:ext>
                  </a:extLst>
                </a:gridCol>
                <a:gridCol w="200025">
                  <a:extLst>
                    <a:ext uri="{9D8B030D-6E8A-4147-A177-3AD203B41FA5}">
                      <a16:colId xmlns:a16="http://schemas.microsoft.com/office/drawing/2014/main" val="2595031180"/>
                    </a:ext>
                  </a:extLst>
                </a:gridCol>
                <a:gridCol w="161925">
                  <a:extLst>
                    <a:ext uri="{9D8B030D-6E8A-4147-A177-3AD203B41FA5}">
                      <a16:colId xmlns:a16="http://schemas.microsoft.com/office/drawing/2014/main" val="216480792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28883929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81870276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88211961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359932814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1466328639"/>
                    </a:ext>
                  </a:extLst>
                </a:gridCol>
              </a:tblGrid>
              <a:tr h="169863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87450361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0168417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16988036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2881827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94005904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96091016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97322008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97412237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5803810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9631334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05868132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01728032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80546328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16442680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44804331"/>
                  </a:ext>
                </a:extLst>
              </a:tr>
              <a:tr h="169863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322548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6E89B8A-A9D5-4438-9E60-6A4D8E0392B7}"/>
              </a:ext>
            </a:extLst>
          </p:cNvPr>
          <p:cNvSpPr txBox="1"/>
          <p:nvPr/>
        </p:nvSpPr>
        <p:spPr>
          <a:xfrm>
            <a:off x="289560" y="5560298"/>
            <a:ext cx="32814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Apply a 16x16 grid</a:t>
            </a:r>
          </a:p>
          <a:p>
            <a:pPr algn="ctr"/>
            <a:r>
              <a:rPr lang="zh-CN" altLang="en-US" sz="2200" dirty="0"/>
              <a:t>加上一个</a:t>
            </a:r>
            <a:r>
              <a:rPr lang="en-US" altLang="zh-CN" sz="2200" dirty="0"/>
              <a:t>16x16</a:t>
            </a:r>
            <a:r>
              <a:rPr lang="zh-CN" altLang="en-US" sz="2200" dirty="0"/>
              <a:t>的网格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FCFE8-C228-47D7-AE15-63B36890B105}"/>
              </a:ext>
            </a:extLst>
          </p:cNvPr>
          <p:cNvSpPr txBox="1"/>
          <p:nvPr/>
        </p:nvSpPr>
        <p:spPr>
          <a:xfrm>
            <a:off x="1005261" y="1905000"/>
            <a:ext cx="152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Image </a:t>
            </a:r>
          </a:p>
          <a:p>
            <a:pPr algn="ctr"/>
            <a:r>
              <a:rPr lang="zh-CN" altLang="en-US" sz="2200" dirty="0"/>
              <a:t>图像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7E34996-0D04-4C1A-B13E-AE031FC08D4D}"/>
              </a:ext>
            </a:extLst>
          </p:cNvPr>
          <p:cNvSpPr/>
          <p:nvPr/>
        </p:nvSpPr>
        <p:spPr bwMode="auto">
          <a:xfrm>
            <a:off x="3302177" y="3687197"/>
            <a:ext cx="3976110" cy="76944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36961B-E840-4265-A873-12BCEDC28099}"/>
              </a:ext>
            </a:extLst>
          </p:cNvPr>
          <p:cNvSpPr txBox="1"/>
          <p:nvPr/>
        </p:nvSpPr>
        <p:spPr>
          <a:xfrm>
            <a:off x="3370274" y="2754053"/>
            <a:ext cx="32814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Calculate the ‘weight’ in each grid</a:t>
            </a:r>
          </a:p>
          <a:p>
            <a:pPr algn="ctr"/>
            <a:r>
              <a:rPr lang="zh-CN" altLang="en-US" sz="2200" dirty="0"/>
              <a:t>计算每个格子的“重量”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81A6B6-1D70-495E-8FAC-9C87229B2436}"/>
              </a:ext>
            </a:extLst>
          </p:cNvPr>
          <p:cNvSpPr txBox="1"/>
          <p:nvPr/>
        </p:nvSpPr>
        <p:spPr>
          <a:xfrm>
            <a:off x="3302177" y="4329531"/>
            <a:ext cx="32814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Normalize to [-1,1] </a:t>
            </a:r>
          </a:p>
          <a:p>
            <a:pPr algn="ctr"/>
            <a:r>
              <a:rPr lang="zh-CN" altLang="en-US" sz="2200" dirty="0"/>
              <a:t>归一化至</a:t>
            </a:r>
            <a:r>
              <a:rPr lang="en-US" altLang="zh-CN" sz="2200" dirty="0"/>
              <a:t>[-1,1]</a:t>
            </a:r>
            <a:r>
              <a:rPr lang="zh-CN" altLang="en-US" sz="2200" dirty="0"/>
              <a:t>区间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BCBA50-5B1B-431E-B6D9-62ED25E522FF}"/>
              </a:ext>
            </a:extLst>
          </p:cNvPr>
          <p:cNvGrpSpPr/>
          <p:nvPr/>
        </p:nvGrpSpPr>
        <p:grpSpPr>
          <a:xfrm>
            <a:off x="6583664" y="1447800"/>
            <a:ext cx="2560336" cy="4426058"/>
            <a:chOff x="6583664" y="1593742"/>
            <a:chExt cx="2560336" cy="442605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1C50E1-B2D9-454C-B504-DE6CFCDCB689}"/>
                </a:ext>
              </a:extLst>
            </p:cNvPr>
            <p:cNvSpPr txBox="1"/>
            <p:nvPr/>
          </p:nvSpPr>
          <p:spPr>
            <a:xfrm>
              <a:off x="7467600" y="3142910"/>
              <a:ext cx="72717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-1,</a:t>
              </a:r>
            </a:p>
            <a:p>
              <a:pPr algn="ctr"/>
              <a:r>
                <a:rPr lang="en-US" altLang="zh-CN" sz="2200" dirty="0"/>
                <a:t>-1,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C5CE68-7A46-4D06-A972-F94D1F0BA169}"/>
                </a:ext>
              </a:extLst>
            </p:cNvPr>
            <p:cNvSpPr txBox="1"/>
            <p:nvPr/>
          </p:nvSpPr>
          <p:spPr>
            <a:xfrm>
              <a:off x="7696200" y="3920893"/>
              <a:ext cx="461665" cy="60668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3BFAE2-8B20-4566-933B-836DA1CED2A8}"/>
                </a:ext>
              </a:extLst>
            </p:cNvPr>
            <p:cNvSpPr txBox="1"/>
            <p:nvPr/>
          </p:nvSpPr>
          <p:spPr>
            <a:xfrm>
              <a:off x="7432778" y="4196634"/>
              <a:ext cx="9144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0.85,</a:t>
              </a:r>
            </a:p>
            <a:p>
              <a:pPr algn="ctr"/>
              <a:r>
                <a:rPr lang="en-US" altLang="zh-CN" sz="2200" dirty="0"/>
                <a:t>0.93, 1,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78B69A-4A82-46AC-863A-E0C494B10DD6}"/>
                </a:ext>
              </a:extLst>
            </p:cNvPr>
            <p:cNvSpPr txBox="1"/>
            <p:nvPr/>
          </p:nvSpPr>
          <p:spPr>
            <a:xfrm>
              <a:off x="7685425" y="5366771"/>
              <a:ext cx="461665" cy="60668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3A36248-D64D-44A6-8F1F-666B47587929}"/>
                </a:ext>
              </a:extLst>
            </p:cNvPr>
            <p:cNvSpPr txBox="1"/>
            <p:nvPr/>
          </p:nvSpPr>
          <p:spPr>
            <a:xfrm>
              <a:off x="7467600" y="5588913"/>
              <a:ext cx="7271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-1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3C685E-6081-436F-9C50-A5D69A92CE92}"/>
                </a:ext>
              </a:extLst>
            </p:cNvPr>
            <p:cNvSpPr txBox="1"/>
            <p:nvPr/>
          </p:nvSpPr>
          <p:spPr>
            <a:xfrm>
              <a:off x="6583664" y="1593742"/>
              <a:ext cx="256033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1-D array (vector) w/ size of 256</a:t>
              </a:r>
            </a:p>
            <a:p>
              <a:pPr algn="ctr"/>
              <a:r>
                <a:rPr lang="zh-CN" altLang="en-US" sz="2200" dirty="0"/>
                <a:t>大小为</a:t>
              </a:r>
              <a:r>
                <a:rPr lang="en-US" altLang="zh-CN" sz="2200" dirty="0"/>
                <a:t>256</a:t>
              </a:r>
              <a:r>
                <a:rPr lang="zh-CN" altLang="en-US" sz="2200" dirty="0"/>
                <a:t>的一维数组（向量）</a:t>
              </a: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355DA95-4FF7-0AD2-207F-608D78B1F6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774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Define the Input </a:t>
            </a:r>
            <a:r>
              <a:rPr lang="zh-CN" altLang="en-US" dirty="0">
                <a:latin typeface="+mj-ea"/>
              </a:rPr>
              <a:t>定义输入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819AE5-68B3-46C1-AD5F-305819837116}"/>
              </a:ext>
            </a:extLst>
          </p:cNvPr>
          <p:cNvSpPr txBox="1"/>
          <p:nvPr/>
        </p:nvSpPr>
        <p:spPr>
          <a:xfrm>
            <a:off x="2743200" y="1676400"/>
            <a:ext cx="365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the inputs become … </a:t>
            </a:r>
            <a:r>
              <a:rPr lang="zh-CN" altLang="en-US" sz="2200" dirty="0"/>
              <a:t>现在输入变成了</a:t>
            </a:r>
            <a:r>
              <a:rPr lang="en-US" altLang="zh-CN" sz="2200" dirty="0"/>
              <a:t>……</a:t>
            </a:r>
            <a:endParaRPr lang="zh-CN" alt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60474-2E59-42A4-96E1-68B19E050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73" y="3048000"/>
            <a:ext cx="2453853" cy="24462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AF9CB-B0C6-45EA-8236-CA78B08383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063241"/>
            <a:ext cx="2438611" cy="2430991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51B77B6-36D4-63A7-F520-A2A5EC005C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103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Define the Output  </a:t>
            </a:r>
            <a:r>
              <a:rPr lang="zh-CN" altLang="en-US" dirty="0">
                <a:latin typeface="+mj-ea"/>
              </a:rPr>
              <a:t>定义输出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It’s Easy </a:t>
            </a:r>
            <a:r>
              <a:rPr lang="zh-CN" altLang="en-US" dirty="0"/>
              <a:t>这很简单</a:t>
            </a:r>
            <a:endParaRPr lang="en-US" altLang="zh-CN" dirty="0"/>
          </a:p>
          <a:p>
            <a:pPr lvl="1"/>
            <a:r>
              <a:rPr lang="en-US" altLang="zh-CN" dirty="0"/>
              <a:t>One of {1,2,…,10}  {1,2,..,10}</a:t>
            </a:r>
            <a:r>
              <a:rPr lang="zh-CN" altLang="en-US" dirty="0"/>
              <a:t>中的某一个</a:t>
            </a:r>
            <a:endParaRPr lang="en-US" altLang="zh-CN" dirty="0"/>
          </a:p>
          <a:p>
            <a:pPr lvl="2"/>
            <a:r>
              <a:rPr lang="en-US" altLang="zh-CN" dirty="0"/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‘0’, 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‘1’, …, 10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/>
              <a:t> ‘9’</a:t>
            </a:r>
          </a:p>
          <a:p>
            <a:r>
              <a:rPr lang="en-US" altLang="zh-CN" dirty="0"/>
              <a:t>Sounds Confusing? </a:t>
            </a:r>
            <a:r>
              <a:rPr lang="zh-CN" altLang="en-US" dirty="0"/>
              <a:t>听上去有点错乱？</a:t>
            </a:r>
            <a:endParaRPr lang="en-US" altLang="zh-CN" dirty="0"/>
          </a:p>
          <a:p>
            <a:pPr lvl="1"/>
            <a:r>
              <a:rPr lang="en-US" altLang="zh-CN" dirty="0"/>
              <a:t>Why not one of {0,…,9}?                        </a:t>
            </a:r>
            <a:r>
              <a:rPr lang="zh-CN" altLang="en-US" dirty="0"/>
              <a:t>为什么不是</a:t>
            </a:r>
            <a:r>
              <a:rPr lang="en-US" altLang="zh-CN" dirty="0"/>
              <a:t>{0,…,9}</a:t>
            </a:r>
            <a:r>
              <a:rPr lang="zh-CN" altLang="en-US" dirty="0"/>
              <a:t>中的某一个？</a:t>
            </a:r>
            <a:endParaRPr lang="en-US" altLang="zh-CN" dirty="0"/>
          </a:p>
          <a:p>
            <a:pPr lvl="2"/>
            <a:r>
              <a:rPr lang="en-US" altLang="zh-CN" dirty="0"/>
              <a:t>Yes, you can certainly do that!                        </a:t>
            </a:r>
            <a:r>
              <a:rPr lang="zh-CN" altLang="en-US" dirty="0"/>
              <a:t>对，你当然可以这样定义！</a:t>
            </a:r>
            <a:endParaRPr lang="en-US" altLang="zh-CN" dirty="0"/>
          </a:p>
          <a:p>
            <a:pPr lvl="1"/>
            <a:r>
              <a:rPr lang="en-US" altLang="zh-CN" dirty="0"/>
              <a:t>But here we follow the original dataset </a:t>
            </a:r>
            <a:r>
              <a:rPr lang="zh-CN" altLang="en-US" dirty="0"/>
              <a:t>然而这里我们遵从原始数据集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4E74A06-05A2-467A-4203-D684A59B73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972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Simple Idea  </a:t>
            </a:r>
            <a:r>
              <a:rPr lang="zh-CN" altLang="en-US" dirty="0">
                <a:latin typeface="+mj-ea"/>
              </a:rPr>
              <a:t>简单的想法</a:t>
            </a:r>
            <a:endParaRPr lang="en-US" altLang="zh-CN" dirty="0">
              <a:latin typeface="+mj-ea"/>
            </a:endParaRP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48C89C-3A91-4AF0-A33B-10B72CA6A19F}"/>
              </a:ext>
            </a:extLst>
          </p:cNvPr>
          <p:cNvSpPr/>
          <p:nvPr/>
        </p:nvSpPr>
        <p:spPr>
          <a:xfrm>
            <a:off x="381000" y="3124200"/>
            <a:ext cx="8382000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265113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He who walks with wise men will be wise, but the companion of fools will suffer harm</a:t>
            </a:r>
          </a:p>
          <a:p>
            <a:pPr marL="0" lvl="1" algn="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- Proverbs 13:20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C965C9-C9DB-4FFA-989A-8511F19A9E5A}"/>
              </a:ext>
            </a:extLst>
          </p:cNvPr>
          <p:cNvSpPr/>
          <p:nvPr/>
        </p:nvSpPr>
        <p:spPr>
          <a:xfrm>
            <a:off x="381000" y="4528370"/>
            <a:ext cx="8382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265113" eaLnBrk="1" hangingPunct="1">
              <a:lnSpc>
                <a:spcPct val="90000"/>
              </a:lnSpc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近朱者赤，近墨者黑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1" indent="265113" algn="r" eaLnBrk="1" hangingPunct="1">
              <a:lnSpc>
                <a:spcPct val="90000"/>
              </a:lnSpc>
            </a:pPr>
            <a:r>
              <a:rPr lang="en-US" altLang="zh-CN" sz="2400" dirty="0"/>
              <a:t>-《</a:t>
            </a:r>
            <a:r>
              <a:rPr lang="zh-CN" altLang="en-US" sz="2400" dirty="0"/>
              <a:t>太子少傅箴</a:t>
            </a:r>
            <a:r>
              <a:rPr lang="en-US" altLang="zh-CN" sz="2400" dirty="0"/>
              <a:t>》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6CCD65-6842-4ABF-8BB2-616390DCC022}"/>
              </a:ext>
            </a:extLst>
          </p:cNvPr>
          <p:cNvSpPr/>
          <p:nvPr/>
        </p:nvSpPr>
        <p:spPr>
          <a:xfrm>
            <a:off x="381000" y="1913823"/>
            <a:ext cx="838200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265113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Show me who your friends are, and I’ll tell you who you are.</a:t>
            </a:r>
          </a:p>
          <a:p>
            <a:pPr marL="0" lvl="1" indent="265113" algn="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- Old adage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AF173EB-62C6-B5F0-B042-454654EA46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38720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An Abstract Example 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latin typeface="+mj-ea"/>
              </a:rPr>
              <a:t>一个抽象的例子</a:t>
            </a:r>
            <a:endParaRPr lang="en-US" altLang="zh-CN" dirty="0">
              <a:latin typeface="+mj-ea"/>
            </a:endParaRP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6362"/>
            <a:ext cx="7772400" cy="4491038"/>
          </a:xfrm>
        </p:spPr>
        <p:txBody>
          <a:bodyPr/>
          <a:lstStyle/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ja-JP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dirty="0">
              <a:ea typeface="ＭＳ Ｐゴシック" panose="020B0600070205080204" pitchFamily="34" charset="-128"/>
            </a:endParaRPr>
          </a:p>
        </p:txBody>
      </p:sp>
      <p:sp>
        <p:nvSpPr>
          <p:cNvPr id="6" name="Oval 12">
            <a:extLst>
              <a:ext uri="{FF2B5EF4-FFF2-40B4-BE49-F238E27FC236}">
                <a16:creationId xmlns:a16="http://schemas.microsoft.com/office/drawing/2014/main" id="{E9273836-63DE-457F-99E8-1B1858AF8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004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6F3B78CA-3A08-4339-8C8F-4CBA9019D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766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8" name="Oval 14">
            <a:extLst>
              <a:ext uri="{FF2B5EF4-FFF2-40B4-BE49-F238E27FC236}">
                <a16:creationId xmlns:a16="http://schemas.microsoft.com/office/drawing/2014/main" id="{A16E8BE5-0241-4EFF-A24C-E3A1E6B4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2578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85C49A06-D77D-45E5-A9BF-38EF18936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8768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0" name="Oval 16">
            <a:extLst>
              <a:ext uri="{FF2B5EF4-FFF2-40B4-BE49-F238E27FC236}">
                <a16:creationId xmlns:a16="http://schemas.microsoft.com/office/drawing/2014/main" id="{4DE492FE-795C-4F97-A2C2-46C0F7439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9812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1" name="Oval 18">
            <a:extLst>
              <a:ext uri="{FF2B5EF4-FFF2-40B4-BE49-F238E27FC236}">
                <a16:creationId xmlns:a16="http://schemas.microsoft.com/office/drawing/2014/main" id="{4A90A63F-50EE-4B04-AB81-12FC2B426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928016A7-E659-4B73-81EC-26AAC18E3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133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99E91D13-EC57-4F59-B2C8-506F20FFB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124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FF9122F3-79A4-4115-A719-16371E209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8006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6" name="Oval 22">
            <a:extLst>
              <a:ext uri="{FF2B5EF4-FFF2-40B4-BE49-F238E27FC236}">
                <a16:creationId xmlns:a16="http://schemas.microsoft.com/office/drawing/2014/main" id="{FB683E5D-DB57-4ADC-9820-CC0EF759A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352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7" name="Oval 23">
            <a:extLst>
              <a:ext uri="{FF2B5EF4-FFF2-40B4-BE49-F238E27FC236}">
                <a16:creationId xmlns:a16="http://schemas.microsoft.com/office/drawing/2014/main" id="{DCA6ECF2-AF8D-4276-85A6-7995BF147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76C2C4BB-A99E-42A0-BE20-2CE9251FD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6576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0A246830-95F2-4E7A-94C7-C9F028CA2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6576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B75A52F6-3550-4DC6-BCF1-A7F398F17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76600"/>
            <a:ext cx="228600" cy="2286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EA67DDA-1F07-0AAE-738F-2771D989B1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3376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Nearest Neighbor Classification  </a:t>
            </a:r>
            <a:r>
              <a:rPr lang="zh-CN" altLang="en-US" dirty="0">
                <a:latin typeface="+mj-ea"/>
              </a:rPr>
              <a:t>最近邻分类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572000"/>
          </a:xfrm>
        </p:spPr>
        <p:txBody>
          <a:bodyPr/>
          <a:lstStyle/>
          <a:p>
            <a:r>
              <a:rPr lang="en-US" altLang="zh-CN" dirty="0"/>
              <a:t>Training </a:t>
            </a:r>
            <a:r>
              <a:rPr lang="zh-CN" altLang="en-US" dirty="0"/>
              <a:t>训练</a:t>
            </a:r>
            <a:endParaRPr lang="en-US" altLang="zh-CN" dirty="0"/>
          </a:p>
          <a:p>
            <a:pPr lvl="1"/>
            <a:r>
              <a:rPr lang="en-US" altLang="zh-CN" dirty="0"/>
              <a:t>Memorize all the training data</a:t>
            </a:r>
            <a:r>
              <a:rPr lang="zh-CN" altLang="en-US" dirty="0"/>
              <a:t>                 记住所有的训练数据</a:t>
            </a:r>
            <a:endParaRPr lang="en-US" altLang="zh-CN" dirty="0"/>
          </a:p>
          <a:p>
            <a:pPr lvl="2"/>
            <a:r>
              <a:rPr lang="en-US" altLang="zh-CN" dirty="0"/>
              <a:t>Nothing beyond that  </a:t>
            </a:r>
            <a:r>
              <a:rPr lang="zh-CN" altLang="en-US" dirty="0"/>
              <a:t>没有更多的了</a:t>
            </a:r>
            <a:endParaRPr lang="en-US" altLang="zh-CN" dirty="0"/>
          </a:p>
          <a:p>
            <a:r>
              <a:rPr lang="en-US" altLang="zh-CN" dirty="0"/>
              <a:t>Classification </a:t>
            </a:r>
            <a:r>
              <a:rPr lang="zh-CN" altLang="en-US" dirty="0"/>
              <a:t>分类</a:t>
            </a:r>
            <a:endParaRPr lang="en-US" altLang="zh-CN" dirty="0"/>
          </a:p>
          <a:p>
            <a:pPr lvl="1"/>
            <a:r>
              <a:rPr lang="en-US" altLang="zh-CN" dirty="0"/>
              <a:t>Find the closest neighbor (the most similar training data sample)  </a:t>
            </a:r>
            <a:br>
              <a:rPr lang="en-US" altLang="zh-CN" dirty="0"/>
            </a:br>
            <a:r>
              <a:rPr lang="zh-CN" altLang="en-US" dirty="0"/>
              <a:t>找到最近的邻居（最相似的训练数据）</a:t>
            </a:r>
            <a:endParaRPr lang="en-US" altLang="zh-CN" dirty="0"/>
          </a:p>
          <a:p>
            <a:pPr lvl="1"/>
            <a:r>
              <a:rPr lang="en-US" altLang="zh-CN" dirty="0"/>
              <a:t>Take the neighbor’s class  </a:t>
            </a:r>
            <a:r>
              <a:rPr lang="zh-CN" altLang="en-US" dirty="0"/>
              <a:t>采纳邻居的类别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7E0ABF2-FCAB-C451-A5BF-9B1CCC97F7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907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Euclidean Distance </a:t>
            </a:r>
            <a:r>
              <a:rPr lang="zh-CN" altLang="en-US" dirty="0">
                <a:latin typeface="+mj-ea"/>
              </a:rPr>
              <a:t>欧氏距离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1905000" y="3886200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4556760" y="152400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324210B-D021-46F6-95F9-9B1A5A8B1161}"/>
              </a:ext>
            </a:extLst>
          </p:cNvPr>
          <p:cNvSpPr/>
          <p:nvPr/>
        </p:nvSpPr>
        <p:spPr>
          <a:xfrm>
            <a:off x="6256022" y="3429000"/>
            <a:ext cx="1904998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1</a:t>
            </a:r>
          </a:p>
          <a:p>
            <a:pPr marL="0" lvl="1" algn="ctr" eaLnBrk="1" hangingPunct="1">
              <a:lnSpc>
                <a:spcPct val="90000"/>
              </a:lnSpc>
            </a:pPr>
            <a:endParaRPr lang="en-US" altLang="ja-JP" sz="2200" dirty="0">
              <a:ea typeface="ＭＳ Ｐゴシック" panose="020B0600070205080204" pitchFamily="34" charset="-128"/>
            </a:endParaRP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819400" y="1584192"/>
            <a:ext cx="269747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2  </a:t>
            </a: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2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B2E23E4-DC6A-4AA7-8989-FED398B42F18}"/>
              </a:ext>
            </a:extLst>
          </p:cNvPr>
          <p:cNvGrpSpPr/>
          <p:nvPr/>
        </p:nvGrpSpPr>
        <p:grpSpPr>
          <a:xfrm>
            <a:off x="1823085" y="3087678"/>
            <a:ext cx="2087877" cy="701731"/>
            <a:chOff x="1903097" y="3087678"/>
            <a:chExt cx="2087877" cy="70173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683F699-F86D-4A4B-801C-9B5925C2223E}"/>
                </a:ext>
              </a:extLst>
            </p:cNvPr>
            <p:cNvSpPr/>
            <p:nvPr/>
          </p:nvSpPr>
          <p:spPr bwMode="auto">
            <a:xfrm>
              <a:off x="3863338" y="3540079"/>
              <a:ext cx="108586" cy="1175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CA938E-A76C-4F48-9150-599222656F14}"/>
                </a:ext>
              </a:extLst>
            </p:cNvPr>
            <p:cNvSpPr/>
            <p:nvPr/>
          </p:nvSpPr>
          <p:spPr>
            <a:xfrm>
              <a:off x="1903097" y="3087678"/>
              <a:ext cx="2087877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Data sample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数据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：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(-3,1)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5FF8507-28E3-409A-97B3-0A08F4EAB756}"/>
              </a:ext>
            </a:extLst>
          </p:cNvPr>
          <p:cNvGrpSpPr/>
          <p:nvPr/>
        </p:nvGrpSpPr>
        <p:grpSpPr>
          <a:xfrm>
            <a:off x="4648200" y="4319587"/>
            <a:ext cx="2087877" cy="951018"/>
            <a:chOff x="4707253" y="4343400"/>
            <a:chExt cx="2087877" cy="95101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88F74C0-6599-4B1A-A79A-82867306E6F8}"/>
                </a:ext>
              </a:extLst>
            </p:cNvPr>
            <p:cNvSpPr/>
            <p:nvPr/>
          </p:nvSpPr>
          <p:spPr>
            <a:xfrm>
              <a:off x="4707253" y="4592687"/>
              <a:ext cx="2087877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Data sample 2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数据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：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(1,-2)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68FB5F-0C5A-4CF2-93DF-64FDA2A124BC}"/>
                </a:ext>
              </a:extLst>
            </p:cNvPr>
            <p:cNvSpPr/>
            <p:nvPr/>
          </p:nvSpPr>
          <p:spPr bwMode="auto">
            <a:xfrm>
              <a:off x="4844414" y="4343400"/>
              <a:ext cx="108586" cy="1175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17EE00-2FED-4732-A238-4826D8AF92E4}"/>
              </a:ext>
            </a:extLst>
          </p:cNvPr>
          <p:cNvCxnSpPr>
            <a:cxnSpLocks/>
          </p:cNvCxnSpPr>
          <p:nvPr/>
        </p:nvCxnSpPr>
        <p:spPr bwMode="auto">
          <a:xfrm flipV="1">
            <a:off x="4838700" y="2971801"/>
            <a:ext cx="0" cy="15970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4B69E5B-2812-4A4D-B53E-7BBD5BA3EC46}"/>
              </a:ext>
            </a:extLst>
          </p:cNvPr>
          <p:cNvCxnSpPr>
            <a:cxnSpLocks/>
          </p:cNvCxnSpPr>
          <p:nvPr/>
        </p:nvCxnSpPr>
        <p:spPr bwMode="auto">
          <a:xfrm flipV="1">
            <a:off x="3834762" y="3000376"/>
            <a:ext cx="0" cy="15970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2DD0E01-1CC1-404C-922D-68CF0550933E}"/>
              </a:ext>
            </a:extLst>
          </p:cNvPr>
          <p:cNvCxnSpPr>
            <a:cxnSpLocks/>
          </p:cNvCxnSpPr>
          <p:nvPr/>
        </p:nvCxnSpPr>
        <p:spPr bwMode="auto">
          <a:xfrm>
            <a:off x="3830288" y="3600450"/>
            <a:ext cx="1017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1238642-EE1C-4DFD-B317-EF558ADEE85F}"/>
              </a:ext>
            </a:extLst>
          </p:cNvPr>
          <p:cNvSpPr/>
          <p:nvPr/>
        </p:nvSpPr>
        <p:spPr>
          <a:xfrm>
            <a:off x="3863339" y="3250936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4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3D708E-5E7A-4ABE-9A43-387C8F104EC7}"/>
              </a:ext>
            </a:extLst>
          </p:cNvPr>
          <p:cNvCxnSpPr>
            <a:cxnSpLocks/>
          </p:cNvCxnSpPr>
          <p:nvPr/>
        </p:nvCxnSpPr>
        <p:spPr bwMode="auto">
          <a:xfrm>
            <a:off x="3733800" y="4372717"/>
            <a:ext cx="14249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99B3924-84E4-4973-B898-8397AACD29C6}"/>
              </a:ext>
            </a:extLst>
          </p:cNvPr>
          <p:cNvCxnSpPr>
            <a:cxnSpLocks/>
          </p:cNvCxnSpPr>
          <p:nvPr/>
        </p:nvCxnSpPr>
        <p:spPr bwMode="auto">
          <a:xfrm>
            <a:off x="3733800" y="3598211"/>
            <a:ext cx="14249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D70D175-99E0-4316-8DBE-5493805D7B11}"/>
              </a:ext>
            </a:extLst>
          </p:cNvPr>
          <p:cNvCxnSpPr>
            <a:cxnSpLocks/>
          </p:cNvCxnSpPr>
          <p:nvPr/>
        </p:nvCxnSpPr>
        <p:spPr bwMode="auto">
          <a:xfrm>
            <a:off x="4838700" y="3600450"/>
            <a:ext cx="0" cy="777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3306E13F-0E32-4D09-AE9C-82D95661E9CC}"/>
              </a:ext>
            </a:extLst>
          </p:cNvPr>
          <p:cNvSpPr/>
          <p:nvPr/>
        </p:nvSpPr>
        <p:spPr>
          <a:xfrm>
            <a:off x="4520291" y="3871782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3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C03A3C4-5AE6-4876-A7DF-2203210E556C}"/>
              </a:ext>
            </a:extLst>
          </p:cNvPr>
          <p:cNvCxnSpPr>
            <a:cxnSpLocks/>
          </p:cNvCxnSpPr>
          <p:nvPr/>
        </p:nvCxnSpPr>
        <p:spPr bwMode="auto">
          <a:xfrm>
            <a:off x="3807426" y="3596616"/>
            <a:ext cx="1063659" cy="777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621921-FFBA-4944-8554-C7A84BFCAD73}"/>
                  </a:ext>
                </a:extLst>
              </p:cNvPr>
              <p:cNvSpPr txBox="1"/>
              <p:nvPr/>
            </p:nvSpPr>
            <p:spPr>
              <a:xfrm>
                <a:off x="2727680" y="3854318"/>
                <a:ext cx="1796416" cy="435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CN" alt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621921-FFBA-4944-8554-C7A84BFCA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680" y="3854318"/>
                <a:ext cx="1796416" cy="435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00FDA17-B6E9-4E2B-A8D5-2A3C6BDCB88B}"/>
                  </a:ext>
                </a:extLst>
              </p:cNvPr>
              <p:cNvSpPr txBox="1"/>
              <p:nvPr/>
            </p:nvSpPr>
            <p:spPr>
              <a:xfrm>
                <a:off x="1809910" y="5541501"/>
                <a:ext cx="6417942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: 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00FDA17-B6E9-4E2B-A8D5-2A3C6BDCB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910" y="5541501"/>
                <a:ext cx="6417942" cy="656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8FF859-BCA7-9B22-6C74-BDB7865CC8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337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1" grpId="0"/>
      <p:bldP spid="64" grpId="0"/>
      <p:bldP spid="70" grpId="0"/>
      <p:bldP spid="7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Euclidean Distance </a:t>
            </a:r>
            <a:r>
              <a:rPr lang="zh-CN" altLang="en-US" dirty="0">
                <a:latin typeface="+mj-ea"/>
              </a:rPr>
              <a:t>欧氏距离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1905000" y="3886200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4556760" y="152400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324210B-D021-46F6-95F9-9B1A5A8B1161}"/>
              </a:ext>
            </a:extLst>
          </p:cNvPr>
          <p:cNvSpPr/>
          <p:nvPr/>
        </p:nvSpPr>
        <p:spPr>
          <a:xfrm>
            <a:off x="6256022" y="3429000"/>
            <a:ext cx="1904998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1</a:t>
            </a:r>
          </a:p>
          <a:p>
            <a:pPr marL="0" lvl="1" algn="ctr" eaLnBrk="1" hangingPunct="1">
              <a:lnSpc>
                <a:spcPct val="90000"/>
              </a:lnSpc>
            </a:pPr>
            <a:endParaRPr lang="en-US" altLang="ja-JP" sz="2200" dirty="0">
              <a:ea typeface="ＭＳ Ｐゴシック" panose="020B0600070205080204" pitchFamily="34" charset="-128"/>
            </a:endParaRP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819400" y="1584192"/>
            <a:ext cx="269747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2  </a:t>
            </a: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2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B2E23E4-DC6A-4AA7-8989-FED398B42F18}"/>
              </a:ext>
            </a:extLst>
          </p:cNvPr>
          <p:cNvGrpSpPr/>
          <p:nvPr/>
        </p:nvGrpSpPr>
        <p:grpSpPr>
          <a:xfrm>
            <a:off x="709231" y="3932343"/>
            <a:ext cx="2421711" cy="701731"/>
            <a:chOff x="1550213" y="3445304"/>
            <a:chExt cx="2421711" cy="70173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683F699-F86D-4A4B-801C-9B5925C2223E}"/>
                </a:ext>
              </a:extLst>
            </p:cNvPr>
            <p:cNvSpPr/>
            <p:nvPr/>
          </p:nvSpPr>
          <p:spPr bwMode="auto">
            <a:xfrm>
              <a:off x="3863338" y="3540079"/>
              <a:ext cx="108586" cy="1175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CA938E-A76C-4F48-9150-599222656F14}"/>
                </a:ext>
              </a:extLst>
            </p:cNvPr>
            <p:cNvSpPr/>
            <p:nvPr/>
          </p:nvSpPr>
          <p:spPr>
            <a:xfrm>
              <a:off x="1550213" y="3445304"/>
              <a:ext cx="2087877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Data sample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数据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：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(-3,1,-4)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5FF8507-28E3-409A-97B3-0A08F4EAB756}"/>
              </a:ext>
            </a:extLst>
          </p:cNvPr>
          <p:cNvGrpSpPr/>
          <p:nvPr/>
        </p:nvGrpSpPr>
        <p:grpSpPr>
          <a:xfrm>
            <a:off x="6779261" y="2715745"/>
            <a:ext cx="2242816" cy="701731"/>
            <a:chOff x="4844414" y="4160370"/>
            <a:chExt cx="2242816" cy="70173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88F74C0-6599-4B1A-A79A-82867306E6F8}"/>
                </a:ext>
              </a:extLst>
            </p:cNvPr>
            <p:cNvSpPr/>
            <p:nvPr/>
          </p:nvSpPr>
          <p:spPr>
            <a:xfrm>
              <a:off x="4999353" y="4160370"/>
              <a:ext cx="2087877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Data sample 2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数据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：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(1,-2,8)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68FB5F-0C5A-4CF2-93DF-64FDA2A124BC}"/>
                </a:ext>
              </a:extLst>
            </p:cNvPr>
            <p:cNvSpPr/>
            <p:nvPr/>
          </p:nvSpPr>
          <p:spPr bwMode="auto">
            <a:xfrm>
              <a:off x="4844414" y="4343400"/>
              <a:ext cx="108586" cy="1175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17EE00-2FED-4732-A238-4826D8AF92E4}"/>
              </a:ext>
            </a:extLst>
          </p:cNvPr>
          <p:cNvCxnSpPr>
            <a:cxnSpLocks/>
          </p:cNvCxnSpPr>
          <p:nvPr/>
        </p:nvCxnSpPr>
        <p:spPr bwMode="auto">
          <a:xfrm flipV="1">
            <a:off x="6837997" y="1840863"/>
            <a:ext cx="0" cy="15970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4B69E5B-2812-4A4D-B53E-7BBD5BA3EC46}"/>
              </a:ext>
            </a:extLst>
          </p:cNvPr>
          <p:cNvCxnSpPr>
            <a:cxnSpLocks/>
          </p:cNvCxnSpPr>
          <p:nvPr/>
        </p:nvCxnSpPr>
        <p:spPr bwMode="auto">
          <a:xfrm flipV="1">
            <a:off x="5834352" y="1981329"/>
            <a:ext cx="0" cy="15970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2DD0E01-1CC1-404C-922D-68CF0550933E}"/>
              </a:ext>
            </a:extLst>
          </p:cNvPr>
          <p:cNvCxnSpPr>
            <a:cxnSpLocks/>
          </p:cNvCxnSpPr>
          <p:nvPr/>
        </p:nvCxnSpPr>
        <p:spPr bwMode="auto">
          <a:xfrm>
            <a:off x="5834352" y="2231521"/>
            <a:ext cx="10179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1238642-EE1C-4DFD-B317-EF558ADEE85F}"/>
              </a:ext>
            </a:extLst>
          </p:cNvPr>
          <p:cNvSpPr/>
          <p:nvPr/>
        </p:nvSpPr>
        <p:spPr>
          <a:xfrm>
            <a:off x="5917886" y="1840863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4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3D708E-5E7A-4ABE-9A43-387C8F104EC7}"/>
              </a:ext>
            </a:extLst>
          </p:cNvPr>
          <p:cNvCxnSpPr>
            <a:cxnSpLocks/>
          </p:cNvCxnSpPr>
          <p:nvPr/>
        </p:nvCxnSpPr>
        <p:spPr bwMode="auto">
          <a:xfrm>
            <a:off x="5665471" y="2948752"/>
            <a:ext cx="14249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99B3924-84E4-4973-B898-8397AACD29C6}"/>
              </a:ext>
            </a:extLst>
          </p:cNvPr>
          <p:cNvCxnSpPr>
            <a:cxnSpLocks/>
          </p:cNvCxnSpPr>
          <p:nvPr/>
        </p:nvCxnSpPr>
        <p:spPr bwMode="auto">
          <a:xfrm>
            <a:off x="5655313" y="2237871"/>
            <a:ext cx="14249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D70D175-99E0-4316-8DBE-5493805D7B11}"/>
              </a:ext>
            </a:extLst>
          </p:cNvPr>
          <p:cNvCxnSpPr>
            <a:cxnSpLocks/>
          </p:cNvCxnSpPr>
          <p:nvPr/>
        </p:nvCxnSpPr>
        <p:spPr bwMode="auto">
          <a:xfrm>
            <a:off x="6850697" y="2205037"/>
            <a:ext cx="0" cy="777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3306E13F-0E32-4D09-AE9C-82D95661E9CC}"/>
              </a:ext>
            </a:extLst>
          </p:cNvPr>
          <p:cNvSpPr/>
          <p:nvPr/>
        </p:nvSpPr>
        <p:spPr>
          <a:xfrm>
            <a:off x="6533946" y="2410889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3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C03A3C4-5AE6-4876-A7DF-2203210E556C}"/>
              </a:ext>
            </a:extLst>
          </p:cNvPr>
          <p:cNvCxnSpPr>
            <a:cxnSpLocks/>
          </p:cNvCxnSpPr>
          <p:nvPr/>
        </p:nvCxnSpPr>
        <p:spPr bwMode="auto">
          <a:xfrm>
            <a:off x="5835953" y="2241504"/>
            <a:ext cx="1063659" cy="777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621921-FFBA-4944-8554-C7A84BFCAD73}"/>
                  </a:ext>
                </a:extLst>
              </p:cNvPr>
              <p:cNvSpPr txBox="1"/>
              <p:nvPr/>
            </p:nvSpPr>
            <p:spPr>
              <a:xfrm>
                <a:off x="4891721" y="2571131"/>
                <a:ext cx="1796416" cy="435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CN" alt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621921-FFBA-4944-8554-C7A84BFCA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721" y="2571131"/>
                <a:ext cx="1796416" cy="435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00FDA17-B6E9-4E2B-A8D5-2A3C6BDCB88B}"/>
                  </a:ext>
                </a:extLst>
              </p:cNvPr>
              <p:cNvSpPr txBox="1"/>
              <p:nvPr/>
            </p:nvSpPr>
            <p:spPr>
              <a:xfrm>
                <a:off x="789781" y="5470571"/>
                <a:ext cx="8354219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: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00FDA17-B6E9-4E2B-A8D5-2A3C6BDCB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81" y="5470571"/>
                <a:ext cx="8354219" cy="6560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E1CAEF-52B1-4A59-8E77-2D0DF2ACC996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7680" y="1981200"/>
            <a:ext cx="4587520" cy="31845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58D0F80-41DC-42AC-B7BF-07896B74BB99}"/>
              </a:ext>
            </a:extLst>
          </p:cNvPr>
          <p:cNvSpPr/>
          <p:nvPr/>
        </p:nvSpPr>
        <p:spPr>
          <a:xfrm>
            <a:off x="6934200" y="1559057"/>
            <a:ext cx="1752595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Attribute 3  </a:t>
            </a:r>
            <a:r>
              <a:rPr lang="zh-CN" altLang="en-US" sz="2200" dirty="0">
                <a:ea typeface="ＭＳ Ｐゴシック" panose="020B0600070205080204" pitchFamily="34" charset="-128"/>
              </a:rPr>
              <a:t>属性</a:t>
            </a:r>
            <a:r>
              <a:rPr lang="en-US" altLang="zh-CN" sz="2200" dirty="0">
                <a:ea typeface="ＭＳ Ｐゴシック" panose="020B0600070205080204" pitchFamily="34" charset="-128"/>
              </a:rPr>
              <a:t>3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26372A-077A-4236-8097-0FB8CC291BD5}"/>
              </a:ext>
            </a:extLst>
          </p:cNvPr>
          <p:cNvCxnSpPr>
            <a:cxnSpLocks/>
          </p:cNvCxnSpPr>
          <p:nvPr/>
        </p:nvCxnSpPr>
        <p:spPr bwMode="auto">
          <a:xfrm flipV="1">
            <a:off x="2866537" y="1966781"/>
            <a:ext cx="3333637" cy="22808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8CB9CA4-FBA0-4C9F-95C4-C37D9A2F35F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453412" y="1948172"/>
            <a:ext cx="1636999" cy="11896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D06764-CA6F-40C8-9453-F55BB8C25B1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43804" y="3835717"/>
            <a:ext cx="1660556" cy="12753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307AD4-D0D2-4FA2-999C-D450D771BF88}"/>
                  </a:ext>
                </a:extLst>
              </p:cNvPr>
              <p:cNvSpPr txBox="1"/>
              <p:nvPr/>
            </p:nvSpPr>
            <p:spPr>
              <a:xfrm>
                <a:off x="4712158" y="3534790"/>
                <a:ext cx="1796416" cy="435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CN" alt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4307AD4-D0D2-4FA2-999C-D450D771B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158" y="3534790"/>
                <a:ext cx="1796416" cy="4354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CB38FA3-C637-43CB-A97A-F8DD9611B41A}"/>
              </a:ext>
            </a:extLst>
          </p:cNvPr>
          <p:cNvCxnSpPr>
            <a:cxnSpLocks/>
            <a:stCxn id="23" idx="3"/>
          </p:cNvCxnSpPr>
          <p:nvPr/>
        </p:nvCxnSpPr>
        <p:spPr bwMode="auto">
          <a:xfrm flipV="1">
            <a:off x="3038258" y="2235200"/>
            <a:ext cx="2791042" cy="18922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734D098-D817-41DD-91C4-70E0AEA1A711}"/>
              </a:ext>
            </a:extLst>
          </p:cNvPr>
          <p:cNvSpPr/>
          <p:nvPr/>
        </p:nvSpPr>
        <p:spPr>
          <a:xfrm>
            <a:off x="3857028" y="2791130"/>
            <a:ext cx="920111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12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83CFBCF-A2DA-4A41-A4FE-2B2E7DEA8B10}"/>
              </a:ext>
            </a:extLst>
          </p:cNvPr>
          <p:cNvCxnSpPr>
            <a:cxnSpLocks/>
            <a:stCxn id="23" idx="4"/>
            <a:endCxn id="36" idx="5"/>
          </p:cNvCxnSpPr>
          <p:nvPr/>
        </p:nvCxnSpPr>
        <p:spPr bwMode="auto">
          <a:xfrm flipV="1">
            <a:off x="3076649" y="2999085"/>
            <a:ext cx="3795296" cy="11455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C9FC727-344F-402C-A1B7-CEF5D5D90C1F}"/>
              </a:ext>
            </a:extLst>
          </p:cNvPr>
          <p:cNvCxnSpPr>
            <a:cxnSpLocks/>
          </p:cNvCxnSpPr>
          <p:nvPr/>
        </p:nvCxnSpPr>
        <p:spPr bwMode="auto">
          <a:xfrm flipV="1">
            <a:off x="3886454" y="2696513"/>
            <a:ext cx="3333637" cy="22808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7C4D2D-EAB7-F2BC-9742-A0A5BE7086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154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1" grpId="0"/>
      <p:bldP spid="64" grpId="0"/>
      <p:bldP spid="70" grpId="0"/>
      <p:bldP spid="71" grpId="0"/>
      <p:bldP spid="28" grpId="0"/>
      <p:bldP spid="43" grpId="0"/>
      <p:bldP spid="4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Euclidean Distance </a:t>
            </a:r>
            <a:r>
              <a:rPr lang="zh-CN" altLang="en-US" dirty="0">
                <a:latin typeface="+mj-ea"/>
              </a:rPr>
              <a:t>欧氏距离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C61E7A-2B7B-47FE-8B96-9EE43D50DDA2}"/>
              </a:ext>
            </a:extLst>
          </p:cNvPr>
          <p:cNvSpPr/>
          <p:nvPr/>
        </p:nvSpPr>
        <p:spPr>
          <a:xfrm>
            <a:off x="381000" y="1905000"/>
            <a:ext cx="838200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Spaces w/ dimension greater than 3 go beyond our imagination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高于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维的空间超出了我们的想象范畴</a:t>
            </a:r>
            <a:endParaRPr lang="en-US" altLang="ja-JP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F24674-94F1-4951-B9B7-4BB3A9DCC9E0}"/>
              </a:ext>
            </a:extLst>
          </p:cNvPr>
          <p:cNvSpPr/>
          <p:nvPr/>
        </p:nvSpPr>
        <p:spPr>
          <a:xfrm>
            <a:off x="381000" y="3078134"/>
            <a:ext cx="838200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However, the calculation is similar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但计算是类似的</a:t>
            </a:r>
            <a:endParaRPr lang="en-US" altLang="ja-JP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CBD8EA-BFE7-4E9C-8593-9EF6BCFAC83E}"/>
                  </a:ext>
                </a:extLst>
              </p:cNvPr>
              <p:cNvSpPr txBox="1"/>
              <p:nvPr/>
            </p:nvSpPr>
            <p:spPr>
              <a:xfrm>
                <a:off x="495300" y="4176410"/>
                <a:ext cx="8153400" cy="1275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algn="ctr"/>
                <a:endParaRPr lang="en-US" altLang="zh-CN" dirty="0"/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CBD8EA-BFE7-4E9C-8593-9EF6BCFAC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4176410"/>
                <a:ext cx="8153400" cy="12756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564C422-6B20-7BC3-14A9-D410157250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547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4BBBB-4A9A-E851-1DA3-002906C9C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94E7-9B7F-5515-24F1-492C22FA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3.4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3.4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A265E-73EE-F728-DB99-1F118D9B5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FA7A58-BF20-B935-B734-103470370B64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handwritten ZIP code recognition</a:t>
            </a:r>
          </a:p>
          <a:p>
            <a:pPr algn="ctr"/>
            <a:r>
              <a:rPr lang="zh-CN" altLang="en-US" sz="2200" dirty="0"/>
              <a:t>实践时刻：手写邮政编码识别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1A3666-8358-EA7E-91A3-9DF222082042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simple nearest neighbor classification program </a:t>
            </a:r>
          </a:p>
          <a:p>
            <a:pPr algn="ctr"/>
            <a:r>
              <a:rPr lang="zh-CN" altLang="en-US" sz="2200" dirty="0"/>
              <a:t>一个简单的最近邻分类程序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254DDD3-A2AF-05DE-C705-90F56AAFC7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364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F481-6DFA-D6FD-44D3-14759129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59DC91C-5E74-516E-B9FE-14951DAE36B6}"/>
              </a:ext>
            </a:extLst>
          </p:cNvPr>
          <p:cNvSpPr/>
          <p:nvPr/>
        </p:nvSpPr>
        <p:spPr bwMode="auto">
          <a:xfrm>
            <a:off x="4279232" y="2781300"/>
            <a:ext cx="4876800" cy="13834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vsubsd</a:t>
            </a:r>
            <a:r>
              <a:rPr lang="en-US" altLang="zh-CN" sz="2000" dirty="0">
                <a:latin typeface="Consolas" panose="020B0609020204030204" pitchFamily="49" charset="0"/>
              </a:rPr>
              <a:t> (%rdx,%rax,8),%xmm1,%xmm1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vfmadd213sd %xmm0,%xmm1,%xmm1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F67A6-F935-C93D-1522-2C852E00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DD000-1231-62E2-1684-A2A3F2F610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D3176A-189D-8BC7-D3B7-647237ADE5A8}"/>
              </a:ext>
            </a:extLst>
          </p:cNvPr>
          <p:cNvSpPr/>
          <p:nvPr/>
        </p:nvSpPr>
        <p:spPr bwMode="auto">
          <a:xfrm>
            <a:off x="324628" y="2664397"/>
            <a:ext cx="3886201" cy="16028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subsd</a:t>
            </a:r>
            <a:r>
              <a:rPr lang="en-US" altLang="zh-CN" sz="2000" dirty="0">
                <a:latin typeface="Consolas" panose="020B0609020204030204" pitchFamily="49" charset="0"/>
              </a:rPr>
              <a:t> (%rdx,%rax,8),%xmm1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mulsd</a:t>
            </a:r>
            <a:r>
              <a:rPr lang="en-US" altLang="zh-CN" sz="2000" dirty="0">
                <a:latin typeface="Consolas" panose="020B0609020204030204" pitchFamily="49" charset="0"/>
              </a:rPr>
              <a:t> %xmm1,%xmm1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addsd</a:t>
            </a:r>
            <a:r>
              <a:rPr lang="en-US" sz="2000" dirty="0">
                <a:latin typeface="Consolas" panose="020B0609020204030204" pitchFamily="49" charset="0"/>
              </a:rPr>
              <a:t> %xmm0,%xmm1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D14EBC-E22A-25B7-F018-E60BCA48CE3C}"/>
              </a:ext>
            </a:extLst>
          </p:cNvPr>
          <p:cNvSpPr txBox="1"/>
          <p:nvPr/>
        </p:nvSpPr>
        <p:spPr>
          <a:xfrm>
            <a:off x="0" y="1807147"/>
            <a:ext cx="370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</a:t>
            </a:r>
          </a:p>
          <a:p>
            <a:pPr algn="ctr"/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AE973F-1E04-B4F4-9EB5-8F78D837ECE6}"/>
              </a:ext>
            </a:extLst>
          </p:cNvPr>
          <p:cNvSpPr txBox="1"/>
          <p:nvPr/>
        </p:nvSpPr>
        <p:spPr>
          <a:xfrm>
            <a:off x="4343400" y="1807146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</a:t>
            </a:r>
          </a:p>
          <a:p>
            <a:pPr algn="ctr"/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95CA8-5395-8558-DC64-77B8A20DE7CC}"/>
              </a:ext>
            </a:extLst>
          </p:cNvPr>
          <p:cNvSpPr txBox="1"/>
          <p:nvPr/>
        </p:nvSpPr>
        <p:spPr>
          <a:xfrm>
            <a:off x="221031" y="4572000"/>
            <a:ext cx="8694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>
                <a:latin typeface="Consolas" panose="020B0609020204030204" pitchFamily="49" charset="0"/>
              </a:rPr>
              <a:t>sd</a:t>
            </a:r>
            <a:r>
              <a:rPr lang="en-US" altLang="zh-CN" sz="2800" dirty="0"/>
              <a:t>:  a single double-precision operation, not SIMD</a:t>
            </a:r>
          </a:p>
          <a:p>
            <a:pPr algn="ctr"/>
            <a:r>
              <a:rPr lang="zh-CN" altLang="en-US" sz="2800" dirty="0"/>
              <a:t>一个双精度操作，并非</a:t>
            </a:r>
            <a:r>
              <a:rPr lang="en-US" altLang="zh-CN" sz="2800" dirty="0"/>
              <a:t>SIMD</a:t>
            </a:r>
            <a:endParaRPr lang="zh-CN" alt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CA45EF-51C4-363E-6CE0-CF1EF83DD990}"/>
              </a:ext>
            </a:extLst>
          </p:cNvPr>
          <p:cNvSpPr/>
          <p:nvPr/>
        </p:nvSpPr>
        <p:spPr bwMode="auto">
          <a:xfrm>
            <a:off x="838200" y="2986640"/>
            <a:ext cx="293684" cy="954107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A47CB2-8405-7375-D5B4-EB99BC07FC12}"/>
              </a:ext>
            </a:extLst>
          </p:cNvPr>
          <p:cNvCxnSpPr>
            <a:cxnSpLocks/>
            <a:stCxn id="11" idx="0"/>
            <a:endCxn id="12" idx="3"/>
          </p:cNvCxnSpPr>
          <p:nvPr/>
        </p:nvCxnSpPr>
        <p:spPr bwMode="auto">
          <a:xfrm flipH="1" flipV="1">
            <a:off x="1131884" y="3463694"/>
            <a:ext cx="3436332" cy="11083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EBE93EA-1276-FC51-BC57-CA6CF2A2EDA1}"/>
              </a:ext>
            </a:extLst>
          </p:cNvPr>
          <p:cNvSpPr/>
          <p:nvPr/>
        </p:nvSpPr>
        <p:spPr bwMode="auto">
          <a:xfrm>
            <a:off x="4928936" y="3158089"/>
            <a:ext cx="304800" cy="25923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B272A5-1A43-9031-8930-1290828B948B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 bwMode="auto">
          <a:xfrm flipV="1">
            <a:off x="4568216" y="3417321"/>
            <a:ext cx="513120" cy="11546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18FB7AC-A932-D3A3-14A4-EBEF500F3C4C}"/>
              </a:ext>
            </a:extLst>
          </p:cNvPr>
          <p:cNvSpPr/>
          <p:nvPr/>
        </p:nvSpPr>
        <p:spPr bwMode="auto">
          <a:xfrm>
            <a:off x="5622534" y="3488453"/>
            <a:ext cx="304800" cy="25923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7EAA95-B746-484F-6845-CC1E56B800B0}"/>
              </a:ext>
            </a:extLst>
          </p:cNvPr>
          <p:cNvCxnSpPr>
            <a:cxnSpLocks/>
            <a:stCxn id="11" idx="0"/>
            <a:endCxn id="23" idx="2"/>
          </p:cNvCxnSpPr>
          <p:nvPr/>
        </p:nvCxnSpPr>
        <p:spPr bwMode="auto">
          <a:xfrm flipV="1">
            <a:off x="4568216" y="3747685"/>
            <a:ext cx="1206718" cy="8243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9255AC8-6105-D355-6DB2-0B18A77D61B1}"/>
              </a:ext>
            </a:extLst>
          </p:cNvPr>
          <p:cNvSpPr txBox="1"/>
          <p:nvPr/>
        </p:nvSpPr>
        <p:spPr>
          <a:xfrm>
            <a:off x="221031" y="5643890"/>
            <a:ext cx="8694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Why not SIMD?  </a:t>
            </a:r>
            <a:r>
              <a:rPr lang="zh-CN" altLang="en-US" sz="2800" dirty="0"/>
              <a:t>为什么没有</a:t>
            </a:r>
            <a:r>
              <a:rPr lang="en-US" altLang="zh-CN" sz="2800" dirty="0"/>
              <a:t>SIMD</a:t>
            </a:r>
            <a:r>
              <a:rPr lang="zh-CN" altLang="en-US" sz="2800" dirty="0"/>
              <a:t>？</a:t>
            </a:r>
            <a:endParaRPr lang="en-US" altLang="zh-CN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850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1" grpId="0"/>
      <p:bldP spid="12" grpId="0" animBg="1"/>
      <p:bldP spid="16" grpId="0" animBg="1"/>
      <p:bldP spid="23" grpId="0" animBg="1"/>
      <p:bldP spid="2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7DF5-1117-2714-4CAF-F8F0B9DB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81E4-EEBE-77AC-A67F-5DEA7721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Parallel Computation?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latin typeface="+mj-ea"/>
              </a:rPr>
              <a:t>并行计算？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E31AE65-6A5F-D17B-C9F3-0C525C5A52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18C364-94A7-2705-22FF-F125FB08CC1E}"/>
                  </a:ext>
                </a:extLst>
              </p:cNvPr>
              <p:cNvSpPr txBox="1"/>
              <p:nvPr/>
            </p:nvSpPr>
            <p:spPr>
              <a:xfrm>
                <a:off x="1310382" y="1809449"/>
                <a:ext cx="611021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18C364-94A7-2705-22FF-F125FB08C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382" y="1809449"/>
                <a:ext cx="611021" cy="434671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584A59-B2D6-98D7-21BB-63A1BFDF29AE}"/>
                  </a:ext>
                </a:extLst>
              </p:cNvPr>
              <p:cNvSpPr txBox="1"/>
              <p:nvPr/>
            </p:nvSpPr>
            <p:spPr>
              <a:xfrm>
                <a:off x="1314393" y="2667000"/>
                <a:ext cx="611021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584A59-B2D6-98D7-21BB-63A1BFDF2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393" y="2667000"/>
                <a:ext cx="611021" cy="434671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802FB1-2469-4D18-CE1E-66A229FE934D}"/>
                  </a:ext>
                </a:extLst>
              </p:cNvPr>
              <p:cNvSpPr txBox="1"/>
              <p:nvPr/>
            </p:nvSpPr>
            <p:spPr>
              <a:xfrm>
                <a:off x="1314393" y="4728375"/>
                <a:ext cx="611021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802FB1-2469-4D18-CE1E-66A229FE9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393" y="4728375"/>
                <a:ext cx="611021" cy="434671"/>
              </a:xfrm>
              <a:prstGeom prst="rect">
                <a:avLst/>
              </a:prstGeom>
              <a:blipFill>
                <a:blip r:embed="rId6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B32660-BEC6-6A33-86E9-8FF239F88F40}"/>
                  </a:ext>
                </a:extLst>
              </p:cNvPr>
              <p:cNvSpPr txBox="1"/>
              <p:nvPr/>
            </p:nvSpPr>
            <p:spPr>
              <a:xfrm>
                <a:off x="1810277" y="1809448"/>
                <a:ext cx="762000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B32660-BEC6-6A33-86E9-8FF239F88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277" y="1809448"/>
                <a:ext cx="762000" cy="434671"/>
              </a:xfrm>
              <a:prstGeom prst="rect">
                <a:avLst/>
              </a:prstGeom>
              <a:blipFill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79A18E-92F4-2E10-E5F1-694D9953BEB5}"/>
                  </a:ext>
                </a:extLst>
              </p:cNvPr>
              <p:cNvSpPr txBox="1"/>
              <p:nvPr/>
            </p:nvSpPr>
            <p:spPr>
              <a:xfrm>
                <a:off x="1810277" y="2681969"/>
                <a:ext cx="762000" cy="447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79A18E-92F4-2E10-E5F1-694D9953B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277" y="2681969"/>
                <a:ext cx="762000" cy="4472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E87E70-0510-8984-1E65-BB2C425364B1}"/>
                  </a:ext>
                </a:extLst>
              </p:cNvPr>
              <p:cNvSpPr txBox="1"/>
              <p:nvPr/>
            </p:nvSpPr>
            <p:spPr>
              <a:xfrm>
                <a:off x="1865840" y="4728374"/>
                <a:ext cx="762000" cy="447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E87E70-0510-8984-1E65-BB2C42536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840" y="4728374"/>
                <a:ext cx="762000" cy="447238"/>
              </a:xfrm>
              <a:prstGeom prst="rect">
                <a:avLst/>
              </a:prstGeom>
              <a:blipFill>
                <a:blip r:embed="rId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CCCBC6D-74E9-4615-936C-F055E3E9DA31}"/>
              </a:ext>
            </a:extLst>
          </p:cNvPr>
          <p:cNvSpPr txBox="1"/>
          <p:nvPr/>
        </p:nvSpPr>
        <p:spPr>
          <a:xfrm>
            <a:off x="1483801" y="3740262"/>
            <a:ext cx="461665" cy="6066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9AB1F1-361C-F279-4430-49D6E2783654}"/>
              </a:ext>
            </a:extLst>
          </p:cNvPr>
          <p:cNvSpPr txBox="1"/>
          <p:nvPr/>
        </p:nvSpPr>
        <p:spPr>
          <a:xfrm>
            <a:off x="2016007" y="3749023"/>
            <a:ext cx="461665" cy="6066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91CA4E-B93D-CDB9-4A1B-6B085346CCD9}"/>
                  </a:ext>
                </a:extLst>
              </p:cNvPr>
              <p:cNvSpPr txBox="1"/>
              <p:nvPr/>
            </p:nvSpPr>
            <p:spPr>
              <a:xfrm>
                <a:off x="2545872" y="2671011"/>
                <a:ext cx="1700463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91CA4E-B93D-CDB9-4A1B-6B085346C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872" y="2671011"/>
                <a:ext cx="1700463" cy="434671"/>
              </a:xfrm>
              <a:prstGeom prst="rect">
                <a:avLst/>
              </a:prstGeom>
              <a:blipFill>
                <a:blip r:embed="rId10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EBEC3F-B578-B168-3340-85991E42A2FE}"/>
                  </a:ext>
                </a:extLst>
              </p:cNvPr>
              <p:cNvSpPr txBox="1"/>
              <p:nvPr/>
            </p:nvSpPr>
            <p:spPr>
              <a:xfrm>
                <a:off x="2545872" y="1803970"/>
                <a:ext cx="1700463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EBEC3F-B578-B168-3340-85991E42A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872" y="1803970"/>
                <a:ext cx="1700463" cy="434671"/>
              </a:xfrm>
              <a:prstGeom prst="rect">
                <a:avLst/>
              </a:prstGeom>
              <a:blipFill>
                <a:blip r:embed="rId11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6F41E2B-50EE-BD8A-7A92-6DE2B156DDDB}"/>
                  </a:ext>
                </a:extLst>
              </p:cNvPr>
              <p:cNvSpPr txBox="1"/>
              <p:nvPr/>
            </p:nvSpPr>
            <p:spPr>
              <a:xfrm>
                <a:off x="2337325" y="4736967"/>
                <a:ext cx="2202364" cy="438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6F41E2B-50EE-BD8A-7A92-6DE2B156D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325" y="4736967"/>
                <a:ext cx="2202364" cy="438646"/>
              </a:xfrm>
              <a:prstGeom prst="rect">
                <a:avLst/>
              </a:prstGeom>
              <a:blipFill>
                <a:blip r:embed="rId12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5B86BA8-1621-BB56-B2FB-18CE470B8B57}"/>
              </a:ext>
            </a:extLst>
          </p:cNvPr>
          <p:cNvSpPr txBox="1"/>
          <p:nvPr/>
        </p:nvSpPr>
        <p:spPr>
          <a:xfrm>
            <a:off x="3207674" y="3740261"/>
            <a:ext cx="461665" cy="6066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AC7217-C281-23E3-68FB-B92E0A7A023B}"/>
                  </a:ext>
                </a:extLst>
              </p:cNvPr>
              <p:cNvSpPr txBox="1"/>
              <p:nvPr/>
            </p:nvSpPr>
            <p:spPr>
              <a:xfrm>
                <a:off x="3865336" y="1798492"/>
                <a:ext cx="2202364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AC7217-C281-23E3-68FB-B92E0A7A0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336" y="1798492"/>
                <a:ext cx="2202364" cy="434671"/>
              </a:xfrm>
              <a:prstGeom prst="rect">
                <a:avLst/>
              </a:prstGeom>
              <a:blipFill>
                <a:blip r:embed="rId13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D528D1-26DA-4F01-5550-77D08E4C4132}"/>
                  </a:ext>
                </a:extLst>
              </p:cNvPr>
              <p:cNvSpPr txBox="1"/>
              <p:nvPr/>
            </p:nvSpPr>
            <p:spPr>
              <a:xfrm>
                <a:off x="3986236" y="4724400"/>
                <a:ext cx="2081464" cy="438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D528D1-26DA-4F01-5550-77D08E4C4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236" y="4724400"/>
                <a:ext cx="2081464" cy="438646"/>
              </a:xfrm>
              <a:prstGeom prst="rect">
                <a:avLst/>
              </a:prstGeom>
              <a:blipFill>
                <a:blip r:embed="rId1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8368980-22C4-652B-5DF7-DB28175AAB0F}"/>
                  </a:ext>
                </a:extLst>
              </p:cNvPr>
              <p:cNvSpPr txBox="1"/>
              <p:nvPr/>
            </p:nvSpPr>
            <p:spPr>
              <a:xfrm>
                <a:off x="3865336" y="2677294"/>
                <a:ext cx="2202364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8368980-22C4-652B-5DF7-DB28175AA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336" y="2677294"/>
                <a:ext cx="2202364" cy="434671"/>
              </a:xfrm>
              <a:prstGeom prst="rect">
                <a:avLst/>
              </a:prstGeom>
              <a:blipFill>
                <a:blip r:embed="rId15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308DE64-9EB7-0F84-A8BC-0E69985421F6}"/>
              </a:ext>
            </a:extLst>
          </p:cNvPr>
          <p:cNvSpPr txBox="1"/>
          <p:nvPr/>
        </p:nvSpPr>
        <p:spPr>
          <a:xfrm>
            <a:off x="4889775" y="3771526"/>
            <a:ext cx="461665" cy="6066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DF500B-C1AF-5CB9-0B5D-4EDF545BDEA5}"/>
                  </a:ext>
                </a:extLst>
              </p:cNvPr>
              <p:cNvSpPr txBox="1"/>
              <p:nvPr/>
            </p:nvSpPr>
            <p:spPr>
              <a:xfrm>
                <a:off x="5599640" y="4724400"/>
                <a:ext cx="2172760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256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256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DF500B-C1AF-5CB9-0B5D-4EDF545BD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640" y="4724400"/>
                <a:ext cx="2172760" cy="434671"/>
              </a:xfrm>
              <a:prstGeom prst="rect">
                <a:avLst/>
              </a:prstGeom>
              <a:blipFill>
                <a:blip r:embed="rId16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974AFD6-6F58-EBA6-1AD6-A8515E43C0AC}"/>
                  </a:ext>
                </a:extLst>
              </p:cNvPr>
              <p:cNvSpPr txBox="1"/>
              <p:nvPr/>
            </p:nvSpPr>
            <p:spPr>
              <a:xfrm>
                <a:off x="5565799" y="2657672"/>
                <a:ext cx="2172760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974AFD6-6F58-EBA6-1AD6-A8515E43C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799" y="2657672"/>
                <a:ext cx="2172760" cy="434671"/>
              </a:xfrm>
              <a:prstGeom prst="rect">
                <a:avLst/>
              </a:prstGeom>
              <a:blipFill>
                <a:blip r:embed="rId17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079E061-B853-C2CD-6F3B-C1B8E338605A}"/>
                  </a:ext>
                </a:extLst>
              </p:cNvPr>
              <p:cNvSpPr txBox="1"/>
              <p:nvPr/>
            </p:nvSpPr>
            <p:spPr>
              <a:xfrm>
                <a:off x="5539394" y="1798915"/>
                <a:ext cx="2172760" cy="4346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079E061-B853-C2CD-6F3B-C1B8E3386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394" y="1798915"/>
                <a:ext cx="2172760" cy="434671"/>
              </a:xfrm>
              <a:prstGeom prst="rect">
                <a:avLst/>
              </a:prstGeom>
              <a:blipFill>
                <a:blip r:embed="rId18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F4978D1-E1F9-0813-E12D-890E194DEF9A}"/>
              </a:ext>
            </a:extLst>
          </p:cNvPr>
          <p:cNvSpPr txBox="1"/>
          <p:nvPr/>
        </p:nvSpPr>
        <p:spPr>
          <a:xfrm>
            <a:off x="6571876" y="3749023"/>
            <a:ext cx="461665" cy="6066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704A33-B7FC-44A7-B966-32476BEEDAD5}"/>
                  </a:ext>
                </a:extLst>
              </p:cNvPr>
              <p:cNvSpPr txBox="1"/>
              <p:nvPr/>
            </p:nvSpPr>
            <p:spPr>
              <a:xfrm>
                <a:off x="6503245" y="2244119"/>
                <a:ext cx="4616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704A33-B7FC-44A7-B966-32476BEED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245" y="2244119"/>
                <a:ext cx="46166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54ED404-47AA-0906-540B-5AA1561CB5C1}"/>
                  </a:ext>
                </a:extLst>
              </p:cNvPr>
              <p:cNvSpPr txBox="1"/>
              <p:nvPr/>
            </p:nvSpPr>
            <p:spPr>
              <a:xfrm>
                <a:off x="6491214" y="3148093"/>
                <a:ext cx="4616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54ED404-47AA-0906-540B-5AA1561CB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214" y="3148093"/>
                <a:ext cx="461665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25C3208-289D-2A4C-72B4-23AB3FF862AA}"/>
                  </a:ext>
                </a:extLst>
              </p:cNvPr>
              <p:cNvSpPr txBox="1"/>
              <p:nvPr/>
            </p:nvSpPr>
            <p:spPr>
              <a:xfrm>
                <a:off x="6491213" y="4281686"/>
                <a:ext cx="4616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25C3208-289D-2A4C-72B4-23AB3FF86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213" y="4281686"/>
                <a:ext cx="46166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9F3AAFB-A021-1D6B-BF36-8CD8B1F91896}"/>
              </a:ext>
            </a:extLst>
          </p:cNvPr>
          <p:cNvSpPr txBox="1"/>
          <p:nvPr/>
        </p:nvSpPr>
        <p:spPr>
          <a:xfrm>
            <a:off x="76200" y="5420881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Problem resides in the final summation, a reduction operation</a:t>
            </a:r>
            <a:r>
              <a:rPr lang="zh-CN" altLang="en-US" sz="2400" dirty="0"/>
              <a:t>问题存在于最后的求和归约操作中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417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9" grpId="0"/>
      <p:bldP spid="21" grpId="0"/>
      <p:bldP spid="22" grpId="0"/>
      <p:bldP spid="23" grpId="0"/>
      <p:bldP spid="25" grpId="0"/>
      <p:bldP spid="26" grpId="0"/>
      <p:bldP spid="27" grpId="0"/>
      <p:bldP spid="29" grpId="0"/>
      <p:bldP spid="30" grpId="0"/>
      <p:bldP spid="34" grpId="0"/>
      <p:bldP spid="36" grpId="0"/>
      <p:bldP spid="38" grpId="0"/>
      <p:bldP spid="39" grpId="0"/>
      <p:bldP spid="41" grpId="0"/>
      <p:bldP spid="43" grpId="0"/>
      <p:bldP spid="45" grpId="0"/>
      <p:bldP spid="4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EBC0D-3A08-0548-8CAC-FA73DBB1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58167-55C6-7FD4-8B46-D124AD16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Parallel Reduction  </a:t>
            </a:r>
            <a:r>
              <a:rPr lang="zh-CN" altLang="en-US" dirty="0">
                <a:latin typeface="+mj-ea"/>
              </a:rPr>
              <a:t>并行归约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4CB2B68-D357-FD9E-03AB-316FADDF6A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FE1F2-D984-F45B-63C1-B9D679D1B874}"/>
                  </a:ext>
                </a:extLst>
              </p:cNvPr>
              <p:cNvSpPr txBox="1"/>
              <p:nvPr/>
            </p:nvSpPr>
            <p:spPr>
              <a:xfrm>
                <a:off x="3260746" y="1524000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CFE1F2-D984-F45B-63C1-B9D679D1B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746" y="1524000"/>
                <a:ext cx="6110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D1617-5C45-0B0A-A0EF-151855630B1D}"/>
                  </a:ext>
                </a:extLst>
              </p:cNvPr>
              <p:cNvSpPr txBox="1"/>
              <p:nvPr/>
            </p:nvSpPr>
            <p:spPr>
              <a:xfrm>
                <a:off x="3260746" y="2294611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D1617-5C45-0B0A-A0EF-151855630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746" y="2294611"/>
                <a:ext cx="61102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E6EAB6-8E89-728D-870E-CF0B1B1A1ABB}"/>
                  </a:ext>
                </a:extLst>
              </p:cNvPr>
              <p:cNvSpPr txBox="1"/>
              <p:nvPr/>
            </p:nvSpPr>
            <p:spPr>
              <a:xfrm>
                <a:off x="3260746" y="3065222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E6EAB6-8E89-728D-870E-CF0B1B1A1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746" y="3065222"/>
                <a:ext cx="61102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96D686B-75EE-91DD-01EF-A4DDA76638A0}"/>
                  </a:ext>
                </a:extLst>
              </p:cNvPr>
              <p:cNvSpPr txBox="1"/>
              <p:nvPr/>
            </p:nvSpPr>
            <p:spPr>
              <a:xfrm>
                <a:off x="3260746" y="3835833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96D686B-75EE-91DD-01EF-A4DDA7663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746" y="3835833"/>
                <a:ext cx="61102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CDBC37B-9BE9-D502-29E3-920F0F435D93}"/>
                  </a:ext>
                </a:extLst>
              </p:cNvPr>
              <p:cNvSpPr txBox="1"/>
              <p:nvPr/>
            </p:nvSpPr>
            <p:spPr>
              <a:xfrm>
                <a:off x="3662636" y="1524000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CDBC37B-9BE9-D502-29E3-920F0F435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36" y="1524000"/>
                <a:ext cx="61102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700586-73E2-45EE-3D77-BA5E98DE47C2}"/>
                  </a:ext>
                </a:extLst>
              </p:cNvPr>
              <p:cNvSpPr txBox="1"/>
              <p:nvPr/>
            </p:nvSpPr>
            <p:spPr>
              <a:xfrm>
                <a:off x="3670657" y="2295086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700586-73E2-45EE-3D77-BA5E98DE4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657" y="2295086"/>
                <a:ext cx="61102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E19052-4B5B-BD77-365E-40BD1A766D9B}"/>
                  </a:ext>
                </a:extLst>
              </p:cNvPr>
              <p:cNvSpPr txBox="1"/>
              <p:nvPr/>
            </p:nvSpPr>
            <p:spPr>
              <a:xfrm>
                <a:off x="3695557" y="3060258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E19052-4B5B-BD77-365E-40BD1A766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557" y="3060258"/>
                <a:ext cx="61102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B1C6AB-0617-8185-118F-DE84B4CFE767}"/>
                  </a:ext>
                </a:extLst>
              </p:cNvPr>
              <p:cNvSpPr txBox="1"/>
              <p:nvPr/>
            </p:nvSpPr>
            <p:spPr>
              <a:xfrm>
                <a:off x="3695557" y="3825430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B1C6AB-0617-8185-118F-DE84B4CFE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557" y="3825430"/>
                <a:ext cx="61102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82F5C7B-D8E1-5609-E097-B65D9528E58E}"/>
                  </a:ext>
                </a:extLst>
              </p:cNvPr>
              <p:cNvSpPr txBox="1"/>
              <p:nvPr/>
            </p:nvSpPr>
            <p:spPr>
              <a:xfrm>
                <a:off x="4167173" y="1527084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82F5C7B-D8E1-5609-E097-B65D9528E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173" y="1527084"/>
                <a:ext cx="61102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C24B52A-4281-5468-3764-28B2AB6010AE}"/>
                  </a:ext>
                </a:extLst>
              </p:cNvPr>
              <p:cNvSpPr txBox="1"/>
              <p:nvPr/>
            </p:nvSpPr>
            <p:spPr>
              <a:xfrm>
                <a:off x="4175194" y="2298170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C24B52A-4281-5468-3764-28B2AB601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194" y="2298170"/>
                <a:ext cx="61102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1D65A9A-634B-6D53-2D11-D0E23C8E40A6}"/>
                  </a:ext>
                </a:extLst>
              </p:cNvPr>
              <p:cNvSpPr txBox="1"/>
              <p:nvPr/>
            </p:nvSpPr>
            <p:spPr>
              <a:xfrm>
                <a:off x="4200094" y="3063342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1D65A9A-634B-6D53-2D11-D0E23C8E4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094" y="3063342"/>
                <a:ext cx="61102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87B69D-9B2F-49BB-F701-90712E83CF47}"/>
                  </a:ext>
                </a:extLst>
              </p:cNvPr>
              <p:cNvSpPr txBox="1"/>
              <p:nvPr/>
            </p:nvSpPr>
            <p:spPr>
              <a:xfrm>
                <a:off x="4200094" y="3828514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87B69D-9B2F-49BB-F701-90712E83C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094" y="3828514"/>
                <a:ext cx="61102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49AF802-4E78-ACAD-4CF4-74E801F3F001}"/>
                  </a:ext>
                </a:extLst>
              </p:cNvPr>
              <p:cNvSpPr txBox="1"/>
              <p:nvPr/>
            </p:nvSpPr>
            <p:spPr>
              <a:xfrm>
                <a:off x="4741389" y="1524000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49AF802-4E78-ACAD-4CF4-74E801F3F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389" y="1524000"/>
                <a:ext cx="61102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0D1877C-F55F-3832-F1DA-92AA141D3D99}"/>
                  </a:ext>
                </a:extLst>
              </p:cNvPr>
              <p:cNvSpPr txBox="1"/>
              <p:nvPr/>
            </p:nvSpPr>
            <p:spPr>
              <a:xfrm>
                <a:off x="4749410" y="2295086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0D1877C-F55F-3832-F1DA-92AA141D3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410" y="2295086"/>
                <a:ext cx="61102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7E8ED38-BAC4-B73E-0CAB-6FFD577E9136}"/>
                  </a:ext>
                </a:extLst>
              </p:cNvPr>
              <p:cNvSpPr txBox="1"/>
              <p:nvPr/>
            </p:nvSpPr>
            <p:spPr>
              <a:xfrm>
                <a:off x="4774310" y="3060258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7E8ED38-BAC4-B73E-0CAB-6FFD577E9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310" y="3060258"/>
                <a:ext cx="611021" cy="369332"/>
              </a:xfrm>
              <a:prstGeom prst="rect">
                <a:avLst/>
              </a:prstGeom>
              <a:blipFill>
                <a:blip r:embed="rId18"/>
                <a:stretch>
                  <a:fillRect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94EFB91-2267-4182-BFC0-0FFDCF2ED1B1}"/>
                  </a:ext>
                </a:extLst>
              </p:cNvPr>
              <p:cNvSpPr txBox="1"/>
              <p:nvPr/>
            </p:nvSpPr>
            <p:spPr>
              <a:xfrm>
                <a:off x="4774310" y="3825430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94EFB91-2267-4182-BFC0-0FFDCF2ED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4310" y="3825430"/>
                <a:ext cx="61102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A790F5D-1423-D0A5-32D7-574CAD9E2071}"/>
                  </a:ext>
                </a:extLst>
              </p:cNvPr>
              <p:cNvSpPr txBox="1"/>
              <p:nvPr/>
            </p:nvSpPr>
            <p:spPr>
              <a:xfrm>
                <a:off x="5299658" y="1524000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A790F5D-1423-D0A5-32D7-574CAD9E2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658" y="1524000"/>
                <a:ext cx="61102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B258392-9585-A2E1-40EA-77423A73D417}"/>
                  </a:ext>
                </a:extLst>
              </p:cNvPr>
              <p:cNvSpPr txBox="1"/>
              <p:nvPr/>
            </p:nvSpPr>
            <p:spPr>
              <a:xfrm>
                <a:off x="5307679" y="2295086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B258392-9585-A2E1-40EA-77423A73D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679" y="2295086"/>
                <a:ext cx="61102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4DA2D8C-EEBA-0E68-BC14-624F8F83C96C}"/>
                  </a:ext>
                </a:extLst>
              </p:cNvPr>
              <p:cNvSpPr txBox="1"/>
              <p:nvPr/>
            </p:nvSpPr>
            <p:spPr>
              <a:xfrm>
                <a:off x="5332579" y="3060258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4DA2D8C-EEBA-0E68-BC14-624F8F83C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579" y="3060258"/>
                <a:ext cx="61102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A779ED5-0814-4841-CE2D-337012C008D6}"/>
                  </a:ext>
                </a:extLst>
              </p:cNvPr>
              <p:cNvSpPr txBox="1"/>
              <p:nvPr/>
            </p:nvSpPr>
            <p:spPr>
              <a:xfrm>
                <a:off x="5332579" y="3825430"/>
                <a:ext cx="611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A779ED5-0814-4841-CE2D-337012C00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579" y="3825430"/>
                <a:ext cx="61102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B34B188-C7F5-318B-8E11-FC723D9B16C2}"/>
                  </a:ext>
                </a:extLst>
              </p:cNvPr>
              <p:cNvSpPr txBox="1"/>
              <p:nvPr/>
            </p:nvSpPr>
            <p:spPr>
              <a:xfrm>
                <a:off x="4337953" y="1941128"/>
                <a:ext cx="4616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B34B188-C7F5-318B-8E11-FC723D9B1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953" y="1941128"/>
                <a:ext cx="46166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8284BDA-6A75-FE2A-8FE0-1319845BFDB4}"/>
                  </a:ext>
                </a:extLst>
              </p:cNvPr>
              <p:cNvSpPr txBox="1"/>
              <p:nvPr/>
            </p:nvSpPr>
            <p:spPr>
              <a:xfrm>
                <a:off x="4332426" y="2732206"/>
                <a:ext cx="4616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8284BDA-6A75-FE2A-8FE0-1319845BF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426" y="2732206"/>
                <a:ext cx="46166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E5EFFA4-9501-3263-CF8C-6072A6AF0ADA}"/>
                  </a:ext>
                </a:extLst>
              </p:cNvPr>
              <p:cNvSpPr txBox="1"/>
              <p:nvPr/>
            </p:nvSpPr>
            <p:spPr>
              <a:xfrm>
                <a:off x="4333263" y="3494294"/>
                <a:ext cx="4616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E5EFFA4-9501-3263-CF8C-6072A6AF0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263" y="3494294"/>
                <a:ext cx="46166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6417E494-A9F7-B0DC-4237-CE68264978BE}"/>
              </a:ext>
            </a:extLst>
          </p:cNvPr>
          <p:cNvSpPr txBox="1"/>
          <p:nvPr/>
        </p:nvSpPr>
        <p:spPr>
          <a:xfrm>
            <a:off x="76200" y="4285602"/>
            <a:ext cx="899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Only the last few steps are not fully independent </a:t>
            </a:r>
          </a:p>
          <a:p>
            <a:pPr algn="ctr"/>
            <a:r>
              <a:rPr lang="en-US" altLang="zh-CN" sz="2400" dirty="0"/>
              <a:t>&amp; cannot be fully parallelized</a:t>
            </a:r>
          </a:p>
          <a:p>
            <a:pPr algn="ctr"/>
            <a:r>
              <a:rPr lang="zh-CN" altLang="en-US" sz="2400" dirty="0"/>
              <a:t>只有最后几步不是完全独立，无法完全并行化</a:t>
            </a:r>
            <a:endParaRPr lang="en-US" altLang="zh-CN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44E9C8-836F-524B-F73D-91BC6FABC1E9}"/>
              </a:ext>
            </a:extLst>
          </p:cNvPr>
          <p:cNvSpPr txBox="1"/>
          <p:nvPr/>
        </p:nvSpPr>
        <p:spPr>
          <a:xfrm>
            <a:off x="76200" y="5493808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However, this changes the order of adding in summation!!</a:t>
            </a:r>
          </a:p>
          <a:p>
            <a:pPr algn="ctr"/>
            <a:r>
              <a:rPr lang="zh-CN" altLang="en-US" sz="2400" dirty="0"/>
              <a:t>但这改变了求和加法的顺序！！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18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0" grpId="0"/>
      <p:bldP spid="44" grpId="0"/>
      <p:bldP spid="48" grpId="0"/>
      <p:bldP spid="50" grpId="0"/>
      <p:bldP spid="52" grpId="0"/>
      <p:bldP spid="54" grpId="0"/>
      <p:bldP spid="56" grpId="0"/>
      <p:bldP spid="58" grpId="0"/>
      <p:bldP spid="60" grpId="0"/>
      <p:bldP spid="62" grpId="0"/>
      <p:bldP spid="64" grpId="0"/>
      <p:bldP spid="68" grpId="0"/>
      <p:bldP spid="70" grpId="0"/>
      <p:bldP spid="72" grpId="0"/>
      <p:bldP spid="74" grpId="0"/>
      <p:bldP spid="75" grpId="0"/>
      <p:bldP spid="76" grpId="0"/>
      <p:bldP spid="77" grpId="0"/>
      <p:bldP spid="78" grpId="0"/>
      <p:bldP spid="7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EA251-CDFD-99AB-2FAF-25F7CB5C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3C2F-6867-9031-A1BF-5DC94952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Simple Demo  </a:t>
            </a:r>
            <a:r>
              <a:rPr lang="zh-CN" altLang="en-US" dirty="0">
                <a:latin typeface="+mj-ea"/>
              </a:rPr>
              <a:t>简单的演示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5F53168-0B2F-C1AF-0D63-3842E9AF04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0D04D4-E41E-0559-1859-7F89FCC39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417" y="4213235"/>
            <a:ext cx="4401164" cy="514422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CDD99BD8-1ADF-DAB9-8339-15C447730A82}"/>
              </a:ext>
            </a:extLst>
          </p:cNvPr>
          <p:cNvSpPr/>
          <p:nvPr/>
        </p:nvSpPr>
        <p:spPr bwMode="auto">
          <a:xfrm>
            <a:off x="4376636" y="3386339"/>
            <a:ext cx="423964" cy="72846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4C20EC-9872-0BA9-C99E-117E90F793E5}"/>
              </a:ext>
            </a:extLst>
          </p:cNvPr>
          <p:cNvSpPr txBox="1"/>
          <p:nvPr/>
        </p:nvSpPr>
        <p:spPr>
          <a:xfrm>
            <a:off x="76200" y="5124271"/>
            <a:ext cx="899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Changing the summation order for </a:t>
            </a:r>
          </a:p>
          <a:p>
            <a:pPr algn="ctr"/>
            <a:r>
              <a:rPr lang="en-US" altLang="zh-CN" sz="2400" dirty="0"/>
              <a:t>floating-point numbers may change the result  </a:t>
            </a:r>
          </a:p>
          <a:p>
            <a:pPr algn="ctr"/>
            <a:r>
              <a:rPr lang="zh-CN" altLang="en-US" sz="2400" dirty="0"/>
              <a:t>改变浮点数求和顺序会改变结果</a:t>
            </a:r>
            <a:endParaRPr lang="en-US" altLang="zh-C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477E8B-9DCA-806A-E935-7E03CF781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5173" y="1761318"/>
            <a:ext cx="4446890" cy="15661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625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B34B9-155E-2103-61FA-EBB0A9E72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228F-0C7E-8AD3-E1A9-771E4D14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Compiler Design  </a:t>
            </a:r>
            <a:r>
              <a:rPr lang="zh-CN" altLang="en-US" dirty="0">
                <a:latin typeface="+mj-ea"/>
              </a:rPr>
              <a:t>编译器设计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E10D2-F810-8814-CC33-0D998024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572000"/>
          </a:xfrm>
        </p:spPr>
        <p:txBody>
          <a:bodyPr/>
          <a:lstStyle/>
          <a:p>
            <a:r>
              <a:rPr lang="en-US" altLang="zh-CN" dirty="0"/>
              <a:t>Respect the Order Programmed </a:t>
            </a:r>
            <a:br>
              <a:rPr lang="en-US" altLang="zh-CN" dirty="0"/>
            </a:br>
            <a:r>
              <a:rPr lang="zh-CN" altLang="en-US" dirty="0"/>
              <a:t>遵从编程指定的顺序</a:t>
            </a:r>
            <a:endParaRPr lang="en-US" altLang="zh-CN" dirty="0"/>
          </a:p>
          <a:p>
            <a:pPr lvl="1"/>
            <a:r>
              <a:rPr lang="en-US" altLang="zh-CN" dirty="0"/>
              <a:t>To maintain result consistency  </a:t>
            </a:r>
            <a:br>
              <a:rPr lang="en-US" altLang="zh-CN" dirty="0"/>
            </a:br>
            <a:r>
              <a:rPr lang="zh-CN" altLang="en-US" dirty="0"/>
              <a:t>以保证结果一致性</a:t>
            </a:r>
            <a:endParaRPr lang="en-US" altLang="zh-CN" dirty="0"/>
          </a:p>
          <a:p>
            <a:pPr lvl="1"/>
            <a:r>
              <a:rPr lang="en-US" altLang="zh-CN" dirty="0"/>
              <a:t>Superscalar execution &amp; pipelining still used  </a:t>
            </a:r>
            <a:r>
              <a:rPr lang="zh-CN" altLang="en-US" dirty="0"/>
              <a:t>依然利用超越标量的执行、流水化</a:t>
            </a:r>
            <a:endParaRPr lang="en-US" altLang="zh-CN" dirty="0"/>
          </a:p>
          <a:p>
            <a:r>
              <a:rPr lang="en-US" altLang="zh-CN" dirty="0"/>
              <a:t>Enable the Flexibility </a:t>
            </a:r>
            <a:r>
              <a:rPr lang="zh-CN" altLang="en-US" dirty="0"/>
              <a:t> 提供灵活性</a:t>
            </a:r>
            <a:endParaRPr lang="en-US" altLang="zh-CN" dirty="0"/>
          </a:p>
          <a:p>
            <a:pPr lvl="1"/>
            <a:r>
              <a:rPr lang="en-US" altLang="zh-CN" dirty="0"/>
              <a:t>Through additional compilation directives</a:t>
            </a:r>
            <a:br>
              <a:rPr lang="en-US" altLang="zh-CN" dirty="0"/>
            </a:br>
            <a:r>
              <a:rPr lang="zh-CN" altLang="en-US" dirty="0"/>
              <a:t>通过额外的编译指示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CF8D8C4-930E-BD42-FF47-29E2F3F550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61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48FC-0927-D0D1-4762-4D73AC17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6F5B-FE74-6A99-27DC-840C7E17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3.5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3.5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A4745-0975-9060-E2A9-A42B86F61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9A0681-5FB8-AA97-2481-979F553578DA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small change</a:t>
            </a:r>
          </a:p>
          <a:p>
            <a:pPr algn="ctr"/>
            <a:r>
              <a:rPr lang="zh-CN" altLang="en-US" sz="2200" dirty="0"/>
              <a:t>实践时刻：小改动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72514-C402-508F-E8B7-1C3717E3D4A1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Any difference observed? </a:t>
            </a:r>
          </a:p>
          <a:p>
            <a:pPr algn="ctr"/>
            <a:r>
              <a:rPr lang="zh-CN" altLang="en-US" sz="2200" dirty="0"/>
              <a:t>能否观察到差异？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825406D-F1EA-735A-3C01-7A148FA6A0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233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59E69-18FD-E0FD-851D-94F2C266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26F06A-093C-FE9D-AF74-3E4F57768148}"/>
              </a:ext>
            </a:extLst>
          </p:cNvPr>
          <p:cNvSpPr/>
          <p:nvPr/>
        </p:nvSpPr>
        <p:spPr bwMode="auto">
          <a:xfrm>
            <a:off x="4279232" y="2781300"/>
            <a:ext cx="4876800" cy="13834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vsubpd</a:t>
            </a:r>
            <a:r>
              <a:rPr lang="en-US" altLang="zh-CN" sz="2000" dirty="0">
                <a:latin typeface="Consolas" panose="020B0609020204030204" pitchFamily="49" charset="0"/>
              </a:rPr>
              <a:t> (%rdx,%rax,8),%ymm4,%ymm4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vfmadd213pd %ymm1,%ymm4,%ymm4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2B458-1F98-0888-F424-ED497D11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8ABA6-7843-8640-58F1-E8CF0B611D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D5BDB1-08F2-49A8-A220-CC7715BA7EFA}"/>
              </a:ext>
            </a:extLst>
          </p:cNvPr>
          <p:cNvSpPr/>
          <p:nvPr/>
        </p:nvSpPr>
        <p:spPr bwMode="auto">
          <a:xfrm>
            <a:off x="324628" y="2664397"/>
            <a:ext cx="3886201" cy="16028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subpd</a:t>
            </a:r>
            <a:r>
              <a:rPr lang="en-US" altLang="zh-CN" sz="2000" dirty="0">
                <a:latin typeface="Consolas" panose="020B0609020204030204" pitchFamily="49" charset="0"/>
              </a:rPr>
              <a:t> %xmm4,%xmm3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%xmm3,%xmm3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addpd</a:t>
            </a:r>
            <a:r>
              <a:rPr lang="en-US" sz="2000" dirty="0">
                <a:latin typeface="Consolas" panose="020B0609020204030204" pitchFamily="49" charset="0"/>
              </a:rPr>
              <a:t> %xmm0,%xmm3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B0E85A-1B24-6545-EC7A-A41CC3D41C62}"/>
              </a:ext>
            </a:extLst>
          </p:cNvPr>
          <p:cNvSpPr txBox="1"/>
          <p:nvPr/>
        </p:nvSpPr>
        <p:spPr>
          <a:xfrm>
            <a:off x="0" y="1807147"/>
            <a:ext cx="370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</a:t>
            </a:r>
          </a:p>
          <a:p>
            <a:pPr algn="ctr"/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1E3EB-89A8-9FCD-72C1-B52A041BBA80}"/>
              </a:ext>
            </a:extLst>
          </p:cNvPr>
          <p:cNvSpPr txBox="1"/>
          <p:nvPr/>
        </p:nvSpPr>
        <p:spPr>
          <a:xfrm>
            <a:off x="4343400" y="1807146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</a:t>
            </a:r>
          </a:p>
          <a:p>
            <a:pPr algn="ctr"/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DBD89-D016-9062-C1C4-E35BF835563E}"/>
              </a:ext>
            </a:extLst>
          </p:cNvPr>
          <p:cNvSpPr txBox="1"/>
          <p:nvPr/>
        </p:nvSpPr>
        <p:spPr>
          <a:xfrm>
            <a:off x="232661" y="4989493"/>
            <a:ext cx="8694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SIMD enabled</a:t>
            </a:r>
          </a:p>
          <a:p>
            <a:pPr algn="ctr"/>
            <a:r>
              <a:rPr lang="zh-CN" altLang="en-US" sz="2800" dirty="0"/>
              <a:t>使用了</a:t>
            </a:r>
            <a:r>
              <a:rPr lang="en-US" altLang="zh-CN" sz="2800" dirty="0"/>
              <a:t>SIMD</a:t>
            </a:r>
            <a:endParaRPr lang="zh-CN" alt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E1C495-826A-EC53-9BC7-65CE8C753F0F}"/>
              </a:ext>
            </a:extLst>
          </p:cNvPr>
          <p:cNvSpPr/>
          <p:nvPr/>
        </p:nvSpPr>
        <p:spPr bwMode="auto">
          <a:xfrm>
            <a:off x="838200" y="2986640"/>
            <a:ext cx="293684" cy="954107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F6D8C9-399F-663B-E71F-BA74AA42A047}"/>
              </a:ext>
            </a:extLst>
          </p:cNvPr>
          <p:cNvCxnSpPr>
            <a:cxnSpLocks/>
            <a:stCxn id="11" idx="0"/>
            <a:endCxn id="12" idx="3"/>
          </p:cNvCxnSpPr>
          <p:nvPr/>
        </p:nvCxnSpPr>
        <p:spPr bwMode="auto">
          <a:xfrm flipH="1" flipV="1">
            <a:off x="1131884" y="3463694"/>
            <a:ext cx="3447962" cy="15257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7D48FEE-D7AB-A2EE-629A-1844667B94C6}"/>
              </a:ext>
            </a:extLst>
          </p:cNvPr>
          <p:cNvSpPr/>
          <p:nvPr/>
        </p:nvSpPr>
        <p:spPr bwMode="auto">
          <a:xfrm>
            <a:off x="4928936" y="3158089"/>
            <a:ext cx="304800" cy="25923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036692-14D3-C374-F299-EB2ACC62F0DB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 bwMode="auto">
          <a:xfrm flipV="1">
            <a:off x="4579846" y="3417321"/>
            <a:ext cx="501490" cy="15721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7C019E6-3A5A-50E4-C4CD-6DD44EA1DC32}"/>
              </a:ext>
            </a:extLst>
          </p:cNvPr>
          <p:cNvSpPr/>
          <p:nvPr/>
        </p:nvSpPr>
        <p:spPr bwMode="auto">
          <a:xfrm>
            <a:off x="5622534" y="3762053"/>
            <a:ext cx="304800" cy="25923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2C0982-BCF6-4F9F-6CFA-A0284FAEC454}"/>
              </a:ext>
            </a:extLst>
          </p:cNvPr>
          <p:cNvCxnSpPr>
            <a:cxnSpLocks/>
            <a:stCxn id="11" idx="0"/>
            <a:endCxn id="23" idx="2"/>
          </p:cNvCxnSpPr>
          <p:nvPr/>
        </p:nvCxnSpPr>
        <p:spPr bwMode="auto">
          <a:xfrm flipV="1">
            <a:off x="4579846" y="4021285"/>
            <a:ext cx="1195088" cy="9682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07E43B7-5369-53E8-FB70-3587D67F66B0}"/>
              </a:ext>
            </a:extLst>
          </p:cNvPr>
          <p:cNvSpPr/>
          <p:nvPr/>
        </p:nvSpPr>
        <p:spPr bwMode="auto">
          <a:xfrm>
            <a:off x="4343400" y="3158089"/>
            <a:ext cx="192057" cy="86319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9357F8-147F-2331-A85F-2659F1E23EB6}"/>
              </a:ext>
            </a:extLst>
          </p:cNvPr>
          <p:cNvCxnSpPr>
            <a:cxnSpLocks/>
            <a:stCxn id="11" idx="0"/>
            <a:endCxn id="15" idx="2"/>
          </p:cNvCxnSpPr>
          <p:nvPr/>
        </p:nvCxnSpPr>
        <p:spPr bwMode="auto">
          <a:xfrm flipH="1" flipV="1">
            <a:off x="4439429" y="4021285"/>
            <a:ext cx="140417" cy="9682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59699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1" grpId="0"/>
      <p:bldP spid="12" grpId="0" animBg="1"/>
      <p:bldP spid="16" grpId="0" animBg="1"/>
      <p:bldP spid="23" grpId="0" animBg="1"/>
      <p:bldP spid="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5518B-2476-F052-A128-04A3819E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CD33-7436-75B0-8198-A0CFF6DB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Improvement</a:t>
            </a:r>
            <a:br>
              <a:rPr lang="en-US" altLang="zh-CN" dirty="0"/>
            </a:br>
            <a:r>
              <a:rPr lang="zh-CN" altLang="en-US" dirty="0"/>
              <a:t>性能提升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9CC65-7B35-6389-F25C-C2C5CC245C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6FC088-C06E-9A5C-AF72-8D5AB84F8036}"/>
              </a:ext>
            </a:extLst>
          </p:cNvPr>
          <p:cNvSpPr txBox="1"/>
          <p:nvPr/>
        </p:nvSpPr>
        <p:spPr>
          <a:xfrm>
            <a:off x="415290" y="1636693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This is a more complex case</a:t>
            </a:r>
          </a:p>
          <a:p>
            <a:pPr algn="ctr"/>
            <a:r>
              <a:rPr lang="zh-CN" altLang="en-US" sz="2800" dirty="0"/>
              <a:t>这是一个更为复杂的例子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102C6-707C-08B7-5AAC-9A62F797F59B}"/>
              </a:ext>
            </a:extLst>
          </p:cNvPr>
          <p:cNvSpPr txBox="1"/>
          <p:nvPr/>
        </p:nvSpPr>
        <p:spPr>
          <a:xfrm>
            <a:off x="297180" y="2703493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~3x in some relatively new systems</a:t>
            </a:r>
          </a:p>
          <a:p>
            <a:pPr algn="ctr"/>
            <a:r>
              <a:rPr lang="zh-CN" altLang="en-US" sz="2800" dirty="0"/>
              <a:t>在某些比较新的系统上可能接近</a:t>
            </a:r>
            <a:r>
              <a:rPr lang="en-US" altLang="zh-CN" sz="2800" dirty="0"/>
              <a:t>3</a:t>
            </a:r>
            <a:r>
              <a:rPr lang="zh-CN" altLang="en-US" sz="2800" dirty="0"/>
              <a:t>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0EF2A-F994-A4ED-4DBA-43128DA38C79}"/>
              </a:ext>
            </a:extLst>
          </p:cNvPr>
          <p:cNvSpPr txBox="1"/>
          <p:nvPr/>
        </p:nvSpPr>
        <p:spPr>
          <a:xfrm>
            <a:off x="415290" y="3770293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Very little in some old systems</a:t>
            </a:r>
          </a:p>
          <a:p>
            <a:pPr algn="ctr"/>
            <a:r>
              <a:rPr lang="zh-CN" altLang="en-US" sz="2800" dirty="0"/>
              <a:t>在某些旧的系统上提升很少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256F5-3099-4818-1055-77D8468C927E}"/>
              </a:ext>
            </a:extLst>
          </p:cNvPr>
          <p:cNvSpPr txBox="1"/>
          <p:nvPr/>
        </p:nvSpPr>
        <p:spPr>
          <a:xfrm>
            <a:off x="407269" y="4837093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We’ll see this complex pattern later</a:t>
            </a:r>
          </a:p>
          <a:p>
            <a:pPr algn="ctr"/>
            <a:r>
              <a:rPr lang="zh-CN" altLang="en-US" sz="2800" dirty="0"/>
              <a:t>后面我们还会看到这种复杂的情况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213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5" grpId="0"/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4A24D-0E62-9FCC-5DA1-BAB4F4AC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5140-4F14-C1B9-5D41-95B78DFE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 Got Some Ideas</a:t>
            </a:r>
            <a:br>
              <a:rPr lang="en-US" altLang="zh-CN" dirty="0"/>
            </a:br>
            <a:r>
              <a:rPr lang="zh-CN" altLang="en-US" dirty="0"/>
              <a:t>我们有一些了解了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3FFBC-B015-E807-DC58-A5B8514F6F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3.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3. </a:t>
            </a:r>
            <a:r>
              <a:rPr lang="zh-CN" altLang="en-US" dirty="0"/>
              <a:t>并行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CBC6D-CE94-9773-B239-56C5D2161064}"/>
              </a:ext>
            </a:extLst>
          </p:cNvPr>
          <p:cNvSpPr txBox="1"/>
          <p:nvPr/>
        </p:nvSpPr>
        <p:spPr>
          <a:xfrm>
            <a:off x="415290" y="2057400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This is part of the parallelism story</a:t>
            </a:r>
          </a:p>
          <a:p>
            <a:pPr algn="ctr"/>
            <a:r>
              <a:rPr lang="zh-CN" altLang="en-US" sz="2800" dirty="0"/>
              <a:t>这是并行内容的一部分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82DAF-736A-09C9-EDC5-FED23DE3A04E}"/>
              </a:ext>
            </a:extLst>
          </p:cNvPr>
          <p:cNvSpPr txBox="1"/>
          <p:nvPr/>
        </p:nvSpPr>
        <p:spPr>
          <a:xfrm>
            <a:off x="1537740" y="3544431"/>
            <a:ext cx="60685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Soon we’ll talk about more on it, but from a different perspective</a:t>
            </a:r>
          </a:p>
          <a:p>
            <a:pPr algn="ctr"/>
            <a:r>
              <a:rPr lang="zh-CN" altLang="en-US" sz="2800" dirty="0"/>
              <a:t>很快我们会再次谈到它，</a:t>
            </a:r>
            <a:endParaRPr lang="en-US" altLang="zh-CN" sz="2800" dirty="0"/>
          </a:p>
          <a:p>
            <a:pPr algn="ctr"/>
            <a:r>
              <a:rPr lang="zh-CN" altLang="en-US" sz="2800" dirty="0"/>
              <a:t>只是换一个不同的角度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098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21.7|0.3|0.4|0.3|0.3|0.2|0.3|71.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4|19.1|7.5|8.3|5.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7.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3|0.1|0.2|0.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5|0.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4|0.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4|0.3|23.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5|0.4|0.3|0.4|2.4|0.4|0.5|0.4|6.9|2.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5|0.3|5.6|0.2|0.3|0.5|0.3|0.3|0.4|0.3|0.5|0.6|0.6|0.9|15.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4|0.3|23.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40B1A4C5819246B9BFCCBA066F3ABE" ma:contentTypeVersion="19" ma:contentTypeDescription="Create a new document." ma:contentTypeScope="" ma:versionID="9692fad3877e1ae90f51e4baed900726">
  <xsd:schema xmlns:xsd="http://www.w3.org/2001/XMLSchema" xmlns:xs="http://www.w3.org/2001/XMLSchema" xmlns:p="http://schemas.microsoft.com/office/2006/metadata/properties" xmlns:ns3="96e2f25c-537a-4a0c-91fb-0331a5612536" xmlns:ns4="f66673be-3b20-4ac8-ba7c-00310aa8f626" targetNamespace="http://schemas.microsoft.com/office/2006/metadata/properties" ma:root="true" ma:fieldsID="a4d7b83b6d623c2308b23cc2086510ce" ns3:_="" ns4:_="">
    <xsd:import namespace="96e2f25c-537a-4a0c-91fb-0331a5612536"/>
    <xsd:import namespace="f66673be-3b20-4ac8-ba7c-00310aa8f6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2f25c-537a-4a0c-91fb-0331a56125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673be-3b20-4ac8-ba7c-00310aa8f6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e2f25c-537a-4a0c-91fb-0331a5612536" xsi:nil="true"/>
  </documentManagement>
</p:properties>
</file>

<file path=customXml/itemProps1.xml><?xml version="1.0" encoding="utf-8"?>
<ds:datastoreItem xmlns:ds="http://schemas.openxmlformats.org/officeDocument/2006/customXml" ds:itemID="{C0A29639-2C97-4587-B7DD-B53C30F641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8747F-F311-4A49-9509-54EE6A6EE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e2f25c-537a-4a0c-91fb-0331a5612536"/>
    <ds:schemaRef ds:uri="f66673be-3b20-4ac8-ba7c-00310aa8f6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FA058F-C745-49C3-B04F-664AB4EC0AC0}">
  <ds:schemaRefs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96e2f25c-537a-4a0c-91fb-0331a5612536"/>
    <ds:schemaRef ds:uri="http://schemas.openxmlformats.org/package/2006/metadata/core-properties"/>
    <ds:schemaRef ds:uri="f66673be-3b20-4ac8-ba7c-00310aa8f626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15243</TotalTime>
  <Words>5668</Words>
  <Application>Microsoft Office PowerPoint</Application>
  <PresentationFormat>On-screen Show (4:3)</PresentationFormat>
  <Paragraphs>666</Paragraphs>
  <Slides>56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ＭＳ Ｐゴシック</vt:lpstr>
      <vt:lpstr>SimSun</vt:lpstr>
      <vt:lpstr>SimSun</vt:lpstr>
      <vt:lpstr>Arial</vt:lpstr>
      <vt:lpstr>Cambria Math</vt:lpstr>
      <vt:lpstr>Comic Sans MS</vt:lpstr>
      <vt:lpstr>Consolas</vt:lpstr>
      <vt:lpstr>Symbol</vt:lpstr>
      <vt:lpstr>Tahoma</vt:lpstr>
      <vt:lpstr>Times New Roman</vt:lpstr>
      <vt:lpstr>Wingdings</vt:lpstr>
      <vt:lpstr>Blends</vt:lpstr>
      <vt:lpstr>How Computing Works -  Modern Paradigms of Architecture &amp; System 3. Parallelism</vt:lpstr>
      <vt:lpstr>Let’s Recall …  让我们回忆……</vt:lpstr>
      <vt:lpstr>Let’s Recall …  让我们回忆……</vt:lpstr>
      <vt:lpstr>Let’s Recall …  让我们回忆……</vt:lpstr>
      <vt:lpstr>Practice 3.1  实践3.1</vt:lpstr>
      <vt:lpstr>It Runs Faster 程序跑得快了</vt:lpstr>
      <vt:lpstr>It Runs Faster 程序跑得快了</vt:lpstr>
      <vt:lpstr>Practice 3.2  实践3.2</vt:lpstr>
      <vt:lpstr>Execution  Efficiency  执行效率</vt:lpstr>
      <vt:lpstr>Look at the Instructions 看看指令</vt:lpstr>
      <vt:lpstr>Look at the Instructions 看看指令</vt:lpstr>
      <vt:lpstr>Look at the Instructions 看看指令</vt:lpstr>
      <vt:lpstr>Look at the Instructions 看看指令</vt:lpstr>
      <vt:lpstr>Look at the Instructions 看看指令</vt:lpstr>
      <vt:lpstr>Look at the CPU  看看CPU</vt:lpstr>
      <vt:lpstr>Single Instruction, Multiple Data (SIMD) 单指令多数据 (1)</vt:lpstr>
      <vt:lpstr>Single Instruction, Multiple Data (SIMD) 单指令多数据 (2)</vt:lpstr>
      <vt:lpstr>Practice 3.3  实践3.3</vt:lpstr>
      <vt:lpstr>Execution on a System 在一台机器上的执行时间</vt:lpstr>
      <vt:lpstr>Superscalar Execution 超越标量的执行</vt:lpstr>
      <vt:lpstr>Instruction execution pipeline 指令执行流水线</vt:lpstr>
      <vt:lpstr>Instruction execution pipeline 指令执行流水线</vt:lpstr>
      <vt:lpstr>Instruction execution pipeline 指令执行流水线</vt:lpstr>
      <vt:lpstr>Instruction execution pipeline 指令执行流水线</vt:lpstr>
      <vt:lpstr>Pipelining Multiple Instructions 多指令执行流水化</vt:lpstr>
      <vt:lpstr>Pipelining Multiple Instructions 多指令执行流水化</vt:lpstr>
      <vt:lpstr>Pipelining Multiple Instructions 多指令执行流水化</vt:lpstr>
      <vt:lpstr>Pipelining Multiple Instructions 多指令执行流水化</vt:lpstr>
      <vt:lpstr>Pipelining Multiple Instructions 多指令执行流水化</vt:lpstr>
      <vt:lpstr>Pipelining Multiple Instructions 多指令执行流水化</vt:lpstr>
      <vt:lpstr>Pipelining Multiple Instructions 多指令执行流水化</vt:lpstr>
      <vt:lpstr>Original Loop Order 原先的循环顺序</vt:lpstr>
      <vt:lpstr>Modified Loop Order 改变后的循环顺序</vt:lpstr>
      <vt:lpstr>Actual Execution  Efficiency   实际执行效率</vt:lpstr>
      <vt:lpstr>Now to Something Subtle 现在迈向微妙之处</vt:lpstr>
      <vt:lpstr>The Problem  这个问题</vt:lpstr>
      <vt:lpstr>Define the Input 定义输入 (1)</vt:lpstr>
      <vt:lpstr>Define the Input 定义输入 (2)</vt:lpstr>
      <vt:lpstr>Define the Output  定义输出</vt:lpstr>
      <vt:lpstr>Simple Idea  简单的想法</vt:lpstr>
      <vt:lpstr>An Abstract Example  一个抽象的例子</vt:lpstr>
      <vt:lpstr>Nearest Neighbor Classification  最近邻分类</vt:lpstr>
      <vt:lpstr>Euclidean Distance 欧氏距离 (1)</vt:lpstr>
      <vt:lpstr>Euclidean Distance 欧氏距离 (2)</vt:lpstr>
      <vt:lpstr>Euclidean Distance 欧氏距离 (3)</vt:lpstr>
      <vt:lpstr>Practice 3.4  实践3.4</vt:lpstr>
      <vt:lpstr>Look at the Instructions 看看指令</vt:lpstr>
      <vt:lpstr>Parallel Computation? 并行计算？</vt:lpstr>
      <vt:lpstr>Parallel Reduction  并行归约</vt:lpstr>
      <vt:lpstr>Simple Demo  简单的演示</vt:lpstr>
      <vt:lpstr>Compiler Design  编译器设计</vt:lpstr>
      <vt:lpstr>Practice 3.5  实践3.5</vt:lpstr>
      <vt:lpstr>Look at the Instructions 看看指令</vt:lpstr>
      <vt:lpstr>Performance Improvement 性能提升</vt:lpstr>
      <vt:lpstr>We Got Some Ideas 我们有一些了解了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1062</cp:revision>
  <dcterms:created xsi:type="dcterms:W3CDTF">2003-03-13T01:36:43Z</dcterms:created>
  <dcterms:modified xsi:type="dcterms:W3CDTF">2026-09-06T07:55:45Z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0x0101007C40B1A4C5819246B9BFCCBA066F3ABE</vt:lpwstr>
  </property>
</Properties>
</file>