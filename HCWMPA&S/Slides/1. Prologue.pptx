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1" r:id="rId1"/>
  </p:sldMasterIdLst>
  <p:notesMasterIdLst>
    <p:notesMasterId r:id="rId22"/>
  </p:notesMasterIdLst>
  <p:handoutMasterIdLst>
    <p:handoutMasterId r:id="rId23"/>
  </p:handoutMasterIdLst>
  <p:sldIdLst>
    <p:sldId id="286" r:id="rId2"/>
    <p:sldId id="370" r:id="rId3"/>
    <p:sldId id="395" r:id="rId4"/>
    <p:sldId id="396" r:id="rId5"/>
    <p:sldId id="397" r:id="rId6"/>
    <p:sldId id="398" r:id="rId7"/>
    <p:sldId id="399" r:id="rId8"/>
    <p:sldId id="400" r:id="rId9"/>
    <p:sldId id="401" r:id="rId10"/>
    <p:sldId id="402" r:id="rId11"/>
    <p:sldId id="404" r:id="rId12"/>
    <p:sldId id="405" r:id="rId13"/>
    <p:sldId id="406" r:id="rId14"/>
    <p:sldId id="403" r:id="rId15"/>
    <p:sldId id="411" r:id="rId16"/>
    <p:sldId id="407" r:id="rId17"/>
    <p:sldId id="408" r:id="rId18"/>
    <p:sldId id="409" r:id="rId19"/>
    <p:sldId id="410" r:id="rId20"/>
    <p:sldId id="353" r:id="rId21"/>
  </p:sldIdLst>
  <p:sldSz cx="9144000" cy="6858000" type="screen4x3"/>
  <p:notesSz cx="7010400" cy="9296400"/>
  <p:defaultTextStyle>
    <a:defPPr>
      <a:defRPr lang="zh-CN"/>
    </a:defPPr>
    <a:lvl1pPr algn="l" rtl="0" eaLnBrk="0" fontAlgn="base" hangingPunct="0">
      <a:spcBef>
        <a:spcPct val="0"/>
      </a:spcBef>
      <a:spcAft>
        <a:spcPct val="0"/>
      </a:spcAft>
      <a:defRPr kern="1200">
        <a:solidFill>
          <a:schemeClr val="tx1"/>
        </a:solidFill>
        <a:latin typeface="Comic Sans MS" panose="030F0702030302020204" pitchFamily="66" charset="0"/>
        <a:ea typeface="SimSun"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omic Sans MS" panose="030F0702030302020204" pitchFamily="66" charset="0"/>
        <a:ea typeface="SimSun"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omic Sans MS" panose="030F0702030302020204" pitchFamily="66" charset="0"/>
        <a:ea typeface="SimSun"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omic Sans MS" panose="030F0702030302020204" pitchFamily="66" charset="0"/>
        <a:ea typeface="SimSun"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omic Sans MS" panose="030F0702030302020204" pitchFamily="66" charset="0"/>
        <a:ea typeface="SimSun" panose="02010600030101010101" pitchFamily="2" charset="-122"/>
        <a:cs typeface="+mn-cs"/>
      </a:defRPr>
    </a:lvl5pPr>
    <a:lvl6pPr marL="2286000" algn="l" defTabSz="914400" rtl="0" eaLnBrk="1" latinLnBrk="0" hangingPunct="1">
      <a:defRPr kern="1200">
        <a:solidFill>
          <a:schemeClr val="tx1"/>
        </a:solidFill>
        <a:latin typeface="Comic Sans MS" panose="030F0702030302020204" pitchFamily="66" charset="0"/>
        <a:ea typeface="SimSun" panose="02010600030101010101" pitchFamily="2" charset="-122"/>
        <a:cs typeface="+mn-cs"/>
      </a:defRPr>
    </a:lvl6pPr>
    <a:lvl7pPr marL="2743200" algn="l" defTabSz="914400" rtl="0" eaLnBrk="1" latinLnBrk="0" hangingPunct="1">
      <a:defRPr kern="1200">
        <a:solidFill>
          <a:schemeClr val="tx1"/>
        </a:solidFill>
        <a:latin typeface="Comic Sans MS" panose="030F0702030302020204" pitchFamily="66" charset="0"/>
        <a:ea typeface="SimSun" panose="02010600030101010101" pitchFamily="2" charset="-122"/>
        <a:cs typeface="+mn-cs"/>
      </a:defRPr>
    </a:lvl7pPr>
    <a:lvl8pPr marL="3200400" algn="l" defTabSz="914400" rtl="0" eaLnBrk="1" latinLnBrk="0" hangingPunct="1">
      <a:defRPr kern="1200">
        <a:solidFill>
          <a:schemeClr val="tx1"/>
        </a:solidFill>
        <a:latin typeface="Comic Sans MS" panose="030F0702030302020204" pitchFamily="66" charset="0"/>
        <a:ea typeface="SimSun" panose="02010600030101010101" pitchFamily="2" charset="-122"/>
        <a:cs typeface="+mn-cs"/>
      </a:defRPr>
    </a:lvl8pPr>
    <a:lvl9pPr marL="3657600" algn="l" defTabSz="914400" rtl="0" eaLnBrk="1" latinLnBrk="0" hangingPunct="1">
      <a:defRPr kern="1200">
        <a:solidFill>
          <a:schemeClr val="tx1"/>
        </a:solidFill>
        <a:latin typeface="Comic Sans MS" panose="030F0702030302020204" pitchFamily="66" charset="0"/>
        <a:ea typeface="SimSun"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99"/>
    <a:srgbClr val="B2B2B2"/>
    <a:srgbClr val="993366"/>
    <a:srgbClr val="339933"/>
    <a:srgbClr val="33CC33"/>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6889B99-D3BA-4E79-9866-CDE2B719A4AE}" v="52" dt="2026-10-31T00:13:25.0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846" autoAdjust="0"/>
    <p:restoredTop sz="77577" autoAdjust="0"/>
  </p:normalViewPr>
  <p:slideViewPr>
    <p:cSldViewPr>
      <p:cViewPr varScale="1">
        <p:scale>
          <a:sx n="55" d="100"/>
          <a:sy n="55" d="100"/>
        </p:scale>
        <p:origin x="1210"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3" d="100"/>
          <a:sy n="53" d="100"/>
        </p:scale>
        <p:origin x="2275" y="62"/>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 Cong" userId="025630f4-267e-4cb3-8cd5-8795177f99f4" providerId="ADAL" clId="{929A2CC8-B112-421C-81E2-D5D63B23E300}"/>
    <pc:docChg chg="undo custSel addSld delSld modSld">
      <pc:chgData name="Li, Cong" userId="025630f4-267e-4cb3-8cd5-8795177f99f4" providerId="ADAL" clId="{929A2CC8-B112-421C-81E2-D5D63B23E300}" dt="2026-10-31T00:13:25.031" v="1248" actId="20577"/>
      <pc:docMkLst>
        <pc:docMk/>
      </pc:docMkLst>
      <pc:sldChg chg="modSp mod">
        <pc:chgData name="Li, Cong" userId="025630f4-267e-4cb3-8cd5-8795177f99f4" providerId="ADAL" clId="{929A2CC8-B112-421C-81E2-D5D63B23E300}" dt="2026-10-31T00:13:25.031" v="1248" actId="20577"/>
        <pc:sldMkLst>
          <pc:docMk/>
          <pc:sldMk cId="137586777" sldId="402"/>
        </pc:sldMkLst>
        <pc:spChg chg="mod">
          <ac:chgData name="Li, Cong" userId="025630f4-267e-4cb3-8cd5-8795177f99f4" providerId="ADAL" clId="{929A2CC8-B112-421C-81E2-D5D63B23E300}" dt="2026-10-31T00:13:25.031" v="1248" actId="20577"/>
          <ac:spMkLst>
            <pc:docMk/>
            <pc:sldMk cId="137586777" sldId="402"/>
            <ac:spMk id="3" creationId="{9D729D89-C4F5-CB4C-9B8B-073D96BC7894}"/>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8962" name="Rectangle 2"/>
          <p:cNvSpPr>
            <a:spLocks noGrp="1" noChangeArrowheads="1"/>
          </p:cNvSpPr>
          <p:nvPr>
            <p:ph type="hdr" sz="quarter"/>
          </p:nvPr>
        </p:nvSpPr>
        <p:spPr bwMode="auto">
          <a:xfrm>
            <a:off x="0" y="0"/>
            <a:ext cx="3048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ltLang="zh-CN"/>
          </a:p>
        </p:txBody>
      </p:sp>
      <p:sp>
        <p:nvSpPr>
          <p:cNvPr id="168963" name="Rectangle 3"/>
          <p:cNvSpPr>
            <a:spLocks noGrp="1" noChangeArrowheads="1"/>
          </p:cNvSpPr>
          <p:nvPr>
            <p:ph type="dt" sz="quarter" idx="1"/>
          </p:nvPr>
        </p:nvSpPr>
        <p:spPr bwMode="auto">
          <a:xfrm>
            <a:off x="3962400" y="0"/>
            <a:ext cx="3048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ltLang="zh-CN"/>
          </a:p>
        </p:txBody>
      </p:sp>
      <p:sp>
        <p:nvSpPr>
          <p:cNvPr id="168964" name="Rectangle 4"/>
          <p:cNvSpPr>
            <a:spLocks noGrp="1" noChangeArrowheads="1"/>
          </p:cNvSpPr>
          <p:nvPr>
            <p:ph type="ftr" sz="quarter" idx="2"/>
          </p:nvPr>
        </p:nvSpPr>
        <p:spPr bwMode="auto">
          <a:xfrm>
            <a:off x="0" y="8839200"/>
            <a:ext cx="3048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ltLang="zh-CN"/>
          </a:p>
        </p:txBody>
      </p:sp>
      <p:sp>
        <p:nvSpPr>
          <p:cNvPr id="168965" name="Rectangle 5"/>
          <p:cNvSpPr>
            <a:spLocks noGrp="1" noChangeArrowheads="1"/>
          </p:cNvSpPr>
          <p:nvPr>
            <p:ph type="sldNum" sz="quarter" idx="3"/>
          </p:nvPr>
        </p:nvSpPr>
        <p:spPr bwMode="auto">
          <a:xfrm>
            <a:off x="3962400" y="8839200"/>
            <a:ext cx="3048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91FF96B3-5193-4D4F-ADAC-C41F873FC327}" type="slidenum">
              <a:rPr lang="en-US" altLang="zh-CN"/>
              <a:pPr>
                <a:defRPr/>
              </a:pPr>
              <a:t>‹#›</a:t>
            </a:fld>
            <a:endParaRPr lang="en-US" altLang="zh-CN"/>
          </a:p>
        </p:txBody>
      </p:sp>
    </p:spTree>
    <p:extLst>
      <p:ext uri="{BB962C8B-B14F-4D97-AF65-F5344CB8AC3E}">
        <p14:creationId xmlns:p14="http://schemas.microsoft.com/office/powerpoint/2010/main" val="112958223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3036888" cy="465138"/>
          </a:xfrm>
          <a:prstGeom prst="rect">
            <a:avLst/>
          </a:prstGeom>
          <a:noFill/>
          <a:ln w="9525">
            <a:noFill/>
            <a:miter lim="800000"/>
            <a:headEnd/>
            <a:tailEnd/>
          </a:ln>
          <a:effectLst/>
        </p:spPr>
        <p:txBody>
          <a:bodyPr vert="horz" wrap="square" lIns="91577" tIns="45789" rIns="91577" bIns="45789" numCol="1" anchor="t" anchorCtr="0" compatLnSpc="1">
            <a:prstTxWarp prst="textNoShape">
              <a:avLst/>
            </a:prstTxWarp>
          </a:bodyPr>
          <a:lstStyle>
            <a:lvl1pPr defTabSz="915988" eaLnBrk="1" hangingPunct="1">
              <a:defRPr sz="1200">
                <a:latin typeface="Arial" charset="0"/>
              </a:defRPr>
            </a:lvl1pPr>
          </a:lstStyle>
          <a:p>
            <a:pPr>
              <a:defRPr/>
            </a:pPr>
            <a:endParaRPr lang="en-US"/>
          </a:p>
        </p:txBody>
      </p:sp>
      <p:sp>
        <p:nvSpPr>
          <p:cNvPr id="15363" name="Rectangle 3"/>
          <p:cNvSpPr>
            <a:spLocks noGrp="1" noChangeArrowheads="1"/>
          </p:cNvSpPr>
          <p:nvPr>
            <p:ph type="dt" idx="1"/>
          </p:nvPr>
        </p:nvSpPr>
        <p:spPr bwMode="auto">
          <a:xfrm>
            <a:off x="3971925" y="0"/>
            <a:ext cx="3036888" cy="465138"/>
          </a:xfrm>
          <a:prstGeom prst="rect">
            <a:avLst/>
          </a:prstGeom>
          <a:noFill/>
          <a:ln w="9525">
            <a:noFill/>
            <a:miter lim="800000"/>
            <a:headEnd/>
            <a:tailEnd/>
          </a:ln>
          <a:effectLst/>
        </p:spPr>
        <p:txBody>
          <a:bodyPr vert="horz" wrap="square" lIns="91577" tIns="45789" rIns="91577" bIns="45789" numCol="1" anchor="t" anchorCtr="0" compatLnSpc="1">
            <a:prstTxWarp prst="textNoShape">
              <a:avLst/>
            </a:prstTxWarp>
          </a:bodyPr>
          <a:lstStyle>
            <a:lvl1pPr algn="r" defTabSz="915988" eaLnBrk="1" hangingPunct="1">
              <a:defRPr sz="1200">
                <a:latin typeface="Arial" charset="0"/>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1181100" y="696913"/>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5" name="Rectangle 5"/>
          <p:cNvSpPr>
            <a:spLocks noGrp="1" noChangeArrowheads="1"/>
          </p:cNvSpPr>
          <p:nvPr>
            <p:ph type="body" sz="quarter" idx="3"/>
          </p:nvPr>
        </p:nvSpPr>
        <p:spPr bwMode="auto">
          <a:xfrm>
            <a:off x="701675" y="4416425"/>
            <a:ext cx="5607050" cy="4183063"/>
          </a:xfrm>
          <a:prstGeom prst="rect">
            <a:avLst/>
          </a:prstGeom>
          <a:noFill/>
          <a:ln w="9525">
            <a:noFill/>
            <a:miter lim="800000"/>
            <a:headEnd/>
            <a:tailEnd/>
          </a:ln>
          <a:effectLst/>
        </p:spPr>
        <p:txBody>
          <a:bodyPr vert="horz" wrap="square" lIns="91577" tIns="45789" rIns="91577" bIns="45789"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366" name="Rectangle 6"/>
          <p:cNvSpPr>
            <a:spLocks noGrp="1" noChangeArrowheads="1"/>
          </p:cNvSpPr>
          <p:nvPr>
            <p:ph type="ftr" sz="quarter" idx="4"/>
          </p:nvPr>
        </p:nvSpPr>
        <p:spPr bwMode="auto">
          <a:xfrm>
            <a:off x="0" y="8829675"/>
            <a:ext cx="3036888" cy="465138"/>
          </a:xfrm>
          <a:prstGeom prst="rect">
            <a:avLst/>
          </a:prstGeom>
          <a:noFill/>
          <a:ln w="9525">
            <a:noFill/>
            <a:miter lim="800000"/>
            <a:headEnd/>
            <a:tailEnd/>
          </a:ln>
          <a:effectLst/>
        </p:spPr>
        <p:txBody>
          <a:bodyPr vert="horz" wrap="square" lIns="91577" tIns="45789" rIns="91577" bIns="45789" numCol="1" anchor="b" anchorCtr="0" compatLnSpc="1">
            <a:prstTxWarp prst="textNoShape">
              <a:avLst/>
            </a:prstTxWarp>
          </a:bodyPr>
          <a:lstStyle>
            <a:lvl1pPr defTabSz="915988" eaLnBrk="1" hangingPunct="1">
              <a:defRPr sz="1200">
                <a:latin typeface="Arial" charset="0"/>
              </a:defRPr>
            </a:lvl1pPr>
          </a:lstStyle>
          <a:p>
            <a:pPr>
              <a:defRPr/>
            </a:pPr>
            <a:endParaRPr lang="en-US"/>
          </a:p>
        </p:txBody>
      </p:sp>
      <p:sp>
        <p:nvSpPr>
          <p:cNvPr id="15367" name="Rectangle 7"/>
          <p:cNvSpPr>
            <a:spLocks noGrp="1" noChangeArrowheads="1"/>
          </p:cNvSpPr>
          <p:nvPr>
            <p:ph type="sldNum" sz="quarter" idx="5"/>
          </p:nvPr>
        </p:nvSpPr>
        <p:spPr bwMode="auto">
          <a:xfrm>
            <a:off x="3971925" y="8829675"/>
            <a:ext cx="3036888" cy="465138"/>
          </a:xfrm>
          <a:prstGeom prst="rect">
            <a:avLst/>
          </a:prstGeom>
          <a:noFill/>
          <a:ln w="9525">
            <a:noFill/>
            <a:miter lim="800000"/>
            <a:headEnd/>
            <a:tailEnd/>
          </a:ln>
          <a:effectLst/>
        </p:spPr>
        <p:txBody>
          <a:bodyPr vert="horz" wrap="square" lIns="91577" tIns="45789" rIns="91577" bIns="45789" numCol="1" anchor="b" anchorCtr="0" compatLnSpc="1">
            <a:prstTxWarp prst="textNoShape">
              <a:avLst/>
            </a:prstTxWarp>
          </a:bodyPr>
          <a:lstStyle>
            <a:lvl1pPr algn="r" defTabSz="915988" eaLnBrk="1" hangingPunct="1">
              <a:defRPr sz="1200">
                <a:latin typeface="Arial" panose="020B0604020202020204" pitchFamily="34" charset="0"/>
              </a:defRPr>
            </a:lvl1pPr>
          </a:lstStyle>
          <a:p>
            <a:pPr>
              <a:defRPr/>
            </a:pPr>
            <a:fld id="{5C806C1B-B03E-46DA-85CD-D90BC0B37545}" type="slidenum">
              <a:rPr lang="en-US" altLang="zh-CN"/>
              <a:pPr>
                <a:defRPr/>
              </a:pPr>
              <a:t>‹#›</a:t>
            </a:fld>
            <a:endParaRPr lang="en-US" altLang="zh-CN"/>
          </a:p>
        </p:txBody>
      </p:sp>
    </p:spTree>
    <p:extLst>
      <p:ext uri="{BB962C8B-B14F-4D97-AF65-F5344CB8AC3E}">
        <p14:creationId xmlns:p14="http://schemas.microsoft.com/office/powerpoint/2010/main" val="10863628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SimSun"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SimSun"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SimSun"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SimSun"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SimSun"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defRPr>
                <a:solidFill>
                  <a:schemeClr val="tx1"/>
                </a:solidFill>
                <a:latin typeface="Comic Sans MS" panose="030F0702030302020204" pitchFamily="66" charset="0"/>
                <a:ea typeface="SimSun" panose="02010600030101010101" pitchFamily="2" charset="-122"/>
              </a:defRPr>
            </a:lvl1pPr>
            <a:lvl2pPr marL="742950" indent="-285750" defTabSz="915988">
              <a:defRPr>
                <a:solidFill>
                  <a:schemeClr val="tx1"/>
                </a:solidFill>
                <a:latin typeface="Comic Sans MS" panose="030F0702030302020204" pitchFamily="66" charset="0"/>
                <a:ea typeface="SimSun" panose="02010600030101010101" pitchFamily="2" charset="-122"/>
              </a:defRPr>
            </a:lvl2pPr>
            <a:lvl3pPr marL="1143000" indent="-228600" defTabSz="915988">
              <a:defRPr>
                <a:solidFill>
                  <a:schemeClr val="tx1"/>
                </a:solidFill>
                <a:latin typeface="Comic Sans MS" panose="030F0702030302020204" pitchFamily="66" charset="0"/>
                <a:ea typeface="SimSun" panose="02010600030101010101" pitchFamily="2" charset="-122"/>
              </a:defRPr>
            </a:lvl3pPr>
            <a:lvl4pPr marL="1600200" indent="-228600" defTabSz="915988">
              <a:defRPr>
                <a:solidFill>
                  <a:schemeClr val="tx1"/>
                </a:solidFill>
                <a:latin typeface="Comic Sans MS" panose="030F0702030302020204" pitchFamily="66" charset="0"/>
                <a:ea typeface="SimSun" panose="02010600030101010101" pitchFamily="2" charset="-122"/>
              </a:defRPr>
            </a:lvl4pPr>
            <a:lvl5pPr marL="2057400" indent="-228600" defTabSz="915988">
              <a:defRPr>
                <a:solidFill>
                  <a:schemeClr val="tx1"/>
                </a:solidFill>
                <a:latin typeface="Comic Sans MS" panose="030F0702030302020204" pitchFamily="66" charset="0"/>
                <a:ea typeface="SimSun" panose="02010600030101010101" pitchFamily="2" charset="-122"/>
              </a:defRPr>
            </a:lvl5pPr>
            <a:lvl6pPr marL="25146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fld id="{7D2CF438-6F28-4EDA-8826-7EA47CD870C5}" type="slidenum">
              <a:rPr lang="en-US" altLang="zh-CN" smtClean="0">
                <a:latin typeface="Arial" panose="020B0604020202020204" pitchFamily="34" charset="0"/>
              </a:rPr>
              <a:pPr/>
              <a:t>1</a:t>
            </a:fld>
            <a:endParaRPr lang="en-US" altLang="zh-CN">
              <a:latin typeface="Arial" panose="020B0604020202020204" pitchFamily="34" charset="0"/>
            </a:endParaRPr>
          </a:p>
        </p:txBody>
      </p:sp>
      <p:sp>
        <p:nvSpPr>
          <p:cNvPr id="6147" name="Rectangle 2"/>
          <p:cNvSpPr>
            <a:spLocks noGrp="1" noRot="1" noChangeAspect="1" noChangeArrowheads="1" noTextEdit="1"/>
          </p:cNvSpPr>
          <p:nvPr>
            <p:ph type="sldImg"/>
          </p:nvPr>
        </p:nvSpPr>
        <p:spPr>
          <a:ln/>
        </p:spPr>
      </p:sp>
      <p:sp>
        <p:nvSpPr>
          <p:cNvPr id="61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latin typeface="Times New Roman" panose="02020603050405020304" pitchFamily="18" charset="0"/>
            </a:endParaRPr>
          </a:p>
        </p:txBody>
      </p:sp>
    </p:spTree>
    <p:extLst>
      <p:ext uri="{BB962C8B-B14F-4D97-AF65-F5344CB8AC3E}">
        <p14:creationId xmlns:p14="http://schemas.microsoft.com/office/powerpoint/2010/main" val="28931111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defRPr>
                <a:solidFill>
                  <a:schemeClr val="tx1"/>
                </a:solidFill>
                <a:latin typeface="Comic Sans MS" panose="030F0702030302020204" pitchFamily="66" charset="0"/>
                <a:ea typeface="SimSun" panose="02010600030101010101" pitchFamily="2" charset="-122"/>
              </a:defRPr>
            </a:lvl1pPr>
            <a:lvl2pPr marL="742950" indent="-285750" defTabSz="915988">
              <a:defRPr>
                <a:solidFill>
                  <a:schemeClr val="tx1"/>
                </a:solidFill>
                <a:latin typeface="Comic Sans MS" panose="030F0702030302020204" pitchFamily="66" charset="0"/>
                <a:ea typeface="SimSun" panose="02010600030101010101" pitchFamily="2" charset="-122"/>
              </a:defRPr>
            </a:lvl2pPr>
            <a:lvl3pPr marL="1143000" indent="-228600" defTabSz="915988">
              <a:defRPr>
                <a:solidFill>
                  <a:schemeClr val="tx1"/>
                </a:solidFill>
                <a:latin typeface="Comic Sans MS" panose="030F0702030302020204" pitchFamily="66" charset="0"/>
                <a:ea typeface="SimSun" panose="02010600030101010101" pitchFamily="2" charset="-122"/>
              </a:defRPr>
            </a:lvl3pPr>
            <a:lvl4pPr marL="1600200" indent="-228600" defTabSz="915988">
              <a:defRPr>
                <a:solidFill>
                  <a:schemeClr val="tx1"/>
                </a:solidFill>
                <a:latin typeface="Comic Sans MS" panose="030F0702030302020204" pitchFamily="66" charset="0"/>
                <a:ea typeface="SimSun" panose="02010600030101010101" pitchFamily="2" charset="-122"/>
              </a:defRPr>
            </a:lvl4pPr>
            <a:lvl5pPr marL="2057400" indent="-228600" defTabSz="915988">
              <a:defRPr>
                <a:solidFill>
                  <a:schemeClr val="tx1"/>
                </a:solidFill>
                <a:latin typeface="Comic Sans MS" panose="030F0702030302020204" pitchFamily="66" charset="0"/>
                <a:ea typeface="SimSun" panose="02010600030101010101" pitchFamily="2" charset="-122"/>
              </a:defRPr>
            </a:lvl5pPr>
            <a:lvl6pPr marL="25146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fld id="{57F7688E-3E4A-461B-8D10-9B016CF52F5C}" type="slidenum">
              <a:rPr lang="en-US" altLang="zh-CN" smtClean="0">
                <a:latin typeface="Arial" panose="020B0604020202020204" pitchFamily="34" charset="0"/>
              </a:rPr>
              <a:pPr/>
              <a:t>20</a:t>
            </a:fld>
            <a:endParaRPr lang="en-US" altLang="zh-CN">
              <a:latin typeface="Arial" panose="020B0604020202020204" pitchFamily="34" charset="0"/>
            </a:endParaRPr>
          </a:p>
        </p:txBody>
      </p:sp>
      <p:sp>
        <p:nvSpPr>
          <p:cNvPr id="99331" name="Rectangle 2"/>
          <p:cNvSpPr>
            <a:spLocks noGrp="1" noRot="1" noChangeAspect="1" noChangeArrowheads="1" noTextEdit="1"/>
          </p:cNvSpPr>
          <p:nvPr>
            <p:ph type="sldImg"/>
          </p:nvPr>
        </p:nvSpPr>
        <p:spPr>
          <a:solidFill>
            <a:srgbClr val="FFFFFF"/>
          </a:solidFill>
          <a:ln/>
        </p:spPr>
      </p:sp>
      <p:sp>
        <p:nvSpPr>
          <p:cNvPr id="99332" name="Rectangle 3"/>
          <p:cNvSpPr>
            <a:spLocks noGrp="1" noChangeArrowheads="1"/>
          </p:cNvSpPr>
          <p:nvPr>
            <p:ph type="body" idx="1"/>
          </p:nvPr>
        </p:nvSpPr>
        <p:spPr>
          <a:xfrm>
            <a:off x="933450" y="4416425"/>
            <a:ext cx="5143500" cy="4183063"/>
          </a:xfrm>
          <a:solidFill>
            <a:srgbClr val="FFFFFF"/>
          </a:solidFill>
          <a:ln>
            <a:solidFill>
              <a:srgbClr val="000000"/>
            </a:solidFill>
          </a:ln>
        </p:spPr>
        <p:txBody>
          <a:bodyPr/>
          <a:lstStyle/>
          <a:p>
            <a:pPr eaLnBrk="1" hangingPunct="1"/>
            <a:endParaRPr lang="en-US" altLang="zh-CN">
              <a:latin typeface="Times New Roman" panose="02020603050405020304" pitchFamily="18" charset="0"/>
            </a:endParaRPr>
          </a:p>
        </p:txBody>
      </p:sp>
    </p:spTree>
    <p:extLst>
      <p:ext uri="{BB962C8B-B14F-4D97-AF65-F5344CB8AC3E}">
        <p14:creationId xmlns:p14="http://schemas.microsoft.com/office/powerpoint/2010/main" val="26801432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0" y="2438400"/>
            <a:ext cx="9009063" cy="1052513"/>
            <a:chOff x="0" y="1536"/>
            <a:chExt cx="5675" cy="663"/>
          </a:xfrm>
        </p:grpSpPr>
        <p:grpSp>
          <p:nvGrpSpPr>
            <p:cNvPr id="5" name="Group 3"/>
            <p:cNvGrpSpPr>
              <a:grpSpLocks/>
            </p:cNvGrpSpPr>
            <p:nvPr/>
          </p:nvGrpSpPr>
          <p:grpSpPr bwMode="auto">
            <a:xfrm>
              <a:off x="185" y="1604"/>
              <a:ext cx="449"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defRPr/>
                </a:pPr>
                <a:endParaRPr lang="en-US" altLang="zh-CN"/>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defRPr/>
                </a:pPr>
                <a:endParaRPr lang="en-US" altLang="zh-CN"/>
              </a:p>
            </p:txBody>
          </p:sp>
        </p:grpSp>
        <p:grpSp>
          <p:nvGrpSpPr>
            <p:cNvPr id="6" name="Group 6"/>
            <p:cNvGrpSpPr>
              <a:grpSpLocks/>
            </p:cNvGrpSpPr>
            <p:nvPr/>
          </p:nvGrpSpPr>
          <p:grpSpPr bwMode="auto">
            <a:xfrm>
              <a:off x="263" y="1870"/>
              <a:ext cx="466"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defRPr/>
                </a:pPr>
                <a:endParaRPr lang="en-US" altLang="zh-CN"/>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defRPr/>
                </a:pPr>
                <a:endParaRPr lang="en-US" altLang="zh-CN"/>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defRPr/>
              </a:pPr>
              <a:endParaRPr lang="en-US" altLang="zh-CN"/>
            </a:p>
          </p:txBody>
        </p:sp>
        <p:sp>
          <p:nvSpPr>
            <p:cNvPr id="8" name="Rectangle 10"/>
            <p:cNvSpPr>
              <a:spLocks noChangeArrowheads="1"/>
            </p:cNvSpPr>
            <p:nvPr/>
          </p:nvSpPr>
          <p:spPr bwMode="auto">
            <a:xfrm>
              <a:off x="400" y="1536"/>
              <a:ext cx="20"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defRPr/>
              </a:pPr>
              <a:endParaRPr lang="en-US" altLang="zh-CN"/>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defRPr/>
              </a:pPr>
              <a:endParaRPr lang="en-US" altLang="zh-CN"/>
            </a:p>
          </p:txBody>
        </p:sp>
      </p:grpSp>
      <p:sp>
        <p:nvSpPr>
          <p:cNvPr id="24588" name="Rectangle 12"/>
          <p:cNvSpPr>
            <a:spLocks noGrp="1" noChangeArrowheads="1"/>
          </p:cNvSpPr>
          <p:nvPr>
            <p:ph type="ctrTitle"/>
          </p:nvPr>
        </p:nvSpPr>
        <p:spPr>
          <a:xfrm>
            <a:off x="990600" y="1676400"/>
            <a:ext cx="7772400" cy="1462088"/>
          </a:xfrm>
        </p:spPr>
        <p:txBody>
          <a:bodyPr/>
          <a:lstStyle>
            <a:lvl1pPr>
              <a:defRPr/>
            </a:lvl1pPr>
          </a:lstStyle>
          <a:p>
            <a:r>
              <a:rPr lang="en-US"/>
              <a:t>Click to edit Master title style</a:t>
            </a:r>
          </a:p>
        </p:txBody>
      </p:sp>
      <p:sp>
        <p:nvSpPr>
          <p:cNvPr id="24589"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14" name="Rectangle 14"/>
          <p:cNvSpPr>
            <a:spLocks noGrp="1" noChangeArrowheads="1"/>
          </p:cNvSpPr>
          <p:nvPr>
            <p:ph type="dt" sz="half" idx="10"/>
          </p:nvPr>
        </p:nvSpPr>
        <p:spPr bwMode="auto">
          <a:xfrm>
            <a:off x="990600" y="6248400"/>
            <a:ext cx="19050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eaLnBrk="1" hangingPunct="1">
              <a:defRPr sz="1400">
                <a:solidFill>
                  <a:schemeClr val="bg2"/>
                </a:solidFill>
                <a:latin typeface="Tahoma" pitchFamily="34" charset="0"/>
              </a:defRPr>
            </a:lvl1pPr>
          </a:lstStyle>
          <a:p>
            <a:pPr>
              <a:defRPr/>
            </a:pPr>
            <a:endParaRPr lang="en-US"/>
          </a:p>
        </p:txBody>
      </p:sp>
      <p:sp>
        <p:nvSpPr>
          <p:cNvPr id="15" name="Rectangle 15"/>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r>
              <a:rPr lang="en-US"/>
              <a:t>Machine Learning Basics: 1. General Introduction</a:t>
            </a:r>
          </a:p>
        </p:txBody>
      </p:sp>
      <p:sp>
        <p:nvSpPr>
          <p:cNvPr id="16" name="Rectangle 16"/>
          <p:cNvSpPr>
            <a:spLocks noGrp="1" noChangeArrowheads="1"/>
          </p:cNvSpPr>
          <p:nvPr>
            <p:ph type="sldNum" sz="quarter" idx="12"/>
          </p:nvPr>
        </p:nvSpPr>
        <p:spPr bwMode="auto">
          <a:xfrm>
            <a:off x="6858000" y="6248400"/>
            <a:ext cx="19050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r" eaLnBrk="1" hangingPunct="1">
              <a:defRPr sz="1400">
                <a:solidFill>
                  <a:schemeClr val="bg2"/>
                </a:solidFill>
                <a:latin typeface="Tahoma" panose="020B0604030504040204" pitchFamily="34" charset="0"/>
              </a:defRPr>
            </a:lvl1pPr>
          </a:lstStyle>
          <a:p>
            <a:pPr>
              <a:defRPr/>
            </a:pPr>
            <a:fld id="{EF41B76D-9336-435E-89FD-3D5A1B77420D}" type="slidenum">
              <a:rPr lang="en-US" altLang="zh-CN"/>
              <a:pPr>
                <a:defRPr/>
              </a:pPr>
              <a:t>‹#›</a:t>
            </a:fld>
            <a:endParaRPr lang="en-US" altLang="zh-CN"/>
          </a:p>
        </p:txBody>
      </p:sp>
    </p:spTree>
    <p:extLst>
      <p:ext uri="{BB962C8B-B14F-4D97-AF65-F5344CB8AC3E}">
        <p14:creationId xmlns:p14="http://schemas.microsoft.com/office/powerpoint/2010/main" val="18998355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2"/>
          <p:cNvSpPr>
            <a:spLocks noGrp="1" noChangeArrowheads="1"/>
          </p:cNvSpPr>
          <p:nvPr>
            <p:ph type="ftr" sz="quarter" idx="10"/>
          </p:nvPr>
        </p:nvSpPr>
        <p:spPr>
          <a:ln/>
        </p:spPr>
        <p:txBody>
          <a:bodyPr/>
          <a:lstStyle>
            <a:lvl1pPr>
              <a:defRPr/>
            </a:lvl1pPr>
          </a:lstStyle>
          <a:p>
            <a:pPr>
              <a:defRPr/>
            </a:pPr>
            <a:r>
              <a:rPr lang="en-US" altLang="zh-CN" dirty="0"/>
              <a:t>Machine Learning – Basic Principles &amp; Practice: 1. Prologue</a:t>
            </a:r>
          </a:p>
          <a:p>
            <a:pPr>
              <a:defRPr/>
            </a:pPr>
            <a:r>
              <a:rPr lang="zh-CN" altLang="en-US" dirty="0"/>
              <a:t>机器学习 </a:t>
            </a:r>
            <a:r>
              <a:rPr lang="en-US" altLang="zh-CN" dirty="0"/>
              <a:t>– </a:t>
            </a:r>
            <a:r>
              <a:rPr lang="zh-CN" altLang="en-US" dirty="0"/>
              <a:t>基础原理与实践：</a:t>
            </a:r>
            <a:r>
              <a:rPr lang="en-US" altLang="zh-CN" dirty="0"/>
              <a:t>1. </a:t>
            </a:r>
            <a:r>
              <a:rPr lang="zh-CN" altLang="en-US" dirty="0"/>
              <a:t>序言</a:t>
            </a:r>
            <a:endParaRPr lang="en-US" altLang="zh-CN" dirty="0"/>
          </a:p>
        </p:txBody>
      </p:sp>
    </p:spTree>
    <p:extLst>
      <p:ext uri="{BB962C8B-B14F-4D97-AF65-F5344CB8AC3E}">
        <p14:creationId xmlns:p14="http://schemas.microsoft.com/office/powerpoint/2010/main" val="34838016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2"/>
          <p:cNvSpPr>
            <a:spLocks noGrp="1" noChangeArrowheads="1"/>
          </p:cNvSpPr>
          <p:nvPr>
            <p:ph type="ftr" sz="quarter" idx="10"/>
          </p:nvPr>
        </p:nvSpPr>
        <p:spPr>
          <a:ln/>
        </p:spPr>
        <p:txBody>
          <a:bodyPr/>
          <a:lstStyle>
            <a:lvl1pPr>
              <a:defRPr/>
            </a:lvl1pPr>
          </a:lstStyle>
          <a:p>
            <a:pPr>
              <a:defRPr/>
            </a:pPr>
            <a:r>
              <a:rPr lang="en-US"/>
              <a:t>Machine Learning Basics: 1. General Introduction</a:t>
            </a:r>
          </a:p>
        </p:txBody>
      </p:sp>
    </p:spTree>
    <p:extLst>
      <p:ext uri="{BB962C8B-B14F-4D97-AF65-F5344CB8AC3E}">
        <p14:creationId xmlns:p14="http://schemas.microsoft.com/office/powerpoint/2010/main" val="9853619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62000" y="1600200"/>
            <a:ext cx="38100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24400" y="1600200"/>
            <a:ext cx="38100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2"/>
          <p:cNvSpPr>
            <a:spLocks noGrp="1" noChangeArrowheads="1"/>
          </p:cNvSpPr>
          <p:nvPr>
            <p:ph type="ftr" sz="quarter" idx="10"/>
          </p:nvPr>
        </p:nvSpPr>
        <p:spPr>
          <a:ln/>
        </p:spPr>
        <p:txBody>
          <a:bodyPr/>
          <a:lstStyle>
            <a:lvl1pPr>
              <a:defRPr/>
            </a:lvl1pPr>
          </a:lstStyle>
          <a:p>
            <a:pPr>
              <a:defRPr/>
            </a:pPr>
            <a:r>
              <a:rPr lang="en-US"/>
              <a:t>Machine Learning Basics: 1. General Introduction</a:t>
            </a:r>
          </a:p>
        </p:txBody>
      </p:sp>
    </p:spTree>
    <p:extLst>
      <p:ext uri="{BB962C8B-B14F-4D97-AF65-F5344CB8AC3E}">
        <p14:creationId xmlns:p14="http://schemas.microsoft.com/office/powerpoint/2010/main" val="4509438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2"/>
          <p:cNvSpPr>
            <a:spLocks noGrp="1" noChangeArrowheads="1"/>
          </p:cNvSpPr>
          <p:nvPr>
            <p:ph type="ftr" sz="quarter" idx="10"/>
          </p:nvPr>
        </p:nvSpPr>
        <p:spPr>
          <a:ln/>
        </p:spPr>
        <p:txBody>
          <a:bodyPr/>
          <a:lstStyle>
            <a:lvl1pPr>
              <a:defRPr/>
            </a:lvl1pPr>
          </a:lstStyle>
          <a:p>
            <a:pPr>
              <a:defRPr/>
            </a:pPr>
            <a:r>
              <a:rPr lang="en-US"/>
              <a:t>Machine Learning Basics: 1. General Introduction</a:t>
            </a:r>
          </a:p>
        </p:txBody>
      </p:sp>
    </p:spTree>
    <p:extLst>
      <p:ext uri="{BB962C8B-B14F-4D97-AF65-F5344CB8AC3E}">
        <p14:creationId xmlns:p14="http://schemas.microsoft.com/office/powerpoint/2010/main" val="11084426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2"/>
          <p:cNvSpPr>
            <a:spLocks noGrp="1" noChangeArrowheads="1"/>
          </p:cNvSpPr>
          <p:nvPr>
            <p:ph type="ftr" sz="quarter" idx="10"/>
          </p:nvPr>
        </p:nvSpPr>
        <p:spPr>
          <a:ln/>
        </p:spPr>
        <p:txBody>
          <a:bodyPr/>
          <a:lstStyle>
            <a:lvl1pPr>
              <a:defRPr/>
            </a:lvl1pPr>
          </a:lstStyle>
          <a:p>
            <a:pPr>
              <a:defRPr/>
            </a:pPr>
            <a:r>
              <a:rPr lang="en-US"/>
              <a:t>Machine Learning Basics: 1. General Introduction</a:t>
            </a:r>
          </a:p>
        </p:txBody>
      </p:sp>
    </p:spTree>
    <p:extLst>
      <p:ext uri="{BB962C8B-B14F-4D97-AF65-F5344CB8AC3E}">
        <p14:creationId xmlns:p14="http://schemas.microsoft.com/office/powerpoint/2010/main" val="5376639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2"/>
          <p:cNvSpPr>
            <a:spLocks noGrp="1" noChangeArrowheads="1"/>
          </p:cNvSpPr>
          <p:nvPr>
            <p:ph type="ftr" sz="quarter" idx="10"/>
          </p:nvPr>
        </p:nvSpPr>
        <p:spPr>
          <a:ln/>
        </p:spPr>
        <p:txBody>
          <a:bodyPr/>
          <a:lstStyle>
            <a:lvl1pPr>
              <a:defRPr/>
            </a:lvl1pPr>
          </a:lstStyle>
          <a:p>
            <a:pPr>
              <a:defRPr/>
            </a:pPr>
            <a:r>
              <a:rPr lang="en-US"/>
              <a:t>Machine Learning Basics: 1. General Introduction</a:t>
            </a:r>
          </a:p>
        </p:txBody>
      </p:sp>
    </p:spTree>
    <p:extLst>
      <p:ext uri="{BB962C8B-B14F-4D97-AF65-F5344CB8AC3E}">
        <p14:creationId xmlns:p14="http://schemas.microsoft.com/office/powerpoint/2010/main" val="4162289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2"/>
          <p:cNvSpPr>
            <a:spLocks noGrp="1" noChangeArrowheads="1"/>
          </p:cNvSpPr>
          <p:nvPr>
            <p:ph type="ftr" sz="quarter" idx="10"/>
          </p:nvPr>
        </p:nvSpPr>
        <p:spPr>
          <a:ln/>
        </p:spPr>
        <p:txBody>
          <a:bodyPr/>
          <a:lstStyle>
            <a:lvl1pPr>
              <a:defRPr/>
            </a:lvl1pPr>
          </a:lstStyle>
          <a:p>
            <a:pPr>
              <a:defRPr/>
            </a:pPr>
            <a:r>
              <a:rPr lang="en-US"/>
              <a:t>Machine Learning Basics: 1. General Introduction</a:t>
            </a:r>
          </a:p>
        </p:txBody>
      </p:sp>
    </p:spTree>
    <p:extLst>
      <p:ext uri="{BB962C8B-B14F-4D97-AF65-F5344CB8AC3E}">
        <p14:creationId xmlns:p14="http://schemas.microsoft.com/office/powerpoint/2010/main" val="12944393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2"/>
          <p:cNvSpPr>
            <a:spLocks noGrp="1" noChangeArrowheads="1"/>
          </p:cNvSpPr>
          <p:nvPr>
            <p:ph type="ftr" sz="quarter" idx="10"/>
          </p:nvPr>
        </p:nvSpPr>
        <p:spPr>
          <a:ln/>
        </p:spPr>
        <p:txBody>
          <a:bodyPr/>
          <a:lstStyle>
            <a:lvl1pPr>
              <a:defRPr/>
            </a:lvl1pPr>
          </a:lstStyle>
          <a:p>
            <a:pPr>
              <a:defRPr/>
            </a:pPr>
            <a:r>
              <a:rPr lang="en-US"/>
              <a:t>Machine Learning Basics: 1. General Introduction</a:t>
            </a:r>
          </a:p>
        </p:txBody>
      </p:sp>
    </p:spTree>
    <p:extLst>
      <p:ext uri="{BB962C8B-B14F-4D97-AF65-F5344CB8AC3E}">
        <p14:creationId xmlns:p14="http://schemas.microsoft.com/office/powerpoint/2010/main" val="17928499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2"/>
          <p:cNvSpPr>
            <a:spLocks noGrp="1" noChangeArrowheads="1"/>
          </p:cNvSpPr>
          <p:nvPr>
            <p:ph type="ftr" sz="quarter" idx="10"/>
          </p:nvPr>
        </p:nvSpPr>
        <p:spPr>
          <a:ln/>
        </p:spPr>
        <p:txBody>
          <a:bodyPr/>
          <a:lstStyle>
            <a:lvl1pPr>
              <a:defRPr/>
            </a:lvl1pPr>
          </a:lstStyle>
          <a:p>
            <a:pPr>
              <a:defRPr/>
            </a:pPr>
            <a:r>
              <a:rPr lang="en-US"/>
              <a:t>Machine Learning Basics: 1. General Introduction</a:t>
            </a:r>
          </a:p>
        </p:txBody>
      </p:sp>
    </p:spTree>
    <p:extLst>
      <p:ext uri="{BB962C8B-B14F-4D97-AF65-F5344CB8AC3E}">
        <p14:creationId xmlns:p14="http://schemas.microsoft.com/office/powerpoint/2010/main" val="3469443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7050" y="457200"/>
            <a:ext cx="2038350" cy="5715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62000" y="457200"/>
            <a:ext cx="5962650" cy="5715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2"/>
          <p:cNvSpPr>
            <a:spLocks noGrp="1" noChangeArrowheads="1"/>
          </p:cNvSpPr>
          <p:nvPr>
            <p:ph type="ftr" sz="quarter" idx="10"/>
          </p:nvPr>
        </p:nvSpPr>
        <p:spPr>
          <a:ln/>
        </p:spPr>
        <p:txBody>
          <a:bodyPr/>
          <a:lstStyle>
            <a:lvl1pPr>
              <a:defRPr/>
            </a:lvl1pPr>
          </a:lstStyle>
          <a:p>
            <a:pPr>
              <a:defRPr/>
            </a:pPr>
            <a:r>
              <a:rPr lang="en-US"/>
              <a:t>Machine Learning Basics: 1. General Introduction</a:t>
            </a:r>
          </a:p>
        </p:txBody>
      </p:sp>
    </p:spTree>
    <p:extLst>
      <p:ext uri="{BB962C8B-B14F-4D97-AF65-F5344CB8AC3E}">
        <p14:creationId xmlns:p14="http://schemas.microsoft.com/office/powerpoint/2010/main" val="37036624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ltGray">
          <a:xfrm>
            <a:off x="417513" y="7175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lgn="ctr" eaLnBrk="1" hangingPunct="1">
              <a:defRPr/>
            </a:pPr>
            <a:endParaRPr kumimoji="1" lang="en-US" altLang="zh-CN" sz="2400">
              <a:latin typeface="Tahoma" panose="020B0604030504040204" pitchFamily="34" charset="0"/>
            </a:endParaRPr>
          </a:p>
        </p:txBody>
      </p:sp>
      <p:sp>
        <p:nvSpPr>
          <p:cNvPr id="1027" name="Rectangle 3"/>
          <p:cNvSpPr>
            <a:spLocks noChangeArrowheads="1"/>
          </p:cNvSpPr>
          <p:nvPr/>
        </p:nvSpPr>
        <p:spPr bwMode="ltGray">
          <a:xfrm>
            <a:off x="800100" y="7175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lgn="ctr" eaLnBrk="1" hangingPunct="1">
              <a:defRPr/>
            </a:pPr>
            <a:endParaRPr kumimoji="1" lang="en-US" altLang="zh-CN" sz="2400">
              <a:latin typeface="Tahoma" panose="020B0604030504040204" pitchFamily="34" charset="0"/>
            </a:endParaRPr>
          </a:p>
        </p:txBody>
      </p:sp>
      <p:sp>
        <p:nvSpPr>
          <p:cNvPr id="1028" name="Rectangle 4"/>
          <p:cNvSpPr>
            <a:spLocks noChangeArrowheads="1"/>
          </p:cNvSpPr>
          <p:nvPr/>
        </p:nvSpPr>
        <p:spPr bwMode="ltGray">
          <a:xfrm>
            <a:off x="541338" y="11398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lgn="ctr" eaLnBrk="1" hangingPunct="1">
              <a:defRPr/>
            </a:pPr>
            <a:endParaRPr kumimoji="1" lang="en-US" altLang="zh-CN" sz="2400">
              <a:latin typeface="Tahoma" panose="020B0604030504040204" pitchFamily="34" charset="0"/>
            </a:endParaRPr>
          </a:p>
        </p:txBody>
      </p:sp>
      <p:sp>
        <p:nvSpPr>
          <p:cNvPr id="1029" name="Rectangle 5"/>
          <p:cNvSpPr>
            <a:spLocks noChangeArrowheads="1"/>
          </p:cNvSpPr>
          <p:nvPr/>
        </p:nvSpPr>
        <p:spPr bwMode="ltGray">
          <a:xfrm>
            <a:off x="911225" y="11398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lgn="ctr" eaLnBrk="1" hangingPunct="1">
              <a:defRPr/>
            </a:pPr>
            <a:endParaRPr kumimoji="1" lang="en-US" altLang="zh-CN" sz="2400">
              <a:latin typeface="Tahoma" panose="020B0604030504040204" pitchFamily="34" charset="0"/>
            </a:endParaRPr>
          </a:p>
        </p:txBody>
      </p:sp>
      <p:sp>
        <p:nvSpPr>
          <p:cNvPr id="1030" name="Rectangle 6"/>
          <p:cNvSpPr>
            <a:spLocks noChangeArrowheads="1"/>
          </p:cNvSpPr>
          <p:nvPr/>
        </p:nvSpPr>
        <p:spPr bwMode="ltGray">
          <a:xfrm>
            <a:off x="127000" y="10668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lgn="ctr" eaLnBrk="1" hangingPunct="1">
              <a:defRPr/>
            </a:pPr>
            <a:endParaRPr kumimoji="1" lang="en-US" altLang="zh-CN" sz="2400">
              <a:latin typeface="Tahoma" panose="020B0604030504040204" pitchFamily="34" charset="0"/>
            </a:endParaRPr>
          </a:p>
        </p:txBody>
      </p:sp>
      <p:sp>
        <p:nvSpPr>
          <p:cNvPr id="1031" name="Rectangle 7"/>
          <p:cNvSpPr>
            <a:spLocks noChangeArrowheads="1"/>
          </p:cNvSpPr>
          <p:nvPr/>
        </p:nvSpPr>
        <p:spPr bwMode="gray">
          <a:xfrm>
            <a:off x="762000" y="60960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lgn="ctr" eaLnBrk="1" hangingPunct="1">
              <a:defRPr/>
            </a:pPr>
            <a:endParaRPr kumimoji="1" lang="en-US" altLang="zh-CN" sz="2400">
              <a:latin typeface="Tahoma" panose="020B0604030504040204" pitchFamily="34" charset="0"/>
            </a:endParaRPr>
          </a:p>
        </p:txBody>
      </p:sp>
      <p:sp>
        <p:nvSpPr>
          <p:cNvPr id="1032" name="Rectangle 8"/>
          <p:cNvSpPr>
            <a:spLocks noChangeArrowheads="1"/>
          </p:cNvSpPr>
          <p:nvPr/>
        </p:nvSpPr>
        <p:spPr bwMode="gray">
          <a:xfrm>
            <a:off x="442913" y="1400175"/>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lgn="ctr" eaLnBrk="1" hangingPunct="1">
              <a:defRPr/>
            </a:pPr>
            <a:endParaRPr kumimoji="1" lang="en-US" altLang="zh-CN" sz="2400">
              <a:latin typeface="Tahoma" panose="020B0604030504040204" pitchFamily="34" charset="0"/>
            </a:endParaRPr>
          </a:p>
        </p:txBody>
      </p:sp>
      <p:sp>
        <p:nvSpPr>
          <p:cNvPr id="1033" name="Rectangle 9"/>
          <p:cNvSpPr>
            <a:spLocks noGrp="1" noChangeArrowheads="1"/>
          </p:cNvSpPr>
          <p:nvPr>
            <p:ph type="title"/>
          </p:nvPr>
        </p:nvSpPr>
        <p:spPr bwMode="auto">
          <a:xfrm>
            <a:off x="1122363" y="457200"/>
            <a:ext cx="7793037"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zh-CN"/>
              <a:t>Click to edit Master title style</a:t>
            </a:r>
          </a:p>
        </p:txBody>
      </p:sp>
      <p:sp>
        <p:nvSpPr>
          <p:cNvPr id="1034" name="Rectangle 10"/>
          <p:cNvSpPr>
            <a:spLocks noGrp="1" noChangeArrowheads="1"/>
          </p:cNvSpPr>
          <p:nvPr>
            <p:ph type="body" idx="1"/>
          </p:nvPr>
        </p:nvSpPr>
        <p:spPr bwMode="auto">
          <a:xfrm>
            <a:off x="762000" y="1600200"/>
            <a:ext cx="7772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23564" name="Rectangle 12"/>
          <p:cNvSpPr>
            <a:spLocks noGrp="1" noChangeArrowheads="1"/>
          </p:cNvSpPr>
          <p:nvPr>
            <p:ph type="ftr" sz="quarter" idx="3"/>
          </p:nvPr>
        </p:nvSpPr>
        <p:spPr bwMode="auto">
          <a:xfrm>
            <a:off x="762000" y="6243638"/>
            <a:ext cx="77724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400">
                <a:latin typeface="Tahoma" pitchFamily="34" charset="0"/>
              </a:defRPr>
            </a:lvl1pPr>
          </a:lstStyle>
          <a:p>
            <a:pPr>
              <a:defRPr/>
            </a:pPr>
            <a:r>
              <a:rPr lang="en-US" dirty="0"/>
              <a:t>Machine Learning </a:t>
            </a:r>
            <a:r>
              <a:rPr lang="en-US" altLang="zh-CN" dirty="0"/>
              <a:t>–</a:t>
            </a:r>
            <a:r>
              <a:rPr lang="en-US" dirty="0"/>
              <a:t> Basic Principles &amp; Practice: 1. Prologue</a:t>
            </a:r>
          </a:p>
          <a:p>
            <a:pPr>
              <a:defRPr/>
            </a:pPr>
            <a:r>
              <a:rPr lang="zh-CN" altLang="en-US" dirty="0"/>
              <a:t>机器学习 </a:t>
            </a:r>
            <a:r>
              <a:rPr lang="en-US" altLang="zh-CN" dirty="0"/>
              <a:t>– </a:t>
            </a:r>
            <a:r>
              <a:rPr lang="zh-CN" altLang="en-US" dirty="0"/>
              <a:t>基础原理与实践：</a:t>
            </a:r>
            <a:r>
              <a:rPr lang="en-US" altLang="zh-CN" dirty="0"/>
              <a:t>1. </a:t>
            </a:r>
            <a:r>
              <a:rPr lang="zh-CN" altLang="en-US" dirty="0"/>
              <a:t>序言</a:t>
            </a:r>
            <a:endParaRPr lang="en-US" dirty="0"/>
          </a:p>
        </p:txBody>
      </p:sp>
    </p:spTree>
  </p:cSld>
  <p:clrMap bg1="lt1" tx1="dk1" bg2="lt2" tx2="dk2" accent1="accent1" accent2="accent2" accent3="accent3" accent4="accent4" accent5="accent5" accent6="accent6" hlink="hlink" folHlink="folHlink"/>
  <p:sldLayoutIdLst>
    <p:sldLayoutId id="2147483770"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Lst>
  <p:hf sldNum="0" hdr="0" dt="0"/>
  <p:txStyles>
    <p:title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Comic Sans MS" pitchFamily="66" charset="0"/>
        </a:defRPr>
      </a:lvl2pPr>
      <a:lvl3pPr algn="l" rtl="0" eaLnBrk="0" fontAlgn="base" hangingPunct="0">
        <a:spcBef>
          <a:spcPct val="0"/>
        </a:spcBef>
        <a:spcAft>
          <a:spcPct val="0"/>
        </a:spcAft>
        <a:defRPr sz="4000">
          <a:solidFill>
            <a:schemeClr val="tx2"/>
          </a:solidFill>
          <a:latin typeface="Comic Sans MS" pitchFamily="66" charset="0"/>
        </a:defRPr>
      </a:lvl3pPr>
      <a:lvl4pPr algn="l" rtl="0" eaLnBrk="0" fontAlgn="base" hangingPunct="0">
        <a:spcBef>
          <a:spcPct val="0"/>
        </a:spcBef>
        <a:spcAft>
          <a:spcPct val="0"/>
        </a:spcAft>
        <a:defRPr sz="4000">
          <a:solidFill>
            <a:schemeClr val="tx2"/>
          </a:solidFill>
          <a:latin typeface="Comic Sans MS" pitchFamily="66" charset="0"/>
        </a:defRPr>
      </a:lvl4pPr>
      <a:lvl5pPr algn="l" rtl="0" eaLnBrk="0" fontAlgn="base" hangingPunct="0">
        <a:spcBef>
          <a:spcPct val="0"/>
        </a:spcBef>
        <a:spcAft>
          <a:spcPct val="0"/>
        </a:spcAft>
        <a:defRPr sz="4000">
          <a:solidFill>
            <a:schemeClr val="tx2"/>
          </a:solidFill>
          <a:latin typeface="Comic Sans MS" pitchFamily="66" charset="0"/>
        </a:defRPr>
      </a:lvl5pPr>
      <a:lvl6pPr marL="457200" algn="l" rtl="0" fontAlgn="base">
        <a:spcBef>
          <a:spcPct val="0"/>
        </a:spcBef>
        <a:spcAft>
          <a:spcPct val="0"/>
        </a:spcAft>
        <a:defRPr sz="4000">
          <a:solidFill>
            <a:schemeClr val="tx2"/>
          </a:solidFill>
          <a:latin typeface="Comic Sans MS" pitchFamily="66" charset="0"/>
        </a:defRPr>
      </a:lvl6pPr>
      <a:lvl7pPr marL="914400" algn="l" rtl="0" fontAlgn="base">
        <a:spcBef>
          <a:spcPct val="0"/>
        </a:spcBef>
        <a:spcAft>
          <a:spcPct val="0"/>
        </a:spcAft>
        <a:defRPr sz="4000">
          <a:solidFill>
            <a:schemeClr val="tx2"/>
          </a:solidFill>
          <a:latin typeface="Comic Sans MS" pitchFamily="66" charset="0"/>
        </a:defRPr>
      </a:lvl7pPr>
      <a:lvl8pPr marL="1371600" algn="l" rtl="0" fontAlgn="base">
        <a:spcBef>
          <a:spcPct val="0"/>
        </a:spcBef>
        <a:spcAft>
          <a:spcPct val="0"/>
        </a:spcAft>
        <a:defRPr sz="4000">
          <a:solidFill>
            <a:schemeClr val="tx2"/>
          </a:solidFill>
          <a:latin typeface="Comic Sans MS" pitchFamily="66" charset="0"/>
        </a:defRPr>
      </a:lvl8pPr>
      <a:lvl9pPr marL="1828800" algn="l" rtl="0" fontAlgn="base">
        <a:spcBef>
          <a:spcPct val="0"/>
        </a:spcBef>
        <a:spcAft>
          <a:spcPct val="0"/>
        </a:spcAft>
        <a:defRPr sz="4000">
          <a:solidFill>
            <a:schemeClr val="tx2"/>
          </a:solidFill>
          <a:latin typeface="Comic Sans MS" pitchFamily="66"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slideLayout" Target="../slideLayouts/slideLayout2.xml"/><Relationship Id="rId1" Type="http://schemas.openxmlformats.org/officeDocument/2006/relationships/tags" Target="../tags/tag2.xml"/><Relationship Id="rId6" Type="http://schemas.openxmlformats.org/officeDocument/2006/relationships/image" Target="../media/image5.jpg"/><Relationship Id="rId5" Type="http://schemas.openxmlformats.org/officeDocument/2006/relationships/image" Target="../media/image4.jpg"/><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685800" y="1814512"/>
            <a:ext cx="7772400" cy="1462088"/>
          </a:xfrm>
        </p:spPr>
        <p:txBody>
          <a:bodyPr/>
          <a:lstStyle/>
          <a:p>
            <a:pPr algn="ctr" eaLnBrk="1" hangingPunct="1"/>
            <a:r>
              <a:rPr lang="en-US" altLang="zh-CN" sz="3600" b="1" dirty="0">
                <a:ea typeface="SimSun" panose="02010600030101010101" pitchFamily="2" charset="-122"/>
              </a:rPr>
              <a:t>How Computing Works - </a:t>
            </a:r>
            <a:br>
              <a:rPr lang="en-US" altLang="zh-CN" sz="3600" b="1" dirty="0">
                <a:ea typeface="SimSun" panose="02010600030101010101" pitchFamily="2" charset="-122"/>
              </a:rPr>
            </a:br>
            <a:r>
              <a:rPr lang="en-US" altLang="zh-CN" sz="3600" b="1" dirty="0">
                <a:ea typeface="SimSun" panose="02010600030101010101" pitchFamily="2" charset="-122"/>
              </a:rPr>
              <a:t>Modern Paradigms of Architecture &amp; System</a:t>
            </a:r>
            <a:br>
              <a:rPr lang="en-US" altLang="zh-CN" sz="3600" b="1" dirty="0">
                <a:ea typeface="SimSun" panose="02010600030101010101" pitchFamily="2" charset="-122"/>
              </a:rPr>
            </a:br>
            <a:r>
              <a:rPr lang="en-US" altLang="zh-CN" sz="3600" b="1" dirty="0">
                <a:ea typeface="SimSun" panose="02010600030101010101" pitchFamily="2" charset="-122"/>
              </a:rPr>
              <a:t>1. Prologue</a:t>
            </a:r>
          </a:p>
        </p:txBody>
      </p:sp>
      <p:sp>
        <p:nvSpPr>
          <p:cNvPr id="5123" name="Rectangle 3"/>
          <p:cNvSpPr>
            <a:spLocks noGrp="1" noChangeArrowheads="1"/>
          </p:cNvSpPr>
          <p:nvPr>
            <p:ph type="subTitle" idx="1"/>
          </p:nvPr>
        </p:nvSpPr>
        <p:spPr>
          <a:xfrm>
            <a:off x="1219200" y="4876800"/>
            <a:ext cx="6553200" cy="762000"/>
          </a:xfrm>
        </p:spPr>
        <p:txBody>
          <a:bodyPr/>
          <a:lstStyle/>
          <a:p>
            <a:pPr eaLnBrk="1" hangingPunct="1"/>
            <a:r>
              <a:rPr lang="en-US" altLang="zh-CN" sz="2800" dirty="0">
                <a:ea typeface="SimSun" panose="02010600030101010101" pitchFamily="2" charset="-122"/>
              </a:rPr>
              <a:t>Cong Li </a:t>
            </a:r>
            <a:r>
              <a:rPr lang="zh-CN" altLang="en-US" sz="2800" dirty="0">
                <a:ea typeface="SimSun" panose="02010600030101010101" pitchFamily="2" charset="-122"/>
              </a:rPr>
              <a:t>李聪</a:t>
            </a:r>
            <a:endParaRPr lang="en-US" altLang="zh-CN" sz="2400" dirty="0">
              <a:ea typeface="SimSun" panose="02010600030101010101" pitchFamily="2" charset="-122"/>
            </a:endParaRPr>
          </a:p>
        </p:txBody>
      </p:sp>
      <p:sp>
        <p:nvSpPr>
          <p:cNvPr id="4" name="Rectangle 2">
            <a:extLst>
              <a:ext uri="{FF2B5EF4-FFF2-40B4-BE49-F238E27FC236}">
                <a16:creationId xmlns:a16="http://schemas.microsoft.com/office/drawing/2014/main" id="{D050F980-1D76-4E39-94EB-A1B939407DEF}"/>
              </a:ext>
            </a:extLst>
          </p:cNvPr>
          <p:cNvSpPr txBox="1">
            <a:spLocks noChangeArrowheads="1"/>
          </p:cNvSpPr>
          <p:nvPr/>
        </p:nvSpPr>
        <p:spPr bwMode="auto">
          <a:xfrm>
            <a:off x="457200" y="3274423"/>
            <a:ext cx="8229600" cy="146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Comic Sans MS" pitchFamily="66" charset="0"/>
              </a:defRPr>
            </a:lvl2pPr>
            <a:lvl3pPr algn="l" rtl="0" eaLnBrk="0" fontAlgn="base" hangingPunct="0">
              <a:spcBef>
                <a:spcPct val="0"/>
              </a:spcBef>
              <a:spcAft>
                <a:spcPct val="0"/>
              </a:spcAft>
              <a:defRPr sz="4000">
                <a:solidFill>
                  <a:schemeClr val="tx2"/>
                </a:solidFill>
                <a:latin typeface="Comic Sans MS" pitchFamily="66" charset="0"/>
              </a:defRPr>
            </a:lvl3pPr>
            <a:lvl4pPr algn="l" rtl="0" eaLnBrk="0" fontAlgn="base" hangingPunct="0">
              <a:spcBef>
                <a:spcPct val="0"/>
              </a:spcBef>
              <a:spcAft>
                <a:spcPct val="0"/>
              </a:spcAft>
              <a:defRPr sz="4000">
                <a:solidFill>
                  <a:schemeClr val="tx2"/>
                </a:solidFill>
                <a:latin typeface="Comic Sans MS" pitchFamily="66" charset="0"/>
              </a:defRPr>
            </a:lvl4pPr>
            <a:lvl5pPr algn="l" rtl="0" eaLnBrk="0" fontAlgn="base" hangingPunct="0">
              <a:spcBef>
                <a:spcPct val="0"/>
              </a:spcBef>
              <a:spcAft>
                <a:spcPct val="0"/>
              </a:spcAft>
              <a:defRPr sz="4000">
                <a:solidFill>
                  <a:schemeClr val="tx2"/>
                </a:solidFill>
                <a:latin typeface="Comic Sans MS" pitchFamily="66" charset="0"/>
              </a:defRPr>
            </a:lvl5pPr>
            <a:lvl6pPr marL="457200" algn="l" rtl="0" fontAlgn="base">
              <a:spcBef>
                <a:spcPct val="0"/>
              </a:spcBef>
              <a:spcAft>
                <a:spcPct val="0"/>
              </a:spcAft>
              <a:defRPr sz="4000">
                <a:solidFill>
                  <a:schemeClr val="tx2"/>
                </a:solidFill>
                <a:latin typeface="Comic Sans MS" pitchFamily="66" charset="0"/>
              </a:defRPr>
            </a:lvl6pPr>
            <a:lvl7pPr marL="914400" algn="l" rtl="0" fontAlgn="base">
              <a:spcBef>
                <a:spcPct val="0"/>
              </a:spcBef>
              <a:spcAft>
                <a:spcPct val="0"/>
              </a:spcAft>
              <a:defRPr sz="4000">
                <a:solidFill>
                  <a:schemeClr val="tx2"/>
                </a:solidFill>
                <a:latin typeface="Comic Sans MS" pitchFamily="66" charset="0"/>
              </a:defRPr>
            </a:lvl7pPr>
            <a:lvl8pPr marL="1371600" algn="l" rtl="0" fontAlgn="base">
              <a:spcBef>
                <a:spcPct val="0"/>
              </a:spcBef>
              <a:spcAft>
                <a:spcPct val="0"/>
              </a:spcAft>
              <a:defRPr sz="4000">
                <a:solidFill>
                  <a:schemeClr val="tx2"/>
                </a:solidFill>
                <a:latin typeface="Comic Sans MS" pitchFamily="66" charset="0"/>
              </a:defRPr>
            </a:lvl8pPr>
            <a:lvl9pPr marL="1828800" algn="l" rtl="0" fontAlgn="base">
              <a:spcBef>
                <a:spcPct val="0"/>
              </a:spcBef>
              <a:spcAft>
                <a:spcPct val="0"/>
              </a:spcAft>
              <a:defRPr sz="4000">
                <a:solidFill>
                  <a:schemeClr val="tx2"/>
                </a:solidFill>
                <a:latin typeface="Comic Sans MS" pitchFamily="66" charset="0"/>
              </a:defRPr>
            </a:lvl9pPr>
          </a:lstStyle>
          <a:p>
            <a:pPr algn="ctr" eaLnBrk="1" hangingPunct="1"/>
            <a:r>
              <a:rPr lang="zh-CN" altLang="en-US" sz="3600" b="1" kern="0" dirty="0">
                <a:ea typeface="SimSun" panose="02010600030101010101" pitchFamily="2" charset="-122"/>
              </a:rPr>
              <a:t>计算如何运作 </a:t>
            </a:r>
            <a:r>
              <a:rPr lang="en-US" altLang="zh-CN" sz="3600" b="1" kern="0" dirty="0">
                <a:ea typeface="SimSun" panose="02010600030101010101" pitchFamily="2" charset="-122"/>
              </a:rPr>
              <a:t>– </a:t>
            </a:r>
            <a:r>
              <a:rPr lang="zh-CN" altLang="en-US" sz="3600" b="1" kern="0" dirty="0">
                <a:ea typeface="SimSun" panose="02010600030101010101" pitchFamily="2" charset="-122"/>
              </a:rPr>
              <a:t>架构与系统的现代范式</a:t>
            </a:r>
            <a:endParaRPr lang="en-US" altLang="zh-CN" sz="3600" b="1" kern="0" dirty="0">
              <a:ea typeface="SimSun" panose="02010600030101010101" pitchFamily="2" charset="-122"/>
            </a:endParaRPr>
          </a:p>
          <a:p>
            <a:pPr algn="ctr" eaLnBrk="1" hangingPunct="1"/>
            <a:r>
              <a:rPr lang="en-US" altLang="zh-CN" sz="3600" b="1" kern="0" dirty="0">
                <a:ea typeface="SimSun" panose="02010600030101010101" pitchFamily="2" charset="-122"/>
              </a:rPr>
              <a:t>1. </a:t>
            </a:r>
            <a:r>
              <a:rPr lang="zh-CN" altLang="en-US" sz="3600" b="1" kern="0" dirty="0">
                <a:ea typeface="SimSun" panose="02010600030101010101" pitchFamily="2" charset="-122"/>
              </a:rPr>
              <a:t>序言</a:t>
            </a:r>
            <a:endParaRPr lang="en-US" altLang="zh-CN" sz="3600" b="1" kern="0" dirty="0">
              <a:ea typeface="SimSun" panose="0201060003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6C584-6457-41A4-BA5F-69E8F2C23F5C}"/>
              </a:ext>
            </a:extLst>
          </p:cNvPr>
          <p:cNvSpPr>
            <a:spLocks noGrp="1"/>
          </p:cNvSpPr>
          <p:nvPr>
            <p:ph type="title"/>
          </p:nvPr>
        </p:nvSpPr>
        <p:spPr/>
        <p:txBody>
          <a:bodyPr/>
          <a:lstStyle/>
          <a:p>
            <a:r>
              <a:rPr lang="en-US" altLang="zh-CN" dirty="0"/>
              <a:t>More than Forty Years Ago …</a:t>
            </a:r>
            <a:br>
              <a:rPr lang="en-US" altLang="zh-CN" dirty="0"/>
            </a:br>
            <a:r>
              <a:rPr lang="en-US" altLang="zh-CN" dirty="0"/>
              <a:t>40</a:t>
            </a:r>
            <a:r>
              <a:rPr lang="zh-CN" altLang="en-US" dirty="0"/>
              <a:t>多年前</a:t>
            </a:r>
            <a:endParaRPr lang="zh-CN" altLang="en-US" b="1" dirty="0"/>
          </a:p>
        </p:txBody>
      </p:sp>
      <p:sp>
        <p:nvSpPr>
          <p:cNvPr id="4" name="Footer Placeholder 3">
            <a:extLst>
              <a:ext uri="{FF2B5EF4-FFF2-40B4-BE49-F238E27FC236}">
                <a16:creationId xmlns:a16="http://schemas.microsoft.com/office/drawing/2014/main" id="{44CB0B58-2DCD-4AD6-9EF7-01D9FC4D0247}"/>
              </a:ext>
            </a:extLst>
          </p:cNvPr>
          <p:cNvSpPr>
            <a:spLocks noGrp="1"/>
          </p:cNvSpPr>
          <p:nvPr>
            <p:ph type="ftr" sz="quarter" idx="10"/>
          </p:nvPr>
        </p:nvSpPr>
        <p:spPr>
          <a:xfrm>
            <a:off x="685800" y="6324600"/>
            <a:ext cx="7772400" cy="457200"/>
          </a:xfrm>
        </p:spPr>
        <p:txBody>
          <a:bodyPr/>
          <a:lstStyle/>
          <a:p>
            <a:pPr>
              <a:defRPr/>
            </a:pPr>
            <a:r>
              <a:rPr lang="en-US" altLang="zh-CN" dirty="0"/>
              <a:t>How Computing Works - Modern Paradigms of Architecture &amp; System: 1. Prologue</a:t>
            </a:r>
          </a:p>
          <a:p>
            <a:pPr>
              <a:defRPr/>
            </a:pPr>
            <a:r>
              <a:rPr lang="zh-CN" altLang="en-US" dirty="0"/>
              <a:t>计算如何运作 </a:t>
            </a:r>
            <a:r>
              <a:rPr lang="en-US" altLang="zh-CN" dirty="0"/>
              <a:t>– </a:t>
            </a:r>
            <a:r>
              <a:rPr lang="zh-CN" altLang="en-US" dirty="0"/>
              <a:t>架构与系统的现代范式：</a:t>
            </a:r>
            <a:r>
              <a:rPr lang="en-US" altLang="zh-CN" dirty="0"/>
              <a:t>1. </a:t>
            </a:r>
            <a:r>
              <a:rPr lang="zh-CN" altLang="en-US" dirty="0"/>
              <a:t>序言</a:t>
            </a:r>
            <a:endParaRPr lang="en-US" altLang="zh-CN" dirty="0"/>
          </a:p>
        </p:txBody>
      </p:sp>
      <p:sp>
        <p:nvSpPr>
          <p:cNvPr id="7" name="TextBox 6">
            <a:extLst>
              <a:ext uri="{FF2B5EF4-FFF2-40B4-BE49-F238E27FC236}">
                <a16:creationId xmlns:a16="http://schemas.microsoft.com/office/drawing/2014/main" id="{D201D823-59E3-4307-88B6-15D9752672FA}"/>
              </a:ext>
            </a:extLst>
          </p:cNvPr>
          <p:cNvSpPr txBox="1"/>
          <p:nvPr/>
        </p:nvSpPr>
        <p:spPr>
          <a:xfrm>
            <a:off x="533400" y="5105400"/>
            <a:ext cx="8077200" cy="954107"/>
          </a:xfrm>
          <a:prstGeom prst="rect">
            <a:avLst/>
          </a:prstGeom>
          <a:noFill/>
        </p:spPr>
        <p:txBody>
          <a:bodyPr wrap="square" rtlCol="0">
            <a:spAutoFit/>
          </a:bodyPr>
          <a:lstStyle/>
          <a:p>
            <a:pPr algn="ctr"/>
            <a:r>
              <a:rPr lang="en-US" altLang="zh-CN" sz="2800" dirty="0"/>
              <a:t>Computers were relatively scarce</a:t>
            </a:r>
          </a:p>
          <a:p>
            <a:pPr algn="ctr"/>
            <a:r>
              <a:rPr lang="zh-CN" altLang="en-US" sz="2800" dirty="0"/>
              <a:t>计算机当时并不常见</a:t>
            </a:r>
          </a:p>
        </p:txBody>
      </p:sp>
      <p:pic>
        <p:nvPicPr>
          <p:cNvPr id="6" name="Picture 5">
            <a:extLst>
              <a:ext uri="{FF2B5EF4-FFF2-40B4-BE49-F238E27FC236}">
                <a16:creationId xmlns:a16="http://schemas.microsoft.com/office/drawing/2014/main" id="{C57238BC-E0CD-3FFA-D883-F39FA8F49A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68955" y="1697355"/>
            <a:ext cx="3006090" cy="3331845"/>
          </a:xfrm>
          <a:prstGeom prst="rect">
            <a:avLst/>
          </a:prstGeom>
        </p:spPr>
      </p:pic>
    </p:spTree>
    <p:custDataLst>
      <p:tags r:id="rId1"/>
    </p:custDataLst>
    <p:extLst>
      <p:ext uri="{BB962C8B-B14F-4D97-AF65-F5344CB8AC3E}">
        <p14:creationId xmlns:p14="http://schemas.microsoft.com/office/powerpoint/2010/main" val="4100895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C0DBAB-8568-96F3-5B56-24CF0443EB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1EBEEA-A77B-AC19-DFEA-BD574042CF1C}"/>
              </a:ext>
            </a:extLst>
          </p:cNvPr>
          <p:cNvSpPr>
            <a:spLocks noGrp="1"/>
          </p:cNvSpPr>
          <p:nvPr>
            <p:ph type="title"/>
          </p:nvPr>
        </p:nvSpPr>
        <p:spPr/>
        <p:txBody>
          <a:bodyPr/>
          <a:lstStyle/>
          <a:p>
            <a:r>
              <a:rPr lang="en-US" altLang="zh-CN" dirty="0"/>
              <a:t>Now Computing Is Everywhere </a:t>
            </a:r>
            <a:r>
              <a:rPr lang="zh-CN" altLang="en-US" dirty="0"/>
              <a:t>如今计算已无处不在</a:t>
            </a:r>
            <a:endParaRPr lang="zh-CN" altLang="en-US" b="1" dirty="0"/>
          </a:p>
        </p:txBody>
      </p:sp>
      <p:sp>
        <p:nvSpPr>
          <p:cNvPr id="4" name="Footer Placeholder 3">
            <a:extLst>
              <a:ext uri="{FF2B5EF4-FFF2-40B4-BE49-F238E27FC236}">
                <a16:creationId xmlns:a16="http://schemas.microsoft.com/office/drawing/2014/main" id="{D4B42F4A-1214-AE8C-EEA1-5F0A1C580907}"/>
              </a:ext>
            </a:extLst>
          </p:cNvPr>
          <p:cNvSpPr>
            <a:spLocks noGrp="1"/>
          </p:cNvSpPr>
          <p:nvPr>
            <p:ph type="ftr" sz="quarter" idx="10"/>
          </p:nvPr>
        </p:nvSpPr>
        <p:spPr>
          <a:xfrm>
            <a:off x="685800" y="6324600"/>
            <a:ext cx="7772400" cy="457200"/>
          </a:xfrm>
        </p:spPr>
        <p:txBody>
          <a:bodyPr/>
          <a:lstStyle/>
          <a:p>
            <a:pPr>
              <a:defRPr/>
            </a:pPr>
            <a:r>
              <a:rPr lang="en-US" altLang="zh-CN" dirty="0"/>
              <a:t>How Computing Works - Modern Paradigms of Architecture &amp; System: 1. Prologue</a:t>
            </a:r>
          </a:p>
          <a:p>
            <a:pPr>
              <a:defRPr/>
            </a:pPr>
            <a:r>
              <a:rPr lang="zh-CN" altLang="en-US" dirty="0"/>
              <a:t>计算如何运作 </a:t>
            </a:r>
            <a:r>
              <a:rPr lang="en-US" altLang="zh-CN" dirty="0"/>
              <a:t>– </a:t>
            </a:r>
            <a:r>
              <a:rPr lang="zh-CN" altLang="en-US" dirty="0"/>
              <a:t>架构与系统的现代范式：</a:t>
            </a:r>
            <a:r>
              <a:rPr lang="en-US" altLang="zh-CN" dirty="0"/>
              <a:t>1. </a:t>
            </a:r>
            <a:r>
              <a:rPr lang="zh-CN" altLang="en-US" dirty="0"/>
              <a:t>序言</a:t>
            </a:r>
            <a:endParaRPr lang="en-US" altLang="zh-CN" dirty="0"/>
          </a:p>
        </p:txBody>
      </p:sp>
      <p:pic>
        <p:nvPicPr>
          <p:cNvPr id="5" name="Picture 4">
            <a:extLst>
              <a:ext uri="{FF2B5EF4-FFF2-40B4-BE49-F238E27FC236}">
                <a16:creationId xmlns:a16="http://schemas.microsoft.com/office/drawing/2014/main" id="{51020BFB-619C-A201-6A3A-63FAEF8031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8894" y="1774599"/>
            <a:ext cx="2781300" cy="1809264"/>
          </a:xfrm>
          <a:prstGeom prst="rect">
            <a:avLst/>
          </a:prstGeom>
        </p:spPr>
      </p:pic>
      <p:pic>
        <p:nvPicPr>
          <p:cNvPr id="9" name="Picture 8">
            <a:extLst>
              <a:ext uri="{FF2B5EF4-FFF2-40B4-BE49-F238E27FC236}">
                <a16:creationId xmlns:a16="http://schemas.microsoft.com/office/drawing/2014/main" id="{267EDE88-8CCF-9525-8645-6F90966B2A7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21794" y="1774599"/>
            <a:ext cx="2424113" cy="1813104"/>
          </a:xfrm>
          <a:prstGeom prst="rect">
            <a:avLst/>
          </a:prstGeom>
        </p:spPr>
      </p:pic>
      <p:pic>
        <p:nvPicPr>
          <p:cNvPr id="11" name="Picture 10">
            <a:extLst>
              <a:ext uri="{FF2B5EF4-FFF2-40B4-BE49-F238E27FC236}">
                <a16:creationId xmlns:a16="http://schemas.microsoft.com/office/drawing/2014/main" id="{269EB252-001B-7AB6-659F-17D49217C0D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83066" y="3990702"/>
            <a:ext cx="3300804" cy="1809264"/>
          </a:xfrm>
          <a:prstGeom prst="rect">
            <a:avLst/>
          </a:prstGeom>
        </p:spPr>
      </p:pic>
      <p:pic>
        <p:nvPicPr>
          <p:cNvPr id="13" name="Picture 12">
            <a:extLst>
              <a:ext uri="{FF2B5EF4-FFF2-40B4-BE49-F238E27FC236}">
                <a16:creationId xmlns:a16="http://schemas.microsoft.com/office/drawing/2014/main" id="{0290B8E3-4E48-6B7A-6C79-A51530A8218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924185" y="3990702"/>
            <a:ext cx="3219332" cy="1809264"/>
          </a:xfrm>
          <a:prstGeom prst="rect">
            <a:avLst/>
          </a:prstGeom>
        </p:spPr>
      </p:pic>
    </p:spTree>
    <p:custDataLst>
      <p:tags r:id="rId1"/>
    </p:custDataLst>
    <p:extLst>
      <p:ext uri="{BB962C8B-B14F-4D97-AF65-F5344CB8AC3E}">
        <p14:creationId xmlns:p14="http://schemas.microsoft.com/office/powerpoint/2010/main" val="3109852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489B7-DAE2-AA27-2F3C-F4848A9BF2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44669C-FF99-98CE-408E-7E8AFBE20624}"/>
              </a:ext>
            </a:extLst>
          </p:cNvPr>
          <p:cNvSpPr>
            <a:spLocks noGrp="1"/>
          </p:cNvSpPr>
          <p:nvPr>
            <p:ph type="title"/>
          </p:nvPr>
        </p:nvSpPr>
        <p:spPr/>
        <p:txBody>
          <a:bodyPr/>
          <a:lstStyle/>
          <a:p>
            <a:r>
              <a:rPr lang="en-US" altLang="zh-CN" dirty="0"/>
              <a:t>Computing Impacts Our Life </a:t>
            </a:r>
            <a:br>
              <a:rPr lang="en-US" altLang="zh-CN" dirty="0"/>
            </a:br>
            <a:r>
              <a:rPr lang="zh-CN" altLang="en-US" dirty="0"/>
              <a:t>计算影响着我们的生活</a:t>
            </a:r>
            <a:endParaRPr lang="zh-CN" altLang="en-US" b="1" dirty="0"/>
          </a:p>
        </p:txBody>
      </p:sp>
      <p:sp>
        <p:nvSpPr>
          <p:cNvPr id="4" name="Footer Placeholder 3">
            <a:extLst>
              <a:ext uri="{FF2B5EF4-FFF2-40B4-BE49-F238E27FC236}">
                <a16:creationId xmlns:a16="http://schemas.microsoft.com/office/drawing/2014/main" id="{441DC0AE-D47B-A13C-28DC-6BB700E38E9C}"/>
              </a:ext>
            </a:extLst>
          </p:cNvPr>
          <p:cNvSpPr>
            <a:spLocks noGrp="1"/>
          </p:cNvSpPr>
          <p:nvPr>
            <p:ph type="ftr" sz="quarter" idx="10"/>
          </p:nvPr>
        </p:nvSpPr>
        <p:spPr>
          <a:xfrm>
            <a:off x="685800" y="6324600"/>
            <a:ext cx="7772400" cy="457200"/>
          </a:xfrm>
        </p:spPr>
        <p:txBody>
          <a:bodyPr/>
          <a:lstStyle/>
          <a:p>
            <a:pPr>
              <a:defRPr/>
            </a:pPr>
            <a:r>
              <a:rPr lang="en-US" altLang="zh-CN" dirty="0"/>
              <a:t>How Computing Works - Modern Paradigms of Architecture &amp; System: 1. Prologue</a:t>
            </a:r>
          </a:p>
          <a:p>
            <a:pPr>
              <a:defRPr/>
            </a:pPr>
            <a:r>
              <a:rPr lang="zh-CN" altLang="en-US" dirty="0"/>
              <a:t>计算如何运作 </a:t>
            </a:r>
            <a:r>
              <a:rPr lang="en-US" altLang="zh-CN" dirty="0"/>
              <a:t>– </a:t>
            </a:r>
            <a:r>
              <a:rPr lang="zh-CN" altLang="en-US" dirty="0"/>
              <a:t>架构与系统的现代范式：</a:t>
            </a:r>
            <a:r>
              <a:rPr lang="en-US" altLang="zh-CN" dirty="0"/>
              <a:t>1. </a:t>
            </a:r>
            <a:r>
              <a:rPr lang="zh-CN" altLang="en-US" dirty="0"/>
              <a:t>序言</a:t>
            </a:r>
            <a:endParaRPr lang="en-US" altLang="zh-CN" dirty="0"/>
          </a:p>
        </p:txBody>
      </p:sp>
      <p:pic>
        <p:nvPicPr>
          <p:cNvPr id="6" name="Picture 5">
            <a:extLst>
              <a:ext uri="{FF2B5EF4-FFF2-40B4-BE49-F238E27FC236}">
                <a16:creationId xmlns:a16="http://schemas.microsoft.com/office/drawing/2014/main" id="{9F1E45EE-1986-C613-E5F1-7C88592BE9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400" y="1893026"/>
            <a:ext cx="3604502" cy="4283529"/>
          </a:xfrm>
          <a:prstGeom prst="rect">
            <a:avLst/>
          </a:prstGeom>
        </p:spPr>
      </p:pic>
      <p:pic>
        <p:nvPicPr>
          <p:cNvPr id="8" name="Picture 7">
            <a:extLst>
              <a:ext uri="{FF2B5EF4-FFF2-40B4-BE49-F238E27FC236}">
                <a16:creationId xmlns:a16="http://schemas.microsoft.com/office/drawing/2014/main" id="{D8F8E996-9E50-7A57-C59B-652EC948CA5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12969" y="1866899"/>
            <a:ext cx="4150031" cy="4283528"/>
          </a:xfrm>
          <a:prstGeom prst="rect">
            <a:avLst/>
          </a:prstGeom>
        </p:spPr>
      </p:pic>
    </p:spTree>
    <p:custDataLst>
      <p:tags r:id="rId1"/>
    </p:custDataLst>
    <p:extLst>
      <p:ext uri="{BB962C8B-B14F-4D97-AF65-F5344CB8AC3E}">
        <p14:creationId xmlns:p14="http://schemas.microsoft.com/office/powerpoint/2010/main" val="794371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B36CD6-7976-3E22-9455-031DCC7FDE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211F35-FED9-0DCD-5FE0-ED9946174E9E}"/>
              </a:ext>
            </a:extLst>
          </p:cNvPr>
          <p:cNvSpPr>
            <a:spLocks noGrp="1"/>
          </p:cNvSpPr>
          <p:nvPr>
            <p:ph type="title"/>
          </p:nvPr>
        </p:nvSpPr>
        <p:spPr/>
        <p:txBody>
          <a:bodyPr/>
          <a:lstStyle/>
          <a:p>
            <a:r>
              <a:rPr lang="en-US" altLang="zh-CN" dirty="0"/>
              <a:t>How Does Computing Work?</a:t>
            </a:r>
            <a:br>
              <a:rPr lang="en-US" altLang="zh-CN" dirty="0"/>
            </a:br>
            <a:r>
              <a:rPr lang="zh-CN" altLang="en-US" dirty="0"/>
              <a:t>那么计算如何运作</a:t>
            </a:r>
            <a:endParaRPr lang="zh-CN" altLang="en-US" b="1" dirty="0"/>
          </a:p>
        </p:txBody>
      </p:sp>
      <p:sp>
        <p:nvSpPr>
          <p:cNvPr id="4" name="Footer Placeholder 3">
            <a:extLst>
              <a:ext uri="{FF2B5EF4-FFF2-40B4-BE49-F238E27FC236}">
                <a16:creationId xmlns:a16="http://schemas.microsoft.com/office/drawing/2014/main" id="{B0AE7A5B-9B42-947A-2389-1CBD6D9B5E9F}"/>
              </a:ext>
            </a:extLst>
          </p:cNvPr>
          <p:cNvSpPr>
            <a:spLocks noGrp="1"/>
          </p:cNvSpPr>
          <p:nvPr>
            <p:ph type="ftr" sz="quarter" idx="10"/>
          </p:nvPr>
        </p:nvSpPr>
        <p:spPr>
          <a:xfrm>
            <a:off x="685800" y="6324600"/>
            <a:ext cx="7772400" cy="457200"/>
          </a:xfrm>
        </p:spPr>
        <p:txBody>
          <a:bodyPr/>
          <a:lstStyle/>
          <a:p>
            <a:pPr>
              <a:defRPr/>
            </a:pPr>
            <a:r>
              <a:rPr lang="en-US" altLang="zh-CN" dirty="0"/>
              <a:t>How Computing Works - Modern Paradigms of Architecture &amp; System: 1. Prologue</a:t>
            </a:r>
          </a:p>
          <a:p>
            <a:pPr>
              <a:defRPr/>
            </a:pPr>
            <a:r>
              <a:rPr lang="zh-CN" altLang="en-US" dirty="0"/>
              <a:t>计算如何运作 </a:t>
            </a:r>
            <a:r>
              <a:rPr lang="en-US" altLang="zh-CN" dirty="0"/>
              <a:t>– </a:t>
            </a:r>
            <a:r>
              <a:rPr lang="zh-CN" altLang="en-US" dirty="0"/>
              <a:t>架构与系统的现代范式：</a:t>
            </a:r>
            <a:r>
              <a:rPr lang="en-US" altLang="zh-CN" dirty="0"/>
              <a:t>1. </a:t>
            </a:r>
            <a:r>
              <a:rPr lang="zh-CN" altLang="en-US" dirty="0"/>
              <a:t>序言</a:t>
            </a:r>
            <a:endParaRPr lang="en-US" altLang="zh-CN" dirty="0"/>
          </a:p>
        </p:txBody>
      </p:sp>
      <p:sp>
        <p:nvSpPr>
          <p:cNvPr id="3" name="TextBox 2">
            <a:extLst>
              <a:ext uri="{FF2B5EF4-FFF2-40B4-BE49-F238E27FC236}">
                <a16:creationId xmlns:a16="http://schemas.microsoft.com/office/drawing/2014/main" id="{F8A60D70-05AA-5B2D-B75A-145311E7850B}"/>
              </a:ext>
            </a:extLst>
          </p:cNvPr>
          <p:cNvSpPr txBox="1"/>
          <p:nvPr/>
        </p:nvSpPr>
        <p:spPr>
          <a:xfrm>
            <a:off x="533400" y="2320318"/>
            <a:ext cx="8077200" cy="954107"/>
          </a:xfrm>
          <a:prstGeom prst="rect">
            <a:avLst/>
          </a:prstGeom>
          <a:noFill/>
        </p:spPr>
        <p:txBody>
          <a:bodyPr wrap="square" rtlCol="0">
            <a:spAutoFit/>
          </a:bodyPr>
          <a:lstStyle/>
          <a:p>
            <a:pPr algn="ctr"/>
            <a:r>
              <a:rPr lang="en-US" altLang="zh-CN" sz="2800" dirty="0"/>
              <a:t>Wait … It’s the AI era</a:t>
            </a:r>
          </a:p>
          <a:p>
            <a:pPr algn="ctr"/>
            <a:r>
              <a:rPr lang="zh-CN" altLang="en-US" sz="2800" dirty="0"/>
              <a:t>等一下，我们已进入</a:t>
            </a:r>
            <a:r>
              <a:rPr lang="en-US" altLang="zh-CN" sz="2800" dirty="0"/>
              <a:t>AI</a:t>
            </a:r>
            <a:r>
              <a:rPr lang="zh-CN" altLang="en-US" sz="2800" dirty="0"/>
              <a:t>时代</a:t>
            </a:r>
          </a:p>
        </p:txBody>
      </p:sp>
      <p:sp>
        <p:nvSpPr>
          <p:cNvPr id="6" name="TextBox 5">
            <a:extLst>
              <a:ext uri="{FF2B5EF4-FFF2-40B4-BE49-F238E27FC236}">
                <a16:creationId xmlns:a16="http://schemas.microsoft.com/office/drawing/2014/main" id="{C91D1BE1-B056-A769-61DF-3A74140EC48D}"/>
              </a:ext>
            </a:extLst>
          </p:cNvPr>
          <p:cNvSpPr txBox="1"/>
          <p:nvPr/>
        </p:nvSpPr>
        <p:spPr>
          <a:xfrm>
            <a:off x="533400" y="3829077"/>
            <a:ext cx="8077200" cy="954107"/>
          </a:xfrm>
          <a:prstGeom prst="rect">
            <a:avLst/>
          </a:prstGeom>
          <a:noFill/>
        </p:spPr>
        <p:txBody>
          <a:bodyPr wrap="square" rtlCol="0">
            <a:spAutoFit/>
          </a:bodyPr>
          <a:lstStyle/>
          <a:p>
            <a:pPr algn="ctr"/>
            <a:r>
              <a:rPr lang="en-US" altLang="zh-CN" sz="2800" dirty="0"/>
              <a:t>Is the question still relevant?</a:t>
            </a:r>
          </a:p>
          <a:p>
            <a:pPr algn="ctr"/>
            <a:r>
              <a:rPr lang="zh-CN" altLang="en-US" sz="2800" dirty="0"/>
              <a:t>我还需要关心这个问题么？</a:t>
            </a:r>
          </a:p>
        </p:txBody>
      </p:sp>
    </p:spTree>
    <p:custDataLst>
      <p:tags r:id="rId1"/>
    </p:custDataLst>
    <p:extLst>
      <p:ext uri="{BB962C8B-B14F-4D97-AF65-F5344CB8AC3E}">
        <p14:creationId xmlns:p14="http://schemas.microsoft.com/office/powerpoint/2010/main" val="3136833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7726F-BB43-C31E-9303-96A9AC1EA1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F04D70-83CE-4807-2EB8-2E0A2FC371FB}"/>
              </a:ext>
            </a:extLst>
          </p:cNvPr>
          <p:cNvSpPr>
            <a:spLocks noGrp="1"/>
          </p:cNvSpPr>
          <p:nvPr>
            <p:ph type="title"/>
          </p:nvPr>
        </p:nvSpPr>
        <p:spPr/>
        <p:txBody>
          <a:bodyPr/>
          <a:lstStyle/>
          <a:p>
            <a:r>
              <a:rPr lang="en-US" altLang="zh-CN" dirty="0"/>
              <a:t>AI Programs for Us</a:t>
            </a:r>
            <a:br>
              <a:rPr lang="en-US" altLang="zh-CN" dirty="0"/>
            </a:br>
            <a:r>
              <a:rPr lang="en-US" altLang="zh-CN" dirty="0"/>
              <a:t>AI</a:t>
            </a:r>
            <a:r>
              <a:rPr lang="zh-CN" altLang="en-US" dirty="0"/>
              <a:t>为我们编程</a:t>
            </a:r>
            <a:endParaRPr lang="zh-CN" altLang="en-US" b="1" dirty="0"/>
          </a:p>
        </p:txBody>
      </p:sp>
      <p:sp>
        <p:nvSpPr>
          <p:cNvPr id="4" name="Footer Placeholder 3">
            <a:extLst>
              <a:ext uri="{FF2B5EF4-FFF2-40B4-BE49-F238E27FC236}">
                <a16:creationId xmlns:a16="http://schemas.microsoft.com/office/drawing/2014/main" id="{E75A4A7A-5F29-2BAB-C6C7-0247F03DBF8F}"/>
              </a:ext>
            </a:extLst>
          </p:cNvPr>
          <p:cNvSpPr>
            <a:spLocks noGrp="1"/>
          </p:cNvSpPr>
          <p:nvPr>
            <p:ph type="ftr" sz="quarter" idx="10"/>
          </p:nvPr>
        </p:nvSpPr>
        <p:spPr>
          <a:xfrm>
            <a:off x="685800" y="6324600"/>
            <a:ext cx="7772400" cy="457200"/>
          </a:xfrm>
        </p:spPr>
        <p:txBody>
          <a:bodyPr/>
          <a:lstStyle/>
          <a:p>
            <a:pPr>
              <a:defRPr/>
            </a:pPr>
            <a:r>
              <a:rPr lang="en-US" altLang="zh-CN" dirty="0"/>
              <a:t>How Computing Works - Modern Paradigms of Architecture &amp; System: 1. Prologue</a:t>
            </a:r>
          </a:p>
          <a:p>
            <a:pPr>
              <a:defRPr/>
            </a:pPr>
            <a:r>
              <a:rPr lang="zh-CN" altLang="en-US" dirty="0"/>
              <a:t>计算如何运作 </a:t>
            </a:r>
            <a:r>
              <a:rPr lang="en-US" altLang="zh-CN" dirty="0"/>
              <a:t>– </a:t>
            </a:r>
            <a:r>
              <a:rPr lang="zh-CN" altLang="en-US" dirty="0"/>
              <a:t>架构与系统的现代范式：</a:t>
            </a:r>
            <a:r>
              <a:rPr lang="en-US" altLang="zh-CN" dirty="0"/>
              <a:t>1. </a:t>
            </a:r>
            <a:r>
              <a:rPr lang="zh-CN" altLang="en-US" dirty="0"/>
              <a:t>序言</a:t>
            </a:r>
            <a:endParaRPr lang="en-US" altLang="zh-CN" dirty="0"/>
          </a:p>
        </p:txBody>
      </p:sp>
      <p:pic>
        <p:nvPicPr>
          <p:cNvPr id="7" name="Picture 6">
            <a:extLst>
              <a:ext uri="{FF2B5EF4-FFF2-40B4-BE49-F238E27FC236}">
                <a16:creationId xmlns:a16="http://schemas.microsoft.com/office/drawing/2014/main" id="{7A1C72B6-1C0A-49E5-7C18-F22C31947D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86025" y="1756410"/>
            <a:ext cx="4171950" cy="3120390"/>
          </a:xfrm>
          <a:prstGeom prst="rect">
            <a:avLst/>
          </a:prstGeom>
        </p:spPr>
      </p:pic>
      <p:sp>
        <p:nvSpPr>
          <p:cNvPr id="8" name="TextBox 7">
            <a:extLst>
              <a:ext uri="{FF2B5EF4-FFF2-40B4-BE49-F238E27FC236}">
                <a16:creationId xmlns:a16="http://schemas.microsoft.com/office/drawing/2014/main" id="{D27312A1-A618-3917-91CA-9DCED9BD0C1D}"/>
              </a:ext>
            </a:extLst>
          </p:cNvPr>
          <p:cNvSpPr txBox="1"/>
          <p:nvPr/>
        </p:nvSpPr>
        <p:spPr>
          <a:xfrm>
            <a:off x="533400" y="5065693"/>
            <a:ext cx="8077200" cy="954107"/>
          </a:xfrm>
          <a:prstGeom prst="rect">
            <a:avLst/>
          </a:prstGeom>
          <a:noFill/>
        </p:spPr>
        <p:txBody>
          <a:bodyPr wrap="square" rtlCol="0">
            <a:spAutoFit/>
          </a:bodyPr>
          <a:lstStyle/>
          <a:p>
            <a:pPr algn="ctr"/>
            <a:r>
              <a:rPr lang="en-US" altLang="zh-CN" sz="2800" dirty="0"/>
              <a:t>Why do we still need to learn the knowledge?</a:t>
            </a:r>
          </a:p>
          <a:p>
            <a:pPr algn="ctr"/>
            <a:r>
              <a:rPr lang="zh-CN" altLang="en-US" sz="2800" dirty="0"/>
              <a:t>为什么我们还需要学习这些知识？</a:t>
            </a:r>
          </a:p>
        </p:txBody>
      </p:sp>
    </p:spTree>
    <p:custDataLst>
      <p:tags r:id="rId1"/>
    </p:custDataLst>
    <p:extLst>
      <p:ext uri="{BB962C8B-B14F-4D97-AF65-F5344CB8AC3E}">
        <p14:creationId xmlns:p14="http://schemas.microsoft.com/office/powerpoint/2010/main" val="3618606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C8024B-A2E4-98CB-2089-341D39EB96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A66EB0-42A5-6826-4B6A-82124E746054}"/>
              </a:ext>
            </a:extLst>
          </p:cNvPr>
          <p:cNvSpPr>
            <a:spLocks noGrp="1"/>
          </p:cNvSpPr>
          <p:nvPr>
            <p:ph type="title"/>
          </p:nvPr>
        </p:nvSpPr>
        <p:spPr/>
        <p:txBody>
          <a:bodyPr/>
          <a:lstStyle/>
          <a:p>
            <a:r>
              <a:rPr lang="en-US" altLang="zh-CN" dirty="0"/>
              <a:t>What Drives Our Learning</a:t>
            </a:r>
            <a:br>
              <a:rPr lang="en-US" altLang="zh-CN" dirty="0"/>
            </a:br>
            <a:r>
              <a:rPr lang="zh-CN" altLang="en-US" dirty="0"/>
              <a:t>我们的学习由什么驱动</a:t>
            </a:r>
          </a:p>
        </p:txBody>
      </p:sp>
      <p:sp>
        <p:nvSpPr>
          <p:cNvPr id="3" name="Content Placeholder 2">
            <a:extLst>
              <a:ext uri="{FF2B5EF4-FFF2-40B4-BE49-F238E27FC236}">
                <a16:creationId xmlns:a16="http://schemas.microsoft.com/office/drawing/2014/main" id="{EBBC2DCA-09AD-B543-893F-03BB94592638}"/>
              </a:ext>
            </a:extLst>
          </p:cNvPr>
          <p:cNvSpPr>
            <a:spLocks noGrp="1"/>
          </p:cNvSpPr>
          <p:nvPr>
            <p:ph idx="1"/>
          </p:nvPr>
        </p:nvSpPr>
        <p:spPr>
          <a:xfrm>
            <a:off x="762000" y="1600200"/>
            <a:ext cx="7772400" cy="4643438"/>
          </a:xfrm>
        </p:spPr>
        <p:txBody>
          <a:bodyPr>
            <a:normAutofit lnSpcReduction="10000"/>
          </a:bodyPr>
          <a:lstStyle/>
          <a:p>
            <a:r>
              <a:rPr lang="en-US" altLang="zh-CN" dirty="0"/>
              <a:t>Interest First </a:t>
            </a:r>
            <a:r>
              <a:rPr lang="zh-CN" altLang="en-US" dirty="0"/>
              <a:t>首先是兴趣</a:t>
            </a:r>
            <a:endParaRPr lang="en-US" altLang="zh-CN" dirty="0"/>
          </a:p>
          <a:p>
            <a:pPr lvl="1"/>
            <a:r>
              <a:rPr lang="en-US" altLang="zh-CN" dirty="0"/>
              <a:t>Curiosity </a:t>
            </a:r>
            <a:r>
              <a:rPr lang="zh-CN" altLang="en-US" dirty="0"/>
              <a:t>好奇心</a:t>
            </a:r>
            <a:endParaRPr lang="en-US" altLang="zh-CN" dirty="0"/>
          </a:p>
          <a:p>
            <a:pPr lvl="1"/>
            <a:r>
              <a:rPr lang="en-US" altLang="zh-CN" dirty="0"/>
              <a:t>Joy from experiences of understanding &amp; comprehending  </a:t>
            </a:r>
            <a:r>
              <a:rPr lang="zh-CN" altLang="en-US" dirty="0"/>
              <a:t>源自于领悟过程的愉悦</a:t>
            </a:r>
            <a:endParaRPr lang="en-US" altLang="zh-CN" dirty="0"/>
          </a:p>
          <a:p>
            <a:r>
              <a:rPr lang="en-US" altLang="zh-CN" dirty="0"/>
              <a:t>Results or Utility Next </a:t>
            </a:r>
            <a:br>
              <a:rPr lang="en-US" altLang="zh-CN" dirty="0"/>
            </a:br>
            <a:r>
              <a:rPr lang="zh-CN" altLang="en-US" dirty="0"/>
              <a:t>其次才是结果和效用</a:t>
            </a:r>
            <a:r>
              <a:rPr lang="en-US" altLang="zh-CN" dirty="0"/>
              <a:t> </a:t>
            </a:r>
          </a:p>
          <a:p>
            <a:pPr lvl="1"/>
            <a:r>
              <a:rPr lang="en-US" altLang="zh-CN" dirty="0"/>
              <a:t>We don’t play video games for higher scores in schools or money in life, right?  </a:t>
            </a:r>
            <a:br>
              <a:rPr lang="en-US" altLang="zh-CN" dirty="0"/>
            </a:br>
            <a:r>
              <a:rPr lang="zh-CN" altLang="en-US" dirty="0"/>
              <a:t>我们打游戏不是为了在学校里获得高分或者在生活中获得更多的经济收益</a:t>
            </a:r>
            <a:endParaRPr lang="en-US" altLang="zh-CN" dirty="0"/>
          </a:p>
        </p:txBody>
      </p:sp>
      <p:sp>
        <p:nvSpPr>
          <p:cNvPr id="5" name="Footer Placeholder 3">
            <a:extLst>
              <a:ext uri="{FF2B5EF4-FFF2-40B4-BE49-F238E27FC236}">
                <a16:creationId xmlns:a16="http://schemas.microsoft.com/office/drawing/2014/main" id="{E3F7B00A-0D3E-BD0A-411E-D8779AED9F11}"/>
              </a:ext>
            </a:extLst>
          </p:cNvPr>
          <p:cNvSpPr>
            <a:spLocks noGrp="1"/>
          </p:cNvSpPr>
          <p:nvPr>
            <p:ph type="ftr" sz="quarter" idx="10"/>
          </p:nvPr>
        </p:nvSpPr>
        <p:spPr>
          <a:xfrm>
            <a:off x="685800" y="6324600"/>
            <a:ext cx="7772400" cy="457200"/>
          </a:xfrm>
        </p:spPr>
        <p:txBody>
          <a:bodyPr/>
          <a:lstStyle/>
          <a:p>
            <a:pPr>
              <a:defRPr/>
            </a:pPr>
            <a:r>
              <a:rPr lang="en-US" altLang="zh-CN" dirty="0"/>
              <a:t>How Computing Works - Modern Paradigms of Architecture &amp; System: 1. Prologue</a:t>
            </a:r>
          </a:p>
          <a:p>
            <a:pPr>
              <a:defRPr/>
            </a:pPr>
            <a:r>
              <a:rPr lang="zh-CN" altLang="en-US" dirty="0"/>
              <a:t>计算如何运作 </a:t>
            </a:r>
            <a:r>
              <a:rPr lang="en-US" altLang="zh-CN" dirty="0"/>
              <a:t>– </a:t>
            </a:r>
            <a:r>
              <a:rPr lang="zh-CN" altLang="en-US" dirty="0"/>
              <a:t>架构与系统的现代范式：</a:t>
            </a:r>
            <a:r>
              <a:rPr lang="en-US" altLang="zh-CN" dirty="0"/>
              <a:t>1. </a:t>
            </a:r>
            <a:r>
              <a:rPr lang="zh-CN" altLang="en-US" dirty="0"/>
              <a:t>序言</a:t>
            </a:r>
            <a:endParaRPr lang="en-US" altLang="zh-CN" dirty="0"/>
          </a:p>
        </p:txBody>
      </p:sp>
    </p:spTree>
    <p:extLst>
      <p:ext uri="{BB962C8B-B14F-4D97-AF65-F5344CB8AC3E}">
        <p14:creationId xmlns:p14="http://schemas.microsoft.com/office/powerpoint/2010/main" val="3952329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D2DDB-40EA-B4A5-B7A3-B9FA1577EC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83D2AF-8E0D-9604-58F8-6D9542A03898}"/>
              </a:ext>
            </a:extLst>
          </p:cNvPr>
          <p:cNvSpPr>
            <a:spLocks noGrp="1"/>
          </p:cNvSpPr>
          <p:nvPr>
            <p:ph type="title"/>
          </p:nvPr>
        </p:nvSpPr>
        <p:spPr/>
        <p:txBody>
          <a:bodyPr/>
          <a:lstStyle/>
          <a:p>
            <a:r>
              <a:rPr lang="en-US" altLang="zh-CN" dirty="0"/>
              <a:t>Now the Utility</a:t>
            </a:r>
            <a:br>
              <a:rPr lang="en-US" altLang="zh-CN" dirty="0"/>
            </a:br>
            <a:r>
              <a:rPr lang="zh-CN" altLang="en-US" dirty="0"/>
              <a:t>然后我们来讨论效用</a:t>
            </a:r>
          </a:p>
        </p:txBody>
      </p:sp>
      <p:sp>
        <p:nvSpPr>
          <p:cNvPr id="5" name="Footer Placeholder 3">
            <a:extLst>
              <a:ext uri="{FF2B5EF4-FFF2-40B4-BE49-F238E27FC236}">
                <a16:creationId xmlns:a16="http://schemas.microsoft.com/office/drawing/2014/main" id="{F87814AF-71A6-B693-BCCF-4C4FBDAC1828}"/>
              </a:ext>
            </a:extLst>
          </p:cNvPr>
          <p:cNvSpPr>
            <a:spLocks noGrp="1"/>
          </p:cNvSpPr>
          <p:nvPr>
            <p:ph type="ftr" sz="quarter" idx="10"/>
          </p:nvPr>
        </p:nvSpPr>
        <p:spPr>
          <a:xfrm>
            <a:off x="685800" y="6324600"/>
            <a:ext cx="7772400" cy="457200"/>
          </a:xfrm>
        </p:spPr>
        <p:txBody>
          <a:bodyPr/>
          <a:lstStyle/>
          <a:p>
            <a:pPr>
              <a:defRPr/>
            </a:pPr>
            <a:r>
              <a:rPr lang="en-US" altLang="zh-CN" dirty="0"/>
              <a:t>How Computing Works - Modern Paradigms of Architecture &amp; System: 1. Prologue</a:t>
            </a:r>
          </a:p>
          <a:p>
            <a:pPr>
              <a:defRPr/>
            </a:pPr>
            <a:r>
              <a:rPr lang="zh-CN" altLang="en-US" dirty="0"/>
              <a:t>计算如何运作 </a:t>
            </a:r>
            <a:r>
              <a:rPr lang="en-US" altLang="zh-CN" dirty="0"/>
              <a:t>– </a:t>
            </a:r>
            <a:r>
              <a:rPr lang="zh-CN" altLang="en-US" dirty="0"/>
              <a:t>架构与系统的现代范式：</a:t>
            </a:r>
            <a:r>
              <a:rPr lang="en-US" altLang="zh-CN" dirty="0"/>
              <a:t>1. </a:t>
            </a:r>
            <a:r>
              <a:rPr lang="zh-CN" altLang="en-US" dirty="0"/>
              <a:t>序言</a:t>
            </a:r>
            <a:endParaRPr lang="en-US" altLang="zh-CN" dirty="0"/>
          </a:p>
        </p:txBody>
      </p:sp>
      <p:sp>
        <p:nvSpPr>
          <p:cNvPr id="8" name="TextBox 7">
            <a:extLst>
              <a:ext uri="{FF2B5EF4-FFF2-40B4-BE49-F238E27FC236}">
                <a16:creationId xmlns:a16="http://schemas.microsoft.com/office/drawing/2014/main" id="{59ED0187-137D-D087-B9B8-04C07506156E}"/>
              </a:ext>
            </a:extLst>
          </p:cNvPr>
          <p:cNvSpPr txBox="1"/>
          <p:nvPr/>
        </p:nvSpPr>
        <p:spPr>
          <a:xfrm>
            <a:off x="533400" y="5294293"/>
            <a:ext cx="8077200" cy="954107"/>
          </a:xfrm>
          <a:prstGeom prst="rect">
            <a:avLst/>
          </a:prstGeom>
          <a:noFill/>
        </p:spPr>
        <p:txBody>
          <a:bodyPr wrap="square" rtlCol="0">
            <a:spAutoFit/>
          </a:bodyPr>
          <a:lstStyle/>
          <a:p>
            <a:pPr algn="ctr"/>
            <a:r>
              <a:rPr lang="en-US" altLang="zh-CN" sz="2800" dirty="0"/>
              <a:t>We interact w/ AI to write programs</a:t>
            </a:r>
          </a:p>
          <a:p>
            <a:pPr algn="ctr"/>
            <a:r>
              <a:rPr lang="zh-CN" altLang="en-US" sz="2800" dirty="0"/>
              <a:t>我们和</a:t>
            </a:r>
            <a:r>
              <a:rPr lang="en-US" altLang="zh-CN" sz="2800" dirty="0"/>
              <a:t>AI</a:t>
            </a:r>
            <a:r>
              <a:rPr lang="zh-CN" altLang="en-US" sz="2800" dirty="0"/>
              <a:t>在交互中编程</a:t>
            </a:r>
          </a:p>
        </p:txBody>
      </p:sp>
      <p:pic>
        <p:nvPicPr>
          <p:cNvPr id="10" name="Picture 9">
            <a:extLst>
              <a:ext uri="{FF2B5EF4-FFF2-40B4-BE49-F238E27FC236}">
                <a16:creationId xmlns:a16="http://schemas.microsoft.com/office/drawing/2014/main" id="{B9B933D1-DF46-C11E-516B-496F5A38BB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45920" y="1772615"/>
            <a:ext cx="5852160" cy="3194685"/>
          </a:xfrm>
          <a:prstGeom prst="rect">
            <a:avLst/>
          </a:prstGeom>
        </p:spPr>
      </p:pic>
    </p:spTree>
    <p:extLst>
      <p:ext uri="{BB962C8B-B14F-4D97-AF65-F5344CB8AC3E}">
        <p14:creationId xmlns:p14="http://schemas.microsoft.com/office/powerpoint/2010/main" val="3034888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93AB89-DE9A-DA84-30CE-4A3E35A959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030636-8805-CA99-E660-D2CB23DC0D3E}"/>
              </a:ext>
            </a:extLst>
          </p:cNvPr>
          <p:cNvSpPr>
            <a:spLocks noGrp="1"/>
          </p:cNvSpPr>
          <p:nvPr>
            <p:ph type="title"/>
          </p:nvPr>
        </p:nvSpPr>
        <p:spPr/>
        <p:txBody>
          <a:bodyPr/>
          <a:lstStyle/>
          <a:p>
            <a:r>
              <a:rPr lang="en-US" altLang="zh-CN" dirty="0"/>
              <a:t>The Interaction  </a:t>
            </a:r>
            <a:r>
              <a:rPr lang="zh-CN" altLang="en-US" dirty="0"/>
              <a:t>这种交互</a:t>
            </a:r>
          </a:p>
        </p:txBody>
      </p:sp>
      <p:sp>
        <p:nvSpPr>
          <p:cNvPr id="3" name="Content Placeholder 2">
            <a:extLst>
              <a:ext uri="{FF2B5EF4-FFF2-40B4-BE49-F238E27FC236}">
                <a16:creationId xmlns:a16="http://schemas.microsoft.com/office/drawing/2014/main" id="{920D7B30-9C47-03AF-A249-E231FD94354D}"/>
              </a:ext>
            </a:extLst>
          </p:cNvPr>
          <p:cNvSpPr>
            <a:spLocks noGrp="1"/>
          </p:cNvSpPr>
          <p:nvPr>
            <p:ph idx="1"/>
          </p:nvPr>
        </p:nvSpPr>
        <p:spPr>
          <a:xfrm>
            <a:off x="762000" y="1600200"/>
            <a:ext cx="7772400" cy="4643438"/>
          </a:xfrm>
        </p:spPr>
        <p:txBody>
          <a:bodyPr>
            <a:normAutofit/>
          </a:bodyPr>
          <a:lstStyle/>
          <a:p>
            <a:r>
              <a:rPr lang="en-US" altLang="zh-CN" dirty="0"/>
              <a:t>Define the Problem to Solve </a:t>
            </a:r>
            <a:br>
              <a:rPr lang="en-US" altLang="zh-CN" dirty="0"/>
            </a:br>
            <a:r>
              <a:rPr lang="zh-CN" altLang="en-US" dirty="0"/>
              <a:t>定义要解决的问题</a:t>
            </a:r>
            <a:endParaRPr lang="en-US" altLang="zh-CN" dirty="0"/>
          </a:p>
          <a:p>
            <a:r>
              <a:rPr lang="en-US" altLang="zh-CN" dirty="0"/>
              <a:t>Discuss the Potential Solutions </a:t>
            </a:r>
            <a:br>
              <a:rPr lang="en-US" altLang="zh-CN" dirty="0"/>
            </a:br>
            <a:r>
              <a:rPr lang="zh-CN" altLang="en-US" dirty="0"/>
              <a:t>讨论潜在的解决方案</a:t>
            </a:r>
            <a:r>
              <a:rPr lang="en-US" altLang="zh-CN" dirty="0"/>
              <a:t> </a:t>
            </a:r>
          </a:p>
          <a:p>
            <a:r>
              <a:rPr lang="en-US" altLang="zh-CN" dirty="0"/>
              <a:t>Sometimes Make Critical Decisions</a:t>
            </a:r>
            <a:br>
              <a:rPr lang="en-US" altLang="zh-CN" dirty="0"/>
            </a:br>
            <a:r>
              <a:rPr lang="zh-CN" altLang="en-US" dirty="0"/>
              <a:t>有时作出关键的决定</a:t>
            </a:r>
            <a:r>
              <a:rPr lang="en-US" altLang="zh-CN" dirty="0"/>
              <a:t> </a:t>
            </a:r>
          </a:p>
          <a:p>
            <a:endParaRPr lang="en-US" altLang="zh-CN" dirty="0"/>
          </a:p>
        </p:txBody>
      </p:sp>
      <p:sp>
        <p:nvSpPr>
          <p:cNvPr id="5" name="Footer Placeholder 3">
            <a:extLst>
              <a:ext uri="{FF2B5EF4-FFF2-40B4-BE49-F238E27FC236}">
                <a16:creationId xmlns:a16="http://schemas.microsoft.com/office/drawing/2014/main" id="{2DC44FE5-6AF5-96C9-364A-A86004F37196}"/>
              </a:ext>
            </a:extLst>
          </p:cNvPr>
          <p:cNvSpPr>
            <a:spLocks noGrp="1"/>
          </p:cNvSpPr>
          <p:nvPr>
            <p:ph type="ftr" sz="quarter" idx="10"/>
          </p:nvPr>
        </p:nvSpPr>
        <p:spPr>
          <a:xfrm>
            <a:off x="685800" y="6324600"/>
            <a:ext cx="7772400" cy="457200"/>
          </a:xfrm>
        </p:spPr>
        <p:txBody>
          <a:bodyPr/>
          <a:lstStyle/>
          <a:p>
            <a:pPr>
              <a:defRPr/>
            </a:pPr>
            <a:r>
              <a:rPr lang="en-US" altLang="zh-CN" dirty="0"/>
              <a:t>How Computing Works - Modern Paradigms of Architecture &amp; System: 1. Prologue</a:t>
            </a:r>
          </a:p>
          <a:p>
            <a:pPr>
              <a:defRPr/>
            </a:pPr>
            <a:r>
              <a:rPr lang="zh-CN" altLang="en-US" dirty="0"/>
              <a:t>计算如何运作 </a:t>
            </a:r>
            <a:r>
              <a:rPr lang="en-US" altLang="zh-CN" dirty="0"/>
              <a:t>– </a:t>
            </a:r>
            <a:r>
              <a:rPr lang="zh-CN" altLang="en-US" dirty="0"/>
              <a:t>架构与系统的现代范式：</a:t>
            </a:r>
            <a:r>
              <a:rPr lang="en-US" altLang="zh-CN" dirty="0"/>
              <a:t>1. </a:t>
            </a:r>
            <a:r>
              <a:rPr lang="zh-CN" altLang="en-US" dirty="0"/>
              <a:t>序言</a:t>
            </a:r>
            <a:endParaRPr lang="en-US" altLang="zh-CN" dirty="0"/>
          </a:p>
        </p:txBody>
      </p:sp>
      <p:sp>
        <p:nvSpPr>
          <p:cNvPr id="4" name="TextBox 3">
            <a:extLst>
              <a:ext uri="{FF2B5EF4-FFF2-40B4-BE49-F238E27FC236}">
                <a16:creationId xmlns:a16="http://schemas.microsoft.com/office/drawing/2014/main" id="{92050F8F-D361-4114-83ED-687F60C1BB79}"/>
              </a:ext>
            </a:extLst>
          </p:cNvPr>
          <p:cNvSpPr txBox="1"/>
          <p:nvPr/>
        </p:nvSpPr>
        <p:spPr>
          <a:xfrm>
            <a:off x="342900" y="5296062"/>
            <a:ext cx="8458200" cy="954107"/>
          </a:xfrm>
          <a:prstGeom prst="rect">
            <a:avLst/>
          </a:prstGeom>
          <a:noFill/>
        </p:spPr>
        <p:txBody>
          <a:bodyPr wrap="square" rtlCol="0">
            <a:spAutoFit/>
          </a:bodyPr>
          <a:lstStyle/>
          <a:p>
            <a:pPr algn="ctr"/>
            <a:r>
              <a:rPr lang="en-US" altLang="zh-CN" sz="2800" dirty="0"/>
              <a:t>We still need the right knowledge to collaborate</a:t>
            </a:r>
          </a:p>
          <a:p>
            <a:pPr algn="ctr"/>
            <a:r>
              <a:rPr lang="zh-CN" altLang="en-US" sz="2800" dirty="0"/>
              <a:t>我们依然需要合适的知识方能有效协作</a:t>
            </a:r>
          </a:p>
        </p:txBody>
      </p:sp>
    </p:spTree>
    <p:extLst>
      <p:ext uri="{BB962C8B-B14F-4D97-AF65-F5344CB8AC3E}">
        <p14:creationId xmlns:p14="http://schemas.microsoft.com/office/powerpoint/2010/main" val="2147920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80593D-F5EC-C605-4EDF-AF0A6C8287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DF1E44-6DAB-E05C-F265-E0F4AD3416C0}"/>
              </a:ext>
            </a:extLst>
          </p:cNvPr>
          <p:cNvSpPr>
            <a:spLocks noGrp="1"/>
          </p:cNvSpPr>
          <p:nvPr>
            <p:ph type="title"/>
          </p:nvPr>
        </p:nvSpPr>
        <p:spPr/>
        <p:txBody>
          <a:bodyPr/>
          <a:lstStyle/>
          <a:p>
            <a:r>
              <a:rPr lang="en-US" altLang="zh-CN" dirty="0"/>
              <a:t>Why Important  </a:t>
            </a:r>
            <a:r>
              <a:rPr lang="zh-CN" altLang="en-US" dirty="0"/>
              <a:t>为什么重要</a:t>
            </a:r>
          </a:p>
        </p:txBody>
      </p:sp>
      <p:sp>
        <p:nvSpPr>
          <p:cNvPr id="3" name="Content Placeholder 2">
            <a:extLst>
              <a:ext uri="{FF2B5EF4-FFF2-40B4-BE49-F238E27FC236}">
                <a16:creationId xmlns:a16="http://schemas.microsoft.com/office/drawing/2014/main" id="{9D729D89-C4F5-CB4C-9B8B-073D96BC7894}"/>
              </a:ext>
            </a:extLst>
          </p:cNvPr>
          <p:cNvSpPr>
            <a:spLocks noGrp="1"/>
          </p:cNvSpPr>
          <p:nvPr>
            <p:ph idx="1"/>
          </p:nvPr>
        </p:nvSpPr>
        <p:spPr>
          <a:xfrm>
            <a:off x="762000" y="1600200"/>
            <a:ext cx="8001000" cy="4643438"/>
          </a:xfrm>
        </p:spPr>
        <p:txBody>
          <a:bodyPr>
            <a:normAutofit/>
          </a:bodyPr>
          <a:lstStyle/>
          <a:p>
            <a:r>
              <a:rPr lang="en-US" altLang="zh-CN" dirty="0"/>
              <a:t>AI, Especially Large Language Models  AI</a:t>
            </a:r>
            <a:r>
              <a:rPr lang="zh-CN" altLang="en-US" dirty="0"/>
              <a:t>、尤其是大规模语言模型</a:t>
            </a:r>
            <a:endParaRPr lang="en-US" altLang="zh-CN" dirty="0"/>
          </a:p>
          <a:p>
            <a:pPr lvl="1"/>
            <a:r>
              <a:rPr lang="en-US" altLang="zh-CN" dirty="0"/>
              <a:t>Still having limitations in coding today  </a:t>
            </a:r>
            <a:br>
              <a:rPr lang="en-US" altLang="zh-CN" dirty="0"/>
            </a:br>
            <a:r>
              <a:rPr lang="zh-CN" altLang="en-US" dirty="0"/>
              <a:t>目前在编程中仍有局限</a:t>
            </a:r>
            <a:r>
              <a:rPr lang="en-US" altLang="zh-CN" dirty="0"/>
              <a:t>  </a:t>
            </a:r>
          </a:p>
          <a:p>
            <a:r>
              <a:rPr lang="en-US" altLang="zh-CN" dirty="0"/>
              <a:t>Right Knowledge Required  </a:t>
            </a:r>
            <a:br>
              <a:rPr lang="en-US" altLang="zh-CN" dirty="0"/>
            </a:br>
            <a:r>
              <a:rPr lang="zh-CN" altLang="en-US" dirty="0"/>
              <a:t>需要合适的知识</a:t>
            </a:r>
            <a:r>
              <a:rPr lang="en-US" altLang="zh-CN" dirty="0"/>
              <a:t> </a:t>
            </a:r>
          </a:p>
          <a:p>
            <a:pPr lvl="1"/>
            <a:r>
              <a:rPr lang="en-US" altLang="zh-CN" dirty="0"/>
              <a:t>Ask right question  </a:t>
            </a:r>
            <a:r>
              <a:rPr lang="zh-CN" altLang="en-US"/>
              <a:t>提出正确的问题</a:t>
            </a:r>
            <a:endParaRPr lang="en-US" altLang="zh-CN" dirty="0"/>
          </a:p>
          <a:p>
            <a:pPr lvl="1"/>
            <a:r>
              <a:rPr lang="en-US" altLang="zh-CN" dirty="0"/>
              <a:t>Identify blind-spots  </a:t>
            </a:r>
            <a:r>
              <a:rPr lang="zh-CN" altLang="en-US" dirty="0"/>
              <a:t>发现盲点</a:t>
            </a:r>
            <a:endParaRPr lang="en-US" altLang="zh-CN" dirty="0"/>
          </a:p>
          <a:p>
            <a:pPr lvl="1"/>
            <a:r>
              <a:rPr lang="en-US" altLang="zh-CN" dirty="0"/>
              <a:t>Judge &amp; correct mistakes  </a:t>
            </a:r>
            <a:r>
              <a:rPr lang="zh-CN" altLang="en-US" dirty="0"/>
              <a:t>判断并纠正错误</a:t>
            </a:r>
            <a:r>
              <a:rPr lang="en-US" altLang="zh-CN" dirty="0"/>
              <a:t> </a:t>
            </a:r>
          </a:p>
          <a:p>
            <a:endParaRPr lang="en-US" altLang="zh-CN" dirty="0"/>
          </a:p>
        </p:txBody>
      </p:sp>
      <p:sp>
        <p:nvSpPr>
          <p:cNvPr id="5" name="Footer Placeholder 3">
            <a:extLst>
              <a:ext uri="{FF2B5EF4-FFF2-40B4-BE49-F238E27FC236}">
                <a16:creationId xmlns:a16="http://schemas.microsoft.com/office/drawing/2014/main" id="{9BAFF342-CC5C-F2C5-FF6D-1A24A06A56E9}"/>
              </a:ext>
            </a:extLst>
          </p:cNvPr>
          <p:cNvSpPr>
            <a:spLocks noGrp="1"/>
          </p:cNvSpPr>
          <p:nvPr>
            <p:ph type="ftr" sz="quarter" idx="10"/>
          </p:nvPr>
        </p:nvSpPr>
        <p:spPr>
          <a:xfrm>
            <a:off x="685800" y="6324600"/>
            <a:ext cx="7772400" cy="457200"/>
          </a:xfrm>
        </p:spPr>
        <p:txBody>
          <a:bodyPr/>
          <a:lstStyle/>
          <a:p>
            <a:pPr>
              <a:defRPr/>
            </a:pPr>
            <a:r>
              <a:rPr lang="en-US" altLang="zh-CN" dirty="0"/>
              <a:t>How Computing Works - Modern Paradigms of Architecture &amp; System: 1. Prologue</a:t>
            </a:r>
          </a:p>
          <a:p>
            <a:pPr>
              <a:defRPr/>
            </a:pPr>
            <a:r>
              <a:rPr lang="zh-CN" altLang="en-US" dirty="0"/>
              <a:t>计算如何运作 </a:t>
            </a:r>
            <a:r>
              <a:rPr lang="en-US" altLang="zh-CN" dirty="0"/>
              <a:t>– </a:t>
            </a:r>
            <a:r>
              <a:rPr lang="zh-CN" altLang="en-US" dirty="0"/>
              <a:t>架构与系统的现代范式：</a:t>
            </a:r>
            <a:r>
              <a:rPr lang="en-US" altLang="zh-CN" dirty="0"/>
              <a:t>1. </a:t>
            </a:r>
            <a:r>
              <a:rPr lang="zh-CN" altLang="en-US" dirty="0"/>
              <a:t>序言</a:t>
            </a:r>
            <a:endParaRPr lang="en-US" altLang="zh-CN" dirty="0"/>
          </a:p>
        </p:txBody>
      </p:sp>
    </p:spTree>
    <p:extLst>
      <p:ext uri="{BB962C8B-B14F-4D97-AF65-F5344CB8AC3E}">
        <p14:creationId xmlns:p14="http://schemas.microsoft.com/office/powerpoint/2010/main" val="137586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2AB65-B2CE-1045-43EB-58B184067718}"/>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C74E0BB1-2C5C-6016-8382-21391E0B84FB}"/>
              </a:ext>
            </a:extLst>
          </p:cNvPr>
          <p:cNvSpPr txBox="1"/>
          <p:nvPr/>
        </p:nvSpPr>
        <p:spPr>
          <a:xfrm>
            <a:off x="2590800" y="2047220"/>
            <a:ext cx="4038600" cy="4048780"/>
          </a:xfrm>
          <a:prstGeom prst="rect">
            <a:avLst/>
          </a:prstGeom>
          <a:solidFill>
            <a:schemeClr val="bg1">
              <a:lumMod val="85000"/>
            </a:schemeClr>
          </a:solidFill>
          <a:ln>
            <a:solidFill>
              <a:schemeClr val="tx1"/>
            </a:solidFill>
            <a:prstDash val="dash"/>
          </a:ln>
        </p:spPr>
        <p:txBody>
          <a:bodyPr wrap="square" rtlCol="0">
            <a:noAutofit/>
          </a:bodyPr>
          <a:lstStyle/>
          <a:p>
            <a:pPr algn="ctr"/>
            <a:endParaRPr lang="en-US" sz="2000" dirty="0"/>
          </a:p>
        </p:txBody>
      </p:sp>
      <p:sp>
        <p:nvSpPr>
          <p:cNvPr id="14" name="TextBox 13">
            <a:extLst>
              <a:ext uri="{FF2B5EF4-FFF2-40B4-BE49-F238E27FC236}">
                <a16:creationId xmlns:a16="http://schemas.microsoft.com/office/drawing/2014/main" id="{819ABB8A-07DF-D5B7-F466-7CBEF839B893}"/>
              </a:ext>
            </a:extLst>
          </p:cNvPr>
          <p:cNvSpPr txBox="1"/>
          <p:nvPr/>
        </p:nvSpPr>
        <p:spPr>
          <a:xfrm>
            <a:off x="2743200" y="2209800"/>
            <a:ext cx="3733800" cy="2448580"/>
          </a:xfrm>
          <a:prstGeom prst="rect">
            <a:avLst/>
          </a:prstGeom>
          <a:solidFill>
            <a:schemeClr val="tx2">
              <a:lumMod val="20000"/>
              <a:lumOff val="80000"/>
            </a:schemeClr>
          </a:solidFill>
          <a:ln>
            <a:solidFill>
              <a:schemeClr val="tx1"/>
            </a:solidFill>
            <a:prstDash val="dash"/>
          </a:ln>
        </p:spPr>
        <p:txBody>
          <a:bodyPr wrap="square" rtlCol="0">
            <a:noAutofit/>
          </a:bodyPr>
          <a:lstStyle/>
          <a:p>
            <a:pPr algn="ctr"/>
            <a:r>
              <a:rPr lang="en-US" sz="2000" dirty="0"/>
              <a:t>Central processing unit (CPU)</a:t>
            </a:r>
          </a:p>
          <a:p>
            <a:pPr algn="ctr"/>
            <a:r>
              <a:rPr lang="zh-CN" altLang="en-US" sz="2000" dirty="0"/>
              <a:t>中央处理器</a:t>
            </a:r>
            <a:endParaRPr lang="en-US" sz="2000" dirty="0"/>
          </a:p>
        </p:txBody>
      </p:sp>
      <p:sp>
        <p:nvSpPr>
          <p:cNvPr id="2" name="Title 1">
            <a:extLst>
              <a:ext uri="{FF2B5EF4-FFF2-40B4-BE49-F238E27FC236}">
                <a16:creationId xmlns:a16="http://schemas.microsoft.com/office/drawing/2014/main" id="{D6AA3CD6-F76B-A5F1-A4C9-36452AB8D4D1}"/>
              </a:ext>
            </a:extLst>
          </p:cNvPr>
          <p:cNvSpPr>
            <a:spLocks noGrp="1"/>
          </p:cNvSpPr>
          <p:nvPr>
            <p:ph type="title"/>
          </p:nvPr>
        </p:nvSpPr>
        <p:spPr>
          <a:xfrm>
            <a:off x="1122363" y="457200"/>
            <a:ext cx="8021637" cy="914400"/>
          </a:xfrm>
        </p:spPr>
        <p:txBody>
          <a:bodyPr/>
          <a:lstStyle/>
          <a:p>
            <a:r>
              <a:rPr lang="en-US" altLang="zh-CN" dirty="0"/>
              <a:t>Classical Knowledge  </a:t>
            </a:r>
            <a:r>
              <a:rPr lang="zh-CN" altLang="en-US" dirty="0"/>
              <a:t>经典知识 </a:t>
            </a:r>
            <a:r>
              <a:rPr lang="en-US" altLang="zh-CN" dirty="0"/>
              <a:t>(1)</a:t>
            </a:r>
            <a:endParaRPr lang="zh-CN" altLang="en-US" dirty="0"/>
          </a:p>
        </p:txBody>
      </p:sp>
      <p:sp>
        <p:nvSpPr>
          <p:cNvPr id="5" name="Footer Placeholder 3">
            <a:extLst>
              <a:ext uri="{FF2B5EF4-FFF2-40B4-BE49-F238E27FC236}">
                <a16:creationId xmlns:a16="http://schemas.microsoft.com/office/drawing/2014/main" id="{2458EA7F-571C-8BA0-2575-867514A40C74}"/>
              </a:ext>
            </a:extLst>
          </p:cNvPr>
          <p:cNvSpPr>
            <a:spLocks noGrp="1"/>
          </p:cNvSpPr>
          <p:nvPr>
            <p:ph type="ftr" sz="quarter" idx="10"/>
          </p:nvPr>
        </p:nvSpPr>
        <p:spPr>
          <a:xfrm>
            <a:off x="685800" y="6324600"/>
            <a:ext cx="7772400" cy="457200"/>
          </a:xfrm>
        </p:spPr>
        <p:txBody>
          <a:bodyPr/>
          <a:lstStyle/>
          <a:p>
            <a:pPr>
              <a:defRPr/>
            </a:pPr>
            <a:r>
              <a:rPr lang="en-US" altLang="zh-CN" dirty="0"/>
              <a:t>How Computing Works - Modern Paradigms of Architecture &amp; System: 1. Prologue</a:t>
            </a:r>
          </a:p>
          <a:p>
            <a:pPr>
              <a:defRPr/>
            </a:pPr>
            <a:r>
              <a:rPr lang="zh-CN" altLang="en-US" dirty="0"/>
              <a:t>计算如何运作 </a:t>
            </a:r>
            <a:r>
              <a:rPr lang="en-US" altLang="zh-CN" dirty="0"/>
              <a:t>– </a:t>
            </a:r>
            <a:r>
              <a:rPr lang="zh-CN" altLang="en-US" dirty="0"/>
              <a:t>架构与系统的现代范式：</a:t>
            </a:r>
            <a:r>
              <a:rPr lang="en-US" altLang="zh-CN" dirty="0"/>
              <a:t>1. </a:t>
            </a:r>
            <a:r>
              <a:rPr lang="zh-CN" altLang="en-US" dirty="0"/>
              <a:t>序言</a:t>
            </a:r>
            <a:endParaRPr lang="en-US" altLang="zh-CN" dirty="0"/>
          </a:p>
        </p:txBody>
      </p:sp>
      <p:sp>
        <p:nvSpPr>
          <p:cNvPr id="10" name="TextBox 9">
            <a:extLst>
              <a:ext uri="{FF2B5EF4-FFF2-40B4-BE49-F238E27FC236}">
                <a16:creationId xmlns:a16="http://schemas.microsoft.com/office/drawing/2014/main" id="{C140A4E8-F6F3-B243-C9DC-9D42CFA9B751}"/>
              </a:ext>
            </a:extLst>
          </p:cNvPr>
          <p:cNvSpPr txBox="1"/>
          <p:nvPr/>
        </p:nvSpPr>
        <p:spPr>
          <a:xfrm>
            <a:off x="533400" y="1524000"/>
            <a:ext cx="8077200" cy="523220"/>
          </a:xfrm>
          <a:prstGeom prst="rect">
            <a:avLst/>
          </a:prstGeom>
          <a:noFill/>
        </p:spPr>
        <p:txBody>
          <a:bodyPr wrap="square" rtlCol="0">
            <a:spAutoFit/>
          </a:bodyPr>
          <a:lstStyle/>
          <a:p>
            <a:pPr algn="ctr"/>
            <a:r>
              <a:rPr lang="en-US" altLang="zh-CN" sz="2800" dirty="0"/>
              <a:t>Von Neumann Architecture  </a:t>
            </a:r>
            <a:r>
              <a:rPr lang="zh-CN" altLang="en-US" sz="2800" dirty="0"/>
              <a:t>冯诺伊曼架构</a:t>
            </a:r>
          </a:p>
        </p:txBody>
      </p:sp>
      <p:sp>
        <p:nvSpPr>
          <p:cNvPr id="4" name="TextBox 3">
            <a:extLst>
              <a:ext uri="{FF2B5EF4-FFF2-40B4-BE49-F238E27FC236}">
                <a16:creationId xmlns:a16="http://schemas.microsoft.com/office/drawing/2014/main" id="{0785E7CE-9AEC-8BB9-31AB-AD2E1A21E524}"/>
              </a:ext>
            </a:extLst>
          </p:cNvPr>
          <p:cNvSpPr txBox="1"/>
          <p:nvPr/>
        </p:nvSpPr>
        <p:spPr>
          <a:xfrm>
            <a:off x="2857500" y="2949714"/>
            <a:ext cx="3530237" cy="707886"/>
          </a:xfrm>
          <a:prstGeom prst="rect">
            <a:avLst/>
          </a:prstGeom>
          <a:solidFill>
            <a:schemeClr val="accent1"/>
          </a:solidFill>
          <a:ln>
            <a:solidFill>
              <a:schemeClr val="tx1"/>
            </a:solidFill>
          </a:ln>
        </p:spPr>
        <p:txBody>
          <a:bodyPr wrap="square" rtlCol="0">
            <a:spAutoFit/>
          </a:bodyPr>
          <a:lstStyle/>
          <a:p>
            <a:pPr algn="ctr"/>
            <a:r>
              <a:rPr lang="en-US" altLang="zh-CN" sz="2000" dirty="0"/>
              <a:t>Control unit</a:t>
            </a:r>
          </a:p>
          <a:p>
            <a:pPr algn="ctr"/>
            <a:r>
              <a:rPr lang="zh-CN" altLang="en-US" sz="2000" dirty="0"/>
              <a:t>控制器</a:t>
            </a:r>
            <a:endParaRPr lang="en-US" sz="2000" dirty="0"/>
          </a:p>
        </p:txBody>
      </p:sp>
      <p:sp>
        <p:nvSpPr>
          <p:cNvPr id="6" name="TextBox 5">
            <a:extLst>
              <a:ext uri="{FF2B5EF4-FFF2-40B4-BE49-F238E27FC236}">
                <a16:creationId xmlns:a16="http://schemas.microsoft.com/office/drawing/2014/main" id="{0D52866F-90AF-8DE4-7049-890351B1ABAC}"/>
              </a:ext>
            </a:extLst>
          </p:cNvPr>
          <p:cNvSpPr txBox="1"/>
          <p:nvPr/>
        </p:nvSpPr>
        <p:spPr>
          <a:xfrm>
            <a:off x="2857500" y="3778411"/>
            <a:ext cx="3517174" cy="707886"/>
          </a:xfrm>
          <a:prstGeom prst="rect">
            <a:avLst/>
          </a:prstGeom>
          <a:solidFill>
            <a:schemeClr val="accent1"/>
          </a:solidFill>
          <a:ln>
            <a:solidFill>
              <a:schemeClr val="tx1"/>
            </a:solidFill>
          </a:ln>
        </p:spPr>
        <p:txBody>
          <a:bodyPr wrap="square" rtlCol="0">
            <a:spAutoFit/>
          </a:bodyPr>
          <a:lstStyle/>
          <a:p>
            <a:pPr algn="ctr"/>
            <a:r>
              <a:rPr lang="en-US" altLang="zh-CN" sz="2000" dirty="0"/>
              <a:t>Arithmetic/logic unit (ALU)</a:t>
            </a:r>
          </a:p>
          <a:p>
            <a:pPr algn="ctr"/>
            <a:r>
              <a:rPr lang="zh-CN" altLang="en-US" sz="2000" dirty="0"/>
              <a:t>算术逻辑运算器</a:t>
            </a:r>
            <a:endParaRPr lang="en-US" sz="2000" dirty="0"/>
          </a:p>
        </p:txBody>
      </p:sp>
      <p:sp>
        <p:nvSpPr>
          <p:cNvPr id="8" name="TextBox 7">
            <a:extLst>
              <a:ext uri="{FF2B5EF4-FFF2-40B4-BE49-F238E27FC236}">
                <a16:creationId xmlns:a16="http://schemas.microsoft.com/office/drawing/2014/main" id="{5E673539-A7B2-1425-49B7-C538DB3E0055}"/>
              </a:ext>
            </a:extLst>
          </p:cNvPr>
          <p:cNvSpPr txBox="1"/>
          <p:nvPr/>
        </p:nvSpPr>
        <p:spPr>
          <a:xfrm>
            <a:off x="3257550" y="5164192"/>
            <a:ext cx="2705100" cy="707886"/>
          </a:xfrm>
          <a:prstGeom prst="rect">
            <a:avLst/>
          </a:prstGeom>
          <a:solidFill>
            <a:schemeClr val="accent1"/>
          </a:solidFill>
          <a:ln>
            <a:solidFill>
              <a:schemeClr val="tx1"/>
            </a:solidFill>
          </a:ln>
        </p:spPr>
        <p:txBody>
          <a:bodyPr wrap="square" rtlCol="0">
            <a:spAutoFit/>
          </a:bodyPr>
          <a:lstStyle/>
          <a:p>
            <a:pPr algn="ctr"/>
            <a:r>
              <a:rPr lang="en-US" altLang="zh-CN" sz="2000" dirty="0"/>
              <a:t>Memory unit</a:t>
            </a:r>
          </a:p>
          <a:p>
            <a:pPr algn="ctr"/>
            <a:r>
              <a:rPr lang="zh-CN" altLang="en-US" sz="2000" dirty="0"/>
              <a:t>存储器</a:t>
            </a:r>
            <a:endParaRPr lang="en-US" sz="2000" dirty="0"/>
          </a:p>
        </p:txBody>
      </p:sp>
      <p:cxnSp>
        <p:nvCxnSpPr>
          <p:cNvPr id="16" name="Straight Arrow Connector 15">
            <a:extLst>
              <a:ext uri="{FF2B5EF4-FFF2-40B4-BE49-F238E27FC236}">
                <a16:creationId xmlns:a16="http://schemas.microsoft.com/office/drawing/2014/main" id="{C650E53E-3BEE-F517-92F6-415F21452F7A}"/>
              </a:ext>
            </a:extLst>
          </p:cNvPr>
          <p:cNvCxnSpPr>
            <a:stCxn id="8" idx="0"/>
            <a:endCxn id="14" idx="2"/>
          </p:cNvCxnSpPr>
          <p:nvPr/>
        </p:nvCxnSpPr>
        <p:spPr bwMode="auto">
          <a:xfrm flipV="1">
            <a:off x="4610100" y="4658380"/>
            <a:ext cx="0" cy="505812"/>
          </a:xfrm>
          <a:prstGeom prst="straightConnector1">
            <a:avLst/>
          </a:prstGeom>
          <a:solidFill>
            <a:schemeClr val="accent1"/>
          </a:solidFill>
          <a:ln w="9525" cap="flat" cmpd="sng" algn="ctr">
            <a:solidFill>
              <a:schemeClr val="tx1"/>
            </a:solidFill>
            <a:prstDash val="solid"/>
            <a:round/>
            <a:headEnd type="triangle" w="med" len="med"/>
            <a:tailEnd type="triangle"/>
          </a:ln>
          <a:effectLst/>
        </p:spPr>
      </p:cxnSp>
      <p:sp>
        <p:nvSpPr>
          <p:cNvPr id="19" name="TextBox 18">
            <a:extLst>
              <a:ext uri="{FF2B5EF4-FFF2-40B4-BE49-F238E27FC236}">
                <a16:creationId xmlns:a16="http://schemas.microsoft.com/office/drawing/2014/main" id="{FDA8B41C-8CFF-14CC-0485-3753343A303B}"/>
              </a:ext>
            </a:extLst>
          </p:cNvPr>
          <p:cNvSpPr txBox="1"/>
          <p:nvPr/>
        </p:nvSpPr>
        <p:spPr>
          <a:xfrm>
            <a:off x="7101750" y="3720737"/>
            <a:ext cx="1889850" cy="707886"/>
          </a:xfrm>
          <a:prstGeom prst="rect">
            <a:avLst/>
          </a:prstGeom>
          <a:solidFill>
            <a:schemeClr val="accent1"/>
          </a:solidFill>
          <a:ln>
            <a:solidFill>
              <a:schemeClr val="tx1"/>
            </a:solidFill>
          </a:ln>
        </p:spPr>
        <p:txBody>
          <a:bodyPr wrap="square" rtlCol="0">
            <a:spAutoFit/>
          </a:bodyPr>
          <a:lstStyle/>
          <a:p>
            <a:pPr algn="ctr"/>
            <a:r>
              <a:rPr lang="en-US" altLang="zh-CN" sz="2000" dirty="0"/>
              <a:t>Output device</a:t>
            </a:r>
          </a:p>
          <a:p>
            <a:pPr algn="ctr"/>
            <a:r>
              <a:rPr lang="zh-CN" altLang="en-US" sz="2000" dirty="0"/>
              <a:t>输出设备</a:t>
            </a:r>
            <a:endParaRPr lang="en-US" sz="2000" dirty="0"/>
          </a:p>
        </p:txBody>
      </p:sp>
      <p:sp>
        <p:nvSpPr>
          <p:cNvPr id="20" name="TextBox 19">
            <a:extLst>
              <a:ext uri="{FF2B5EF4-FFF2-40B4-BE49-F238E27FC236}">
                <a16:creationId xmlns:a16="http://schemas.microsoft.com/office/drawing/2014/main" id="{3E9558CE-DA6D-349A-AAAC-36FF83533A9C}"/>
              </a:ext>
            </a:extLst>
          </p:cNvPr>
          <p:cNvSpPr txBox="1"/>
          <p:nvPr/>
        </p:nvSpPr>
        <p:spPr>
          <a:xfrm>
            <a:off x="165600" y="3711714"/>
            <a:ext cx="1889850" cy="707886"/>
          </a:xfrm>
          <a:prstGeom prst="rect">
            <a:avLst/>
          </a:prstGeom>
          <a:solidFill>
            <a:schemeClr val="accent1"/>
          </a:solidFill>
          <a:ln>
            <a:solidFill>
              <a:schemeClr val="tx1"/>
            </a:solidFill>
          </a:ln>
        </p:spPr>
        <p:txBody>
          <a:bodyPr wrap="square" rtlCol="0">
            <a:spAutoFit/>
          </a:bodyPr>
          <a:lstStyle/>
          <a:p>
            <a:pPr algn="ctr"/>
            <a:r>
              <a:rPr lang="en-US" altLang="zh-CN" sz="2000" dirty="0"/>
              <a:t>Input device</a:t>
            </a:r>
          </a:p>
          <a:p>
            <a:pPr algn="ctr"/>
            <a:r>
              <a:rPr lang="zh-CN" altLang="en-US" sz="2000" dirty="0"/>
              <a:t>输入设备</a:t>
            </a:r>
            <a:endParaRPr lang="en-US" sz="2000" dirty="0"/>
          </a:p>
        </p:txBody>
      </p:sp>
      <p:cxnSp>
        <p:nvCxnSpPr>
          <p:cNvPr id="22" name="Straight Arrow Connector 21">
            <a:extLst>
              <a:ext uri="{FF2B5EF4-FFF2-40B4-BE49-F238E27FC236}">
                <a16:creationId xmlns:a16="http://schemas.microsoft.com/office/drawing/2014/main" id="{10D62FA3-6062-446C-C727-29AC7DC794F4}"/>
              </a:ext>
            </a:extLst>
          </p:cNvPr>
          <p:cNvCxnSpPr>
            <a:stCxn id="20" idx="3"/>
            <a:endCxn id="17" idx="1"/>
          </p:cNvCxnSpPr>
          <p:nvPr/>
        </p:nvCxnSpPr>
        <p:spPr bwMode="auto">
          <a:xfrm>
            <a:off x="2055450" y="4065657"/>
            <a:ext cx="535350" cy="595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4" name="Straight Arrow Connector 23">
            <a:extLst>
              <a:ext uri="{FF2B5EF4-FFF2-40B4-BE49-F238E27FC236}">
                <a16:creationId xmlns:a16="http://schemas.microsoft.com/office/drawing/2014/main" id="{D41DACA4-A0C6-30B8-91AD-D388DA333129}"/>
              </a:ext>
            </a:extLst>
          </p:cNvPr>
          <p:cNvCxnSpPr>
            <a:stCxn id="17" idx="3"/>
            <a:endCxn id="19" idx="1"/>
          </p:cNvCxnSpPr>
          <p:nvPr/>
        </p:nvCxnSpPr>
        <p:spPr bwMode="auto">
          <a:xfrm>
            <a:off x="6629400" y="4071610"/>
            <a:ext cx="472350" cy="307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2903079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4" grpId="0" animBg="1"/>
      <p:bldP spid="10" grpId="0"/>
      <p:bldP spid="4" grpId="0" animBg="1"/>
      <p:bldP spid="6" grpId="0" animBg="1"/>
      <p:bldP spid="8" grpId="0" animBg="1"/>
      <p:bldP spid="19" grpId="0" animBg="1"/>
      <p:bldP spid="2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2CEE6-13BF-9066-7B56-1C36EAE3FD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C52456-0CB6-A07C-F124-1E214FC54129}"/>
              </a:ext>
            </a:extLst>
          </p:cNvPr>
          <p:cNvSpPr>
            <a:spLocks noGrp="1"/>
          </p:cNvSpPr>
          <p:nvPr>
            <p:ph type="title"/>
          </p:nvPr>
        </p:nvSpPr>
        <p:spPr>
          <a:xfrm>
            <a:off x="1122363" y="457200"/>
            <a:ext cx="8021637" cy="914400"/>
          </a:xfrm>
        </p:spPr>
        <p:txBody>
          <a:bodyPr/>
          <a:lstStyle/>
          <a:p>
            <a:r>
              <a:rPr lang="en-US" altLang="zh-CN" dirty="0"/>
              <a:t>Classical Knowledge  </a:t>
            </a:r>
            <a:r>
              <a:rPr lang="zh-CN" altLang="en-US" dirty="0"/>
              <a:t>经典知识 </a:t>
            </a:r>
            <a:r>
              <a:rPr lang="en-US" altLang="zh-CN" dirty="0"/>
              <a:t>(2)</a:t>
            </a:r>
            <a:endParaRPr lang="zh-CN" altLang="en-US" dirty="0"/>
          </a:p>
        </p:txBody>
      </p:sp>
      <p:sp>
        <p:nvSpPr>
          <p:cNvPr id="5" name="Footer Placeholder 3">
            <a:extLst>
              <a:ext uri="{FF2B5EF4-FFF2-40B4-BE49-F238E27FC236}">
                <a16:creationId xmlns:a16="http://schemas.microsoft.com/office/drawing/2014/main" id="{8C00CC71-652E-4BEE-C9AA-7CF709721750}"/>
              </a:ext>
            </a:extLst>
          </p:cNvPr>
          <p:cNvSpPr>
            <a:spLocks noGrp="1"/>
          </p:cNvSpPr>
          <p:nvPr>
            <p:ph type="ftr" sz="quarter" idx="10"/>
          </p:nvPr>
        </p:nvSpPr>
        <p:spPr>
          <a:xfrm>
            <a:off x="685800" y="6324600"/>
            <a:ext cx="7772400" cy="457200"/>
          </a:xfrm>
        </p:spPr>
        <p:txBody>
          <a:bodyPr/>
          <a:lstStyle/>
          <a:p>
            <a:pPr>
              <a:defRPr/>
            </a:pPr>
            <a:r>
              <a:rPr lang="en-US" altLang="zh-CN" dirty="0"/>
              <a:t>How Computing Works - Modern Paradigms of Architecture &amp; System: 1. Prologue</a:t>
            </a:r>
          </a:p>
          <a:p>
            <a:pPr>
              <a:defRPr/>
            </a:pPr>
            <a:r>
              <a:rPr lang="zh-CN" altLang="en-US" dirty="0"/>
              <a:t>计算如何运作 </a:t>
            </a:r>
            <a:r>
              <a:rPr lang="en-US" altLang="zh-CN" dirty="0"/>
              <a:t>– </a:t>
            </a:r>
            <a:r>
              <a:rPr lang="zh-CN" altLang="en-US" dirty="0"/>
              <a:t>架构与系统的现代范式：</a:t>
            </a:r>
            <a:r>
              <a:rPr lang="en-US" altLang="zh-CN" dirty="0"/>
              <a:t>1. </a:t>
            </a:r>
            <a:r>
              <a:rPr lang="zh-CN" altLang="en-US" dirty="0"/>
              <a:t>序言</a:t>
            </a:r>
            <a:endParaRPr lang="en-US" altLang="zh-CN" dirty="0"/>
          </a:p>
        </p:txBody>
      </p:sp>
      <p:sp>
        <p:nvSpPr>
          <p:cNvPr id="10" name="TextBox 9">
            <a:extLst>
              <a:ext uri="{FF2B5EF4-FFF2-40B4-BE49-F238E27FC236}">
                <a16:creationId xmlns:a16="http://schemas.microsoft.com/office/drawing/2014/main" id="{D571C9A7-F66E-DCC6-2CC6-BDE524FBCFBB}"/>
              </a:ext>
            </a:extLst>
          </p:cNvPr>
          <p:cNvSpPr txBox="1"/>
          <p:nvPr/>
        </p:nvSpPr>
        <p:spPr>
          <a:xfrm>
            <a:off x="533400" y="1524000"/>
            <a:ext cx="8077200" cy="523220"/>
          </a:xfrm>
          <a:prstGeom prst="rect">
            <a:avLst/>
          </a:prstGeom>
          <a:noFill/>
        </p:spPr>
        <p:txBody>
          <a:bodyPr wrap="square" rtlCol="0">
            <a:spAutoFit/>
          </a:bodyPr>
          <a:lstStyle/>
          <a:p>
            <a:pPr algn="ctr"/>
            <a:r>
              <a:rPr lang="en-US" altLang="zh-CN" sz="2800" dirty="0"/>
              <a:t>Harvard Architecture  </a:t>
            </a:r>
            <a:r>
              <a:rPr lang="zh-CN" altLang="en-US" sz="2800" dirty="0"/>
              <a:t>哈佛架构</a:t>
            </a:r>
          </a:p>
        </p:txBody>
      </p:sp>
      <p:sp>
        <p:nvSpPr>
          <p:cNvPr id="4" name="TextBox 3">
            <a:extLst>
              <a:ext uri="{FF2B5EF4-FFF2-40B4-BE49-F238E27FC236}">
                <a16:creationId xmlns:a16="http://schemas.microsoft.com/office/drawing/2014/main" id="{BE11A8C0-1775-E822-FF56-0D62E6190CBA}"/>
              </a:ext>
            </a:extLst>
          </p:cNvPr>
          <p:cNvSpPr txBox="1"/>
          <p:nvPr/>
        </p:nvSpPr>
        <p:spPr>
          <a:xfrm>
            <a:off x="3505200" y="3763416"/>
            <a:ext cx="2590800" cy="707886"/>
          </a:xfrm>
          <a:prstGeom prst="rect">
            <a:avLst/>
          </a:prstGeom>
          <a:solidFill>
            <a:schemeClr val="accent1"/>
          </a:solidFill>
          <a:ln>
            <a:solidFill>
              <a:schemeClr val="tx1"/>
            </a:solidFill>
          </a:ln>
        </p:spPr>
        <p:txBody>
          <a:bodyPr wrap="square" rtlCol="0">
            <a:spAutoFit/>
          </a:bodyPr>
          <a:lstStyle/>
          <a:p>
            <a:pPr algn="ctr"/>
            <a:r>
              <a:rPr lang="en-US" altLang="zh-CN" sz="2000" dirty="0"/>
              <a:t>Control unit</a:t>
            </a:r>
          </a:p>
          <a:p>
            <a:pPr algn="ctr"/>
            <a:r>
              <a:rPr lang="zh-CN" altLang="en-US" sz="2000" dirty="0"/>
              <a:t>控制器</a:t>
            </a:r>
            <a:endParaRPr lang="en-US" sz="2000" dirty="0"/>
          </a:p>
        </p:txBody>
      </p:sp>
      <p:sp>
        <p:nvSpPr>
          <p:cNvPr id="6" name="TextBox 5">
            <a:extLst>
              <a:ext uri="{FF2B5EF4-FFF2-40B4-BE49-F238E27FC236}">
                <a16:creationId xmlns:a16="http://schemas.microsoft.com/office/drawing/2014/main" id="{73071BF3-89F2-1908-79B3-704D3A100025}"/>
              </a:ext>
            </a:extLst>
          </p:cNvPr>
          <p:cNvSpPr txBox="1"/>
          <p:nvPr/>
        </p:nvSpPr>
        <p:spPr>
          <a:xfrm>
            <a:off x="3505199" y="2364503"/>
            <a:ext cx="2590800" cy="707886"/>
          </a:xfrm>
          <a:prstGeom prst="rect">
            <a:avLst/>
          </a:prstGeom>
          <a:solidFill>
            <a:schemeClr val="accent1"/>
          </a:solidFill>
          <a:ln>
            <a:solidFill>
              <a:schemeClr val="tx1"/>
            </a:solidFill>
          </a:ln>
        </p:spPr>
        <p:txBody>
          <a:bodyPr wrap="square" rtlCol="0">
            <a:spAutoFit/>
          </a:bodyPr>
          <a:lstStyle/>
          <a:p>
            <a:pPr algn="ctr"/>
            <a:r>
              <a:rPr lang="en-US" altLang="zh-CN" sz="2000" dirty="0"/>
              <a:t>ALU</a:t>
            </a:r>
          </a:p>
          <a:p>
            <a:pPr algn="ctr"/>
            <a:r>
              <a:rPr lang="zh-CN" altLang="en-US" sz="2000" dirty="0"/>
              <a:t>算术逻辑运算器</a:t>
            </a:r>
            <a:endParaRPr lang="en-US" sz="2000" dirty="0"/>
          </a:p>
        </p:txBody>
      </p:sp>
      <p:sp>
        <p:nvSpPr>
          <p:cNvPr id="8" name="TextBox 7">
            <a:extLst>
              <a:ext uri="{FF2B5EF4-FFF2-40B4-BE49-F238E27FC236}">
                <a16:creationId xmlns:a16="http://schemas.microsoft.com/office/drawing/2014/main" id="{CE691807-B689-606B-77A0-8B92BE7CA888}"/>
              </a:ext>
            </a:extLst>
          </p:cNvPr>
          <p:cNvSpPr txBox="1"/>
          <p:nvPr/>
        </p:nvSpPr>
        <p:spPr>
          <a:xfrm>
            <a:off x="3505199" y="5164192"/>
            <a:ext cx="2590801" cy="707886"/>
          </a:xfrm>
          <a:prstGeom prst="rect">
            <a:avLst/>
          </a:prstGeom>
          <a:solidFill>
            <a:schemeClr val="accent1"/>
          </a:solidFill>
          <a:ln>
            <a:solidFill>
              <a:schemeClr val="tx1"/>
            </a:solidFill>
          </a:ln>
        </p:spPr>
        <p:txBody>
          <a:bodyPr wrap="square" rtlCol="0">
            <a:spAutoFit/>
          </a:bodyPr>
          <a:lstStyle/>
          <a:p>
            <a:pPr algn="ctr"/>
            <a:r>
              <a:rPr lang="en-US" altLang="zh-CN" sz="2000" dirty="0"/>
              <a:t>I/O</a:t>
            </a:r>
          </a:p>
          <a:p>
            <a:pPr algn="ctr"/>
            <a:r>
              <a:rPr lang="zh-CN" altLang="en-US" sz="2000" dirty="0"/>
              <a:t>输入输出</a:t>
            </a:r>
            <a:endParaRPr lang="en-US" sz="2000" dirty="0"/>
          </a:p>
        </p:txBody>
      </p:sp>
      <p:cxnSp>
        <p:nvCxnSpPr>
          <p:cNvPr id="16" name="Straight Arrow Connector 15">
            <a:extLst>
              <a:ext uri="{FF2B5EF4-FFF2-40B4-BE49-F238E27FC236}">
                <a16:creationId xmlns:a16="http://schemas.microsoft.com/office/drawing/2014/main" id="{981F0489-6705-9C81-5AB4-B6EF614DC8AE}"/>
              </a:ext>
            </a:extLst>
          </p:cNvPr>
          <p:cNvCxnSpPr>
            <a:cxnSpLocks/>
            <a:stCxn id="8" idx="0"/>
            <a:endCxn id="4" idx="2"/>
          </p:cNvCxnSpPr>
          <p:nvPr/>
        </p:nvCxnSpPr>
        <p:spPr bwMode="auto">
          <a:xfrm flipV="1">
            <a:off x="4800600" y="4471302"/>
            <a:ext cx="0" cy="692890"/>
          </a:xfrm>
          <a:prstGeom prst="straightConnector1">
            <a:avLst/>
          </a:prstGeom>
          <a:solidFill>
            <a:schemeClr val="accent1"/>
          </a:solidFill>
          <a:ln w="9525" cap="flat" cmpd="sng" algn="ctr">
            <a:solidFill>
              <a:schemeClr val="tx1"/>
            </a:solidFill>
            <a:prstDash val="solid"/>
            <a:round/>
            <a:headEnd type="triangle" w="med" len="med"/>
            <a:tailEnd type="triangle"/>
          </a:ln>
          <a:effectLst/>
        </p:spPr>
      </p:cxnSp>
      <p:sp>
        <p:nvSpPr>
          <p:cNvPr id="19" name="TextBox 18">
            <a:extLst>
              <a:ext uri="{FF2B5EF4-FFF2-40B4-BE49-F238E27FC236}">
                <a16:creationId xmlns:a16="http://schemas.microsoft.com/office/drawing/2014/main" id="{A8270D1E-1C05-4468-D970-1CAB92412634}"/>
              </a:ext>
            </a:extLst>
          </p:cNvPr>
          <p:cNvSpPr txBox="1"/>
          <p:nvPr/>
        </p:nvSpPr>
        <p:spPr>
          <a:xfrm>
            <a:off x="7103882" y="3761239"/>
            <a:ext cx="1889850" cy="707886"/>
          </a:xfrm>
          <a:prstGeom prst="rect">
            <a:avLst/>
          </a:prstGeom>
          <a:solidFill>
            <a:schemeClr val="accent1"/>
          </a:solidFill>
          <a:ln>
            <a:solidFill>
              <a:schemeClr val="tx1"/>
            </a:solidFill>
          </a:ln>
        </p:spPr>
        <p:txBody>
          <a:bodyPr wrap="square" rtlCol="0">
            <a:spAutoFit/>
          </a:bodyPr>
          <a:lstStyle/>
          <a:p>
            <a:pPr algn="ctr"/>
            <a:r>
              <a:rPr lang="en-US" altLang="zh-CN" sz="2000" dirty="0"/>
              <a:t>Data memory</a:t>
            </a:r>
          </a:p>
          <a:p>
            <a:pPr algn="ctr"/>
            <a:r>
              <a:rPr lang="zh-CN" altLang="en-US" sz="2000" dirty="0"/>
              <a:t>数据存储</a:t>
            </a:r>
            <a:endParaRPr lang="en-US" sz="2000" dirty="0"/>
          </a:p>
        </p:txBody>
      </p:sp>
      <p:sp>
        <p:nvSpPr>
          <p:cNvPr id="20" name="TextBox 19">
            <a:extLst>
              <a:ext uri="{FF2B5EF4-FFF2-40B4-BE49-F238E27FC236}">
                <a16:creationId xmlns:a16="http://schemas.microsoft.com/office/drawing/2014/main" id="{B10A7551-0B87-BB61-44DD-B806A3A2DB76}"/>
              </a:ext>
            </a:extLst>
          </p:cNvPr>
          <p:cNvSpPr txBox="1"/>
          <p:nvPr/>
        </p:nvSpPr>
        <p:spPr>
          <a:xfrm>
            <a:off x="91440" y="3763416"/>
            <a:ext cx="2538542" cy="707886"/>
          </a:xfrm>
          <a:prstGeom prst="rect">
            <a:avLst/>
          </a:prstGeom>
          <a:solidFill>
            <a:schemeClr val="accent1"/>
          </a:solidFill>
          <a:ln>
            <a:solidFill>
              <a:schemeClr val="tx1"/>
            </a:solidFill>
          </a:ln>
        </p:spPr>
        <p:txBody>
          <a:bodyPr wrap="square" rtlCol="0">
            <a:spAutoFit/>
          </a:bodyPr>
          <a:lstStyle/>
          <a:p>
            <a:pPr algn="ctr"/>
            <a:r>
              <a:rPr lang="en-US" altLang="zh-CN" sz="2000" dirty="0"/>
              <a:t>Instruction memory</a:t>
            </a:r>
          </a:p>
          <a:p>
            <a:pPr algn="ctr"/>
            <a:r>
              <a:rPr lang="zh-CN" altLang="en-US" sz="2000" dirty="0"/>
              <a:t>指令存储</a:t>
            </a:r>
            <a:endParaRPr lang="en-US" sz="2000" dirty="0"/>
          </a:p>
        </p:txBody>
      </p:sp>
      <p:cxnSp>
        <p:nvCxnSpPr>
          <p:cNvPr id="22" name="Straight Arrow Connector 21">
            <a:extLst>
              <a:ext uri="{FF2B5EF4-FFF2-40B4-BE49-F238E27FC236}">
                <a16:creationId xmlns:a16="http://schemas.microsoft.com/office/drawing/2014/main" id="{7338B70E-A4C1-011A-A7C6-281D9A2648FA}"/>
              </a:ext>
            </a:extLst>
          </p:cNvPr>
          <p:cNvCxnSpPr>
            <a:cxnSpLocks/>
            <a:stCxn id="20" idx="3"/>
            <a:endCxn id="4" idx="1"/>
          </p:cNvCxnSpPr>
          <p:nvPr/>
        </p:nvCxnSpPr>
        <p:spPr bwMode="auto">
          <a:xfrm>
            <a:off x="2629982" y="4117359"/>
            <a:ext cx="875218" cy="0"/>
          </a:xfrm>
          <a:prstGeom prst="straightConnector1">
            <a:avLst/>
          </a:prstGeom>
          <a:solidFill>
            <a:schemeClr val="accent1"/>
          </a:solidFill>
          <a:ln w="9525" cap="flat" cmpd="sng" algn="ctr">
            <a:solidFill>
              <a:schemeClr val="tx1"/>
            </a:solidFill>
            <a:prstDash val="solid"/>
            <a:round/>
            <a:headEnd type="triangle" w="med" len="med"/>
            <a:tailEnd type="triangle"/>
          </a:ln>
          <a:effectLst/>
        </p:spPr>
      </p:cxnSp>
      <p:cxnSp>
        <p:nvCxnSpPr>
          <p:cNvPr id="24" name="Straight Arrow Connector 23">
            <a:extLst>
              <a:ext uri="{FF2B5EF4-FFF2-40B4-BE49-F238E27FC236}">
                <a16:creationId xmlns:a16="http://schemas.microsoft.com/office/drawing/2014/main" id="{B163C771-CF34-0FFC-20BF-1DC3E49B78A4}"/>
              </a:ext>
            </a:extLst>
          </p:cNvPr>
          <p:cNvCxnSpPr>
            <a:cxnSpLocks/>
            <a:stCxn id="4" idx="3"/>
            <a:endCxn id="19" idx="1"/>
          </p:cNvCxnSpPr>
          <p:nvPr/>
        </p:nvCxnSpPr>
        <p:spPr bwMode="auto">
          <a:xfrm flipV="1">
            <a:off x="6096000" y="4115182"/>
            <a:ext cx="1007882" cy="2177"/>
          </a:xfrm>
          <a:prstGeom prst="straightConnector1">
            <a:avLst/>
          </a:prstGeom>
          <a:solidFill>
            <a:schemeClr val="accent1"/>
          </a:solidFill>
          <a:ln w="9525" cap="flat" cmpd="sng" algn="ctr">
            <a:solidFill>
              <a:schemeClr val="tx1"/>
            </a:solidFill>
            <a:prstDash val="solid"/>
            <a:round/>
            <a:headEnd type="triangle" w="med" len="med"/>
            <a:tailEnd type="triangle"/>
          </a:ln>
          <a:effectLst/>
        </p:spPr>
      </p:cxnSp>
      <p:cxnSp>
        <p:nvCxnSpPr>
          <p:cNvPr id="9" name="Straight Arrow Connector 8">
            <a:extLst>
              <a:ext uri="{FF2B5EF4-FFF2-40B4-BE49-F238E27FC236}">
                <a16:creationId xmlns:a16="http://schemas.microsoft.com/office/drawing/2014/main" id="{8BA45CE7-F55D-C3EE-097C-9540B23DD559}"/>
              </a:ext>
            </a:extLst>
          </p:cNvPr>
          <p:cNvCxnSpPr>
            <a:cxnSpLocks/>
            <a:stCxn id="4" idx="0"/>
            <a:endCxn id="6" idx="2"/>
          </p:cNvCxnSpPr>
          <p:nvPr/>
        </p:nvCxnSpPr>
        <p:spPr bwMode="auto">
          <a:xfrm flipH="1" flipV="1">
            <a:off x="4800599" y="3072389"/>
            <a:ext cx="1" cy="691027"/>
          </a:xfrm>
          <a:prstGeom prst="straightConnector1">
            <a:avLst/>
          </a:prstGeom>
          <a:solidFill>
            <a:schemeClr val="accent1"/>
          </a:solidFill>
          <a:ln w="9525" cap="flat" cmpd="sng" algn="ctr">
            <a:solidFill>
              <a:schemeClr val="tx1"/>
            </a:solidFill>
            <a:prstDash val="solid"/>
            <a:round/>
            <a:headEnd type="triangle" w="med" len="med"/>
            <a:tailEnd type="triangle"/>
          </a:ln>
          <a:effectLst/>
        </p:spPr>
      </p:cxnSp>
    </p:spTree>
    <p:extLst>
      <p:ext uri="{BB962C8B-B14F-4D97-AF65-F5344CB8AC3E}">
        <p14:creationId xmlns:p14="http://schemas.microsoft.com/office/powerpoint/2010/main" val="3915743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4" grpId="0" animBg="1"/>
      <p:bldP spid="6" grpId="0" animBg="1"/>
      <p:bldP spid="8" grpId="0" animBg="1"/>
      <p:bldP spid="19" grpId="0" animBg="1"/>
      <p:bldP spid="2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6921D-C7C1-EAD6-7448-3292A88A60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107419-AEFC-172C-A078-6E017D0632F6}"/>
              </a:ext>
            </a:extLst>
          </p:cNvPr>
          <p:cNvSpPr>
            <a:spLocks noGrp="1"/>
          </p:cNvSpPr>
          <p:nvPr>
            <p:ph type="title"/>
          </p:nvPr>
        </p:nvSpPr>
        <p:spPr>
          <a:xfrm>
            <a:off x="1122363" y="457200"/>
            <a:ext cx="8021637" cy="914400"/>
          </a:xfrm>
        </p:spPr>
        <p:txBody>
          <a:bodyPr/>
          <a:lstStyle/>
          <a:p>
            <a:r>
              <a:rPr lang="en-US" altLang="zh-CN" dirty="0"/>
              <a:t>Evolving Knowledge  </a:t>
            </a:r>
            <a:r>
              <a:rPr lang="zh-CN" altLang="en-US" dirty="0"/>
              <a:t>演进知识</a:t>
            </a:r>
          </a:p>
        </p:txBody>
      </p:sp>
      <p:sp>
        <p:nvSpPr>
          <p:cNvPr id="5" name="Footer Placeholder 3">
            <a:extLst>
              <a:ext uri="{FF2B5EF4-FFF2-40B4-BE49-F238E27FC236}">
                <a16:creationId xmlns:a16="http://schemas.microsoft.com/office/drawing/2014/main" id="{54F4C992-6EA3-4277-C7B1-DBCCC770D673}"/>
              </a:ext>
            </a:extLst>
          </p:cNvPr>
          <p:cNvSpPr>
            <a:spLocks noGrp="1"/>
          </p:cNvSpPr>
          <p:nvPr>
            <p:ph type="ftr" sz="quarter" idx="10"/>
          </p:nvPr>
        </p:nvSpPr>
        <p:spPr>
          <a:xfrm>
            <a:off x="685800" y="6324600"/>
            <a:ext cx="7772400" cy="457200"/>
          </a:xfrm>
        </p:spPr>
        <p:txBody>
          <a:bodyPr/>
          <a:lstStyle/>
          <a:p>
            <a:pPr>
              <a:defRPr/>
            </a:pPr>
            <a:r>
              <a:rPr lang="en-US" altLang="zh-CN" dirty="0"/>
              <a:t>How Computing Works - Modern Paradigms of Architecture &amp; System: 1. Prologue</a:t>
            </a:r>
          </a:p>
          <a:p>
            <a:pPr>
              <a:defRPr/>
            </a:pPr>
            <a:r>
              <a:rPr lang="zh-CN" altLang="en-US" dirty="0"/>
              <a:t>计算如何运作 </a:t>
            </a:r>
            <a:r>
              <a:rPr lang="en-US" altLang="zh-CN" dirty="0"/>
              <a:t>– </a:t>
            </a:r>
            <a:r>
              <a:rPr lang="zh-CN" altLang="en-US" dirty="0"/>
              <a:t>架构与系统的现代范式：</a:t>
            </a:r>
            <a:r>
              <a:rPr lang="en-US" altLang="zh-CN" dirty="0"/>
              <a:t>1. </a:t>
            </a:r>
            <a:r>
              <a:rPr lang="zh-CN" altLang="en-US" dirty="0"/>
              <a:t>序言</a:t>
            </a:r>
            <a:endParaRPr lang="en-US" altLang="zh-CN" dirty="0"/>
          </a:p>
        </p:txBody>
      </p:sp>
      <p:sp>
        <p:nvSpPr>
          <p:cNvPr id="3" name="TextBox 2">
            <a:extLst>
              <a:ext uri="{FF2B5EF4-FFF2-40B4-BE49-F238E27FC236}">
                <a16:creationId xmlns:a16="http://schemas.microsoft.com/office/drawing/2014/main" id="{74092A79-AE9B-68EF-6285-9913E2961117}"/>
              </a:ext>
            </a:extLst>
          </p:cNvPr>
          <p:cNvSpPr txBox="1"/>
          <p:nvPr/>
        </p:nvSpPr>
        <p:spPr>
          <a:xfrm>
            <a:off x="889363" y="1944231"/>
            <a:ext cx="7365274" cy="2246769"/>
          </a:xfrm>
          <a:prstGeom prst="rect">
            <a:avLst/>
          </a:prstGeom>
          <a:noFill/>
        </p:spPr>
        <p:txBody>
          <a:bodyPr wrap="square" rtlCol="0">
            <a:spAutoFit/>
          </a:bodyPr>
          <a:lstStyle/>
          <a:p>
            <a:pPr algn="ctr"/>
            <a:r>
              <a:rPr lang="en-US" altLang="zh-CN" sz="2800" dirty="0"/>
              <a:t>Strictly speaking, modern computers are neither of von Neumann architecture nor Harvard architecture</a:t>
            </a:r>
          </a:p>
          <a:p>
            <a:pPr algn="ctr"/>
            <a:r>
              <a:rPr lang="zh-CN" altLang="en-US" sz="2800" dirty="0"/>
              <a:t>严格说来，现代计算机既非冯诺依曼架构亦非哈佛架构</a:t>
            </a:r>
          </a:p>
        </p:txBody>
      </p:sp>
      <p:sp>
        <p:nvSpPr>
          <p:cNvPr id="7" name="TextBox 6">
            <a:extLst>
              <a:ext uri="{FF2B5EF4-FFF2-40B4-BE49-F238E27FC236}">
                <a16:creationId xmlns:a16="http://schemas.microsoft.com/office/drawing/2014/main" id="{00CCAC45-1228-A186-9603-E2301B662C71}"/>
              </a:ext>
            </a:extLst>
          </p:cNvPr>
          <p:cNvSpPr txBox="1"/>
          <p:nvPr/>
        </p:nvSpPr>
        <p:spPr>
          <a:xfrm>
            <a:off x="32657" y="4572000"/>
            <a:ext cx="9067800" cy="954107"/>
          </a:xfrm>
          <a:prstGeom prst="rect">
            <a:avLst/>
          </a:prstGeom>
          <a:noFill/>
        </p:spPr>
        <p:txBody>
          <a:bodyPr wrap="square" rtlCol="0">
            <a:spAutoFit/>
          </a:bodyPr>
          <a:lstStyle/>
          <a:p>
            <a:pPr algn="ctr"/>
            <a:r>
              <a:rPr lang="en-US" altLang="zh-CN" sz="2800" dirty="0"/>
              <a:t>They’re more similar to a mix of the two</a:t>
            </a:r>
          </a:p>
          <a:p>
            <a:pPr algn="ctr"/>
            <a:r>
              <a:rPr lang="zh-CN" altLang="en-US" sz="2800" dirty="0"/>
              <a:t>他们更象两者的混合</a:t>
            </a:r>
          </a:p>
        </p:txBody>
      </p:sp>
    </p:spTree>
    <p:extLst>
      <p:ext uri="{BB962C8B-B14F-4D97-AF65-F5344CB8AC3E}">
        <p14:creationId xmlns:p14="http://schemas.microsoft.com/office/powerpoint/2010/main" val="236643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D5830-D7F2-0712-4A1E-C22D57BFE4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E3C645-97F2-7D1C-BEBC-029851C957B3}"/>
              </a:ext>
            </a:extLst>
          </p:cNvPr>
          <p:cNvSpPr>
            <a:spLocks noGrp="1"/>
          </p:cNvSpPr>
          <p:nvPr>
            <p:ph type="title"/>
          </p:nvPr>
        </p:nvSpPr>
        <p:spPr/>
        <p:txBody>
          <a:bodyPr/>
          <a:lstStyle/>
          <a:p>
            <a:r>
              <a:rPr lang="en-US" altLang="zh-CN" dirty="0"/>
              <a:t>But Knowledge Can Be Subtle</a:t>
            </a:r>
            <a:br>
              <a:rPr lang="en-US" altLang="zh-CN" dirty="0"/>
            </a:br>
            <a:r>
              <a:rPr lang="zh-CN" altLang="en-US" dirty="0"/>
              <a:t>然而知识可能是深奥微妙的</a:t>
            </a:r>
          </a:p>
        </p:txBody>
      </p:sp>
      <p:sp>
        <p:nvSpPr>
          <p:cNvPr id="5" name="Footer Placeholder 3">
            <a:extLst>
              <a:ext uri="{FF2B5EF4-FFF2-40B4-BE49-F238E27FC236}">
                <a16:creationId xmlns:a16="http://schemas.microsoft.com/office/drawing/2014/main" id="{FA84A728-F5DC-80A1-0BC2-BAC91E78C111}"/>
              </a:ext>
            </a:extLst>
          </p:cNvPr>
          <p:cNvSpPr>
            <a:spLocks noGrp="1"/>
          </p:cNvSpPr>
          <p:nvPr>
            <p:ph type="ftr" sz="quarter" idx="10"/>
          </p:nvPr>
        </p:nvSpPr>
        <p:spPr>
          <a:xfrm>
            <a:off x="685800" y="6324600"/>
            <a:ext cx="7772400" cy="457200"/>
          </a:xfrm>
        </p:spPr>
        <p:txBody>
          <a:bodyPr/>
          <a:lstStyle/>
          <a:p>
            <a:pPr>
              <a:defRPr/>
            </a:pPr>
            <a:r>
              <a:rPr lang="en-US" altLang="zh-CN" dirty="0"/>
              <a:t>How Computing Works - Modern Paradigms of Architecture &amp; System: 1. Prologue</a:t>
            </a:r>
          </a:p>
          <a:p>
            <a:pPr>
              <a:defRPr/>
            </a:pPr>
            <a:r>
              <a:rPr lang="zh-CN" altLang="en-US" dirty="0"/>
              <a:t>计算如何运作 </a:t>
            </a:r>
            <a:r>
              <a:rPr lang="en-US" altLang="zh-CN" dirty="0"/>
              <a:t>– </a:t>
            </a:r>
            <a:r>
              <a:rPr lang="zh-CN" altLang="en-US" dirty="0"/>
              <a:t>架构与系统的现代范式：</a:t>
            </a:r>
            <a:r>
              <a:rPr lang="en-US" altLang="zh-CN" dirty="0"/>
              <a:t>1. </a:t>
            </a:r>
            <a:r>
              <a:rPr lang="zh-CN" altLang="en-US" dirty="0"/>
              <a:t>序言</a:t>
            </a:r>
            <a:endParaRPr lang="en-US" altLang="zh-CN" dirty="0"/>
          </a:p>
        </p:txBody>
      </p:sp>
      <p:sp>
        <p:nvSpPr>
          <p:cNvPr id="10" name="TextBox 9">
            <a:extLst>
              <a:ext uri="{FF2B5EF4-FFF2-40B4-BE49-F238E27FC236}">
                <a16:creationId xmlns:a16="http://schemas.microsoft.com/office/drawing/2014/main" id="{5FB4F42A-A1AA-72AD-5776-F986444A1FDF}"/>
              </a:ext>
            </a:extLst>
          </p:cNvPr>
          <p:cNvSpPr txBox="1"/>
          <p:nvPr/>
        </p:nvSpPr>
        <p:spPr>
          <a:xfrm>
            <a:off x="533400" y="1524000"/>
            <a:ext cx="8077200" cy="954107"/>
          </a:xfrm>
          <a:prstGeom prst="rect">
            <a:avLst/>
          </a:prstGeom>
          <a:noFill/>
        </p:spPr>
        <p:txBody>
          <a:bodyPr wrap="square" rtlCol="0">
            <a:spAutoFit/>
          </a:bodyPr>
          <a:lstStyle/>
          <a:p>
            <a:pPr algn="ctr"/>
            <a:r>
              <a:rPr lang="en-US" altLang="zh-CN" sz="2800" dirty="0"/>
              <a:t>A naïve example for demo </a:t>
            </a:r>
          </a:p>
          <a:p>
            <a:pPr algn="ctr"/>
            <a:r>
              <a:rPr lang="zh-CN" altLang="en-US" sz="2800" dirty="0"/>
              <a:t>一个简单的例子用作演示</a:t>
            </a:r>
          </a:p>
        </p:txBody>
      </p:sp>
      <p:sp>
        <p:nvSpPr>
          <p:cNvPr id="11" name="TextBox 10">
            <a:extLst>
              <a:ext uri="{FF2B5EF4-FFF2-40B4-BE49-F238E27FC236}">
                <a16:creationId xmlns:a16="http://schemas.microsoft.com/office/drawing/2014/main" id="{DEBDD36B-9DDA-A770-71DB-B4FE942309D0}"/>
              </a:ext>
            </a:extLst>
          </p:cNvPr>
          <p:cNvSpPr txBox="1"/>
          <p:nvPr/>
        </p:nvSpPr>
        <p:spPr>
          <a:xfrm>
            <a:off x="533400" y="3294439"/>
            <a:ext cx="8077200" cy="523220"/>
          </a:xfrm>
          <a:prstGeom prst="rect">
            <a:avLst/>
          </a:prstGeom>
          <a:noFill/>
        </p:spPr>
        <p:txBody>
          <a:bodyPr wrap="square" rtlCol="0">
            <a:spAutoFit/>
          </a:bodyPr>
          <a:lstStyle/>
          <a:p>
            <a:pPr algn="ctr"/>
            <a:r>
              <a:rPr lang="en-US" altLang="zh-CN" sz="2800" dirty="0"/>
              <a:t>vs.</a:t>
            </a:r>
            <a:endParaRPr lang="zh-CN" altLang="en-US" sz="2800" dirty="0"/>
          </a:p>
        </p:txBody>
      </p:sp>
      <p:pic>
        <p:nvPicPr>
          <p:cNvPr id="3" name="Picture 2">
            <a:extLst>
              <a:ext uri="{FF2B5EF4-FFF2-40B4-BE49-F238E27FC236}">
                <a16:creationId xmlns:a16="http://schemas.microsoft.com/office/drawing/2014/main" id="{7CCE549B-4FF0-5913-E562-8F118048B616}"/>
              </a:ext>
            </a:extLst>
          </p:cNvPr>
          <p:cNvPicPr>
            <a:picLocks noChangeAspect="1"/>
          </p:cNvPicPr>
          <p:nvPr/>
        </p:nvPicPr>
        <p:blipFill>
          <a:blip r:embed="rId2"/>
          <a:stretch>
            <a:fillRect/>
          </a:stretch>
        </p:blipFill>
        <p:spPr>
          <a:xfrm>
            <a:off x="5181600" y="2525197"/>
            <a:ext cx="3692405" cy="2057687"/>
          </a:xfrm>
          <a:prstGeom prst="rect">
            <a:avLst/>
          </a:prstGeom>
        </p:spPr>
      </p:pic>
      <p:pic>
        <p:nvPicPr>
          <p:cNvPr id="4" name="Picture 3">
            <a:extLst>
              <a:ext uri="{FF2B5EF4-FFF2-40B4-BE49-F238E27FC236}">
                <a16:creationId xmlns:a16="http://schemas.microsoft.com/office/drawing/2014/main" id="{83DB7D96-49D2-04A8-7319-93DB2F0238DE}"/>
              </a:ext>
            </a:extLst>
          </p:cNvPr>
          <p:cNvPicPr>
            <a:picLocks noChangeAspect="1"/>
          </p:cNvPicPr>
          <p:nvPr/>
        </p:nvPicPr>
        <p:blipFill>
          <a:blip r:embed="rId3"/>
          <a:stretch>
            <a:fillRect/>
          </a:stretch>
        </p:blipFill>
        <p:spPr>
          <a:xfrm>
            <a:off x="281426" y="2528508"/>
            <a:ext cx="3680974" cy="2091982"/>
          </a:xfrm>
          <a:prstGeom prst="rect">
            <a:avLst/>
          </a:prstGeom>
        </p:spPr>
      </p:pic>
      <p:sp>
        <p:nvSpPr>
          <p:cNvPr id="6" name="TextBox 5">
            <a:extLst>
              <a:ext uri="{FF2B5EF4-FFF2-40B4-BE49-F238E27FC236}">
                <a16:creationId xmlns:a16="http://schemas.microsoft.com/office/drawing/2014/main" id="{366B08A3-3893-59BF-07AD-88504A0280A2}"/>
              </a:ext>
            </a:extLst>
          </p:cNvPr>
          <p:cNvSpPr txBox="1"/>
          <p:nvPr/>
        </p:nvSpPr>
        <p:spPr>
          <a:xfrm>
            <a:off x="2199481" y="4807803"/>
            <a:ext cx="5638800" cy="830997"/>
          </a:xfrm>
          <a:prstGeom prst="rect">
            <a:avLst/>
          </a:prstGeom>
          <a:noFill/>
        </p:spPr>
        <p:txBody>
          <a:bodyPr wrap="square" rtlCol="0">
            <a:spAutoFit/>
          </a:bodyPr>
          <a:lstStyle/>
          <a:p>
            <a:r>
              <a:rPr lang="en-US" altLang="zh-CN" sz="2400" dirty="0"/>
              <a:t>16777216x1: 	16ms vs 16ms</a:t>
            </a:r>
          </a:p>
          <a:p>
            <a:r>
              <a:rPr lang="en-US" altLang="zh-CN" sz="2400" dirty="0"/>
              <a:t>4096x4096: 	212ms+ vs 16ms</a:t>
            </a:r>
            <a:endParaRPr lang="zh-CN" altLang="en-US" sz="2800" dirty="0"/>
          </a:p>
        </p:txBody>
      </p:sp>
    </p:spTree>
    <p:extLst>
      <p:ext uri="{BB962C8B-B14F-4D97-AF65-F5344CB8AC3E}">
        <p14:creationId xmlns:p14="http://schemas.microsoft.com/office/powerpoint/2010/main" val="2696307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103FA-8239-D76B-1058-77BB64EBFB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E1F180-8F71-395B-63AB-5084F6E35C26}"/>
              </a:ext>
            </a:extLst>
          </p:cNvPr>
          <p:cNvSpPr>
            <a:spLocks noGrp="1"/>
          </p:cNvSpPr>
          <p:nvPr>
            <p:ph type="title"/>
          </p:nvPr>
        </p:nvSpPr>
        <p:spPr/>
        <p:txBody>
          <a:bodyPr/>
          <a:lstStyle/>
          <a:p>
            <a:r>
              <a:rPr lang="en-US" altLang="zh-CN" dirty="0"/>
              <a:t>The Fast-Changing Age</a:t>
            </a:r>
            <a:br>
              <a:rPr lang="en-US" altLang="zh-CN" dirty="0"/>
            </a:br>
            <a:r>
              <a:rPr lang="zh-CN" altLang="en-US" dirty="0"/>
              <a:t>这个快速变化的时代</a:t>
            </a:r>
            <a:r>
              <a:rPr lang="en-US" altLang="zh-CN" dirty="0"/>
              <a:t> </a:t>
            </a:r>
            <a:endParaRPr lang="zh-CN" altLang="en-US" dirty="0"/>
          </a:p>
        </p:txBody>
      </p:sp>
      <p:sp>
        <p:nvSpPr>
          <p:cNvPr id="3" name="Content Placeholder 2">
            <a:extLst>
              <a:ext uri="{FF2B5EF4-FFF2-40B4-BE49-F238E27FC236}">
                <a16:creationId xmlns:a16="http://schemas.microsoft.com/office/drawing/2014/main" id="{5AF7FEE1-42B2-1BBF-FA2E-EE9B74953B0A}"/>
              </a:ext>
            </a:extLst>
          </p:cNvPr>
          <p:cNvSpPr>
            <a:spLocks noGrp="1"/>
          </p:cNvSpPr>
          <p:nvPr>
            <p:ph idx="1"/>
          </p:nvPr>
        </p:nvSpPr>
        <p:spPr>
          <a:xfrm>
            <a:off x="762000" y="1600200"/>
            <a:ext cx="7772400" cy="4953000"/>
          </a:xfrm>
        </p:spPr>
        <p:txBody>
          <a:bodyPr>
            <a:normAutofit/>
          </a:bodyPr>
          <a:lstStyle/>
          <a:p>
            <a:r>
              <a:rPr lang="en-US" altLang="zh-CN" dirty="0"/>
              <a:t>Knowledge on Concrete Technical Details  </a:t>
            </a:r>
            <a:r>
              <a:rPr lang="zh-CN" altLang="en-US" dirty="0"/>
              <a:t>具体技术细节方面的知识</a:t>
            </a:r>
            <a:endParaRPr lang="en-US" altLang="zh-CN" dirty="0"/>
          </a:p>
          <a:p>
            <a:pPr lvl="1"/>
            <a:r>
              <a:rPr lang="en-US" altLang="zh-CN" dirty="0"/>
              <a:t>Evolve over time  </a:t>
            </a:r>
            <a:r>
              <a:rPr lang="zh-CN" altLang="en-US" dirty="0"/>
              <a:t>不断演进</a:t>
            </a:r>
            <a:endParaRPr lang="en-US" altLang="zh-CN" dirty="0"/>
          </a:p>
          <a:p>
            <a:r>
              <a:rPr lang="en-US" altLang="zh-CN" dirty="0"/>
              <a:t>Knowledge on Principles  </a:t>
            </a:r>
            <a:br>
              <a:rPr lang="en-US" altLang="zh-CN" dirty="0"/>
            </a:br>
            <a:r>
              <a:rPr lang="zh-CN" altLang="en-US" dirty="0"/>
              <a:t>原理方面的知识</a:t>
            </a:r>
            <a:r>
              <a:rPr lang="en-US" altLang="zh-CN" dirty="0"/>
              <a:t> </a:t>
            </a:r>
          </a:p>
          <a:p>
            <a:pPr lvl="1"/>
            <a:r>
              <a:rPr lang="en-US" altLang="zh-CN" dirty="0"/>
              <a:t>Change much slower  </a:t>
            </a:r>
            <a:r>
              <a:rPr lang="zh-CN" altLang="en-US" dirty="0"/>
              <a:t>变化会慢很多</a:t>
            </a:r>
            <a:endParaRPr lang="en-US" altLang="zh-CN" dirty="0"/>
          </a:p>
          <a:p>
            <a:pPr lvl="1"/>
            <a:r>
              <a:rPr lang="en-US" altLang="zh-CN" dirty="0"/>
              <a:t>Last longer  </a:t>
            </a:r>
            <a:r>
              <a:rPr lang="zh-CN" altLang="en-US"/>
              <a:t>生命力更为长久</a:t>
            </a:r>
            <a:endParaRPr lang="en-US" altLang="zh-CN" dirty="0"/>
          </a:p>
        </p:txBody>
      </p:sp>
      <p:sp>
        <p:nvSpPr>
          <p:cNvPr id="5" name="Footer Placeholder 3">
            <a:extLst>
              <a:ext uri="{FF2B5EF4-FFF2-40B4-BE49-F238E27FC236}">
                <a16:creationId xmlns:a16="http://schemas.microsoft.com/office/drawing/2014/main" id="{D7135036-205E-F4DA-116F-D7524C91659A}"/>
              </a:ext>
            </a:extLst>
          </p:cNvPr>
          <p:cNvSpPr>
            <a:spLocks noGrp="1"/>
          </p:cNvSpPr>
          <p:nvPr>
            <p:ph type="ftr" sz="quarter" idx="10"/>
          </p:nvPr>
        </p:nvSpPr>
        <p:spPr>
          <a:xfrm>
            <a:off x="685800" y="6324600"/>
            <a:ext cx="7772400" cy="457200"/>
          </a:xfrm>
        </p:spPr>
        <p:txBody>
          <a:bodyPr/>
          <a:lstStyle/>
          <a:p>
            <a:pPr>
              <a:defRPr/>
            </a:pPr>
            <a:r>
              <a:rPr lang="en-US" altLang="zh-CN" dirty="0"/>
              <a:t>How Computing Works - Modern Paradigms of Architecture &amp; System: 1. Prologue</a:t>
            </a:r>
          </a:p>
          <a:p>
            <a:pPr>
              <a:defRPr/>
            </a:pPr>
            <a:r>
              <a:rPr lang="zh-CN" altLang="en-US" dirty="0"/>
              <a:t>计算如何运作 </a:t>
            </a:r>
            <a:r>
              <a:rPr lang="en-US" altLang="zh-CN" dirty="0"/>
              <a:t>– </a:t>
            </a:r>
            <a:r>
              <a:rPr lang="zh-CN" altLang="en-US" dirty="0"/>
              <a:t>架构与系统的现代范式：</a:t>
            </a:r>
            <a:r>
              <a:rPr lang="en-US" altLang="zh-CN" dirty="0"/>
              <a:t>1. </a:t>
            </a:r>
            <a:r>
              <a:rPr lang="zh-CN" altLang="en-US" dirty="0"/>
              <a:t>序言</a:t>
            </a:r>
            <a:endParaRPr lang="en-US" altLang="zh-CN" dirty="0"/>
          </a:p>
        </p:txBody>
      </p:sp>
    </p:spTree>
    <p:extLst>
      <p:ext uri="{BB962C8B-B14F-4D97-AF65-F5344CB8AC3E}">
        <p14:creationId xmlns:p14="http://schemas.microsoft.com/office/powerpoint/2010/main" val="278756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AAEF4-1011-5A99-1A16-1F3BFE83DF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9B93EA-9529-E312-E012-9DAF2170CBEC}"/>
              </a:ext>
            </a:extLst>
          </p:cNvPr>
          <p:cNvSpPr>
            <a:spLocks noGrp="1"/>
          </p:cNvSpPr>
          <p:nvPr>
            <p:ph type="title"/>
          </p:nvPr>
        </p:nvSpPr>
        <p:spPr/>
        <p:txBody>
          <a:bodyPr/>
          <a:lstStyle/>
          <a:p>
            <a:r>
              <a:rPr lang="en-US" altLang="zh-CN" dirty="0"/>
              <a:t>This Course </a:t>
            </a:r>
            <a:r>
              <a:rPr lang="zh-CN" altLang="en-US" dirty="0"/>
              <a:t>该课程 </a:t>
            </a:r>
            <a:r>
              <a:rPr lang="en-US" altLang="zh-CN" dirty="0"/>
              <a:t>(1)</a:t>
            </a:r>
            <a:endParaRPr lang="zh-CN" altLang="en-US" dirty="0"/>
          </a:p>
        </p:txBody>
      </p:sp>
      <p:sp>
        <p:nvSpPr>
          <p:cNvPr id="3" name="Content Placeholder 2">
            <a:extLst>
              <a:ext uri="{FF2B5EF4-FFF2-40B4-BE49-F238E27FC236}">
                <a16:creationId xmlns:a16="http://schemas.microsoft.com/office/drawing/2014/main" id="{BE2F878C-DABF-D01B-0111-9BC157E3E8D6}"/>
              </a:ext>
            </a:extLst>
          </p:cNvPr>
          <p:cNvSpPr>
            <a:spLocks noGrp="1"/>
          </p:cNvSpPr>
          <p:nvPr>
            <p:ph idx="1"/>
          </p:nvPr>
        </p:nvSpPr>
        <p:spPr>
          <a:xfrm>
            <a:off x="762000" y="1600200"/>
            <a:ext cx="7772400" cy="4953000"/>
          </a:xfrm>
        </p:spPr>
        <p:txBody>
          <a:bodyPr>
            <a:normAutofit lnSpcReduction="10000"/>
          </a:bodyPr>
          <a:lstStyle/>
          <a:p>
            <a:r>
              <a:rPr lang="en-US" altLang="zh-CN" dirty="0"/>
              <a:t>Popular-Science Course on Computer Architecture &amp; System</a:t>
            </a:r>
            <a:br>
              <a:rPr lang="en-US" altLang="zh-CN" dirty="0"/>
            </a:br>
            <a:r>
              <a:rPr lang="zh-CN" altLang="en-US" dirty="0"/>
              <a:t>计算机架构与系统的科普课程</a:t>
            </a:r>
            <a:endParaRPr lang="en-US" altLang="zh-CN" dirty="0"/>
          </a:p>
          <a:p>
            <a:pPr lvl="1"/>
            <a:r>
              <a:rPr lang="en-US" altLang="zh-CN" dirty="0"/>
              <a:t>Simple but profound </a:t>
            </a:r>
            <a:r>
              <a:rPr lang="zh-CN" altLang="en-US" dirty="0"/>
              <a:t>深入浅出</a:t>
            </a:r>
            <a:endParaRPr lang="en-US" altLang="zh-CN" dirty="0"/>
          </a:p>
          <a:p>
            <a:r>
              <a:rPr lang="en-US" altLang="zh-CN" dirty="0"/>
              <a:t>Selected Paradigms  </a:t>
            </a:r>
            <a:r>
              <a:rPr lang="zh-CN" altLang="en-US" dirty="0"/>
              <a:t>精选范式</a:t>
            </a:r>
            <a:r>
              <a:rPr lang="en-US" altLang="zh-CN" dirty="0"/>
              <a:t> </a:t>
            </a:r>
          </a:p>
          <a:p>
            <a:pPr lvl="1"/>
            <a:r>
              <a:rPr lang="en-US" altLang="zh-CN" dirty="0"/>
              <a:t>Compilation &amp; interpretation  </a:t>
            </a:r>
            <a:r>
              <a:rPr lang="zh-CN" altLang="en-US" dirty="0"/>
              <a:t>编译与解释</a:t>
            </a:r>
            <a:r>
              <a:rPr lang="en-US" altLang="zh-CN" dirty="0"/>
              <a:t> </a:t>
            </a:r>
          </a:p>
          <a:p>
            <a:pPr lvl="1"/>
            <a:r>
              <a:rPr lang="en-US" altLang="zh-CN" dirty="0"/>
              <a:t>Parallelism  </a:t>
            </a:r>
            <a:r>
              <a:rPr lang="zh-CN" altLang="en-US" dirty="0"/>
              <a:t>并行</a:t>
            </a:r>
            <a:endParaRPr lang="en-US" altLang="zh-CN" dirty="0"/>
          </a:p>
          <a:p>
            <a:pPr lvl="1"/>
            <a:r>
              <a:rPr lang="en-US" altLang="zh-CN" dirty="0"/>
              <a:t>Caching  </a:t>
            </a:r>
            <a:r>
              <a:rPr lang="zh-CN" altLang="en-US" dirty="0"/>
              <a:t>缓存</a:t>
            </a:r>
            <a:endParaRPr lang="en-US" altLang="zh-CN" dirty="0"/>
          </a:p>
          <a:p>
            <a:pPr lvl="1"/>
            <a:r>
              <a:rPr lang="en-US" altLang="zh-CN" dirty="0"/>
              <a:t>Low precision  </a:t>
            </a:r>
            <a:r>
              <a:rPr lang="zh-CN" altLang="en-US" dirty="0"/>
              <a:t>低精度</a:t>
            </a:r>
            <a:endParaRPr lang="en-US" altLang="zh-CN" dirty="0"/>
          </a:p>
          <a:p>
            <a:pPr lvl="1"/>
            <a:r>
              <a:rPr lang="en-US" altLang="zh-CN" dirty="0"/>
              <a:t>Workload offloading  </a:t>
            </a:r>
            <a:r>
              <a:rPr lang="zh-CN" altLang="en-US" dirty="0"/>
              <a:t>工作负载分担</a:t>
            </a:r>
            <a:endParaRPr lang="en-US" altLang="zh-CN" dirty="0"/>
          </a:p>
        </p:txBody>
      </p:sp>
      <p:sp>
        <p:nvSpPr>
          <p:cNvPr id="5" name="Footer Placeholder 3">
            <a:extLst>
              <a:ext uri="{FF2B5EF4-FFF2-40B4-BE49-F238E27FC236}">
                <a16:creationId xmlns:a16="http://schemas.microsoft.com/office/drawing/2014/main" id="{98706A3F-EBC2-03E7-EC65-159C153D4C6A}"/>
              </a:ext>
            </a:extLst>
          </p:cNvPr>
          <p:cNvSpPr>
            <a:spLocks noGrp="1"/>
          </p:cNvSpPr>
          <p:nvPr>
            <p:ph type="ftr" sz="quarter" idx="10"/>
          </p:nvPr>
        </p:nvSpPr>
        <p:spPr>
          <a:xfrm>
            <a:off x="685800" y="6324600"/>
            <a:ext cx="7772400" cy="457200"/>
          </a:xfrm>
        </p:spPr>
        <p:txBody>
          <a:bodyPr/>
          <a:lstStyle/>
          <a:p>
            <a:pPr>
              <a:defRPr/>
            </a:pPr>
            <a:r>
              <a:rPr lang="en-US" altLang="zh-CN" dirty="0"/>
              <a:t>How Computing Works - Modern Paradigms of Architecture &amp; System: 1. Prologue</a:t>
            </a:r>
          </a:p>
          <a:p>
            <a:pPr>
              <a:defRPr/>
            </a:pPr>
            <a:r>
              <a:rPr lang="zh-CN" altLang="en-US" dirty="0"/>
              <a:t>计算如何运作 </a:t>
            </a:r>
            <a:r>
              <a:rPr lang="en-US" altLang="zh-CN" dirty="0"/>
              <a:t>– </a:t>
            </a:r>
            <a:r>
              <a:rPr lang="zh-CN" altLang="en-US" dirty="0"/>
              <a:t>架构与系统的现代范式：</a:t>
            </a:r>
            <a:r>
              <a:rPr lang="en-US" altLang="zh-CN" dirty="0"/>
              <a:t>1. </a:t>
            </a:r>
            <a:r>
              <a:rPr lang="zh-CN" altLang="en-US" dirty="0"/>
              <a:t>序言</a:t>
            </a:r>
            <a:endParaRPr lang="en-US" altLang="zh-CN" dirty="0"/>
          </a:p>
        </p:txBody>
      </p:sp>
    </p:spTree>
    <p:extLst>
      <p:ext uri="{BB962C8B-B14F-4D97-AF65-F5344CB8AC3E}">
        <p14:creationId xmlns:p14="http://schemas.microsoft.com/office/powerpoint/2010/main" val="2825178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33178-EEB8-7C3E-B73E-79BDC036FA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CFC865-97CA-E95C-D02A-AC5E9CBE0D55}"/>
              </a:ext>
            </a:extLst>
          </p:cNvPr>
          <p:cNvSpPr>
            <a:spLocks noGrp="1"/>
          </p:cNvSpPr>
          <p:nvPr>
            <p:ph type="title"/>
          </p:nvPr>
        </p:nvSpPr>
        <p:spPr/>
        <p:txBody>
          <a:bodyPr/>
          <a:lstStyle/>
          <a:p>
            <a:r>
              <a:rPr lang="en-US" altLang="zh-CN" dirty="0"/>
              <a:t>This Course </a:t>
            </a:r>
            <a:r>
              <a:rPr lang="zh-CN" altLang="en-US" dirty="0"/>
              <a:t>该课程 </a:t>
            </a:r>
            <a:r>
              <a:rPr lang="en-US" altLang="zh-CN" dirty="0"/>
              <a:t>(2)</a:t>
            </a:r>
            <a:endParaRPr lang="zh-CN" altLang="en-US" dirty="0"/>
          </a:p>
        </p:txBody>
      </p:sp>
      <p:sp>
        <p:nvSpPr>
          <p:cNvPr id="3" name="Content Placeholder 2">
            <a:extLst>
              <a:ext uri="{FF2B5EF4-FFF2-40B4-BE49-F238E27FC236}">
                <a16:creationId xmlns:a16="http://schemas.microsoft.com/office/drawing/2014/main" id="{0C0381BA-AC55-2521-FB99-51ED96AF85F3}"/>
              </a:ext>
            </a:extLst>
          </p:cNvPr>
          <p:cNvSpPr>
            <a:spLocks noGrp="1"/>
          </p:cNvSpPr>
          <p:nvPr>
            <p:ph idx="1"/>
          </p:nvPr>
        </p:nvSpPr>
        <p:spPr>
          <a:xfrm>
            <a:off x="762000" y="1600200"/>
            <a:ext cx="7772400" cy="4643438"/>
          </a:xfrm>
        </p:spPr>
        <p:txBody>
          <a:bodyPr>
            <a:normAutofit/>
          </a:bodyPr>
          <a:lstStyle/>
          <a:p>
            <a:r>
              <a:rPr lang="en-US" altLang="zh-CN" dirty="0"/>
              <a:t>You’ll Experience </a:t>
            </a:r>
            <a:r>
              <a:rPr lang="zh-CN" altLang="en-US" dirty="0"/>
              <a:t>你将体验</a:t>
            </a:r>
            <a:r>
              <a:rPr lang="en-US" altLang="zh-CN" dirty="0"/>
              <a:t> </a:t>
            </a:r>
          </a:p>
          <a:p>
            <a:pPr lvl="1"/>
            <a:r>
              <a:rPr lang="en-US" altLang="zh-CN" dirty="0"/>
              <a:t>Simple but real computing problems </a:t>
            </a:r>
            <a:br>
              <a:rPr lang="en-US" altLang="zh-CN" dirty="0"/>
            </a:br>
            <a:r>
              <a:rPr lang="zh-CN" altLang="en-US" dirty="0"/>
              <a:t>简单但实际的计算问题</a:t>
            </a:r>
            <a:endParaRPr lang="en-US" altLang="zh-CN" dirty="0"/>
          </a:p>
          <a:p>
            <a:pPr lvl="2"/>
            <a:r>
              <a:rPr lang="en-US" altLang="zh-CN" dirty="0"/>
              <a:t>Scientific computing  </a:t>
            </a:r>
            <a:r>
              <a:rPr lang="zh-CN" altLang="en-US" dirty="0"/>
              <a:t>科学计算</a:t>
            </a:r>
            <a:endParaRPr lang="en-US" altLang="zh-CN" dirty="0"/>
          </a:p>
          <a:p>
            <a:pPr lvl="2"/>
            <a:r>
              <a:rPr lang="en-US" altLang="zh-CN" dirty="0"/>
              <a:t>Machine learning  </a:t>
            </a:r>
            <a:r>
              <a:rPr lang="zh-CN" altLang="en-US" dirty="0"/>
              <a:t>机器学习</a:t>
            </a:r>
            <a:endParaRPr lang="en-US" altLang="zh-CN" dirty="0"/>
          </a:p>
          <a:p>
            <a:pPr lvl="1"/>
            <a:r>
              <a:rPr lang="en-US" altLang="zh-CN" dirty="0"/>
              <a:t>Different implementations  </a:t>
            </a:r>
            <a:r>
              <a:rPr lang="zh-CN" altLang="en-US" dirty="0"/>
              <a:t>不同的实现</a:t>
            </a:r>
            <a:endParaRPr lang="en-US" altLang="zh-CN" dirty="0"/>
          </a:p>
          <a:p>
            <a:r>
              <a:rPr lang="en-US" altLang="zh-CN" dirty="0"/>
              <a:t>From the Experiences </a:t>
            </a:r>
            <a:r>
              <a:rPr lang="zh-CN" altLang="en-US" dirty="0"/>
              <a:t>从这些体验中</a:t>
            </a:r>
            <a:r>
              <a:rPr lang="en-US" altLang="zh-CN" dirty="0"/>
              <a:t> </a:t>
            </a:r>
          </a:p>
          <a:p>
            <a:pPr lvl="1"/>
            <a:r>
              <a:rPr lang="en-US" altLang="zh-CN" dirty="0"/>
              <a:t>Generalize to the broader scope</a:t>
            </a:r>
            <a:br>
              <a:rPr lang="en-US" altLang="zh-CN" dirty="0"/>
            </a:br>
            <a:r>
              <a:rPr lang="zh-CN" altLang="en-US" dirty="0"/>
              <a:t>以小见大，以偏概全</a:t>
            </a:r>
            <a:endParaRPr lang="en-US" altLang="zh-CN" dirty="0"/>
          </a:p>
        </p:txBody>
      </p:sp>
      <p:sp>
        <p:nvSpPr>
          <p:cNvPr id="5" name="Footer Placeholder 3">
            <a:extLst>
              <a:ext uri="{FF2B5EF4-FFF2-40B4-BE49-F238E27FC236}">
                <a16:creationId xmlns:a16="http://schemas.microsoft.com/office/drawing/2014/main" id="{747D2782-1688-F77D-4A91-B2FD46558A1E}"/>
              </a:ext>
            </a:extLst>
          </p:cNvPr>
          <p:cNvSpPr>
            <a:spLocks noGrp="1"/>
          </p:cNvSpPr>
          <p:nvPr>
            <p:ph type="ftr" sz="quarter" idx="10"/>
          </p:nvPr>
        </p:nvSpPr>
        <p:spPr>
          <a:xfrm>
            <a:off x="685800" y="6324600"/>
            <a:ext cx="7772400" cy="457200"/>
          </a:xfrm>
        </p:spPr>
        <p:txBody>
          <a:bodyPr/>
          <a:lstStyle/>
          <a:p>
            <a:pPr>
              <a:defRPr/>
            </a:pPr>
            <a:r>
              <a:rPr lang="en-US" altLang="zh-CN" dirty="0"/>
              <a:t>How Computing Works - Modern Paradigms of Architecture &amp; System: 1. Prologue</a:t>
            </a:r>
          </a:p>
          <a:p>
            <a:pPr>
              <a:defRPr/>
            </a:pPr>
            <a:r>
              <a:rPr lang="zh-CN" altLang="en-US" dirty="0"/>
              <a:t>计算如何运作 </a:t>
            </a:r>
            <a:r>
              <a:rPr lang="en-US" altLang="zh-CN" dirty="0"/>
              <a:t>– </a:t>
            </a:r>
            <a:r>
              <a:rPr lang="zh-CN" altLang="en-US" dirty="0"/>
              <a:t>架构与系统的现代范式：</a:t>
            </a:r>
            <a:r>
              <a:rPr lang="en-US" altLang="zh-CN" dirty="0"/>
              <a:t>1. </a:t>
            </a:r>
            <a:r>
              <a:rPr lang="zh-CN" altLang="en-US" dirty="0"/>
              <a:t>序言</a:t>
            </a:r>
            <a:endParaRPr lang="en-US" altLang="zh-CN" dirty="0"/>
          </a:p>
        </p:txBody>
      </p:sp>
    </p:spTree>
    <p:extLst>
      <p:ext uri="{BB962C8B-B14F-4D97-AF65-F5344CB8AC3E}">
        <p14:creationId xmlns:p14="http://schemas.microsoft.com/office/powerpoint/2010/main" val="326025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98646-FBF7-2866-3A89-2B3CE29945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125D3F-BFAF-9361-F8E5-596E084BBBBC}"/>
              </a:ext>
            </a:extLst>
          </p:cNvPr>
          <p:cNvSpPr>
            <a:spLocks noGrp="1"/>
          </p:cNvSpPr>
          <p:nvPr>
            <p:ph type="title"/>
          </p:nvPr>
        </p:nvSpPr>
        <p:spPr/>
        <p:txBody>
          <a:bodyPr/>
          <a:lstStyle/>
          <a:p>
            <a:r>
              <a:rPr lang="en-US" altLang="zh-CN" dirty="0"/>
              <a:t>Not … </a:t>
            </a:r>
            <a:r>
              <a:rPr lang="zh-CN" altLang="en-US" dirty="0"/>
              <a:t>不是</a:t>
            </a:r>
            <a:r>
              <a:rPr lang="en-US" altLang="zh-CN" dirty="0"/>
              <a:t>……</a:t>
            </a:r>
            <a:endParaRPr lang="zh-CN" altLang="en-US" dirty="0"/>
          </a:p>
        </p:txBody>
      </p:sp>
      <p:sp>
        <p:nvSpPr>
          <p:cNvPr id="3" name="Content Placeholder 2">
            <a:extLst>
              <a:ext uri="{FF2B5EF4-FFF2-40B4-BE49-F238E27FC236}">
                <a16:creationId xmlns:a16="http://schemas.microsoft.com/office/drawing/2014/main" id="{929921AA-17A8-BEEE-74FA-39A19E35B8D4}"/>
              </a:ext>
            </a:extLst>
          </p:cNvPr>
          <p:cNvSpPr>
            <a:spLocks noGrp="1"/>
          </p:cNvSpPr>
          <p:nvPr>
            <p:ph idx="1"/>
          </p:nvPr>
        </p:nvSpPr>
        <p:spPr>
          <a:xfrm>
            <a:off x="762000" y="1600200"/>
            <a:ext cx="7772400" cy="4643438"/>
          </a:xfrm>
        </p:spPr>
        <p:txBody>
          <a:bodyPr>
            <a:normAutofit/>
          </a:bodyPr>
          <a:lstStyle/>
          <a:p>
            <a:r>
              <a:rPr lang="en-US" altLang="zh-CN" dirty="0"/>
              <a:t>Not a Systematic Course           </a:t>
            </a:r>
            <a:r>
              <a:rPr lang="zh-CN" altLang="en-US" dirty="0"/>
              <a:t>不是系统化的课程</a:t>
            </a:r>
            <a:r>
              <a:rPr lang="en-US" altLang="zh-CN" dirty="0"/>
              <a:t> </a:t>
            </a:r>
          </a:p>
          <a:p>
            <a:pPr lvl="1"/>
            <a:r>
              <a:rPr lang="en-US" altLang="zh-CN" dirty="0"/>
              <a:t>Not covering every aspect </a:t>
            </a:r>
            <a:r>
              <a:rPr lang="zh-CN" altLang="en-US" dirty="0"/>
              <a:t>无法面面俱到</a:t>
            </a:r>
            <a:endParaRPr lang="en-US" altLang="zh-CN" dirty="0"/>
          </a:p>
          <a:p>
            <a:r>
              <a:rPr lang="en-US" altLang="zh-CN" dirty="0"/>
              <a:t>Not a Programming Course</a:t>
            </a:r>
            <a:br>
              <a:rPr lang="en-US" altLang="zh-CN" dirty="0"/>
            </a:br>
            <a:r>
              <a:rPr lang="zh-CN" altLang="en-US" dirty="0"/>
              <a:t>不是编程课程</a:t>
            </a:r>
            <a:endParaRPr lang="en-US" altLang="zh-CN" dirty="0"/>
          </a:p>
          <a:p>
            <a:r>
              <a:rPr lang="en-US" altLang="zh-CN" dirty="0"/>
              <a:t>Not for Optimization towards the Peak Performance  </a:t>
            </a:r>
            <a:r>
              <a:rPr lang="zh-CN" altLang="en-US" dirty="0"/>
              <a:t>并非极致优化</a:t>
            </a:r>
            <a:r>
              <a:rPr lang="en-US" altLang="zh-CN" dirty="0"/>
              <a:t> </a:t>
            </a:r>
          </a:p>
        </p:txBody>
      </p:sp>
      <p:sp>
        <p:nvSpPr>
          <p:cNvPr id="5" name="Footer Placeholder 3">
            <a:extLst>
              <a:ext uri="{FF2B5EF4-FFF2-40B4-BE49-F238E27FC236}">
                <a16:creationId xmlns:a16="http://schemas.microsoft.com/office/drawing/2014/main" id="{0B187095-7391-0F8A-A838-50DF1B59BE9B}"/>
              </a:ext>
            </a:extLst>
          </p:cNvPr>
          <p:cNvSpPr>
            <a:spLocks noGrp="1"/>
          </p:cNvSpPr>
          <p:nvPr>
            <p:ph type="ftr" sz="quarter" idx="10"/>
          </p:nvPr>
        </p:nvSpPr>
        <p:spPr>
          <a:xfrm>
            <a:off x="685800" y="6324600"/>
            <a:ext cx="7772400" cy="457200"/>
          </a:xfrm>
        </p:spPr>
        <p:txBody>
          <a:bodyPr/>
          <a:lstStyle/>
          <a:p>
            <a:pPr>
              <a:defRPr/>
            </a:pPr>
            <a:r>
              <a:rPr lang="en-US" altLang="zh-CN" dirty="0"/>
              <a:t>How Computing Works - Modern Paradigms of Architecture &amp; System: 1. Prologue</a:t>
            </a:r>
          </a:p>
          <a:p>
            <a:pPr>
              <a:defRPr/>
            </a:pPr>
            <a:r>
              <a:rPr lang="zh-CN" altLang="en-US" dirty="0"/>
              <a:t>计算如何运作 </a:t>
            </a:r>
            <a:r>
              <a:rPr lang="en-US" altLang="zh-CN" dirty="0"/>
              <a:t>– </a:t>
            </a:r>
            <a:r>
              <a:rPr lang="zh-CN" altLang="en-US" dirty="0"/>
              <a:t>架构与系统的现代范式：</a:t>
            </a:r>
            <a:r>
              <a:rPr lang="en-US" altLang="zh-CN" dirty="0"/>
              <a:t>1. </a:t>
            </a:r>
            <a:r>
              <a:rPr lang="zh-CN" altLang="en-US" dirty="0"/>
              <a:t>序言</a:t>
            </a:r>
            <a:endParaRPr lang="en-US" altLang="zh-CN" dirty="0"/>
          </a:p>
        </p:txBody>
      </p:sp>
    </p:spTree>
    <p:extLst>
      <p:ext uri="{BB962C8B-B14F-4D97-AF65-F5344CB8AC3E}">
        <p14:creationId xmlns:p14="http://schemas.microsoft.com/office/powerpoint/2010/main" val="1982450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578E2B-9CFD-AE7E-88D5-EA1EDACEE6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CAB22D-59A9-EDC1-1937-B8AEF3A851AF}"/>
              </a:ext>
            </a:extLst>
          </p:cNvPr>
          <p:cNvSpPr>
            <a:spLocks noGrp="1"/>
          </p:cNvSpPr>
          <p:nvPr>
            <p:ph type="title"/>
          </p:nvPr>
        </p:nvSpPr>
        <p:spPr/>
        <p:txBody>
          <a:bodyPr/>
          <a:lstStyle/>
          <a:p>
            <a:r>
              <a:rPr lang="en-US" altLang="zh-CN" dirty="0"/>
              <a:t>Expectation </a:t>
            </a:r>
            <a:r>
              <a:rPr lang="zh-CN" altLang="en-US" dirty="0"/>
              <a:t>期望</a:t>
            </a:r>
          </a:p>
        </p:txBody>
      </p:sp>
      <p:sp>
        <p:nvSpPr>
          <p:cNvPr id="3" name="Content Placeholder 2">
            <a:extLst>
              <a:ext uri="{FF2B5EF4-FFF2-40B4-BE49-F238E27FC236}">
                <a16:creationId xmlns:a16="http://schemas.microsoft.com/office/drawing/2014/main" id="{A8C731AF-31AD-F0A2-332A-A5728F7F03CD}"/>
              </a:ext>
            </a:extLst>
          </p:cNvPr>
          <p:cNvSpPr>
            <a:spLocks noGrp="1"/>
          </p:cNvSpPr>
          <p:nvPr>
            <p:ph idx="1"/>
          </p:nvPr>
        </p:nvSpPr>
        <p:spPr>
          <a:xfrm>
            <a:off x="762000" y="1600200"/>
            <a:ext cx="7772400" cy="4643438"/>
          </a:xfrm>
        </p:spPr>
        <p:txBody>
          <a:bodyPr>
            <a:normAutofit/>
          </a:bodyPr>
          <a:lstStyle/>
          <a:p>
            <a:r>
              <a:rPr lang="en-US" altLang="zh-CN" dirty="0"/>
              <a:t>Learn Interesting Knowledge           </a:t>
            </a:r>
            <a:r>
              <a:rPr lang="zh-CN" altLang="en-US" dirty="0"/>
              <a:t>学习有趣的知识</a:t>
            </a:r>
            <a:r>
              <a:rPr lang="en-US" altLang="zh-CN" dirty="0"/>
              <a:t> </a:t>
            </a:r>
          </a:p>
          <a:p>
            <a:pPr lvl="1"/>
            <a:r>
              <a:rPr lang="en-US" altLang="zh-CN" dirty="0"/>
              <a:t>Gain insight </a:t>
            </a:r>
            <a:r>
              <a:rPr lang="zh-CN" altLang="en-US" dirty="0"/>
              <a:t>洞悉要义</a:t>
            </a:r>
            <a:endParaRPr lang="en-US" altLang="zh-CN" dirty="0"/>
          </a:p>
          <a:p>
            <a:r>
              <a:rPr lang="en-US" altLang="zh-CN" dirty="0"/>
              <a:t>Practice (Easy) Programming                </a:t>
            </a:r>
            <a:r>
              <a:rPr lang="zh-CN" altLang="en-US"/>
              <a:t>锻炼（容易的）编</a:t>
            </a:r>
            <a:r>
              <a:rPr lang="zh-CN" altLang="en-US" dirty="0"/>
              <a:t>程</a:t>
            </a:r>
            <a:endParaRPr lang="en-US" altLang="zh-CN" dirty="0"/>
          </a:p>
          <a:p>
            <a:pPr lvl="1"/>
            <a:r>
              <a:rPr lang="en-US" altLang="zh-CN" dirty="0"/>
              <a:t>NO homework </a:t>
            </a:r>
            <a:r>
              <a:rPr lang="zh-CN" altLang="en-US" b="1" dirty="0">
                <a:solidFill>
                  <a:srgbClr val="C00000"/>
                </a:solidFill>
              </a:rPr>
              <a:t>没有</a:t>
            </a:r>
            <a:r>
              <a:rPr lang="zh-CN" altLang="en-US" dirty="0"/>
              <a:t>回家作业</a:t>
            </a:r>
            <a:endParaRPr lang="en-US" altLang="zh-CN" dirty="0"/>
          </a:p>
        </p:txBody>
      </p:sp>
      <p:sp>
        <p:nvSpPr>
          <p:cNvPr id="5" name="Footer Placeholder 3">
            <a:extLst>
              <a:ext uri="{FF2B5EF4-FFF2-40B4-BE49-F238E27FC236}">
                <a16:creationId xmlns:a16="http://schemas.microsoft.com/office/drawing/2014/main" id="{3F03F353-6B5D-A17C-F15B-12AABC9C37F8}"/>
              </a:ext>
            </a:extLst>
          </p:cNvPr>
          <p:cNvSpPr>
            <a:spLocks noGrp="1"/>
          </p:cNvSpPr>
          <p:nvPr>
            <p:ph type="ftr" sz="quarter" idx="10"/>
          </p:nvPr>
        </p:nvSpPr>
        <p:spPr>
          <a:xfrm>
            <a:off x="685800" y="6324600"/>
            <a:ext cx="7772400" cy="457200"/>
          </a:xfrm>
        </p:spPr>
        <p:txBody>
          <a:bodyPr/>
          <a:lstStyle/>
          <a:p>
            <a:pPr>
              <a:defRPr/>
            </a:pPr>
            <a:r>
              <a:rPr lang="en-US" altLang="zh-CN" dirty="0"/>
              <a:t>How Computing Works - Modern Paradigms of Architecture &amp; System: 1. Prologue</a:t>
            </a:r>
          </a:p>
          <a:p>
            <a:pPr>
              <a:defRPr/>
            </a:pPr>
            <a:r>
              <a:rPr lang="zh-CN" altLang="en-US" dirty="0"/>
              <a:t>计算如何运作 </a:t>
            </a:r>
            <a:r>
              <a:rPr lang="en-US" altLang="zh-CN" dirty="0"/>
              <a:t>– </a:t>
            </a:r>
            <a:r>
              <a:rPr lang="zh-CN" altLang="en-US" dirty="0"/>
              <a:t>架构与系统的现代范式：</a:t>
            </a:r>
            <a:r>
              <a:rPr lang="en-US" altLang="zh-CN" dirty="0"/>
              <a:t>1. </a:t>
            </a:r>
            <a:r>
              <a:rPr lang="zh-CN" altLang="en-US" dirty="0"/>
              <a:t>序言</a:t>
            </a:r>
            <a:endParaRPr lang="en-US" altLang="zh-CN" dirty="0"/>
          </a:p>
        </p:txBody>
      </p:sp>
    </p:spTree>
    <p:extLst>
      <p:ext uri="{BB962C8B-B14F-4D97-AF65-F5344CB8AC3E}">
        <p14:creationId xmlns:p14="http://schemas.microsoft.com/office/powerpoint/2010/main" val="3730012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ctrTitle"/>
          </p:nvPr>
        </p:nvSpPr>
        <p:spPr>
          <a:xfrm>
            <a:off x="685800" y="2636838"/>
            <a:ext cx="7772400" cy="1470025"/>
          </a:xfrm>
        </p:spPr>
        <p:txBody>
          <a:bodyPr/>
          <a:lstStyle/>
          <a:p>
            <a:pPr algn="ctr" eaLnBrk="1" hangingPunct="1"/>
            <a:r>
              <a:rPr lang="en-US" altLang="ja-JP" b="1" dirty="0">
                <a:ea typeface="ＭＳ Ｐゴシック" panose="020B0600070205080204" pitchFamily="34" charset="-128"/>
              </a:rPr>
              <a:t>The End </a:t>
            </a:r>
            <a:endParaRPr lang="en-US" altLang="zh-CN" b="1" dirty="0">
              <a:ea typeface="SimSun" panose="02010600030101010101" pitchFamily="2" charset="-122"/>
            </a:endParaRP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TIMING" val="|0.1|0.2"/>
</p:tagLst>
</file>

<file path=ppt/tags/tag2.xml><?xml version="1.0" encoding="utf-8"?>
<p:tagLst xmlns:a="http://schemas.openxmlformats.org/drawingml/2006/main" xmlns:r="http://schemas.openxmlformats.org/officeDocument/2006/relationships" xmlns:p="http://schemas.openxmlformats.org/presentationml/2006/main">
  <p:tag name="TIMING" val="|0.1|0.2"/>
</p:tagLst>
</file>

<file path=ppt/tags/tag3.xml><?xml version="1.0" encoding="utf-8"?>
<p:tagLst xmlns:a="http://schemas.openxmlformats.org/drawingml/2006/main" xmlns:r="http://schemas.openxmlformats.org/officeDocument/2006/relationships" xmlns:p="http://schemas.openxmlformats.org/presentationml/2006/main">
  <p:tag name="TIMING" val="|0.1|0.2"/>
</p:tagLst>
</file>

<file path=ppt/tags/tag4.xml><?xml version="1.0" encoding="utf-8"?>
<p:tagLst xmlns:a="http://schemas.openxmlformats.org/drawingml/2006/main" xmlns:r="http://schemas.openxmlformats.org/officeDocument/2006/relationships" xmlns:p="http://schemas.openxmlformats.org/presentationml/2006/main">
  <p:tag name="TIMING" val="|0.1|0.2"/>
</p:tagLst>
</file>

<file path=ppt/tags/tag5.xml><?xml version="1.0" encoding="utf-8"?>
<p:tagLst xmlns:a="http://schemas.openxmlformats.org/drawingml/2006/main" xmlns:r="http://schemas.openxmlformats.org/officeDocument/2006/relationships" xmlns:p="http://schemas.openxmlformats.org/presentationml/2006/main">
  <p:tag name="TIMING" val="|0.1|0.2"/>
</p:tagLst>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Comic Sans MS" pitchFamily="66" charset="0"/>
            <a:ea typeface="SimSun"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Comic Sans MS" pitchFamily="66" charset="0"/>
            <a:ea typeface="SimSun"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46c98d88-e344-4ed4-8496-4ed7712e255d}" enabled="0" method="" siteId="{46c98d88-e344-4ed4-8496-4ed7712e255d}" removed="1"/>
</clbl:labelList>
</file>

<file path=docProps/app.xml><?xml version="1.0" encoding="utf-8"?>
<Properties xmlns="http://schemas.openxmlformats.org/officeDocument/2006/extended-properties" xmlns:vt="http://schemas.openxmlformats.org/officeDocument/2006/docPropsVTypes">
  <Template/>
  <TotalTime>12216</TotalTime>
  <Words>1643</Words>
  <Application>Microsoft Office PowerPoint</Application>
  <PresentationFormat>On-screen Show (4:3)</PresentationFormat>
  <Paragraphs>148</Paragraphs>
  <Slides>20</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ＭＳ Ｐゴシック</vt:lpstr>
      <vt:lpstr>SimSun</vt:lpstr>
      <vt:lpstr>Arial</vt:lpstr>
      <vt:lpstr>Comic Sans MS</vt:lpstr>
      <vt:lpstr>Tahoma</vt:lpstr>
      <vt:lpstr>Times New Roman</vt:lpstr>
      <vt:lpstr>Wingdings</vt:lpstr>
      <vt:lpstr>Blends</vt:lpstr>
      <vt:lpstr>How Computing Works -  Modern Paradigms of Architecture &amp; System 1. Prologue</vt:lpstr>
      <vt:lpstr>More than Forty Years Ago … 40多年前</vt:lpstr>
      <vt:lpstr>Now Computing Is Everywhere 如今计算已无处不在</vt:lpstr>
      <vt:lpstr>Computing Impacts Our Life  计算影响着我们的生活</vt:lpstr>
      <vt:lpstr>How Does Computing Work? 那么计算如何运作</vt:lpstr>
      <vt:lpstr>AI Programs for Us AI为我们编程</vt:lpstr>
      <vt:lpstr>What Drives Our Learning 我们的学习由什么驱动</vt:lpstr>
      <vt:lpstr>Now the Utility 然后我们来讨论效用</vt:lpstr>
      <vt:lpstr>The Interaction  这种交互</vt:lpstr>
      <vt:lpstr>Why Important  为什么重要</vt:lpstr>
      <vt:lpstr>Classical Knowledge  经典知识 (1)</vt:lpstr>
      <vt:lpstr>Classical Knowledge  经典知识 (2)</vt:lpstr>
      <vt:lpstr>Evolving Knowledge  演进知识</vt:lpstr>
      <vt:lpstr>But Knowledge Can Be Subtle 然而知识可能是深奥微妙的</vt:lpstr>
      <vt:lpstr>The Fast-Changing Age 这个快速变化的时代 </vt:lpstr>
      <vt:lpstr>This Course 该课程 (1)</vt:lpstr>
      <vt:lpstr>This Course 该课程 (2)</vt:lpstr>
      <vt:lpstr>Not … 不是……</vt:lpstr>
      <vt:lpstr>Expectation 期望</vt:lpstr>
      <vt:lpstr>The End </vt:lpstr>
    </vt:vector>
  </TitlesOfParts>
  <Company>Children's Computer Center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 Basics: 1. General Introduction</dc:title>
  <dc:creator>Cong Li</dc:creator>
  <cp:keywords>CTPClassification=CTP_NT</cp:keywords>
  <cp:lastModifiedBy>Li, Cong</cp:lastModifiedBy>
  <cp:revision>1037</cp:revision>
  <dcterms:created xsi:type="dcterms:W3CDTF">2003-03-13T01:36:43Z</dcterms:created>
  <dcterms:modified xsi:type="dcterms:W3CDTF">2026-10-31T00:13:27Z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c0c0107d-b9fb-42c2-8cad-18a954c0a4de</vt:lpwstr>
  </property>
  <property fmtid="{D5CDD505-2E9C-101B-9397-08002B2CF9AE}" pid="3" name="CTP_TimeStamp">
    <vt:lpwstr>2020-08-17 11:43:15Z</vt:lpwstr>
  </property>
  <property fmtid="{D5CDD505-2E9C-101B-9397-08002B2CF9AE}" pid="4" name="CTP_BU">
    <vt:lpwstr>NA</vt:lpwstr>
  </property>
  <property fmtid="{D5CDD505-2E9C-101B-9397-08002B2CF9AE}" pid="5" name="CTP_IDSID">
    <vt:lpwstr>NA</vt:lpwstr>
  </property>
  <property fmtid="{D5CDD505-2E9C-101B-9397-08002B2CF9AE}" pid="6" name="CTP_WWID">
    <vt:lpwstr>NA</vt:lpwstr>
  </property>
  <property fmtid="{D5CDD505-2E9C-101B-9397-08002B2CF9AE}" pid="7" name="CTPClassification">
    <vt:lpwstr>CTP_NT</vt:lpwstr>
  </property>
</Properties>
</file>