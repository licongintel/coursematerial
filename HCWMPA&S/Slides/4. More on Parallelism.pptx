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52"/>
  </p:notesMasterIdLst>
  <p:handoutMasterIdLst>
    <p:handoutMasterId r:id="rId53"/>
  </p:handoutMasterIdLst>
  <p:sldIdLst>
    <p:sldId id="286" r:id="rId5"/>
    <p:sldId id="494" r:id="rId6"/>
    <p:sldId id="495" r:id="rId7"/>
    <p:sldId id="496" r:id="rId8"/>
    <p:sldId id="499" r:id="rId9"/>
    <p:sldId id="500" r:id="rId10"/>
    <p:sldId id="501" r:id="rId11"/>
    <p:sldId id="502" r:id="rId12"/>
    <p:sldId id="503" r:id="rId13"/>
    <p:sldId id="504" r:id="rId14"/>
    <p:sldId id="505" r:id="rId15"/>
    <p:sldId id="506" r:id="rId16"/>
    <p:sldId id="507" r:id="rId17"/>
    <p:sldId id="509" r:id="rId18"/>
    <p:sldId id="508" r:id="rId19"/>
    <p:sldId id="510" r:id="rId20"/>
    <p:sldId id="511" r:id="rId21"/>
    <p:sldId id="512" r:id="rId22"/>
    <p:sldId id="513" r:id="rId23"/>
    <p:sldId id="514" r:id="rId24"/>
    <p:sldId id="536" r:id="rId25"/>
    <p:sldId id="537" r:id="rId26"/>
    <p:sldId id="533" r:id="rId27"/>
    <p:sldId id="539" r:id="rId28"/>
    <p:sldId id="538" r:id="rId29"/>
    <p:sldId id="546" r:id="rId30"/>
    <p:sldId id="515" r:id="rId31"/>
    <p:sldId id="516" r:id="rId32"/>
    <p:sldId id="535" r:id="rId33"/>
    <p:sldId id="534" r:id="rId34"/>
    <p:sldId id="517" r:id="rId35"/>
    <p:sldId id="532" r:id="rId36"/>
    <p:sldId id="548" r:id="rId37"/>
    <p:sldId id="519" r:id="rId38"/>
    <p:sldId id="520" r:id="rId39"/>
    <p:sldId id="522" r:id="rId40"/>
    <p:sldId id="521" r:id="rId41"/>
    <p:sldId id="523" r:id="rId42"/>
    <p:sldId id="524" r:id="rId43"/>
    <p:sldId id="525" r:id="rId44"/>
    <p:sldId id="526" r:id="rId45"/>
    <p:sldId id="527" r:id="rId46"/>
    <p:sldId id="528" r:id="rId47"/>
    <p:sldId id="529" r:id="rId48"/>
    <p:sldId id="518" r:id="rId49"/>
    <p:sldId id="466" r:id="rId50"/>
    <p:sldId id="353" r:id="rId51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5D7"/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466BD-1843-4B90-9142-A1B0D84B7E22}" v="247" dt="2026-09-06T07:52:31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1" autoAdjust="0"/>
    <p:restoredTop sz="89758" autoAdjust="0"/>
  </p:normalViewPr>
  <p:slideViewPr>
    <p:cSldViewPr>
      <p:cViewPr varScale="1">
        <p:scale>
          <a:sx n="64" d="100"/>
          <a:sy n="64" d="100"/>
        </p:scale>
        <p:origin x="1061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 sldOrd">
      <pc:chgData name="Li, Cong" userId="025630f4-267e-4cb3-8cd5-8795177f99f4" providerId="ADAL" clId="{929A2CC8-B112-421C-81E2-D5D63B23E300}" dt="2026-09-06T07:54:40.516" v="26507" actId="20577"/>
      <pc:docMkLst>
        <pc:docMk/>
      </pc:docMkLst>
      <pc:sldChg chg="modSp add mod">
        <pc:chgData name="Li, Cong" userId="025630f4-267e-4cb3-8cd5-8795177f99f4" providerId="ADAL" clId="{929A2CC8-B112-421C-81E2-D5D63B23E300}" dt="2026-08-29T09:24:19.770" v="26497" actId="20577"/>
        <pc:sldMkLst>
          <pc:docMk/>
          <pc:sldMk cId="3680982842" sldId="466"/>
        </pc:sldMkLst>
        <pc:spChg chg="mod">
          <ac:chgData name="Li, Cong" userId="025630f4-267e-4cb3-8cd5-8795177f99f4" providerId="ADAL" clId="{929A2CC8-B112-421C-81E2-D5D63B23E300}" dt="2026-08-29T07:21:27.169" v="26140" actId="20577"/>
          <ac:spMkLst>
            <pc:docMk/>
            <pc:sldMk cId="3680982842" sldId="466"/>
            <ac:spMk id="2" creationId="{6E7E5140-4F14-C1B9-5D41-95B78DFE7BAB}"/>
          </ac:spMkLst>
        </pc:spChg>
        <pc:spChg chg="mod">
          <ac:chgData name="Li, Cong" userId="025630f4-267e-4cb3-8cd5-8795177f99f4" providerId="ADAL" clId="{929A2CC8-B112-421C-81E2-D5D63B23E300}" dt="2026-08-29T09:24:19.770" v="26497" actId="20577"/>
          <ac:spMkLst>
            <pc:docMk/>
            <pc:sldMk cId="3680982842" sldId="466"/>
            <ac:spMk id="7" creationId="{46ACBC6D-CE94-9773-B239-56C5D2161064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8-29T09:18:20.868" v="26248" actId="20577"/>
        <pc:sldMkLst>
          <pc:docMk/>
          <pc:sldMk cId="4013993263" sldId="515"/>
        </pc:sldMkLst>
        <pc:spChg chg="mod">
          <ac:chgData name="Li, Cong" userId="025630f4-267e-4cb3-8cd5-8795177f99f4" providerId="ADAL" clId="{929A2CC8-B112-421C-81E2-D5D63B23E300}" dt="2026-08-29T09:18:20.868" v="26248" actId="20577"/>
          <ac:spMkLst>
            <pc:docMk/>
            <pc:sldMk cId="4013993263" sldId="515"/>
            <ac:spMk id="2" creationId="{B9CA1AD4-0D75-60BF-4D79-53FC0A190777}"/>
          </ac:spMkLst>
        </pc:spChg>
      </pc:sldChg>
      <pc:sldChg chg="addSp delSp modSp add mod addAnim delAnim modAnim">
        <pc:chgData name="Li, Cong" userId="025630f4-267e-4cb3-8cd5-8795177f99f4" providerId="ADAL" clId="{929A2CC8-B112-421C-81E2-D5D63B23E300}" dt="2026-08-29T09:18:26.463" v="26249"/>
        <pc:sldMkLst>
          <pc:docMk/>
          <pc:sldMk cId="3251037181" sldId="516"/>
        </pc:sldMkLst>
        <pc:spChg chg="mod">
          <ac:chgData name="Li, Cong" userId="025630f4-267e-4cb3-8cd5-8795177f99f4" providerId="ADAL" clId="{929A2CC8-B112-421C-81E2-D5D63B23E300}" dt="2026-08-29T09:18:26.463" v="26249"/>
          <ac:spMkLst>
            <pc:docMk/>
            <pc:sldMk cId="3251037181" sldId="516"/>
            <ac:spMk id="2" creationId="{56DE4766-9AB3-4D8A-EBAB-2DE21C148AD7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8-29T09:18:36.405" v="26252"/>
        <pc:sldMkLst>
          <pc:docMk/>
          <pc:sldMk cId="1991636524" sldId="517"/>
        </pc:sldMkLst>
        <pc:spChg chg="mod">
          <ac:chgData name="Li, Cong" userId="025630f4-267e-4cb3-8cd5-8795177f99f4" providerId="ADAL" clId="{929A2CC8-B112-421C-81E2-D5D63B23E300}" dt="2026-08-29T09:18:36.405" v="26252"/>
          <ac:spMkLst>
            <pc:docMk/>
            <pc:sldMk cId="1991636524" sldId="517"/>
            <ac:spMk id="2" creationId="{6CE1E255-E781-99EB-D365-3EAEF79FED5D}"/>
          </ac:spMkLst>
        </pc:spChg>
      </pc:sldChg>
      <pc:sldChg chg="addSp modSp add mod modAnim">
        <pc:chgData name="Li, Cong" userId="025630f4-267e-4cb3-8cd5-8795177f99f4" providerId="ADAL" clId="{929A2CC8-B112-421C-81E2-D5D63B23E300}" dt="2026-09-06T07:54:40.516" v="26507" actId="20577"/>
        <pc:sldMkLst>
          <pc:docMk/>
          <pc:sldMk cId="3130742456" sldId="532"/>
        </pc:sldMkLst>
        <pc:spChg chg="mod">
          <ac:chgData name="Li, Cong" userId="025630f4-267e-4cb3-8cd5-8795177f99f4" providerId="ADAL" clId="{929A2CC8-B112-421C-81E2-D5D63B23E300}" dt="2026-08-29T09:18:38.776" v="26253"/>
          <ac:spMkLst>
            <pc:docMk/>
            <pc:sldMk cId="3130742456" sldId="532"/>
            <ac:spMk id="2" creationId="{74873EE3-7577-F85E-A8D9-2403ADE0A143}"/>
          </ac:spMkLst>
        </pc:spChg>
        <pc:spChg chg="mod">
          <ac:chgData name="Li, Cong" userId="025630f4-267e-4cb3-8cd5-8795177f99f4" providerId="ADAL" clId="{929A2CC8-B112-421C-81E2-D5D63B23E300}" dt="2026-09-06T07:54:40.516" v="26507" actId="20577"/>
          <ac:spMkLst>
            <pc:docMk/>
            <pc:sldMk cId="3130742456" sldId="532"/>
            <ac:spMk id="64" creationId="{42AEDD46-5FAC-4AAD-6CD2-598C3230F34C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08-29T09:18:33.344" v="26251"/>
        <pc:sldMkLst>
          <pc:docMk/>
          <pc:sldMk cId="2384299784" sldId="534"/>
        </pc:sldMkLst>
        <pc:spChg chg="mod">
          <ac:chgData name="Li, Cong" userId="025630f4-267e-4cb3-8cd5-8795177f99f4" providerId="ADAL" clId="{929A2CC8-B112-421C-81E2-D5D63B23E300}" dt="2026-08-29T09:18:33.344" v="26251"/>
          <ac:spMkLst>
            <pc:docMk/>
            <pc:sldMk cId="2384299784" sldId="534"/>
            <ac:spMk id="2" creationId="{48650E09-EBF5-A997-86A0-A67D46D02C49}"/>
          </ac:spMkLst>
        </pc:spChg>
      </pc:sldChg>
      <pc:sldChg chg="delSp modSp add mod modAnim">
        <pc:chgData name="Li, Cong" userId="025630f4-267e-4cb3-8cd5-8795177f99f4" providerId="ADAL" clId="{929A2CC8-B112-421C-81E2-D5D63B23E300}" dt="2026-08-29T09:18:30.575" v="26250"/>
        <pc:sldMkLst>
          <pc:docMk/>
          <pc:sldMk cId="3822137666" sldId="535"/>
        </pc:sldMkLst>
        <pc:spChg chg="mod">
          <ac:chgData name="Li, Cong" userId="025630f4-267e-4cb3-8cd5-8795177f99f4" providerId="ADAL" clId="{929A2CC8-B112-421C-81E2-D5D63B23E300}" dt="2026-08-29T09:18:30.575" v="26250"/>
          <ac:spMkLst>
            <pc:docMk/>
            <pc:sldMk cId="3822137666" sldId="535"/>
            <ac:spMk id="2" creationId="{956B0397-17F7-A49B-19B8-752FB3A8F6F3}"/>
          </ac:spMkLst>
        </pc:spChg>
      </pc:sldChg>
      <pc:sldChg chg="modSp">
        <pc:chgData name="Li, Cong" userId="025630f4-267e-4cb3-8cd5-8795177f99f4" providerId="ADAL" clId="{929A2CC8-B112-421C-81E2-D5D63B23E300}" dt="2026-09-06T07:52:31.256" v="26498"/>
        <pc:sldMkLst>
          <pc:docMk/>
          <pc:sldMk cId="2982130398" sldId="546"/>
        </pc:sldMkLst>
        <pc:spChg chg="mod">
          <ac:chgData name="Li, Cong" userId="025630f4-267e-4cb3-8cd5-8795177f99f4" providerId="ADAL" clId="{929A2CC8-B112-421C-81E2-D5D63B23E300}" dt="2026-09-06T07:52:31.256" v="26498"/>
          <ac:spMkLst>
            <pc:docMk/>
            <pc:sldMk cId="2982130398" sldId="546"/>
            <ac:spMk id="4" creationId="{8779CC65-7B35-6389-F25C-C2C5CC245CCA}"/>
          </ac:spMkLst>
        </pc:spChg>
      </pc:sldChg>
      <pc:sldChg chg="modSp add del mod">
        <pc:chgData name="Li, Cong" userId="025630f4-267e-4cb3-8cd5-8795177f99f4" providerId="ADAL" clId="{929A2CC8-B112-421C-81E2-D5D63B23E300}" dt="2026-09-06T07:52:58.830" v="26499" actId="47"/>
        <pc:sldMkLst>
          <pc:docMk/>
          <pc:sldMk cId="2000639394" sldId="547"/>
        </pc:sldMkLst>
        <pc:spChg chg="mod">
          <ac:chgData name="Li, Cong" userId="025630f4-267e-4cb3-8cd5-8795177f99f4" providerId="ADAL" clId="{929A2CC8-B112-421C-81E2-D5D63B23E300}" dt="2026-08-29T09:18:56.071" v="26262" actId="20577"/>
          <ac:spMkLst>
            <pc:docMk/>
            <pc:sldMk cId="2000639394" sldId="547"/>
            <ac:spMk id="64" creationId="{6F40CC9F-F998-F46E-FC0E-5E6A41ABC115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08-29T09:22:10.632" v="26490" actId="20577"/>
        <pc:sldMkLst>
          <pc:docMk/>
          <pc:sldMk cId="2023258470" sldId="548"/>
        </pc:sldMkLst>
        <pc:spChg chg="mod">
          <ac:chgData name="Li, Cong" userId="025630f4-267e-4cb3-8cd5-8795177f99f4" providerId="ADAL" clId="{929A2CC8-B112-421C-81E2-D5D63B23E300}" dt="2026-08-29T09:19:13.038" v="26264" actId="20577"/>
          <ac:spMkLst>
            <pc:docMk/>
            <pc:sldMk cId="2023258470" sldId="548"/>
            <ac:spMk id="2" creationId="{FD5CBF44-9742-12F8-BEE8-A8F754E3D3B1}"/>
          </ac:spMkLst>
        </pc:spChg>
        <pc:spChg chg="add mod">
          <ac:chgData name="Li, Cong" userId="025630f4-267e-4cb3-8cd5-8795177f99f4" providerId="ADAL" clId="{929A2CC8-B112-421C-81E2-D5D63B23E300}" dt="2026-08-29T09:21:06.817" v="26444" actId="1076"/>
          <ac:spMkLst>
            <pc:docMk/>
            <pc:sldMk cId="2023258470" sldId="548"/>
            <ac:spMk id="4" creationId="{91D396BE-2DDE-5B8E-85BA-1F8D2BCB9B20}"/>
          </ac:spMkLst>
        </pc:spChg>
        <pc:spChg chg="add mod">
          <ac:chgData name="Li, Cong" userId="025630f4-267e-4cb3-8cd5-8795177f99f4" providerId="ADAL" clId="{929A2CC8-B112-421C-81E2-D5D63B23E300}" dt="2026-08-29T09:22:10.632" v="26490" actId="20577"/>
          <ac:spMkLst>
            <pc:docMk/>
            <pc:sldMk cId="2023258470" sldId="548"/>
            <ac:spMk id="16" creationId="{8F0A5C56-3D34-7130-2A59-7F23498A515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024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3E20-53EA-982C-4817-AAD345F34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4CD77-B276-D55E-2E6A-41EFB050D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8EE0E-3A05-AD28-D53C-2333A224F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988F9-0715-4154-3F9D-0D2EFF3D1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974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5CB1-1022-FC24-459A-EA6497D4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5319C-0D69-9AEF-1724-7DC9DACF1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DBE23-636C-ABFD-ED09-EC0B8AC3B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6D910-A0B3-D9D5-75E1-7A1CA0D25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9472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CB33D-5FCA-9122-AA7D-EEC6BA81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C4B24-2D60-7C65-D305-B32547AD5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EA42B-B942-1823-E55B-5C5199BF1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6FC65-7552-3765-D38B-B8C5C5223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0486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9315-0AE7-1C51-5222-BC693F14E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E3CFB-E112-FDEE-5171-F32EB8F39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B11F3-0BBF-FD65-DAE5-AF6D3681D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85A26-9821-F9FD-2009-611679A28A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8604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4. More on Parallelism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4. </a:t>
            </a:r>
            <a:r>
              <a:rPr lang="zh-CN" altLang="en-US" sz="3600" b="1" kern="0" dirty="0">
                <a:ea typeface="SimSun" panose="02010600030101010101" pitchFamily="2" charset="-122"/>
              </a:rPr>
              <a:t>再谈并行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9CCB-0C24-0D44-B2F6-300DD4E2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6BBA-BECF-10B3-B897-73E67E54E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1 Core to More Cores</a:t>
            </a:r>
            <a:br>
              <a:rPr lang="en-US" altLang="zh-CN" dirty="0"/>
            </a:br>
            <a:r>
              <a:rPr lang="zh-CN" altLang="en-US" dirty="0"/>
              <a:t>从单核到多核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4C956-3E70-6443-98C8-429EC3C232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6248E0-F953-4796-8FC2-34760A57BF6B}"/>
              </a:ext>
            </a:extLst>
          </p:cNvPr>
          <p:cNvSpPr txBox="1"/>
          <p:nvPr/>
        </p:nvSpPr>
        <p:spPr>
          <a:xfrm>
            <a:off x="1063926" y="2057400"/>
            <a:ext cx="70161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 have combined SIMD, superscalar execution, &amp; pipelining multiple instructions to boost the parallelism inside a CPU core</a:t>
            </a:r>
          </a:p>
          <a:p>
            <a:pPr algn="ctr"/>
            <a:r>
              <a:rPr lang="zh-CN" altLang="en-US" sz="2400" dirty="0"/>
              <a:t>我们已经把</a:t>
            </a:r>
            <a:r>
              <a:rPr lang="en-US" altLang="zh-CN" sz="2400" dirty="0"/>
              <a:t>SIMD</a:t>
            </a:r>
            <a:r>
              <a:rPr lang="zh-CN" altLang="en-US" sz="2400" dirty="0"/>
              <a:t>、超越标量的执行和多指令执行流水化来提升一个</a:t>
            </a:r>
            <a:r>
              <a:rPr lang="en-US" altLang="zh-CN" sz="2400" dirty="0"/>
              <a:t>CPU</a:t>
            </a:r>
            <a:r>
              <a:rPr lang="zh-CN" altLang="en-US" sz="2400" dirty="0"/>
              <a:t>核心内的并行度</a:t>
            </a:r>
            <a:endParaRPr lang="en-US" altLang="zh-C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0F9237-489F-0D4B-37FC-54730378B3E0}"/>
              </a:ext>
            </a:extLst>
          </p:cNvPr>
          <p:cNvSpPr txBox="1"/>
          <p:nvPr/>
        </p:nvSpPr>
        <p:spPr>
          <a:xfrm>
            <a:off x="1688005" y="4405194"/>
            <a:ext cx="5798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Don’t forget that we have multiple cores in modern processor</a:t>
            </a:r>
          </a:p>
          <a:p>
            <a:pPr algn="ctr"/>
            <a:r>
              <a:rPr lang="zh-CN" altLang="en-US" sz="2400" dirty="0"/>
              <a:t>别忘记现代处理器中有多个核心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21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96A0-1742-FCCE-E8EB-721E7CDC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5A7C0-2897-9A6B-EF5A-E0839A955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Multicore Processor  </a:t>
            </a:r>
            <a:br>
              <a:rPr lang="en-US" altLang="zh-CN" dirty="0"/>
            </a:br>
            <a:r>
              <a:rPr lang="zh-CN" altLang="en-US" dirty="0"/>
              <a:t>多核处理器</a:t>
            </a:r>
            <a:endParaRPr lang="zh-CN" alt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BBEAC0-133C-8B0B-D28C-5AC68ABAD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662" y="1600200"/>
            <a:ext cx="3876675" cy="3848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05468A8-2A54-6FBE-9F8B-33DFE559090B}"/>
              </a:ext>
            </a:extLst>
          </p:cNvPr>
          <p:cNvSpPr/>
          <p:nvPr/>
        </p:nvSpPr>
        <p:spPr bwMode="auto">
          <a:xfrm>
            <a:off x="4358640" y="4834830"/>
            <a:ext cx="2034540" cy="232470"/>
          </a:xfrm>
          <a:prstGeom prst="rect">
            <a:avLst/>
          </a:prstGeom>
          <a:noFill/>
          <a:ln w="190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67E635F-A039-A73D-507A-83A0381E0F5B}"/>
              </a:ext>
            </a:extLst>
          </p:cNvPr>
          <p:cNvCxnSpPr>
            <a:cxnSpLocks/>
            <a:stCxn id="7" idx="0"/>
            <a:endCxn id="5" idx="2"/>
          </p:cNvCxnSpPr>
          <p:nvPr/>
        </p:nvCxnSpPr>
        <p:spPr bwMode="auto">
          <a:xfrm flipH="1" flipV="1">
            <a:off x="5375910" y="5067300"/>
            <a:ext cx="953" cy="5715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FDA366D-EFA0-D308-9D14-FC4673BF82F8}"/>
              </a:ext>
            </a:extLst>
          </p:cNvPr>
          <p:cNvSpPr txBox="1"/>
          <p:nvPr/>
        </p:nvSpPr>
        <p:spPr>
          <a:xfrm>
            <a:off x="2286000" y="5638800"/>
            <a:ext cx="6181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Multiple cores  </a:t>
            </a:r>
            <a:r>
              <a:rPr lang="zh-CN" altLang="en-US" sz="2800" dirty="0"/>
              <a:t>多个核心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7604247-8169-1E29-7002-E8BE0BD212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37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E777-4972-2FCA-A4F7-484F1268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DE47-5AB2-99D8-51F0-307C1E4D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4.1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EA7C9-8866-E436-2D76-F88E3C4A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99F6E5-6826-E32D-AC93-5354DA911E18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leverage multiple cores in bifurcation calculation</a:t>
            </a:r>
          </a:p>
          <a:p>
            <a:pPr algn="ctr"/>
            <a:r>
              <a:rPr lang="zh-CN" altLang="en-US" sz="2200" dirty="0"/>
              <a:t>实践时刻：利用多核进行分岔计算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23714-A2D2-AD4F-E366-838463488D12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Calculate w/ multiple threads</a:t>
            </a:r>
          </a:p>
          <a:p>
            <a:pPr algn="ctr"/>
            <a:r>
              <a:rPr lang="zh-CN" altLang="en-US" sz="2200" dirty="0"/>
              <a:t>用多个线程进行计算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00F31-9938-6114-7313-304E3DDE4C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2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3B47-CB1C-9098-5060-CC37AB80E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B6B0A-9F0D-A4F4-CADB-89EDC2FEA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Modern Multicore Processor</a:t>
            </a:r>
            <a:br>
              <a:rPr lang="en-US" altLang="zh-CN" dirty="0"/>
            </a:br>
            <a:r>
              <a:rPr lang="zh-CN" altLang="en-US" dirty="0"/>
              <a:t>现代多核处理器</a:t>
            </a:r>
            <a:r>
              <a:rPr lang="en-US" altLang="zh-CN" dirty="0"/>
              <a:t> (1)</a:t>
            </a: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FDAC2-79FB-5370-DD5F-795908C2E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175" y="2590800"/>
            <a:ext cx="5487650" cy="36127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34E60E-6CFF-41D0-3DA8-7164509464E6}"/>
              </a:ext>
            </a:extLst>
          </p:cNvPr>
          <p:cNvSpPr txBox="1"/>
          <p:nvPr/>
        </p:nvSpPr>
        <p:spPr>
          <a:xfrm>
            <a:off x="876300" y="1617177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Multicore processor for PC   </a:t>
            </a:r>
          </a:p>
          <a:p>
            <a:pPr algn="ctr"/>
            <a:r>
              <a:rPr lang="zh-CN" altLang="en-US" sz="2800" dirty="0"/>
              <a:t>用于</a:t>
            </a:r>
            <a:r>
              <a:rPr lang="en-US" altLang="zh-CN" sz="2800" dirty="0"/>
              <a:t>PC</a:t>
            </a:r>
            <a:r>
              <a:rPr lang="zh-CN" altLang="en-US" sz="2800" dirty="0"/>
              <a:t>的多核处理器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F99B7B1-823D-FFFF-10E2-FCAFE9D2BF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3734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1FD9-A3E3-43F5-AEF2-9BF5483D4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A6AF8-12A2-8A14-E353-5F8E61DD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Modern Multicore Processor</a:t>
            </a:r>
            <a:br>
              <a:rPr lang="en-US" altLang="zh-CN" dirty="0"/>
            </a:br>
            <a:r>
              <a:rPr lang="zh-CN" altLang="en-US" dirty="0"/>
              <a:t>现代多核处理器</a:t>
            </a:r>
            <a:r>
              <a:rPr lang="en-US" altLang="zh-CN" dirty="0"/>
              <a:t> (1)</a:t>
            </a:r>
            <a:endParaRPr lang="zh-CN" alt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59F40-E6FA-AFD8-6F9C-FFF573B6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17" y="2609374"/>
            <a:ext cx="4763165" cy="3410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0F4FFE-F6EE-5BCE-977B-76CD5C46A0D5}"/>
              </a:ext>
            </a:extLst>
          </p:cNvPr>
          <p:cNvSpPr txBox="1"/>
          <p:nvPr/>
        </p:nvSpPr>
        <p:spPr>
          <a:xfrm>
            <a:off x="876300" y="1617177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Multicore processor for mobile device</a:t>
            </a:r>
          </a:p>
          <a:p>
            <a:pPr algn="ctr"/>
            <a:r>
              <a:rPr lang="zh-CN" altLang="en-US" sz="2800" dirty="0"/>
              <a:t>用于移动设备的多核处理器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137433B-0A60-0B25-B105-966596DA50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275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614A-43CF-42E0-27C1-5D640E897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BEA0-B30B-E978-4C45-1C677406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Multithread Programs</a:t>
            </a:r>
            <a:br>
              <a:rPr lang="en-US" altLang="zh-CN" dirty="0"/>
            </a:br>
            <a:r>
              <a:rPr lang="zh-CN" altLang="en-US" dirty="0"/>
              <a:t>运行多线程程序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9B4C05-3B44-CADC-12F3-F6EA23C1782D}"/>
              </a:ext>
            </a:extLst>
          </p:cNvPr>
          <p:cNvSpPr txBox="1"/>
          <p:nvPr/>
        </p:nvSpPr>
        <p:spPr>
          <a:xfrm>
            <a:off x="876300" y="1536700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Ideally  </a:t>
            </a:r>
            <a:r>
              <a:rPr lang="zh-CN" altLang="en-US" sz="2800" dirty="0"/>
              <a:t>理想状态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B9AC1BC-0C75-2B29-D773-6D9DBB85BE4E}"/>
              </a:ext>
            </a:extLst>
          </p:cNvPr>
          <p:cNvGrpSpPr/>
          <p:nvPr/>
        </p:nvGrpSpPr>
        <p:grpSpPr>
          <a:xfrm>
            <a:off x="1200150" y="3254203"/>
            <a:ext cx="6743700" cy="1769577"/>
            <a:chOff x="1524000" y="2362200"/>
            <a:chExt cx="6743700" cy="182879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46A6EB7-EBC4-C52E-C030-00BB3AE238D6}"/>
                </a:ext>
              </a:extLst>
            </p:cNvPr>
            <p:cNvSpPr txBox="1"/>
            <p:nvPr/>
          </p:nvSpPr>
          <p:spPr>
            <a:xfrm>
              <a:off x="1676400" y="2819399"/>
              <a:ext cx="1066800" cy="8309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Core</a:t>
              </a:r>
            </a:p>
            <a:p>
              <a:pPr algn="ctr"/>
              <a:r>
                <a:rPr lang="zh-CN" altLang="en-US" sz="2400" dirty="0"/>
                <a:t>核心</a:t>
              </a:r>
              <a:endParaRPr lang="en-US" altLang="zh-CN" sz="24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654F24-27ED-00A0-1016-12B74C7E6081}"/>
                </a:ext>
              </a:extLst>
            </p:cNvPr>
            <p:cNvSpPr txBox="1"/>
            <p:nvPr/>
          </p:nvSpPr>
          <p:spPr>
            <a:xfrm>
              <a:off x="3429000" y="2819400"/>
              <a:ext cx="1066800" cy="8309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Core</a:t>
              </a:r>
            </a:p>
            <a:p>
              <a:pPr algn="ctr"/>
              <a:r>
                <a:rPr lang="zh-CN" altLang="en-US" sz="2400" dirty="0"/>
                <a:t>核心</a:t>
              </a:r>
              <a:endParaRPr lang="en-US" altLang="zh-CN" sz="24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543FD50-E24E-04E9-DB28-33E418B1AE65}"/>
                </a:ext>
              </a:extLst>
            </p:cNvPr>
            <p:cNvSpPr txBox="1"/>
            <p:nvPr/>
          </p:nvSpPr>
          <p:spPr>
            <a:xfrm>
              <a:off x="5181600" y="2819399"/>
              <a:ext cx="1066800" cy="8309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Core</a:t>
              </a:r>
            </a:p>
            <a:p>
              <a:pPr algn="ctr"/>
              <a:r>
                <a:rPr lang="zh-CN" altLang="en-US" sz="2400" dirty="0"/>
                <a:t>核心</a:t>
              </a:r>
              <a:endParaRPr lang="en-US" altLang="zh-CN" sz="24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9F63A2-8B62-E408-5F9B-C7D0EA954AC7}"/>
                </a:ext>
              </a:extLst>
            </p:cNvPr>
            <p:cNvSpPr txBox="1"/>
            <p:nvPr/>
          </p:nvSpPr>
          <p:spPr>
            <a:xfrm>
              <a:off x="6934200" y="2819398"/>
              <a:ext cx="1066800" cy="830997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Core</a:t>
              </a:r>
            </a:p>
            <a:p>
              <a:pPr algn="ctr"/>
              <a:r>
                <a:rPr lang="zh-CN" altLang="en-US" sz="2400" dirty="0"/>
                <a:t>核心</a:t>
              </a:r>
              <a:endParaRPr lang="en-US" altLang="zh-CN" sz="24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64E03E-4665-1982-472D-0BFC2E68663A}"/>
                </a:ext>
              </a:extLst>
            </p:cNvPr>
            <p:cNvSpPr/>
            <p:nvPr/>
          </p:nvSpPr>
          <p:spPr bwMode="auto">
            <a:xfrm>
              <a:off x="1524000" y="2362200"/>
              <a:ext cx="6743700" cy="182879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b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rPr>
                <a:t>Multicore processor  </a:t>
              </a:r>
              <a:r>
                <a:rPr kumimoji="0" lang="zh-CN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rPr>
                <a:t>多核处理器</a:t>
              </a: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C4F168-8FBB-7EAC-7BB7-551BF599279D}"/>
              </a:ext>
            </a:extLst>
          </p:cNvPr>
          <p:cNvGrpSpPr/>
          <p:nvPr/>
        </p:nvGrpSpPr>
        <p:grpSpPr>
          <a:xfrm>
            <a:off x="1266825" y="2133600"/>
            <a:ext cx="1238250" cy="1520474"/>
            <a:chOff x="1266825" y="2262195"/>
            <a:chExt cx="1238250" cy="152047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74CB2C5-D5D8-E48F-70B2-9831507303A6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0755" y="2908526"/>
              <a:ext cx="370390" cy="87414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91D0B49-C4B7-34F9-8F4E-D87DBE66D475}"/>
                </a:ext>
              </a:extLst>
            </p:cNvPr>
            <p:cNvSpPr txBox="1"/>
            <p:nvPr/>
          </p:nvSpPr>
          <p:spPr>
            <a:xfrm>
              <a:off x="1266825" y="2262195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1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1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43B4A0-D5AF-E53A-2474-E08306C3780E}"/>
              </a:ext>
            </a:extLst>
          </p:cNvPr>
          <p:cNvGrpSpPr/>
          <p:nvPr/>
        </p:nvGrpSpPr>
        <p:grpSpPr>
          <a:xfrm>
            <a:off x="6574902" y="2133600"/>
            <a:ext cx="1238250" cy="1520474"/>
            <a:chOff x="1266825" y="2262195"/>
            <a:chExt cx="1238250" cy="152047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E610C11-296D-DA59-1D19-B57101EFCAAD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0755" y="2908526"/>
              <a:ext cx="370390" cy="874143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B791F4-FD2B-DDA9-55B0-8060BC3508C3}"/>
                </a:ext>
              </a:extLst>
            </p:cNvPr>
            <p:cNvSpPr txBox="1"/>
            <p:nvPr/>
          </p:nvSpPr>
          <p:spPr>
            <a:xfrm>
              <a:off x="1266825" y="2262195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4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4</a:t>
              </a:r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6D1375-9266-93C4-E6F1-89119562794D}"/>
              </a:ext>
            </a:extLst>
          </p:cNvPr>
          <p:cNvGrpSpPr/>
          <p:nvPr/>
        </p:nvGrpSpPr>
        <p:grpSpPr>
          <a:xfrm>
            <a:off x="4772025" y="2133600"/>
            <a:ext cx="1238250" cy="1520474"/>
            <a:chOff x="1266825" y="2262195"/>
            <a:chExt cx="1238250" cy="152047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1F01166-2BDA-2B6F-3BE6-A953823F0C24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0755" y="2908526"/>
              <a:ext cx="370390" cy="874143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84D862-5B34-38D0-1CBB-7C1E80BA7E60}"/>
                </a:ext>
              </a:extLst>
            </p:cNvPr>
            <p:cNvSpPr txBox="1"/>
            <p:nvPr/>
          </p:nvSpPr>
          <p:spPr>
            <a:xfrm>
              <a:off x="1266825" y="2262195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3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3</a:t>
              </a:r>
              <a:endParaRPr lang="en-US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0F08AB7-F4A9-CEC8-5E63-E3F9A1420C4B}"/>
              </a:ext>
            </a:extLst>
          </p:cNvPr>
          <p:cNvGrpSpPr/>
          <p:nvPr/>
        </p:nvGrpSpPr>
        <p:grpSpPr>
          <a:xfrm>
            <a:off x="3093495" y="2133600"/>
            <a:ext cx="1238250" cy="1520474"/>
            <a:chOff x="1266825" y="2262195"/>
            <a:chExt cx="1238250" cy="152047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2AABF1D-0FBB-CCF0-A9CD-D5AEA414CFE5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0755" y="2908526"/>
              <a:ext cx="370390" cy="874143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975AC07-AA1D-3978-80C9-C0E89E201B30}"/>
                </a:ext>
              </a:extLst>
            </p:cNvPr>
            <p:cNvSpPr txBox="1"/>
            <p:nvPr/>
          </p:nvSpPr>
          <p:spPr>
            <a:xfrm>
              <a:off x="1266825" y="2262195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2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2</a:t>
              </a:r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438D0AC-65A9-D691-0E57-68E6B89E47DA}"/>
              </a:ext>
            </a:extLst>
          </p:cNvPr>
          <p:cNvSpPr txBox="1"/>
          <p:nvPr/>
        </p:nvSpPr>
        <p:spPr>
          <a:xfrm>
            <a:off x="514350" y="5125015"/>
            <a:ext cx="8115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In fact, the actual execution of the threads </a:t>
            </a:r>
          </a:p>
          <a:p>
            <a:pPr algn="ctr"/>
            <a:r>
              <a:rPr lang="en-US" altLang="zh-CN" sz="2400" dirty="0"/>
              <a:t>is not fully controlled by our program  </a:t>
            </a:r>
          </a:p>
          <a:p>
            <a:pPr algn="ctr"/>
            <a:r>
              <a:rPr lang="zh-CN" altLang="en-US" sz="2400" dirty="0"/>
              <a:t>事实上，实际线程的运行不是由我们的程序完全控制的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AF3FEEC-865C-50A5-0C78-FBEF7DE004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935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D75C7-3E76-D7A3-B789-9963B9EE7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4761-07E2-ADF5-46C1-7FF36C12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 Program Is Simple</a:t>
            </a:r>
            <a:br>
              <a:rPr lang="en-US" altLang="zh-CN" dirty="0"/>
            </a:br>
            <a:r>
              <a:rPr lang="zh-CN" altLang="en-US" dirty="0"/>
              <a:t>我们的程序很简单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4BB88-3586-41DA-E5DA-EFB93E237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Only a Few Threads  </a:t>
            </a:r>
            <a:r>
              <a:rPr lang="zh-CN" altLang="en-US" dirty="0"/>
              <a:t>线程数有限</a:t>
            </a:r>
            <a:endParaRPr lang="en-US" altLang="zh-CN" dirty="0"/>
          </a:p>
          <a:p>
            <a:r>
              <a:rPr lang="en-US" altLang="zh-CN" dirty="0"/>
              <a:t>Homogeneous Execution Pattern</a:t>
            </a:r>
            <a:br>
              <a:rPr lang="en-US" altLang="zh-CN" dirty="0"/>
            </a:br>
            <a:r>
              <a:rPr lang="zh-CN" altLang="en-US" dirty="0"/>
              <a:t>同质的执行模式</a:t>
            </a:r>
            <a:endParaRPr lang="en-US" altLang="zh-CN" dirty="0"/>
          </a:p>
          <a:p>
            <a:pPr lvl="1"/>
            <a:r>
              <a:rPr lang="en-US" altLang="zh-CN" dirty="0"/>
              <a:t>Each thread  </a:t>
            </a:r>
            <a:r>
              <a:rPr lang="zh-CN" altLang="en-US" dirty="0"/>
              <a:t>每个线程都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dirty="0"/>
              <a:t>Performing the same type of task  </a:t>
            </a:r>
            <a:br>
              <a:rPr lang="en-US" altLang="zh-CN" dirty="0"/>
            </a:br>
            <a:r>
              <a:rPr lang="zh-CN" altLang="en-US" dirty="0"/>
              <a:t>完成同样类型的任务</a:t>
            </a:r>
            <a:endParaRPr lang="en-US" altLang="zh-CN" dirty="0"/>
          </a:p>
          <a:p>
            <a:pPr lvl="3"/>
            <a:r>
              <a:rPr lang="en-US" altLang="zh-CN" dirty="0"/>
              <a:t>Compute intensive  </a:t>
            </a:r>
            <a:r>
              <a:rPr lang="zh-CN" altLang="en-US" dirty="0"/>
              <a:t>计算密集</a:t>
            </a:r>
            <a:endParaRPr lang="en-US" altLang="zh-CN" dirty="0"/>
          </a:p>
          <a:p>
            <a:pPr lvl="2"/>
            <a:r>
              <a:rPr lang="en-US" altLang="zh-CN" dirty="0"/>
              <a:t>Ideally at the same time  </a:t>
            </a:r>
            <a:r>
              <a:rPr lang="zh-CN" altLang="en-US" dirty="0"/>
              <a:t>理想中可以同时运行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F5F2159-30EA-CDE5-3D53-8176754AA0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899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98C0-1811-B6CA-27A2-4AB990F2B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14D7-B6E9-7DC2-76F5-331B8AEB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 System Is Complex</a:t>
            </a:r>
            <a:br>
              <a:rPr lang="en-US" altLang="zh-CN" dirty="0"/>
            </a:br>
            <a:r>
              <a:rPr lang="zh-CN" altLang="en-US" dirty="0"/>
              <a:t>我们的系统很复杂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0BF4E-1EB2-AA73-4401-F56CEF53F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Lots of Threads from  </a:t>
            </a:r>
            <a:r>
              <a:rPr lang="zh-CN" altLang="en-US" dirty="0"/>
              <a:t>很多线程</a:t>
            </a:r>
            <a:endParaRPr lang="en-US" altLang="zh-CN" dirty="0"/>
          </a:p>
          <a:p>
            <a:pPr lvl="1"/>
            <a:r>
              <a:rPr lang="en-US" altLang="zh-CN" dirty="0"/>
              <a:t>Foreground app, e.g.,  </a:t>
            </a:r>
            <a:r>
              <a:rPr lang="zh-CN" altLang="en-US" dirty="0"/>
              <a:t>前台应用，例如</a:t>
            </a:r>
            <a:endParaRPr lang="en-US" altLang="zh-CN" dirty="0"/>
          </a:p>
          <a:p>
            <a:pPr lvl="2"/>
            <a:r>
              <a:rPr lang="en-US" altLang="zh-CN" dirty="0"/>
              <a:t>Browser  </a:t>
            </a:r>
            <a:r>
              <a:rPr lang="zh-CN" altLang="en-US" dirty="0"/>
              <a:t>浏览器</a:t>
            </a:r>
            <a:endParaRPr lang="en-US" altLang="zh-CN" dirty="0"/>
          </a:p>
          <a:p>
            <a:pPr lvl="2"/>
            <a:r>
              <a:rPr lang="en-US" altLang="zh-CN" dirty="0"/>
              <a:t>Game  </a:t>
            </a:r>
            <a:r>
              <a:rPr lang="zh-CN" altLang="en-US" dirty="0"/>
              <a:t>游戏</a:t>
            </a:r>
            <a:endParaRPr lang="en-US" altLang="zh-CN" dirty="0"/>
          </a:p>
          <a:p>
            <a:pPr lvl="1"/>
            <a:r>
              <a:rPr lang="en-US" altLang="zh-CN" dirty="0"/>
              <a:t>App not in user’s focus, e.g.,  </a:t>
            </a:r>
            <a:br>
              <a:rPr lang="en-US" altLang="zh-CN" dirty="0"/>
            </a:br>
            <a:r>
              <a:rPr lang="zh-CN" altLang="en-US" dirty="0"/>
              <a:t>用户注意力之外的应用，例如</a:t>
            </a:r>
            <a:endParaRPr lang="en-US" altLang="zh-CN" dirty="0"/>
          </a:p>
          <a:p>
            <a:pPr lvl="2"/>
            <a:r>
              <a:rPr lang="en-US" altLang="zh-CN" dirty="0"/>
              <a:t>Music player  </a:t>
            </a:r>
            <a:r>
              <a:rPr lang="zh-CN" altLang="en-US" dirty="0"/>
              <a:t>音乐播放</a:t>
            </a:r>
            <a:endParaRPr lang="en-US" altLang="zh-CN" dirty="0"/>
          </a:p>
          <a:p>
            <a:pPr lvl="1"/>
            <a:r>
              <a:rPr lang="en-US" altLang="zh-CN" dirty="0"/>
              <a:t>Background services, e.g.,  </a:t>
            </a:r>
            <a:r>
              <a:rPr lang="zh-CN" altLang="en-US" dirty="0"/>
              <a:t>后台服务，例如</a:t>
            </a:r>
            <a:endParaRPr lang="en-US" altLang="zh-CN" dirty="0"/>
          </a:p>
          <a:p>
            <a:pPr lvl="2"/>
            <a:r>
              <a:rPr lang="en-US" altLang="zh-CN" dirty="0"/>
              <a:t>Cloud storage sync  </a:t>
            </a:r>
            <a:r>
              <a:rPr lang="zh-CN" altLang="en-US" dirty="0"/>
              <a:t>云存储同步</a:t>
            </a:r>
            <a:endParaRPr lang="en-US" altLang="zh-CN" dirty="0"/>
          </a:p>
          <a:p>
            <a:pPr lvl="2"/>
            <a:r>
              <a:rPr lang="en-US" altLang="zh-CN" dirty="0"/>
              <a:t>OS services  </a:t>
            </a:r>
            <a:r>
              <a:rPr lang="zh-CN" altLang="en-US" dirty="0"/>
              <a:t>操作系统服务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D3BC906-5053-A81D-96C5-643594FCA2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0984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90969-2D3D-0469-739A-94541662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BE0A-BA4D-B34A-26FD-68434CAA2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 System Is Complex</a:t>
            </a:r>
            <a:br>
              <a:rPr lang="en-US" altLang="zh-CN" dirty="0"/>
            </a:br>
            <a:r>
              <a:rPr lang="zh-CN" altLang="en-US" dirty="0"/>
              <a:t>我们的系统很复杂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F64A7-5584-580C-739D-3BF711313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Heterogeneous Execution Pattern  </a:t>
            </a:r>
            <a:br>
              <a:rPr lang="en-US" altLang="zh-CN" dirty="0"/>
            </a:br>
            <a:r>
              <a:rPr lang="zh-CN" altLang="en-US" dirty="0"/>
              <a:t>各不相同的执行模式</a:t>
            </a:r>
            <a:endParaRPr lang="en-US" altLang="zh-CN" dirty="0"/>
          </a:p>
          <a:p>
            <a:pPr lvl="1"/>
            <a:r>
              <a:rPr lang="en-US" altLang="zh-CN" dirty="0"/>
              <a:t>Not always compute  </a:t>
            </a:r>
            <a:r>
              <a:rPr lang="zh-CN" altLang="en-US" dirty="0"/>
              <a:t>并非一直计算</a:t>
            </a:r>
            <a:endParaRPr lang="en-US" altLang="zh-CN" dirty="0"/>
          </a:p>
          <a:p>
            <a:pPr lvl="2"/>
            <a:r>
              <a:rPr lang="en-US" altLang="zh-CN" dirty="0"/>
              <a:t>Waiting for (slow) storage/network I/O</a:t>
            </a:r>
            <a:br>
              <a:rPr lang="en-US" altLang="zh-CN" dirty="0"/>
            </a:br>
            <a:r>
              <a:rPr lang="zh-CN" altLang="en-US" dirty="0"/>
              <a:t>等待（慢的）存储</a:t>
            </a:r>
            <a:r>
              <a:rPr lang="en-US" altLang="zh-CN" dirty="0"/>
              <a:t>/</a:t>
            </a:r>
            <a:r>
              <a:rPr lang="zh-CN" altLang="en-US" dirty="0"/>
              <a:t>网络的输入输出</a:t>
            </a:r>
            <a:endParaRPr lang="en-US" altLang="zh-CN" dirty="0"/>
          </a:p>
          <a:p>
            <a:pPr lvl="2"/>
            <a:r>
              <a:rPr lang="en-US" altLang="zh-CN" dirty="0"/>
              <a:t>Waiting for other cooperative threads’ signal</a:t>
            </a:r>
            <a:br>
              <a:rPr lang="en-US" altLang="zh-CN" dirty="0"/>
            </a:br>
            <a:r>
              <a:rPr lang="zh-CN" altLang="en-US" dirty="0"/>
              <a:t>等待协作线程的信号</a:t>
            </a:r>
            <a:endParaRPr lang="en-US" altLang="zh-CN" dirty="0"/>
          </a:p>
          <a:p>
            <a:r>
              <a:rPr lang="en-US" altLang="zh-CN" dirty="0"/>
              <a:t>Managed by the Operating System (OS)  </a:t>
            </a:r>
            <a:r>
              <a:rPr lang="zh-CN" altLang="en-US" dirty="0"/>
              <a:t>操作系统负责管理</a:t>
            </a:r>
            <a:r>
              <a:rPr lang="en-US" altLang="zh-CN" dirty="0"/>
              <a:t>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6A813D4-1496-F77E-9D5F-704538D985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521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377E-1AB1-8DC3-F114-21829B807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A1A9-8A12-AAAA-9C59-3EB35CB3F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Complex System</a:t>
            </a:r>
            <a:br>
              <a:rPr lang="en-US" altLang="zh-CN" dirty="0"/>
            </a:br>
            <a:r>
              <a:rPr lang="zh-CN" altLang="en-US" dirty="0"/>
              <a:t>这个复杂的系统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320476-A1CE-AF61-AAFF-8EF2FC400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298" y="1540346"/>
            <a:ext cx="6387404" cy="46155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5517AB-2AB6-DB71-FB28-3264FE7A9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104" y="1546634"/>
            <a:ext cx="3384896" cy="4609219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0B7EF22-3249-3EDD-3E39-3BB24A9EEF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2828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9BAA-104B-2257-0348-115CE5EF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AD4AD-1F86-B979-EE98-46BB9E96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Thread Busy on 1 Core </a:t>
            </a:r>
            <a:br>
              <a:rPr lang="en-US" altLang="zh-CN" dirty="0"/>
            </a:br>
            <a:r>
              <a:rPr lang="zh-CN" altLang="en-US" dirty="0"/>
              <a:t>演示：单核上繁忙的线程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C7E4C-F916-E9AD-5F6C-E093A5F4B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398" y="2743200"/>
            <a:ext cx="4551204" cy="1986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519C82-5107-8FB2-26F1-C689C7C10B44}"/>
              </a:ext>
            </a:extLst>
          </p:cNvPr>
          <p:cNvSpPr txBox="1"/>
          <p:nvPr/>
        </p:nvSpPr>
        <p:spPr>
          <a:xfrm>
            <a:off x="876300" y="4876800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thread only: Compute taking 8s+</a:t>
            </a:r>
          </a:p>
          <a:p>
            <a:pPr algn="ctr"/>
            <a:r>
              <a:rPr lang="zh-CN" altLang="en-US" sz="2800" dirty="0"/>
              <a:t>单个线程：计算用了</a:t>
            </a:r>
            <a:r>
              <a:rPr lang="en-US" altLang="zh-CN" sz="2800" dirty="0"/>
              <a:t>8</a:t>
            </a:r>
            <a:r>
              <a:rPr lang="zh-CN" altLang="en-US" sz="2800" dirty="0"/>
              <a:t>秒多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9196E-E9E4-0D10-B1E5-330198E051AE}"/>
              </a:ext>
            </a:extLst>
          </p:cNvPr>
          <p:cNvSpPr txBox="1"/>
          <p:nvPr/>
        </p:nvSpPr>
        <p:spPr>
          <a:xfrm>
            <a:off x="876300" y="1644502"/>
            <a:ext cx="739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The thread runs 3 busy periods</a:t>
            </a:r>
          </a:p>
          <a:p>
            <a:pPr algn="ctr"/>
            <a:r>
              <a:rPr lang="zh-CN" altLang="en-US" sz="2800" dirty="0"/>
              <a:t>这个线程运行了</a:t>
            </a:r>
            <a:r>
              <a:rPr lang="en-US" altLang="zh-CN" sz="2800" dirty="0"/>
              <a:t>3</a:t>
            </a:r>
            <a:r>
              <a:rPr lang="zh-CN" altLang="en-US" sz="2800" dirty="0"/>
              <a:t>个忙碌的周期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DB0660A0-F889-C794-A919-E29BEE5E8C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5857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EE94-A563-E559-1992-8EC7691F3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2A05-224E-DDC5-DAEC-F683E4D7D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Thread Busy on 1 Core </a:t>
            </a:r>
            <a:br>
              <a:rPr lang="en-US" altLang="zh-CN" dirty="0"/>
            </a:br>
            <a:r>
              <a:rPr lang="zh-CN" altLang="en-US" dirty="0"/>
              <a:t>演示：单核上线程忙碌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647FD7-3890-222F-7186-5071146D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14" y="1621379"/>
            <a:ext cx="5615771" cy="3615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884F68-31DC-7D0F-5069-19849E52540B}"/>
              </a:ext>
            </a:extLst>
          </p:cNvPr>
          <p:cNvSpPr txBox="1"/>
          <p:nvPr/>
        </p:nvSpPr>
        <p:spPr>
          <a:xfrm>
            <a:off x="506730" y="5294293"/>
            <a:ext cx="81305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2 threads forced on 1 core: Both taking 17s+</a:t>
            </a:r>
          </a:p>
          <a:p>
            <a:pPr algn="ctr"/>
            <a:r>
              <a:rPr lang="zh-CN" altLang="en-US" sz="2800" dirty="0"/>
              <a:t>两个线程强制运行于单核上：都用了</a:t>
            </a:r>
            <a:r>
              <a:rPr lang="en-US" altLang="zh-CN" sz="2800" dirty="0"/>
              <a:t>17</a:t>
            </a:r>
            <a:r>
              <a:rPr lang="zh-CN" altLang="en-US" sz="2800" dirty="0"/>
              <a:t>秒多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9F5B6EA-0DB3-F290-E410-1187D7EA47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0776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5E1D-D796-3B21-C59B-E656A6F7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4154-2C39-B5FF-4D00-D87044B7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Thread Busy on 1 Core </a:t>
            </a:r>
            <a:br>
              <a:rPr lang="en-US" altLang="zh-CN" dirty="0"/>
            </a:br>
            <a:r>
              <a:rPr lang="zh-CN" altLang="en-US" dirty="0"/>
              <a:t>演示：单核上线程忙碌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954A6-4BA3-7E22-783A-F46A08519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14" y="1621379"/>
            <a:ext cx="5615771" cy="36152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EC7D93-D63C-0DA2-5E70-E89264C17122}"/>
              </a:ext>
            </a:extLst>
          </p:cNvPr>
          <p:cNvSpPr txBox="1"/>
          <p:nvPr/>
        </p:nvSpPr>
        <p:spPr>
          <a:xfrm>
            <a:off x="506730" y="5294293"/>
            <a:ext cx="81305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OS balances the 2 threads in sharing the core</a:t>
            </a:r>
          </a:p>
          <a:p>
            <a:pPr algn="ctr"/>
            <a:r>
              <a:rPr lang="zh-CN" altLang="en-US" sz="2800" dirty="0"/>
              <a:t>操作系统均衡了两个线程对计算核的共享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312DF6-A9CF-B5E4-AED6-3C7D95E8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0556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9E1BF-57B5-85D5-69AE-C1A5C0D9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FF651-FAAA-50C6-B1EC-F6EF5121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Thread Busy &amp; Idle</a:t>
            </a:r>
            <a:br>
              <a:rPr lang="en-US" altLang="zh-CN" dirty="0"/>
            </a:br>
            <a:r>
              <a:rPr lang="zh-CN" altLang="en-US" dirty="0"/>
              <a:t>演示：线程忙碌然后闲置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B8825-5367-F0F5-62E1-6D1B4C0DBCC9}"/>
              </a:ext>
            </a:extLst>
          </p:cNvPr>
          <p:cNvSpPr txBox="1"/>
          <p:nvPr/>
        </p:nvSpPr>
        <p:spPr>
          <a:xfrm>
            <a:off x="4418217" y="3084493"/>
            <a:ext cx="4497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1 thread only: 20s+</a:t>
            </a:r>
          </a:p>
          <a:p>
            <a:pPr algn="ctr"/>
            <a:r>
              <a:rPr lang="zh-CN" altLang="en-US" sz="2800" dirty="0"/>
              <a:t>单线程：</a:t>
            </a:r>
            <a:r>
              <a:rPr lang="en-US" altLang="zh-CN" sz="2800" dirty="0"/>
              <a:t>20</a:t>
            </a:r>
            <a:r>
              <a:rPr lang="zh-CN" altLang="en-US" sz="2800" dirty="0"/>
              <a:t>秒多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C6EBD-8DC2-117E-4CFC-42E6F196E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698" y="3254942"/>
            <a:ext cx="2861519" cy="18229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CB1266-E1AA-EC61-F18C-B7E3F3A5BC29}"/>
              </a:ext>
            </a:extLst>
          </p:cNvPr>
          <p:cNvSpPr txBox="1"/>
          <p:nvPr/>
        </p:nvSpPr>
        <p:spPr>
          <a:xfrm>
            <a:off x="1333500" y="1531526"/>
            <a:ext cx="647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The thread alternates </a:t>
            </a:r>
            <a:br>
              <a:rPr lang="en-US" altLang="zh-CN" sz="2800" dirty="0"/>
            </a:br>
            <a:r>
              <a:rPr lang="en-US" altLang="zh-CN" sz="2800" dirty="0"/>
              <a:t>between busy &amp; idle periods</a:t>
            </a:r>
          </a:p>
          <a:p>
            <a:pPr algn="ctr"/>
            <a:r>
              <a:rPr lang="zh-CN" altLang="en-US" sz="2800" dirty="0"/>
              <a:t>这个线程在忙碌与空间的周期中交错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446E11-710C-2FA8-E74D-BFEF58079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228" y="4191000"/>
            <a:ext cx="3315162" cy="1333686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A74048-5434-37F3-1AA3-D268B31818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716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A593A-E3CF-8059-DFEE-40B60134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82E4F-9AB1-4328-5972-9ECA8D9E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Thread Busy &amp; Idle</a:t>
            </a:r>
            <a:br>
              <a:rPr lang="en-US" altLang="zh-CN" dirty="0"/>
            </a:br>
            <a:r>
              <a:rPr lang="zh-CN" altLang="en-US" dirty="0"/>
              <a:t>演示：线程忙碌然后闲置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D59EA8-92F4-8509-8B5D-6047B78AB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75" y="1513524"/>
            <a:ext cx="3439958" cy="34487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1D04ED-77B5-600C-2F98-43F70277A40D}"/>
              </a:ext>
            </a:extLst>
          </p:cNvPr>
          <p:cNvSpPr txBox="1"/>
          <p:nvPr/>
        </p:nvSpPr>
        <p:spPr>
          <a:xfrm>
            <a:off x="4724400" y="1770607"/>
            <a:ext cx="4191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2 threads: both </a:t>
            </a:r>
            <a:br>
              <a:rPr lang="en-US" altLang="zh-CN" sz="2800" dirty="0"/>
            </a:br>
            <a:r>
              <a:rPr lang="en-US" altLang="zh-CN" sz="2800" dirty="0"/>
              <a:t>still taking 20s+</a:t>
            </a:r>
          </a:p>
          <a:p>
            <a:pPr algn="ctr"/>
            <a:r>
              <a:rPr lang="zh-CN" altLang="en-US" sz="2800" dirty="0"/>
              <a:t>两个线程：依然是</a:t>
            </a:r>
            <a:r>
              <a:rPr lang="en-US" altLang="zh-CN" sz="2800" dirty="0"/>
              <a:t>20</a:t>
            </a:r>
            <a:r>
              <a:rPr lang="zh-CN" altLang="en-US" sz="2800" dirty="0"/>
              <a:t>秒多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BA4186-056A-91B4-41A1-22700A401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129" y="3234246"/>
            <a:ext cx="3307542" cy="13184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157AFD-592D-7F61-2D00-49281D96C88C}"/>
              </a:ext>
            </a:extLst>
          </p:cNvPr>
          <p:cNvSpPr txBox="1"/>
          <p:nvPr/>
        </p:nvSpPr>
        <p:spPr>
          <a:xfrm>
            <a:off x="70387" y="4965918"/>
            <a:ext cx="8986528" cy="13586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dirty="0"/>
              <a:t>Perfect scheduling fitting the busy of</a:t>
            </a:r>
            <a:r>
              <a:rPr lang="zh-CN" altLang="en-US" sz="2800" dirty="0"/>
              <a:t> </a:t>
            </a:r>
            <a:r>
              <a:rPr lang="en-US" altLang="zh-CN" sz="2800" dirty="0"/>
              <a:t>1</a:t>
            </a:r>
            <a:r>
              <a:rPr lang="zh-CN" altLang="en-US" sz="2800" dirty="0"/>
              <a:t> </a:t>
            </a:r>
            <a:r>
              <a:rPr lang="en-US" altLang="zh-CN" sz="2800" dirty="0"/>
              <a:t>thread</a:t>
            </a:r>
            <a:r>
              <a:rPr lang="zh-CN" altLang="en-US" sz="2800" dirty="0"/>
              <a:t> </a:t>
            </a:r>
            <a:r>
              <a:rPr lang="en-US" altLang="zh-CN" sz="2800" dirty="0"/>
              <a:t>to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idle</a:t>
            </a:r>
            <a:r>
              <a:rPr lang="zh-CN" altLang="en-US" sz="2800" dirty="0"/>
              <a:t> </a:t>
            </a:r>
            <a:r>
              <a:rPr lang="en-US" altLang="zh-CN" sz="2800" dirty="0"/>
              <a:t>of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other on the same core  </a:t>
            </a:r>
            <a:br>
              <a:rPr lang="en-US" altLang="zh-CN" sz="2800" dirty="0"/>
            </a:br>
            <a:r>
              <a:rPr lang="zh-CN" altLang="en-US" sz="2800" dirty="0"/>
              <a:t>完美的调度把一个线程的繁忙适配于另一个线程的闲置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52D8866-EE7B-4779-B3F3-C02B43240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969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0ABE0-4D57-4E3A-4ED1-C28F4D61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2DBE-EC48-2EFD-5967-F0456F31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Load Balance</a:t>
            </a:r>
            <a:br>
              <a:rPr lang="en-US" altLang="zh-CN" dirty="0"/>
            </a:br>
            <a:r>
              <a:rPr lang="zh-CN" altLang="en-US" dirty="0"/>
              <a:t>演示：负债均衡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77C2D-8BAE-1962-905F-8DE31793FC43}"/>
              </a:ext>
            </a:extLst>
          </p:cNvPr>
          <p:cNvSpPr txBox="1"/>
          <p:nvPr/>
        </p:nvSpPr>
        <p:spPr>
          <a:xfrm>
            <a:off x="1333500" y="1712893"/>
            <a:ext cx="6477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3 threads on 2 cores</a:t>
            </a:r>
          </a:p>
          <a:p>
            <a:pPr algn="ctr"/>
            <a:r>
              <a:rPr lang="zh-CN" altLang="en-US" sz="2800" dirty="0"/>
              <a:t>三个线程运行在两个核心上</a:t>
            </a:r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39AD4-E104-1F68-8D11-1356186B682E}"/>
              </a:ext>
            </a:extLst>
          </p:cNvPr>
          <p:cNvSpPr txBox="1"/>
          <p:nvPr/>
        </p:nvSpPr>
        <p:spPr>
          <a:xfrm>
            <a:off x="1144134" y="3133831"/>
            <a:ext cx="6858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Each thread has 2 thirds time busy </a:t>
            </a:r>
            <a:br>
              <a:rPr lang="en-US" altLang="zh-CN" sz="2800" dirty="0"/>
            </a:br>
            <a:r>
              <a:rPr lang="en-US" altLang="zh-CN" sz="2800" dirty="0"/>
              <a:t>&amp; 1 third time idle</a:t>
            </a:r>
          </a:p>
          <a:p>
            <a:pPr algn="ctr"/>
            <a:r>
              <a:rPr lang="zh-CN" altLang="en-US" sz="2800" dirty="0"/>
              <a:t>每个线程</a:t>
            </a:r>
            <a:r>
              <a:rPr lang="en-US" altLang="zh-CN" sz="2800" dirty="0"/>
              <a:t>2/3</a:t>
            </a:r>
            <a:r>
              <a:rPr lang="zh-CN" altLang="en-US" sz="2800" dirty="0"/>
              <a:t>时间繁忙，</a:t>
            </a:r>
            <a:r>
              <a:rPr lang="en-US" altLang="zh-CN" sz="2800" dirty="0"/>
              <a:t>1/3</a:t>
            </a:r>
            <a:r>
              <a:rPr lang="zh-CN" altLang="en-US" sz="2800" dirty="0"/>
              <a:t>时间闲置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E638887-4FF8-F6DD-AE73-15246A057E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352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A8363-0D3B-0657-05BD-A0F40DB4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F15AC-D57F-7ED8-A596-174D3BA2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Demo: Load Balance</a:t>
            </a:r>
            <a:br>
              <a:rPr lang="en-US" altLang="zh-CN" dirty="0"/>
            </a:br>
            <a:r>
              <a:rPr lang="zh-CN" altLang="en-US" dirty="0"/>
              <a:t>演示：负债均衡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624C5-E1A4-4598-5B96-5582F2F7D0CB}"/>
              </a:ext>
            </a:extLst>
          </p:cNvPr>
          <p:cNvSpPr txBox="1"/>
          <p:nvPr/>
        </p:nvSpPr>
        <p:spPr>
          <a:xfrm>
            <a:off x="4898426" y="1799645"/>
            <a:ext cx="3657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A thread may run on different cores</a:t>
            </a:r>
          </a:p>
          <a:p>
            <a:pPr algn="ctr"/>
            <a:r>
              <a:rPr lang="zh-CN" altLang="en-US" sz="2800" dirty="0"/>
              <a:t>一个线程会跑在不同的核心上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8036CE-7EC1-730A-CDC1-C25D961DC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4265414" cy="46155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C866DF-D1D8-F6F3-E83D-5031DCD74AF9}"/>
              </a:ext>
            </a:extLst>
          </p:cNvPr>
          <p:cNvSpPr txBox="1"/>
          <p:nvPr/>
        </p:nvSpPr>
        <p:spPr>
          <a:xfrm>
            <a:off x="4506686" y="4043572"/>
            <a:ext cx="45830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The OS migrates threads to balance the load</a:t>
            </a:r>
          </a:p>
          <a:p>
            <a:pPr algn="ctr"/>
            <a:r>
              <a:rPr lang="zh-CN" altLang="en-US" sz="2800" dirty="0"/>
              <a:t>操作系统会迁移线程</a:t>
            </a:r>
            <a:br>
              <a:rPr lang="en-US" altLang="zh-CN" sz="2800" dirty="0"/>
            </a:br>
            <a:r>
              <a:rPr lang="zh-CN" altLang="en-US" sz="2800" dirty="0"/>
              <a:t>以均衡负债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38731E-0D48-97FE-500B-F85AA24293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259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E8F1-5161-4E9C-9C77-0A27B56AA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AF7D8-8933-8F3F-900A-F745103CD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OS CPU Scheduler</a:t>
            </a:r>
            <a:br>
              <a:rPr lang="en-US" altLang="zh-CN" dirty="0"/>
            </a:br>
            <a:r>
              <a:rPr lang="zh-CN" altLang="en-US" dirty="0"/>
              <a:t>操作系统</a:t>
            </a:r>
            <a:r>
              <a:rPr lang="en-US" altLang="zh-CN" dirty="0"/>
              <a:t>CPU</a:t>
            </a:r>
            <a:r>
              <a:rPr lang="zh-CN" altLang="en-US" dirty="0"/>
              <a:t>调度器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D16B3-161E-9DB1-2FB0-5A61B87F4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Serve Threads w/ CPU Cores  </a:t>
            </a:r>
            <a:br>
              <a:rPr lang="en-US" altLang="zh-CN" dirty="0"/>
            </a:br>
            <a:r>
              <a:rPr lang="zh-CN" altLang="en-US" dirty="0"/>
              <a:t>用</a:t>
            </a:r>
            <a:r>
              <a:rPr lang="en-US" altLang="zh-CN" dirty="0"/>
              <a:t>CPU</a:t>
            </a:r>
            <a:r>
              <a:rPr lang="zh-CN" altLang="en-US" dirty="0"/>
              <a:t>核心服务各线程</a:t>
            </a:r>
            <a:endParaRPr lang="en-US" altLang="zh-CN" dirty="0"/>
          </a:p>
          <a:p>
            <a:r>
              <a:rPr lang="en-US" altLang="zh-CN" dirty="0"/>
              <a:t>Some Principles  </a:t>
            </a:r>
            <a:r>
              <a:rPr lang="zh-CN" altLang="en-US" dirty="0"/>
              <a:t>一些原则</a:t>
            </a:r>
            <a:endParaRPr lang="en-US" altLang="zh-CN" dirty="0"/>
          </a:p>
          <a:p>
            <a:pPr lvl="1"/>
            <a:r>
              <a:rPr lang="en-US" altLang="zh-CN" dirty="0"/>
              <a:t>Work conservation  </a:t>
            </a:r>
            <a:r>
              <a:rPr lang="zh-CN" altLang="en-US" dirty="0"/>
              <a:t>工作保全</a:t>
            </a:r>
            <a:endParaRPr lang="en-US" altLang="zh-CN" dirty="0"/>
          </a:p>
          <a:p>
            <a:pPr lvl="1"/>
            <a:r>
              <a:rPr lang="en-US" altLang="zh-CN" dirty="0"/>
              <a:t>Load balance  </a:t>
            </a:r>
            <a:r>
              <a:rPr lang="zh-CN" altLang="en-US" dirty="0"/>
              <a:t>负载均衡</a:t>
            </a:r>
            <a:endParaRPr lang="en-US" altLang="zh-CN" dirty="0"/>
          </a:p>
          <a:p>
            <a:pPr lvl="1"/>
            <a:r>
              <a:rPr lang="en-US" altLang="zh-CN" dirty="0"/>
              <a:t>Fairness, priority, quota, etc.</a:t>
            </a:r>
            <a:br>
              <a:rPr lang="en-US" altLang="zh-CN" dirty="0"/>
            </a:br>
            <a:r>
              <a:rPr lang="zh-CN" altLang="en-US" dirty="0"/>
              <a:t>公平、优先级、配额等</a:t>
            </a:r>
            <a:endParaRPr lang="en-US" altLang="zh-CN" dirty="0"/>
          </a:p>
          <a:p>
            <a:r>
              <a:rPr lang="en-US" altLang="zh-CN" dirty="0"/>
              <a:t>Infrastructure for Thread-Level Parallelism  </a:t>
            </a:r>
            <a:r>
              <a:rPr lang="zh-CN" altLang="en-US" dirty="0"/>
              <a:t>线程并行的基础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8ECB8F0-AFB5-4C14-83A0-AD5F269ED6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050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671EB-7B50-B899-0503-C9D687548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CEFF6-46C1-F18D-7B2D-344FD972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Parallelism  </a:t>
            </a:r>
            <a:r>
              <a:rPr lang="zh-CN" altLang="en-US" dirty="0"/>
              <a:t>数据并行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E938E7-AA38-34D2-D1B7-EEC4BC830C9C}"/>
              </a:ext>
            </a:extLst>
          </p:cNvPr>
          <p:cNvGrpSpPr/>
          <p:nvPr/>
        </p:nvGrpSpPr>
        <p:grpSpPr>
          <a:xfrm>
            <a:off x="3878309" y="1532326"/>
            <a:ext cx="1273654" cy="908814"/>
            <a:chOff x="2859672" y="1789220"/>
            <a:chExt cx="1273654" cy="9088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05652CD-414C-8A37-3016-C7B67034BEC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26549" y="1891257"/>
              <a:ext cx="375303" cy="123825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652C9F-3082-BE75-43D6-A5319E01FB76}"/>
                </a:ext>
              </a:extLst>
            </p:cNvPr>
            <p:cNvSpPr txBox="1"/>
            <p:nvPr/>
          </p:nvSpPr>
          <p:spPr>
            <a:xfrm>
              <a:off x="2859672" y="1789220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1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1</a:t>
              </a:r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8C230D7-4069-F2D5-E3B9-D5CE9104852F}"/>
              </a:ext>
            </a:extLst>
          </p:cNvPr>
          <p:cNvSpPr txBox="1"/>
          <p:nvPr/>
        </p:nvSpPr>
        <p:spPr>
          <a:xfrm>
            <a:off x="1521875" y="1930322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1</a:t>
            </a:r>
          </a:p>
          <a:p>
            <a:pPr algn="ctr"/>
            <a:r>
              <a:rPr lang="zh-CN" altLang="en-US" dirty="0"/>
              <a:t>输入</a:t>
            </a:r>
            <a:r>
              <a:rPr lang="en-US" altLang="zh-CN" dirty="0"/>
              <a:t>1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AD4260-9E3F-220D-744E-540D91CD2D26}"/>
              </a:ext>
            </a:extLst>
          </p:cNvPr>
          <p:cNvCxnSpPr>
            <a:stCxn id="29" idx="3"/>
            <a:endCxn id="13" idx="0"/>
          </p:cNvCxnSpPr>
          <p:nvPr/>
        </p:nvCxnSpPr>
        <p:spPr bwMode="auto">
          <a:xfrm>
            <a:off x="2760125" y="2253488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7F631B-D648-45AE-84B4-BA46B02DBCC4}"/>
              </a:ext>
            </a:extLst>
          </p:cNvPr>
          <p:cNvCxnSpPr>
            <a:cxnSpLocks/>
            <a:stCxn id="13" idx="2"/>
            <a:endCxn id="38" idx="1"/>
          </p:cNvCxnSpPr>
          <p:nvPr/>
        </p:nvCxnSpPr>
        <p:spPr bwMode="auto">
          <a:xfrm>
            <a:off x="5151963" y="2253488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A84C1CA-6990-1956-79F9-1634F244FC1E}"/>
              </a:ext>
            </a:extLst>
          </p:cNvPr>
          <p:cNvSpPr txBox="1"/>
          <p:nvPr/>
        </p:nvSpPr>
        <p:spPr>
          <a:xfrm>
            <a:off x="6305550" y="1930322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1</a:t>
            </a:r>
          </a:p>
          <a:p>
            <a:pPr algn="ctr"/>
            <a:r>
              <a:rPr lang="zh-CN" altLang="en-US" dirty="0"/>
              <a:t>输出</a:t>
            </a:r>
            <a:r>
              <a:rPr lang="en-US" altLang="zh-CN" dirty="0"/>
              <a:t>1</a:t>
            </a:r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8D2173-2DA1-9E91-D6DD-DF79D24DAA3E}"/>
              </a:ext>
            </a:extLst>
          </p:cNvPr>
          <p:cNvGrpSpPr/>
          <p:nvPr/>
        </p:nvGrpSpPr>
        <p:grpSpPr>
          <a:xfrm>
            <a:off x="3881201" y="2514600"/>
            <a:ext cx="1272887" cy="941342"/>
            <a:chOff x="2860439" y="1756692"/>
            <a:chExt cx="1272887" cy="941342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1E7B3E0-DF1E-7D84-DCA0-ED5F0E88656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26549" y="1891257"/>
              <a:ext cx="375303" cy="123825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55339E2-AEB0-7E67-183F-1DA1ECF8A1AD}"/>
                </a:ext>
              </a:extLst>
            </p:cNvPr>
            <p:cNvSpPr txBox="1"/>
            <p:nvPr/>
          </p:nvSpPr>
          <p:spPr>
            <a:xfrm>
              <a:off x="2860439" y="1756692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2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2</a:t>
              </a:r>
              <a:endParaRPr lang="en-US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BB5F65F-6469-8147-9A92-498D0935A6AD}"/>
              </a:ext>
            </a:extLst>
          </p:cNvPr>
          <p:cNvSpPr txBox="1"/>
          <p:nvPr/>
        </p:nvSpPr>
        <p:spPr>
          <a:xfrm>
            <a:off x="1524000" y="2945124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2</a:t>
            </a:r>
          </a:p>
          <a:p>
            <a:pPr algn="ctr"/>
            <a:r>
              <a:rPr lang="zh-CN" altLang="en-US" dirty="0"/>
              <a:t>输入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ECDF3B1-08B4-4BD2-28ED-E9632E2DFAF4}"/>
              </a:ext>
            </a:extLst>
          </p:cNvPr>
          <p:cNvCxnSpPr>
            <a:stCxn id="44" idx="3"/>
            <a:endCxn id="42" idx="0"/>
          </p:cNvCxnSpPr>
          <p:nvPr/>
        </p:nvCxnSpPr>
        <p:spPr bwMode="auto">
          <a:xfrm>
            <a:off x="2762250" y="3268290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FE27C1C-2E85-F2D8-4377-82628B863B97}"/>
              </a:ext>
            </a:extLst>
          </p:cNvPr>
          <p:cNvCxnSpPr>
            <a:cxnSpLocks/>
            <a:stCxn id="42" idx="2"/>
            <a:endCxn id="47" idx="1"/>
          </p:cNvCxnSpPr>
          <p:nvPr/>
        </p:nvCxnSpPr>
        <p:spPr bwMode="auto">
          <a:xfrm>
            <a:off x="5154088" y="3268290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47B6C11-3676-0B1D-0E6A-48EB54188B3E}"/>
              </a:ext>
            </a:extLst>
          </p:cNvPr>
          <p:cNvSpPr txBox="1"/>
          <p:nvPr/>
        </p:nvSpPr>
        <p:spPr>
          <a:xfrm>
            <a:off x="6307675" y="2945124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2</a:t>
            </a:r>
          </a:p>
          <a:p>
            <a:pPr algn="ctr"/>
            <a:r>
              <a:rPr lang="zh-CN" altLang="en-US" dirty="0"/>
              <a:t>输出</a:t>
            </a:r>
            <a:r>
              <a:rPr lang="en-US" altLang="zh-CN" dirty="0"/>
              <a:t>2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08E30E7-6534-2965-54EF-EBAF95095050}"/>
              </a:ext>
            </a:extLst>
          </p:cNvPr>
          <p:cNvGrpSpPr/>
          <p:nvPr/>
        </p:nvGrpSpPr>
        <p:grpSpPr>
          <a:xfrm>
            <a:off x="3957401" y="4267200"/>
            <a:ext cx="1272887" cy="941342"/>
            <a:chOff x="2860439" y="1756692"/>
            <a:chExt cx="1272887" cy="94134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0BDACB9E-D095-F92A-E1BD-7AEB4A81A33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26549" y="1891257"/>
              <a:ext cx="375303" cy="123825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2CBD9DE-BFCA-2729-5974-F27E0E6B6BF1}"/>
                </a:ext>
              </a:extLst>
            </p:cNvPr>
            <p:cNvSpPr txBox="1"/>
            <p:nvPr/>
          </p:nvSpPr>
          <p:spPr>
            <a:xfrm>
              <a:off x="2860439" y="1756692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</a:t>
              </a:r>
              <a:r>
                <a:rPr lang="en-US" altLang="zh-CN" dirty="0"/>
                <a:t>n</a:t>
              </a:r>
              <a:endParaRPr lang="en-US" dirty="0"/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n</a:t>
              </a:r>
              <a:endParaRPr lang="en-US" dirty="0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9946525-0FB7-8EC3-08E2-1D72B8423E67}"/>
              </a:ext>
            </a:extLst>
          </p:cNvPr>
          <p:cNvSpPr txBox="1"/>
          <p:nvPr/>
        </p:nvSpPr>
        <p:spPr>
          <a:xfrm>
            <a:off x="1600200" y="4697724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n</a:t>
            </a:r>
          </a:p>
          <a:p>
            <a:pPr algn="ctr"/>
            <a:r>
              <a:rPr lang="zh-CN" altLang="en-US" dirty="0"/>
              <a:t>输入</a:t>
            </a:r>
            <a:r>
              <a:rPr lang="en-US" altLang="zh-CN" dirty="0"/>
              <a:t>n</a:t>
            </a:r>
            <a:endParaRPr lang="en-US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25637CE-E7ED-66C0-1C23-895859D6D276}"/>
              </a:ext>
            </a:extLst>
          </p:cNvPr>
          <p:cNvCxnSpPr>
            <a:stCxn id="58" idx="3"/>
            <a:endCxn id="56" idx="0"/>
          </p:cNvCxnSpPr>
          <p:nvPr/>
        </p:nvCxnSpPr>
        <p:spPr bwMode="auto">
          <a:xfrm>
            <a:off x="2838450" y="5020890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B6CAAB-96F4-19F2-41DA-F1BC884F3BB1}"/>
              </a:ext>
            </a:extLst>
          </p:cNvPr>
          <p:cNvCxnSpPr>
            <a:cxnSpLocks/>
            <a:stCxn id="56" idx="2"/>
            <a:endCxn id="61" idx="1"/>
          </p:cNvCxnSpPr>
          <p:nvPr/>
        </p:nvCxnSpPr>
        <p:spPr bwMode="auto">
          <a:xfrm>
            <a:off x="5230288" y="5020890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13DFB49-D665-0365-FC25-6651CDEB0FBA}"/>
              </a:ext>
            </a:extLst>
          </p:cNvPr>
          <p:cNvSpPr txBox="1"/>
          <p:nvPr/>
        </p:nvSpPr>
        <p:spPr>
          <a:xfrm>
            <a:off x="6383875" y="4697724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 n</a:t>
            </a:r>
          </a:p>
          <a:p>
            <a:pPr algn="ctr"/>
            <a:r>
              <a:rPr lang="zh-CN" altLang="en-US" dirty="0"/>
              <a:t>输出</a:t>
            </a:r>
            <a:r>
              <a:rPr lang="en-US" altLang="zh-CN" dirty="0"/>
              <a:t>n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415A4C-2F91-0344-1E97-1C12C5729173}"/>
              </a:ext>
            </a:extLst>
          </p:cNvPr>
          <p:cNvSpPr txBox="1"/>
          <p:nvPr/>
        </p:nvSpPr>
        <p:spPr>
          <a:xfrm>
            <a:off x="4316340" y="3668394"/>
            <a:ext cx="800219" cy="550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4000" dirty="0"/>
              <a:t>…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C738DF-F9BD-11CC-BB0F-7F28DE805F3F}"/>
              </a:ext>
            </a:extLst>
          </p:cNvPr>
          <p:cNvSpPr txBox="1"/>
          <p:nvPr/>
        </p:nvSpPr>
        <p:spPr>
          <a:xfrm>
            <a:off x="1959906" y="3733069"/>
            <a:ext cx="800219" cy="550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4000" dirty="0"/>
              <a:t>…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E8D1F8-DEE6-30C6-A911-33941FF02690}"/>
              </a:ext>
            </a:extLst>
          </p:cNvPr>
          <p:cNvSpPr txBox="1"/>
          <p:nvPr/>
        </p:nvSpPr>
        <p:spPr>
          <a:xfrm>
            <a:off x="6690164" y="3682922"/>
            <a:ext cx="800219" cy="550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4000" dirty="0"/>
              <a:t>…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E80805-C2B1-671F-7044-E7C4F2AB02F4}"/>
              </a:ext>
            </a:extLst>
          </p:cNvPr>
          <p:cNvSpPr txBox="1"/>
          <p:nvPr/>
        </p:nvSpPr>
        <p:spPr>
          <a:xfrm>
            <a:off x="705466" y="5637862"/>
            <a:ext cx="7733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Practice 4.1 is an example  </a:t>
            </a:r>
            <a:r>
              <a:rPr lang="zh-CN" altLang="en-US" sz="2800" dirty="0"/>
              <a:t>实践</a:t>
            </a:r>
            <a:r>
              <a:rPr lang="en-US" altLang="zh-CN" sz="2800" dirty="0"/>
              <a:t>4.1</a:t>
            </a:r>
            <a:r>
              <a:rPr lang="zh-CN" altLang="en-US" sz="2800" dirty="0"/>
              <a:t>就是一例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DA3253E-FCAD-8DD7-00D5-092C693C4F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8160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/>
      <p:bldP spid="44" grpId="0"/>
      <p:bldP spid="47" grpId="0"/>
      <p:bldP spid="58" grpId="0"/>
      <p:bldP spid="61" grpId="0"/>
      <p:bldP spid="62" grpId="0"/>
      <p:bldP spid="64" grpId="0"/>
      <p:bldP spid="66" grpId="0"/>
      <p:bldP spid="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0902-6279-E1C1-D082-AC7700D8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C233-59F8-55EF-52F4-EE0AB9C3E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Parallelism  </a:t>
            </a:r>
            <a:r>
              <a:rPr lang="zh-CN" altLang="en-US" dirty="0"/>
              <a:t>数据并行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04584DB-11D5-7019-6552-A8D46343C5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9D914-F3EA-189C-0940-D9461EE0BAAC}"/>
              </a:ext>
            </a:extLst>
          </p:cNvPr>
          <p:cNvSpPr txBox="1"/>
          <p:nvPr/>
        </p:nvSpPr>
        <p:spPr>
          <a:xfrm>
            <a:off x="705466" y="1789093"/>
            <a:ext cx="77330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Each worker processing independent work</a:t>
            </a:r>
          </a:p>
          <a:p>
            <a:pPr algn="ctr"/>
            <a:r>
              <a:rPr lang="en-US" altLang="zh-CN" sz="2800" dirty="0"/>
              <a:t>  </a:t>
            </a:r>
            <a:r>
              <a:rPr lang="zh-CN" altLang="en-US" sz="2800" dirty="0"/>
              <a:t>每个工作线程处理独立的作业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1499E-CAF7-7F6C-FD4B-33D709AAA992}"/>
              </a:ext>
            </a:extLst>
          </p:cNvPr>
          <p:cNvSpPr txBox="1"/>
          <p:nvPr/>
        </p:nvSpPr>
        <p:spPr>
          <a:xfrm>
            <a:off x="705466" y="3200400"/>
            <a:ext cx="77330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Usually improving the overall throughput (pieces of work per unit of time)</a:t>
            </a:r>
          </a:p>
          <a:p>
            <a:pPr algn="ctr"/>
            <a:r>
              <a:rPr lang="en-US" altLang="zh-CN" sz="2800" dirty="0"/>
              <a:t>  </a:t>
            </a:r>
            <a:r>
              <a:rPr lang="zh-CN" altLang="en-US" sz="2800" dirty="0"/>
              <a:t>通常提升整体吞吐量</a:t>
            </a:r>
            <a:endParaRPr lang="en-US" altLang="zh-CN" sz="2800" dirty="0"/>
          </a:p>
          <a:p>
            <a:pPr algn="ctr"/>
            <a:r>
              <a:rPr lang="zh-CN" altLang="en-US" sz="2800" dirty="0"/>
              <a:t>（每时间单位内完成的工作量）</a:t>
            </a:r>
          </a:p>
        </p:txBody>
      </p:sp>
    </p:spTree>
    <p:extLst>
      <p:ext uri="{BB962C8B-B14F-4D97-AF65-F5344CB8AC3E}">
        <p14:creationId xmlns:p14="http://schemas.microsoft.com/office/powerpoint/2010/main" val="124636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3DDE0-88D1-43F8-4464-406DA51B5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2EB94-C507-E28E-9CB6-A1B54975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4.2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B3337-C89E-2C22-4FFE-92663371F2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58A9B5-68FC-63BC-E36B-F2DA2F1EB215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data parallelism for ZIP code recognition</a:t>
            </a:r>
          </a:p>
          <a:p>
            <a:pPr algn="ctr"/>
            <a:r>
              <a:rPr lang="zh-CN" altLang="en-US" sz="2200" dirty="0"/>
              <a:t>实践时刻：用数据并行处理邮政编码识别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38016-76B0-C024-6000-095B501BA32A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Calculate w/ multiple threads</a:t>
            </a:r>
          </a:p>
          <a:p>
            <a:pPr algn="ctr"/>
            <a:r>
              <a:rPr lang="zh-CN" altLang="en-US" sz="2200" dirty="0"/>
              <a:t>用多个线程进行计算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30C253-191E-7F7E-7E2A-9DED1F1B86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8358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C82D-A569-377D-7D8F-57C1D2C43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2B70B-58F5-6322-E0DC-2884D7C7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 &amp; Conquer  </a:t>
            </a:r>
            <a:r>
              <a:rPr lang="zh-CN" altLang="en-US" dirty="0"/>
              <a:t>分而治之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FB2828-AA0C-6B95-3952-6D051974083B}"/>
              </a:ext>
            </a:extLst>
          </p:cNvPr>
          <p:cNvGrpSpPr/>
          <p:nvPr/>
        </p:nvGrpSpPr>
        <p:grpSpPr>
          <a:xfrm>
            <a:off x="6496621" y="1532326"/>
            <a:ext cx="1273654" cy="908814"/>
            <a:chOff x="2859672" y="1789220"/>
            <a:chExt cx="1273654" cy="9088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7F0173A-28B6-646D-BA16-E81B152E164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26549" y="1891257"/>
              <a:ext cx="375303" cy="123825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E14B6ED-CF5C-E174-15F2-A660988F2DD9}"/>
                </a:ext>
              </a:extLst>
            </p:cNvPr>
            <p:cNvSpPr txBox="1"/>
            <p:nvPr/>
          </p:nvSpPr>
          <p:spPr>
            <a:xfrm>
              <a:off x="2859672" y="1789220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1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1</a:t>
              </a:r>
              <a:endParaRPr lang="en-US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8DED7E4-9626-FB69-45C1-533A80ECD709}"/>
              </a:ext>
            </a:extLst>
          </p:cNvPr>
          <p:cNvSpPr txBox="1"/>
          <p:nvPr/>
        </p:nvSpPr>
        <p:spPr>
          <a:xfrm>
            <a:off x="3581400" y="1930322"/>
            <a:ext cx="1797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Sub-problem 1</a:t>
            </a:r>
          </a:p>
          <a:p>
            <a:pPr algn="ctr"/>
            <a:r>
              <a:rPr lang="zh-CN" altLang="en-US" dirty="0"/>
              <a:t>子问题</a:t>
            </a:r>
            <a:r>
              <a:rPr lang="en-US" altLang="zh-CN" dirty="0"/>
              <a:t>1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F502A3-9B17-8031-0EEA-C7E963A5234A}"/>
              </a:ext>
            </a:extLst>
          </p:cNvPr>
          <p:cNvCxnSpPr>
            <a:cxnSpLocks/>
            <a:stCxn id="29" idx="3"/>
            <a:endCxn id="13" idx="0"/>
          </p:cNvCxnSpPr>
          <p:nvPr/>
        </p:nvCxnSpPr>
        <p:spPr bwMode="auto">
          <a:xfrm>
            <a:off x="5378437" y="2253488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BA3B259-C475-531C-B8A0-13BE0E903358}"/>
              </a:ext>
            </a:extLst>
          </p:cNvPr>
          <p:cNvGrpSpPr/>
          <p:nvPr/>
        </p:nvGrpSpPr>
        <p:grpSpPr>
          <a:xfrm>
            <a:off x="6499513" y="2514600"/>
            <a:ext cx="1272887" cy="941342"/>
            <a:chOff x="2860439" y="1756692"/>
            <a:chExt cx="1272887" cy="941342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B5625F49-72F8-CD9A-9EB9-9953427FF6EB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26549" y="1891257"/>
              <a:ext cx="375303" cy="1238251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A7EE219-7415-CB29-5965-30F446B4A46F}"/>
                </a:ext>
              </a:extLst>
            </p:cNvPr>
            <p:cNvSpPr txBox="1"/>
            <p:nvPr/>
          </p:nvSpPr>
          <p:spPr>
            <a:xfrm>
              <a:off x="2860439" y="1756692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2</a:t>
              </a:r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2</a:t>
              </a:r>
              <a:endParaRPr lang="en-US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795E91EB-5C68-DD85-9360-F2354ECBB9AA}"/>
              </a:ext>
            </a:extLst>
          </p:cNvPr>
          <p:cNvSpPr txBox="1"/>
          <p:nvPr/>
        </p:nvSpPr>
        <p:spPr>
          <a:xfrm>
            <a:off x="3581400" y="2945124"/>
            <a:ext cx="1799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Sub-problem 2</a:t>
            </a:r>
          </a:p>
          <a:p>
            <a:pPr algn="ctr"/>
            <a:r>
              <a:rPr lang="zh-CN" altLang="en-US" dirty="0"/>
              <a:t>子问题</a:t>
            </a:r>
            <a:r>
              <a:rPr lang="en-US" altLang="zh-CN" dirty="0"/>
              <a:t>2</a:t>
            </a:r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026BE20-B56C-7835-5DCD-33A34239B496}"/>
              </a:ext>
            </a:extLst>
          </p:cNvPr>
          <p:cNvCxnSpPr>
            <a:cxnSpLocks/>
            <a:stCxn id="44" idx="3"/>
            <a:endCxn id="42" idx="0"/>
          </p:cNvCxnSpPr>
          <p:nvPr/>
        </p:nvCxnSpPr>
        <p:spPr bwMode="auto">
          <a:xfrm>
            <a:off x="5380562" y="3268290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B13E89C-70F8-E688-BC1B-9A06E422444B}"/>
              </a:ext>
            </a:extLst>
          </p:cNvPr>
          <p:cNvGrpSpPr/>
          <p:nvPr/>
        </p:nvGrpSpPr>
        <p:grpSpPr>
          <a:xfrm>
            <a:off x="6575713" y="4267200"/>
            <a:ext cx="1272887" cy="941342"/>
            <a:chOff x="2860439" y="1756692"/>
            <a:chExt cx="1272887" cy="941342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1600ED5-E132-2D95-3CF0-0AD2F29F0A0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3326549" y="1891257"/>
              <a:ext cx="375303" cy="123825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D2E41F-B9ED-132D-335B-117CA4BF93F4}"/>
                </a:ext>
              </a:extLst>
            </p:cNvPr>
            <p:cNvSpPr txBox="1"/>
            <p:nvPr/>
          </p:nvSpPr>
          <p:spPr>
            <a:xfrm>
              <a:off x="2860439" y="1756692"/>
              <a:ext cx="12382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Thread </a:t>
              </a:r>
              <a:r>
                <a:rPr lang="en-US" altLang="zh-CN" dirty="0"/>
                <a:t>n</a:t>
              </a:r>
              <a:endParaRPr lang="en-US" dirty="0"/>
            </a:p>
            <a:p>
              <a:pPr algn="ctr"/>
              <a:r>
                <a:rPr lang="zh-CN" altLang="en-US" dirty="0"/>
                <a:t>线程</a:t>
              </a:r>
              <a:r>
                <a:rPr lang="en-US" altLang="zh-CN" dirty="0"/>
                <a:t>n</a:t>
              </a:r>
              <a:endParaRPr lang="en-US" dirty="0"/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5B122DCA-42A5-9179-78A4-BC262869DE38}"/>
              </a:ext>
            </a:extLst>
          </p:cNvPr>
          <p:cNvSpPr txBox="1"/>
          <p:nvPr/>
        </p:nvSpPr>
        <p:spPr>
          <a:xfrm>
            <a:off x="3581400" y="4697724"/>
            <a:ext cx="1875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Sub-problem n</a:t>
            </a:r>
          </a:p>
          <a:p>
            <a:pPr algn="ctr"/>
            <a:r>
              <a:rPr lang="zh-CN" altLang="en-US" dirty="0"/>
              <a:t>子问题</a:t>
            </a:r>
            <a:r>
              <a:rPr lang="en-US" altLang="zh-CN" dirty="0"/>
              <a:t>n</a:t>
            </a:r>
            <a:endParaRPr lang="en-US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EF4CF4A-5C9C-1628-E5E7-D216F23BB91C}"/>
              </a:ext>
            </a:extLst>
          </p:cNvPr>
          <p:cNvCxnSpPr>
            <a:cxnSpLocks/>
            <a:stCxn id="58" idx="3"/>
            <a:endCxn id="56" idx="0"/>
          </p:cNvCxnSpPr>
          <p:nvPr/>
        </p:nvCxnSpPr>
        <p:spPr bwMode="auto">
          <a:xfrm>
            <a:off x="5456762" y="5020890"/>
            <a:ext cx="115358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FD453B1-E3A0-0F9A-AAC5-AFC30F0486B8}"/>
              </a:ext>
            </a:extLst>
          </p:cNvPr>
          <p:cNvSpPr txBox="1"/>
          <p:nvPr/>
        </p:nvSpPr>
        <p:spPr>
          <a:xfrm>
            <a:off x="6934652" y="3668394"/>
            <a:ext cx="800219" cy="550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4000" dirty="0"/>
              <a:t>…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BD2672-9771-334B-C4DB-210817927812}"/>
              </a:ext>
            </a:extLst>
          </p:cNvPr>
          <p:cNvSpPr txBox="1"/>
          <p:nvPr/>
        </p:nvSpPr>
        <p:spPr>
          <a:xfrm>
            <a:off x="4278337" y="3771495"/>
            <a:ext cx="800219" cy="550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40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C03213-63EC-B27D-7157-4BDBE39936FD}"/>
              </a:ext>
            </a:extLst>
          </p:cNvPr>
          <p:cNvSpPr txBox="1"/>
          <p:nvPr/>
        </p:nvSpPr>
        <p:spPr>
          <a:xfrm>
            <a:off x="37723" y="3298977"/>
            <a:ext cx="2095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Compute p</a:t>
            </a:r>
            <a:r>
              <a:rPr lang="en-US" dirty="0"/>
              <a:t>roblem</a:t>
            </a:r>
          </a:p>
          <a:p>
            <a:pPr algn="ctr"/>
            <a:r>
              <a:rPr lang="zh-CN" altLang="en-US" dirty="0"/>
              <a:t>计算问题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ECC2AE-C95A-1B9C-F3E4-FEEEAAB9E23B}"/>
              </a:ext>
            </a:extLst>
          </p:cNvPr>
          <p:cNvCxnSpPr>
            <a:cxnSpLocks/>
            <a:stCxn id="9" idx="3"/>
            <a:endCxn id="29" idx="1"/>
          </p:cNvCxnSpPr>
          <p:nvPr/>
        </p:nvCxnSpPr>
        <p:spPr bwMode="auto">
          <a:xfrm flipV="1">
            <a:off x="2133600" y="2253488"/>
            <a:ext cx="1447800" cy="13686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5E6DE05-2797-CFCF-B7CB-76720CDBEF6E}"/>
              </a:ext>
            </a:extLst>
          </p:cNvPr>
          <p:cNvCxnSpPr>
            <a:cxnSpLocks/>
            <a:stCxn id="9" idx="3"/>
            <a:endCxn id="44" idx="1"/>
          </p:cNvCxnSpPr>
          <p:nvPr/>
        </p:nvCxnSpPr>
        <p:spPr bwMode="auto">
          <a:xfrm flipV="1">
            <a:off x="2133600" y="3268290"/>
            <a:ext cx="1447800" cy="3538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3628DD-E76F-84FF-973C-8AC504770152}"/>
              </a:ext>
            </a:extLst>
          </p:cNvPr>
          <p:cNvCxnSpPr>
            <a:cxnSpLocks/>
            <a:stCxn id="9" idx="3"/>
            <a:endCxn id="58" idx="1"/>
          </p:cNvCxnSpPr>
          <p:nvPr/>
        </p:nvCxnSpPr>
        <p:spPr bwMode="auto">
          <a:xfrm>
            <a:off x="2133600" y="3622143"/>
            <a:ext cx="1447800" cy="139874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B4E107A-FA7C-79A6-79ED-1D0D4C61E353}"/>
              </a:ext>
            </a:extLst>
          </p:cNvPr>
          <p:cNvSpPr txBox="1"/>
          <p:nvPr/>
        </p:nvSpPr>
        <p:spPr>
          <a:xfrm>
            <a:off x="2830537" y="3682922"/>
            <a:ext cx="800219" cy="55002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4000" dirty="0"/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843371-02C3-2C5D-F612-89C620B93008}"/>
              </a:ext>
            </a:extLst>
          </p:cNvPr>
          <p:cNvSpPr txBox="1"/>
          <p:nvPr/>
        </p:nvSpPr>
        <p:spPr>
          <a:xfrm>
            <a:off x="1574125" y="4186907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Decompose</a:t>
            </a:r>
            <a:endParaRPr lang="en-US" dirty="0"/>
          </a:p>
          <a:p>
            <a:pPr algn="ctr"/>
            <a:r>
              <a:rPr lang="zh-CN" altLang="en-US" dirty="0"/>
              <a:t>分解</a:t>
            </a:r>
            <a:endParaRPr lang="en-US" dirty="0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0C344599-ED5E-821F-EE5B-6DE9FB988FCF}"/>
              </a:ext>
            </a:extLst>
          </p:cNvPr>
          <p:cNvSpPr/>
          <p:nvPr/>
        </p:nvSpPr>
        <p:spPr bwMode="auto">
          <a:xfrm rot="5400000">
            <a:off x="6444254" y="3552874"/>
            <a:ext cx="2472389" cy="248925"/>
          </a:xfrm>
          <a:prstGeom prst="leftRightArrow">
            <a:avLst/>
          </a:prstGeom>
          <a:solidFill>
            <a:schemeClr val="accent1">
              <a:alpha val="5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FCBD66-72EB-432B-1781-7C1FBDD9DEE9}"/>
              </a:ext>
            </a:extLst>
          </p:cNvPr>
          <p:cNvSpPr txBox="1"/>
          <p:nvPr/>
        </p:nvSpPr>
        <p:spPr>
          <a:xfrm>
            <a:off x="6496621" y="5263124"/>
            <a:ext cx="2428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Synchronization &amp; data exchange</a:t>
            </a:r>
            <a:endParaRPr lang="en-US" dirty="0"/>
          </a:p>
          <a:p>
            <a:pPr algn="ctr"/>
            <a:r>
              <a:rPr lang="zh-CN" altLang="en-US" dirty="0"/>
              <a:t>同步与数据交换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4AB6EB-7E03-7C26-E786-AAD46C9624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8948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4" grpId="0"/>
      <p:bldP spid="58" grpId="0"/>
      <p:bldP spid="62" grpId="0"/>
      <p:bldP spid="64" grpId="0"/>
      <p:bldP spid="22" grpId="0"/>
      <p:bldP spid="24" grpId="0"/>
      <p:bldP spid="24" grpId="1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C27ED-A6EF-F120-938E-F37D5F61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748A3-11AF-A682-2D74-44D83A61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Divide &amp; Conquer  </a:t>
            </a:r>
            <a:r>
              <a:rPr lang="zh-CN" altLang="en-US" dirty="0"/>
              <a:t>分而治之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E077817-C139-51D9-77B2-92BC98536A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1A48A-B3F2-759F-0F15-6D1920BD7B74}"/>
              </a:ext>
            </a:extLst>
          </p:cNvPr>
          <p:cNvSpPr txBox="1"/>
          <p:nvPr/>
        </p:nvSpPr>
        <p:spPr>
          <a:xfrm>
            <a:off x="705466" y="1789093"/>
            <a:ext cx="77330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All workers collectively working </a:t>
            </a:r>
          </a:p>
          <a:p>
            <a:pPr algn="ctr"/>
            <a:r>
              <a:rPr lang="en-US" altLang="zh-CN" sz="2800" dirty="0"/>
              <a:t>on the same piece of work</a:t>
            </a:r>
          </a:p>
          <a:p>
            <a:pPr algn="ctr"/>
            <a:r>
              <a:rPr lang="en-US" altLang="zh-CN" sz="2800" dirty="0"/>
              <a:t>  </a:t>
            </a:r>
            <a:r>
              <a:rPr lang="zh-CN" altLang="en-US" sz="2800" dirty="0"/>
              <a:t>所有的工作线程协作完成同一份工作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66FAD-8917-54A2-800A-4D818EED9B01}"/>
              </a:ext>
            </a:extLst>
          </p:cNvPr>
          <p:cNvSpPr txBox="1"/>
          <p:nvPr/>
        </p:nvSpPr>
        <p:spPr>
          <a:xfrm>
            <a:off x="705466" y="3365718"/>
            <a:ext cx="77330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Usually reducing the latency of </a:t>
            </a:r>
          </a:p>
          <a:p>
            <a:pPr algn="ctr"/>
            <a:r>
              <a:rPr lang="en-US" altLang="zh-CN" sz="2800" dirty="0"/>
              <a:t>completing the piece of work</a:t>
            </a:r>
          </a:p>
          <a:p>
            <a:pPr algn="ctr"/>
            <a:r>
              <a:rPr lang="en-US" altLang="zh-CN" sz="2800" dirty="0"/>
              <a:t>  </a:t>
            </a:r>
            <a:r>
              <a:rPr lang="zh-CN" altLang="en-US" sz="2800" dirty="0"/>
              <a:t>通常降低单份工作的时延</a:t>
            </a:r>
            <a:endParaRPr lang="en-US" altLang="zh-C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ED2040-E2E4-ABEE-3E17-55D8A467542B}"/>
              </a:ext>
            </a:extLst>
          </p:cNvPr>
          <p:cNvSpPr txBox="1"/>
          <p:nvPr/>
        </p:nvSpPr>
        <p:spPr>
          <a:xfrm>
            <a:off x="160421" y="5065693"/>
            <a:ext cx="8694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Paying the synchronization &amp; data exchange cost </a:t>
            </a:r>
          </a:p>
          <a:p>
            <a:pPr algn="ctr"/>
            <a:r>
              <a:rPr lang="en-US" altLang="zh-CN" sz="2800" dirty="0"/>
              <a:t> </a:t>
            </a:r>
            <a:r>
              <a:rPr lang="zh-CN" altLang="en-US" sz="2800" dirty="0"/>
              <a:t>付出同步与数据交换的代价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67737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1ACD4-9738-199A-8AC0-37507A8F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F771-CC68-F7D7-BEF0-06581465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4.3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4.3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A889D-00CD-342F-5008-6118A7A46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92DA89-0AD7-A875-A305-FC0B614D704F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now divide &amp; conquer</a:t>
            </a:r>
          </a:p>
          <a:p>
            <a:pPr algn="ctr"/>
            <a:r>
              <a:rPr lang="zh-CN" altLang="en-US" sz="2200" dirty="0"/>
              <a:t>实践时刻：现在分而治之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A29180-8084-73B9-3422-140BDCAE3E25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Calculate w/ multiple threads</a:t>
            </a:r>
          </a:p>
          <a:p>
            <a:pPr algn="ctr"/>
            <a:r>
              <a:rPr lang="zh-CN" altLang="en-US" sz="2200" dirty="0"/>
              <a:t>用多个线程进行计算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245C3-18EE-9D41-08D9-2A8221A2F8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717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518B-2476-F052-A128-04A3819E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CD33-7436-75B0-8198-A0CFF6DBC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Improvement</a:t>
            </a:r>
            <a:br>
              <a:rPr lang="en-US" altLang="zh-CN" dirty="0"/>
            </a:br>
            <a:r>
              <a:rPr lang="zh-CN" altLang="en-US" dirty="0"/>
              <a:t>性能提升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9CC65-7B35-6389-F25C-C2C5CC245C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FC088-C06E-9A5C-AF72-8D5AB84F8036}"/>
              </a:ext>
            </a:extLst>
          </p:cNvPr>
          <p:cNvSpPr txBox="1"/>
          <p:nvPr/>
        </p:nvSpPr>
        <p:spPr>
          <a:xfrm>
            <a:off x="415290" y="1733433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Again, this is a more complex case</a:t>
            </a:r>
          </a:p>
          <a:p>
            <a:pPr algn="ctr"/>
            <a:r>
              <a:rPr lang="zh-CN" altLang="en-US" sz="2800" dirty="0"/>
              <a:t>再次提及：这是一个更为复杂的例子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102C6-707C-08B7-5AAC-9A62F797F59B}"/>
              </a:ext>
            </a:extLst>
          </p:cNvPr>
          <p:cNvSpPr txBox="1"/>
          <p:nvPr/>
        </p:nvSpPr>
        <p:spPr>
          <a:xfrm>
            <a:off x="415290" y="2968675"/>
            <a:ext cx="8313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Performance improvements differ </a:t>
            </a:r>
          </a:p>
          <a:p>
            <a:pPr algn="ctr"/>
            <a:r>
              <a:rPr lang="en-US" altLang="zh-CN" sz="2800" dirty="0"/>
              <a:t>from old systems to new systems</a:t>
            </a:r>
          </a:p>
          <a:p>
            <a:pPr algn="ctr"/>
            <a:r>
              <a:rPr lang="zh-CN" altLang="en-US" sz="2800" dirty="0"/>
              <a:t>在新旧不同的系统上提升也不同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256F5-3099-4818-1055-77D8468C927E}"/>
              </a:ext>
            </a:extLst>
          </p:cNvPr>
          <p:cNvSpPr txBox="1"/>
          <p:nvPr/>
        </p:nvSpPr>
        <p:spPr>
          <a:xfrm>
            <a:off x="435343" y="4634805"/>
            <a:ext cx="83134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We leave that as a puzzle here &amp; </a:t>
            </a:r>
          </a:p>
          <a:p>
            <a:pPr algn="ctr"/>
            <a:r>
              <a:rPr lang="en-US" altLang="zh-CN" sz="2800" dirty="0"/>
              <a:t>will resolve the puzzle in the future</a:t>
            </a:r>
          </a:p>
          <a:p>
            <a:pPr algn="ctr"/>
            <a:r>
              <a:rPr lang="zh-CN" altLang="en-US" sz="2800" dirty="0"/>
              <a:t>这里我们留一个谜题，将来解之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1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AB2BD-42BE-12F0-1E78-85A66161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A1AD4-0D75-60BF-4D79-53FC0A19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31F65-9C73-43E9-F2BA-18F184A2821B}"/>
              </a:ext>
            </a:extLst>
          </p:cNvPr>
          <p:cNvSpPr/>
          <p:nvPr/>
        </p:nvSpPr>
        <p:spPr bwMode="auto">
          <a:xfrm>
            <a:off x="1136217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911032-9012-26BD-261E-BDEB698A3F5E}"/>
              </a:ext>
            </a:extLst>
          </p:cNvPr>
          <p:cNvSpPr/>
          <p:nvPr/>
        </p:nvSpPr>
        <p:spPr bwMode="auto">
          <a:xfrm>
            <a:off x="1600200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248961-CDBE-50D8-F922-6961F43CE316}"/>
              </a:ext>
            </a:extLst>
          </p:cNvPr>
          <p:cNvSpPr/>
          <p:nvPr/>
        </p:nvSpPr>
        <p:spPr bwMode="auto">
          <a:xfrm>
            <a:off x="3124200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801D5B-E10B-A7E4-4EF0-56D547B1188E}"/>
              </a:ext>
            </a:extLst>
          </p:cNvPr>
          <p:cNvSpPr txBox="1"/>
          <p:nvPr/>
        </p:nvSpPr>
        <p:spPr>
          <a:xfrm>
            <a:off x="-110764" y="2735730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Read input  </a:t>
            </a:r>
            <a:r>
              <a:rPr lang="zh-CN" altLang="en-US" dirty="0"/>
              <a:t>读取输入</a:t>
            </a:r>
            <a:endParaRPr lang="en-US" altLang="zh-CN" dirty="0"/>
          </a:p>
          <a:p>
            <a:pPr algn="ctr"/>
            <a:r>
              <a:rPr lang="en-US" altLang="zh-CN" dirty="0"/>
              <a:t>Very little CPU usage</a:t>
            </a:r>
          </a:p>
          <a:p>
            <a:pPr algn="ctr"/>
            <a:r>
              <a:rPr lang="zh-CN" altLang="en-US" dirty="0"/>
              <a:t>很少使用</a:t>
            </a:r>
            <a:r>
              <a:rPr lang="en-US" altLang="zh-CN" dirty="0"/>
              <a:t>CPU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1BD32C-1C61-E063-5705-48508309B2D7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 bwMode="auto">
          <a:xfrm flipV="1">
            <a:off x="1375136" y="2209799"/>
            <a:ext cx="0" cy="52593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BBBAC9E-BA0C-7EED-A8EF-1219EC454388}"/>
              </a:ext>
            </a:extLst>
          </p:cNvPr>
          <p:cNvCxnSpPr>
            <a:cxnSpLocks/>
            <a:stCxn id="24" idx="0"/>
            <a:endCxn id="11" idx="2"/>
          </p:cNvCxnSpPr>
          <p:nvPr/>
        </p:nvCxnSpPr>
        <p:spPr bwMode="auto">
          <a:xfrm flipV="1">
            <a:off x="2362200" y="2209799"/>
            <a:ext cx="0" cy="15957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337B7F3-1EA6-81BE-D3B6-910367DDF940}"/>
              </a:ext>
            </a:extLst>
          </p:cNvPr>
          <p:cNvSpPr txBox="1"/>
          <p:nvPr/>
        </p:nvSpPr>
        <p:spPr>
          <a:xfrm>
            <a:off x="876300" y="3805534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Compute  </a:t>
            </a:r>
            <a:r>
              <a:rPr lang="zh-CN" altLang="en-US" dirty="0"/>
              <a:t>计算</a:t>
            </a:r>
            <a:endParaRPr lang="en-US" altLang="zh-CN" dirty="0"/>
          </a:p>
          <a:p>
            <a:pPr algn="ctr"/>
            <a:r>
              <a:rPr lang="en-US" altLang="zh-CN" dirty="0"/>
              <a:t>Heavy CPU usage</a:t>
            </a:r>
          </a:p>
          <a:p>
            <a:pPr algn="ctr"/>
            <a:r>
              <a:rPr lang="en-US" altLang="zh-CN" dirty="0"/>
              <a:t>CPU</a:t>
            </a:r>
            <a:r>
              <a:rPr lang="zh-CN" altLang="en-US" dirty="0"/>
              <a:t>使用强度高</a:t>
            </a:r>
            <a:endParaRPr lang="en-US" altLang="zh-CN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A669DA8-E7FC-CA7D-8675-1A69FB8B4E41}"/>
              </a:ext>
            </a:extLst>
          </p:cNvPr>
          <p:cNvCxnSpPr>
            <a:cxnSpLocks/>
            <a:stCxn id="30" idx="0"/>
            <a:endCxn id="13" idx="2"/>
          </p:cNvCxnSpPr>
          <p:nvPr/>
        </p:nvCxnSpPr>
        <p:spPr bwMode="auto">
          <a:xfrm flipV="1">
            <a:off x="3390899" y="2209799"/>
            <a:ext cx="0" cy="27432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764C26D-5343-7461-7828-53439D15D0AF}"/>
              </a:ext>
            </a:extLst>
          </p:cNvPr>
          <p:cNvSpPr txBox="1"/>
          <p:nvPr/>
        </p:nvSpPr>
        <p:spPr>
          <a:xfrm>
            <a:off x="1904999" y="4953000"/>
            <a:ext cx="297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Write output  </a:t>
            </a:r>
            <a:r>
              <a:rPr lang="zh-CN" altLang="en-US" dirty="0"/>
              <a:t>输出结果</a:t>
            </a:r>
            <a:endParaRPr lang="en-US" altLang="zh-CN" dirty="0"/>
          </a:p>
          <a:p>
            <a:pPr algn="ctr"/>
            <a:r>
              <a:rPr lang="en-US" altLang="zh-CN" dirty="0"/>
              <a:t>Very little CPU usage</a:t>
            </a:r>
          </a:p>
          <a:p>
            <a:pPr algn="ctr"/>
            <a:r>
              <a:rPr lang="zh-CN" altLang="en-US" dirty="0"/>
              <a:t>很少使用</a:t>
            </a:r>
            <a:r>
              <a:rPr lang="en-US" altLang="zh-CN" dirty="0"/>
              <a:t>CPU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8035FD8-AE0F-08C7-D7D1-35BF415F9A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13993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4" grpId="0"/>
      <p:bldP spid="14" grpId="1"/>
      <p:bldP spid="24" grpId="0"/>
      <p:bldP spid="24" grpId="1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674F-4A8D-82F7-85C4-1B932445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4766-9AB3-4D8A-EBAB-2DE21C14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C4A2D9-2BD2-CFF1-D752-CFE082154AA0}"/>
              </a:ext>
            </a:extLst>
          </p:cNvPr>
          <p:cNvSpPr/>
          <p:nvPr/>
        </p:nvSpPr>
        <p:spPr bwMode="auto">
          <a:xfrm>
            <a:off x="1136217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E23C4C-EFF0-6BC9-2ACA-61E08021EC64}"/>
              </a:ext>
            </a:extLst>
          </p:cNvPr>
          <p:cNvSpPr/>
          <p:nvPr/>
        </p:nvSpPr>
        <p:spPr bwMode="auto">
          <a:xfrm>
            <a:off x="1600200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7B6E6B-F2CF-39B1-B6DD-055534B147C9}"/>
              </a:ext>
            </a:extLst>
          </p:cNvPr>
          <p:cNvSpPr/>
          <p:nvPr/>
        </p:nvSpPr>
        <p:spPr bwMode="auto">
          <a:xfrm>
            <a:off x="3124200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F116B2-698B-2553-48A2-5CFA574D4A96}"/>
              </a:ext>
            </a:extLst>
          </p:cNvPr>
          <p:cNvSpPr/>
          <p:nvPr/>
        </p:nvSpPr>
        <p:spPr bwMode="auto">
          <a:xfrm>
            <a:off x="3663979" y="1896685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6B2912-5C89-250B-7CAE-40247EC54D9D}"/>
              </a:ext>
            </a:extLst>
          </p:cNvPr>
          <p:cNvSpPr/>
          <p:nvPr/>
        </p:nvSpPr>
        <p:spPr bwMode="auto">
          <a:xfrm>
            <a:off x="4127962" y="1896685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638E1A-291A-E142-E66B-709E14BD207B}"/>
              </a:ext>
            </a:extLst>
          </p:cNvPr>
          <p:cNvSpPr/>
          <p:nvPr/>
        </p:nvSpPr>
        <p:spPr bwMode="auto">
          <a:xfrm>
            <a:off x="5651962" y="1896685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FB557E-A80E-C1E2-DC89-C3A59C6934BB}"/>
              </a:ext>
            </a:extLst>
          </p:cNvPr>
          <p:cNvSpPr/>
          <p:nvPr/>
        </p:nvSpPr>
        <p:spPr bwMode="auto">
          <a:xfrm>
            <a:off x="6184121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9103F4-C988-9325-4864-FAE1E48639B6}"/>
              </a:ext>
            </a:extLst>
          </p:cNvPr>
          <p:cNvSpPr/>
          <p:nvPr/>
        </p:nvSpPr>
        <p:spPr bwMode="auto">
          <a:xfrm>
            <a:off x="6648104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6A067E-89C3-1C78-CFD4-C36CB4B47F8F}"/>
              </a:ext>
            </a:extLst>
          </p:cNvPr>
          <p:cNvSpPr/>
          <p:nvPr/>
        </p:nvSpPr>
        <p:spPr bwMode="auto">
          <a:xfrm>
            <a:off x="8172104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26773C-065A-DD48-A36F-2A26B22762D7}"/>
              </a:ext>
            </a:extLst>
          </p:cNvPr>
          <p:cNvSpPr txBox="1"/>
          <p:nvPr/>
        </p:nvSpPr>
        <p:spPr>
          <a:xfrm>
            <a:off x="2225523" y="2409641"/>
            <a:ext cx="4533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Single thread, no parallelism</a:t>
            </a:r>
          </a:p>
          <a:p>
            <a:pPr algn="ctr"/>
            <a:r>
              <a:rPr lang="zh-CN" altLang="en-US" sz="2400" dirty="0"/>
              <a:t>单线程，无并行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365E5E1-FCC1-6E3F-9B79-1EEA4A35AF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51037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23" grpId="0" animBg="1"/>
      <p:bldP spid="26" grpId="0" animBg="1"/>
      <p:bldP spid="2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9ED3B-6FFA-ECF9-1F54-174C8712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C1DEBEEA-36AA-A4BD-28B8-F641DF9D5595}"/>
              </a:ext>
            </a:extLst>
          </p:cNvPr>
          <p:cNvSpPr/>
          <p:nvPr/>
        </p:nvSpPr>
        <p:spPr bwMode="auto">
          <a:xfrm>
            <a:off x="1066800" y="2574429"/>
            <a:ext cx="7638702" cy="19213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Run in 1 CPU core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在一个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CPU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核心中</a:t>
            </a:r>
            <a:r>
              <a:rPr lang="zh-CN" altLang="en-US" dirty="0"/>
              <a:t>运行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6B0397-17F7-A49B-19B8-752FB3A8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028318-9AEA-B14A-D6FC-D7E103307F36}"/>
              </a:ext>
            </a:extLst>
          </p:cNvPr>
          <p:cNvSpPr/>
          <p:nvPr/>
        </p:nvSpPr>
        <p:spPr bwMode="auto">
          <a:xfrm>
            <a:off x="1136217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B31458-D938-51B4-976F-A2460052E4D2}"/>
              </a:ext>
            </a:extLst>
          </p:cNvPr>
          <p:cNvSpPr/>
          <p:nvPr/>
        </p:nvSpPr>
        <p:spPr bwMode="auto">
          <a:xfrm>
            <a:off x="1600200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60D928-2370-0009-FF9D-F053CA7B991D}"/>
              </a:ext>
            </a:extLst>
          </p:cNvPr>
          <p:cNvSpPr/>
          <p:nvPr/>
        </p:nvSpPr>
        <p:spPr bwMode="auto">
          <a:xfrm>
            <a:off x="3124200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C1C2C-21B0-1CB8-1619-AAF41BEBD2BB}"/>
              </a:ext>
            </a:extLst>
          </p:cNvPr>
          <p:cNvSpPr/>
          <p:nvPr/>
        </p:nvSpPr>
        <p:spPr bwMode="auto">
          <a:xfrm>
            <a:off x="3663979" y="1896685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32D43E-0189-1076-02CB-DC715BE13CB7}"/>
              </a:ext>
            </a:extLst>
          </p:cNvPr>
          <p:cNvSpPr/>
          <p:nvPr/>
        </p:nvSpPr>
        <p:spPr bwMode="auto">
          <a:xfrm>
            <a:off x="4127962" y="1896685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91C514-A6C5-D207-58E6-DBD0F387936C}"/>
              </a:ext>
            </a:extLst>
          </p:cNvPr>
          <p:cNvSpPr/>
          <p:nvPr/>
        </p:nvSpPr>
        <p:spPr bwMode="auto">
          <a:xfrm>
            <a:off x="5651962" y="1896685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F40EB6-10B6-8B4D-C4C5-C57362588826}"/>
              </a:ext>
            </a:extLst>
          </p:cNvPr>
          <p:cNvSpPr/>
          <p:nvPr/>
        </p:nvSpPr>
        <p:spPr bwMode="auto">
          <a:xfrm>
            <a:off x="6184121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ED2108-F636-24C3-AEB3-B0A2F3EE6C07}"/>
              </a:ext>
            </a:extLst>
          </p:cNvPr>
          <p:cNvSpPr/>
          <p:nvPr/>
        </p:nvSpPr>
        <p:spPr bwMode="auto">
          <a:xfrm>
            <a:off x="6648104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F6E93F-D72E-33C4-2BC2-A26BF525E36C}"/>
              </a:ext>
            </a:extLst>
          </p:cNvPr>
          <p:cNvSpPr/>
          <p:nvPr/>
        </p:nvSpPr>
        <p:spPr bwMode="auto">
          <a:xfrm>
            <a:off x="8172104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17C63-CE64-07FA-9817-2731BF4B10E8}"/>
              </a:ext>
            </a:extLst>
          </p:cNvPr>
          <p:cNvSpPr/>
          <p:nvPr/>
        </p:nvSpPr>
        <p:spPr bwMode="auto">
          <a:xfrm>
            <a:off x="1600200" y="3374256"/>
            <a:ext cx="1647094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83025-1BC9-EFF2-00F8-AF728F5C4EA9}"/>
              </a:ext>
            </a:extLst>
          </p:cNvPr>
          <p:cNvSpPr/>
          <p:nvPr/>
        </p:nvSpPr>
        <p:spPr bwMode="auto">
          <a:xfrm>
            <a:off x="3248977" y="3372711"/>
            <a:ext cx="1643899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10A2CD-6FAC-7C55-A4A2-D8248ABC036F}"/>
              </a:ext>
            </a:extLst>
          </p:cNvPr>
          <p:cNvSpPr/>
          <p:nvPr/>
        </p:nvSpPr>
        <p:spPr bwMode="auto">
          <a:xfrm>
            <a:off x="1122363" y="2671704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37AE2E-5EDE-6287-D659-B9980B11F1B0}"/>
              </a:ext>
            </a:extLst>
          </p:cNvPr>
          <p:cNvSpPr txBox="1"/>
          <p:nvPr/>
        </p:nvSpPr>
        <p:spPr>
          <a:xfrm>
            <a:off x="-89333" y="2514600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1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7C86DA-8251-B3D0-C25F-2CE57CA87A94}"/>
              </a:ext>
            </a:extLst>
          </p:cNvPr>
          <p:cNvSpPr txBox="1"/>
          <p:nvPr/>
        </p:nvSpPr>
        <p:spPr>
          <a:xfrm>
            <a:off x="-63933" y="3219236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2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FE5992-816F-4A4E-11A0-916ACD667EA3}"/>
              </a:ext>
            </a:extLst>
          </p:cNvPr>
          <p:cNvSpPr txBox="1"/>
          <p:nvPr/>
        </p:nvSpPr>
        <p:spPr>
          <a:xfrm>
            <a:off x="-32183" y="3944035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3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34C4F8-2410-2E1E-EF2B-4DA80E5136A3}"/>
              </a:ext>
            </a:extLst>
          </p:cNvPr>
          <p:cNvSpPr/>
          <p:nvPr/>
        </p:nvSpPr>
        <p:spPr bwMode="auto">
          <a:xfrm>
            <a:off x="1601354" y="2675156"/>
            <a:ext cx="532242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B3ADA8-9530-1F09-D095-1BC101DC9C87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 bwMode="auto">
          <a:xfrm>
            <a:off x="1600200" y="2829300"/>
            <a:ext cx="0" cy="7025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2F6E61-04F5-66D4-8F7C-C790E3C99E6D}"/>
              </a:ext>
            </a:extLst>
          </p:cNvPr>
          <p:cNvCxnSpPr>
            <a:cxnSpLocks/>
            <a:stCxn id="27" idx="3"/>
            <a:endCxn id="12" idx="1"/>
          </p:cNvCxnSpPr>
          <p:nvPr/>
        </p:nvCxnSpPr>
        <p:spPr bwMode="auto">
          <a:xfrm>
            <a:off x="2133596" y="2832752"/>
            <a:ext cx="1115381" cy="6975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C1FD7F66-C483-5AED-EA58-DF1D1F9526A1}"/>
              </a:ext>
            </a:extLst>
          </p:cNvPr>
          <p:cNvSpPr/>
          <p:nvPr/>
        </p:nvSpPr>
        <p:spPr bwMode="auto">
          <a:xfrm>
            <a:off x="3250661" y="4125731"/>
            <a:ext cx="635537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76A0AB7-AAC2-FDDC-AEC6-EFB97F02681C}"/>
              </a:ext>
            </a:extLst>
          </p:cNvPr>
          <p:cNvCxnSpPr>
            <a:cxnSpLocks/>
            <a:stCxn id="12" idx="1"/>
            <a:endCxn id="45" idx="1"/>
          </p:cNvCxnSpPr>
          <p:nvPr/>
        </p:nvCxnSpPr>
        <p:spPr bwMode="auto">
          <a:xfrm>
            <a:off x="3248977" y="3530307"/>
            <a:ext cx="1684" cy="7530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6D5CBB7-732F-EBB8-8B5E-5B99582D2D26}"/>
              </a:ext>
            </a:extLst>
          </p:cNvPr>
          <p:cNvSpPr txBox="1"/>
          <p:nvPr/>
        </p:nvSpPr>
        <p:spPr>
          <a:xfrm>
            <a:off x="1351774" y="5181600"/>
            <a:ext cx="64404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 thread</a:t>
            </a:r>
            <a:r>
              <a:rPr lang="en-US" altLang="zh-CN" sz="2400" dirty="0"/>
              <a:t>s</a:t>
            </a:r>
            <a:r>
              <a:rPr lang="en-US" sz="2400" dirty="0"/>
              <a:t>, pipelin</a:t>
            </a:r>
            <a:r>
              <a:rPr lang="en-US" altLang="zh-CN" sz="2400" dirty="0"/>
              <a:t>ing</a:t>
            </a:r>
            <a:r>
              <a:rPr lang="en-US" sz="2400" dirty="0"/>
              <a:t> w/ double buffering</a:t>
            </a:r>
          </a:p>
          <a:p>
            <a:pPr algn="ctr"/>
            <a:r>
              <a:rPr lang="en-US" altLang="zh-CN" sz="2400" dirty="0"/>
              <a:t>3</a:t>
            </a:r>
            <a:r>
              <a:rPr lang="zh-CN" altLang="en-US" sz="2400" dirty="0"/>
              <a:t>线程，用双重缓冲进行流水线化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D28C165-DCC0-3020-FDA7-E2215080D4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213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" grpId="0" animBg="1"/>
      <p:bldP spid="12" grpId="0" animBg="1"/>
      <p:bldP spid="17" grpId="0" animBg="1"/>
      <p:bldP spid="27" grpId="0" animBg="1"/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91395-ACAC-F6F0-5546-808611B5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FA8C006-EEEB-BB9C-BDFE-ABAC9F69BF2A}"/>
              </a:ext>
            </a:extLst>
          </p:cNvPr>
          <p:cNvSpPr/>
          <p:nvPr/>
        </p:nvSpPr>
        <p:spPr bwMode="auto">
          <a:xfrm>
            <a:off x="3250661" y="4125731"/>
            <a:ext cx="635537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50E09-EBF5-A997-86A0-A67D46D02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2B0501-ED0B-64EE-767A-1D8CBAC8E3B7}"/>
              </a:ext>
            </a:extLst>
          </p:cNvPr>
          <p:cNvSpPr/>
          <p:nvPr/>
        </p:nvSpPr>
        <p:spPr bwMode="auto">
          <a:xfrm>
            <a:off x="1136217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7AB39E-3B81-A9F5-D291-8CA6C6BB1E05}"/>
              </a:ext>
            </a:extLst>
          </p:cNvPr>
          <p:cNvSpPr/>
          <p:nvPr/>
        </p:nvSpPr>
        <p:spPr bwMode="auto">
          <a:xfrm>
            <a:off x="1600200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CFEC03-BE3D-3864-65A7-7DA9868CC561}"/>
              </a:ext>
            </a:extLst>
          </p:cNvPr>
          <p:cNvSpPr/>
          <p:nvPr/>
        </p:nvSpPr>
        <p:spPr bwMode="auto">
          <a:xfrm>
            <a:off x="3124200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D2C87-1DB8-C3AF-89AA-1AB1DB1D66E5}"/>
              </a:ext>
            </a:extLst>
          </p:cNvPr>
          <p:cNvSpPr/>
          <p:nvPr/>
        </p:nvSpPr>
        <p:spPr bwMode="auto">
          <a:xfrm>
            <a:off x="3663979" y="1896685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7B3F6-EBA0-2FC3-24FB-03448E471DD3}"/>
              </a:ext>
            </a:extLst>
          </p:cNvPr>
          <p:cNvSpPr/>
          <p:nvPr/>
        </p:nvSpPr>
        <p:spPr bwMode="auto">
          <a:xfrm>
            <a:off x="4127962" y="1896685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FB509A-C902-88F1-27DD-20D8B91B89B0}"/>
              </a:ext>
            </a:extLst>
          </p:cNvPr>
          <p:cNvSpPr/>
          <p:nvPr/>
        </p:nvSpPr>
        <p:spPr bwMode="auto">
          <a:xfrm>
            <a:off x="5651962" y="1896685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BCD1A3-EB4E-B1F4-AAC2-4EEA5FF2845F}"/>
              </a:ext>
            </a:extLst>
          </p:cNvPr>
          <p:cNvSpPr/>
          <p:nvPr/>
        </p:nvSpPr>
        <p:spPr bwMode="auto">
          <a:xfrm>
            <a:off x="6184121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4704C3-DB1C-2C87-3CC9-3730936672AF}"/>
              </a:ext>
            </a:extLst>
          </p:cNvPr>
          <p:cNvSpPr/>
          <p:nvPr/>
        </p:nvSpPr>
        <p:spPr bwMode="auto">
          <a:xfrm>
            <a:off x="6648104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A5CA3A-CC54-4550-44A5-D36D893DD9AB}"/>
              </a:ext>
            </a:extLst>
          </p:cNvPr>
          <p:cNvSpPr/>
          <p:nvPr/>
        </p:nvSpPr>
        <p:spPr bwMode="auto">
          <a:xfrm>
            <a:off x="8172104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6A6A4A-070A-E7A3-8A50-40CA78D8CC03}"/>
              </a:ext>
            </a:extLst>
          </p:cNvPr>
          <p:cNvSpPr/>
          <p:nvPr/>
        </p:nvSpPr>
        <p:spPr bwMode="auto">
          <a:xfrm>
            <a:off x="1600200" y="3374256"/>
            <a:ext cx="1647094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897901-F2AF-3967-42E3-E8021CF4C70A}"/>
              </a:ext>
            </a:extLst>
          </p:cNvPr>
          <p:cNvSpPr/>
          <p:nvPr/>
        </p:nvSpPr>
        <p:spPr bwMode="auto">
          <a:xfrm>
            <a:off x="1122363" y="2671704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8C6343-1FD1-4DD7-84CE-E4C966282E08}"/>
              </a:ext>
            </a:extLst>
          </p:cNvPr>
          <p:cNvSpPr txBox="1"/>
          <p:nvPr/>
        </p:nvSpPr>
        <p:spPr>
          <a:xfrm>
            <a:off x="-89333" y="2514600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1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01D8BC-1E8D-88EA-72FF-CAF1AAF1891F}"/>
              </a:ext>
            </a:extLst>
          </p:cNvPr>
          <p:cNvSpPr txBox="1"/>
          <p:nvPr/>
        </p:nvSpPr>
        <p:spPr>
          <a:xfrm>
            <a:off x="-63933" y="3219236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2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11502E-954E-D01C-CCD2-4F38D6CD1191}"/>
              </a:ext>
            </a:extLst>
          </p:cNvPr>
          <p:cNvSpPr txBox="1"/>
          <p:nvPr/>
        </p:nvSpPr>
        <p:spPr>
          <a:xfrm>
            <a:off x="-32183" y="3944035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3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1AA157-D6E9-1CBC-094A-81AAC053BF31}"/>
              </a:ext>
            </a:extLst>
          </p:cNvPr>
          <p:cNvSpPr/>
          <p:nvPr/>
        </p:nvSpPr>
        <p:spPr bwMode="auto">
          <a:xfrm>
            <a:off x="1601354" y="2675156"/>
            <a:ext cx="532242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AD5E6F3-59D2-F30B-C8D7-4B1D4C43E8FD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 bwMode="auto">
          <a:xfrm>
            <a:off x="1600200" y="2829300"/>
            <a:ext cx="0" cy="7025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4BAB005-C36D-3A88-1019-167F2419227A}"/>
              </a:ext>
            </a:extLst>
          </p:cNvPr>
          <p:cNvSpPr txBox="1"/>
          <p:nvPr/>
        </p:nvSpPr>
        <p:spPr>
          <a:xfrm>
            <a:off x="100492" y="5128553"/>
            <a:ext cx="89430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Slightly slower execution due to minor CPU usage contention</a:t>
            </a:r>
          </a:p>
          <a:p>
            <a:pPr algn="ctr"/>
            <a:r>
              <a:rPr lang="zh-CN" altLang="en-US" sz="2400" dirty="0"/>
              <a:t>源于少量的</a:t>
            </a:r>
            <a:r>
              <a:rPr lang="en-US" altLang="zh-CN" sz="2400" dirty="0"/>
              <a:t>CPU</a:t>
            </a:r>
            <a:r>
              <a:rPr lang="zh-CN" altLang="en-US" sz="2400" dirty="0"/>
              <a:t>使用上冲突导致执行稍慢</a:t>
            </a:r>
            <a:endParaRPr lang="en-US" altLang="zh-CN" sz="2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8D34A49-25AD-359C-CA81-BDC8C008396B}"/>
              </a:ext>
            </a:extLst>
          </p:cNvPr>
          <p:cNvCxnSpPr>
            <a:cxnSpLocks/>
            <a:stCxn id="64" idx="0"/>
            <a:endCxn id="27" idx="3"/>
          </p:cNvCxnSpPr>
          <p:nvPr/>
        </p:nvCxnSpPr>
        <p:spPr bwMode="auto">
          <a:xfrm flipH="1" flipV="1">
            <a:off x="2133596" y="2832752"/>
            <a:ext cx="2438404" cy="22958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F71AC2-87C2-D7FC-2715-488E23F4D36E}"/>
              </a:ext>
            </a:extLst>
          </p:cNvPr>
          <p:cNvCxnSpPr>
            <a:cxnSpLocks/>
            <a:stCxn id="64" idx="0"/>
            <a:endCxn id="6" idx="2"/>
          </p:cNvCxnSpPr>
          <p:nvPr/>
        </p:nvCxnSpPr>
        <p:spPr bwMode="auto">
          <a:xfrm flipH="1" flipV="1">
            <a:off x="2423747" y="3689447"/>
            <a:ext cx="2148253" cy="14391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659A24C8-2804-E272-EBFF-7FB47B363D9A}"/>
              </a:ext>
            </a:extLst>
          </p:cNvPr>
          <p:cNvSpPr/>
          <p:nvPr/>
        </p:nvSpPr>
        <p:spPr bwMode="auto">
          <a:xfrm>
            <a:off x="1066800" y="2574429"/>
            <a:ext cx="7638702" cy="19213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Run in 1 CPU core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在一个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CPU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核心中</a:t>
            </a:r>
            <a:r>
              <a:rPr lang="zh-CN" altLang="en-US" dirty="0"/>
              <a:t>运行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95077E-E7D9-D4C9-7C43-0D48F34E1EF9}"/>
              </a:ext>
            </a:extLst>
          </p:cNvPr>
          <p:cNvSpPr/>
          <p:nvPr/>
        </p:nvSpPr>
        <p:spPr bwMode="auto">
          <a:xfrm>
            <a:off x="3248977" y="3372711"/>
            <a:ext cx="1643899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FB8E128-33E7-A2A7-F8C3-5AA62A068A34}"/>
              </a:ext>
            </a:extLst>
          </p:cNvPr>
          <p:cNvCxnSpPr>
            <a:cxnSpLocks/>
            <a:stCxn id="28" idx="1"/>
            <a:endCxn id="31" idx="1"/>
          </p:cNvCxnSpPr>
          <p:nvPr/>
        </p:nvCxnSpPr>
        <p:spPr bwMode="auto">
          <a:xfrm>
            <a:off x="3248977" y="3530307"/>
            <a:ext cx="1684" cy="7530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4A8D62-E902-4E33-D0DE-9B4BFECCA69A}"/>
              </a:ext>
            </a:extLst>
          </p:cNvPr>
          <p:cNvCxnSpPr>
            <a:cxnSpLocks/>
            <a:stCxn id="64" idx="0"/>
            <a:endCxn id="31" idx="3"/>
          </p:cNvCxnSpPr>
          <p:nvPr/>
        </p:nvCxnSpPr>
        <p:spPr bwMode="auto">
          <a:xfrm flipH="1" flipV="1">
            <a:off x="3886198" y="4283327"/>
            <a:ext cx="685802" cy="8452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74FB324-5616-3185-F06F-A569156DD0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842997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599FA-8F35-9ACB-C0A5-F713F745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81486A3C-4A4A-C501-333F-3BCDBA0D443D}"/>
              </a:ext>
            </a:extLst>
          </p:cNvPr>
          <p:cNvSpPr/>
          <p:nvPr/>
        </p:nvSpPr>
        <p:spPr bwMode="auto">
          <a:xfrm>
            <a:off x="1066800" y="2574429"/>
            <a:ext cx="7638702" cy="19213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Run in 1 CPU core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在一个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CPU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核心中</a:t>
            </a:r>
            <a:r>
              <a:rPr lang="zh-CN" altLang="en-US" dirty="0"/>
              <a:t>运行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1E255-E781-99EB-D365-3EAEF79FE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352505-E635-F3F4-E3C8-1F4F504A9E66}"/>
              </a:ext>
            </a:extLst>
          </p:cNvPr>
          <p:cNvSpPr/>
          <p:nvPr/>
        </p:nvSpPr>
        <p:spPr bwMode="auto">
          <a:xfrm>
            <a:off x="1136217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C32CA-3F95-6A27-506D-7E7B260CA7A3}"/>
              </a:ext>
            </a:extLst>
          </p:cNvPr>
          <p:cNvSpPr/>
          <p:nvPr/>
        </p:nvSpPr>
        <p:spPr bwMode="auto">
          <a:xfrm>
            <a:off x="1600200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0D40E-5C01-F3B2-16CC-418C20BA8290}"/>
              </a:ext>
            </a:extLst>
          </p:cNvPr>
          <p:cNvSpPr/>
          <p:nvPr/>
        </p:nvSpPr>
        <p:spPr bwMode="auto">
          <a:xfrm>
            <a:off x="3124200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97F284-DB59-C4C3-2CEE-F750F6C83AD5}"/>
              </a:ext>
            </a:extLst>
          </p:cNvPr>
          <p:cNvSpPr/>
          <p:nvPr/>
        </p:nvSpPr>
        <p:spPr bwMode="auto">
          <a:xfrm>
            <a:off x="3663979" y="1896685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BA93F-8CCF-8D99-13A4-192D4E98CBDE}"/>
              </a:ext>
            </a:extLst>
          </p:cNvPr>
          <p:cNvSpPr/>
          <p:nvPr/>
        </p:nvSpPr>
        <p:spPr bwMode="auto">
          <a:xfrm>
            <a:off x="4127962" y="1896685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1F073C-DD98-1E1A-92E1-139A54410B96}"/>
              </a:ext>
            </a:extLst>
          </p:cNvPr>
          <p:cNvSpPr/>
          <p:nvPr/>
        </p:nvSpPr>
        <p:spPr bwMode="auto">
          <a:xfrm>
            <a:off x="5651962" y="1896685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1322DE-E48A-E5EE-25CA-35F1C44D6996}"/>
              </a:ext>
            </a:extLst>
          </p:cNvPr>
          <p:cNvSpPr/>
          <p:nvPr/>
        </p:nvSpPr>
        <p:spPr bwMode="auto">
          <a:xfrm>
            <a:off x="6184121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021BFC-1F1C-0200-233A-4FAE49B085F4}"/>
              </a:ext>
            </a:extLst>
          </p:cNvPr>
          <p:cNvSpPr/>
          <p:nvPr/>
        </p:nvSpPr>
        <p:spPr bwMode="auto">
          <a:xfrm>
            <a:off x="6648104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0E5BF9-B354-0981-A1E9-8BF6BE0701BD}"/>
              </a:ext>
            </a:extLst>
          </p:cNvPr>
          <p:cNvSpPr/>
          <p:nvPr/>
        </p:nvSpPr>
        <p:spPr bwMode="auto">
          <a:xfrm>
            <a:off x="8172104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5FFD72-3E7C-2135-DF7A-84B616A5176A}"/>
              </a:ext>
            </a:extLst>
          </p:cNvPr>
          <p:cNvSpPr/>
          <p:nvPr/>
        </p:nvSpPr>
        <p:spPr bwMode="auto">
          <a:xfrm>
            <a:off x="1600200" y="3374256"/>
            <a:ext cx="1647094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8DD4EE-5BDA-4A9D-CB94-1D2DF5966217}"/>
              </a:ext>
            </a:extLst>
          </p:cNvPr>
          <p:cNvSpPr/>
          <p:nvPr/>
        </p:nvSpPr>
        <p:spPr bwMode="auto">
          <a:xfrm>
            <a:off x="3248977" y="3372711"/>
            <a:ext cx="1643899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6CD1CD-E6F4-EC4A-597B-D1BD9FBFB0FA}"/>
              </a:ext>
            </a:extLst>
          </p:cNvPr>
          <p:cNvSpPr/>
          <p:nvPr/>
        </p:nvSpPr>
        <p:spPr bwMode="auto">
          <a:xfrm>
            <a:off x="4899038" y="3372710"/>
            <a:ext cx="1643899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84C527-FECB-6950-E551-D78F2D3AE33D}"/>
              </a:ext>
            </a:extLst>
          </p:cNvPr>
          <p:cNvSpPr/>
          <p:nvPr/>
        </p:nvSpPr>
        <p:spPr bwMode="auto">
          <a:xfrm>
            <a:off x="1122363" y="2671704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25F85F-003D-F458-E72E-4E1E090D2625}"/>
              </a:ext>
            </a:extLst>
          </p:cNvPr>
          <p:cNvSpPr txBox="1"/>
          <p:nvPr/>
        </p:nvSpPr>
        <p:spPr>
          <a:xfrm>
            <a:off x="-89333" y="2514600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1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09E80D-69C0-154A-3DA6-05D31427401E}"/>
              </a:ext>
            </a:extLst>
          </p:cNvPr>
          <p:cNvSpPr txBox="1"/>
          <p:nvPr/>
        </p:nvSpPr>
        <p:spPr>
          <a:xfrm>
            <a:off x="-63933" y="3219236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2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EB304E-CF07-3448-6598-8D9102327BE0}"/>
              </a:ext>
            </a:extLst>
          </p:cNvPr>
          <p:cNvSpPr txBox="1"/>
          <p:nvPr/>
        </p:nvSpPr>
        <p:spPr>
          <a:xfrm>
            <a:off x="-32183" y="3944035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3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C532A3-7D99-479A-392B-100D164EDF9A}"/>
              </a:ext>
            </a:extLst>
          </p:cNvPr>
          <p:cNvSpPr/>
          <p:nvPr/>
        </p:nvSpPr>
        <p:spPr bwMode="auto">
          <a:xfrm>
            <a:off x="1601354" y="2675156"/>
            <a:ext cx="532242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552C08-B89B-8C37-EC89-B96113667AED}"/>
              </a:ext>
            </a:extLst>
          </p:cNvPr>
          <p:cNvSpPr/>
          <p:nvPr/>
        </p:nvSpPr>
        <p:spPr bwMode="auto">
          <a:xfrm>
            <a:off x="3247294" y="2680169"/>
            <a:ext cx="532242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F73BE13-CB6B-CB7B-A5A6-C11C5DDC259B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 bwMode="auto">
          <a:xfrm>
            <a:off x="1600200" y="2829300"/>
            <a:ext cx="0" cy="7025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C25D4A8-8EBB-E7B0-F3C5-5337D993C76D}"/>
              </a:ext>
            </a:extLst>
          </p:cNvPr>
          <p:cNvCxnSpPr>
            <a:cxnSpLocks/>
            <a:stCxn id="27" idx="3"/>
            <a:endCxn id="12" idx="1"/>
          </p:cNvCxnSpPr>
          <p:nvPr/>
        </p:nvCxnSpPr>
        <p:spPr bwMode="auto">
          <a:xfrm>
            <a:off x="2133596" y="2832752"/>
            <a:ext cx="1115381" cy="6975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956029A-9FE0-BDE9-882C-285A4F54008E}"/>
              </a:ext>
            </a:extLst>
          </p:cNvPr>
          <p:cNvCxnSpPr>
            <a:cxnSpLocks/>
            <a:stCxn id="30" idx="3"/>
            <a:endCxn id="15" idx="1"/>
          </p:cNvCxnSpPr>
          <p:nvPr/>
        </p:nvCxnSpPr>
        <p:spPr bwMode="auto">
          <a:xfrm>
            <a:off x="3779536" y="2837765"/>
            <a:ext cx="1119502" cy="6925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6C79FEF-B060-0672-0D09-315E2A20F48D}"/>
              </a:ext>
            </a:extLst>
          </p:cNvPr>
          <p:cNvSpPr/>
          <p:nvPr/>
        </p:nvSpPr>
        <p:spPr bwMode="auto">
          <a:xfrm>
            <a:off x="3250661" y="4125731"/>
            <a:ext cx="635537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0A3D957-B4A6-3BF3-DED7-3168BC4041CE}"/>
              </a:ext>
            </a:extLst>
          </p:cNvPr>
          <p:cNvSpPr/>
          <p:nvPr/>
        </p:nvSpPr>
        <p:spPr bwMode="auto">
          <a:xfrm>
            <a:off x="4899440" y="4133885"/>
            <a:ext cx="634732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E86050-6466-5A76-C443-C05393F4D544}"/>
              </a:ext>
            </a:extLst>
          </p:cNvPr>
          <p:cNvSpPr/>
          <p:nvPr/>
        </p:nvSpPr>
        <p:spPr bwMode="auto">
          <a:xfrm>
            <a:off x="6530230" y="4109604"/>
            <a:ext cx="476954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B84E12D-597E-1914-D3CF-C50720A26D56}"/>
              </a:ext>
            </a:extLst>
          </p:cNvPr>
          <p:cNvCxnSpPr>
            <a:cxnSpLocks/>
            <a:stCxn id="12" idx="1"/>
            <a:endCxn id="45" idx="1"/>
          </p:cNvCxnSpPr>
          <p:nvPr/>
        </p:nvCxnSpPr>
        <p:spPr bwMode="auto">
          <a:xfrm>
            <a:off x="3248977" y="3530307"/>
            <a:ext cx="1684" cy="7530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C1EA025-CAE0-BC60-A9B9-1410E0B3871F}"/>
              </a:ext>
            </a:extLst>
          </p:cNvPr>
          <p:cNvCxnSpPr>
            <a:cxnSpLocks/>
            <a:stCxn id="15" idx="1"/>
            <a:endCxn id="47" idx="1"/>
          </p:cNvCxnSpPr>
          <p:nvPr/>
        </p:nvCxnSpPr>
        <p:spPr bwMode="auto">
          <a:xfrm>
            <a:off x="4899038" y="3530306"/>
            <a:ext cx="402" cy="7611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A25B2E4-6463-1028-FE68-6FF2E34E8D6D}"/>
              </a:ext>
            </a:extLst>
          </p:cNvPr>
          <p:cNvCxnSpPr>
            <a:cxnSpLocks/>
            <a:stCxn id="15" idx="3"/>
            <a:endCxn id="49" idx="1"/>
          </p:cNvCxnSpPr>
          <p:nvPr/>
        </p:nvCxnSpPr>
        <p:spPr bwMode="auto">
          <a:xfrm flipH="1">
            <a:off x="6530230" y="3530306"/>
            <a:ext cx="12707" cy="7368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BC31EF-9CD0-8B70-B8C2-2832E2D96482}"/>
              </a:ext>
            </a:extLst>
          </p:cNvPr>
          <p:cNvSpPr txBox="1"/>
          <p:nvPr/>
        </p:nvSpPr>
        <p:spPr>
          <a:xfrm>
            <a:off x="1029752" y="5181600"/>
            <a:ext cx="70844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 improvement in latency of a </a:t>
            </a:r>
            <a:r>
              <a:rPr lang="en-US" altLang="zh-CN" sz="2400" dirty="0"/>
              <a:t>work </a:t>
            </a:r>
            <a:r>
              <a:rPr lang="en-US" sz="2400" dirty="0"/>
              <a:t>segment</a:t>
            </a:r>
          </a:p>
          <a:p>
            <a:pPr algn="ctr"/>
            <a:r>
              <a:rPr lang="zh-CN" altLang="en-US" sz="2400" dirty="0"/>
              <a:t>单个工作片段的时延没有被改善</a:t>
            </a:r>
            <a:endParaRPr lang="en-US" altLang="zh-CN" sz="24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2AC654-C64E-5C28-B502-A5A9EA1036F3}"/>
              </a:ext>
            </a:extLst>
          </p:cNvPr>
          <p:cNvCxnSpPr>
            <a:cxnSpLocks/>
          </p:cNvCxnSpPr>
          <p:nvPr/>
        </p:nvCxnSpPr>
        <p:spPr bwMode="auto">
          <a:xfrm>
            <a:off x="3663979" y="1609941"/>
            <a:ext cx="0" cy="32185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2044DB-A6A9-BC22-F942-4A0D7A6DD3A6}"/>
              </a:ext>
            </a:extLst>
          </p:cNvPr>
          <p:cNvCxnSpPr>
            <a:cxnSpLocks/>
          </p:cNvCxnSpPr>
          <p:nvPr/>
        </p:nvCxnSpPr>
        <p:spPr bwMode="auto">
          <a:xfrm>
            <a:off x="3886198" y="3865567"/>
            <a:ext cx="0" cy="9629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E5D5280-305E-9DD6-6F78-E4B8BE23B3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9163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47" grpId="0" animBg="1"/>
      <p:bldP spid="49" grpId="0" animBg="1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6E50-7DF0-1342-7138-4685CD4B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E22F20E4-9061-7DA7-FC04-250D4B1C1178}"/>
              </a:ext>
            </a:extLst>
          </p:cNvPr>
          <p:cNvSpPr/>
          <p:nvPr/>
        </p:nvSpPr>
        <p:spPr bwMode="auto">
          <a:xfrm>
            <a:off x="1066800" y="2574429"/>
            <a:ext cx="7638702" cy="192137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Run in 1 CPU core</a:t>
            </a:r>
          </a:p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在一个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CPU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核心中</a:t>
            </a:r>
            <a:r>
              <a:rPr lang="zh-CN" altLang="en-US" dirty="0"/>
              <a:t>运行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73EE3-7577-F85E-A8D9-2403ADE0A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77479-A839-3D64-64F9-15AAA39CA538}"/>
              </a:ext>
            </a:extLst>
          </p:cNvPr>
          <p:cNvSpPr/>
          <p:nvPr/>
        </p:nvSpPr>
        <p:spPr bwMode="auto">
          <a:xfrm>
            <a:off x="1136217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FD21C-72A0-2D8B-2A3B-C4B4F2995180}"/>
              </a:ext>
            </a:extLst>
          </p:cNvPr>
          <p:cNvSpPr/>
          <p:nvPr/>
        </p:nvSpPr>
        <p:spPr bwMode="auto">
          <a:xfrm>
            <a:off x="1600200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F7D475-D4E6-3C91-D371-ECF4CCD7EC70}"/>
              </a:ext>
            </a:extLst>
          </p:cNvPr>
          <p:cNvSpPr/>
          <p:nvPr/>
        </p:nvSpPr>
        <p:spPr bwMode="auto">
          <a:xfrm>
            <a:off x="3124200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3BDA21-528D-7BCD-8111-6CC0E456C244}"/>
              </a:ext>
            </a:extLst>
          </p:cNvPr>
          <p:cNvSpPr/>
          <p:nvPr/>
        </p:nvSpPr>
        <p:spPr bwMode="auto">
          <a:xfrm>
            <a:off x="3663979" y="1896685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380A99-4D07-4C61-B88A-C2B7BE1FD700}"/>
              </a:ext>
            </a:extLst>
          </p:cNvPr>
          <p:cNvSpPr/>
          <p:nvPr/>
        </p:nvSpPr>
        <p:spPr bwMode="auto">
          <a:xfrm>
            <a:off x="4127962" y="1896685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D560E9-D443-1884-A148-11D4D0E34058}"/>
              </a:ext>
            </a:extLst>
          </p:cNvPr>
          <p:cNvSpPr/>
          <p:nvPr/>
        </p:nvSpPr>
        <p:spPr bwMode="auto">
          <a:xfrm>
            <a:off x="5651962" y="1896685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F9F02D-A982-8DFA-AEB0-12975CBDAD42}"/>
              </a:ext>
            </a:extLst>
          </p:cNvPr>
          <p:cNvSpPr/>
          <p:nvPr/>
        </p:nvSpPr>
        <p:spPr bwMode="auto">
          <a:xfrm>
            <a:off x="6184121" y="1894608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9F60CF-80DA-44A9-F8BC-8757911C5453}"/>
              </a:ext>
            </a:extLst>
          </p:cNvPr>
          <p:cNvSpPr/>
          <p:nvPr/>
        </p:nvSpPr>
        <p:spPr bwMode="auto">
          <a:xfrm>
            <a:off x="6648104" y="1894608"/>
            <a:ext cx="1524000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087C70-27EB-070A-1690-EA315C79A84F}"/>
              </a:ext>
            </a:extLst>
          </p:cNvPr>
          <p:cNvSpPr/>
          <p:nvPr/>
        </p:nvSpPr>
        <p:spPr bwMode="auto">
          <a:xfrm>
            <a:off x="8172104" y="1894608"/>
            <a:ext cx="533398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06A7C5-FB69-A1CD-C8C3-E58E6E601228}"/>
              </a:ext>
            </a:extLst>
          </p:cNvPr>
          <p:cNvSpPr/>
          <p:nvPr/>
        </p:nvSpPr>
        <p:spPr bwMode="auto">
          <a:xfrm>
            <a:off x="1600200" y="3374256"/>
            <a:ext cx="1647094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07C4A8-1AA8-67FF-7E6A-D1C327DA7B28}"/>
              </a:ext>
            </a:extLst>
          </p:cNvPr>
          <p:cNvSpPr/>
          <p:nvPr/>
        </p:nvSpPr>
        <p:spPr bwMode="auto">
          <a:xfrm>
            <a:off x="3248977" y="3372711"/>
            <a:ext cx="1643899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A8E0C1-E696-CD84-3242-C75D806A40B9}"/>
              </a:ext>
            </a:extLst>
          </p:cNvPr>
          <p:cNvSpPr/>
          <p:nvPr/>
        </p:nvSpPr>
        <p:spPr bwMode="auto">
          <a:xfrm>
            <a:off x="4899038" y="3372710"/>
            <a:ext cx="1643899" cy="31519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D58B67-729C-2D3C-6122-C0CA6030D8A3}"/>
              </a:ext>
            </a:extLst>
          </p:cNvPr>
          <p:cNvSpPr/>
          <p:nvPr/>
        </p:nvSpPr>
        <p:spPr bwMode="auto">
          <a:xfrm>
            <a:off x="1122363" y="2671704"/>
            <a:ext cx="477837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FA8C30-B03E-D417-01AC-B5C440303097}"/>
              </a:ext>
            </a:extLst>
          </p:cNvPr>
          <p:cNvSpPr txBox="1"/>
          <p:nvPr/>
        </p:nvSpPr>
        <p:spPr>
          <a:xfrm>
            <a:off x="-89333" y="2514600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1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664545-7378-B316-3299-379D675A5A5D}"/>
              </a:ext>
            </a:extLst>
          </p:cNvPr>
          <p:cNvSpPr txBox="1"/>
          <p:nvPr/>
        </p:nvSpPr>
        <p:spPr>
          <a:xfrm>
            <a:off x="-63933" y="3219236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2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F22C7B-90BE-A8AF-4C81-A051EB455269}"/>
              </a:ext>
            </a:extLst>
          </p:cNvPr>
          <p:cNvSpPr txBox="1"/>
          <p:nvPr/>
        </p:nvSpPr>
        <p:spPr>
          <a:xfrm>
            <a:off x="-32183" y="3944035"/>
            <a:ext cx="1238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3</a:t>
            </a:r>
          </a:p>
          <a:p>
            <a:pPr algn="ctr"/>
            <a:r>
              <a:rPr lang="zh-CN" altLang="en-US" dirty="0"/>
              <a:t>线程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0CD534-DC23-7924-3452-656108E44B38}"/>
              </a:ext>
            </a:extLst>
          </p:cNvPr>
          <p:cNvSpPr/>
          <p:nvPr/>
        </p:nvSpPr>
        <p:spPr bwMode="auto">
          <a:xfrm>
            <a:off x="1601354" y="2675156"/>
            <a:ext cx="532242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5B468F-0369-7344-C120-96664B09B9AC}"/>
              </a:ext>
            </a:extLst>
          </p:cNvPr>
          <p:cNvSpPr/>
          <p:nvPr/>
        </p:nvSpPr>
        <p:spPr bwMode="auto">
          <a:xfrm>
            <a:off x="3247294" y="2680169"/>
            <a:ext cx="532242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4FFCB6-B297-855A-3805-95DBD2D77131}"/>
              </a:ext>
            </a:extLst>
          </p:cNvPr>
          <p:cNvCxnSpPr>
            <a:cxnSpLocks/>
            <a:stCxn id="17" idx="3"/>
            <a:endCxn id="6" idx="1"/>
          </p:cNvCxnSpPr>
          <p:nvPr/>
        </p:nvCxnSpPr>
        <p:spPr bwMode="auto">
          <a:xfrm>
            <a:off x="1600200" y="2829300"/>
            <a:ext cx="0" cy="7025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F8D3CC-F05C-58E4-5E71-06361E322F82}"/>
              </a:ext>
            </a:extLst>
          </p:cNvPr>
          <p:cNvCxnSpPr>
            <a:cxnSpLocks/>
            <a:stCxn id="27" idx="3"/>
            <a:endCxn id="12" idx="1"/>
          </p:cNvCxnSpPr>
          <p:nvPr/>
        </p:nvCxnSpPr>
        <p:spPr bwMode="auto">
          <a:xfrm>
            <a:off x="2133596" y="2832752"/>
            <a:ext cx="1115381" cy="69755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26B912-4085-674E-D9D6-4D18ADA28464}"/>
              </a:ext>
            </a:extLst>
          </p:cNvPr>
          <p:cNvCxnSpPr>
            <a:cxnSpLocks/>
            <a:stCxn id="30" idx="3"/>
            <a:endCxn id="15" idx="1"/>
          </p:cNvCxnSpPr>
          <p:nvPr/>
        </p:nvCxnSpPr>
        <p:spPr bwMode="auto">
          <a:xfrm>
            <a:off x="3779536" y="2837765"/>
            <a:ext cx="1119502" cy="6925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21A3A630-8FFB-2FE4-46F9-89A8EC697B55}"/>
              </a:ext>
            </a:extLst>
          </p:cNvPr>
          <p:cNvSpPr/>
          <p:nvPr/>
        </p:nvSpPr>
        <p:spPr bwMode="auto">
          <a:xfrm>
            <a:off x="3250661" y="4125731"/>
            <a:ext cx="635537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E6793-4C6D-8D79-2847-A4BFF69FD793}"/>
              </a:ext>
            </a:extLst>
          </p:cNvPr>
          <p:cNvSpPr/>
          <p:nvPr/>
        </p:nvSpPr>
        <p:spPr bwMode="auto">
          <a:xfrm>
            <a:off x="4899440" y="4133885"/>
            <a:ext cx="634732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2D7F36F-87C3-0473-6C49-8045CBD0F255}"/>
              </a:ext>
            </a:extLst>
          </p:cNvPr>
          <p:cNvSpPr/>
          <p:nvPr/>
        </p:nvSpPr>
        <p:spPr bwMode="auto">
          <a:xfrm>
            <a:off x="6530230" y="4109604"/>
            <a:ext cx="476954" cy="3151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E65AD52-0883-67E9-3F35-EC1E9ADAA6F8}"/>
              </a:ext>
            </a:extLst>
          </p:cNvPr>
          <p:cNvCxnSpPr>
            <a:cxnSpLocks/>
            <a:stCxn id="12" idx="1"/>
            <a:endCxn id="45" idx="1"/>
          </p:cNvCxnSpPr>
          <p:nvPr/>
        </p:nvCxnSpPr>
        <p:spPr bwMode="auto">
          <a:xfrm>
            <a:off x="3248977" y="3530307"/>
            <a:ext cx="1684" cy="7530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5E7E585-BE0A-9A95-CE21-02FE74E3D20A}"/>
              </a:ext>
            </a:extLst>
          </p:cNvPr>
          <p:cNvCxnSpPr>
            <a:cxnSpLocks/>
            <a:stCxn id="15" idx="1"/>
            <a:endCxn id="47" idx="1"/>
          </p:cNvCxnSpPr>
          <p:nvPr/>
        </p:nvCxnSpPr>
        <p:spPr bwMode="auto">
          <a:xfrm>
            <a:off x="4899038" y="3530306"/>
            <a:ext cx="402" cy="7611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ED2F043-BB67-28D6-E32B-B6F88C4711BD}"/>
              </a:ext>
            </a:extLst>
          </p:cNvPr>
          <p:cNvCxnSpPr>
            <a:cxnSpLocks/>
            <a:stCxn id="15" idx="3"/>
            <a:endCxn id="49" idx="1"/>
          </p:cNvCxnSpPr>
          <p:nvPr/>
        </p:nvCxnSpPr>
        <p:spPr bwMode="auto">
          <a:xfrm flipH="1">
            <a:off x="6530230" y="3530306"/>
            <a:ext cx="12707" cy="7368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2AEDD46-5FAC-4AAD-6CD2-598C3230F34C}"/>
              </a:ext>
            </a:extLst>
          </p:cNvPr>
          <p:cNvSpPr txBox="1"/>
          <p:nvPr/>
        </p:nvSpPr>
        <p:spPr>
          <a:xfrm>
            <a:off x="675527" y="5181600"/>
            <a:ext cx="7792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But that </a:t>
            </a:r>
            <a:r>
              <a:rPr lang="en-US" sz="2400" dirty="0"/>
              <a:t>of 3 (or more) </a:t>
            </a:r>
            <a:r>
              <a:rPr lang="en-US" altLang="zh-CN" sz="2400" dirty="0"/>
              <a:t>work </a:t>
            </a:r>
            <a:r>
              <a:rPr lang="en-US" sz="2400" dirty="0"/>
              <a:t>segments get improved</a:t>
            </a:r>
          </a:p>
          <a:p>
            <a:pPr algn="ctr"/>
            <a:r>
              <a:rPr lang="zh-CN" altLang="en-US" sz="2400" dirty="0"/>
              <a:t>但</a:t>
            </a:r>
            <a:r>
              <a:rPr lang="en-US" altLang="zh-CN" sz="2400" dirty="0"/>
              <a:t>3</a:t>
            </a:r>
            <a:r>
              <a:rPr lang="zh-CN" altLang="en-US" sz="2400" dirty="0"/>
              <a:t>个（或更多）工作片段的总时间被改善了</a:t>
            </a:r>
            <a:endParaRPr lang="en-US" altLang="zh-CN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707C9A-617B-5888-C837-795A8AE01BF7}"/>
              </a:ext>
            </a:extLst>
          </p:cNvPr>
          <p:cNvCxnSpPr>
            <a:cxnSpLocks/>
          </p:cNvCxnSpPr>
          <p:nvPr/>
        </p:nvCxnSpPr>
        <p:spPr bwMode="auto">
          <a:xfrm>
            <a:off x="8705502" y="1645931"/>
            <a:ext cx="0" cy="32185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12B423-AE88-F267-7491-D589BF789AD7}"/>
              </a:ext>
            </a:extLst>
          </p:cNvPr>
          <p:cNvCxnSpPr>
            <a:cxnSpLocks/>
          </p:cNvCxnSpPr>
          <p:nvPr/>
        </p:nvCxnSpPr>
        <p:spPr bwMode="auto">
          <a:xfrm>
            <a:off x="7019216" y="3842657"/>
            <a:ext cx="0" cy="96296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42B0A094-0E43-CAD9-5D90-1A5A656564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07424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5509E-BFBF-6245-63AD-347D1D20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BF44-9742-12F8-BEE8-A8F754E3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Parallelism  </a:t>
            </a:r>
            <a:br>
              <a:rPr lang="en-US" altLang="zh-CN" dirty="0"/>
            </a:br>
            <a:r>
              <a:rPr lang="zh-CN" altLang="en-US" dirty="0"/>
              <a:t>流水线并行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B6F104-05FD-77B1-BF64-EA1E5B595597}"/>
              </a:ext>
            </a:extLst>
          </p:cNvPr>
          <p:cNvCxnSpPr>
            <a:cxnSpLocks/>
          </p:cNvCxnSpPr>
          <p:nvPr/>
        </p:nvCxnSpPr>
        <p:spPr bwMode="auto">
          <a:xfrm>
            <a:off x="8705502" y="1645931"/>
            <a:ext cx="0" cy="321859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DA1B07DB-C2CD-457E-2792-99DFBA8E06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396BE-2DDE-5B8E-85BA-1F8D2BCB9B20}"/>
              </a:ext>
            </a:extLst>
          </p:cNvPr>
          <p:cNvSpPr txBox="1"/>
          <p:nvPr/>
        </p:nvSpPr>
        <p:spPr>
          <a:xfrm>
            <a:off x="571981" y="2164765"/>
            <a:ext cx="80000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Each worker processing a special part of work</a:t>
            </a:r>
          </a:p>
          <a:p>
            <a:pPr algn="ctr"/>
            <a:r>
              <a:rPr lang="en-US" altLang="zh-CN" sz="2800" dirty="0"/>
              <a:t>  </a:t>
            </a:r>
            <a:r>
              <a:rPr lang="zh-CN" altLang="en-US" sz="2800" dirty="0"/>
              <a:t>每个工作线程处理作业中独特的一部分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0A5C56-3D34-7130-2A59-7F23498A515F}"/>
              </a:ext>
            </a:extLst>
          </p:cNvPr>
          <p:cNvSpPr txBox="1"/>
          <p:nvPr/>
        </p:nvSpPr>
        <p:spPr>
          <a:xfrm>
            <a:off x="352733" y="3581400"/>
            <a:ext cx="84385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Usually improving the overall throughput, </a:t>
            </a:r>
          </a:p>
          <a:p>
            <a:pPr algn="ctr"/>
            <a:r>
              <a:rPr lang="en-US" altLang="zh-CN" sz="2800" dirty="0"/>
              <a:t>similar to instruction pipelining </a:t>
            </a:r>
          </a:p>
          <a:p>
            <a:pPr algn="ctr"/>
            <a:r>
              <a:rPr lang="zh-CN" altLang="en-US" sz="2800" dirty="0"/>
              <a:t>通常提升整体吞吐量，类似于指令流水化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2325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9860C-D5F2-B9D6-6738-213B6C36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B2ED-1AD7-E637-03EA-523EFF84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 beyond the Machine </a:t>
            </a:r>
            <a:br>
              <a:rPr lang="en-US" altLang="zh-CN" dirty="0"/>
            </a:br>
            <a:r>
              <a:rPr lang="zh-CN" altLang="en-US" dirty="0"/>
              <a:t>超越一台机器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A93DE-954D-3F3B-8E33-81583C415CD7}"/>
              </a:ext>
            </a:extLst>
          </p:cNvPr>
          <p:cNvSpPr txBox="1"/>
          <p:nvPr/>
        </p:nvSpPr>
        <p:spPr>
          <a:xfrm>
            <a:off x="-381" y="1891605"/>
            <a:ext cx="9144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Till now we only talk about parallelism in 1 machine</a:t>
            </a:r>
          </a:p>
          <a:p>
            <a:pPr algn="ctr"/>
            <a:r>
              <a:rPr lang="zh-CN" altLang="en-US" sz="2800" dirty="0"/>
              <a:t>到目前为止我们谈及的并行都是单机内的并行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C6D5E5-C9C9-9E1D-5CA2-DDCB17B5DF28}"/>
              </a:ext>
            </a:extLst>
          </p:cNvPr>
          <p:cNvSpPr txBox="1"/>
          <p:nvPr/>
        </p:nvSpPr>
        <p:spPr>
          <a:xfrm>
            <a:off x="297180" y="33528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Parallelism can go across machines</a:t>
            </a:r>
          </a:p>
          <a:p>
            <a:pPr algn="ctr"/>
            <a:r>
              <a:rPr lang="zh-CN" altLang="en-US" sz="2800" dirty="0"/>
              <a:t>并行可以跨越更多的机器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C9423-7963-D11C-1BC9-BBACF68C1F0F}"/>
              </a:ext>
            </a:extLst>
          </p:cNvPr>
          <p:cNvSpPr txBox="1"/>
          <p:nvPr/>
        </p:nvSpPr>
        <p:spPr>
          <a:xfrm>
            <a:off x="-763" y="4837093"/>
            <a:ext cx="91447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This is distributed computing</a:t>
            </a:r>
          </a:p>
          <a:p>
            <a:pPr algn="ctr"/>
            <a:r>
              <a:rPr lang="zh-CN" altLang="en-US" sz="2800" dirty="0"/>
              <a:t>这就是分布式计算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A1C12C6-D5C0-E259-7B35-D289AF1E3E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101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4BE2-96E2-E121-EE7D-8535959C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A036-4D13-037B-1397-C44FB91E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Distributed Computing</a:t>
            </a:r>
            <a:br>
              <a:rPr lang="en-US" altLang="zh-CN" dirty="0"/>
            </a:br>
            <a:r>
              <a:rPr lang="zh-CN" altLang="en-US" dirty="0"/>
              <a:t>分布式计算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4C76C-B4AF-A539-00C4-65B2CB1F3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Multiple Compute Nodes  </a:t>
            </a:r>
            <a:r>
              <a:rPr lang="zh-CN" altLang="en-US" dirty="0"/>
              <a:t>多计算节点</a:t>
            </a:r>
            <a:endParaRPr lang="en-US" altLang="zh-CN" dirty="0"/>
          </a:p>
          <a:p>
            <a:pPr lvl="1"/>
            <a:r>
              <a:rPr lang="en-US" altLang="zh-CN" dirty="0"/>
              <a:t>Solve the same compute problem</a:t>
            </a:r>
            <a:br>
              <a:rPr lang="en-US" altLang="zh-CN" dirty="0"/>
            </a:br>
            <a:r>
              <a:rPr lang="zh-CN" altLang="en-US" dirty="0"/>
              <a:t>解决同一个计算问题</a:t>
            </a:r>
            <a:endParaRPr lang="en-US" altLang="zh-CN" dirty="0"/>
          </a:p>
          <a:p>
            <a:pPr lvl="1"/>
            <a:r>
              <a:rPr lang="en-US" altLang="zh-CN" dirty="0"/>
              <a:t>Provide the same service  </a:t>
            </a:r>
            <a:r>
              <a:rPr lang="zh-CN" altLang="en-US" dirty="0"/>
              <a:t>提供同一个服务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Very Common in  </a:t>
            </a:r>
            <a:r>
              <a:rPr lang="zh-CN" altLang="en-US" dirty="0"/>
              <a:t>常见于</a:t>
            </a:r>
            <a:endParaRPr lang="en-US" altLang="zh-CN" dirty="0"/>
          </a:p>
          <a:p>
            <a:pPr lvl="1"/>
            <a:r>
              <a:rPr lang="en-US" altLang="zh-CN" dirty="0"/>
              <a:t>High-performance computing  </a:t>
            </a:r>
            <a:r>
              <a:rPr lang="zh-CN" altLang="en-US" dirty="0"/>
              <a:t>高性能计算</a:t>
            </a:r>
            <a:endParaRPr lang="en-US" altLang="zh-CN" dirty="0"/>
          </a:p>
          <a:p>
            <a:pPr lvl="1"/>
            <a:r>
              <a:rPr lang="en-US" altLang="zh-CN" dirty="0"/>
              <a:t>Internet service hosting  </a:t>
            </a:r>
            <a:r>
              <a:rPr lang="zh-CN" altLang="en-US" dirty="0"/>
              <a:t>提供互联网服务</a:t>
            </a:r>
            <a:endParaRPr lang="en-US" altLang="zh-CN" dirty="0"/>
          </a:p>
          <a:p>
            <a:pPr lvl="1"/>
            <a:r>
              <a:rPr lang="en-US" altLang="zh-CN" dirty="0"/>
              <a:t>Large-scale machine learning &amp; inference </a:t>
            </a:r>
            <a:r>
              <a:rPr lang="zh-CN" altLang="en-US" dirty="0"/>
              <a:t>大规模机器学习与推理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A3FF88E-03FE-429F-DA55-98A3E0B997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03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7267-12D7-73F4-AD64-E986C380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52BB-D063-26B7-DE25-9DD38805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Running a Job  </a:t>
            </a:r>
            <a:r>
              <a:rPr lang="zh-CN" altLang="en-US" dirty="0"/>
              <a:t>运行作业</a:t>
            </a:r>
            <a:endParaRPr lang="zh-CN" alt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52519-BB50-95AE-E459-E2CD9F16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91" y="4272176"/>
            <a:ext cx="1391797" cy="600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9B2291-6C44-19E4-BE54-C22B71FB7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591" y="4272176"/>
            <a:ext cx="1391797" cy="600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C8D5F5-F0A2-FCD8-364D-EE9C3E869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97" y="4272175"/>
            <a:ext cx="1391797" cy="600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EE286A-180B-1FD7-08F1-CDBCA6221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003" y="4272175"/>
            <a:ext cx="1391797" cy="60015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913901-49EC-568E-B1D8-7F4C0D388F9A}"/>
              </a:ext>
            </a:extLst>
          </p:cNvPr>
          <p:cNvSpPr txBox="1"/>
          <p:nvPr/>
        </p:nvSpPr>
        <p:spPr>
          <a:xfrm>
            <a:off x="2305087" y="5756255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Many servers  </a:t>
            </a:r>
            <a:r>
              <a:rPr lang="zh-CN" altLang="en-US" sz="2400" dirty="0"/>
              <a:t>很多服务器</a:t>
            </a:r>
            <a:endParaRPr lang="en-US" altLang="zh-CN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0E809-8E23-A65E-67D4-1C5DD77F5AA2}"/>
              </a:ext>
            </a:extLst>
          </p:cNvPr>
          <p:cNvSpPr txBox="1"/>
          <p:nvPr/>
        </p:nvSpPr>
        <p:spPr>
          <a:xfrm>
            <a:off x="2391384" y="1669702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large job  </a:t>
            </a:r>
            <a:r>
              <a:rPr lang="zh-CN" altLang="en-US" sz="2400" dirty="0"/>
              <a:t>一个大型作业</a:t>
            </a:r>
            <a:endParaRPr lang="en-US" altLang="zh-CN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F096F-C27B-D747-23BA-459C9DBD4B11}"/>
              </a:ext>
            </a:extLst>
          </p:cNvPr>
          <p:cNvSpPr txBox="1"/>
          <p:nvPr/>
        </p:nvSpPr>
        <p:spPr>
          <a:xfrm>
            <a:off x="834685" y="297180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1 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11E566-319D-E106-B13E-C9FE6B02A458}"/>
              </a:ext>
            </a:extLst>
          </p:cNvPr>
          <p:cNvSpPr txBox="1"/>
          <p:nvPr/>
        </p:nvSpPr>
        <p:spPr>
          <a:xfrm>
            <a:off x="2701139" y="298704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2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A8E421-A62C-4685-305E-F934D6BD3338}"/>
              </a:ext>
            </a:extLst>
          </p:cNvPr>
          <p:cNvSpPr txBox="1"/>
          <p:nvPr/>
        </p:nvSpPr>
        <p:spPr>
          <a:xfrm>
            <a:off x="6434047" y="297180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4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2BC83C-ED58-9665-C40F-C4A7A0C7E916}"/>
              </a:ext>
            </a:extLst>
          </p:cNvPr>
          <p:cNvSpPr txBox="1"/>
          <p:nvPr/>
        </p:nvSpPr>
        <p:spPr>
          <a:xfrm>
            <a:off x="4567593" y="298704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3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B8787C-9F05-7F18-A7E3-11538359D4AA}"/>
              </a:ext>
            </a:extLst>
          </p:cNvPr>
          <p:cNvCxnSpPr>
            <a:stCxn id="23" idx="2"/>
            <a:endCxn id="25" idx="0"/>
          </p:cNvCxnSpPr>
          <p:nvPr/>
        </p:nvCxnSpPr>
        <p:spPr bwMode="auto">
          <a:xfrm flipH="1">
            <a:off x="1613035" y="2131367"/>
            <a:ext cx="3045262" cy="8404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C8802C-74E5-797A-DFA4-912FC90A416F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 bwMode="auto">
          <a:xfrm flipH="1">
            <a:off x="3479489" y="2131367"/>
            <a:ext cx="1178808" cy="855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74E875-623A-ADC4-9796-CF3FAAA9A8E4}"/>
              </a:ext>
            </a:extLst>
          </p:cNvPr>
          <p:cNvCxnSpPr>
            <a:cxnSpLocks/>
            <a:stCxn id="23" idx="2"/>
            <a:endCxn id="31" idx="0"/>
          </p:cNvCxnSpPr>
          <p:nvPr/>
        </p:nvCxnSpPr>
        <p:spPr bwMode="auto">
          <a:xfrm>
            <a:off x="4658297" y="2131367"/>
            <a:ext cx="687646" cy="855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3EBCAC-6584-41FB-BFF8-AE0992C4959D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 bwMode="auto">
          <a:xfrm>
            <a:off x="4658297" y="2131367"/>
            <a:ext cx="2554100" cy="8404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77DE0DC-5092-5947-C386-83EFBC04C15A}"/>
              </a:ext>
            </a:extLst>
          </p:cNvPr>
          <p:cNvSpPr txBox="1"/>
          <p:nvPr/>
        </p:nvSpPr>
        <p:spPr>
          <a:xfrm>
            <a:off x="2391384" y="2371665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Decompose  </a:t>
            </a:r>
            <a:r>
              <a:rPr lang="zh-CN" altLang="en-US" sz="2400" dirty="0"/>
              <a:t>分解</a:t>
            </a:r>
            <a:endParaRPr lang="en-US" altLang="zh-CN" sz="2400" dirty="0"/>
          </a:p>
        </p:txBody>
      </p:sp>
      <p:sp>
        <p:nvSpPr>
          <p:cNvPr id="46" name="Arrow: Curved Left 45">
            <a:extLst>
              <a:ext uri="{FF2B5EF4-FFF2-40B4-BE49-F238E27FC236}">
                <a16:creationId xmlns:a16="http://schemas.microsoft.com/office/drawing/2014/main" id="{F243FEAF-B184-3FB1-AAB2-2046D7EB19C8}"/>
              </a:ext>
            </a:extLst>
          </p:cNvPr>
          <p:cNvSpPr/>
          <p:nvPr/>
        </p:nvSpPr>
        <p:spPr bwMode="auto">
          <a:xfrm>
            <a:off x="1512234" y="4341168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8" name="Arrow: Curved Left 47">
            <a:extLst>
              <a:ext uri="{FF2B5EF4-FFF2-40B4-BE49-F238E27FC236}">
                <a16:creationId xmlns:a16="http://schemas.microsoft.com/office/drawing/2014/main" id="{FBD42FA8-979C-419D-4528-0D2D7E4F0271}"/>
              </a:ext>
            </a:extLst>
          </p:cNvPr>
          <p:cNvSpPr/>
          <p:nvPr/>
        </p:nvSpPr>
        <p:spPr bwMode="auto">
          <a:xfrm>
            <a:off x="3385292" y="4326181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0" name="Arrow: Curved Left 49">
            <a:extLst>
              <a:ext uri="{FF2B5EF4-FFF2-40B4-BE49-F238E27FC236}">
                <a16:creationId xmlns:a16="http://schemas.microsoft.com/office/drawing/2014/main" id="{02A32B87-7A3C-CB67-6AB0-8B6E6CC42220}"/>
              </a:ext>
            </a:extLst>
          </p:cNvPr>
          <p:cNvSpPr/>
          <p:nvPr/>
        </p:nvSpPr>
        <p:spPr bwMode="auto">
          <a:xfrm>
            <a:off x="5354195" y="4369669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2" name="Arrow: Curved Left 51">
            <a:extLst>
              <a:ext uri="{FF2B5EF4-FFF2-40B4-BE49-F238E27FC236}">
                <a16:creationId xmlns:a16="http://schemas.microsoft.com/office/drawing/2014/main" id="{84951437-B024-9CE2-04E2-AE0AA70FA7F3}"/>
              </a:ext>
            </a:extLst>
          </p:cNvPr>
          <p:cNvSpPr/>
          <p:nvPr/>
        </p:nvSpPr>
        <p:spPr bwMode="auto">
          <a:xfrm>
            <a:off x="7212396" y="4385163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205058-DDB0-8890-FFBA-858108F03280}"/>
              </a:ext>
            </a:extLst>
          </p:cNvPr>
          <p:cNvSpPr txBox="1"/>
          <p:nvPr/>
        </p:nvSpPr>
        <p:spPr>
          <a:xfrm>
            <a:off x="2305087" y="3800564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Compute  </a:t>
            </a:r>
            <a:r>
              <a:rPr lang="zh-CN" altLang="en-US" sz="2400" dirty="0"/>
              <a:t>计算</a:t>
            </a:r>
            <a:endParaRPr lang="en-US" altLang="zh-CN" sz="2400" dirty="0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3AEF8B49-B6E4-24B6-D498-C97B37B1A9AA}"/>
              </a:ext>
            </a:extLst>
          </p:cNvPr>
          <p:cNvSpPr/>
          <p:nvPr/>
        </p:nvSpPr>
        <p:spPr bwMode="auto">
          <a:xfrm>
            <a:off x="1804199" y="4341168"/>
            <a:ext cx="5408198" cy="307538"/>
          </a:xfrm>
          <a:prstGeom prst="leftRightArrow">
            <a:avLst/>
          </a:prstGeom>
          <a:solidFill>
            <a:schemeClr val="accent1">
              <a:alpha val="5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7B4D2-4402-AC9B-0E14-B040C2F42A97}"/>
              </a:ext>
            </a:extLst>
          </p:cNvPr>
          <p:cNvSpPr txBox="1"/>
          <p:nvPr/>
        </p:nvSpPr>
        <p:spPr>
          <a:xfrm>
            <a:off x="1339875" y="4839563"/>
            <a:ext cx="6455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Synchronization &amp; data exchange  </a:t>
            </a:r>
          </a:p>
          <a:p>
            <a:pPr algn="ctr"/>
            <a:r>
              <a:rPr lang="zh-CN" altLang="en-US" sz="2400" dirty="0"/>
              <a:t>同步与数据交换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7C02E2-CA31-F278-EF78-C89B0C9AA4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591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9" grpId="0"/>
      <p:bldP spid="31" grpId="0"/>
      <p:bldP spid="44" grpId="0"/>
      <p:bldP spid="44" grpId="1"/>
      <p:bldP spid="46" grpId="0" animBg="1"/>
      <p:bldP spid="48" grpId="0" animBg="1"/>
      <p:bldP spid="50" grpId="0" animBg="1"/>
      <p:bldP spid="52" grpId="0" animBg="1"/>
      <p:bldP spid="54" grpId="0"/>
      <p:bldP spid="55" grpId="0" animBg="1"/>
      <p:bldP spid="5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FE51D-1D55-7D8C-24AC-85371B735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B6288-6324-4D3B-081B-C05DD2075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FE2CB2-B664-E305-81F6-80B5B1E8862F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27047C9-FAC3-E8D4-018C-9C5B7B848182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46FE7B-F75E-9239-69BD-475D05D60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A1C3277-F01B-379A-D1BA-DC57AD490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3F2BFBA-7B89-2C99-DC42-95E1FFE67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C1A159EA-8931-954F-78C1-0E75D8867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E37B20F-FE7A-1BB7-5512-683156B91DDB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39E26A4-BF72-493A-A808-6F7172F8DDE2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27437E54-2867-0500-FA8A-BDA5C9B6B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359DA896-3EAD-9257-0696-5D53214D5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6485E4B9-B06C-4DEB-F5E1-33B404488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BC7713C-E897-5B5E-9B8D-06AF17AC6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2973D6B-0392-B7F1-D354-8EA39CE0A4A8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8E51075-6607-9258-EEC8-21494C5E692F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08E1457-C4A3-3671-736F-73637775564E}"/>
              </a:ext>
            </a:extLst>
          </p:cNvPr>
          <p:cNvSpPr txBox="1"/>
          <p:nvPr/>
        </p:nvSpPr>
        <p:spPr>
          <a:xfrm>
            <a:off x="182547" y="2652294"/>
            <a:ext cx="27029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wave of parallel user requests</a:t>
            </a:r>
          </a:p>
          <a:p>
            <a:pPr algn="ctr"/>
            <a:r>
              <a:rPr lang="zh-CN" altLang="en-US" sz="2400" dirty="0"/>
              <a:t>一波并行用户请求</a:t>
            </a:r>
            <a:endParaRPr lang="en-US" altLang="zh-CN" sz="2400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D0F0381-3F97-328E-42E9-E0839F49FAFD}"/>
              </a:ext>
            </a:extLst>
          </p:cNvPr>
          <p:cNvGrpSpPr/>
          <p:nvPr/>
        </p:nvGrpSpPr>
        <p:grpSpPr>
          <a:xfrm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8BC32465-33C0-A174-15BD-637F04492CAF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89" name="Arrow: Right 88">
              <a:extLst>
                <a:ext uri="{FF2B5EF4-FFF2-40B4-BE49-F238E27FC236}">
                  <a16:creationId xmlns:a16="http://schemas.microsoft.com/office/drawing/2014/main" id="{9C07A6FB-46B2-11E4-3E85-F8E58CAF86A4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0" name="Arrow: Right 89">
              <a:extLst>
                <a:ext uri="{FF2B5EF4-FFF2-40B4-BE49-F238E27FC236}">
                  <a16:creationId xmlns:a16="http://schemas.microsoft.com/office/drawing/2014/main" id="{365BD602-D00A-3E5E-A529-A666AF74F6DD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96" name="Arrow: Curved Left 95">
            <a:extLst>
              <a:ext uri="{FF2B5EF4-FFF2-40B4-BE49-F238E27FC236}">
                <a16:creationId xmlns:a16="http://schemas.microsoft.com/office/drawing/2014/main" id="{39B3E6BE-BE9A-2F8E-743F-8A426D23754D}"/>
              </a:ext>
            </a:extLst>
          </p:cNvPr>
          <p:cNvSpPr/>
          <p:nvPr/>
        </p:nvSpPr>
        <p:spPr bwMode="auto">
          <a:xfrm>
            <a:off x="4569059" y="2423695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7" name="Arrow: Curved Left 96">
            <a:extLst>
              <a:ext uri="{FF2B5EF4-FFF2-40B4-BE49-F238E27FC236}">
                <a16:creationId xmlns:a16="http://schemas.microsoft.com/office/drawing/2014/main" id="{939E545C-194B-F1E1-8C58-A7421D4424F4}"/>
              </a:ext>
            </a:extLst>
          </p:cNvPr>
          <p:cNvSpPr/>
          <p:nvPr/>
        </p:nvSpPr>
        <p:spPr bwMode="auto">
          <a:xfrm>
            <a:off x="4569059" y="30721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8" name="Arrow: Curved Left 97">
            <a:extLst>
              <a:ext uri="{FF2B5EF4-FFF2-40B4-BE49-F238E27FC236}">
                <a16:creationId xmlns:a16="http://schemas.microsoft.com/office/drawing/2014/main" id="{B23C3E08-F6EE-0168-6917-25EDE831846A}"/>
              </a:ext>
            </a:extLst>
          </p:cNvPr>
          <p:cNvSpPr/>
          <p:nvPr/>
        </p:nvSpPr>
        <p:spPr bwMode="auto">
          <a:xfrm>
            <a:off x="4565982" y="36298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9" name="Arrow: Curved Left 98">
            <a:extLst>
              <a:ext uri="{FF2B5EF4-FFF2-40B4-BE49-F238E27FC236}">
                <a16:creationId xmlns:a16="http://schemas.microsoft.com/office/drawing/2014/main" id="{FD904927-74E0-7ECC-31D9-055C3357D7D2}"/>
              </a:ext>
            </a:extLst>
          </p:cNvPr>
          <p:cNvSpPr/>
          <p:nvPr/>
        </p:nvSpPr>
        <p:spPr bwMode="auto">
          <a:xfrm>
            <a:off x="4565982" y="424495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78C99EC-3C76-ED4D-F087-1B1820CC39EE}"/>
              </a:ext>
            </a:extLst>
          </p:cNvPr>
          <p:cNvSpPr txBox="1"/>
          <p:nvPr/>
        </p:nvSpPr>
        <p:spPr>
          <a:xfrm>
            <a:off x="2919233" y="1367676"/>
            <a:ext cx="3585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processing</a:t>
            </a:r>
          </a:p>
          <a:p>
            <a:pPr algn="ctr"/>
            <a:r>
              <a:rPr lang="zh-CN" altLang="en-US" sz="2400" dirty="0"/>
              <a:t>前端处理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E34C14E-7ED8-DCB1-599D-02F52361C7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510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81" grpId="0"/>
      <p:bldP spid="96" grpId="0" animBg="1"/>
      <p:bldP spid="97" grpId="0" animBg="1"/>
      <p:bldP spid="98" grpId="0" animBg="1"/>
      <p:bldP spid="99" grpId="0" animBg="1"/>
      <p:bldP spid="10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EACC-5953-B44A-5834-F27078F1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123B-8A1A-D2CC-C6B4-CC5B9BDD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3B877C-C4CF-8B4E-7F0A-9603584F9E8B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92A3EC7-EB0E-4DF0-12E2-E72F94D93B84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E00A3C-6BB6-595A-2C06-9FE814742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0E74C16A-7088-DC7F-3ECD-85EEC09CB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436DBE2-19B9-325C-50EC-C723EB22B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B2772D69-901B-7E9C-DB59-D374F55BA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2D8A312-BC5E-A63E-5C3E-07032AF05E6B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923F23F-725C-4EC7-629F-F3B352B0C903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CE256BD7-3775-81C7-967E-55B71BA45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FFD92559-FE9F-2B5B-89F6-CEB349F29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DD649369-A2CB-E2A3-85BA-68723CE11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655C2FF6-7666-65E0-AC70-DE7B5CF8C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659AC6D-66A3-40E2-D054-80ABE5D894DC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4A38E07B-5831-18AE-BFAD-7527A9A8579A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022A5AE-0606-71D3-7C72-134C0B34EB69}"/>
              </a:ext>
            </a:extLst>
          </p:cNvPr>
          <p:cNvGrpSpPr/>
          <p:nvPr/>
        </p:nvGrpSpPr>
        <p:grpSpPr>
          <a:xfrm>
            <a:off x="5705802" y="2324373"/>
            <a:ext cx="984827" cy="2299745"/>
            <a:chOff x="5188264" y="2218199"/>
            <a:chExt cx="984827" cy="2299745"/>
          </a:xfrm>
        </p:grpSpPr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9B4E7164-0390-BC07-C5DD-6B8B9D37DE96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83" name="Arrow: Right 82">
              <a:extLst>
                <a:ext uri="{FF2B5EF4-FFF2-40B4-BE49-F238E27FC236}">
                  <a16:creationId xmlns:a16="http://schemas.microsoft.com/office/drawing/2014/main" id="{76370206-8192-5CC7-E074-0CF0C628E8BB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85" name="Arrow: Right 84">
              <a:extLst>
                <a:ext uri="{FF2B5EF4-FFF2-40B4-BE49-F238E27FC236}">
                  <a16:creationId xmlns:a16="http://schemas.microsoft.com/office/drawing/2014/main" id="{D3AD4A4A-10C6-EBF4-ABD7-FC9A791DCAEA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2" name="Arrow: Right 91">
              <a:extLst>
                <a:ext uri="{FF2B5EF4-FFF2-40B4-BE49-F238E27FC236}">
                  <a16:creationId xmlns:a16="http://schemas.microsoft.com/office/drawing/2014/main" id="{55005218-CCF7-343E-1CA4-A3383192F019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A8C32DE4-DF84-F989-212F-4190D92E746D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96" name="Arrow: Curved Left 95">
            <a:extLst>
              <a:ext uri="{FF2B5EF4-FFF2-40B4-BE49-F238E27FC236}">
                <a16:creationId xmlns:a16="http://schemas.microsoft.com/office/drawing/2014/main" id="{74E0ED30-EB9A-52A9-46D6-14DB9159457E}"/>
              </a:ext>
            </a:extLst>
          </p:cNvPr>
          <p:cNvSpPr/>
          <p:nvPr/>
        </p:nvSpPr>
        <p:spPr bwMode="auto">
          <a:xfrm>
            <a:off x="4569059" y="2423695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7" name="Arrow: Curved Left 96">
            <a:extLst>
              <a:ext uri="{FF2B5EF4-FFF2-40B4-BE49-F238E27FC236}">
                <a16:creationId xmlns:a16="http://schemas.microsoft.com/office/drawing/2014/main" id="{AB61A00E-B187-7A12-CAED-4A72B47D53E0}"/>
              </a:ext>
            </a:extLst>
          </p:cNvPr>
          <p:cNvSpPr/>
          <p:nvPr/>
        </p:nvSpPr>
        <p:spPr bwMode="auto">
          <a:xfrm>
            <a:off x="4569059" y="30721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8" name="Arrow: Curved Left 97">
            <a:extLst>
              <a:ext uri="{FF2B5EF4-FFF2-40B4-BE49-F238E27FC236}">
                <a16:creationId xmlns:a16="http://schemas.microsoft.com/office/drawing/2014/main" id="{74944BC1-BE49-4B1E-7DBD-1779E8F6F8DD}"/>
              </a:ext>
            </a:extLst>
          </p:cNvPr>
          <p:cNvSpPr/>
          <p:nvPr/>
        </p:nvSpPr>
        <p:spPr bwMode="auto">
          <a:xfrm>
            <a:off x="4565982" y="36298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9" name="Arrow: Curved Left 98">
            <a:extLst>
              <a:ext uri="{FF2B5EF4-FFF2-40B4-BE49-F238E27FC236}">
                <a16:creationId xmlns:a16="http://schemas.microsoft.com/office/drawing/2014/main" id="{A529C124-E390-54E9-D3F9-D2DEACFA50DC}"/>
              </a:ext>
            </a:extLst>
          </p:cNvPr>
          <p:cNvSpPr/>
          <p:nvPr/>
        </p:nvSpPr>
        <p:spPr bwMode="auto">
          <a:xfrm>
            <a:off x="4565982" y="424495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B002D73-A8B1-F46C-465F-4BCE3FA0E5D6}"/>
              </a:ext>
            </a:extLst>
          </p:cNvPr>
          <p:cNvSpPr txBox="1"/>
          <p:nvPr/>
        </p:nvSpPr>
        <p:spPr>
          <a:xfrm>
            <a:off x="2601686" y="1379999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wave of parallel requests to the backend</a:t>
            </a:r>
            <a:r>
              <a:rPr lang="zh-CN" altLang="en-US" sz="2400" dirty="0"/>
              <a:t>一波并行的后端请求</a:t>
            </a:r>
            <a:endParaRPr lang="en-US" altLang="zh-C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44D1A-741F-53CB-BE71-E3209112FC83}"/>
              </a:ext>
            </a:extLst>
          </p:cNvPr>
          <p:cNvSpPr txBox="1"/>
          <p:nvPr/>
        </p:nvSpPr>
        <p:spPr>
          <a:xfrm>
            <a:off x="59567" y="2338681"/>
            <a:ext cx="29257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Meanwhile another wave of parallel user requests pipelined</a:t>
            </a:r>
          </a:p>
          <a:p>
            <a:pPr algn="ctr"/>
            <a:r>
              <a:rPr lang="zh-CN" altLang="en-US" sz="2400" dirty="0"/>
              <a:t>同时又一波并行用户请求流水进入</a:t>
            </a:r>
            <a:endParaRPr lang="en-US" altLang="zh-CN" sz="24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1C13FC-D0A7-0315-4583-90838307AF78}"/>
              </a:ext>
            </a:extLst>
          </p:cNvPr>
          <p:cNvGrpSpPr/>
          <p:nvPr/>
        </p:nvGrpSpPr>
        <p:grpSpPr>
          <a:xfrm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E8A5BD8-A4F5-473C-94E5-4DFF2AF791E6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6D36A9F6-3AA4-A6E9-A1EC-94845B8AA950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1895D30-21A3-B9E3-E3FF-218FB18A1B14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26E0B6A9-4E5A-C85D-1B32-33BC15F2DB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994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F7C02-F4E7-DDA4-866F-256F3E2F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A3E7-2FD8-926B-F261-92D227BF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97AE53-D00F-7BEE-5DB1-6B4F31297C35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850AD24-FE3E-F124-F7A1-401A01FCDDDB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9176EC1-631D-2778-C12C-121E63478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118B483D-A3F0-0C4C-4739-4B2FB29DF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3E526C8D-08CE-814A-C31E-968ADC796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112BA3FD-3B6B-A384-3FDD-BD63B476B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6035E41-8E47-DFE7-03FE-523BBC9549CB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0AB7C6D-EE59-B1DC-5A39-41D53396AEB4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3100ADC7-41D8-07DC-1025-3B00A499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C6BD1965-8808-F204-8592-FEEDE6510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C1D0B8A5-93DD-7CCD-2188-C0E481EFF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0A56B302-5984-ECBA-E249-E17CAA53B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9367110-9EED-4164-6E62-1B1A42C2614D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E1D8512-9794-94F9-7A52-CC83C7099B96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96" name="Arrow: Curved Left 95">
            <a:extLst>
              <a:ext uri="{FF2B5EF4-FFF2-40B4-BE49-F238E27FC236}">
                <a16:creationId xmlns:a16="http://schemas.microsoft.com/office/drawing/2014/main" id="{E1AC92E5-4291-29A5-D071-F2897093DBB3}"/>
              </a:ext>
            </a:extLst>
          </p:cNvPr>
          <p:cNvSpPr/>
          <p:nvPr/>
        </p:nvSpPr>
        <p:spPr bwMode="auto">
          <a:xfrm>
            <a:off x="4569059" y="2423695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7" name="Arrow: Curved Left 96">
            <a:extLst>
              <a:ext uri="{FF2B5EF4-FFF2-40B4-BE49-F238E27FC236}">
                <a16:creationId xmlns:a16="http://schemas.microsoft.com/office/drawing/2014/main" id="{36DD92D9-96AF-4908-67F0-C7CA8CB8D07F}"/>
              </a:ext>
            </a:extLst>
          </p:cNvPr>
          <p:cNvSpPr/>
          <p:nvPr/>
        </p:nvSpPr>
        <p:spPr bwMode="auto">
          <a:xfrm>
            <a:off x="4569059" y="30721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8" name="Arrow: Curved Left 97">
            <a:extLst>
              <a:ext uri="{FF2B5EF4-FFF2-40B4-BE49-F238E27FC236}">
                <a16:creationId xmlns:a16="http://schemas.microsoft.com/office/drawing/2014/main" id="{B231B87C-DF7D-D6C7-880D-8FA74510A16B}"/>
              </a:ext>
            </a:extLst>
          </p:cNvPr>
          <p:cNvSpPr/>
          <p:nvPr/>
        </p:nvSpPr>
        <p:spPr bwMode="auto">
          <a:xfrm>
            <a:off x="4565982" y="36298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9" name="Arrow: Curved Left 98">
            <a:extLst>
              <a:ext uri="{FF2B5EF4-FFF2-40B4-BE49-F238E27FC236}">
                <a16:creationId xmlns:a16="http://schemas.microsoft.com/office/drawing/2014/main" id="{FA984D23-6521-5A6A-88DC-B4A9E09EE95B}"/>
              </a:ext>
            </a:extLst>
          </p:cNvPr>
          <p:cNvSpPr/>
          <p:nvPr/>
        </p:nvSpPr>
        <p:spPr bwMode="auto">
          <a:xfrm>
            <a:off x="4565982" y="424495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E24B347-1E21-863A-71ED-A109CEAF6838}"/>
              </a:ext>
            </a:extLst>
          </p:cNvPr>
          <p:cNvSpPr txBox="1"/>
          <p:nvPr/>
        </p:nvSpPr>
        <p:spPr>
          <a:xfrm>
            <a:off x="2601686" y="1379999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Processing</a:t>
            </a:r>
            <a:r>
              <a:rPr lang="zh-CN" altLang="en-US" sz="2400" dirty="0"/>
              <a:t> </a:t>
            </a:r>
            <a:r>
              <a:rPr lang="en-US" altLang="zh-CN" sz="2400" dirty="0"/>
              <a:t>different request waves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algn="ctr"/>
            <a:r>
              <a:rPr lang="zh-CN" altLang="en-US" sz="2400" dirty="0"/>
              <a:t>处理不同波次的请求</a:t>
            </a:r>
            <a:endParaRPr lang="en-US" altLang="zh-CN" sz="2400" dirty="0"/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97097430-84F3-48DB-D487-1C955825A158}"/>
              </a:ext>
            </a:extLst>
          </p:cNvPr>
          <p:cNvSpPr/>
          <p:nvPr/>
        </p:nvSpPr>
        <p:spPr bwMode="auto">
          <a:xfrm>
            <a:off x="7468177" y="24546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0392C15A-B557-66C1-0CA6-8A4D2D42E3C4}"/>
              </a:ext>
            </a:extLst>
          </p:cNvPr>
          <p:cNvSpPr/>
          <p:nvPr/>
        </p:nvSpPr>
        <p:spPr bwMode="auto">
          <a:xfrm>
            <a:off x="7481981" y="30721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Arrow: Curved Left 14">
            <a:extLst>
              <a:ext uri="{FF2B5EF4-FFF2-40B4-BE49-F238E27FC236}">
                <a16:creationId xmlns:a16="http://schemas.microsoft.com/office/drawing/2014/main" id="{2A793289-A532-F558-6C67-1956556FB5CE}"/>
              </a:ext>
            </a:extLst>
          </p:cNvPr>
          <p:cNvSpPr/>
          <p:nvPr/>
        </p:nvSpPr>
        <p:spPr bwMode="auto">
          <a:xfrm>
            <a:off x="7517557" y="3678151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6AFE38FF-8E11-5479-6512-5783200E7BC5}"/>
              </a:ext>
            </a:extLst>
          </p:cNvPr>
          <p:cNvSpPr/>
          <p:nvPr/>
        </p:nvSpPr>
        <p:spPr bwMode="auto">
          <a:xfrm>
            <a:off x="7517556" y="4278656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CC3FF1F-F69C-4C50-620D-E2FC6CA3C78D}"/>
              </a:ext>
            </a:extLst>
          </p:cNvPr>
          <p:cNvGrpSpPr/>
          <p:nvPr/>
        </p:nvGrpSpPr>
        <p:grpSpPr>
          <a:xfrm>
            <a:off x="5705802" y="2324373"/>
            <a:ext cx="984827" cy="2299745"/>
            <a:chOff x="5188264" y="2218199"/>
            <a:chExt cx="984827" cy="2299745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6318C285-C54A-109A-EE83-9D6726C9ED42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06E5CD12-8987-B62A-25C9-0F8F4795CF7C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3678138F-5D7D-0B32-4AD5-A5DBAE08C593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143153FC-0CA3-E105-87DF-EBB3391CDA3D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59461213-6E2F-C0E4-1B74-B63AFFFF1255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4E392FB-4566-1C6B-B42B-7BD8214C0F46}"/>
              </a:ext>
            </a:extLst>
          </p:cNvPr>
          <p:cNvGrpSpPr/>
          <p:nvPr/>
        </p:nvGrpSpPr>
        <p:grpSpPr>
          <a:xfrm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D7877030-1465-7CA0-FE40-FA7190ACC1E7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D788F009-CE4D-37E7-A805-7A5378A45E1C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CF8AE748-EC0E-3486-D6C6-1357CE30D896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3D0F1FA4-5416-1BF0-AF71-BC8FEE6198E0}"/>
              </a:ext>
            </a:extLst>
          </p:cNvPr>
          <p:cNvSpPr/>
          <p:nvPr/>
        </p:nvSpPr>
        <p:spPr bwMode="auto">
          <a:xfrm>
            <a:off x="4582051" y="253318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C6CB2BF5-D0F7-D7B3-CB42-BB36E1DC64A5}"/>
              </a:ext>
            </a:extLst>
          </p:cNvPr>
          <p:cNvSpPr/>
          <p:nvPr/>
        </p:nvSpPr>
        <p:spPr bwMode="auto">
          <a:xfrm>
            <a:off x="4558015" y="3163594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614849C4-DF04-17B1-7A8C-55CACD926B9B}"/>
              </a:ext>
            </a:extLst>
          </p:cNvPr>
          <p:cNvSpPr/>
          <p:nvPr/>
        </p:nvSpPr>
        <p:spPr bwMode="auto">
          <a:xfrm>
            <a:off x="4558015" y="3697139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C5A822D0-D60F-A6E8-A2C5-30E058862F4D}"/>
              </a:ext>
            </a:extLst>
          </p:cNvPr>
          <p:cNvSpPr/>
          <p:nvPr/>
        </p:nvSpPr>
        <p:spPr bwMode="auto">
          <a:xfrm>
            <a:off x="4565982" y="4340263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FD2F8E1-5AE1-15C6-64F4-000D056115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901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E5FD1-00F3-D0B4-36DF-0D369E76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70E4-217D-E8EF-0123-31A231D0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65CE3F-9DA2-91C6-FAB4-917D1F3CF98B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94F01C6-C950-A59D-A5FE-7F7828EEC8DC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9CF67F-A593-50B5-8C38-97A33ECD0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07AC019-EE3E-81B1-1681-2F6993009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0F0348BF-04DB-D445-856D-BCF21CDBB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F8FA7A1-A7E0-2D18-1ED5-F8041DCEE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66735A5-475B-6CD3-1564-8A3AD7890096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18E485B-A04C-A137-1D6E-3444D972887C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DE6715DB-5BD3-BAC8-E172-1CE48499B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CC07ED2-0768-6116-EEE6-97B2FA48F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80D83E6A-23CA-13DF-627D-C3D13B0D9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239410B-E75B-A6A1-0012-81EF2FDB6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B33051C-9D92-B018-5D90-FBBE15CF7C60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4AD7E5F-0532-E1D9-C7B3-0FE1ECE7DFF1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96" name="Arrow: Curved Left 95">
            <a:extLst>
              <a:ext uri="{FF2B5EF4-FFF2-40B4-BE49-F238E27FC236}">
                <a16:creationId xmlns:a16="http://schemas.microsoft.com/office/drawing/2014/main" id="{19137FF0-759E-08CF-DB36-C59CC0A52E26}"/>
              </a:ext>
            </a:extLst>
          </p:cNvPr>
          <p:cNvSpPr/>
          <p:nvPr/>
        </p:nvSpPr>
        <p:spPr bwMode="auto">
          <a:xfrm>
            <a:off x="4569059" y="2423695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7" name="Arrow: Curved Left 96">
            <a:extLst>
              <a:ext uri="{FF2B5EF4-FFF2-40B4-BE49-F238E27FC236}">
                <a16:creationId xmlns:a16="http://schemas.microsoft.com/office/drawing/2014/main" id="{E337A6D9-63C8-FAEB-8E4D-3D13F8C2998A}"/>
              </a:ext>
            </a:extLst>
          </p:cNvPr>
          <p:cNvSpPr/>
          <p:nvPr/>
        </p:nvSpPr>
        <p:spPr bwMode="auto">
          <a:xfrm>
            <a:off x="4569059" y="30721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8" name="Arrow: Curved Left 97">
            <a:extLst>
              <a:ext uri="{FF2B5EF4-FFF2-40B4-BE49-F238E27FC236}">
                <a16:creationId xmlns:a16="http://schemas.microsoft.com/office/drawing/2014/main" id="{6079F018-547E-2765-5230-66A64F5A798F}"/>
              </a:ext>
            </a:extLst>
          </p:cNvPr>
          <p:cNvSpPr/>
          <p:nvPr/>
        </p:nvSpPr>
        <p:spPr bwMode="auto">
          <a:xfrm>
            <a:off x="4565982" y="36298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9" name="Arrow: Curved Left 98">
            <a:extLst>
              <a:ext uri="{FF2B5EF4-FFF2-40B4-BE49-F238E27FC236}">
                <a16:creationId xmlns:a16="http://schemas.microsoft.com/office/drawing/2014/main" id="{3A79EE0D-ECA5-A108-B87F-479800A26E43}"/>
              </a:ext>
            </a:extLst>
          </p:cNvPr>
          <p:cNvSpPr/>
          <p:nvPr/>
        </p:nvSpPr>
        <p:spPr bwMode="auto">
          <a:xfrm>
            <a:off x="4565982" y="424495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B2A496-4CC1-7606-6D39-59430552B6C6}"/>
              </a:ext>
            </a:extLst>
          </p:cNvPr>
          <p:cNvGrpSpPr/>
          <p:nvPr/>
        </p:nvGrpSpPr>
        <p:grpSpPr>
          <a:xfrm rot="10800000">
            <a:off x="5705802" y="2324373"/>
            <a:ext cx="984827" cy="2299745"/>
            <a:chOff x="5188264" y="2218199"/>
            <a:chExt cx="984827" cy="2299745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723659F9-96D3-50E9-9D83-A5FE4C22FDAA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8D025773-B823-82A0-15B6-FF6A938CE6A0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17F3A9FB-EAD6-316F-6211-8F1D07EA41B8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FF21A6DE-37F2-2297-ED22-689BCC812075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8DA1BC25-2A35-2A4F-F34E-CEC799C1C54F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F47B5632-A27E-CB23-4086-1641D1DE4F09}"/>
              </a:ext>
            </a:extLst>
          </p:cNvPr>
          <p:cNvSpPr/>
          <p:nvPr/>
        </p:nvSpPr>
        <p:spPr bwMode="auto">
          <a:xfrm>
            <a:off x="4582051" y="253318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E0FC91CF-7E6A-727D-5CF7-6E1DD7FE5F1E}"/>
              </a:ext>
            </a:extLst>
          </p:cNvPr>
          <p:cNvSpPr/>
          <p:nvPr/>
        </p:nvSpPr>
        <p:spPr bwMode="auto">
          <a:xfrm>
            <a:off x="4558015" y="3163594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FA3D006A-2BE1-B2E2-99AA-BB0DBD3CC9C0}"/>
              </a:ext>
            </a:extLst>
          </p:cNvPr>
          <p:cNvSpPr/>
          <p:nvPr/>
        </p:nvSpPr>
        <p:spPr bwMode="auto">
          <a:xfrm>
            <a:off x="4558015" y="3697139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60A65804-79A9-64C3-609A-EA96D1061DEA}"/>
              </a:ext>
            </a:extLst>
          </p:cNvPr>
          <p:cNvSpPr/>
          <p:nvPr/>
        </p:nvSpPr>
        <p:spPr bwMode="auto">
          <a:xfrm>
            <a:off x="4565982" y="4340263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201590-1765-1E6D-EBB3-3ACF7BF55FB6}"/>
              </a:ext>
            </a:extLst>
          </p:cNvPr>
          <p:cNvGrpSpPr/>
          <p:nvPr/>
        </p:nvGrpSpPr>
        <p:grpSpPr>
          <a:xfrm>
            <a:off x="5721665" y="2517947"/>
            <a:ext cx="984827" cy="2299745"/>
            <a:chOff x="5188264" y="2218199"/>
            <a:chExt cx="984827" cy="2299745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91A57CA1-E609-83D4-6EF2-79D47E82918A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4E48EB9-FA74-7C3D-0870-056A78EF630D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07A9B48D-DD70-D94D-33C6-A33997FE53CE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0EFC6018-B0F7-152E-B04A-6F703A9C5485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D53EB19A-48A7-6604-8FDA-6716004C284C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446076A-6CC8-8CC0-2FE4-51562EAB5098}"/>
              </a:ext>
            </a:extLst>
          </p:cNvPr>
          <p:cNvSpPr txBox="1"/>
          <p:nvPr/>
        </p:nvSpPr>
        <p:spPr>
          <a:xfrm>
            <a:off x="2788857" y="1364348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wave in back-end returns</a:t>
            </a:r>
          </a:p>
          <a:p>
            <a:pPr algn="ctr"/>
            <a:r>
              <a:rPr lang="zh-CN" altLang="en-US" sz="2400" dirty="0"/>
              <a:t>后端的第一波次返回</a:t>
            </a:r>
            <a:endParaRPr lang="en-US" altLang="zh-CN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592D77-C44A-5C23-21F2-51C211EE887F}"/>
              </a:ext>
            </a:extLst>
          </p:cNvPr>
          <p:cNvSpPr txBox="1"/>
          <p:nvPr/>
        </p:nvSpPr>
        <p:spPr>
          <a:xfrm>
            <a:off x="3276537" y="4861671"/>
            <a:ext cx="5626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2</a:t>
            </a:r>
            <a:r>
              <a:rPr lang="en-US" altLang="zh-CN" sz="2400" baseline="30000" dirty="0"/>
              <a:t>nd</a:t>
            </a:r>
            <a:r>
              <a:rPr lang="en-US" altLang="zh-CN" sz="2400" dirty="0"/>
              <a:t> wave arrives  </a:t>
            </a:r>
            <a:r>
              <a:rPr lang="zh-CN" altLang="en-US" sz="2400" dirty="0"/>
              <a:t>第二波到达</a:t>
            </a:r>
            <a:r>
              <a:rPr lang="en-US" altLang="zh-CN" sz="2400" dirty="0"/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31C04C-8517-4C22-D163-75A9C4A37830}"/>
              </a:ext>
            </a:extLst>
          </p:cNvPr>
          <p:cNvSpPr txBox="1"/>
          <p:nvPr/>
        </p:nvSpPr>
        <p:spPr>
          <a:xfrm>
            <a:off x="59567" y="2338681"/>
            <a:ext cx="2925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Meanwhile 3</a:t>
            </a:r>
            <a:r>
              <a:rPr lang="en-US" altLang="zh-CN" sz="2400" baseline="30000" dirty="0"/>
              <a:t>rd</a:t>
            </a:r>
            <a:r>
              <a:rPr lang="en-US" altLang="zh-CN" sz="2400" dirty="0"/>
              <a:t> wave of parallel user requests pipelined</a:t>
            </a:r>
          </a:p>
          <a:p>
            <a:pPr algn="ctr"/>
            <a:r>
              <a:rPr lang="zh-CN" altLang="en-US" sz="2400" dirty="0"/>
              <a:t>同时第三波并行用户请求流水进入</a:t>
            </a:r>
            <a:endParaRPr lang="en-US" altLang="zh-CN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06B3ADB-449D-26DD-F603-8D9584D9E96B}"/>
              </a:ext>
            </a:extLst>
          </p:cNvPr>
          <p:cNvGrpSpPr/>
          <p:nvPr/>
        </p:nvGrpSpPr>
        <p:grpSpPr>
          <a:xfrm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90C2CE74-96B2-4483-4348-58861205822D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7C8E6AE4-1129-1F3C-2C9B-CCE33AD73608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6EAF8E43-5660-4F1A-BDFB-60FD4E2CB590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1D3F8B-F128-66F5-5403-DEFC46C0C1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413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FB49E-C025-5B01-46A4-690F1A017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8DFA-9307-3233-429D-852FE31E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7D7A23-CC60-B726-841E-3743A165F0F3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45615B7-A34F-4010-9A0F-1356F754D0AA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12DD6B6-E528-4FA4-7314-1FE4405C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882266B-DBE8-F8CB-D9F5-B2819F0F75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837508A-84EB-856F-B9AA-122D36C69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5584583-569F-0F76-7D7A-B48DFF718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EDEE8F2-DF39-9EEC-9CE3-C26B81766133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374096-C010-2910-32A7-056B0D95171A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C72918C-A360-DC41-C415-908D2D866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6687715C-8C5D-5BD2-62B5-557BF9B23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9396F661-B359-9A9D-ADBA-0547013D6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D438F1EF-4FBA-7994-1A1E-0D549DEEB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C09E134-F776-7358-7BE9-DF1D1DA492B2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C40D6D9-64F1-6BBF-02B0-1DC720CA4639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96" name="Arrow: Curved Left 95">
            <a:extLst>
              <a:ext uri="{FF2B5EF4-FFF2-40B4-BE49-F238E27FC236}">
                <a16:creationId xmlns:a16="http://schemas.microsoft.com/office/drawing/2014/main" id="{ED13EE68-61E6-C017-43B0-E77AD285AB9C}"/>
              </a:ext>
            </a:extLst>
          </p:cNvPr>
          <p:cNvSpPr/>
          <p:nvPr/>
        </p:nvSpPr>
        <p:spPr bwMode="auto">
          <a:xfrm>
            <a:off x="4569059" y="2423695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7" name="Arrow: Curved Left 96">
            <a:extLst>
              <a:ext uri="{FF2B5EF4-FFF2-40B4-BE49-F238E27FC236}">
                <a16:creationId xmlns:a16="http://schemas.microsoft.com/office/drawing/2014/main" id="{B8619648-C185-9B81-1279-0FD35B8B6026}"/>
              </a:ext>
            </a:extLst>
          </p:cNvPr>
          <p:cNvSpPr/>
          <p:nvPr/>
        </p:nvSpPr>
        <p:spPr bwMode="auto">
          <a:xfrm>
            <a:off x="4569059" y="30721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8" name="Arrow: Curved Left 97">
            <a:extLst>
              <a:ext uri="{FF2B5EF4-FFF2-40B4-BE49-F238E27FC236}">
                <a16:creationId xmlns:a16="http://schemas.microsoft.com/office/drawing/2014/main" id="{94CAAB07-42C2-A6C3-258A-6F8B2C13F4B7}"/>
              </a:ext>
            </a:extLst>
          </p:cNvPr>
          <p:cNvSpPr/>
          <p:nvPr/>
        </p:nvSpPr>
        <p:spPr bwMode="auto">
          <a:xfrm>
            <a:off x="4565982" y="362980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9" name="Arrow: Curved Left 98">
            <a:extLst>
              <a:ext uri="{FF2B5EF4-FFF2-40B4-BE49-F238E27FC236}">
                <a16:creationId xmlns:a16="http://schemas.microsoft.com/office/drawing/2014/main" id="{F6A7A40C-C6CD-8109-A2A8-2CA90288B45B}"/>
              </a:ext>
            </a:extLst>
          </p:cNvPr>
          <p:cNvSpPr/>
          <p:nvPr/>
        </p:nvSpPr>
        <p:spPr bwMode="auto">
          <a:xfrm>
            <a:off x="4565982" y="4244957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75DF82D-DC73-7D05-8D58-5E74C2BFDDB8}"/>
              </a:ext>
            </a:extLst>
          </p:cNvPr>
          <p:cNvGrpSpPr/>
          <p:nvPr/>
        </p:nvGrpSpPr>
        <p:grpSpPr>
          <a:xfrm rot="10800000">
            <a:off x="5705802" y="2324373"/>
            <a:ext cx="984827" cy="2299745"/>
            <a:chOff x="5188264" y="2218199"/>
            <a:chExt cx="984827" cy="2299745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B356F678-8412-1BC5-2A89-294039E8D96E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4C78E781-E984-6417-CA41-02924673225B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2E5DB97E-F23F-F194-D03F-3EC2AF4B4C3A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Arrow: Right 21">
              <a:extLst>
                <a:ext uri="{FF2B5EF4-FFF2-40B4-BE49-F238E27FC236}">
                  <a16:creationId xmlns:a16="http://schemas.microsoft.com/office/drawing/2014/main" id="{B0CF48BD-BD99-79D8-6018-59DEDCEBCC32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Arrow: Right 22">
              <a:extLst>
                <a:ext uri="{FF2B5EF4-FFF2-40B4-BE49-F238E27FC236}">
                  <a16:creationId xmlns:a16="http://schemas.microsoft.com/office/drawing/2014/main" id="{4364CA95-4A8D-5BAA-A364-8D689D318119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71B14126-56AC-CC94-E8F5-CEDB114C0A31}"/>
              </a:ext>
            </a:extLst>
          </p:cNvPr>
          <p:cNvSpPr/>
          <p:nvPr/>
        </p:nvSpPr>
        <p:spPr bwMode="auto">
          <a:xfrm>
            <a:off x="4582051" y="253318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2C65EB7C-FD15-7D48-C580-BA47949B99E2}"/>
              </a:ext>
            </a:extLst>
          </p:cNvPr>
          <p:cNvSpPr/>
          <p:nvPr/>
        </p:nvSpPr>
        <p:spPr bwMode="auto">
          <a:xfrm>
            <a:off x="4558015" y="3163594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F42D49E7-3A08-3A66-3066-219466647484}"/>
              </a:ext>
            </a:extLst>
          </p:cNvPr>
          <p:cNvSpPr/>
          <p:nvPr/>
        </p:nvSpPr>
        <p:spPr bwMode="auto">
          <a:xfrm>
            <a:off x="4558015" y="3697139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BF3493C5-9E35-2001-9D70-A4C1362ABE73}"/>
              </a:ext>
            </a:extLst>
          </p:cNvPr>
          <p:cNvSpPr/>
          <p:nvPr/>
        </p:nvSpPr>
        <p:spPr bwMode="auto">
          <a:xfrm>
            <a:off x="4565982" y="4340263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793078-0724-728A-0956-52B159289F6F}"/>
              </a:ext>
            </a:extLst>
          </p:cNvPr>
          <p:cNvGrpSpPr/>
          <p:nvPr/>
        </p:nvGrpSpPr>
        <p:grpSpPr>
          <a:xfrm>
            <a:off x="5721665" y="2517947"/>
            <a:ext cx="984827" cy="2299745"/>
            <a:chOff x="5188264" y="2218199"/>
            <a:chExt cx="984827" cy="2299745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7B515DD5-FAA7-F1D0-A117-15C79AFBB5D9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77FECD66-D89E-132D-6F16-92C5F1256166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F45F66F1-6B60-D1D7-63A4-7B9FE629F06C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DB2BB12C-9203-3988-E4A9-5B9A81476FBD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8DB6B81E-EA1D-25DE-AF1F-B92E61BA00D0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DDF796C-FB0C-84C2-795B-6996BD4433F1}"/>
              </a:ext>
            </a:extLst>
          </p:cNvPr>
          <p:cNvGrpSpPr/>
          <p:nvPr/>
        </p:nvGrpSpPr>
        <p:grpSpPr>
          <a:xfrm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B70CBAF4-1925-D76B-928F-809B33F69819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1EEFF56F-1E05-82C0-4CC2-79AABE392DCA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87E7C7DB-F680-2BB3-273D-7B31ECE0BC14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7DB9CFEE-9E1E-2110-59A9-7D829646F526}"/>
              </a:ext>
            </a:extLst>
          </p:cNvPr>
          <p:cNvSpPr/>
          <p:nvPr/>
        </p:nvSpPr>
        <p:spPr bwMode="auto">
          <a:xfrm>
            <a:off x="7543800" y="244689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FE67FD8E-B955-F862-6EE6-B4D9B39DB1C0}"/>
              </a:ext>
            </a:extLst>
          </p:cNvPr>
          <p:cNvSpPr/>
          <p:nvPr/>
        </p:nvSpPr>
        <p:spPr bwMode="auto">
          <a:xfrm>
            <a:off x="7543798" y="3041148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7E4C2B57-74CA-5304-16C4-E77276372992}"/>
              </a:ext>
            </a:extLst>
          </p:cNvPr>
          <p:cNvSpPr/>
          <p:nvPr/>
        </p:nvSpPr>
        <p:spPr bwMode="auto">
          <a:xfrm>
            <a:off x="7543799" y="365787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Arrow: Curved Left 23">
            <a:extLst>
              <a:ext uri="{FF2B5EF4-FFF2-40B4-BE49-F238E27FC236}">
                <a16:creationId xmlns:a16="http://schemas.microsoft.com/office/drawing/2014/main" id="{248DBF15-C8E5-9E1F-8C78-5C8D16447325}"/>
              </a:ext>
            </a:extLst>
          </p:cNvPr>
          <p:cNvSpPr/>
          <p:nvPr/>
        </p:nvSpPr>
        <p:spPr bwMode="auto">
          <a:xfrm>
            <a:off x="7543797" y="4258548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60078BC0-5040-CF37-BA81-B794FFFAC38E}"/>
              </a:ext>
            </a:extLst>
          </p:cNvPr>
          <p:cNvSpPr/>
          <p:nvPr/>
        </p:nvSpPr>
        <p:spPr bwMode="auto">
          <a:xfrm>
            <a:off x="4474206" y="2475630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C16BBD58-7598-8443-F016-99BC4DBD2D71}"/>
              </a:ext>
            </a:extLst>
          </p:cNvPr>
          <p:cNvSpPr/>
          <p:nvPr/>
        </p:nvSpPr>
        <p:spPr bwMode="auto">
          <a:xfrm>
            <a:off x="4482395" y="3101806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1" name="Arrow: Curved Left 40">
            <a:extLst>
              <a:ext uri="{FF2B5EF4-FFF2-40B4-BE49-F238E27FC236}">
                <a16:creationId xmlns:a16="http://schemas.microsoft.com/office/drawing/2014/main" id="{5365882D-AA59-6F91-7644-C4E258653AE1}"/>
              </a:ext>
            </a:extLst>
          </p:cNvPr>
          <p:cNvSpPr/>
          <p:nvPr/>
        </p:nvSpPr>
        <p:spPr bwMode="auto">
          <a:xfrm>
            <a:off x="4462588" y="3663922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77480ACB-F06F-4555-F267-CDFE50321E32}"/>
              </a:ext>
            </a:extLst>
          </p:cNvPr>
          <p:cNvSpPr/>
          <p:nvPr/>
        </p:nvSpPr>
        <p:spPr bwMode="auto">
          <a:xfrm>
            <a:off x="4474205" y="4282668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AFBF04-15E2-3C0D-5395-76ABE05333A9}"/>
              </a:ext>
            </a:extLst>
          </p:cNvPr>
          <p:cNvSpPr txBox="1"/>
          <p:nvPr/>
        </p:nvSpPr>
        <p:spPr>
          <a:xfrm>
            <a:off x="2601686" y="1379999"/>
            <a:ext cx="6553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Processing</a:t>
            </a:r>
            <a:r>
              <a:rPr lang="zh-CN" altLang="en-US" sz="2400" dirty="0"/>
              <a:t> </a:t>
            </a:r>
            <a:r>
              <a:rPr lang="en-US" altLang="zh-CN" sz="2400" dirty="0"/>
              <a:t>different request waves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algn="ctr"/>
            <a:r>
              <a:rPr lang="zh-CN" altLang="en-US" sz="2400" dirty="0"/>
              <a:t>处理不同波次的请求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3A95CBA-992A-0294-89D3-D2A3D71035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76343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96E-20C2-3B0D-0988-378DD505C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D307-F9E6-A45F-67D6-04E190D0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7BC9E5-8396-625A-F6FD-6D78BA3D14F9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1A3FB48-71A7-7BD9-3232-D0FC83C112EA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D57966-E78D-F5D2-6910-0189356D0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7564E742-B9D1-A546-E091-458A14301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E5EA42B-5A06-EBD2-0471-51F9208CF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8E3478EF-9DC7-5047-85D5-175DC86E4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65FC6548-CCC9-9F10-45F3-465368224C2D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116C0AF-8DBE-CBFB-5D58-0CC724982993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2D9545B5-0564-8993-4C83-1F5A9D700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11AA3A41-FBB6-1218-E66A-2F45D1022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F7EAFCF8-383B-BC27-011C-A7E1E1812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8D62FDAC-7330-9A42-E5B9-5AD56E31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4C231F6-E780-68C3-A29C-182716EF829A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6A06874A-543E-61CA-BFF1-BAE6912BF479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AA2140EE-1F0F-B1E9-45C0-14DF2D2D3E81}"/>
              </a:ext>
            </a:extLst>
          </p:cNvPr>
          <p:cNvSpPr/>
          <p:nvPr/>
        </p:nvSpPr>
        <p:spPr bwMode="auto">
          <a:xfrm>
            <a:off x="4582051" y="253318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933B5E1D-E4C6-D216-334C-2FA1C18A9A2C}"/>
              </a:ext>
            </a:extLst>
          </p:cNvPr>
          <p:cNvSpPr/>
          <p:nvPr/>
        </p:nvSpPr>
        <p:spPr bwMode="auto">
          <a:xfrm>
            <a:off x="4558015" y="3163594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A63BDF21-AEDC-C545-3A16-CF8198FF1D11}"/>
              </a:ext>
            </a:extLst>
          </p:cNvPr>
          <p:cNvSpPr/>
          <p:nvPr/>
        </p:nvSpPr>
        <p:spPr bwMode="auto">
          <a:xfrm>
            <a:off x="4558015" y="3697139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A86AE95D-8B3C-0146-0781-F1B199BBE2F8}"/>
              </a:ext>
            </a:extLst>
          </p:cNvPr>
          <p:cNvSpPr/>
          <p:nvPr/>
        </p:nvSpPr>
        <p:spPr bwMode="auto">
          <a:xfrm>
            <a:off x="4565982" y="4340263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935B2FD-52D8-5B30-C990-11667D374F04}"/>
              </a:ext>
            </a:extLst>
          </p:cNvPr>
          <p:cNvGrpSpPr/>
          <p:nvPr/>
        </p:nvGrpSpPr>
        <p:grpSpPr>
          <a:xfrm>
            <a:off x="5721665" y="2517947"/>
            <a:ext cx="984827" cy="2299745"/>
            <a:chOff x="5188264" y="2218199"/>
            <a:chExt cx="984827" cy="2299745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647A0588-511D-A28A-F54E-FD95D53C62DD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3B62E80E-5FAC-0A74-3CBE-7D63B8825E70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26AFB5A6-57FD-03C0-F1A8-513E118D934E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FE4DFB35-5B85-2C14-D7A4-144BB8CA4B2D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97BEE2BA-7754-FF94-1E32-0BB5D677C79B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5" name="Arrow: Curved Left 4">
            <a:extLst>
              <a:ext uri="{FF2B5EF4-FFF2-40B4-BE49-F238E27FC236}">
                <a16:creationId xmlns:a16="http://schemas.microsoft.com/office/drawing/2014/main" id="{1FC1F552-C7E7-D6DD-334F-8B750726E324}"/>
              </a:ext>
            </a:extLst>
          </p:cNvPr>
          <p:cNvSpPr/>
          <p:nvPr/>
        </p:nvSpPr>
        <p:spPr bwMode="auto">
          <a:xfrm>
            <a:off x="7543800" y="244689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E666BDDC-B12A-D831-5E5A-06AF916C8C06}"/>
              </a:ext>
            </a:extLst>
          </p:cNvPr>
          <p:cNvSpPr/>
          <p:nvPr/>
        </p:nvSpPr>
        <p:spPr bwMode="auto">
          <a:xfrm>
            <a:off x="7543798" y="3041148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FFEF8A7B-7921-89F2-6A1D-C51AD88B3031}"/>
              </a:ext>
            </a:extLst>
          </p:cNvPr>
          <p:cNvSpPr/>
          <p:nvPr/>
        </p:nvSpPr>
        <p:spPr bwMode="auto">
          <a:xfrm>
            <a:off x="7543799" y="365787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Arrow: Curved Left 23">
            <a:extLst>
              <a:ext uri="{FF2B5EF4-FFF2-40B4-BE49-F238E27FC236}">
                <a16:creationId xmlns:a16="http://schemas.microsoft.com/office/drawing/2014/main" id="{89779604-6745-921D-8272-74351DF2AA60}"/>
              </a:ext>
            </a:extLst>
          </p:cNvPr>
          <p:cNvSpPr/>
          <p:nvPr/>
        </p:nvSpPr>
        <p:spPr bwMode="auto">
          <a:xfrm>
            <a:off x="7543797" y="4258548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49FD920B-CA53-39B8-C18A-0C642B022B08}"/>
              </a:ext>
            </a:extLst>
          </p:cNvPr>
          <p:cNvSpPr/>
          <p:nvPr/>
        </p:nvSpPr>
        <p:spPr bwMode="auto">
          <a:xfrm>
            <a:off x="4474206" y="2475630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F3E62923-570E-3CD3-92E5-2A3AB47F9970}"/>
              </a:ext>
            </a:extLst>
          </p:cNvPr>
          <p:cNvSpPr/>
          <p:nvPr/>
        </p:nvSpPr>
        <p:spPr bwMode="auto">
          <a:xfrm>
            <a:off x="4482395" y="3101806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1" name="Arrow: Curved Left 40">
            <a:extLst>
              <a:ext uri="{FF2B5EF4-FFF2-40B4-BE49-F238E27FC236}">
                <a16:creationId xmlns:a16="http://schemas.microsoft.com/office/drawing/2014/main" id="{812F6BBE-D2AD-31BB-E960-A4BCB1D11C11}"/>
              </a:ext>
            </a:extLst>
          </p:cNvPr>
          <p:cNvSpPr/>
          <p:nvPr/>
        </p:nvSpPr>
        <p:spPr bwMode="auto">
          <a:xfrm>
            <a:off x="4462588" y="3663922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88504A8E-734C-4888-AAA5-C9A145C97F6D}"/>
              </a:ext>
            </a:extLst>
          </p:cNvPr>
          <p:cNvSpPr/>
          <p:nvPr/>
        </p:nvSpPr>
        <p:spPr bwMode="auto">
          <a:xfrm>
            <a:off x="4474205" y="4282668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4CAC42-A2B8-3306-42AB-D980AAA6B822}"/>
              </a:ext>
            </a:extLst>
          </p:cNvPr>
          <p:cNvSpPr txBox="1"/>
          <p:nvPr/>
        </p:nvSpPr>
        <p:spPr>
          <a:xfrm>
            <a:off x="961185" y="1421674"/>
            <a:ext cx="5073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Front-end: 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wave completes</a:t>
            </a:r>
          </a:p>
          <a:p>
            <a:pPr algn="ctr"/>
            <a:r>
              <a:rPr lang="zh-CN" altLang="en-US" sz="2400" dirty="0"/>
              <a:t>前端：第一波次完成</a:t>
            </a:r>
            <a:endParaRPr lang="en-US" altLang="zh-CN" sz="2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06F890-A310-EBD2-4D0F-6FB08728384A}"/>
              </a:ext>
            </a:extLst>
          </p:cNvPr>
          <p:cNvGrpSpPr/>
          <p:nvPr/>
        </p:nvGrpSpPr>
        <p:grpSpPr>
          <a:xfrm rot="10800000"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DFDFA3EC-9F92-6AB3-3F7C-9236E021209C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B0C7490E-DEEE-869E-9CFB-7C8DF4E9F508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45F68822-5495-CC37-A219-F6B6C73B4817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C539CEE-4971-AA63-5072-3E384E754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80462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66FA-6DA5-DB32-162E-5C5D24F8E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D208-7533-7021-0B0B-B342D096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98A421-2C26-5A32-59E0-AB79AAB493CE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7C0E994-D644-344D-2EDB-6EE07935BF81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66D162B-1EFA-DBD8-14FF-F962DAD8D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23652BA-6571-DDE0-21B1-AE9119913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B23920A-4DD6-4EC4-F01A-1D036BEF7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7A22227-8B90-468D-7D78-B1DC1984B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F01650A-0D68-FBCF-563F-187162336D66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A7E4748-5DF5-CEAA-6183-AA8A0A8EA804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45F59C00-C4C0-03DC-7528-7AF8E23710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B1D481C-7A25-43D7-E854-B1C44485E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A41E63C8-0139-D072-6F7B-85D298926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2BD6709-6550-CECB-CB2C-C8F7A9AFB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B5FCED-B3B3-79EA-7280-C8AFE068CE06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FE47800D-B1F0-3C40-64B0-A11A8F13757D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4EC8CD0F-F3D1-2556-7791-EF426590A1ED}"/>
              </a:ext>
            </a:extLst>
          </p:cNvPr>
          <p:cNvSpPr/>
          <p:nvPr/>
        </p:nvSpPr>
        <p:spPr bwMode="auto">
          <a:xfrm>
            <a:off x="4582051" y="253318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A0BE66A0-2074-BA46-B8E2-91C130EC2B19}"/>
              </a:ext>
            </a:extLst>
          </p:cNvPr>
          <p:cNvSpPr/>
          <p:nvPr/>
        </p:nvSpPr>
        <p:spPr bwMode="auto">
          <a:xfrm>
            <a:off x="4558015" y="3163594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1E7EB448-7807-6800-7052-C09BB35BCB34}"/>
              </a:ext>
            </a:extLst>
          </p:cNvPr>
          <p:cNvSpPr/>
          <p:nvPr/>
        </p:nvSpPr>
        <p:spPr bwMode="auto">
          <a:xfrm>
            <a:off x="4558015" y="3697139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3F4C2896-DE50-6F95-59B1-73664A9321B3}"/>
              </a:ext>
            </a:extLst>
          </p:cNvPr>
          <p:cNvSpPr/>
          <p:nvPr/>
        </p:nvSpPr>
        <p:spPr bwMode="auto">
          <a:xfrm>
            <a:off x="4565982" y="4340263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CEDDA1-E3D3-0C9D-6D6B-3221C45560BB}"/>
              </a:ext>
            </a:extLst>
          </p:cNvPr>
          <p:cNvGrpSpPr/>
          <p:nvPr/>
        </p:nvGrpSpPr>
        <p:grpSpPr>
          <a:xfrm rot="10800000">
            <a:off x="5699477" y="2232137"/>
            <a:ext cx="984827" cy="2299745"/>
            <a:chOff x="5188264" y="2218199"/>
            <a:chExt cx="984827" cy="2299745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CD75D3F1-C6DC-127A-F20B-A59D1191D184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90F4EF1A-0566-7B98-5203-7BDC7D3F8ECB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1C47E7F3-2C8B-48CE-9928-4C0BEBFB3B0D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3F3D4685-34D8-A854-3461-8513B79EABF5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1EC24440-53F2-63F3-2BF9-268C40D4F41A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11D13AAE-D1E2-9676-D52A-036A6E30507F}"/>
              </a:ext>
            </a:extLst>
          </p:cNvPr>
          <p:cNvSpPr/>
          <p:nvPr/>
        </p:nvSpPr>
        <p:spPr bwMode="auto">
          <a:xfrm>
            <a:off x="4474206" y="2475630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D8B58C7E-2433-D17A-7466-6F19284DF424}"/>
              </a:ext>
            </a:extLst>
          </p:cNvPr>
          <p:cNvSpPr/>
          <p:nvPr/>
        </p:nvSpPr>
        <p:spPr bwMode="auto">
          <a:xfrm>
            <a:off x="4482395" y="3101806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1" name="Arrow: Curved Left 40">
            <a:extLst>
              <a:ext uri="{FF2B5EF4-FFF2-40B4-BE49-F238E27FC236}">
                <a16:creationId xmlns:a16="http://schemas.microsoft.com/office/drawing/2014/main" id="{2E41E8D9-9E8A-64CA-B989-F5BDE8618752}"/>
              </a:ext>
            </a:extLst>
          </p:cNvPr>
          <p:cNvSpPr/>
          <p:nvPr/>
        </p:nvSpPr>
        <p:spPr bwMode="auto">
          <a:xfrm>
            <a:off x="4462588" y="3663922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9F6D9AF5-6712-77A8-FFFA-CFA964C4F2B5}"/>
              </a:ext>
            </a:extLst>
          </p:cNvPr>
          <p:cNvSpPr/>
          <p:nvPr/>
        </p:nvSpPr>
        <p:spPr bwMode="auto">
          <a:xfrm>
            <a:off x="4474205" y="4282668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B4D329-3347-AB58-D8EB-70DC0F7C0AF7}"/>
              </a:ext>
            </a:extLst>
          </p:cNvPr>
          <p:cNvSpPr txBox="1"/>
          <p:nvPr/>
        </p:nvSpPr>
        <p:spPr>
          <a:xfrm>
            <a:off x="3773028" y="1405413"/>
            <a:ext cx="5073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Back-end: 2</a:t>
            </a:r>
            <a:r>
              <a:rPr lang="en-US" altLang="zh-CN" sz="2400" baseline="30000" dirty="0"/>
              <a:t>nd</a:t>
            </a:r>
            <a:r>
              <a:rPr lang="en-US" altLang="zh-CN" sz="2400" dirty="0"/>
              <a:t> wave returns</a:t>
            </a:r>
          </a:p>
          <a:p>
            <a:pPr algn="ctr"/>
            <a:r>
              <a:rPr lang="zh-CN" altLang="en-US" sz="2400" dirty="0"/>
              <a:t>后端：第二波次返回</a:t>
            </a:r>
            <a:endParaRPr lang="en-US" altLang="zh-CN" sz="2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9BF409F-8376-DB53-BF46-1500EC8D736B}"/>
              </a:ext>
            </a:extLst>
          </p:cNvPr>
          <p:cNvGrpSpPr/>
          <p:nvPr/>
        </p:nvGrpSpPr>
        <p:grpSpPr>
          <a:xfrm rot="10800000">
            <a:off x="2899949" y="2815402"/>
            <a:ext cx="954118" cy="1268467"/>
            <a:chOff x="2122456" y="2666140"/>
            <a:chExt cx="954118" cy="1268467"/>
          </a:xfrm>
        </p:grpSpPr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0D24CECB-6C3E-6F81-9375-D2562DEB2DD5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7FDBD5F2-292E-8545-2D04-FF5090A7AA3B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6AD49F46-3DE5-081E-4E45-540E2ACE25B0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9112929-3E7B-BE90-EDF3-96B6133F232A}"/>
              </a:ext>
            </a:extLst>
          </p:cNvPr>
          <p:cNvGrpSpPr/>
          <p:nvPr/>
        </p:nvGrpSpPr>
        <p:grpSpPr>
          <a:xfrm>
            <a:off x="5740015" y="2415296"/>
            <a:ext cx="984827" cy="2299745"/>
            <a:chOff x="5188264" y="2218199"/>
            <a:chExt cx="984827" cy="2299745"/>
          </a:xfrm>
        </p:grpSpPr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E1B26D1C-177E-DF17-B9E3-5919D23682B4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0F02530B-959B-B796-35EC-5974FFDF638E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C90B3D33-A884-B303-50C3-AC3B9B28C207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1C2CC1A0-EE8D-48FD-A564-93E61A099FCA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F69EA649-5B16-F9A6-C716-1497C90FB0A0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0EA8BDC-8F28-DD1B-3DA7-F547A7E37609}"/>
              </a:ext>
            </a:extLst>
          </p:cNvPr>
          <p:cNvSpPr txBox="1"/>
          <p:nvPr/>
        </p:nvSpPr>
        <p:spPr>
          <a:xfrm>
            <a:off x="3594697" y="4936398"/>
            <a:ext cx="5073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3</a:t>
            </a:r>
            <a:r>
              <a:rPr lang="en-US" altLang="zh-CN" sz="2400" baseline="30000" dirty="0"/>
              <a:t>rd</a:t>
            </a:r>
            <a:r>
              <a:rPr lang="en-US" altLang="zh-CN" sz="2400" dirty="0"/>
              <a:t> wave arrives  </a:t>
            </a:r>
            <a:r>
              <a:rPr lang="zh-CN" altLang="en-US" sz="2400" dirty="0"/>
              <a:t>第三波次到达</a:t>
            </a:r>
            <a:endParaRPr lang="en-US" altLang="zh-CN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28630F-6E4C-85EA-A1C0-8506385A144C}"/>
              </a:ext>
            </a:extLst>
          </p:cNvPr>
          <p:cNvSpPr txBox="1"/>
          <p:nvPr/>
        </p:nvSpPr>
        <p:spPr>
          <a:xfrm>
            <a:off x="59567" y="2338681"/>
            <a:ext cx="2925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Meanwhile 4</a:t>
            </a:r>
            <a:r>
              <a:rPr lang="en-US" altLang="zh-CN" sz="2400" baseline="30000" dirty="0"/>
              <a:t>th</a:t>
            </a:r>
            <a:r>
              <a:rPr lang="en-US" altLang="zh-CN" sz="2400" dirty="0"/>
              <a:t> wave of parallel user requests pipelined</a:t>
            </a:r>
          </a:p>
          <a:p>
            <a:pPr algn="ctr"/>
            <a:r>
              <a:rPr lang="zh-CN" altLang="en-US" sz="2400" dirty="0"/>
              <a:t>同时第四波并行用户请求流水进入</a:t>
            </a:r>
            <a:endParaRPr lang="en-US" altLang="zh-CN" sz="24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6FD5F83-C5C4-E080-4E19-11E8F9B62768}"/>
              </a:ext>
            </a:extLst>
          </p:cNvPr>
          <p:cNvGrpSpPr/>
          <p:nvPr/>
        </p:nvGrpSpPr>
        <p:grpSpPr>
          <a:xfrm>
            <a:off x="2916947" y="3045978"/>
            <a:ext cx="954118" cy="1268467"/>
            <a:chOff x="2122456" y="2666140"/>
            <a:chExt cx="954118" cy="1268467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1B086DB7-2E1B-C1FE-DAE5-CC1E52EC4C91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rgbClr val="EFE5D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CA14599F-65D9-913B-445C-E0965F85AD5D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rgbClr val="EFE5D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F9B65ACA-A3A2-5840-C25C-3BC3761C6F97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rgbClr val="EFE5D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DCBA604-669F-733D-A4D6-2003EFB2BC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217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CE8F-E98C-F064-1FB1-707D4CB2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532B-02C8-E1D8-F686-A425CBD2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Hosting a Service  </a:t>
            </a:r>
            <a:r>
              <a:rPr lang="zh-CN" altLang="en-US" dirty="0"/>
              <a:t>提供服务</a:t>
            </a:r>
            <a:endParaRPr lang="zh-CN" altLang="en-US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591161-6AB3-D1BA-9567-97265B07BE6F}"/>
              </a:ext>
            </a:extLst>
          </p:cNvPr>
          <p:cNvSpPr txBox="1"/>
          <p:nvPr/>
        </p:nvSpPr>
        <p:spPr>
          <a:xfrm>
            <a:off x="3246057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Front-end servers  </a:t>
            </a:r>
          </a:p>
          <a:p>
            <a:pPr algn="ctr"/>
            <a:r>
              <a:rPr lang="zh-CN" altLang="en-US" sz="2400" dirty="0"/>
              <a:t>前端服务器</a:t>
            </a:r>
            <a:endParaRPr lang="en-US" altLang="zh-CN" sz="2400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7E1C15F-A947-1765-C46D-87785B0352E0}"/>
              </a:ext>
            </a:extLst>
          </p:cNvPr>
          <p:cNvGrpSpPr/>
          <p:nvPr/>
        </p:nvGrpSpPr>
        <p:grpSpPr>
          <a:xfrm>
            <a:off x="3969957" y="2151628"/>
            <a:ext cx="1371600" cy="2743200"/>
            <a:chOff x="2819400" y="1752600"/>
            <a:chExt cx="1371600" cy="2743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AD7C847-3153-9454-77AD-6FA92141A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23C96B2B-4CFC-91C5-848B-A8AB6EB0C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7D2013BE-9871-CB9C-90F1-3E0849474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C9E5DC1-AEB3-DE16-BECD-0C17F9873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AFD8C6E-6095-B6FB-8792-9F19382629A4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3F22A02-9F6F-0E6C-7155-FD7D5F424D0B}"/>
              </a:ext>
            </a:extLst>
          </p:cNvPr>
          <p:cNvGrpSpPr/>
          <p:nvPr/>
        </p:nvGrpSpPr>
        <p:grpSpPr>
          <a:xfrm>
            <a:off x="6921628" y="2151628"/>
            <a:ext cx="1371600" cy="2743200"/>
            <a:chOff x="2819400" y="1752600"/>
            <a:chExt cx="1371600" cy="2743200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16B393C-AFFD-C6B4-581D-820D4D4A8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016268"/>
              <a:ext cx="927864" cy="400106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44F8529B-FE55-751A-F447-C46A59199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2614050"/>
              <a:ext cx="927864" cy="400106"/>
            </a:xfrm>
            <a:prstGeom prst="rect">
              <a:avLst/>
            </a:prstGeom>
          </p:spPr>
        </p:pic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B9FB51DA-2F58-3FAD-7765-86ED94A82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51180" y="3207631"/>
              <a:ext cx="927864" cy="40010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9296BE8E-CB84-D68F-8057-7D559C3C8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48000" y="3800546"/>
              <a:ext cx="927864" cy="400106"/>
            </a:xfrm>
            <a:prstGeom prst="rect">
              <a:avLst/>
            </a:prstGeom>
          </p:spPr>
        </p:pic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96D83ED-776E-A662-CA3A-23EB81633975}"/>
                </a:ext>
              </a:extLst>
            </p:cNvPr>
            <p:cNvSpPr/>
            <p:nvPr/>
          </p:nvSpPr>
          <p:spPr bwMode="auto">
            <a:xfrm>
              <a:off x="2819400" y="1752600"/>
              <a:ext cx="1371600" cy="27432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DB7DD55F-DD82-4C81-EB45-CA91B0F0EFBB}"/>
              </a:ext>
            </a:extLst>
          </p:cNvPr>
          <p:cNvSpPr txBox="1"/>
          <p:nvPr/>
        </p:nvSpPr>
        <p:spPr>
          <a:xfrm>
            <a:off x="6197728" y="5276980"/>
            <a:ext cx="281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Back-end servers  </a:t>
            </a:r>
          </a:p>
          <a:p>
            <a:pPr algn="ctr"/>
            <a:r>
              <a:rPr lang="zh-CN" altLang="en-US" sz="2400" dirty="0"/>
              <a:t>后端服务器</a:t>
            </a:r>
            <a:endParaRPr lang="en-US" altLang="zh-CN" sz="2400" dirty="0"/>
          </a:p>
        </p:txBody>
      </p:sp>
      <p:sp>
        <p:nvSpPr>
          <p:cNvPr id="29" name="Arrow: Curved Left 28">
            <a:extLst>
              <a:ext uri="{FF2B5EF4-FFF2-40B4-BE49-F238E27FC236}">
                <a16:creationId xmlns:a16="http://schemas.microsoft.com/office/drawing/2014/main" id="{81B9C33A-E69A-E1B8-40EE-B41FE1ED6473}"/>
              </a:ext>
            </a:extLst>
          </p:cNvPr>
          <p:cNvSpPr/>
          <p:nvPr/>
        </p:nvSpPr>
        <p:spPr bwMode="auto">
          <a:xfrm>
            <a:off x="4582051" y="2533187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Arrow: Curved Left 30">
            <a:extLst>
              <a:ext uri="{FF2B5EF4-FFF2-40B4-BE49-F238E27FC236}">
                <a16:creationId xmlns:a16="http://schemas.microsoft.com/office/drawing/2014/main" id="{68E8B6E3-80E1-0C28-0ADF-A6CFDFA18185}"/>
              </a:ext>
            </a:extLst>
          </p:cNvPr>
          <p:cNvSpPr/>
          <p:nvPr/>
        </p:nvSpPr>
        <p:spPr bwMode="auto">
          <a:xfrm>
            <a:off x="4558015" y="3163594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7C16A604-9A03-DC55-7620-F97EDCA1CBB0}"/>
              </a:ext>
            </a:extLst>
          </p:cNvPr>
          <p:cNvSpPr/>
          <p:nvPr/>
        </p:nvSpPr>
        <p:spPr bwMode="auto">
          <a:xfrm>
            <a:off x="4558015" y="3697139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AEF04F0F-7E64-A927-1400-6C34AB7F4C40}"/>
              </a:ext>
            </a:extLst>
          </p:cNvPr>
          <p:cNvSpPr/>
          <p:nvPr/>
        </p:nvSpPr>
        <p:spPr bwMode="auto">
          <a:xfrm>
            <a:off x="4565982" y="4340263"/>
            <a:ext cx="291965" cy="304800"/>
          </a:xfrm>
          <a:prstGeom prst="curvedLeftArrow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3C114B-42AF-2A59-1123-D7D59914AA70}"/>
              </a:ext>
            </a:extLst>
          </p:cNvPr>
          <p:cNvGrpSpPr/>
          <p:nvPr/>
        </p:nvGrpSpPr>
        <p:grpSpPr>
          <a:xfrm rot="10800000">
            <a:off x="5699477" y="2232137"/>
            <a:ext cx="984827" cy="2299745"/>
            <a:chOff x="5188264" y="2218199"/>
            <a:chExt cx="984827" cy="2299745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02B79CD-9A7E-3BB8-037A-00C66FE97935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9F540CFF-1228-914D-57FB-294FD7B4CC3C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0E76E4E7-D02B-4DA5-97B3-7C94E092F815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FF5BFA91-AE49-0C54-388A-F65341C3CF85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D8D8A3D3-1F27-48CE-BE36-0D8B217A5B6F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FCEA08EC-6A9B-6F10-3126-32DDC36585EC}"/>
              </a:ext>
            </a:extLst>
          </p:cNvPr>
          <p:cNvSpPr/>
          <p:nvPr/>
        </p:nvSpPr>
        <p:spPr bwMode="auto">
          <a:xfrm>
            <a:off x="4474206" y="2475630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E5E6534C-F477-D05A-23B4-CDD76EFD9663}"/>
              </a:ext>
            </a:extLst>
          </p:cNvPr>
          <p:cNvSpPr/>
          <p:nvPr/>
        </p:nvSpPr>
        <p:spPr bwMode="auto">
          <a:xfrm>
            <a:off x="4482395" y="3101806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1" name="Arrow: Curved Left 40">
            <a:extLst>
              <a:ext uri="{FF2B5EF4-FFF2-40B4-BE49-F238E27FC236}">
                <a16:creationId xmlns:a16="http://schemas.microsoft.com/office/drawing/2014/main" id="{97F47F51-DA52-4CE3-1FB5-364C1C45C503}"/>
              </a:ext>
            </a:extLst>
          </p:cNvPr>
          <p:cNvSpPr/>
          <p:nvPr/>
        </p:nvSpPr>
        <p:spPr bwMode="auto">
          <a:xfrm>
            <a:off x="4462588" y="3663922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87293C8A-24DE-7A0C-6469-CD4C3007665A}"/>
              </a:ext>
            </a:extLst>
          </p:cNvPr>
          <p:cNvSpPr/>
          <p:nvPr/>
        </p:nvSpPr>
        <p:spPr bwMode="auto">
          <a:xfrm>
            <a:off x="4474205" y="4282668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DCADEC-9BE2-A488-839F-EE7275BEA356}"/>
              </a:ext>
            </a:extLst>
          </p:cNvPr>
          <p:cNvGrpSpPr/>
          <p:nvPr/>
        </p:nvGrpSpPr>
        <p:grpSpPr>
          <a:xfrm>
            <a:off x="5740015" y="2415296"/>
            <a:ext cx="984827" cy="2299745"/>
            <a:chOff x="5188264" y="2218199"/>
            <a:chExt cx="984827" cy="2299745"/>
          </a:xfrm>
        </p:grpSpPr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2FA7A553-28E6-04BE-1255-10DE1819E55B}"/>
                </a:ext>
              </a:extLst>
            </p:cNvPr>
            <p:cNvSpPr/>
            <p:nvPr/>
          </p:nvSpPr>
          <p:spPr bwMode="auto">
            <a:xfrm>
              <a:off x="5199126" y="2760759"/>
              <a:ext cx="969389" cy="19709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DA147413-6F38-4913-4806-CAE1A9153130}"/>
                </a:ext>
              </a:extLst>
            </p:cNvPr>
            <p:cNvSpPr/>
            <p:nvPr/>
          </p:nvSpPr>
          <p:spPr bwMode="auto">
            <a:xfrm>
              <a:off x="5192841" y="2218199"/>
              <a:ext cx="975675" cy="19709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7454F6E1-5D80-4477-C6CB-C1F8768736BC}"/>
                </a:ext>
              </a:extLst>
            </p:cNvPr>
            <p:cNvSpPr/>
            <p:nvPr/>
          </p:nvSpPr>
          <p:spPr bwMode="auto">
            <a:xfrm>
              <a:off x="5199127" y="3303318"/>
              <a:ext cx="969388" cy="17092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BE139619-9E40-87FD-C7B4-451AFEE67600}"/>
                </a:ext>
              </a:extLst>
            </p:cNvPr>
            <p:cNvSpPr/>
            <p:nvPr/>
          </p:nvSpPr>
          <p:spPr bwMode="auto">
            <a:xfrm>
              <a:off x="5188264" y="3827158"/>
              <a:ext cx="980251" cy="17092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E2A4DB1C-E145-3B1E-5742-2B689213A32A}"/>
                </a:ext>
              </a:extLst>
            </p:cNvPr>
            <p:cNvSpPr/>
            <p:nvPr/>
          </p:nvSpPr>
          <p:spPr bwMode="auto">
            <a:xfrm>
              <a:off x="5192840" y="4347016"/>
              <a:ext cx="980251" cy="170928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D8868D-379B-EEBF-2891-480D8D31F8BF}"/>
              </a:ext>
            </a:extLst>
          </p:cNvPr>
          <p:cNvGrpSpPr/>
          <p:nvPr/>
        </p:nvGrpSpPr>
        <p:grpSpPr>
          <a:xfrm>
            <a:off x="2916947" y="3045978"/>
            <a:ext cx="954118" cy="1268467"/>
            <a:chOff x="2122456" y="2666140"/>
            <a:chExt cx="954118" cy="1268467"/>
          </a:xfrm>
        </p:grpSpPr>
        <p:sp>
          <p:nvSpPr>
            <p:cNvPr id="25" name="Arrow: Right 24">
              <a:extLst>
                <a:ext uri="{FF2B5EF4-FFF2-40B4-BE49-F238E27FC236}">
                  <a16:creationId xmlns:a16="http://schemas.microsoft.com/office/drawing/2014/main" id="{35AA6C2D-D10C-12CB-E42D-58F7C6693B1C}"/>
                </a:ext>
              </a:extLst>
            </p:cNvPr>
            <p:cNvSpPr/>
            <p:nvPr/>
          </p:nvSpPr>
          <p:spPr bwMode="auto">
            <a:xfrm>
              <a:off x="2133600" y="3200400"/>
              <a:ext cx="942974" cy="203130"/>
            </a:xfrm>
            <a:prstGeom prst="rightArrow">
              <a:avLst/>
            </a:prstGeom>
            <a:solidFill>
              <a:srgbClr val="EFE5D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7" name="Arrow: Right 26">
              <a:extLst>
                <a:ext uri="{FF2B5EF4-FFF2-40B4-BE49-F238E27FC236}">
                  <a16:creationId xmlns:a16="http://schemas.microsoft.com/office/drawing/2014/main" id="{36DC3BAC-B2BE-31E5-2607-AAA5D058323B}"/>
                </a:ext>
              </a:extLst>
            </p:cNvPr>
            <p:cNvSpPr/>
            <p:nvPr/>
          </p:nvSpPr>
          <p:spPr bwMode="auto">
            <a:xfrm>
              <a:off x="2122456" y="2666140"/>
              <a:ext cx="954118" cy="203131"/>
            </a:xfrm>
            <a:prstGeom prst="rightArrow">
              <a:avLst/>
            </a:prstGeom>
            <a:solidFill>
              <a:srgbClr val="EFE5D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6DCCCC7-74F7-A7E3-2A72-17382C56415D}"/>
                </a:ext>
              </a:extLst>
            </p:cNvPr>
            <p:cNvSpPr/>
            <p:nvPr/>
          </p:nvSpPr>
          <p:spPr bwMode="auto">
            <a:xfrm>
              <a:off x="2133600" y="3742960"/>
              <a:ext cx="942974" cy="191647"/>
            </a:xfrm>
            <a:prstGeom prst="rightArrow">
              <a:avLst/>
            </a:prstGeom>
            <a:solidFill>
              <a:srgbClr val="EFE5D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44650B63-4B63-75E9-8281-9AF95BC0F22D}"/>
              </a:ext>
            </a:extLst>
          </p:cNvPr>
          <p:cNvSpPr/>
          <p:nvPr/>
        </p:nvSpPr>
        <p:spPr bwMode="auto">
          <a:xfrm>
            <a:off x="7517558" y="2441281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Arrow: Curved Left 19">
            <a:extLst>
              <a:ext uri="{FF2B5EF4-FFF2-40B4-BE49-F238E27FC236}">
                <a16:creationId xmlns:a16="http://schemas.microsoft.com/office/drawing/2014/main" id="{B7D5A123-D910-71C0-E474-8EF66AE35B82}"/>
              </a:ext>
            </a:extLst>
          </p:cNvPr>
          <p:cNvSpPr/>
          <p:nvPr/>
        </p:nvSpPr>
        <p:spPr bwMode="auto">
          <a:xfrm>
            <a:off x="7488902" y="3048000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2" name="Arrow: Curved Left 31">
            <a:extLst>
              <a:ext uri="{FF2B5EF4-FFF2-40B4-BE49-F238E27FC236}">
                <a16:creationId xmlns:a16="http://schemas.microsoft.com/office/drawing/2014/main" id="{F7B1F78C-4DE4-5FCC-628B-1E915CD15DE9}"/>
              </a:ext>
            </a:extLst>
          </p:cNvPr>
          <p:cNvSpPr/>
          <p:nvPr/>
        </p:nvSpPr>
        <p:spPr bwMode="auto">
          <a:xfrm>
            <a:off x="7488902" y="3621996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7" name="Arrow: Curved Left 36">
            <a:extLst>
              <a:ext uri="{FF2B5EF4-FFF2-40B4-BE49-F238E27FC236}">
                <a16:creationId xmlns:a16="http://schemas.microsoft.com/office/drawing/2014/main" id="{497A6120-B688-1B31-A330-71F42C96A2A3}"/>
              </a:ext>
            </a:extLst>
          </p:cNvPr>
          <p:cNvSpPr/>
          <p:nvPr/>
        </p:nvSpPr>
        <p:spPr bwMode="auto">
          <a:xfrm>
            <a:off x="7488902" y="4233463"/>
            <a:ext cx="291965" cy="304800"/>
          </a:xfrm>
          <a:prstGeom prst="curvedLeftArrow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9" name="Arrow: Curved Left 38">
            <a:extLst>
              <a:ext uri="{FF2B5EF4-FFF2-40B4-BE49-F238E27FC236}">
                <a16:creationId xmlns:a16="http://schemas.microsoft.com/office/drawing/2014/main" id="{8F43E586-8117-C5D7-B106-CA68F4B76565}"/>
              </a:ext>
            </a:extLst>
          </p:cNvPr>
          <p:cNvSpPr/>
          <p:nvPr/>
        </p:nvSpPr>
        <p:spPr bwMode="auto">
          <a:xfrm>
            <a:off x="4608570" y="2423899"/>
            <a:ext cx="291965" cy="304800"/>
          </a:xfrm>
          <a:prstGeom prst="curvedLeftArrow">
            <a:avLst/>
          </a:prstGeom>
          <a:solidFill>
            <a:srgbClr val="EFE5D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7" name="Arrow: Curved Left 46">
            <a:extLst>
              <a:ext uri="{FF2B5EF4-FFF2-40B4-BE49-F238E27FC236}">
                <a16:creationId xmlns:a16="http://schemas.microsoft.com/office/drawing/2014/main" id="{AB177EC1-A1B7-D2E4-B669-1752C859A2E7}"/>
              </a:ext>
            </a:extLst>
          </p:cNvPr>
          <p:cNvSpPr/>
          <p:nvPr/>
        </p:nvSpPr>
        <p:spPr bwMode="auto">
          <a:xfrm>
            <a:off x="4558014" y="3042097"/>
            <a:ext cx="291965" cy="304800"/>
          </a:xfrm>
          <a:prstGeom prst="curvedLeftArrow">
            <a:avLst/>
          </a:prstGeom>
          <a:solidFill>
            <a:srgbClr val="EFE5D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9" name="Arrow: Curved Left 48">
            <a:extLst>
              <a:ext uri="{FF2B5EF4-FFF2-40B4-BE49-F238E27FC236}">
                <a16:creationId xmlns:a16="http://schemas.microsoft.com/office/drawing/2014/main" id="{9E6A045B-92E4-5778-6AE4-ABFE51CD2FD0}"/>
              </a:ext>
            </a:extLst>
          </p:cNvPr>
          <p:cNvSpPr/>
          <p:nvPr/>
        </p:nvSpPr>
        <p:spPr bwMode="auto">
          <a:xfrm>
            <a:off x="4568140" y="3609083"/>
            <a:ext cx="291965" cy="304800"/>
          </a:xfrm>
          <a:prstGeom prst="curvedLeftArrow">
            <a:avLst/>
          </a:prstGeom>
          <a:solidFill>
            <a:srgbClr val="EFE5D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1" name="Arrow: Curved Left 50">
            <a:extLst>
              <a:ext uri="{FF2B5EF4-FFF2-40B4-BE49-F238E27FC236}">
                <a16:creationId xmlns:a16="http://schemas.microsoft.com/office/drawing/2014/main" id="{344BE831-2AB0-DA05-6530-C4AC1B0089DE}"/>
              </a:ext>
            </a:extLst>
          </p:cNvPr>
          <p:cNvSpPr/>
          <p:nvPr/>
        </p:nvSpPr>
        <p:spPr bwMode="auto">
          <a:xfrm>
            <a:off x="4565982" y="4245206"/>
            <a:ext cx="291965" cy="304800"/>
          </a:xfrm>
          <a:prstGeom prst="curvedLeftArrow">
            <a:avLst/>
          </a:prstGeom>
          <a:solidFill>
            <a:srgbClr val="EFE5D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DD137A7-7FE6-CFFB-8D94-F1C7EA9ED85D}"/>
              </a:ext>
            </a:extLst>
          </p:cNvPr>
          <p:cNvSpPr txBox="1"/>
          <p:nvPr/>
        </p:nvSpPr>
        <p:spPr>
          <a:xfrm>
            <a:off x="-42349" y="1715931"/>
            <a:ext cx="33202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Requests processed in front-end &amp; back-end servers, pipelined &amp; in parallel</a:t>
            </a:r>
          </a:p>
          <a:p>
            <a:pPr algn="ctr"/>
            <a:r>
              <a:rPr lang="zh-CN" altLang="en-US" sz="2400" dirty="0"/>
              <a:t>请求被前后端服务器处理，并行并流水线化</a:t>
            </a:r>
            <a:endParaRPr lang="en-US" altLang="zh-CN" sz="2400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0D65E06-1C91-8798-AA84-B369EFEB8F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82749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B6C49-7B43-2073-4000-616F40C7B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6B516-6F02-87D4-BB48-103F9570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Parallelism Is Not Free</a:t>
            </a:r>
            <a:br>
              <a:rPr lang="en-US" altLang="zh-CN" dirty="0"/>
            </a:br>
            <a:r>
              <a:rPr lang="zh-CN" altLang="en-US" dirty="0"/>
              <a:t>并行并非全无代价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53F74-C27B-3C6A-61BF-AC93EFF2A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Cross-Worker Communication  </a:t>
            </a:r>
            <a:br>
              <a:rPr lang="en-US" altLang="zh-CN" dirty="0"/>
            </a:br>
            <a:r>
              <a:rPr lang="zh-CN" altLang="en-US" dirty="0"/>
              <a:t>工作单元间</a:t>
            </a:r>
            <a:r>
              <a:rPr lang="zh-CN" altLang="en-US"/>
              <a:t>通讯</a:t>
            </a:r>
            <a:endParaRPr lang="en-US" altLang="zh-CN" dirty="0"/>
          </a:p>
          <a:p>
            <a:pPr lvl="1"/>
            <a:r>
              <a:rPr lang="en-US" altLang="zh-CN" dirty="0"/>
              <a:t>Synchronization  </a:t>
            </a:r>
            <a:r>
              <a:rPr lang="zh-CN" altLang="en-US" dirty="0"/>
              <a:t>同步</a:t>
            </a:r>
            <a:endParaRPr lang="en-US" altLang="zh-CN" dirty="0"/>
          </a:p>
          <a:p>
            <a:pPr lvl="1"/>
            <a:r>
              <a:rPr lang="en-US" altLang="zh-CN" dirty="0"/>
              <a:t>Data exchange  </a:t>
            </a:r>
            <a:r>
              <a:rPr lang="zh-CN" altLang="en-US" dirty="0"/>
              <a:t>数据交换</a:t>
            </a:r>
            <a:r>
              <a:rPr lang="en-US" altLang="zh-CN" dirty="0"/>
              <a:t>  </a:t>
            </a:r>
          </a:p>
          <a:p>
            <a:r>
              <a:rPr lang="en-US" altLang="zh-CN" dirty="0"/>
              <a:t>Resource Contention  </a:t>
            </a:r>
            <a:r>
              <a:rPr lang="zh-CN" altLang="en-US" dirty="0"/>
              <a:t>资源冲突</a:t>
            </a:r>
            <a:endParaRPr lang="en-US" altLang="zh-CN" dirty="0"/>
          </a:p>
          <a:p>
            <a:pPr lvl="1"/>
            <a:r>
              <a:rPr lang="en-US" altLang="zh-CN" dirty="0"/>
              <a:t>Shared components on the same platform </a:t>
            </a:r>
            <a:br>
              <a:rPr lang="en-US" altLang="zh-CN" dirty="0"/>
            </a:br>
            <a:r>
              <a:rPr lang="zh-CN" altLang="en-US" dirty="0"/>
              <a:t>同一个平台上的共享组件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C29A93B-85BC-527A-5B9B-180A8711E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627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4A24D-0E62-9FCC-5DA1-BAB4F4ACA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E5140-4F14-C1B9-5D41-95B78DFE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Parallelism Paradigm</a:t>
            </a:r>
            <a:br>
              <a:rPr lang="en-US" altLang="zh-CN" dirty="0"/>
            </a:br>
            <a:r>
              <a:rPr lang="zh-CN" altLang="en-US" dirty="0"/>
              <a:t>并行范式</a:t>
            </a:r>
            <a:endParaRPr lang="zh-CN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CBC6D-CE94-9773-B239-56C5D2161064}"/>
              </a:ext>
            </a:extLst>
          </p:cNvPr>
          <p:cNvSpPr txBox="1"/>
          <p:nvPr/>
        </p:nvSpPr>
        <p:spPr>
          <a:xfrm>
            <a:off x="415290" y="2057400"/>
            <a:ext cx="83134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A simple introduction here for the ideas</a:t>
            </a:r>
          </a:p>
          <a:p>
            <a:pPr algn="ctr"/>
            <a:r>
              <a:rPr lang="zh-CN" altLang="en-US" sz="2800" dirty="0"/>
              <a:t>这是一个简单的</a:t>
            </a:r>
            <a:r>
              <a:rPr lang="zh-CN" altLang="en-US" sz="2800"/>
              <a:t>介绍以了</a:t>
            </a:r>
            <a:r>
              <a:rPr lang="zh-CN" altLang="en-US" sz="2800" dirty="0"/>
              <a:t>解其思想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82DAF-736A-09C9-EDC5-FED23DE3A04E}"/>
              </a:ext>
            </a:extLst>
          </p:cNvPr>
          <p:cNvSpPr txBox="1"/>
          <p:nvPr/>
        </p:nvSpPr>
        <p:spPr>
          <a:xfrm>
            <a:off x="1537740" y="3544431"/>
            <a:ext cx="60685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/>
              <a:t>In the future we’ll see how parallelism works elsewhere</a:t>
            </a:r>
          </a:p>
          <a:p>
            <a:pPr algn="ctr"/>
            <a:r>
              <a:rPr lang="zh-CN" altLang="en-US" sz="2800" dirty="0"/>
              <a:t>未来的课程中我们还会看到，</a:t>
            </a:r>
            <a:endParaRPr lang="en-US" altLang="zh-CN" sz="2800" dirty="0"/>
          </a:p>
          <a:p>
            <a:pPr algn="ctr"/>
            <a:r>
              <a:rPr lang="zh-CN" altLang="en-US" sz="2800" dirty="0"/>
              <a:t>并行在某处如何运作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6D1EC5D-4E5A-22AA-9D00-EAA0441C7B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4. More on Parallelism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4. </a:t>
            </a:r>
            <a:r>
              <a:rPr lang="zh-CN" altLang="en-US" dirty="0"/>
              <a:t>再谈并行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098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Props1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14814</TotalTime>
  <Words>4490</Words>
  <Application>Microsoft Office PowerPoint</Application>
  <PresentationFormat>On-screen Show (4:3)</PresentationFormat>
  <Paragraphs>452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How Computing Works -  Modern Paradigms of Architecture &amp; System 4. More on Parallelism</vt:lpstr>
      <vt:lpstr>From 1 Core to More Cores 从单核到多核</vt:lpstr>
      <vt:lpstr>Multicore Processor   多核处理器</vt:lpstr>
      <vt:lpstr>Practice 4.1  实践4.1</vt:lpstr>
      <vt:lpstr>Modern Multicore Processor 现代多核处理器 (1)</vt:lpstr>
      <vt:lpstr>Modern Multicore Processor 现代多核处理器 (1)</vt:lpstr>
      <vt:lpstr>Running Multithread Programs 运行多线程程序</vt:lpstr>
      <vt:lpstr>Our Program Is Simple 我们的程序很简单</vt:lpstr>
      <vt:lpstr>Our System Is Complex 我们的系统很复杂 (1)</vt:lpstr>
      <vt:lpstr>Our System Is Complex 我们的系统很复杂 (2)</vt:lpstr>
      <vt:lpstr>The Complex System 这个复杂的系统</vt:lpstr>
      <vt:lpstr>Demo: Thread Busy on 1 Core  演示：单核上繁忙的线程</vt:lpstr>
      <vt:lpstr>Demo: Thread Busy on 1 Core  演示：单核上线程忙碌</vt:lpstr>
      <vt:lpstr>Demo: Thread Busy on 1 Core  演示：单核上线程忙碌</vt:lpstr>
      <vt:lpstr>Demo: Thread Busy &amp; Idle 演示：线程忙碌然后闲置</vt:lpstr>
      <vt:lpstr>Demo: Thread Busy &amp; Idle 演示：线程忙碌然后闲置</vt:lpstr>
      <vt:lpstr>Demo: Load Balance 演示：负债均衡</vt:lpstr>
      <vt:lpstr>Demo: Load Balance 演示：负债均衡</vt:lpstr>
      <vt:lpstr>OS CPU Scheduler 操作系统CPU调度器</vt:lpstr>
      <vt:lpstr>Data Parallelism  数据并行 (1)</vt:lpstr>
      <vt:lpstr>Data Parallelism  数据并行 (2)</vt:lpstr>
      <vt:lpstr>Practice 4.2  实践4.2</vt:lpstr>
      <vt:lpstr>Divide &amp; Conquer  分而治之 (1)</vt:lpstr>
      <vt:lpstr>Divide &amp; Conquer  分而治之 (2)</vt:lpstr>
      <vt:lpstr>Practice 4.3  实践4.3</vt:lpstr>
      <vt:lpstr>Performance Improvement 性能提升</vt:lpstr>
      <vt:lpstr>Pipeline Parallelism   流水线并行 (1)</vt:lpstr>
      <vt:lpstr>Pipeline Parallelism   流水线并行 (1)</vt:lpstr>
      <vt:lpstr>Pipeline Parallelism   流水线并行 (1)</vt:lpstr>
      <vt:lpstr>Pipeline Parallelism   流水线并行 (1)</vt:lpstr>
      <vt:lpstr>Pipeline Parallelism   流水线并行 (1)</vt:lpstr>
      <vt:lpstr>Pipeline Parallelism   流水线并行 (1)</vt:lpstr>
      <vt:lpstr>Pipeline Parallelism   流水线并行 (2)</vt:lpstr>
      <vt:lpstr>Go beyond the Machine  超越一台机器</vt:lpstr>
      <vt:lpstr>Distributed Computing 分布式计算</vt:lpstr>
      <vt:lpstr>Running a Job  运行作业</vt:lpstr>
      <vt:lpstr>Hosting a Service  提供服务</vt:lpstr>
      <vt:lpstr>Hosting a Service  提供服务</vt:lpstr>
      <vt:lpstr>Hosting a Service  提供服务</vt:lpstr>
      <vt:lpstr>Hosting a Service  提供服务</vt:lpstr>
      <vt:lpstr>Hosting a Service  提供服务</vt:lpstr>
      <vt:lpstr>Hosting a Service  提供服务</vt:lpstr>
      <vt:lpstr>Hosting a Service  提供服务</vt:lpstr>
      <vt:lpstr>Hosting a Service  提供服务</vt:lpstr>
      <vt:lpstr>Parallelism Is Not Free 并行并非全无代价</vt:lpstr>
      <vt:lpstr>The Parallelism Paradigm 并行范式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1049</cp:revision>
  <dcterms:created xsi:type="dcterms:W3CDTF">2003-03-13T01:36:43Z</dcterms:created>
  <dcterms:modified xsi:type="dcterms:W3CDTF">2026-09-06T07:54:50Z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