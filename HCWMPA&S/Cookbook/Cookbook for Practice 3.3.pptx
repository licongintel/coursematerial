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9"/>
  </p:notesMasterIdLst>
  <p:handoutMasterIdLst>
    <p:handoutMasterId r:id="rId10"/>
  </p:handoutMasterIdLst>
  <p:sldIdLst>
    <p:sldId id="286" r:id="rId2"/>
    <p:sldId id="415" r:id="rId3"/>
    <p:sldId id="444" r:id="rId4"/>
    <p:sldId id="442" r:id="rId5"/>
    <p:sldId id="439" r:id="rId6"/>
    <p:sldId id="443" r:id="rId7"/>
    <p:sldId id="353" r:id="rId8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14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FDD5-6AFB-5B0B-8A09-17EC344B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65086-8C87-891E-02DB-3D91D8ACC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D1D963-C828-3C3C-7562-D29BC1CD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F52AA-8091-4222-2EAB-3EC5BAA9E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9057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D91A3-74E2-8C1B-8223-DB4DFDBAC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4EFBA-FF2C-38AF-3A58-B7445AB3A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8F52C-4090-2EA4-60A1-1425DA7AC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31EB5-3850-A114-5C1C-9FB0D03BD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9454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59EF2-24C4-DCFD-FE9A-965BE79A2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FE6F8-9183-39EB-564F-59E8D107E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533FD-C909-9BF1-736B-7FB8EA299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0F250-03E7-E2B2-4377-DEC62D9C2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86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7C72D-FBE6-F799-0E4D-98B25B2CA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3EBBD-1391-47F1-31A7-2CD0C832F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61CFC-1F94-9297-3D49-7DE323CF1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07FD2-AB3F-E49C-7040-937A2EC5C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8286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3.3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3.3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Initialization  </a:t>
            </a:r>
            <a:r>
              <a:rPr lang="zh-CN" altLang="en-US" dirty="0">
                <a:ea typeface="ＭＳ Ｐゴシック" panose="020B0600070205080204" pitchFamily="34" charset="-128"/>
              </a:rPr>
              <a:t>初始化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99CE4-F0B2-7EE2-3AD4-F0C8FC773C69}"/>
              </a:ext>
            </a:extLst>
          </p:cNvPr>
          <p:cNvSpPr txBox="1"/>
          <p:nvPr/>
        </p:nvSpPr>
        <p:spPr>
          <a:xfrm>
            <a:off x="213360" y="2362200"/>
            <a:ext cx="87172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another definition ‘ORIGINAL’ to represent the 16 different coefficients for ‘mu’</a:t>
            </a:r>
            <a:br>
              <a:rPr lang="en-US" altLang="zh-CN" sz="2200" dirty="0"/>
            </a:br>
            <a:r>
              <a:rPr lang="zh-CN" altLang="en-US" sz="2200" dirty="0"/>
              <a:t>加入另一个 </a:t>
            </a:r>
            <a:r>
              <a:rPr lang="en-US" altLang="zh-CN" sz="2200" dirty="0"/>
              <a:t>‘ORIGINAL’</a:t>
            </a:r>
            <a:r>
              <a:rPr lang="zh-CN" altLang="en-US" sz="2200" dirty="0"/>
              <a:t>作为预定义，代表</a:t>
            </a:r>
            <a:r>
              <a:rPr lang="en-US" altLang="zh-CN" sz="2200" dirty="0"/>
              <a:t>16</a:t>
            </a:r>
            <a:r>
              <a:rPr lang="zh-CN" altLang="en-US" sz="2200" dirty="0"/>
              <a:t>个不同的</a:t>
            </a:r>
            <a:r>
              <a:rPr lang="en-US" altLang="zh-CN" sz="2200" dirty="0"/>
              <a:t>’mu’</a:t>
            </a:r>
            <a:r>
              <a:rPr lang="zh-CN" altLang="en-US" sz="2200" dirty="0"/>
              <a:t>系数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447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Duplicate ‘vector.cpp’ as ‘pipeline.cpp’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</a:t>
            </a:r>
            <a:r>
              <a:rPr lang="en-US" altLang="zh-CN" sz="2200" dirty="0"/>
              <a:t>’vector.cpp’</a:t>
            </a:r>
            <a:r>
              <a:rPr lang="zh-CN" altLang="en-US" sz="2200"/>
              <a:t>复制为</a:t>
            </a:r>
            <a:r>
              <a:rPr lang="en-US" altLang="zh-CN" sz="2200" dirty="0"/>
              <a:t>’pipeline.cpp’</a:t>
            </a:r>
            <a:endParaRPr lang="zh-CN" alt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FA51B9-8F36-309D-52AB-FFA0C8157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05200"/>
            <a:ext cx="2286319" cy="5258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BD865D-1559-AFA1-D869-2F5C29B7F5E7}"/>
              </a:ext>
            </a:extLst>
          </p:cNvPr>
          <p:cNvSpPr/>
          <p:nvPr/>
        </p:nvSpPr>
        <p:spPr bwMode="auto">
          <a:xfrm>
            <a:off x="731520" y="3750502"/>
            <a:ext cx="2286319" cy="28055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5DC7B-DB10-5FCB-CDCA-D566D1C4EF3A}"/>
              </a:ext>
            </a:extLst>
          </p:cNvPr>
          <p:cNvSpPr txBox="1"/>
          <p:nvPr/>
        </p:nvSpPr>
        <p:spPr>
          <a:xfrm>
            <a:off x="89736" y="4268450"/>
            <a:ext cx="89645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Make the ‘SERIES’ definition changeable</a:t>
            </a:r>
            <a:r>
              <a:rPr lang="zh-CN" altLang="en-US" sz="2200" dirty="0"/>
              <a:t> </a:t>
            </a:r>
            <a:r>
              <a:rPr lang="en-US" altLang="zh-CN" sz="2200" dirty="0"/>
              <a:t>from compilation option to see how the execution time varies </a:t>
            </a:r>
            <a:r>
              <a:rPr lang="en-US" altLang="zh-CN" sz="2200" dirty="0" err="1"/>
              <a:t>w.r.t.</a:t>
            </a:r>
            <a:r>
              <a:rPr lang="en-US" altLang="zh-CN" sz="2200" dirty="0"/>
              <a:t> the number</a:t>
            </a:r>
            <a:br>
              <a:rPr lang="en-US" altLang="zh-CN" sz="2200" dirty="0"/>
            </a:br>
            <a:r>
              <a:rPr lang="zh-CN" altLang="en-US" sz="2200" dirty="0"/>
              <a:t>将</a:t>
            </a:r>
            <a:r>
              <a:rPr lang="en-US" altLang="zh-CN" sz="2200" dirty="0"/>
              <a:t>‘SERIES’</a:t>
            </a:r>
            <a:r>
              <a:rPr lang="zh-CN" altLang="en-US" sz="2200" dirty="0"/>
              <a:t>的定义改为可以由编译选项输入，</a:t>
            </a:r>
            <a:br>
              <a:rPr lang="en-US" altLang="zh-CN" sz="2200" dirty="0"/>
            </a:br>
            <a:r>
              <a:rPr lang="zh-CN" altLang="en-US" sz="2200" dirty="0"/>
              <a:t>以便观察执行时间如何随这个数值变化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FF0232-7C68-55DB-9103-868A23D4A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67298"/>
            <a:ext cx="2046256" cy="7659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B06690F-1101-E0DE-0135-B16494A89744}"/>
              </a:ext>
            </a:extLst>
          </p:cNvPr>
          <p:cNvSpPr/>
          <p:nvPr/>
        </p:nvSpPr>
        <p:spPr bwMode="auto">
          <a:xfrm>
            <a:off x="731521" y="5786872"/>
            <a:ext cx="1706880" cy="23292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CA8E8A-B258-D0C6-C300-1ED577CBA5F0}"/>
              </a:ext>
            </a:extLst>
          </p:cNvPr>
          <p:cNvSpPr/>
          <p:nvPr/>
        </p:nvSpPr>
        <p:spPr bwMode="auto">
          <a:xfrm>
            <a:off x="731521" y="6284335"/>
            <a:ext cx="716279" cy="248879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 animBg="1"/>
      <p:bldP spid="7" grpId="0"/>
      <p:bldP spid="8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6D716-84EE-9B97-2335-1FD4F7487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2C5B0-6503-A3D0-2B4B-9886FF33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Initialization  </a:t>
            </a:r>
            <a:r>
              <a:rPr lang="zh-CN" altLang="en-US" dirty="0">
                <a:ea typeface="ＭＳ Ｐゴシック" panose="020B0600070205080204" pitchFamily="34" charset="-128"/>
              </a:rPr>
              <a:t>初始化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1A8A0E-AE0C-D246-FFB6-24976AAC001A}"/>
              </a:ext>
            </a:extLst>
          </p:cNvPr>
          <p:cNvSpPr txBox="1"/>
          <p:nvPr/>
        </p:nvSpPr>
        <p:spPr>
          <a:xfrm>
            <a:off x="3788061" y="2735759"/>
            <a:ext cx="15678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089E5D-9257-2F38-01AB-A4806A023CE6}"/>
              </a:ext>
            </a:extLst>
          </p:cNvPr>
          <p:cNvSpPr txBox="1"/>
          <p:nvPr/>
        </p:nvSpPr>
        <p:spPr>
          <a:xfrm>
            <a:off x="531341" y="1592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change the coefficient array initialization from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现在将系数数组初始化从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A5561-BE43-8AAB-7B68-CB1FE5526A23}"/>
              </a:ext>
            </a:extLst>
          </p:cNvPr>
          <p:cNvSpPr txBox="1"/>
          <p:nvPr/>
        </p:nvSpPr>
        <p:spPr>
          <a:xfrm>
            <a:off x="867650" y="4031159"/>
            <a:ext cx="74086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Write another declaration for the ‘mu’ array</a:t>
            </a:r>
            <a:br>
              <a:rPr lang="en-US" altLang="zh-CN" sz="2200" dirty="0"/>
            </a:br>
            <a:r>
              <a:rPr lang="zh-CN" altLang="en-US" sz="2200" dirty="0"/>
              <a:t>另外对</a:t>
            </a:r>
            <a:r>
              <a:rPr lang="en-US" altLang="zh-CN" sz="2200" dirty="0"/>
              <a:t>’mu’</a:t>
            </a:r>
            <a:r>
              <a:rPr lang="zh-CN" altLang="en-US" sz="2200" dirty="0"/>
              <a:t>数组进行声明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7373D-4F42-EE9F-D8DA-FC0C666BA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96632"/>
            <a:ext cx="5212807" cy="2629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A69EF3-0A60-72AD-C508-A44B226DD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" y="3544958"/>
            <a:ext cx="6127336" cy="2857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3CB01D-6465-A9BB-38C8-ED7BD4EA1F0C}"/>
              </a:ext>
            </a:extLst>
          </p:cNvPr>
          <p:cNvCxnSpPr>
            <a:cxnSpLocks/>
          </p:cNvCxnSpPr>
          <p:nvPr/>
        </p:nvCxnSpPr>
        <p:spPr bwMode="auto">
          <a:xfrm>
            <a:off x="1600200" y="2536487"/>
            <a:ext cx="1143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Arrow: Down 12">
            <a:extLst>
              <a:ext uri="{FF2B5EF4-FFF2-40B4-BE49-F238E27FC236}">
                <a16:creationId xmlns:a16="http://schemas.microsoft.com/office/drawing/2014/main" id="{F00893D4-5C1D-2436-3861-0E1247C0DAA1}"/>
              </a:ext>
            </a:extLst>
          </p:cNvPr>
          <p:cNvSpPr/>
          <p:nvPr/>
        </p:nvSpPr>
        <p:spPr bwMode="auto">
          <a:xfrm>
            <a:off x="2300385" y="2745036"/>
            <a:ext cx="442815" cy="74492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BA1B70-55B7-BEA9-BA02-3582CC7A81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19" y="4800600"/>
            <a:ext cx="2743583" cy="52585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506ED27-C251-12E7-3C91-EF79102F4785}"/>
              </a:ext>
            </a:extLst>
          </p:cNvPr>
          <p:cNvSpPr/>
          <p:nvPr/>
        </p:nvSpPr>
        <p:spPr bwMode="auto">
          <a:xfrm>
            <a:off x="731520" y="4822675"/>
            <a:ext cx="2155614" cy="240391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1EAED7-0A8D-9B26-1DDE-F297BD50877B}"/>
              </a:ext>
            </a:extLst>
          </p:cNvPr>
          <p:cNvSpPr/>
          <p:nvPr/>
        </p:nvSpPr>
        <p:spPr bwMode="auto">
          <a:xfrm>
            <a:off x="1515533" y="3573423"/>
            <a:ext cx="2155614" cy="240391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748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3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7A9E5-014E-23D5-6239-1CE723A8A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6A9A69-DE75-F31E-BDDB-856A65C3F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76600"/>
            <a:ext cx="4584070" cy="16004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9C359C-BEB8-4B44-0C28-C3200C4C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Replicating Coefficients  </a:t>
            </a:r>
            <a:br>
              <a:rPr lang="en-US" altLang="zh-CN" dirty="0"/>
            </a:br>
            <a:r>
              <a:rPr lang="zh-CN" altLang="en-US" dirty="0"/>
              <a:t>复制系数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707967-1790-FE8F-8889-96030B77C7F2}"/>
              </a:ext>
            </a:extLst>
          </p:cNvPr>
          <p:cNvSpPr txBox="1"/>
          <p:nvPr/>
        </p:nvSpPr>
        <p:spPr>
          <a:xfrm>
            <a:off x="609600" y="1748862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start of the program, replicating the coefficients from ‘original’ to ‘mu’ based on the ‘SERIES’ value</a:t>
            </a:r>
          </a:p>
          <a:p>
            <a:pPr algn="ctr"/>
            <a:r>
              <a:rPr lang="zh-CN" altLang="en-US" sz="2200" dirty="0"/>
              <a:t>在程序开始处，根据</a:t>
            </a:r>
            <a:r>
              <a:rPr lang="en-US" altLang="zh-CN" sz="2200" dirty="0"/>
              <a:t>’SERIES’</a:t>
            </a:r>
            <a:r>
              <a:rPr lang="zh-CN" altLang="en-US" sz="2200" dirty="0"/>
              <a:t>的数值</a:t>
            </a:r>
            <a:br>
              <a:rPr lang="en-US" altLang="zh-CN" sz="2200" dirty="0"/>
            </a:br>
            <a:r>
              <a:rPr lang="zh-CN" altLang="en-US" sz="2200" dirty="0"/>
              <a:t>将系数从</a:t>
            </a:r>
            <a:r>
              <a:rPr lang="en-US" altLang="zh-CN" sz="2200" dirty="0"/>
              <a:t>’original’</a:t>
            </a:r>
            <a:r>
              <a:rPr lang="zh-CN" altLang="en-US" sz="2200" dirty="0"/>
              <a:t>复制到</a:t>
            </a:r>
            <a:r>
              <a:rPr lang="en-US" altLang="zh-CN" sz="2200" dirty="0"/>
              <a:t>’mu’</a:t>
            </a:r>
            <a:endParaRPr lang="zh-CN" altLang="en-US" sz="2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CDDB2-907C-0ED8-211B-32FF34B27A68}"/>
              </a:ext>
            </a:extLst>
          </p:cNvPr>
          <p:cNvSpPr/>
          <p:nvPr/>
        </p:nvSpPr>
        <p:spPr bwMode="auto">
          <a:xfrm>
            <a:off x="1155020" y="3810567"/>
            <a:ext cx="4160570" cy="1066456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062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A38A1-9197-AB84-31DA-A0DA5575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038B-E340-B4C2-2178-C87D35C1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Selective Output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选择性输出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EF7DDD-2AE2-94FE-DB51-E9FADC94A138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start of the file, include ‘</a:t>
            </a:r>
            <a:r>
              <a:rPr lang="en-US" altLang="zh-CN" sz="2200" dirty="0" err="1"/>
              <a:t>stdlib.h</a:t>
            </a:r>
            <a:r>
              <a:rPr lang="en-US" altLang="zh-CN" sz="2200" dirty="0"/>
              <a:t>’ header</a:t>
            </a:r>
          </a:p>
          <a:p>
            <a:pPr algn="ctr"/>
            <a:r>
              <a:rPr lang="zh-CN" altLang="en-US" sz="2200" dirty="0"/>
              <a:t>在最开始处，引用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stdlib.h</a:t>
            </a:r>
            <a:r>
              <a:rPr lang="en-US" altLang="zh-CN" sz="2200" dirty="0"/>
              <a:t>’</a:t>
            </a:r>
            <a:r>
              <a:rPr lang="zh-CN" altLang="en-US" sz="2200" dirty="0"/>
              <a:t>头文件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C5BBA1-5790-F533-E79F-E03696163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0"/>
            <a:ext cx="2309183" cy="5487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012365B-C6DB-4D0B-9D77-F5EB2A9F0493}"/>
              </a:ext>
            </a:extLst>
          </p:cNvPr>
          <p:cNvSpPr/>
          <p:nvPr/>
        </p:nvSpPr>
        <p:spPr bwMode="auto">
          <a:xfrm>
            <a:off x="731519" y="2579009"/>
            <a:ext cx="2309183" cy="25570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30153D-8245-7041-2689-EB89833E8B9D}"/>
              </a:ext>
            </a:extLst>
          </p:cNvPr>
          <p:cNvSpPr txBox="1"/>
          <p:nvPr/>
        </p:nvSpPr>
        <p:spPr>
          <a:xfrm>
            <a:off x="213360" y="3048000"/>
            <a:ext cx="87172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Before the result output, randomly select a replica, calculate </a:t>
            </a:r>
          </a:p>
          <a:p>
            <a:pPr algn="ctr"/>
            <a:r>
              <a:rPr lang="en-US" altLang="zh-CN" sz="2200" dirty="0"/>
              <a:t>the starting index offset, &amp; limit the output series number</a:t>
            </a:r>
          </a:p>
          <a:p>
            <a:pPr algn="ctr"/>
            <a:r>
              <a:rPr lang="zh-CN" altLang="en-US" sz="2200" dirty="0"/>
              <a:t>在结果输出前，随机选择输出的副本，</a:t>
            </a:r>
            <a:endParaRPr lang="en-US" altLang="zh-CN" sz="2200" dirty="0"/>
          </a:p>
          <a:p>
            <a:pPr algn="ctr"/>
            <a:r>
              <a:rPr lang="zh-CN" altLang="en-US" sz="2200" dirty="0"/>
              <a:t>计算副本初始的下标，并限制输</a:t>
            </a:r>
            <a:r>
              <a:rPr lang="zh-CN" altLang="en-US" sz="2200"/>
              <a:t>出的序列的</a:t>
            </a:r>
            <a:r>
              <a:rPr lang="zh-CN" altLang="en-US" sz="2200" dirty="0"/>
              <a:t>数量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A44D873-96EF-62C3-5BF1-85867BD19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479574"/>
            <a:ext cx="6138767" cy="1520402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3D3FF92-7ACE-0705-52E1-2269CB59281E}"/>
              </a:ext>
            </a:extLst>
          </p:cNvPr>
          <p:cNvSpPr/>
          <p:nvPr/>
        </p:nvSpPr>
        <p:spPr bwMode="auto">
          <a:xfrm>
            <a:off x="1143000" y="4736634"/>
            <a:ext cx="6138767" cy="1022341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412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A9921-64B8-0CD4-5543-DCA48ED1A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44F06-CB52-03DB-953D-C3CC8BC1B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Selective Output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选择性输出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D4BEFC-8D58-1ACC-041D-AC2649DDAC9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Change the output from   </a:t>
            </a:r>
          </a:p>
          <a:p>
            <a:pPr algn="ctr"/>
            <a:r>
              <a:rPr lang="zh-CN" altLang="en-US" sz="2200" dirty="0"/>
              <a:t>将输出打印从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25345-F7D2-7DF8-964A-2D70C08AFF8B}"/>
              </a:ext>
            </a:extLst>
          </p:cNvPr>
          <p:cNvSpPr txBox="1"/>
          <p:nvPr/>
        </p:nvSpPr>
        <p:spPr>
          <a:xfrm>
            <a:off x="609600" y="32766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7535D0E-973B-E6EF-2E01-60F8790D81D5}"/>
              </a:ext>
            </a:extLst>
          </p:cNvPr>
          <p:cNvSpPr/>
          <p:nvPr/>
        </p:nvSpPr>
        <p:spPr bwMode="auto">
          <a:xfrm>
            <a:off x="3048000" y="3429000"/>
            <a:ext cx="475905" cy="6096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7D400-C5F9-A2CB-945D-E5BF99E669AE}"/>
              </a:ext>
            </a:extLst>
          </p:cNvPr>
          <p:cNvSpPr txBox="1"/>
          <p:nvPr/>
        </p:nvSpPr>
        <p:spPr>
          <a:xfrm>
            <a:off x="-222504" y="5410200"/>
            <a:ext cx="95890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Vary ‘SERIES’, compile &amp; run it  </a:t>
            </a:r>
            <a:r>
              <a:rPr lang="zh-CN" altLang="en-US" sz="2200" dirty="0"/>
              <a:t>改变</a:t>
            </a:r>
            <a:r>
              <a:rPr lang="en-US" altLang="zh-CN" sz="2200" dirty="0"/>
              <a:t>’SERIES’</a:t>
            </a:r>
            <a:r>
              <a:rPr lang="zh-CN" altLang="en-US" sz="2200" dirty="0"/>
              <a:t>的值，编译并运行之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SRC=pipeline.cpp NATIVE=1 EXTRA_CXXFLAGS="-DSERIES=</a:t>
            </a:r>
            <a:r>
              <a:rPr lang="en-US" altLang="zh-CN" sz="2200">
                <a:latin typeface="Consolas" panose="020B0609020204030204" pitchFamily="49" charset="0"/>
              </a:rPr>
              <a:t>4" -</a:t>
            </a:r>
            <a:r>
              <a:rPr lang="en-US" altLang="zh-CN" sz="2200" dirty="0">
                <a:latin typeface="Consolas" panose="020B0609020204030204" pitchFamily="49" charset="0"/>
              </a:rPr>
              <a:t>B</a:t>
            </a: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run-pipeline.exe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4A08C-76D0-4013-A8CC-008134777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2298548"/>
            <a:ext cx="4378301" cy="1040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C12189-E66E-6614-C682-301CE55FF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192" y="4114800"/>
            <a:ext cx="5395712" cy="106313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796C01-FC11-5DB1-54ED-8D95236F7A8A}"/>
              </a:ext>
            </a:extLst>
          </p:cNvPr>
          <p:cNvCxnSpPr>
            <a:cxnSpLocks/>
          </p:cNvCxnSpPr>
          <p:nvPr/>
        </p:nvCxnSpPr>
        <p:spPr bwMode="auto">
          <a:xfrm>
            <a:off x="3886200" y="2438400"/>
            <a:ext cx="6858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EA1C100-54E5-1148-F8C0-96497310039C}"/>
              </a:ext>
            </a:extLst>
          </p:cNvPr>
          <p:cNvSpPr/>
          <p:nvPr/>
        </p:nvSpPr>
        <p:spPr bwMode="auto">
          <a:xfrm>
            <a:off x="3886201" y="4177023"/>
            <a:ext cx="381000" cy="24257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F52CF6-2FDE-D3B2-DBBD-FFD76E74DDE8}"/>
              </a:ext>
            </a:extLst>
          </p:cNvPr>
          <p:cNvSpPr/>
          <p:nvPr/>
        </p:nvSpPr>
        <p:spPr bwMode="auto">
          <a:xfrm>
            <a:off x="5410200" y="4702982"/>
            <a:ext cx="1066800" cy="21191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196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 animBg="1"/>
      <p:bldP spid="9" grpId="0"/>
      <p:bldP spid="18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16007</TotalTime>
  <Words>432</Words>
  <Application>Microsoft Office PowerPoint</Application>
  <PresentationFormat>On-screen Show (4:3)</PresentationFormat>
  <Paragraphs>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3.3</vt:lpstr>
      <vt:lpstr>Initialization  初始化 (1)</vt:lpstr>
      <vt:lpstr>Initialization  初始化 (2)</vt:lpstr>
      <vt:lpstr>Replicating Coefficients   复制系数</vt:lpstr>
      <vt:lpstr>Selective Output   选择性输出 (1)</vt:lpstr>
      <vt:lpstr>Selective Output   选择性输出 (1)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1153</cp:revision>
  <dcterms:created xsi:type="dcterms:W3CDTF">2003-03-13T01:36:43Z</dcterms:created>
  <dcterms:modified xsi:type="dcterms:W3CDTF">2026-08-15T00:36:03Z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