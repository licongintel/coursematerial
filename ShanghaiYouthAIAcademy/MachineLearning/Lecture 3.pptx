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notesSlides/notesSlide12.xml" ContentType="application/vnd.openxmlformats-officedocument.presentationml.notesSlide+xml"/>
  <Override PartName="/ppt/tags/tag20.xml" ContentType="application/vnd.openxmlformats-officedocument.presentationml.tags+xml"/>
  <Override PartName="/ppt/notesSlides/notesSlide13.xml" ContentType="application/vnd.openxmlformats-officedocument.presentationml.notesSlide+xml"/>
  <Override PartName="/ppt/tags/tag21.xml" ContentType="application/vnd.openxmlformats-officedocument.presentationml.tags+xml"/>
  <Override PartName="/ppt/notesSlides/notesSlide14.xml" ContentType="application/vnd.openxmlformats-officedocument.presentationml.notesSlide+xml"/>
  <Override PartName="/ppt/tags/tag22.xml" ContentType="application/vnd.openxmlformats-officedocument.presentationml.tags+xml"/>
  <Override PartName="/ppt/notesSlides/notesSlide15.xml" ContentType="application/vnd.openxmlformats-officedocument.presentationml.notesSlide+xml"/>
  <Override PartName="/ppt/tags/tag23.xml" ContentType="application/vnd.openxmlformats-officedocument.presentationml.tags+xml"/>
  <Override PartName="/ppt/notesSlides/notesSlide16.xml" ContentType="application/vnd.openxmlformats-officedocument.presentationml.notesSlide+xml"/>
  <Override PartName="/ppt/tags/tag24.xml" ContentType="application/vnd.openxmlformats-officedocument.presentationml.tags+xml"/>
  <Override PartName="/ppt/notesSlides/notesSlide17.xml" ContentType="application/vnd.openxmlformats-officedocument.presentationml.notesSlide+xml"/>
  <Override PartName="/ppt/tags/tag25.xml" ContentType="application/vnd.openxmlformats-officedocument.presentationml.tags+xml"/>
  <Override PartName="/ppt/notesSlides/notesSlide18.xml" ContentType="application/vnd.openxmlformats-officedocument.presentationml.notesSlide+xml"/>
  <Override PartName="/ppt/tags/tag26.xml" ContentType="application/vnd.openxmlformats-officedocument.presentationml.tags+xml"/>
  <Override PartName="/ppt/notesSlides/notesSlide19.xml" ContentType="application/vnd.openxmlformats-officedocument.presentationml.notesSlide+xml"/>
  <Override PartName="/ppt/tags/tag27.xml" ContentType="application/vnd.openxmlformats-officedocument.presentationml.tags+xml"/>
  <Override PartName="/ppt/notesSlides/notesSlide20.xml" ContentType="application/vnd.openxmlformats-officedocument.presentationml.notesSlide+xml"/>
  <Override PartName="/ppt/tags/tag28.xml" ContentType="application/vnd.openxmlformats-officedocument.presentationml.tags+xml"/>
  <Override PartName="/ppt/notesSlides/notesSlide21.xml" ContentType="application/vnd.openxmlformats-officedocument.presentationml.notesSlide+xml"/>
  <Override PartName="/ppt/tags/tag29.xml" ContentType="application/vnd.openxmlformats-officedocument.presentationml.tags+xml"/>
  <Override PartName="/ppt/notesSlides/notesSlide22.xml" ContentType="application/vnd.openxmlformats-officedocument.presentationml.notesSlide+xml"/>
  <Override PartName="/ppt/tags/tag30.xml" ContentType="application/vnd.openxmlformats-officedocument.presentationml.tags+xml"/>
  <Override PartName="/ppt/notesSlides/notesSlide23.xml" ContentType="application/vnd.openxmlformats-officedocument.presentationml.notesSlide+xml"/>
  <Override PartName="/ppt/tags/tag31.xml" ContentType="application/vnd.openxmlformats-officedocument.presentationml.tags+xml"/>
  <Override PartName="/ppt/notesSlides/notesSlide24.xml" ContentType="application/vnd.openxmlformats-officedocument.presentationml.notesSlide+xml"/>
  <Override PartName="/ppt/tags/tag32.xml" ContentType="application/vnd.openxmlformats-officedocument.presentationml.tags+xml"/>
  <Override PartName="/ppt/notesSlides/notesSlide25.xml" ContentType="application/vnd.openxmlformats-officedocument.presentationml.notesSlide+xml"/>
  <Override PartName="/ppt/tags/tag33.xml" ContentType="application/vnd.openxmlformats-officedocument.presentationml.tags+xml"/>
  <Override PartName="/ppt/notesSlides/notesSlide26.xml" ContentType="application/vnd.openxmlformats-officedocument.presentationml.notesSlide+xml"/>
  <Override PartName="/ppt/tags/tag34.xml" ContentType="application/vnd.openxmlformats-officedocument.presentationml.tags+xml"/>
  <Override PartName="/ppt/notesSlides/notesSlide27.xml" ContentType="application/vnd.openxmlformats-officedocument.presentationml.notesSlide+xml"/>
  <Override PartName="/ppt/tags/tag35.xml" ContentType="application/vnd.openxmlformats-officedocument.presentationml.tags+xml"/>
  <Override PartName="/ppt/notesSlides/notesSlide28.xml" ContentType="application/vnd.openxmlformats-officedocument.presentationml.notesSlide+xml"/>
  <Override PartName="/ppt/tags/tag36.xml" ContentType="application/vnd.openxmlformats-officedocument.presentationml.tags+xml"/>
  <Override PartName="/ppt/notesSlides/notesSlide29.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30.xml" ContentType="application/vnd.openxmlformats-officedocument.presentationml.notesSlide+xml"/>
  <Override PartName="/ppt/tags/tag3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40.xml" ContentType="application/vnd.openxmlformats-officedocument.presentationml.tags+xml"/>
  <Override PartName="/ppt/notesSlides/notesSlide41.xml" ContentType="application/vnd.openxmlformats-officedocument.presentationml.notesSlide+xml"/>
  <Override PartName="/ppt/tags/tag41.xml" ContentType="application/vnd.openxmlformats-officedocument.presentationml.tags+xml"/>
  <Override PartName="/ppt/notesSlides/notesSlide42.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45.xml" ContentType="application/vnd.openxmlformats-officedocument.presentationml.tags+xml"/>
  <Override PartName="/ppt/notesSlides/notesSlide47.xml" ContentType="application/vnd.openxmlformats-officedocument.presentationml.notesSlide+xml"/>
  <Override PartName="/ppt/tags/tag46.xml" ContentType="application/vnd.openxmlformats-officedocument.presentationml.tags+xml"/>
  <Override PartName="/ppt/notesSlides/notesSlide48.xml" ContentType="application/vnd.openxmlformats-officedocument.presentationml.notesSlide+xml"/>
  <Override PartName="/ppt/tags/tag47.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48.xml" ContentType="application/vnd.openxmlformats-officedocument.presentationml.tags+xml"/>
  <Override PartName="/ppt/notesSlides/notesSlide52.xml" ContentType="application/vnd.openxmlformats-officedocument.presentationml.notesSlide+xml"/>
  <Override PartName="/ppt/tags/tag49.xml" ContentType="application/vnd.openxmlformats-officedocument.presentationml.tags+xml"/>
  <Override PartName="/ppt/notesSlides/notesSlide53.xml" ContentType="application/vnd.openxmlformats-officedocument.presentationml.notesSlide+xml"/>
  <Override PartName="/ppt/tags/tag50.xml" ContentType="application/vnd.openxmlformats-officedocument.presentationml.tags+xml"/>
  <Override PartName="/ppt/notesSlides/notesSlide54.xml" ContentType="application/vnd.openxmlformats-officedocument.presentationml.notesSlide+xml"/>
  <Override PartName="/ppt/tags/tag51.xml" ContentType="application/vnd.openxmlformats-officedocument.presentationml.tags+xml"/>
  <Override PartName="/ppt/notesSlides/notesSlide55.xml" ContentType="application/vnd.openxmlformats-officedocument.presentationml.notesSlide+xml"/>
  <Override PartName="/ppt/tags/tag52.xml" ContentType="application/vnd.openxmlformats-officedocument.presentationml.tags+xml"/>
  <Override PartName="/ppt/notesSlides/notesSlide56.xml" ContentType="application/vnd.openxmlformats-officedocument.presentationml.notesSlide+xml"/>
  <Override PartName="/ppt/tags/tag53.xml" ContentType="application/vnd.openxmlformats-officedocument.presentationml.tags+xml"/>
  <Override PartName="/ppt/notesSlides/notesSlide57.xml" ContentType="application/vnd.openxmlformats-officedocument.presentationml.notesSlide+xml"/>
  <Override PartName="/ppt/tags/tag54.xml" ContentType="application/vnd.openxmlformats-officedocument.presentationml.tags+xml"/>
  <Override PartName="/ppt/notesSlides/notesSlide58.xml" ContentType="application/vnd.openxmlformats-officedocument.presentationml.notesSlide+xml"/>
  <Override PartName="/ppt/tags/tag55.xml" ContentType="application/vnd.openxmlformats-officedocument.presentationml.tags+xml"/>
  <Override PartName="/ppt/notesSlides/notesSlide59.xml" ContentType="application/vnd.openxmlformats-officedocument.presentationml.notesSlide+xml"/>
  <Override PartName="/ppt/tags/tag56.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57.xml" ContentType="application/vnd.openxmlformats-officedocument.presentationml.tags+xml"/>
  <Override PartName="/ppt/notesSlides/notesSlide62.xml" ContentType="application/vnd.openxmlformats-officedocument.presentationml.notesSlide+xml"/>
  <Override PartName="/ppt/tags/tag58.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59.xml" ContentType="application/vnd.openxmlformats-officedocument.presentationml.tags+xml"/>
  <Override PartName="/ppt/notesSlides/notesSlide65.xml" ContentType="application/vnd.openxmlformats-officedocument.presentationml.notesSlide+xml"/>
  <Override PartName="/ppt/tags/tag60.xml" ContentType="application/vnd.openxmlformats-officedocument.presentationml.tags+xml"/>
  <Override PartName="/ppt/notesSlides/notesSlide66.xml" ContentType="application/vnd.openxmlformats-officedocument.presentationml.notesSlide+xml"/>
  <Override PartName="/ppt/tags/tag61.xml" ContentType="application/vnd.openxmlformats-officedocument.presentationml.tags+xml"/>
  <Override PartName="/ppt/notesSlides/notesSlide67.xml" ContentType="application/vnd.openxmlformats-officedocument.presentationml.notesSlide+xml"/>
  <Override PartName="/ppt/tags/tag62.xml" ContentType="application/vnd.openxmlformats-officedocument.presentationml.tags+xml"/>
  <Override PartName="/ppt/notesSlides/notesSlide68.xml" ContentType="application/vnd.openxmlformats-officedocument.presentationml.notesSlide+xml"/>
  <Override PartName="/ppt/tags/tag63.xml" ContentType="application/vnd.openxmlformats-officedocument.presentationml.tags+xml"/>
  <Override PartName="/ppt/notesSlides/notesSlide69.xml" ContentType="application/vnd.openxmlformats-officedocument.presentationml.notesSlide+xml"/>
  <Override PartName="/ppt/tags/tag64.xml" ContentType="application/vnd.openxmlformats-officedocument.presentationml.tags+xml"/>
  <Override PartName="/ppt/notesSlides/notesSlide70.xml" ContentType="application/vnd.openxmlformats-officedocument.presentationml.notesSlide+xml"/>
  <Override PartName="/ppt/tags/tag65.xml" ContentType="application/vnd.openxmlformats-officedocument.presentationml.tags+xml"/>
  <Override PartName="/ppt/notesSlides/notesSlide71.xml" ContentType="application/vnd.openxmlformats-officedocument.presentationml.notesSlide+xml"/>
  <Override PartName="/ppt/tags/tag66.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103"/>
  </p:notesMasterIdLst>
  <p:handoutMasterIdLst>
    <p:handoutMasterId r:id="rId104"/>
  </p:handoutMasterIdLst>
  <p:sldIdLst>
    <p:sldId id="286" r:id="rId2"/>
    <p:sldId id="398" r:id="rId3"/>
    <p:sldId id="679" r:id="rId4"/>
    <p:sldId id="680" r:id="rId5"/>
    <p:sldId id="681" r:id="rId6"/>
    <p:sldId id="468" r:id="rId7"/>
    <p:sldId id="682" r:id="rId8"/>
    <p:sldId id="567" r:id="rId9"/>
    <p:sldId id="568" r:id="rId10"/>
    <p:sldId id="571" r:id="rId11"/>
    <p:sldId id="570" r:id="rId12"/>
    <p:sldId id="572" r:id="rId13"/>
    <p:sldId id="573" r:id="rId14"/>
    <p:sldId id="574" r:id="rId15"/>
    <p:sldId id="544" r:id="rId16"/>
    <p:sldId id="576" r:id="rId17"/>
    <p:sldId id="394" r:id="rId18"/>
    <p:sldId id="385" r:id="rId19"/>
    <p:sldId id="687" r:id="rId20"/>
    <p:sldId id="692" r:id="rId21"/>
    <p:sldId id="688" r:id="rId22"/>
    <p:sldId id="689" r:id="rId23"/>
    <p:sldId id="690" r:id="rId24"/>
    <p:sldId id="691" r:id="rId25"/>
    <p:sldId id="694" r:id="rId26"/>
    <p:sldId id="695" r:id="rId27"/>
    <p:sldId id="696" r:id="rId28"/>
    <p:sldId id="706" r:id="rId29"/>
    <p:sldId id="698" r:id="rId30"/>
    <p:sldId id="693" r:id="rId31"/>
    <p:sldId id="699" r:id="rId32"/>
    <p:sldId id="703" r:id="rId33"/>
    <p:sldId id="707" r:id="rId34"/>
    <p:sldId id="702" r:id="rId35"/>
    <p:sldId id="705" r:id="rId36"/>
    <p:sldId id="708" r:id="rId37"/>
    <p:sldId id="704" r:id="rId38"/>
    <p:sldId id="709" r:id="rId39"/>
    <p:sldId id="710" r:id="rId40"/>
    <p:sldId id="712" r:id="rId41"/>
    <p:sldId id="718" r:id="rId42"/>
    <p:sldId id="711" r:id="rId43"/>
    <p:sldId id="713" r:id="rId44"/>
    <p:sldId id="715" r:id="rId45"/>
    <p:sldId id="716" r:id="rId46"/>
    <p:sldId id="717" r:id="rId47"/>
    <p:sldId id="558" r:id="rId48"/>
    <p:sldId id="683" r:id="rId49"/>
    <p:sldId id="721" r:id="rId50"/>
    <p:sldId id="724" r:id="rId51"/>
    <p:sldId id="670" r:id="rId52"/>
    <p:sldId id="671" r:id="rId53"/>
    <p:sldId id="672" r:id="rId54"/>
    <p:sldId id="673" r:id="rId55"/>
    <p:sldId id="674" r:id="rId56"/>
    <p:sldId id="675" r:id="rId57"/>
    <p:sldId id="719" r:id="rId58"/>
    <p:sldId id="677" r:id="rId59"/>
    <p:sldId id="678" r:id="rId60"/>
    <p:sldId id="720" r:id="rId61"/>
    <p:sldId id="685" r:id="rId62"/>
    <p:sldId id="725" r:id="rId63"/>
    <p:sldId id="726" r:id="rId64"/>
    <p:sldId id="301" r:id="rId65"/>
    <p:sldId id="686" r:id="rId66"/>
    <p:sldId id="636" r:id="rId67"/>
    <p:sldId id="637" r:id="rId68"/>
    <p:sldId id="638" r:id="rId69"/>
    <p:sldId id="639" r:id="rId70"/>
    <p:sldId id="640" r:id="rId71"/>
    <p:sldId id="659" r:id="rId72"/>
    <p:sldId id="641" r:id="rId73"/>
    <p:sldId id="642" r:id="rId74"/>
    <p:sldId id="643" r:id="rId75"/>
    <p:sldId id="644" r:id="rId76"/>
    <p:sldId id="645" r:id="rId77"/>
    <p:sldId id="646" r:id="rId78"/>
    <p:sldId id="647" r:id="rId79"/>
    <p:sldId id="619" r:id="rId80"/>
    <p:sldId id="727" r:id="rId81"/>
    <p:sldId id="629" r:id="rId82"/>
    <p:sldId id="630" r:id="rId83"/>
    <p:sldId id="633" r:id="rId84"/>
    <p:sldId id="648" r:id="rId85"/>
    <p:sldId id="649" r:id="rId86"/>
    <p:sldId id="651" r:id="rId87"/>
    <p:sldId id="652" r:id="rId88"/>
    <p:sldId id="653" r:id="rId89"/>
    <p:sldId id="654" r:id="rId90"/>
    <p:sldId id="655" r:id="rId91"/>
    <p:sldId id="620" r:id="rId92"/>
    <p:sldId id="621" r:id="rId93"/>
    <p:sldId id="622" r:id="rId94"/>
    <p:sldId id="623" r:id="rId95"/>
    <p:sldId id="668" r:id="rId96"/>
    <p:sldId id="669" r:id="rId97"/>
    <p:sldId id="728" r:id="rId98"/>
    <p:sldId id="729" r:id="rId99"/>
    <p:sldId id="723" r:id="rId100"/>
    <p:sldId id="676" r:id="rId101"/>
    <p:sldId id="730" r:id="rId102"/>
  </p:sldIdLst>
  <p:sldSz cx="9144000" cy="6858000" type="screen4x3"/>
  <p:notesSz cx="7010400" cy="92964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9pPr>
  </p:defaultTextStyle>
  <p:extLst>
    <p:ext uri="{521415D9-36F7-43E2-AB2F-B90AF26B5E84}">
      <p14:sectionLst xmlns:p14="http://schemas.microsoft.com/office/powerpoint/2010/main">
        <p14:section name="Default Section" id="{A17E5DC4-AD9B-46EF-9D44-4C4A8FA28BD4}">
          <p14:sldIdLst>
            <p14:sldId id="286"/>
            <p14:sldId id="398"/>
            <p14:sldId id="679"/>
            <p14:sldId id="680"/>
            <p14:sldId id="681"/>
            <p14:sldId id="468"/>
            <p14:sldId id="682"/>
            <p14:sldId id="567"/>
            <p14:sldId id="568"/>
            <p14:sldId id="571"/>
            <p14:sldId id="570"/>
            <p14:sldId id="572"/>
            <p14:sldId id="573"/>
            <p14:sldId id="574"/>
            <p14:sldId id="544"/>
            <p14:sldId id="576"/>
            <p14:sldId id="394"/>
            <p14:sldId id="385"/>
            <p14:sldId id="687"/>
            <p14:sldId id="692"/>
            <p14:sldId id="688"/>
            <p14:sldId id="689"/>
            <p14:sldId id="690"/>
            <p14:sldId id="691"/>
            <p14:sldId id="694"/>
            <p14:sldId id="695"/>
            <p14:sldId id="696"/>
            <p14:sldId id="706"/>
            <p14:sldId id="698"/>
            <p14:sldId id="693"/>
            <p14:sldId id="699"/>
            <p14:sldId id="703"/>
            <p14:sldId id="707"/>
            <p14:sldId id="702"/>
            <p14:sldId id="705"/>
            <p14:sldId id="708"/>
            <p14:sldId id="704"/>
            <p14:sldId id="709"/>
            <p14:sldId id="710"/>
            <p14:sldId id="712"/>
            <p14:sldId id="718"/>
            <p14:sldId id="711"/>
            <p14:sldId id="713"/>
            <p14:sldId id="715"/>
            <p14:sldId id="716"/>
            <p14:sldId id="717"/>
            <p14:sldId id="558"/>
            <p14:sldId id="683"/>
          </p14:sldIdLst>
        </p14:section>
        <p14:section name="Untitled Section" id="{685393E8-258E-4031-AF01-A1E6D793759C}">
          <p14:sldIdLst>
            <p14:sldId id="721"/>
            <p14:sldId id="724"/>
            <p14:sldId id="670"/>
            <p14:sldId id="671"/>
            <p14:sldId id="672"/>
            <p14:sldId id="673"/>
            <p14:sldId id="674"/>
            <p14:sldId id="675"/>
            <p14:sldId id="719"/>
            <p14:sldId id="677"/>
            <p14:sldId id="678"/>
            <p14:sldId id="720"/>
            <p14:sldId id="685"/>
            <p14:sldId id="725"/>
            <p14:sldId id="726"/>
            <p14:sldId id="301"/>
            <p14:sldId id="686"/>
            <p14:sldId id="636"/>
            <p14:sldId id="637"/>
            <p14:sldId id="638"/>
            <p14:sldId id="639"/>
            <p14:sldId id="640"/>
            <p14:sldId id="659"/>
            <p14:sldId id="641"/>
            <p14:sldId id="642"/>
            <p14:sldId id="643"/>
            <p14:sldId id="644"/>
            <p14:sldId id="645"/>
            <p14:sldId id="646"/>
            <p14:sldId id="647"/>
            <p14:sldId id="619"/>
            <p14:sldId id="727"/>
            <p14:sldId id="629"/>
            <p14:sldId id="630"/>
            <p14:sldId id="633"/>
            <p14:sldId id="648"/>
            <p14:sldId id="649"/>
            <p14:sldId id="651"/>
            <p14:sldId id="652"/>
            <p14:sldId id="653"/>
            <p14:sldId id="654"/>
            <p14:sldId id="655"/>
            <p14:sldId id="620"/>
            <p14:sldId id="621"/>
            <p14:sldId id="622"/>
            <p14:sldId id="623"/>
            <p14:sldId id="668"/>
            <p14:sldId id="669"/>
            <p14:sldId id="728"/>
            <p14:sldId id="729"/>
            <p14:sldId id="723"/>
            <p14:sldId id="676"/>
            <p14:sldId id="73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33"/>
    <a:srgbClr val="FDC3D1"/>
    <a:srgbClr val="333399"/>
    <a:srgbClr val="B2B2B2"/>
    <a:srgbClr val="993366"/>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39" autoAdjust="0"/>
    <p:restoredTop sz="94678" autoAdjust="0"/>
  </p:normalViewPr>
  <p:slideViewPr>
    <p:cSldViewPr>
      <p:cViewPr varScale="1">
        <p:scale>
          <a:sx n="69" d="100"/>
          <a:sy n="69" d="100"/>
        </p:scale>
        <p:origin x="8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275" y="6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689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689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689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FF96B3-5193-4D4F-ADAC-C41F873FC327}" type="slidenum">
              <a:rPr lang="en-US" altLang="zh-CN"/>
              <a:pPr>
                <a:defRPr/>
              </a:pPr>
              <a:t>‹#›</a:t>
            </a:fld>
            <a:endParaRPr lang="en-US" altLang="zh-CN"/>
          </a:p>
        </p:txBody>
      </p:sp>
    </p:spTree>
    <p:extLst>
      <p:ext uri="{BB962C8B-B14F-4D97-AF65-F5344CB8AC3E}">
        <p14:creationId xmlns:p14="http://schemas.microsoft.com/office/powerpoint/2010/main" val="1129582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3" name="Rectangle 3"/>
          <p:cNvSpPr>
            <a:spLocks noGrp="1" noChangeArrowheads="1"/>
          </p:cNvSpPr>
          <p:nvPr>
            <p:ph type="dt" idx="1"/>
          </p:nvPr>
        </p:nvSpPr>
        <p:spPr bwMode="auto">
          <a:xfrm>
            <a:off x="3971925"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7" name="Rectangle 7"/>
          <p:cNvSpPr>
            <a:spLocks noGrp="1" noChangeArrowheads="1"/>
          </p:cNvSpPr>
          <p:nvPr>
            <p:ph type="sldNum" sz="quarter" idx="5"/>
          </p:nvPr>
        </p:nvSpPr>
        <p:spPr bwMode="auto">
          <a:xfrm>
            <a:off x="3971925"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C806C1B-B03E-46DA-85CD-D90BC0B37545}" type="slidenum">
              <a:rPr lang="en-US" altLang="zh-CN"/>
              <a:pPr>
                <a:defRPr/>
              </a:pPr>
              <a:t>‹#›</a:t>
            </a:fld>
            <a:endParaRPr lang="en-US" altLang="zh-CN"/>
          </a:p>
        </p:txBody>
      </p:sp>
    </p:spTree>
    <p:extLst>
      <p:ext uri="{BB962C8B-B14F-4D97-AF65-F5344CB8AC3E}">
        <p14:creationId xmlns:p14="http://schemas.microsoft.com/office/powerpoint/2010/main" val="108636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D2CF438-6F28-4EDA-8826-7EA47CD870C5}"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893111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18</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1280122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19</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3369541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28719-CD3B-A24C-4325-8A98F905B9B0}"/>
            </a:ext>
          </a:extLst>
        </p:cNvPr>
        <p:cNvGrpSpPr/>
        <p:nvPr/>
      </p:nvGrpSpPr>
      <p:grpSpPr>
        <a:xfrm>
          <a:off x="0" y="0"/>
          <a:ext cx="0" cy="0"/>
          <a:chOff x="0" y="0"/>
          <a:chExt cx="0" cy="0"/>
        </a:xfrm>
      </p:grpSpPr>
      <p:sp>
        <p:nvSpPr>
          <p:cNvPr id="188418" name="Rectangle 7">
            <a:extLst>
              <a:ext uri="{FF2B5EF4-FFF2-40B4-BE49-F238E27FC236}">
                <a16:creationId xmlns:a16="http://schemas.microsoft.com/office/drawing/2014/main" id="{C7104F33-077B-8029-EF92-9B25A43212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20</a:t>
            </a:fld>
            <a:endParaRPr lang="en-US" altLang="zh-CN">
              <a:latin typeface="Arial" panose="020B0604020202020204" pitchFamily="34" charset="0"/>
            </a:endParaRPr>
          </a:p>
        </p:txBody>
      </p:sp>
      <p:sp>
        <p:nvSpPr>
          <p:cNvPr id="188419" name="Rectangle 2">
            <a:extLst>
              <a:ext uri="{FF2B5EF4-FFF2-40B4-BE49-F238E27FC236}">
                <a16:creationId xmlns:a16="http://schemas.microsoft.com/office/drawing/2014/main" id="{BDDA1161-5861-5000-B08C-EF95504879C8}"/>
              </a:ext>
            </a:extLst>
          </p:cNvPr>
          <p:cNvSpPr>
            <a:spLocks noGrp="1" noRot="1" noChangeAspect="1" noChangeArrowheads="1" noTextEdit="1"/>
          </p:cNvSpPr>
          <p:nvPr>
            <p:ph type="sldImg"/>
          </p:nvPr>
        </p:nvSpPr>
        <p:spPr>
          <a:solidFill>
            <a:srgbClr val="FFFFFF"/>
          </a:solidFill>
          <a:ln/>
        </p:spPr>
      </p:sp>
      <p:sp>
        <p:nvSpPr>
          <p:cNvPr id="188420" name="Rectangle 3">
            <a:extLst>
              <a:ext uri="{FF2B5EF4-FFF2-40B4-BE49-F238E27FC236}">
                <a16:creationId xmlns:a16="http://schemas.microsoft.com/office/drawing/2014/main" id="{70996711-50B3-8DB8-75CB-26FC6962EDEE}"/>
              </a:ext>
            </a:extLst>
          </p:cNvPr>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906085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21</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3815544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22</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983041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23</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3122973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B3AE77F9-D4F3-451E-A1F3-D746A2741768}" type="slidenum">
              <a:rPr lang="en-US" altLang="zh-CN" smtClean="0">
                <a:latin typeface="Arial" panose="020B0604020202020204" pitchFamily="34" charset="0"/>
              </a:rPr>
              <a:pPr/>
              <a:t>24</a:t>
            </a:fld>
            <a:endParaRPr lang="en-US" altLang="zh-CN">
              <a:latin typeface="Arial" panose="020B0604020202020204" pitchFamily="34" charset="0"/>
            </a:endParaRPr>
          </a:p>
        </p:txBody>
      </p:sp>
      <p:sp>
        <p:nvSpPr>
          <p:cNvPr id="188419" name="Rectangle 2"/>
          <p:cNvSpPr>
            <a:spLocks noGrp="1" noRot="1" noChangeAspect="1" noChangeArrowheads="1" noTextEdit="1"/>
          </p:cNvSpPr>
          <p:nvPr>
            <p:ph type="sldImg"/>
          </p:nvPr>
        </p:nvSpPr>
        <p:spPr>
          <a:solidFill>
            <a:srgbClr val="FFFFFF"/>
          </a:solidFill>
          <a:ln/>
        </p:spPr>
      </p:sp>
      <p:sp>
        <p:nvSpPr>
          <p:cNvPr id="188420"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1203348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1466F-2827-C0E8-E2CC-265EFC43E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675B1-9E9E-6185-086A-AE952C90F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B68364-EC2F-A58D-7DF0-24E9241ADFF1}"/>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E98C1EED-A25F-36C6-FE76-922AD03A9F55}"/>
              </a:ext>
            </a:extLst>
          </p:cNvPr>
          <p:cNvSpPr>
            <a:spLocks noGrp="1"/>
          </p:cNvSpPr>
          <p:nvPr>
            <p:ph type="sldNum" sz="quarter" idx="5"/>
          </p:nvPr>
        </p:nvSpPr>
        <p:spPr/>
        <p:txBody>
          <a:bodyPr/>
          <a:lstStyle/>
          <a:p>
            <a:pPr>
              <a:defRPr/>
            </a:pPr>
            <a:fld id="{5C806C1B-B03E-46DA-85CD-D90BC0B37545}" type="slidenum">
              <a:rPr lang="en-US" altLang="zh-CN" smtClean="0"/>
              <a:pPr>
                <a:defRPr/>
              </a:pPr>
              <a:t>25</a:t>
            </a:fld>
            <a:endParaRPr lang="en-US" altLang="zh-CN"/>
          </a:p>
        </p:txBody>
      </p:sp>
    </p:spTree>
    <p:extLst>
      <p:ext uri="{BB962C8B-B14F-4D97-AF65-F5344CB8AC3E}">
        <p14:creationId xmlns:p14="http://schemas.microsoft.com/office/powerpoint/2010/main" val="1127949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88FDF-4E0E-BFCC-557D-7297F4B3E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0EA1F-95F3-0291-2BDC-24A08142A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0837E-61E4-83A4-C9C8-594460E07B56}"/>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152D3CF8-1687-654A-92AF-9B2A0108EE81}"/>
              </a:ext>
            </a:extLst>
          </p:cNvPr>
          <p:cNvSpPr>
            <a:spLocks noGrp="1"/>
          </p:cNvSpPr>
          <p:nvPr>
            <p:ph type="sldNum" sz="quarter" idx="5"/>
          </p:nvPr>
        </p:nvSpPr>
        <p:spPr/>
        <p:txBody>
          <a:bodyPr/>
          <a:lstStyle/>
          <a:p>
            <a:pPr>
              <a:defRPr/>
            </a:pPr>
            <a:fld id="{5C806C1B-B03E-46DA-85CD-D90BC0B37545}" type="slidenum">
              <a:rPr lang="en-US" altLang="zh-CN" smtClean="0"/>
              <a:pPr>
                <a:defRPr/>
              </a:pPr>
              <a:t>26</a:t>
            </a:fld>
            <a:endParaRPr lang="en-US" altLang="zh-CN"/>
          </a:p>
        </p:txBody>
      </p:sp>
    </p:spTree>
    <p:extLst>
      <p:ext uri="{BB962C8B-B14F-4D97-AF65-F5344CB8AC3E}">
        <p14:creationId xmlns:p14="http://schemas.microsoft.com/office/powerpoint/2010/main" val="2224674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AC89B-317B-F24A-6947-392BC64F3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A2415-7A52-412D-51EB-01A8F42DA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A897F-6AE9-A6E9-852E-D21A04F7969F}"/>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5B9BDCE1-B81D-71C3-A592-8EBDD15FF235}"/>
              </a:ext>
            </a:extLst>
          </p:cNvPr>
          <p:cNvSpPr>
            <a:spLocks noGrp="1"/>
          </p:cNvSpPr>
          <p:nvPr>
            <p:ph type="sldNum" sz="quarter" idx="5"/>
          </p:nvPr>
        </p:nvSpPr>
        <p:spPr/>
        <p:txBody>
          <a:bodyPr/>
          <a:lstStyle/>
          <a:p>
            <a:pPr>
              <a:defRPr/>
            </a:pPr>
            <a:fld id="{5C806C1B-B03E-46DA-85CD-D90BC0B37545}" type="slidenum">
              <a:rPr lang="en-US" altLang="zh-CN" smtClean="0"/>
              <a:pPr>
                <a:defRPr/>
              </a:pPr>
              <a:t>27</a:t>
            </a:fld>
            <a:endParaRPr lang="en-US" altLang="zh-CN"/>
          </a:p>
        </p:txBody>
      </p:sp>
    </p:spTree>
    <p:extLst>
      <p:ext uri="{BB962C8B-B14F-4D97-AF65-F5344CB8AC3E}">
        <p14:creationId xmlns:p14="http://schemas.microsoft.com/office/powerpoint/2010/main" val="2765702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18D0-9FC7-1099-47EB-FCAF24D9C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D3A49-3984-686C-B3E3-E285DC817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768D9-9FA1-157B-7112-9909BF6B2AF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0E07CD61-D227-505C-0E0C-95D82E03B433}"/>
              </a:ext>
            </a:extLst>
          </p:cNvPr>
          <p:cNvSpPr>
            <a:spLocks noGrp="1"/>
          </p:cNvSpPr>
          <p:nvPr>
            <p:ph type="sldNum" sz="quarter" idx="5"/>
          </p:nvPr>
        </p:nvSpPr>
        <p:spPr/>
        <p:txBody>
          <a:bodyPr/>
          <a:lstStyle/>
          <a:p>
            <a:pPr>
              <a:defRPr/>
            </a:pPr>
            <a:fld id="{5C806C1B-B03E-46DA-85CD-D90BC0B37545}" type="slidenum">
              <a:rPr lang="en-US" altLang="zh-CN" smtClean="0"/>
              <a:pPr>
                <a:defRPr/>
              </a:pPr>
              <a:t>28</a:t>
            </a:fld>
            <a:endParaRPr lang="en-US" altLang="zh-CN"/>
          </a:p>
        </p:txBody>
      </p:sp>
    </p:spTree>
    <p:extLst>
      <p:ext uri="{BB962C8B-B14F-4D97-AF65-F5344CB8AC3E}">
        <p14:creationId xmlns:p14="http://schemas.microsoft.com/office/powerpoint/2010/main" val="1206069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A2682-2975-E958-1C85-F7EF95680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1F631-0368-1BBE-8B57-53C4E4CE0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D0B4A-77BE-1921-912A-8FF01E056ED6}"/>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46CF23FB-63E1-EBC6-A3DB-C4D59A492992}"/>
              </a:ext>
            </a:extLst>
          </p:cNvPr>
          <p:cNvSpPr>
            <a:spLocks noGrp="1"/>
          </p:cNvSpPr>
          <p:nvPr>
            <p:ph type="sldNum" sz="quarter" idx="5"/>
          </p:nvPr>
        </p:nvSpPr>
        <p:spPr/>
        <p:txBody>
          <a:bodyPr/>
          <a:lstStyle/>
          <a:p>
            <a:pPr>
              <a:defRPr/>
            </a:pPr>
            <a:fld id="{5C806C1B-B03E-46DA-85CD-D90BC0B37545}" type="slidenum">
              <a:rPr lang="en-US" altLang="zh-CN" smtClean="0"/>
              <a:pPr>
                <a:defRPr/>
              </a:pPr>
              <a:t>29</a:t>
            </a:fld>
            <a:endParaRPr lang="en-US" altLang="zh-CN"/>
          </a:p>
        </p:txBody>
      </p:sp>
    </p:spTree>
    <p:extLst>
      <p:ext uri="{BB962C8B-B14F-4D97-AF65-F5344CB8AC3E}">
        <p14:creationId xmlns:p14="http://schemas.microsoft.com/office/powerpoint/2010/main" val="4240212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C2AC2-88C0-8E9B-CB92-825A0B5B5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1F0FB-26D1-A913-9FA3-8F138991D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497BE-7C56-AACC-0821-A5D30B5F51D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A990D672-B246-BC9D-D085-5CCF6299E400}"/>
              </a:ext>
            </a:extLst>
          </p:cNvPr>
          <p:cNvSpPr>
            <a:spLocks noGrp="1"/>
          </p:cNvSpPr>
          <p:nvPr>
            <p:ph type="sldNum" sz="quarter" idx="5"/>
          </p:nvPr>
        </p:nvSpPr>
        <p:spPr/>
        <p:txBody>
          <a:bodyPr/>
          <a:lstStyle/>
          <a:p>
            <a:pPr>
              <a:defRPr/>
            </a:pPr>
            <a:fld id="{5C806C1B-B03E-46DA-85CD-D90BC0B37545}" type="slidenum">
              <a:rPr lang="en-US" altLang="zh-CN" smtClean="0"/>
              <a:pPr>
                <a:defRPr/>
              </a:pPr>
              <a:t>30</a:t>
            </a:fld>
            <a:endParaRPr lang="en-US" altLang="zh-CN"/>
          </a:p>
        </p:txBody>
      </p:sp>
    </p:spTree>
    <p:extLst>
      <p:ext uri="{BB962C8B-B14F-4D97-AF65-F5344CB8AC3E}">
        <p14:creationId xmlns:p14="http://schemas.microsoft.com/office/powerpoint/2010/main" val="2859199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CEA5E-75A9-2BAC-6099-FD0FC6088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8F883-A9D4-E3CA-05A9-46B6328F4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13634-08CD-C37D-543F-4D2618922523}"/>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DB4BF21D-53B4-CA3A-4790-545ACB787A87}"/>
              </a:ext>
            </a:extLst>
          </p:cNvPr>
          <p:cNvSpPr>
            <a:spLocks noGrp="1"/>
          </p:cNvSpPr>
          <p:nvPr>
            <p:ph type="sldNum" sz="quarter" idx="5"/>
          </p:nvPr>
        </p:nvSpPr>
        <p:spPr/>
        <p:txBody>
          <a:bodyPr/>
          <a:lstStyle/>
          <a:p>
            <a:pPr>
              <a:defRPr/>
            </a:pPr>
            <a:fld id="{5C806C1B-B03E-46DA-85CD-D90BC0B37545}" type="slidenum">
              <a:rPr lang="en-US" altLang="zh-CN" smtClean="0"/>
              <a:pPr>
                <a:defRPr/>
              </a:pPr>
              <a:t>31</a:t>
            </a:fld>
            <a:endParaRPr lang="en-US" altLang="zh-CN"/>
          </a:p>
        </p:txBody>
      </p:sp>
    </p:spTree>
    <p:extLst>
      <p:ext uri="{BB962C8B-B14F-4D97-AF65-F5344CB8AC3E}">
        <p14:creationId xmlns:p14="http://schemas.microsoft.com/office/powerpoint/2010/main" val="38864172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55E54-203F-B07B-2396-3D4419046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B0FF1-3614-5D5A-4A38-159092957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84ACE-7A4A-E395-1CA7-281538D8F55E}"/>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1BE60521-0210-5FDA-4460-3C83917696AF}"/>
              </a:ext>
            </a:extLst>
          </p:cNvPr>
          <p:cNvSpPr>
            <a:spLocks noGrp="1"/>
          </p:cNvSpPr>
          <p:nvPr>
            <p:ph type="sldNum" sz="quarter" idx="5"/>
          </p:nvPr>
        </p:nvSpPr>
        <p:spPr/>
        <p:txBody>
          <a:bodyPr/>
          <a:lstStyle/>
          <a:p>
            <a:pPr>
              <a:defRPr/>
            </a:pPr>
            <a:fld id="{5C806C1B-B03E-46DA-85CD-D90BC0B37545}" type="slidenum">
              <a:rPr lang="en-US" altLang="zh-CN" smtClean="0"/>
              <a:pPr>
                <a:defRPr/>
              </a:pPr>
              <a:t>32</a:t>
            </a:fld>
            <a:endParaRPr lang="en-US" altLang="zh-CN"/>
          </a:p>
        </p:txBody>
      </p:sp>
    </p:spTree>
    <p:extLst>
      <p:ext uri="{BB962C8B-B14F-4D97-AF65-F5344CB8AC3E}">
        <p14:creationId xmlns:p14="http://schemas.microsoft.com/office/powerpoint/2010/main" val="33735759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2F93D-A580-2094-0E71-92881B462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A6D34-52C4-3706-5E0A-88F0567D8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2B818-EA5E-147E-DEA8-AE93362E66A9}"/>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F3160AD-A43C-8288-699A-CECC405E4DF5}"/>
              </a:ext>
            </a:extLst>
          </p:cNvPr>
          <p:cNvSpPr>
            <a:spLocks noGrp="1"/>
          </p:cNvSpPr>
          <p:nvPr>
            <p:ph type="sldNum" sz="quarter" idx="5"/>
          </p:nvPr>
        </p:nvSpPr>
        <p:spPr/>
        <p:txBody>
          <a:bodyPr/>
          <a:lstStyle/>
          <a:p>
            <a:pPr>
              <a:defRPr/>
            </a:pPr>
            <a:fld id="{5C806C1B-B03E-46DA-85CD-D90BC0B37545}" type="slidenum">
              <a:rPr lang="en-US" altLang="zh-CN" smtClean="0"/>
              <a:pPr>
                <a:defRPr/>
              </a:pPr>
              <a:t>33</a:t>
            </a:fld>
            <a:endParaRPr lang="en-US" altLang="zh-CN"/>
          </a:p>
        </p:txBody>
      </p:sp>
    </p:spTree>
    <p:extLst>
      <p:ext uri="{BB962C8B-B14F-4D97-AF65-F5344CB8AC3E}">
        <p14:creationId xmlns:p14="http://schemas.microsoft.com/office/powerpoint/2010/main" val="2976881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5926-F054-0E8D-59D7-5B32C4E05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5ABA0D-E81F-E1A3-9B4C-E2682A15B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80B16-7832-29EA-5A85-BCB4F84EB313}"/>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813A62C-BAD8-1373-1B52-EF71CA0B1203}"/>
              </a:ext>
            </a:extLst>
          </p:cNvPr>
          <p:cNvSpPr>
            <a:spLocks noGrp="1"/>
          </p:cNvSpPr>
          <p:nvPr>
            <p:ph type="sldNum" sz="quarter" idx="5"/>
          </p:nvPr>
        </p:nvSpPr>
        <p:spPr/>
        <p:txBody>
          <a:bodyPr/>
          <a:lstStyle/>
          <a:p>
            <a:pPr>
              <a:defRPr/>
            </a:pPr>
            <a:fld id="{5C806C1B-B03E-46DA-85CD-D90BC0B37545}" type="slidenum">
              <a:rPr lang="en-US" altLang="zh-CN" smtClean="0"/>
              <a:pPr>
                <a:defRPr/>
              </a:pPr>
              <a:t>34</a:t>
            </a:fld>
            <a:endParaRPr lang="en-US" altLang="zh-CN"/>
          </a:p>
        </p:txBody>
      </p:sp>
    </p:spTree>
    <p:extLst>
      <p:ext uri="{BB962C8B-B14F-4D97-AF65-F5344CB8AC3E}">
        <p14:creationId xmlns:p14="http://schemas.microsoft.com/office/powerpoint/2010/main" val="2919829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B9C13-3E0D-468D-2B2F-10CBE4966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95CF4-C03B-A532-5DAD-0850F00274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A5D61-F8B4-FABE-4DE9-7FA79D8DA118}"/>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65CBCDB4-8AE5-E336-D7C8-B19875026CA3}"/>
              </a:ext>
            </a:extLst>
          </p:cNvPr>
          <p:cNvSpPr>
            <a:spLocks noGrp="1"/>
          </p:cNvSpPr>
          <p:nvPr>
            <p:ph type="sldNum" sz="quarter" idx="5"/>
          </p:nvPr>
        </p:nvSpPr>
        <p:spPr/>
        <p:txBody>
          <a:bodyPr/>
          <a:lstStyle/>
          <a:p>
            <a:pPr>
              <a:defRPr/>
            </a:pPr>
            <a:fld id="{5C806C1B-B03E-46DA-85CD-D90BC0B37545}" type="slidenum">
              <a:rPr lang="en-US" altLang="zh-CN" smtClean="0"/>
              <a:pPr>
                <a:defRPr/>
              </a:pPr>
              <a:t>36</a:t>
            </a:fld>
            <a:endParaRPr lang="en-US" altLang="zh-CN"/>
          </a:p>
        </p:txBody>
      </p:sp>
    </p:spTree>
    <p:extLst>
      <p:ext uri="{BB962C8B-B14F-4D97-AF65-F5344CB8AC3E}">
        <p14:creationId xmlns:p14="http://schemas.microsoft.com/office/powerpoint/2010/main" val="3451726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283A6-A78F-2927-3FC7-81A2CC13A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33E50-C221-35E1-5889-18AB0C541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6EEE2-E059-E167-1152-3E541CEA39B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2BBD80F-F8BF-C808-47D7-4CE4BC0C627A}"/>
              </a:ext>
            </a:extLst>
          </p:cNvPr>
          <p:cNvSpPr>
            <a:spLocks noGrp="1"/>
          </p:cNvSpPr>
          <p:nvPr>
            <p:ph type="sldNum" sz="quarter" idx="5"/>
          </p:nvPr>
        </p:nvSpPr>
        <p:spPr/>
        <p:txBody>
          <a:bodyPr/>
          <a:lstStyle/>
          <a:p>
            <a:pPr>
              <a:defRPr/>
            </a:pPr>
            <a:fld id="{5C806C1B-B03E-46DA-85CD-D90BC0B37545}" type="slidenum">
              <a:rPr lang="en-US" altLang="zh-CN" smtClean="0"/>
              <a:pPr>
                <a:defRPr/>
              </a:pPr>
              <a:t>37</a:t>
            </a:fld>
            <a:endParaRPr lang="en-US" altLang="zh-CN"/>
          </a:p>
        </p:txBody>
      </p:sp>
    </p:spTree>
    <p:extLst>
      <p:ext uri="{BB962C8B-B14F-4D97-AF65-F5344CB8AC3E}">
        <p14:creationId xmlns:p14="http://schemas.microsoft.com/office/powerpoint/2010/main" val="90822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359D-2B46-D29C-9905-C5CD2BB94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63E08-B080-EEF1-04A8-42CA36351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62C16C-461D-0D12-5FA8-5D3120EEEBDE}"/>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26E40F3-1224-9C68-5390-21FD392610D9}"/>
              </a:ext>
            </a:extLst>
          </p:cNvPr>
          <p:cNvSpPr>
            <a:spLocks noGrp="1"/>
          </p:cNvSpPr>
          <p:nvPr>
            <p:ph type="sldNum" sz="quarter" idx="5"/>
          </p:nvPr>
        </p:nvSpPr>
        <p:spPr/>
        <p:txBody>
          <a:bodyPr/>
          <a:lstStyle/>
          <a:p>
            <a:pPr>
              <a:defRPr/>
            </a:pPr>
            <a:fld id="{5C806C1B-B03E-46DA-85CD-D90BC0B37545}" type="slidenum">
              <a:rPr lang="en-US" altLang="zh-CN" smtClean="0"/>
              <a:pPr>
                <a:defRPr/>
              </a:pPr>
              <a:t>38</a:t>
            </a:fld>
            <a:endParaRPr lang="en-US" altLang="zh-CN"/>
          </a:p>
        </p:txBody>
      </p:sp>
    </p:spTree>
    <p:extLst>
      <p:ext uri="{BB962C8B-B14F-4D97-AF65-F5344CB8AC3E}">
        <p14:creationId xmlns:p14="http://schemas.microsoft.com/office/powerpoint/2010/main" val="2857229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E5FFF-29EC-D10C-2BF5-85A032E06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2A3CE-4764-D142-5874-67AB2ED1B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55D923-F497-64FA-70A2-8FFD6020A01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F986483E-76B8-6F73-99A8-9796489E1919}"/>
              </a:ext>
            </a:extLst>
          </p:cNvPr>
          <p:cNvSpPr>
            <a:spLocks noGrp="1"/>
          </p:cNvSpPr>
          <p:nvPr>
            <p:ph type="sldNum" sz="quarter" idx="5"/>
          </p:nvPr>
        </p:nvSpPr>
        <p:spPr/>
        <p:txBody>
          <a:bodyPr/>
          <a:lstStyle/>
          <a:p>
            <a:pPr>
              <a:defRPr/>
            </a:pPr>
            <a:fld id="{5C806C1B-B03E-46DA-85CD-D90BC0B37545}" type="slidenum">
              <a:rPr lang="en-US" altLang="zh-CN" smtClean="0"/>
              <a:pPr>
                <a:defRPr/>
              </a:pPr>
              <a:t>39</a:t>
            </a:fld>
            <a:endParaRPr lang="en-US" altLang="zh-CN"/>
          </a:p>
        </p:txBody>
      </p:sp>
    </p:spTree>
    <p:extLst>
      <p:ext uri="{BB962C8B-B14F-4D97-AF65-F5344CB8AC3E}">
        <p14:creationId xmlns:p14="http://schemas.microsoft.com/office/powerpoint/2010/main" val="3585960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3D946-0095-02CD-1833-9698F3A4B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29BEB-96B5-BF5A-4EF0-6DE472DF9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B6C73-9EF9-6923-117A-27A046017269}"/>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CFD9FAD-FA40-353E-0D61-4808C5536A72}"/>
              </a:ext>
            </a:extLst>
          </p:cNvPr>
          <p:cNvSpPr>
            <a:spLocks noGrp="1"/>
          </p:cNvSpPr>
          <p:nvPr>
            <p:ph type="sldNum" sz="quarter" idx="5"/>
          </p:nvPr>
        </p:nvSpPr>
        <p:spPr/>
        <p:txBody>
          <a:bodyPr/>
          <a:lstStyle/>
          <a:p>
            <a:pPr>
              <a:defRPr/>
            </a:pPr>
            <a:fld id="{5C806C1B-B03E-46DA-85CD-D90BC0B37545}" type="slidenum">
              <a:rPr lang="en-US" altLang="zh-CN" smtClean="0"/>
              <a:pPr>
                <a:defRPr/>
              </a:pPr>
              <a:t>40</a:t>
            </a:fld>
            <a:endParaRPr lang="en-US" altLang="zh-CN"/>
          </a:p>
        </p:txBody>
      </p:sp>
    </p:spTree>
    <p:extLst>
      <p:ext uri="{BB962C8B-B14F-4D97-AF65-F5344CB8AC3E}">
        <p14:creationId xmlns:p14="http://schemas.microsoft.com/office/powerpoint/2010/main" val="2326368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A73D-D61B-6885-DADD-40DDA3F6D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D60B9-FA7A-F72B-5147-C1C913FC7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BD761-FE60-4950-7377-8F04E4C17133}"/>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E9465AFF-4DBA-44E9-52C5-2E1428A40DDA}"/>
              </a:ext>
            </a:extLst>
          </p:cNvPr>
          <p:cNvSpPr>
            <a:spLocks noGrp="1"/>
          </p:cNvSpPr>
          <p:nvPr>
            <p:ph type="sldNum" sz="quarter" idx="5"/>
          </p:nvPr>
        </p:nvSpPr>
        <p:spPr/>
        <p:txBody>
          <a:bodyPr/>
          <a:lstStyle/>
          <a:p>
            <a:pPr>
              <a:defRPr/>
            </a:pPr>
            <a:fld id="{5C806C1B-B03E-46DA-85CD-D90BC0B37545}" type="slidenum">
              <a:rPr lang="en-US" altLang="zh-CN" smtClean="0"/>
              <a:pPr>
                <a:defRPr/>
              </a:pPr>
              <a:t>41</a:t>
            </a:fld>
            <a:endParaRPr lang="en-US" altLang="zh-CN"/>
          </a:p>
        </p:txBody>
      </p:sp>
    </p:spTree>
    <p:extLst>
      <p:ext uri="{BB962C8B-B14F-4D97-AF65-F5344CB8AC3E}">
        <p14:creationId xmlns:p14="http://schemas.microsoft.com/office/powerpoint/2010/main" val="25345007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D85B5-263B-12CF-143E-AD5F20806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5B951-D376-EC77-C8A5-E6A03E177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2295F-A185-FD2C-6030-DDE0E46C79D6}"/>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94FA7F8D-E75B-C79F-45B5-FAE12B532055}"/>
              </a:ext>
            </a:extLst>
          </p:cNvPr>
          <p:cNvSpPr>
            <a:spLocks noGrp="1"/>
          </p:cNvSpPr>
          <p:nvPr>
            <p:ph type="sldNum" sz="quarter" idx="5"/>
          </p:nvPr>
        </p:nvSpPr>
        <p:spPr/>
        <p:txBody>
          <a:bodyPr/>
          <a:lstStyle/>
          <a:p>
            <a:pPr>
              <a:defRPr/>
            </a:pPr>
            <a:fld id="{5C806C1B-B03E-46DA-85CD-D90BC0B37545}" type="slidenum">
              <a:rPr lang="en-US" altLang="zh-CN" smtClean="0"/>
              <a:pPr>
                <a:defRPr/>
              </a:pPr>
              <a:t>42</a:t>
            </a:fld>
            <a:endParaRPr lang="en-US" altLang="zh-CN"/>
          </a:p>
        </p:txBody>
      </p:sp>
    </p:spTree>
    <p:extLst>
      <p:ext uri="{BB962C8B-B14F-4D97-AF65-F5344CB8AC3E}">
        <p14:creationId xmlns:p14="http://schemas.microsoft.com/office/powerpoint/2010/main" val="15139760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4FEA3-C454-A2E6-925D-AEB4854EE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E02BA-26E3-362C-A746-F3EEBD3C3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A07BD-B083-40F2-CA9E-B2E4606C099A}"/>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41E76D1D-F159-041B-6D86-A9E06F71D279}"/>
              </a:ext>
            </a:extLst>
          </p:cNvPr>
          <p:cNvSpPr>
            <a:spLocks noGrp="1"/>
          </p:cNvSpPr>
          <p:nvPr>
            <p:ph type="sldNum" sz="quarter" idx="5"/>
          </p:nvPr>
        </p:nvSpPr>
        <p:spPr/>
        <p:txBody>
          <a:bodyPr/>
          <a:lstStyle/>
          <a:p>
            <a:pPr>
              <a:defRPr/>
            </a:pPr>
            <a:fld id="{5C806C1B-B03E-46DA-85CD-D90BC0B37545}" type="slidenum">
              <a:rPr lang="en-US" altLang="zh-CN" smtClean="0"/>
              <a:pPr>
                <a:defRPr/>
              </a:pPr>
              <a:t>43</a:t>
            </a:fld>
            <a:endParaRPr lang="en-US" altLang="zh-CN"/>
          </a:p>
        </p:txBody>
      </p:sp>
    </p:spTree>
    <p:extLst>
      <p:ext uri="{BB962C8B-B14F-4D97-AF65-F5344CB8AC3E}">
        <p14:creationId xmlns:p14="http://schemas.microsoft.com/office/powerpoint/2010/main" val="3116263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763E9-8D58-C090-EC68-FCDCC78D0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2D5C7-CEFD-1641-9AAC-E5EB18F31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352BE-F622-B391-85DE-9B07B551A246}"/>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6F814FD8-C554-69CD-375B-B15A8B611F09}"/>
              </a:ext>
            </a:extLst>
          </p:cNvPr>
          <p:cNvSpPr>
            <a:spLocks noGrp="1"/>
          </p:cNvSpPr>
          <p:nvPr>
            <p:ph type="sldNum" sz="quarter" idx="5"/>
          </p:nvPr>
        </p:nvSpPr>
        <p:spPr/>
        <p:txBody>
          <a:bodyPr/>
          <a:lstStyle/>
          <a:p>
            <a:pPr>
              <a:defRPr/>
            </a:pPr>
            <a:fld id="{5C806C1B-B03E-46DA-85CD-D90BC0B37545}" type="slidenum">
              <a:rPr lang="en-US" altLang="zh-CN" smtClean="0"/>
              <a:pPr>
                <a:defRPr/>
              </a:pPr>
              <a:t>44</a:t>
            </a:fld>
            <a:endParaRPr lang="en-US" altLang="zh-CN"/>
          </a:p>
        </p:txBody>
      </p:sp>
    </p:spTree>
    <p:extLst>
      <p:ext uri="{BB962C8B-B14F-4D97-AF65-F5344CB8AC3E}">
        <p14:creationId xmlns:p14="http://schemas.microsoft.com/office/powerpoint/2010/main" val="3279421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22054-BA46-69B7-3778-F02D1F347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209AC-CA76-63EE-F332-AC9AA58EF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F61E5-6986-CAE4-7BF0-911902A0782E}"/>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F90918C0-3F85-A465-C4E0-83053010B52D}"/>
              </a:ext>
            </a:extLst>
          </p:cNvPr>
          <p:cNvSpPr>
            <a:spLocks noGrp="1"/>
          </p:cNvSpPr>
          <p:nvPr>
            <p:ph type="sldNum" sz="quarter" idx="5"/>
          </p:nvPr>
        </p:nvSpPr>
        <p:spPr/>
        <p:txBody>
          <a:bodyPr/>
          <a:lstStyle/>
          <a:p>
            <a:pPr>
              <a:defRPr/>
            </a:pPr>
            <a:fld id="{5C806C1B-B03E-46DA-85CD-D90BC0B37545}" type="slidenum">
              <a:rPr lang="en-US" altLang="zh-CN" smtClean="0"/>
              <a:pPr>
                <a:defRPr/>
              </a:pPr>
              <a:t>45</a:t>
            </a:fld>
            <a:endParaRPr lang="en-US" altLang="zh-CN"/>
          </a:p>
        </p:txBody>
      </p:sp>
    </p:spTree>
    <p:extLst>
      <p:ext uri="{BB962C8B-B14F-4D97-AF65-F5344CB8AC3E}">
        <p14:creationId xmlns:p14="http://schemas.microsoft.com/office/powerpoint/2010/main" val="7443461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0B7C-680F-0330-B5F3-883E80E2C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BDB38-660A-24B0-FEBC-B0BB74E9B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9AB39-65E2-B838-3E6F-1B2A9F1F03D9}"/>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AFF3309-6190-E9B4-BCB3-DC7258AECAB2}"/>
              </a:ext>
            </a:extLst>
          </p:cNvPr>
          <p:cNvSpPr>
            <a:spLocks noGrp="1"/>
          </p:cNvSpPr>
          <p:nvPr>
            <p:ph type="sldNum" sz="quarter" idx="5"/>
          </p:nvPr>
        </p:nvSpPr>
        <p:spPr/>
        <p:txBody>
          <a:bodyPr/>
          <a:lstStyle/>
          <a:p>
            <a:pPr>
              <a:defRPr/>
            </a:pPr>
            <a:fld id="{5C806C1B-B03E-46DA-85CD-D90BC0B37545}" type="slidenum">
              <a:rPr lang="en-US" altLang="zh-CN" smtClean="0"/>
              <a:pPr>
                <a:defRPr/>
              </a:pPr>
              <a:t>46</a:t>
            </a:fld>
            <a:endParaRPr lang="en-US" altLang="zh-CN"/>
          </a:p>
        </p:txBody>
      </p:sp>
    </p:spTree>
    <p:extLst>
      <p:ext uri="{BB962C8B-B14F-4D97-AF65-F5344CB8AC3E}">
        <p14:creationId xmlns:p14="http://schemas.microsoft.com/office/powerpoint/2010/main" val="16017151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31D9-5FCC-B8D5-8959-40872D9C8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9DA06-B39B-CD9B-41FD-76B4E7131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F6FDC-96D7-08C4-BEAB-6AFDF87CC872}"/>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BA85DE5C-8882-CD43-C36B-18ED45AE4BDA}"/>
              </a:ext>
            </a:extLst>
          </p:cNvPr>
          <p:cNvSpPr>
            <a:spLocks noGrp="1"/>
          </p:cNvSpPr>
          <p:nvPr>
            <p:ph type="sldNum" sz="quarter" idx="5"/>
          </p:nvPr>
        </p:nvSpPr>
        <p:spPr/>
        <p:txBody>
          <a:bodyPr/>
          <a:lstStyle/>
          <a:p>
            <a:pPr>
              <a:defRPr/>
            </a:pPr>
            <a:fld id="{5C806C1B-B03E-46DA-85CD-D90BC0B37545}" type="slidenum">
              <a:rPr lang="en-US" altLang="zh-CN" smtClean="0"/>
              <a:pPr>
                <a:defRPr/>
              </a:pPr>
              <a:t>50</a:t>
            </a:fld>
            <a:endParaRPr lang="en-US" altLang="zh-CN"/>
          </a:p>
        </p:txBody>
      </p:sp>
    </p:spTree>
    <p:extLst>
      <p:ext uri="{BB962C8B-B14F-4D97-AF65-F5344CB8AC3E}">
        <p14:creationId xmlns:p14="http://schemas.microsoft.com/office/powerpoint/2010/main" val="1669203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51</a:t>
            </a:fld>
            <a:endParaRPr lang="en-US" altLang="zh-CN"/>
          </a:p>
        </p:txBody>
      </p:sp>
    </p:spTree>
    <p:extLst>
      <p:ext uri="{BB962C8B-B14F-4D97-AF65-F5344CB8AC3E}">
        <p14:creationId xmlns:p14="http://schemas.microsoft.com/office/powerpoint/2010/main" val="1786509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52</a:t>
            </a:fld>
            <a:endParaRPr lang="en-US" altLang="zh-CN"/>
          </a:p>
        </p:txBody>
      </p:sp>
    </p:spTree>
    <p:extLst>
      <p:ext uri="{BB962C8B-B14F-4D97-AF65-F5344CB8AC3E}">
        <p14:creationId xmlns:p14="http://schemas.microsoft.com/office/powerpoint/2010/main" val="24328709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53</a:t>
            </a:fld>
            <a:endParaRPr lang="en-US" altLang="zh-CN"/>
          </a:p>
        </p:txBody>
      </p:sp>
    </p:spTree>
    <p:extLst>
      <p:ext uri="{BB962C8B-B14F-4D97-AF65-F5344CB8AC3E}">
        <p14:creationId xmlns:p14="http://schemas.microsoft.com/office/powerpoint/2010/main" val="2791932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54</a:t>
            </a:fld>
            <a:endParaRPr lang="en-US" altLang="zh-CN"/>
          </a:p>
        </p:txBody>
      </p:sp>
    </p:spTree>
    <p:extLst>
      <p:ext uri="{BB962C8B-B14F-4D97-AF65-F5344CB8AC3E}">
        <p14:creationId xmlns:p14="http://schemas.microsoft.com/office/powerpoint/2010/main" val="3283310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55</a:t>
            </a:fld>
            <a:endParaRPr lang="en-US" altLang="zh-CN"/>
          </a:p>
        </p:txBody>
      </p:sp>
    </p:spTree>
    <p:extLst>
      <p:ext uri="{BB962C8B-B14F-4D97-AF65-F5344CB8AC3E}">
        <p14:creationId xmlns:p14="http://schemas.microsoft.com/office/powerpoint/2010/main" val="26720243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56</a:t>
            </a:fld>
            <a:endParaRPr lang="en-US" altLang="zh-CN"/>
          </a:p>
        </p:txBody>
      </p:sp>
    </p:spTree>
    <p:extLst>
      <p:ext uri="{BB962C8B-B14F-4D97-AF65-F5344CB8AC3E}">
        <p14:creationId xmlns:p14="http://schemas.microsoft.com/office/powerpoint/2010/main" val="2095256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57</a:t>
            </a:fld>
            <a:endParaRPr lang="en-US" altLang="zh-CN"/>
          </a:p>
        </p:txBody>
      </p:sp>
    </p:spTree>
    <p:extLst>
      <p:ext uri="{BB962C8B-B14F-4D97-AF65-F5344CB8AC3E}">
        <p14:creationId xmlns:p14="http://schemas.microsoft.com/office/powerpoint/2010/main" val="6757218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58</a:t>
            </a:fld>
            <a:endParaRPr lang="en-US" altLang="zh-CN"/>
          </a:p>
        </p:txBody>
      </p:sp>
    </p:spTree>
    <p:extLst>
      <p:ext uri="{BB962C8B-B14F-4D97-AF65-F5344CB8AC3E}">
        <p14:creationId xmlns:p14="http://schemas.microsoft.com/office/powerpoint/2010/main" val="11833719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59</a:t>
            </a:fld>
            <a:endParaRPr lang="en-US" altLang="zh-CN"/>
          </a:p>
        </p:txBody>
      </p:sp>
    </p:spTree>
    <p:extLst>
      <p:ext uri="{BB962C8B-B14F-4D97-AF65-F5344CB8AC3E}">
        <p14:creationId xmlns:p14="http://schemas.microsoft.com/office/powerpoint/2010/main" val="40193912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60</a:t>
            </a:fld>
            <a:endParaRPr lang="en-US" altLang="zh-CN"/>
          </a:p>
        </p:txBody>
      </p:sp>
    </p:spTree>
    <p:extLst>
      <p:ext uri="{BB962C8B-B14F-4D97-AF65-F5344CB8AC3E}">
        <p14:creationId xmlns:p14="http://schemas.microsoft.com/office/powerpoint/2010/main" val="35324435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AD06A-71A1-5E86-58A0-1B7D4B7C2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A242F-D8A5-DA46-791F-81A556E51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168C3-8B07-11ED-2459-5FF68AF82F08}"/>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C115263-92B6-8C0E-32FC-0BA83F62361C}"/>
              </a:ext>
            </a:extLst>
          </p:cNvPr>
          <p:cNvSpPr>
            <a:spLocks noGrp="1"/>
          </p:cNvSpPr>
          <p:nvPr>
            <p:ph type="sldNum" sz="quarter" idx="5"/>
          </p:nvPr>
        </p:nvSpPr>
        <p:spPr/>
        <p:txBody>
          <a:bodyPr/>
          <a:lstStyle/>
          <a:p>
            <a:pPr>
              <a:defRPr/>
            </a:pPr>
            <a:fld id="{5C806C1B-B03E-46DA-85CD-D90BC0B37545}" type="slidenum">
              <a:rPr lang="en-US" altLang="zh-CN" smtClean="0"/>
              <a:pPr>
                <a:defRPr/>
              </a:pPr>
              <a:t>62</a:t>
            </a:fld>
            <a:endParaRPr lang="en-US" altLang="zh-CN"/>
          </a:p>
        </p:txBody>
      </p:sp>
    </p:spTree>
    <p:extLst>
      <p:ext uri="{BB962C8B-B14F-4D97-AF65-F5344CB8AC3E}">
        <p14:creationId xmlns:p14="http://schemas.microsoft.com/office/powerpoint/2010/main" val="38469406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FD38206-ADB0-4563-B9F1-EC9115C21A79}" type="slidenum">
              <a:rPr lang="en-US" smtClean="0"/>
              <a:pPr>
                <a:defRPr/>
              </a:pPr>
              <a:t>64</a:t>
            </a:fld>
            <a:endParaRPr lang="en-US"/>
          </a:p>
        </p:txBody>
      </p:sp>
    </p:spTree>
    <p:extLst>
      <p:ext uri="{BB962C8B-B14F-4D97-AF65-F5344CB8AC3E}">
        <p14:creationId xmlns:p14="http://schemas.microsoft.com/office/powerpoint/2010/main" val="6785443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66</a:t>
            </a:fld>
            <a:endParaRPr lang="en-US" altLang="zh-CN"/>
          </a:p>
        </p:txBody>
      </p:sp>
    </p:spTree>
    <p:extLst>
      <p:ext uri="{BB962C8B-B14F-4D97-AF65-F5344CB8AC3E}">
        <p14:creationId xmlns:p14="http://schemas.microsoft.com/office/powerpoint/2010/main" val="3384975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67</a:t>
            </a:fld>
            <a:endParaRPr lang="en-US" altLang="zh-CN"/>
          </a:p>
        </p:txBody>
      </p:sp>
    </p:spTree>
    <p:extLst>
      <p:ext uri="{BB962C8B-B14F-4D97-AF65-F5344CB8AC3E}">
        <p14:creationId xmlns:p14="http://schemas.microsoft.com/office/powerpoint/2010/main" val="5228674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68</a:t>
            </a:fld>
            <a:endParaRPr lang="en-US" altLang="zh-CN"/>
          </a:p>
        </p:txBody>
      </p:sp>
    </p:spTree>
    <p:extLst>
      <p:ext uri="{BB962C8B-B14F-4D97-AF65-F5344CB8AC3E}">
        <p14:creationId xmlns:p14="http://schemas.microsoft.com/office/powerpoint/2010/main" val="31223271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69</a:t>
            </a:fld>
            <a:endParaRPr lang="en-US" altLang="zh-CN"/>
          </a:p>
        </p:txBody>
      </p:sp>
    </p:spTree>
    <p:extLst>
      <p:ext uri="{BB962C8B-B14F-4D97-AF65-F5344CB8AC3E}">
        <p14:creationId xmlns:p14="http://schemas.microsoft.com/office/powerpoint/2010/main" val="771051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70</a:t>
            </a:fld>
            <a:endParaRPr lang="en-US" altLang="zh-CN"/>
          </a:p>
        </p:txBody>
      </p:sp>
    </p:spTree>
    <p:extLst>
      <p:ext uri="{BB962C8B-B14F-4D97-AF65-F5344CB8AC3E}">
        <p14:creationId xmlns:p14="http://schemas.microsoft.com/office/powerpoint/2010/main" val="10748418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71</a:t>
            </a:fld>
            <a:endParaRPr lang="en-US" altLang="zh-CN"/>
          </a:p>
        </p:txBody>
      </p:sp>
    </p:spTree>
    <p:extLst>
      <p:ext uri="{BB962C8B-B14F-4D97-AF65-F5344CB8AC3E}">
        <p14:creationId xmlns:p14="http://schemas.microsoft.com/office/powerpoint/2010/main" val="31955358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72</a:t>
            </a:fld>
            <a:endParaRPr lang="en-US" altLang="zh-CN"/>
          </a:p>
        </p:txBody>
      </p:sp>
    </p:spTree>
    <p:extLst>
      <p:ext uri="{BB962C8B-B14F-4D97-AF65-F5344CB8AC3E}">
        <p14:creationId xmlns:p14="http://schemas.microsoft.com/office/powerpoint/2010/main" val="40500466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73</a:t>
            </a:fld>
            <a:endParaRPr lang="en-US" altLang="zh-CN"/>
          </a:p>
        </p:txBody>
      </p:sp>
    </p:spTree>
    <p:extLst>
      <p:ext uri="{BB962C8B-B14F-4D97-AF65-F5344CB8AC3E}">
        <p14:creationId xmlns:p14="http://schemas.microsoft.com/office/powerpoint/2010/main" val="21072290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74</a:t>
            </a:fld>
            <a:endParaRPr lang="en-US" altLang="zh-CN"/>
          </a:p>
        </p:txBody>
      </p:sp>
    </p:spTree>
    <p:extLst>
      <p:ext uri="{BB962C8B-B14F-4D97-AF65-F5344CB8AC3E}">
        <p14:creationId xmlns:p14="http://schemas.microsoft.com/office/powerpoint/2010/main" val="7625234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75</a:t>
            </a:fld>
            <a:endParaRPr lang="en-US" altLang="zh-CN"/>
          </a:p>
        </p:txBody>
      </p:sp>
    </p:spTree>
    <p:extLst>
      <p:ext uri="{BB962C8B-B14F-4D97-AF65-F5344CB8AC3E}">
        <p14:creationId xmlns:p14="http://schemas.microsoft.com/office/powerpoint/2010/main" val="14338776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76</a:t>
            </a:fld>
            <a:endParaRPr lang="en-US" altLang="zh-CN"/>
          </a:p>
        </p:txBody>
      </p:sp>
    </p:spTree>
    <p:extLst>
      <p:ext uri="{BB962C8B-B14F-4D97-AF65-F5344CB8AC3E}">
        <p14:creationId xmlns:p14="http://schemas.microsoft.com/office/powerpoint/2010/main" val="4628763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77</a:t>
            </a:fld>
            <a:endParaRPr lang="en-US" altLang="zh-CN"/>
          </a:p>
        </p:txBody>
      </p:sp>
    </p:spTree>
    <p:extLst>
      <p:ext uri="{BB962C8B-B14F-4D97-AF65-F5344CB8AC3E}">
        <p14:creationId xmlns:p14="http://schemas.microsoft.com/office/powerpoint/2010/main" val="35648251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78</a:t>
            </a:fld>
            <a:endParaRPr lang="en-US" altLang="zh-CN"/>
          </a:p>
        </p:txBody>
      </p:sp>
    </p:spTree>
    <p:extLst>
      <p:ext uri="{BB962C8B-B14F-4D97-AF65-F5344CB8AC3E}">
        <p14:creationId xmlns:p14="http://schemas.microsoft.com/office/powerpoint/2010/main" val="25824633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79</a:t>
            </a:fld>
            <a:endParaRPr lang="en-US" altLang="zh-CN"/>
          </a:p>
        </p:txBody>
      </p:sp>
    </p:spTree>
    <p:extLst>
      <p:ext uri="{BB962C8B-B14F-4D97-AF65-F5344CB8AC3E}">
        <p14:creationId xmlns:p14="http://schemas.microsoft.com/office/powerpoint/2010/main" val="16721859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7DD91-E353-24D8-AA1F-6FF09C60E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19AB1-2C85-1BDD-310B-572CF8F58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17C71-080D-121B-56BE-B66BDF7E9E3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4161F844-FB0A-ADBC-12B6-1E85A273C623}"/>
              </a:ext>
            </a:extLst>
          </p:cNvPr>
          <p:cNvSpPr>
            <a:spLocks noGrp="1"/>
          </p:cNvSpPr>
          <p:nvPr>
            <p:ph type="sldNum" sz="quarter" idx="5"/>
          </p:nvPr>
        </p:nvSpPr>
        <p:spPr/>
        <p:txBody>
          <a:bodyPr/>
          <a:lstStyle/>
          <a:p>
            <a:pPr>
              <a:defRPr/>
            </a:pPr>
            <a:fld id="{5C806C1B-B03E-46DA-85CD-D90BC0B37545}" type="slidenum">
              <a:rPr lang="en-US" altLang="zh-CN" smtClean="0"/>
              <a:pPr>
                <a:defRPr/>
              </a:pPr>
              <a:t>80</a:t>
            </a:fld>
            <a:endParaRPr lang="en-US" altLang="zh-CN"/>
          </a:p>
        </p:txBody>
      </p:sp>
    </p:spTree>
    <p:extLst>
      <p:ext uri="{BB962C8B-B14F-4D97-AF65-F5344CB8AC3E}">
        <p14:creationId xmlns:p14="http://schemas.microsoft.com/office/powerpoint/2010/main" val="7536392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81</a:t>
            </a:fld>
            <a:endParaRPr lang="en-US" altLang="zh-CN"/>
          </a:p>
        </p:txBody>
      </p:sp>
    </p:spTree>
    <p:extLst>
      <p:ext uri="{BB962C8B-B14F-4D97-AF65-F5344CB8AC3E}">
        <p14:creationId xmlns:p14="http://schemas.microsoft.com/office/powerpoint/2010/main" val="40003400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82</a:t>
            </a:fld>
            <a:endParaRPr lang="en-US" altLang="zh-CN"/>
          </a:p>
        </p:txBody>
      </p:sp>
    </p:spTree>
    <p:extLst>
      <p:ext uri="{BB962C8B-B14F-4D97-AF65-F5344CB8AC3E}">
        <p14:creationId xmlns:p14="http://schemas.microsoft.com/office/powerpoint/2010/main" val="30346925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83</a:t>
            </a:fld>
            <a:endParaRPr lang="en-US" altLang="zh-CN"/>
          </a:p>
        </p:txBody>
      </p:sp>
    </p:spTree>
    <p:extLst>
      <p:ext uri="{BB962C8B-B14F-4D97-AF65-F5344CB8AC3E}">
        <p14:creationId xmlns:p14="http://schemas.microsoft.com/office/powerpoint/2010/main" val="705503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84</a:t>
            </a:fld>
            <a:endParaRPr lang="en-US" altLang="zh-CN"/>
          </a:p>
        </p:txBody>
      </p:sp>
    </p:spTree>
    <p:extLst>
      <p:ext uri="{BB962C8B-B14F-4D97-AF65-F5344CB8AC3E}">
        <p14:creationId xmlns:p14="http://schemas.microsoft.com/office/powerpoint/2010/main" val="17561215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85</a:t>
            </a:fld>
            <a:endParaRPr lang="en-US" altLang="zh-CN"/>
          </a:p>
        </p:txBody>
      </p:sp>
    </p:spTree>
    <p:extLst>
      <p:ext uri="{BB962C8B-B14F-4D97-AF65-F5344CB8AC3E}">
        <p14:creationId xmlns:p14="http://schemas.microsoft.com/office/powerpoint/2010/main" val="30461530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86</a:t>
            </a:fld>
            <a:endParaRPr lang="en-US" altLang="zh-CN"/>
          </a:p>
        </p:txBody>
      </p:sp>
    </p:spTree>
    <p:extLst>
      <p:ext uri="{BB962C8B-B14F-4D97-AF65-F5344CB8AC3E}">
        <p14:creationId xmlns:p14="http://schemas.microsoft.com/office/powerpoint/2010/main" val="32091999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87</a:t>
            </a:fld>
            <a:endParaRPr lang="en-US" altLang="zh-CN"/>
          </a:p>
        </p:txBody>
      </p:sp>
    </p:spTree>
    <p:extLst>
      <p:ext uri="{BB962C8B-B14F-4D97-AF65-F5344CB8AC3E}">
        <p14:creationId xmlns:p14="http://schemas.microsoft.com/office/powerpoint/2010/main" val="3428775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88</a:t>
            </a:fld>
            <a:endParaRPr lang="en-US" altLang="zh-CN"/>
          </a:p>
        </p:txBody>
      </p:sp>
    </p:spTree>
    <p:extLst>
      <p:ext uri="{BB962C8B-B14F-4D97-AF65-F5344CB8AC3E}">
        <p14:creationId xmlns:p14="http://schemas.microsoft.com/office/powerpoint/2010/main" val="7314504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89</a:t>
            </a:fld>
            <a:endParaRPr lang="en-US" altLang="zh-CN"/>
          </a:p>
        </p:txBody>
      </p:sp>
    </p:spTree>
    <p:extLst>
      <p:ext uri="{BB962C8B-B14F-4D97-AF65-F5344CB8AC3E}">
        <p14:creationId xmlns:p14="http://schemas.microsoft.com/office/powerpoint/2010/main" val="6476656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90</a:t>
            </a:fld>
            <a:endParaRPr lang="en-US" altLang="zh-CN"/>
          </a:p>
        </p:txBody>
      </p:sp>
    </p:spTree>
    <p:extLst>
      <p:ext uri="{BB962C8B-B14F-4D97-AF65-F5344CB8AC3E}">
        <p14:creationId xmlns:p14="http://schemas.microsoft.com/office/powerpoint/2010/main" val="16198707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91</a:t>
            </a:fld>
            <a:endParaRPr lang="en-US" altLang="zh-CN"/>
          </a:p>
        </p:txBody>
      </p:sp>
    </p:spTree>
    <p:extLst>
      <p:ext uri="{BB962C8B-B14F-4D97-AF65-F5344CB8AC3E}">
        <p14:creationId xmlns:p14="http://schemas.microsoft.com/office/powerpoint/2010/main" val="26832157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92</a:t>
            </a:fld>
            <a:endParaRPr lang="en-US" altLang="zh-CN"/>
          </a:p>
        </p:txBody>
      </p:sp>
    </p:spTree>
    <p:extLst>
      <p:ext uri="{BB962C8B-B14F-4D97-AF65-F5344CB8AC3E}">
        <p14:creationId xmlns:p14="http://schemas.microsoft.com/office/powerpoint/2010/main" val="24523611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93</a:t>
            </a:fld>
            <a:endParaRPr lang="en-US" altLang="zh-CN"/>
          </a:p>
        </p:txBody>
      </p:sp>
    </p:spTree>
    <p:extLst>
      <p:ext uri="{BB962C8B-B14F-4D97-AF65-F5344CB8AC3E}">
        <p14:creationId xmlns:p14="http://schemas.microsoft.com/office/powerpoint/2010/main" val="31181057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94</a:t>
            </a:fld>
            <a:endParaRPr lang="en-US" altLang="zh-CN"/>
          </a:p>
        </p:txBody>
      </p:sp>
    </p:spTree>
    <p:extLst>
      <p:ext uri="{BB962C8B-B14F-4D97-AF65-F5344CB8AC3E}">
        <p14:creationId xmlns:p14="http://schemas.microsoft.com/office/powerpoint/2010/main" val="32213746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95</a:t>
            </a:fld>
            <a:endParaRPr lang="en-US" altLang="zh-CN"/>
          </a:p>
        </p:txBody>
      </p:sp>
    </p:spTree>
    <p:extLst>
      <p:ext uri="{BB962C8B-B14F-4D97-AF65-F5344CB8AC3E}">
        <p14:creationId xmlns:p14="http://schemas.microsoft.com/office/powerpoint/2010/main" val="34321998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96</a:t>
            </a:fld>
            <a:endParaRPr lang="en-US" altLang="zh-CN"/>
          </a:p>
        </p:txBody>
      </p:sp>
    </p:spTree>
    <p:extLst>
      <p:ext uri="{BB962C8B-B14F-4D97-AF65-F5344CB8AC3E}">
        <p14:creationId xmlns:p14="http://schemas.microsoft.com/office/powerpoint/2010/main" val="28816508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A7F7-12A9-5483-0D08-90C12B733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6A716-4F86-94E7-D341-EB615B399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8A05E-0822-47C7-3FE4-0FD94435F222}"/>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570799A4-5BEE-BA62-655B-005E98311CA9}"/>
              </a:ext>
            </a:extLst>
          </p:cNvPr>
          <p:cNvSpPr>
            <a:spLocks noGrp="1"/>
          </p:cNvSpPr>
          <p:nvPr>
            <p:ph type="sldNum" sz="quarter" idx="5"/>
          </p:nvPr>
        </p:nvSpPr>
        <p:spPr/>
        <p:txBody>
          <a:bodyPr/>
          <a:lstStyle/>
          <a:p>
            <a:pPr>
              <a:defRPr/>
            </a:pPr>
            <a:fld id="{5C806C1B-B03E-46DA-85CD-D90BC0B37545}" type="slidenum">
              <a:rPr lang="en-US" altLang="zh-CN" smtClean="0"/>
              <a:pPr>
                <a:defRPr/>
              </a:pPr>
              <a:t>97</a:t>
            </a:fld>
            <a:endParaRPr lang="en-US" altLang="zh-CN"/>
          </a:p>
        </p:txBody>
      </p:sp>
    </p:spTree>
    <p:extLst>
      <p:ext uri="{BB962C8B-B14F-4D97-AF65-F5344CB8AC3E}">
        <p14:creationId xmlns:p14="http://schemas.microsoft.com/office/powerpoint/2010/main" val="27118280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D8F65-E0DD-5538-4669-C75DAD62D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AF46D-8F84-8F4D-9E65-E28575C853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55E7A-199B-FA1D-CF8C-0D9762B002C7}"/>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8CD79970-5A9A-CDCD-E3AF-BFBCF48397A3}"/>
              </a:ext>
            </a:extLst>
          </p:cNvPr>
          <p:cNvSpPr>
            <a:spLocks noGrp="1"/>
          </p:cNvSpPr>
          <p:nvPr>
            <p:ph type="sldNum" sz="quarter" idx="5"/>
          </p:nvPr>
        </p:nvSpPr>
        <p:spPr/>
        <p:txBody>
          <a:bodyPr/>
          <a:lstStyle/>
          <a:p>
            <a:pPr>
              <a:defRPr/>
            </a:pPr>
            <a:fld id="{5C806C1B-B03E-46DA-85CD-D90BC0B37545}" type="slidenum">
              <a:rPr lang="en-US" altLang="zh-CN" smtClean="0"/>
              <a:pPr>
                <a:defRPr/>
              </a:pPr>
              <a:t>98</a:t>
            </a:fld>
            <a:endParaRPr lang="en-US" altLang="zh-CN"/>
          </a:p>
        </p:txBody>
      </p:sp>
    </p:spTree>
    <p:extLst>
      <p:ext uri="{BB962C8B-B14F-4D97-AF65-F5344CB8AC3E}">
        <p14:creationId xmlns:p14="http://schemas.microsoft.com/office/powerpoint/2010/main" val="375567294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B9BBB-C10E-CDF4-EA76-15D7B3F84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A151A-FED7-04A7-032B-81AA9F296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0AC42-4A28-7B08-E6B7-DBF803483FC1}"/>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A51C895F-E3C3-3F1C-7CD4-301A14D607ED}"/>
              </a:ext>
            </a:extLst>
          </p:cNvPr>
          <p:cNvSpPr>
            <a:spLocks noGrp="1"/>
          </p:cNvSpPr>
          <p:nvPr>
            <p:ph type="sldNum" sz="quarter" idx="5"/>
          </p:nvPr>
        </p:nvSpPr>
        <p:spPr/>
        <p:txBody>
          <a:bodyPr/>
          <a:lstStyle/>
          <a:p>
            <a:pPr>
              <a:defRPr/>
            </a:pPr>
            <a:fld id="{5C806C1B-B03E-46DA-85CD-D90BC0B37545}" type="slidenum">
              <a:rPr lang="en-US" altLang="zh-CN" smtClean="0"/>
              <a:pPr>
                <a:defRPr/>
              </a:pPr>
              <a:t>99</a:t>
            </a:fld>
            <a:endParaRPr lang="en-US" altLang="zh-CN"/>
          </a:p>
        </p:txBody>
      </p:sp>
    </p:spTree>
    <p:extLst>
      <p:ext uri="{BB962C8B-B14F-4D97-AF65-F5344CB8AC3E}">
        <p14:creationId xmlns:p14="http://schemas.microsoft.com/office/powerpoint/2010/main" val="36367875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57F7688E-3E4A-461B-8D10-9B016CF52F5C}" type="slidenum">
              <a:rPr lang="en-US" altLang="zh-CN" smtClean="0">
                <a:latin typeface="Arial" panose="020B0604020202020204" pitchFamily="34" charset="0"/>
              </a:rPr>
              <a:pPr/>
              <a:t>101</a:t>
            </a:fld>
            <a:endParaRPr lang="en-US" altLang="zh-CN">
              <a:latin typeface="Arial" panose="020B0604020202020204" pitchFamily="34"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68014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24588"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2458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chemeClr val="bg2"/>
                </a:solidFill>
                <a:latin typeface="Tahoma" pitchFamily="34" charset="0"/>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Machine Learning Basics: 1. General Introduction</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400">
                <a:solidFill>
                  <a:schemeClr val="bg2"/>
                </a:solidFill>
                <a:latin typeface="Tahoma" panose="020B0604030504040204" pitchFamily="34" charset="0"/>
              </a:defRPr>
            </a:lvl1pPr>
          </a:lstStyle>
          <a:p>
            <a:pPr>
              <a:defRPr/>
            </a:pPr>
            <a:fld id="{EF41B76D-9336-435E-89FD-3D5A1B77420D}" type="slidenum">
              <a:rPr lang="en-US" altLang="zh-CN"/>
              <a:pPr>
                <a:defRPr/>
              </a:pPr>
              <a:t>‹#›</a:t>
            </a:fld>
            <a:endParaRPr lang="en-US" altLang="zh-CN"/>
          </a:p>
        </p:txBody>
      </p:sp>
    </p:spTree>
    <p:extLst>
      <p:ext uri="{BB962C8B-B14F-4D97-AF65-F5344CB8AC3E}">
        <p14:creationId xmlns:p14="http://schemas.microsoft.com/office/powerpoint/2010/main" val="189983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ltLang="zh-CN" dirty="0"/>
              <a:t>Machine Learning – Basic Principles &amp; Practice: 1. Prologue</a:t>
            </a:r>
          </a:p>
          <a:p>
            <a:pPr>
              <a:defRPr/>
            </a:pPr>
            <a:r>
              <a:rPr lang="zh-CN" altLang="en-US" dirty="0"/>
              <a:t>机器学习 </a:t>
            </a:r>
            <a:r>
              <a:rPr lang="en-US" altLang="zh-CN" dirty="0"/>
              <a:t>– </a:t>
            </a:r>
            <a:r>
              <a:rPr lang="zh-CN" altLang="en-US" dirty="0"/>
              <a:t>基础原理与实践：</a:t>
            </a:r>
            <a:r>
              <a:rPr lang="en-US" altLang="zh-CN" dirty="0"/>
              <a:t>1. </a:t>
            </a:r>
            <a:r>
              <a:rPr lang="zh-CN" altLang="en-US" dirty="0"/>
              <a:t>序言</a:t>
            </a:r>
            <a:endParaRPr lang="en-US" altLang="zh-CN" dirty="0"/>
          </a:p>
        </p:txBody>
      </p:sp>
    </p:spTree>
    <p:extLst>
      <p:ext uri="{BB962C8B-B14F-4D97-AF65-F5344CB8AC3E}">
        <p14:creationId xmlns:p14="http://schemas.microsoft.com/office/powerpoint/2010/main" val="348380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9853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50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1084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53766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162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2944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7928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4694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7050" y="457200"/>
            <a:ext cx="20383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457200"/>
            <a:ext cx="59626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70366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717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7" name="Rectangle 3"/>
          <p:cNvSpPr>
            <a:spLocks noChangeArrowheads="1"/>
          </p:cNvSpPr>
          <p:nvPr/>
        </p:nvSpPr>
        <p:spPr bwMode="ltGray">
          <a:xfrm>
            <a:off x="800100" y="717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8" name="Rectangle 4"/>
          <p:cNvSpPr>
            <a:spLocks noChangeArrowheads="1"/>
          </p:cNvSpPr>
          <p:nvPr/>
        </p:nvSpPr>
        <p:spPr bwMode="ltGray">
          <a:xfrm>
            <a:off x="541338" y="1139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9" name="Rectangle 5"/>
          <p:cNvSpPr>
            <a:spLocks noChangeArrowheads="1"/>
          </p:cNvSpPr>
          <p:nvPr/>
        </p:nvSpPr>
        <p:spPr bwMode="ltGray">
          <a:xfrm>
            <a:off x="911225" y="1139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0" name="Rectangle 6"/>
          <p:cNvSpPr>
            <a:spLocks noChangeArrowheads="1"/>
          </p:cNvSpPr>
          <p:nvPr/>
        </p:nvSpPr>
        <p:spPr bwMode="ltGray">
          <a:xfrm>
            <a:off x="127000" y="1066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1" name="Rectangle 7"/>
          <p:cNvSpPr>
            <a:spLocks noChangeArrowheads="1"/>
          </p:cNvSpPr>
          <p:nvPr/>
        </p:nvSpPr>
        <p:spPr bwMode="gray">
          <a:xfrm>
            <a:off x="762000" y="609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2" name="Rectangle 8"/>
          <p:cNvSpPr>
            <a:spLocks noChangeArrowheads="1"/>
          </p:cNvSpPr>
          <p:nvPr/>
        </p:nvSpPr>
        <p:spPr bwMode="gray">
          <a:xfrm>
            <a:off x="442913" y="1400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22363" y="457200"/>
            <a:ext cx="7793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762000" y="16002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3564" name="Rectangle 12"/>
          <p:cNvSpPr>
            <a:spLocks noGrp="1" noChangeArrowheads="1"/>
          </p:cNvSpPr>
          <p:nvPr>
            <p:ph type="ftr" sz="quarter" idx="3"/>
          </p:nvPr>
        </p:nvSpPr>
        <p:spPr bwMode="auto">
          <a:xfrm>
            <a:off x="762000" y="6243638"/>
            <a:ext cx="7772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pitchFamily="34" charset="0"/>
              </a:defRPr>
            </a:lvl1pPr>
          </a:lstStyle>
          <a:p>
            <a:pPr>
              <a:defRPr/>
            </a:pPr>
            <a:r>
              <a:rPr lang="en-US" dirty="0"/>
              <a:t>Machine Learning </a:t>
            </a:r>
            <a:r>
              <a:rPr lang="en-US" altLang="zh-CN" dirty="0"/>
              <a:t>–</a:t>
            </a:r>
            <a:r>
              <a:rPr lang="en-US" dirty="0"/>
              <a:t> Basic Principles &amp; Practice: 1. Prologue</a:t>
            </a:r>
          </a:p>
          <a:p>
            <a:pPr>
              <a:defRPr/>
            </a:pPr>
            <a:r>
              <a:rPr lang="zh-CN" altLang="en-US" dirty="0"/>
              <a:t>机器学习 </a:t>
            </a:r>
            <a:r>
              <a:rPr lang="en-US" altLang="zh-CN" dirty="0"/>
              <a:t>– </a:t>
            </a:r>
            <a:r>
              <a:rPr lang="zh-CN" altLang="en-US" dirty="0"/>
              <a:t>基础原理与实践：</a:t>
            </a:r>
            <a:r>
              <a:rPr lang="en-US" altLang="zh-CN" dirty="0"/>
              <a:t>1. </a:t>
            </a:r>
            <a:r>
              <a:rPr lang="zh-CN" altLang="en-US" dirty="0"/>
              <a:t>序言</a:t>
            </a:r>
            <a:endParaRPr lang="en-US" dirty="0"/>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14.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13" Type="http://schemas.openxmlformats.org/officeDocument/2006/relationships/image" Target="../media/image120.png"/><Relationship Id="rId3" Type="http://schemas.openxmlformats.org/officeDocument/2006/relationships/notesSlide" Target="../notesSlides/notesSlide2.xml"/><Relationship Id="rId12" Type="http://schemas.openxmlformats.org/officeDocument/2006/relationships/image" Target="../media/image110.png"/><Relationship Id="rId2" Type="http://schemas.openxmlformats.org/officeDocument/2006/relationships/slideLayout" Target="../slideLayouts/slideLayout2.xml"/><Relationship Id="rId1" Type="http://schemas.openxmlformats.org/officeDocument/2006/relationships/tags" Target="../tags/tag11.xml"/><Relationship Id="rId11" Type="http://schemas.openxmlformats.org/officeDocument/2006/relationships/image" Target="../media/image100.png"/><Relationship Id="rId5" Type="http://schemas.openxmlformats.org/officeDocument/2006/relationships/image" Target="../media/image15.emf"/><Relationship Id="rId15" Type="http://schemas.openxmlformats.org/officeDocument/2006/relationships/image" Target="../media/image16.gif"/><Relationship Id="rId10" Type="http://schemas.openxmlformats.org/officeDocument/2006/relationships/image" Target="../media/image90.png"/><Relationship Id="rId4" Type="http://schemas.openxmlformats.org/officeDocument/2006/relationships/oleObject" Target="../embeddings/oleObject1.bin"/><Relationship Id="rId9" Type="http://schemas.openxmlformats.org/officeDocument/2006/relationships/image" Target="../media/image80.png"/><Relationship Id="rId14" Type="http://schemas.openxmlformats.org/officeDocument/2006/relationships/image" Target="../media/image130.png"/></Relationships>
</file>

<file path=ppt/slides/_rels/slide19.xml.rels><?xml version="1.0" encoding="UTF-8" standalone="yes"?>
<Relationships xmlns="http://schemas.openxmlformats.org/package/2006/relationships"><Relationship Id="rId13" Type="http://schemas.openxmlformats.org/officeDocument/2006/relationships/image" Target="../media/image120.png"/><Relationship Id="rId3" Type="http://schemas.openxmlformats.org/officeDocument/2006/relationships/notesSlide" Target="../notesSlides/notesSlide3.xml"/><Relationship Id="rId12" Type="http://schemas.openxmlformats.org/officeDocument/2006/relationships/image" Target="../media/image110.png"/><Relationship Id="rId17" Type="http://schemas.openxmlformats.org/officeDocument/2006/relationships/image" Target="../media/image17.png"/><Relationship Id="rId2" Type="http://schemas.openxmlformats.org/officeDocument/2006/relationships/slideLayout" Target="../slideLayouts/slideLayout2.xml"/><Relationship Id="rId16" Type="http://schemas.openxmlformats.org/officeDocument/2006/relationships/image" Target="../media/image16.png"/><Relationship Id="rId1" Type="http://schemas.openxmlformats.org/officeDocument/2006/relationships/tags" Target="../tags/tag12.xml"/><Relationship Id="rId11" Type="http://schemas.openxmlformats.org/officeDocument/2006/relationships/image" Target="../media/image100.png"/><Relationship Id="rId5" Type="http://schemas.openxmlformats.org/officeDocument/2006/relationships/image" Target="../media/image15.emf"/><Relationship Id="rId15" Type="http://schemas.openxmlformats.org/officeDocument/2006/relationships/image" Target="../media/image15.png"/><Relationship Id="rId10" Type="http://schemas.openxmlformats.org/officeDocument/2006/relationships/image" Target="../media/image90.png"/><Relationship Id="rId4" Type="http://schemas.openxmlformats.org/officeDocument/2006/relationships/oleObject" Target="../embeddings/oleObject1.bin"/><Relationship Id="rId9" Type="http://schemas.openxmlformats.org/officeDocument/2006/relationships/image" Target="../media/image80.png"/><Relationship Id="rId14" Type="http://schemas.openxmlformats.org/officeDocument/2006/relationships/image" Target="../media/image140.png"/></Relationships>
</file>

<file path=ppt/slides/_rels/slide20.xml.rels><?xml version="1.0" encoding="UTF-8" standalone="yes"?>
<Relationships xmlns="http://schemas.openxmlformats.org/package/2006/relationships"><Relationship Id="rId13" Type="http://schemas.openxmlformats.org/officeDocument/2006/relationships/image" Target="../media/image120.png"/><Relationship Id="rId3" Type="http://schemas.openxmlformats.org/officeDocument/2006/relationships/notesSlide" Target="../notesSlides/notesSlide4.xml"/><Relationship Id="rId12" Type="http://schemas.openxmlformats.org/officeDocument/2006/relationships/image" Target="../media/image110.png"/><Relationship Id="rId2" Type="http://schemas.openxmlformats.org/officeDocument/2006/relationships/slideLayout" Target="../slideLayouts/slideLayout2.xml"/><Relationship Id="rId1" Type="http://schemas.openxmlformats.org/officeDocument/2006/relationships/tags" Target="../tags/tag13.xml"/><Relationship Id="rId11" Type="http://schemas.openxmlformats.org/officeDocument/2006/relationships/image" Target="../media/image100.png"/><Relationship Id="rId5" Type="http://schemas.openxmlformats.org/officeDocument/2006/relationships/image" Target="../media/image15.emf"/><Relationship Id="rId15" Type="http://schemas.openxmlformats.org/officeDocument/2006/relationships/image" Target="../media/image19.png"/><Relationship Id="rId10" Type="http://schemas.openxmlformats.org/officeDocument/2006/relationships/image" Target="../media/image90.png"/><Relationship Id="rId4" Type="http://schemas.openxmlformats.org/officeDocument/2006/relationships/oleObject" Target="../embeddings/oleObject1.bin"/><Relationship Id="rId9" Type="http://schemas.openxmlformats.org/officeDocument/2006/relationships/image" Target="../media/image80.png"/><Relationship Id="rId14" Type="http://schemas.openxmlformats.org/officeDocument/2006/relationships/image" Target="../media/image18.png"/></Relationships>
</file>

<file path=ppt/slides/_rels/slide21.xml.rels><?xml version="1.0" encoding="UTF-8" standalone="yes"?>
<Relationships xmlns="http://schemas.openxmlformats.org/package/2006/relationships"><Relationship Id="rId13" Type="http://schemas.openxmlformats.org/officeDocument/2006/relationships/image" Target="../media/image120.png"/><Relationship Id="rId3" Type="http://schemas.openxmlformats.org/officeDocument/2006/relationships/notesSlide" Target="../notesSlides/notesSlide5.xml"/><Relationship Id="rId12" Type="http://schemas.openxmlformats.org/officeDocument/2006/relationships/image" Target="../media/image110.png"/><Relationship Id="rId17" Type="http://schemas.openxmlformats.org/officeDocument/2006/relationships/image" Target="../media/image21.png"/><Relationship Id="rId2" Type="http://schemas.openxmlformats.org/officeDocument/2006/relationships/slideLayout" Target="../slideLayouts/slideLayout2.xml"/><Relationship Id="rId16" Type="http://schemas.openxmlformats.org/officeDocument/2006/relationships/image" Target="../media/image20.png"/><Relationship Id="rId1" Type="http://schemas.openxmlformats.org/officeDocument/2006/relationships/tags" Target="../tags/tag14.xml"/><Relationship Id="rId11" Type="http://schemas.openxmlformats.org/officeDocument/2006/relationships/image" Target="../media/image100.png"/><Relationship Id="rId5" Type="http://schemas.openxmlformats.org/officeDocument/2006/relationships/image" Target="../media/image15.emf"/><Relationship Id="rId15" Type="http://schemas.openxmlformats.org/officeDocument/2006/relationships/image" Target="../media/image180.png"/><Relationship Id="rId10" Type="http://schemas.openxmlformats.org/officeDocument/2006/relationships/image" Target="../media/image90.png"/><Relationship Id="rId4" Type="http://schemas.openxmlformats.org/officeDocument/2006/relationships/oleObject" Target="../embeddings/oleObject1.bin"/><Relationship Id="rId9" Type="http://schemas.openxmlformats.org/officeDocument/2006/relationships/image" Target="../media/image80.png"/><Relationship Id="rId14" Type="http://schemas.openxmlformats.org/officeDocument/2006/relationships/image" Target="../media/image14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9.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68.png"/><Relationship Id="rId11" Type="http://schemas.openxmlformats.org/officeDocument/2006/relationships/image" Target="../media/image28.png"/><Relationship Id="rId5" Type="http://schemas.openxmlformats.org/officeDocument/2006/relationships/image" Target="../media/image67.png"/><Relationship Id="rId10"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26.png"/></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notesSlide" Target="../notesSlides/notesSlide10.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68.png"/><Relationship Id="rId11" Type="http://schemas.openxmlformats.org/officeDocument/2006/relationships/image" Target="../media/image32.png"/><Relationship Id="rId5" Type="http://schemas.openxmlformats.org/officeDocument/2006/relationships/image" Target="../media/image67.png"/><Relationship Id="rId10" Type="http://schemas.openxmlformats.org/officeDocument/2006/relationships/image" Target="../media/image31.png"/><Relationship Id="rId4" Type="http://schemas.openxmlformats.org/officeDocument/2006/relationships/image" Target="../media/image23.png"/><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8.png"/><Relationship Id="rId3" Type="http://schemas.openxmlformats.org/officeDocument/2006/relationships/notesSlide" Target="../notesSlides/notesSlide11.xml"/><Relationship Id="rId7" Type="http://schemas.openxmlformats.org/officeDocument/2006/relationships/image" Target="../media/image28.png"/><Relationship Id="rId12"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68.png"/><Relationship Id="rId11" Type="http://schemas.openxmlformats.org/officeDocument/2006/relationships/image" Target="../media/image36.png"/><Relationship Id="rId5" Type="http://schemas.openxmlformats.org/officeDocument/2006/relationships/image" Target="../media/image67.png"/><Relationship Id="rId10" Type="http://schemas.openxmlformats.org/officeDocument/2006/relationships/image" Target="../media/image35.png"/><Relationship Id="rId4" Type="http://schemas.openxmlformats.org/officeDocument/2006/relationships/image" Target="../media/image23.png"/><Relationship Id="rId9" Type="http://schemas.openxmlformats.org/officeDocument/2006/relationships/image" Target="../media/image34.png"/><Relationship Id="rId14"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12.xml"/><Relationship Id="rId7"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23.png"/><Relationship Id="rId9" Type="http://schemas.openxmlformats.org/officeDocument/2006/relationships/image" Target="../media/image42.png"/></Relationships>
</file>

<file path=ppt/slides/_rels/slide2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notesSlide" Target="../notesSlides/notesSlide13.xml"/><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68.png"/><Relationship Id="rId11" Type="http://schemas.openxmlformats.org/officeDocument/2006/relationships/image" Target="../media/image44.png"/><Relationship Id="rId5" Type="http://schemas.openxmlformats.org/officeDocument/2006/relationships/image" Target="../media/image67.png"/><Relationship Id="rId10" Type="http://schemas.openxmlformats.org/officeDocument/2006/relationships/image" Target="../media/image43.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47.png"/></Relationships>
</file>

<file path=ppt/slides/_rels/slide3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51.png"/><Relationship Id="rId3" Type="http://schemas.openxmlformats.org/officeDocument/2006/relationships/notesSlide" Target="../notesSlides/notesSlide14.xml"/><Relationship Id="rId7" Type="http://schemas.openxmlformats.org/officeDocument/2006/relationships/image" Target="../media/image40.png"/><Relationship Id="rId12"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68.png"/><Relationship Id="rId11" Type="http://schemas.openxmlformats.org/officeDocument/2006/relationships/image" Target="../media/image49.png"/><Relationship Id="rId5" Type="http://schemas.openxmlformats.org/officeDocument/2006/relationships/image" Target="../media/image67.png"/><Relationship Id="rId15" Type="http://schemas.openxmlformats.org/officeDocument/2006/relationships/image" Target="../media/image47.png"/><Relationship Id="rId10" Type="http://schemas.openxmlformats.org/officeDocument/2006/relationships/image" Target="../media/image4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52.png"/></Relationships>
</file>

<file path=ppt/slides/_rels/slide3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56.png"/><Relationship Id="rId3" Type="http://schemas.openxmlformats.org/officeDocument/2006/relationships/notesSlide" Target="../notesSlides/notesSlide15.xml"/><Relationship Id="rId7" Type="http://schemas.openxmlformats.org/officeDocument/2006/relationships/image" Target="../media/image40.png"/><Relationship Id="rId12" Type="http://schemas.openxmlformats.org/officeDocument/2006/relationships/image" Target="../media/image55.png"/><Relationship Id="rId2" Type="http://schemas.openxmlformats.org/officeDocument/2006/relationships/slideLayout" Target="../slideLayouts/slideLayout2.xml"/><Relationship Id="rId16" Type="http://schemas.openxmlformats.org/officeDocument/2006/relationships/image" Target="../media/image57.png"/><Relationship Id="rId1" Type="http://schemas.openxmlformats.org/officeDocument/2006/relationships/tags" Target="../tags/tag22.xml"/><Relationship Id="rId6" Type="http://schemas.openxmlformats.org/officeDocument/2006/relationships/image" Target="../media/image68.png"/><Relationship Id="rId11" Type="http://schemas.openxmlformats.org/officeDocument/2006/relationships/image" Target="../media/image54.png"/><Relationship Id="rId5" Type="http://schemas.openxmlformats.org/officeDocument/2006/relationships/image" Target="../media/image67.png"/><Relationship Id="rId15" Type="http://schemas.openxmlformats.org/officeDocument/2006/relationships/image" Target="../media/image47.png"/><Relationship Id="rId10" Type="http://schemas.openxmlformats.org/officeDocument/2006/relationships/image" Target="../media/image53.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52.png"/></Relationships>
</file>

<file path=ppt/slides/_rels/slide3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61.png"/><Relationship Id="rId3" Type="http://schemas.openxmlformats.org/officeDocument/2006/relationships/notesSlide" Target="../notesSlides/notesSlide16.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62.png"/></Relationships>
</file>

<file path=ppt/slides/_rels/slide3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61.png"/><Relationship Id="rId3" Type="http://schemas.openxmlformats.org/officeDocument/2006/relationships/notesSlide" Target="../notesSlides/notesSlide17.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5" Type="http://schemas.openxmlformats.org/officeDocument/2006/relationships/image" Target="../media/image63.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62.png"/></Relationships>
</file>

<file path=ppt/slides/_rels/slide3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18.xml"/><Relationship Id="rId7" Type="http://schemas.openxmlformats.org/officeDocument/2006/relationships/image" Target="../media/image40.png"/><Relationship Id="rId12"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image" Target="../media/image68.png"/><Relationship Id="rId11" Type="http://schemas.openxmlformats.org/officeDocument/2006/relationships/image" Target="../media/image65.png"/><Relationship Id="rId5" Type="http://schemas.openxmlformats.org/officeDocument/2006/relationships/image" Target="../media/image67.png"/><Relationship Id="rId10" Type="http://schemas.openxmlformats.org/officeDocument/2006/relationships/image" Target="../media/image64.png"/><Relationship Id="rId4" Type="http://schemas.openxmlformats.org/officeDocument/2006/relationships/image" Target="../media/image23.png"/><Relationship Id="rId9"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69.png"/><Relationship Id="rId3" Type="http://schemas.openxmlformats.org/officeDocument/2006/relationships/notesSlide" Target="../notesSlides/notesSlide19.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s>
</file>

<file path=ppt/slides/_rels/slide3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0.png"/><Relationship Id="rId3" Type="http://schemas.openxmlformats.org/officeDocument/2006/relationships/notesSlide" Target="../notesSlides/notesSlide20.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1.png"/></Relationships>
</file>

<file path=ppt/slides/_rels/slide3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2.png"/><Relationship Id="rId3" Type="http://schemas.openxmlformats.org/officeDocument/2006/relationships/notesSlide" Target="../notesSlides/notesSlide21.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3.png"/></Relationships>
</file>

<file path=ppt/slides/_rels/slide3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4.png"/><Relationship Id="rId3" Type="http://schemas.openxmlformats.org/officeDocument/2006/relationships/notesSlide" Target="../notesSlides/notesSlide22.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9.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3.png"/></Relationships>
</file>

<file path=ppt/slides/_rels/slide4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5.png"/><Relationship Id="rId3" Type="http://schemas.openxmlformats.org/officeDocument/2006/relationships/notesSlide" Target="../notesSlides/notesSlide23.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3.png"/></Relationships>
</file>

<file path=ppt/slides/_rels/slide4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6.png"/><Relationship Id="rId3" Type="http://schemas.openxmlformats.org/officeDocument/2006/relationships/notesSlide" Target="../notesSlides/notesSlide24.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3.png"/></Relationships>
</file>

<file path=ppt/slides/_rels/slide4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7.png"/><Relationship Id="rId3" Type="http://schemas.openxmlformats.org/officeDocument/2006/relationships/notesSlide" Target="../notesSlides/notesSlide25.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3.png"/></Relationships>
</file>

<file path=ppt/slides/_rels/slide4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78.png"/><Relationship Id="rId3" Type="http://schemas.openxmlformats.org/officeDocument/2006/relationships/notesSlide" Target="../notesSlides/notesSlide26.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73.png"/></Relationships>
</file>

<file path=ppt/slides/_rels/slide4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27.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s>
</file>

<file path=ppt/slides/_rels/slide4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28.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s>
</file>

<file path=ppt/slides/_rels/slide4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notesSlide" Target="../notesSlides/notesSlide29.xml"/><Relationship Id="rId7" Type="http://schemas.openxmlformats.org/officeDocument/2006/relationships/image" Target="../media/image40.png"/><Relationship Id="rId12"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image" Target="../media/image68.png"/><Relationship Id="rId11" Type="http://schemas.openxmlformats.org/officeDocument/2006/relationships/image" Target="../media/image59.png"/><Relationship Id="rId5" Type="http://schemas.openxmlformats.org/officeDocument/2006/relationships/image" Target="../media/image67.png"/><Relationship Id="rId10" Type="http://schemas.openxmlformats.org/officeDocument/2006/relationships/image" Target="../media/image58.png"/><Relationship Id="rId4" Type="http://schemas.openxmlformats.org/officeDocument/2006/relationships/image" Target="../media/image23.png"/><Relationship Id="rId9"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82.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82.png"/></Relationships>
</file>

<file path=ppt/slides/_rels/slide6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83.png"/><Relationship Id="rId4" Type="http://schemas.openxmlformats.org/officeDocument/2006/relationships/image" Target="../media/image82.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84.png"/><Relationship Id="rId4" Type="http://schemas.openxmlformats.org/officeDocument/2006/relationships/image" Target="../media/image82.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85.png"/></Relationships>
</file>

<file path=ppt/slides/_rels/slide7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48.xml"/><Relationship Id="rId5" Type="http://schemas.openxmlformats.org/officeDocument/2006/relationships/image" Target="../media/image86.png"/><Relationship Id="rId4" Type="http://schemas.openxmlformats.org/officeDocument/2006/relationships/image" Target="../media/image85.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49.xml"/><Relationship Id="rId4" Type="http://schemas.openxmlformats.org/officeDocument/2006/relationships/image" Target="../media/image87.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50.xml"/><Relationship Id="rId4" Type="http://schemas.openxmlformats.org/officeDocument/2006/relationships/image" Target="../media/image87.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87.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52.xml"/><Relationship Id="rId4" Type="http://schemas.openxmlformats.org/officeDocument/2006/relationships/image" Target="../media/image87.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87.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87.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87.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87.png"/></Relationships>
</file>

<file path=ppt/slides/_rels/slide8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9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676400"/>
            <a:ext cx="7772400" cy="1462088"/>
          </a:xfrm>
        </p:spPr>
        <p:txBody>
          <a:bodyPr/>
          <a:lstStyle/>
          <a:p>
            <a:pPr algn="ctr" eaLnBrk="1" hangingPunct="1"/>
            <a:r>
              <a:rPr lang="zh-CN" altLang="en-US" sz="3600" b="1" kern="0" dirty="0">
                <a:ea typeface="SimSun" panose="02010600030101010101" pitchFamily="2" charset="-122"/>
              </a:rPr>
              <a:t>机器学习课程第</a:t>
            </a:r>
            <a:r>
              <a:rPr lang="zh-CN" altLang="en-US" sz="3600" b="1" dirty="0">
                <a:ea typeface="SimSun" panose="02010600030101010101" pitchFamily="2" charset="-122"/>
              </a:rPr>
              <a:t>三</a:t>
            </a:r>
            <a:r>
              <a:rPr lang="zh-CN" altLang="en-US" sz="3600" b="1" kern="0" dirty="0">
                <a:ea typeface="SimSun" panose="02010600030101010101" pitchFamily="2" charset="-122"/>
              </a:rPr>
              <a:t>讲</a:t>
            </a:r>
            <a:br>
              <a:rPr lang="en-US" altLang="zh-CN" sz="3600" b="1" kern="0" dirty="0">
                <a:ea typeface="SimSun" panose="02010600030101010101" pitchFamily="2" charset="-122"/>
              </a:rPr>
            </a:br>
            <a:r>
              <a:rPr lang="zh-CN" altLang="en-US" sz="3600" b="1" kern="0" dirty="0">
                <a:ea typeface="SimSun" panose="02010600030101010101" pitchFamily="2" charset="-122"/>
              </a:rPr>
              <a:t>深度学习基础</a:t>
            </a:r>
            <a:r>
              <a:rPr lang="zh-CN" altLang="en-US" sz="3600" b="1" dirty="0">
                <a:ea typeface="SimSun" panose="02010600030101010101" pitchFamily="2" charset="-122"/>
              </a:rPr>
              <a:t>：多层感知器</a:t>
            </a:r>
            <a:endParaRPr lang="en-US" altLang="zh-CN" sz="3600" b="1" dirty="0">
              <a:ea typeface="SimSun" panose="02010600030101010101" pitchFamily="2" charset="-122"/>
            </a:endParaRPr>
          </a:p>
        </p:txBody>
      </p:sp>
      <p:sp>
        <p:nvSpPr>
          <p:cNvPr id="5123" name="Rectangle 3"/>
          <p:cNvSpPr>
            <a:spLocks noGrp="1" noChangeArrowheads="1"/>
          </p:cNvSpPr>
          <p:nvPr>
            <p:ph type="subTitle" idx="1"/>
          </p:nvPr>
        </p:nvSpPr>
        <p:spPr>
          <a:xfrm>
            <a:off x="1295400" y="3810000"/>
            <a:ext cx="6553200" cy="762000"/>
          </a:xfrm>
        </p:spPr>
        <p:txBody>
          <a:bodyPr/>
          <a:lstStyle/>
          <a:p>
            <a:pPr eaLnBrk="1" hangingPunct="1"/>
            <a:r>
              <a:rPr lang="zh-CN" altLang="en-US" sz="2800" dirty="0">
                <a:ea typeface="SimSun" panose="02010600030101010101" pitchFamily="2" charset="-122"/>
              </a:rPr>
              <a:t>李聪</a:t>
            </a:r>
            <a:endParaRPr lang="en-US" altLang="zh-CN" sz="2400" dirty="0">
              <a:ea typeface="SimSun" panose="02010600030101010101" pitchFamily="2" charset="-122"/>
            </a:endParaRPr>
          </a:p>
        </p:txBody>
      </p:sp>
      <p:sp>
        <p:nvSpPr>
          <p:cNvPr id="4" name="Rectangle 2">
            <a:extLst>
              <a:ext uri="{FF2B5EF4-FFF2-40B4-BE49-F238E27FC236}">
                <a16:creationId xmlns:a16="http://schemas.microsoft.com/office/drawing/2014/main" id="{D050F980-1D76-4E39-94EB-A1B939407DEF}"/>
              </a:ext>
            </a:extLst>
          </p:cNvPr>
          <p:cNvSpPr txBox="1">
            <a:spLocks noChangeArrowheads="1"/>
          </p:cNvSpPr>
          <p:nvPr/>
        </p:nvSpPr>
        <p:spPr bwMode="auto">
          <a:xfrm>
            <a:off x="609600" y="3192739"/>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a:lstStyle>
          <a:p>
            <a:pPr algn="ctr" eaLnBrk="1" hangingPunct="1"/>
            <a:endParaRPr lang="en-US" altLang="zh-CN" sz="3600" b="1" kern="0" dirty="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A3F54-FDDB-3F28-8C3D-F1E6BC9E8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35589-BD66-218A-BEEA-931D3955CD02}"/>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课程大纲</a:t>
            </a:r>
          </a:p>
        </p:txBody>
      </p:sp>
      <p:sp>
        <p:nvSpPr>
          <p:cNvPr id="3" name="Content Placeholder 2">
            <a:extLst>
              <a:ext uri="{FF2B5EF4-FFF2-40B4-BE49-F238E27FC236}">
                <a16:creationId xmlns:a16="http://schemas.microsoft.com/office/drawing/2014/main" id="{E6627493-18BF-7C0F-0070-5FB50AEC5949}"/>
              </a:ext>
            </a:extLst>
          </p:cNvPr>
          <p:cNvSpPr>
            <a:spLocks noGrp="1"/>
          </p:cNvSpPr>
          <p:nvPr>
            <p:ph idx="1"/>
          </p:nvPr>
        </p:nvSpPr>
        <p:spPr>
          <a:xfrm>
            <a:off x="762000" y="1600200"/>
            <a:ext cx="7772400" cy="5257800"/>
          </a:xfrm>
        </p:spPr>
        <p:txBody>
          <a:bodyPr>
            <a:normAutofit/>
          </a:bodyPr>
          <a:lstStyle/>
          <a:p>
            <a:r>
              <a:rPr lang="zh-CN" altLang="en-US" dirty="0"/>
              <a:t>多层感知器基本结构</a:t>
            </a:r>
          </a:p>
          <a:p>
            <a:r>
              <a:rPr lang="zh-CN" altLang="en-US" dirty="0"/>
              <a:t>训练过程：前向计算和反向传播</a:t>
            </a:r>
          </a:p>
          <a:p>
            <a:r>
              <a:rPr lang="zh-CN" altLang="en-US" dirty="0"/>
              <a:t>多层感知器的使用方式</a:t>
            </a:r>
          </a:p>
          <a:p>
            <a:r>
              <a:rPr lang="zh-CN" altLang="en-US" dirty="0"/>
              <a:t>从多层感知器到深度学习</a:t>
            </a:r>
          </a:p>
        </p:txBody>
      </p:sp>
      <p:sp>
        <p:nvSpPr>
          <p:cNvPr id="4" name="Speech Bubble: Rectangle with Corners Rounded 3">
            <a:extLst>
              <a:ext uri="{FF2B5EF4-FFF2-40B4-BE49-F238E27FC236}">
                <a16:creationId xmlns:a16="http://schemas.microsoft.com/office/drawing/2014/main" id="{B30CB0DF-DC2C-753D-92AE-2621996CFDC4}"/>
              </a:ext>
            </a:extLst>
          </p:cNvPr>
          <p:cNvSpPr/>
          <p:nvPr/>
        </p:nvSpPr>
        <p:spPr bwMode="auto">
          <a:xfrm>
            <a:off x="1752600" y="4191000"/>
            <a:ext cx="2590800" cy="1219200"/>
          </a:xfrm>
          <a:prstGeom prst="wedgeRoundRectCallout">
            <a:avLst>
              <a:gd name="adj1" fmla="val -25562"/>
              <a:gd name="adj2" fmla="val -220879"/>
              <a:gd name="adj3" fmla="val 16667"/>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我们上一讲加了感知器的内容：这里不会太突兀</a:t>
            </a:r>
            <a:endParaRPr kumimoji="0" lang="zh-CN"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8526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8E5C9-7E47-8150-C8ED-03F8A944A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C990D-1907-489A-720D-B32332690653}"/>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课程大纲：稍作调整</a:t>
            </a:r>
          </a:p>
        </p:txBody>
      </p:sp>
      <p:sp>
        <p:nvSpPr>
          <p:cNvPr id="3" name="Content Placeholder 2">
            <a:extLst>
              <a:ext uri="{FF2B5EF4-FFF2-40B4-BE49-F238E27FC236}">
                <a16:creationId xmlns:a16="http://schemas.microsoft.com/office/drawing/2014/main" id="{2EB0A5D1-EA0F-F35D-4D6E-DA25C07EC9A0}"/>
              </a:ext>
            </a:extLst>
          </p:cNvPr>
          <p:cNvSpPr>
            <a:spLocks noGrp="1"/>
          </p:cNvSpPr>
          <p:nvPr>
            <p:ph idx="1"/>
          </p:nvPr>
        </p:nvSpPr>
        <p:spPr>
          <a:xfrm>
            <a:off x="762000" y="1600200"/>
            <a:ext cx="7772400" cy="5257800"/>
          </a:xfrm>
        </p:spPr>
        <p:txBody>
          <a:bodyPr>
            <a:normAutofit/>
          </a:bodyPr>
          <a:lstStyle/>
          <a:p>
            <a:r>
              <a:rPr lang="en-US" altLang="zh-CN" dirty="0">
                <a:solidFill>
                  <a:srgbClr val="C00000"/>
                </a:solidFill>
              </a:rPr>
              <a:t>Logistic Regression</a:t>
            </a:r>
            <a:r>
              <a:rPr lang="zh-CN" altLang="en-US" dirty="0">
                <a:solidFill>
                  <a:srgbClr val="C00000"/>
                </a:solidFill>
              </a:rPr>
              <a:t>和感知器的局限</a:t>
            </a:r>
            <a:endParaRPr lang="en-US" altLang="zh-CN" dirty="0">
              <a:solidFill>
                <a:srgbClr val="C00000"/>
              </a:solidFill>
            </a:endParaRPr>
          </a:p>
          <a:p>
            <a:r>
              <a:rPr lang="zh-CN" altLang="en-US" dirty="0"/>
              <a:t>多层感知器基本结构</a:t>
            </a:r>
          </a:p>
          <a:p>
            <a:r>
              <a:rPr lang="zh-CN" altLang="en-US" dirty="0"/>
              <a:t>训练过程：前向计算和反向传播</a:t>
            </a:r>
          </a:p>
          <a:p>
            <a:r>
              <a:rPr lang="zh-CN" altLang="en-US" dirty="0"/>
              <a:t>多层感知器的使用方式</a:t>
            </a:r>
          </a:p>
          <a:p>
            <a:r>
              <a:rPr lang="zh-CN" altLang="en-US" dirty="0"/>
              <a:t>从多层感知器到深度学习</a:t>
            </a:r>
          </a:p>
        </p:txBody>
      </p:sp>
    </p:spTree>
    <p:extLst>
      <p:ext uri="{BB962C8B-B14F-4D97-AF65-F5344CB8AC3E}">
        <p14:creationId xmlns:p14="http://schemas.microsoft.com/office/powerpoint/2010/main" val="1730071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40D5A-1D9F-CA9D-EBF2-5285B9DD5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66F50-9B17-8265-DD60-6C0FAB3ADAB2}"/>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课程大纲：稍作调整</a:t>
            </a:r>
          </a:p>
        </p:txBody>
      </p:sp>
      <p:sp>
        <p:nvSpPr>
          <p:cNvPr id="3" name="Content Placeholder 2">
            <a:extLst>
              <a:ext uri="{FF2B5EF4-FFF2-40B4-BE49-F238E27FC236}">
                <a16:creationId xmlns:a16="http://schemas.microsoft.com/office/drawing/2014/main" id="{F32D24D1-3547-070A-2169-BD9B7EB3FFDC}"/>
              </a:ext>
            </a:extLst>
          </p:cNvPr>
          <p:cNvSpPr>
            <a:spLocks noGrp="1"/>
          </p:cNvSpPr>
          <p:nvPr>
            <p:ph idx="1"/>
          </p:nvPr>
        </p:nvSpPr>
        <p:spPr>
          <a:xfrm>
            <a:off x="762000" y="1600200"/>
            <a:ext cx="7772400" cy="5257800"/>
          </a:xfrm>
        </p:spPr>
        <p:txBody>
          <a:bodyPr>
            <a:normAutofit/>
          </a:bodyPr>
          <a:lstStyle/>
          <a:p>
            <a:r>
              <a:rPr lang="en-US" altLang="zh-CN" dirty="0"/>
              <a:t>Logistic Regression</a:t>
            </a:r>
            <a:r>
              <a:rPr lang="zh-CN" altLang="en-US" dirty="0"/>
              <a:t>和感知器的局限</a:t>
            </a:r>
            <a:endParaRPr lang="en-US" altLang="zh-CN" dirty="0"/>
          </a:p>
          <a:p>
            <a:r>
              <a:rPr lang="zh-CN" altLang="en-US" dirty="0">
                <a:solidFill>
                  <a:srgbClr val="C00000"/>
                </a:solidFill>
              </a:rPr>
              <a:t>深度学习中的多层感知器</a:t>
            </a:r>
            <a:endParaRPr lang="en-US" altLang="zh-CN" dirty="0">
              <a:solidFill>
                <a:srgbClr val="C00000"/>
              </a:solidFill>
            </a:endParaRPr>
          </a:p>
          <a:p>
            <a:r>
              <a:rPr lang="zh-CN" altLang="en-US" dirty="0"/>
              <a:t>多层感知器基本结构</a:t>
            </a:r>
          </a:p>
          <a:p>
            <a:r>
              <a:rPr lang="zh-CN" altLang="en-US" dirty="0"/>
              <a:t>训练过程：前向计算和反向传播</a:t>
            </a:r>
          </a:p>
          <a:p>
            <a:r>
              <a:rPr lang="zh-CN" altLang="en-US" dirty="0"/>
              <a:t>多层感知器的使用方式</a:t>
            </a:r>
          </a:p>
          <a:p>
            <a:r>
              <a:rPr lang="zh-CN" altLang="en-US" dirty="0"/>
              <a:t>从多层感知器到深度学习</a:t>
            </a:r>
          </a:p>
        </p:txBody>
      </p:sp>
      <p:cxnSp>
        <p:nvCxnSpPr>
          <p:cNvPr id="4" name="Straight Arrow Connector 3">
            <a:extLst>
              <a:ext uri="{FF2B5EF4-FFF2-40B4-BE49-F238E27FC236}">
                <a16:creationId xmlns:a16="http://schemas.microsoft.com/office/drawing/2014/main" id="{AA5CD8D6-BB1D-5DA7-77F9-0B2F44420424}"/>
              </a:ext>
            </a:extLst>
          </p:cNvPr>
          <p:cNvCxnSpPr/>
          <p:nvPr/>
        </p:nvCxnSpPr>
        <p:spPr bwMode="auto">
          <a:xfrm flipH="1">
            <a:off x="5715000" y="2471061"/>
            <a:ext cx="1828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 name="Straight Connector 4">
            <a:extLst>
              <a:ext uri="{FF2B5EF4-FFF2-40B4-BE49-F238E27FC236}">
                <a16:creationId xmlns:a16="http://schemas.microsoft.com/office/drawing/2014/main" id="{07EC108A-4F7E-C698-FC37-5270892FD1C5}"/>
              </a:ext>
            </a:extLst>
          </p:cNvPr>
          <p:cNvCxnSpPr>
            <a:cxnSpLocks/>
          </p:cNvCxnSpPr>
          <p:nvPr/>
        </p:nvCxnSpPr>
        <p:spPr bwMode="auto">
          <a:xfrm flipV="1">
            <a:off x="7543800" y="2471061"/>
            <a:ext cx="8021" cy="234157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TextBox 6">
            <a:extLst>
              <a:ext uri="{FF2B5EF4-FFF2-40B4-BE49-F238E27FC236}">
                <a16:creationId xmlns:a16="http://schemas.microsoft.com/office/drawing/2014/main" id="{2ACC7720-1940-58BA-39BA-AD5FA510C30A}"/>
              </a:ext>
            </a:extLst>
          </p:cNvPr>
          <p:cNvSpPr txBox="1"/>
          <p:nvPr/>
        </p:nvSpPr>
        <p:spPr>
          <a:xfrm>
            <a:off x="6324600" y="4953000"/>
            <a:ext cx="1676348" cy="430887"/>
          </a:xfrm>
          <a:prstGeom prst="rect">
            <a:avLst/>
          </a:prstGeom>
          <a:noFill/>
        </p:spPr>
        <p:txBody>
          <a:bodyPr wrap="square" rtlCol="0">
            <a:spAutoFit/>
          </a:bodyPr>
          <a:lstStyle/>
          <a:p>
            <a:pPr algn="ctr"/>
            <a:r>
              <a:rPr lang="zh-CN" altLang="en-US" sz="2200" dirty="0"/>
              <a:t>前后呼应</a:t>
            </a:r>
          </a:p>
        </p:txBody>
      </p:sp>
      <p:cxnSp>
        <p:nvCxnSpPr>
          <p:cNvPr id="11" name="Straight Arrow Connector 10">
            <a:extLst>
              <a:ext uri="{FF2B5EF4-FFF2-40B4-BE49-F238E27FC236}">
                <a16:creationId xmlns:a16="http://schemas.microsoft.com/office/drawing/2014/main" id="{45A0F2A3-953D-6841-7317-1DC322705934}"/>
              </a:ext>
            </a:extLst>
          </p:cNvPr>
          <p:cNvCxnSpPr/>
          <p:nvPr/>
        </p:nvCxnSpPr>
        <p:spPr bwMode="auto">
          <a:xfrm flipH="1">
            <a:off x="5715000" y="4812632"/>
            <a:ext cx="18288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029776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41560-3137-29F5-7A99-906042B0F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012A6-167D-79FE-BFC8-EBF2972C40ED}"/>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课程大纲：稍作调整</a:t>
            </a:r>
          </a:p>
        </p:txBody>
      </p:sp>
      <p:sp>
        <p:nvSpPr>
          <p:cNvPr id="3" name="Content Placeholder 2">
            <a:extLst>
              <a:ext uri="{FF2B5EF4-FFF2-40B4-BE49-F238E27FC236}">
                <a16:creationId xmlns:a16="http://schemas.microsoft.com/office/drawing/2014/main" id="{31C83F3A-197A-6750-467D-C878FAD691BD}"/>
              </a:ext>
            </a:extLst>
          </p:cNvPr>
          <p:cNvSpPr>
            <a:spLocks noGrp="1"/>
          </p:cNvSpPr>
          <p:nvPr>
            <p:ph idx="1"/>
          </p:nvPr>
        </p:nvSpPr>
        <p:spPr>
          <a:xfrm>
            <a:off x="762000" y="1600200"/>
            <a:ext cx="7772400" cy="5257800"/>
          </a:xfrm>
        </p:spPr>
        <p:txBody>
          <a:bodyPr>
            <a:normAutofit/>
          </a:bodyPr>
          <a:lstStyle/>
          <a:p>
            <a:r>
              <a:rPr lang="en-US" altLang="zh-CN" dirty="0"/>
              <a:t>Logistic Regression</a:t>
            </a:r>
            <a:r>
              <a:rPr lang="zh-CN" altLang="en-US" dirty="0"/>
              <a:t>和感知器的局限</a:t>
            </a:r>
            <a:endParaRPr lang="en-US" altLang="zh-CN" dirty="0"/>
          </a:p>
          <a:p>
            <a:r>
              <a:rPr lang="zh-CN" altLang="en-US" dirty="0"/>
              <a:t>深度学习中的多层感知器</a:t>
            </a:r>
            <a:endParaRPr lang="en-US" altLang="zh-CN" dirty="0"/>
          </a:p>
          <a:p>
            <a:r>
              <a:rPr lang="zh-CN" altLang="en-US" dirty="0"/>
              <a:t>多层感知器基本结构</a:t>
            </a:r>
          </a:p>
          <a:p>
            <a:r>
              <a:rPr lang="zh-CN" altLang="en-US" dirty="0"/>
              <a:t>训练过程：前向计算和反向传播</a:t>
            </a:r>
          </a:p>
          <a:p>
            <a:r>
              <a:rPr lang="zh-CN" altLang="en-US" dirty="0"/>
              <a:t>多层感知器的使用方式</a:t>
            </a:r>
          </a:p>
          <a:p>
            <a:r>
              <a:rPr lang="zh-CN" altLang="en-US" dirty="0"/>
              <a:t>从多层感知器到深度学习</a:t>
            </a:r>
          </a:p>
        </p:txBody>
      </p:sp>
      <p:sp>
        <p:nvSpPr>
          <p:cNvPr id="13" name="Speech Bubble: Rectangle with Corners Rounded 12">
            <a:extLst>
              <a:ext uri="{FF2B5EF4-FFF2-40B4-BE49-F238E27FC236}">
                <a16:creationId xmlns:a16="http://schemas.microsoft.com/office/drawing/2014/main" id="{94AEC246-6C61-CC3B-A67A-2C12C13F8761}"/>
              </a:ext>
            </a:extLst>
          </p:cNvPr>
          <p:cNvSpPr/>
          <p:nvPr/>
        </p:nvSpPr>
        <p:spPr bwMode="auto">
          <a:xfrm>
            <a:off x="5987142" y="4114800"/>
            <a:ext cx="2928257" cy="1219200"/>
          </a:xfrm>
          <a:prstGeom prst="wedgeRoundRectCallout">
            <a:avLst>
              <a:gd name="adj1" fmla="val -69966"/>
              <a:gd name="adj2" fmla="val -28680"/>
              <a:gd name="adj3" fmla="val 1666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200" dirty="0"/>
              <a:t>在我们已经熟悉的任务上看多层感知器和</a:t>
            </a:r>
            <a:r>
              <a:rPr lang="zh-CN" altLang="en-US" sz="2200" dirty="0">
                <a:solidFill>
                  <a:srgbClr val="C00000"/>
                </a:solidFill>
              </a:rPr>
              <a:t>深度学习</a:t>
            </a:r>
            <a:r>
              <a:rPr lang="zh-CN" altLang="en-US" sz="2200" dirty="0"/>
              <a:t>的使用</a:t>
            </a:r>
          </a:p>
        </p:txBody>
      </p:sp>
    </p:spTree>
    <p:extLst>
      <p:ext uri="{BB962C8B-B14F-4D97-AF65-F5344CB8AC3E}">
        <p14:creationId xmlns:p14="http://schemas.microsoft.com/office/powerpoint/2010/main" val="227653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线性与非线性</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pPr>
              <a:lnSpc>
                <a:spcPct val="90000"/>
              </a:lnSpc>
            </a:pPr>
            <a:r>
              <a:rPr lang="zh-CN" altLang="en-US" dirty="0"/>
              <a:t>我们现在已学习了线性分类器了</a:t>
            </a:r>
            <a:endParaRPr lang="en-US" altLang="zh-CN" dirty="0"/>
          </a:p>
          <a:p>
            <a:pPr lvl="1">
              <a:lnSpc>
                <a:spcPct val="90000"/>
              </a:lnSpc>
            </a:pPr>
            <a:r>
              <a:rPr lang="zh-CN" altLang="en-US" dirty="0"/>
              <a:t>感知器</a:t>
            </a:r>
            <a:endParaRPr lang="en-US" altLang="zh-CN" dirty="0"/>
          </a:p>
          <a:p>
            <a:pPr lvl="1">
              <a:lnSpc>
                <a:spcPct val="90000"/>
              </a:lnSpc>
            </a:pPr>
            <a:r>
              <a:rPr lang="en-US" altLang="zh-CN" dirty="0"/>
              <a:t>Logistic regression</a:t>
            </a:r>
          </a:p>
          <a:p>
            <a:pPr>
              <a:lnSpc>
                <a:spcPct val="90000"/>
              </a:lnSpc>
            </a:pPr>
            <a:r>
              <a:rPr lang="zh-CN" altLang="en-US" dirty="0"/>
              <a:t>当我们遇上非线性问题时会怎样？</a:t>
            </a:r>
            <a:endParaRPr lang="en-US" altLang="zh-CN" dirty="0"/>
          </a:p>
          <a:p>
            <a:pPr lvl="1">
              <a:lnSpc>
                <a:spcPct val="90000"/>
              </a:lnSpc>
            </a:pPr>
            <a:r>
              <a:rPr lang="zh-CN" altLang="en-US" dirty="0"/>
              <a:t>让我们从两个人工构造的非线性问题开始</a:t>
            </a:r>
            <a:endParaRPr lang="en-US" altLang="zh-CN" dirty="0"/>
          </a:p>
        </p:txBody>
      </p:sp>
    </p:spTree>
    <p:custDataLst>
      <p:tags r:id="rId1"/>
    </p:custDataLst>
    <p:extLst>
      <p:ext uri="{BB962C8B-B14F-4D97-AF65-F5344CB8AC3E}">
        <p14:creationId xmlns:p14="http://schemas.microsoft.com/office/powerpoint/2010/main" val="319063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人造问题</a:t>
            </a:r>
            <a:r>
              <a:rPr lang="en-US" altLang="zh-CN" dirty="0">
                <a:ea typeface="ＭＳ Ｐゴシック" panose="020B0600070205080204" pitchFamily="34" charset="-128"/>
              </a:rPr>
              <a:t>1</a:t>
            </a:r>
            <a:endParaRPr lang="zh-CN" altLang="en-US" dirty="0"/>
          </a:p>
        </p:txBody>
      </p:sp>
      <p:pic>
        <p:nvPicPr>
          <p:cNvPr id="6" name="Picture 5">
            <a:extLst>
              <a:ext uri="{FF2B5EF4-FFF2-40B4-BE49-F238E27FC236}">
                <a16:creationId xmlns:a16="http://schemas.microsoft.com/office/drawing/2014/main" id="{41F82864-6A4A-4322-8396-1BDE2460E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747838"/>
            <a:ext cx="4572000" cy="257556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9071432-554D-4754-BBB5-6B1A4C1958E3}"/>
                  </a:ext>
                </a:extLst>
              </p:cNvPr>
              <p:cNvSpPr txBox="1"/>
              <p:nvPr/>
            </p:nvSpPr>
            <p:spPr>
              <a:xfrm>
                <a:off x="342900" y="4572000"/>
                <a:ext cx="8610600" cy="430887"/>
              </a:xfrm>
              <a:prstGeom prst="rect">
                <a:avLst/>
              </a:prstGeom>
              <a:noFill/>
            </p:spPr>
            <p:txBody>
              <a:bodyPr wrap="square" rtlCol="0">
                <a:spAutoFit/>
              </a:bodyPr>
              <a:lstStyle/>
              <a:p>
                <a:pPr algn="ctr"/>
                <a:r>
                  <a:rPr lang="zh-CN" altLang="en-US" sz="2200" dirty="0"/>
                  <a:t>两个属性</a:t>
                </a:r>
                <a14:m>
                  <m:oMath xmlns:m="http://schemas.openxmlformats.org/officeDocument/2006/math">
                    <m:r>
                      <a:rPr lang="en-US" altLang="zh-CN" sz="2200" i="1">
                        <a:latin typeface="Cambria Math" panose="02040503050406030204" pitchFamily="18" charset="0"/>
                      </a:rPr>
                      <m:t>−2</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ea typeface="Cambria Math" panose="02040503050406030204" pitchFamily="18" charset="0"/>
                      </a:rPr>
                      <m:t>≤2</m:t>
                    </m:r>
                  </m:oMath>
                </a14:m>
                <a:r>
                  <a:rPr lang="zh-CN" altLang="en-US" sz="2200" dirty="0"/>
                  <a:t> </a:t>
                </a:r>
              </a:p>
            </p:txBody>
          </p:sp>
        </mc:Choice>
        <mc:Fallback xmlns="">
          <p:sp>
            <p:nvSpPr>
              <p:cNvPr id="7" name="TextBox 6">
                <a:extLst>
                  <a:ext uri="{FF2B5EF4-FFF2-40B4-BE49-F238E27FC236}">
                    <a16:creationId xmlns:a16="http://schemas.microsoft.com/office/drawing/2014/main" id="{09071432-554D-4754-BBB5-6B1A4C1958E3}"/>
                  </a:ext>
                </a:extLst>
              </p:cNvPr>
              <p:cNvSpPr txBox="1">
                <a:spLocks noRot="1" noChangeAspect="1" noMove="1" noResize="1" noEditPoints="1" noAdjustHandles="1" noChangeArrowheads="1" noChangeShapeType="1" noTextEdit="1"/>
              </p:cNvSpPr>
              <p:nvPr/>
            </p:nvSpPr>
            <p:spPr>
              <a:xfrm>
                <a:off x="342900" y="4572000"/>
                <a:ext cx="8610600" cy="430887"/>
              </a:xfrm>
              <a:prstGeom prst="rect">
                <a:avLst/>
              </a:prstGeom>
              <a:blipFill>
                <a:blip r:embed="rId4"/>
                <a:stretch>
                  <a:fillRect t="-15493" b="-21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1981C76-2455-417A-A158-A99F55F67A67}"/>
                  </a:ext>
                </a:extLst>
              </p:cNvPr>
              <p:cNvSpPr txBox="1"/>
              <p:nvPr/>
            </p:nvSpPr>
            <p:spPr>
              <a:xfrm>
                <a:off x="342900" y="5119384"/>
                <a:ext cx="8610600" cy="76944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ctrlPr>
                            <a:rPr lang="en-US" altLang="zh-CN" sz="2200" b="0" i="1" smtClean="0">
                              <a:latin typeface="Cambria Math" panose="02040503050406030204" pitchFamily="18" charset="0"/>
                            </a:rPr>
                          </m:ctrlPr>
                        </m:dPr>
                        <m:e>
                          <m:sSub>
                            <m:sSubPr>
                              <m:ctrlPr>
                                <a:rPr lang="en-US" altLang="zh-CN" sz="2200" i="1" smtClean="0">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b="0" i="1" smtClean="0">
                              <a:latin typeface="Cambria Math" panose="02040503050406030204" pitchFamily="18" charset="0"/>
                            </a:rPr>
                            <m:t>−0.2</m:t>
                          </m:r>
                        </m:e>
                      </m:d>
                      <m:d>
                        <m:dPr>
                          <m:ctrlPr>
                            <a:rPr lang="en-US" altLang="zh-CN" sz="2200" b="0" i="1" smtClean="0">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b="0" i="1" smtClean="0">
                              <a:latin typeface="Cambria Math" panose="02040503050406030204" pitchFamily="18" charset="0"/>
                            </a:rPr>
                            <m:t>+3</m:t>
                          </m:r>
                        </m:e>
                      </m:d>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0</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oMath>
                  </m:oMathPara>
                </a14:m>
                <a:endParaRPr lang="en-US" altLang="zh-CN" sz="2200" dirty="0"/>
              </a:p>
              <a:p>
                <a:pPr algn="ctr"/>
                <a14:m>
                  <m:oMathPara xmlns:m="http://schemas.openxmlformats.org/officeDocument/2006/math">
                    <m:oMathParaPr>
                      <m:jc m:val="centerGroup"/>
                    </m:oMathParaPr>
                    <m:oMath xmlns:m="http://schemas.openxmlformats.org/officeDocument/2006/math">
                      <m:d>
                        <m:dPr>
                          <m:ctrlPr>
                            <a:rPr lang="en-US" altLang="zh-CN" sz="2200" i="1">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−0.2</m:t>
                          </m:r>
                        </m:e>
                      </m:d>
                      <m:d>
                        <m:dPr>
                          <m:ctrlPr>
                            <a:rPr lang="en-US" altLang="zh-CN" sz="2200" i="1">
                              <a:latin typeface="Cambria Math" panose="02040503050406030204" pitchFamily="18" charset="0"/>
                            </a:rPr>
                          </m:ctrlPr>
                        </m:dPr>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+3</m:t>
                          </m:r>
                        </m:e>
                      </m:d>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b="0" i="1" smtClean="0">
                          <a:latin typeface="Cambria Math" panose="02040503050406030204" pitchFamily="18" charset="0"/>
                          <a:ea typeface="Cambria Math" panose="02040503050406030204" pitchFamily="18" charset="0"/>
                        </a:rPr>
                        <m:t>&lt;</m:t>
                      </m:r>
                      <m:r>
                        <a:rPr lang="en-US" altLang="zh-CN" sz="2200" i="1">
                          <a:latin typeface="Cambria Math" panose="02040503050406030204" pitchFamily="18" charset="0"/>
                          <a:ea typeface="Cambria Math" panose="02040503050406030204" pitchFamily="18" charset="0"/>
                        </a:rPr>
                        <m:t>0→</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oMath>
                  </m:oMathPara>
                </a14:m>
                <a:endParaRPr lang="zh-CN" altLang="en-US" sz="2200" dirty="0"/>
              </a:p>
            </p:txBody>
          </p:sp>
        </mc:Choice>
        <mc:Fallback xmlns="">
          <p:sp>
            <p:nvSpPr>
              <p:cNvPr id="8" name="TextBox 7">
                <a:extLst>
                  <a:ext uri="{FF2B5EF4-FFF2-40B4-BE49-F238E27FC236}">
                    <a16:creationId xmlns:a16="http://schemas.microsoft.com/office/drawing/2014/main" id="{D1981C76-2455-417A-A158-A99F55F67A67}"/>
                  </a:ext>
                </a:extLst>
              </p:cNvPr>
              <p:cNvSpPr txBox="1">
                <a:spLocks noRot="1" noChangeAspect="1" noMove="1" noResize="1" noEditPoints="1" noAdjustHandles="1" noChangeArrowheads="1" noChangeShapeType="1" noTextEdit="1"/>
              </p:cNvSpPr>
              <p:nvPr/>
            </p:nvSpPr>
            <p:spPr>
              <a:xfrm>
                <a:off x="342900" y="5119384"/>
                <a:ext cx="8610600" cy="769441"/>
              </a:xfrm>
              <a:prstGeom prst="rect">
                <a:avLst/>
              </a:prstGeom>
              <a:blipFill>
                <a:blip r:embed="rId7"/>
                <a:stretch>
                  <a:fillRect b="-555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211117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AFC687-D29C-44FE-98FA-15D175E8D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194" y="2368800"/>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非线性问题</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76202" y="1740476"/>
            <a:ext cx="9296400" cy="430887"/>
          </a:xfrm>
          <a:prstGeom prst="rect">
            <a:avLst/>
          </a:prstGeom>
          <a:noFill/>
        </p:spPr>
        <p:txBody>
          <a:bodyPr wrap="square" rtlCol="0">
            <a:spAutoFit/>
          </a:bodyPr>
          <a:lstStyle/>
          <a:p>
            <a:pPr algn="ctr"/>
            <a:r>
              <a:rPr lang="en-US" altLang="zh-CN" sz="2200" dirty="0"/>
              <a:t>  </a:t>
            </a:r>
            <a:r>
              <a:rPr lang="zh-CN" altLang="en-US" sz="2200" dirty="0"/>
              <a:t>这</a:t>
            </a:r>
            <a:r>
              <a:rPr lang="zh-CN" altLang="en-US" sz="2200" i="1" dirty="0"/>
              <a:t>的确是</a:t>
            </a:r>
            <a:r>
              <a:rPr lang="zh-CN" altLang="en-US" sz="2200" dirty="0"/>
              <a:t>一个非线性分类问题</a:t>
            </a:r>
            <a:endParaRPr lang="en-US" altLang="zh-CN" sz="2200" dirty="0"/>
          </a:p>
        </p:txBody>
      </p:sp>
    </p:spTree>
    <p:custDataLst>
      <p:tags r:id="rId1"/>
    </p:custDataLst>
    <p:extLst>
      <p:ext uri="{BB962C8B-B14F-4D97-AF65-F5344CB8AC3E}">
        <p14:creationId xmlns:p14="http://schemas.microsoft.com/office/powerpoint/2010/main" val="96189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8AD7C7-DD0D-45F8-8D84-9934BDD4D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非线性问题</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76202" y="1740476"/>
            <a:ext cx="9296400" cy="769441"/>
          </a:xfrm>
          <a:prstGeom prst="rect">
            <a:avLst/>
          </a:prstGeom>
          <a:noFill/>
        </p:spPr>
        <p:txBody>
          <a:bodyPr wrap="square" rtlCol="0">
            <a:spAutoFit/>
          </a:bodyPr>
          <a:lstStyle/>
          <a:p>
            <a:pPr algn="ctr"/>
            <a:r>
              <a:rPr lang="zh-CN" altLang="en-US" sz="2200" dirty="0"/>
              <a:t>但这个线性分类器表现得很不错：</a:t>
            </a:r>
            <a:endParaRPr lang="en-US" altLang="zh-CN" sz="2200" dirty="0"/>
          </a:p>
          <a:p>
            <a:pPr algn="ctr"/>
            <a:r>
              <a:rPr lang="zh-CN" altLang="en-US" sz="2200" dirty="0"/>
              <a:t>使用</a:t>
            </a:r>
            <a:r>
              <a:rPr lang="en-US" altLang="zh-CN" sz="2200" dirty="0"/>
              <a:t>20</a:t>
            </a:r>
            <a:r>
              <a:rPr lang="zh-CN" altLang="en-US" sz="2200" dirty="0"/>
              <a:t>个训练数据时准确率</a:t>
            </a:r>
            <a:r>
              <a:rPr lang="en-US" altLang="zh-CN" sz="2200" dirty="0"/>
              <a:t>99%</a:t>
            </a:r>
          </a:p>
        </p:txBody>
      </p:sp>
    </p:spTree>
    <p:extLst>
      <p:ext uri="{BB962C8B-B14F-4D97-AF65-F5344CB8AC3E}">
        <p14:creationId xmlns:p14="http://schemas.microsoft.com/office/powerpoint/2010/main" val="173238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线性近似</a:t>
            </a:r>
            <a:endParaRPr lang="zh-CN" alt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pPr>
                  <a:lnSpc>
                    <a:spcPct val="90000"/>
                  </a:lnSpc>
                </a:pPr>
                <a:r>
                  <a:rPr lang="zh-CN" altLang="en-US" dirty="0"/>
                  <a:t>有些问题是非线性的</a:t>
                </a:r>
                <a:endParaRPr lang="en-US" altLang="zh-CN" dirty="0"/>
              </a:p>
              <a:p>
                <a:pPr>
                  <a:lnSpc>
                    <a:spcPct val="90000"/>
                  </a:lnSpc>
                </a:pPr>
                <a:r>
                  <a:rPr lang="zh-CN" altLang="en-US" dirty="0"/>
                  <a:t>但他们可以用线性分类来近似</a:t>
                </a:r>
                <a:endParaRPr lang="en-US" altLang="zh-CN" dirty="0"/>
              </a:p>
              <a:p>
                <a:pPr lvl="1">
                  <a:lnSpc>
                    <a:spcPct val="90000"/>
                  </a:lnSpc>
                </a:pPr>
                <a:r>
                  <a:rPr lang="zh-CN" altLang="en-US" dirty="0"/>
                  <a:t>至少在我们关注的定义域里</a:t>
                </a:r>
                <a:endParaRPr lang="en-US" altLang="zh-CN" dirty="0"/>
              </a:p>
              <a:p>
                <a:pPr lvl="2">
                  <a:lnSpc>
                    <a:spcPct val="90000"/>
                  </a:lnSpc>
                </a:pPr>
                <a:r>
                  <a:rPr lang="en-US" altLang="zh-CN" dirty="0"/>
                  <a:t>Example  </a:t>
                </a:r>
                <a:r>
                  <a:rPr lang="zh-CN" altLang="en-US" dirty="0"/>
                  <a:t>例如  </a:t>
                </a:r>
                <a14:m>
                  <m:oMath xmlns:m="http://schemas.openxmlformats.org/officeDocument/2006/math">
                    <m:r>
                      <a:rPr lang="en-US" altLang="zh-CN" i="1">
                        <a:latin typeface="Cambria Math" panose="02040503050406030204" pitchFamily="18" charset="0"/>
                      </a:rPr>
                      <m:t>−2</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≤2</m:t>
                    </m:r>
                  </m:oMath>
                </a14:m>
                <a:endParaRPr lang="en-US" altLang="zh-CN" dirty="0"/>
              </a:p>
              <a:p>
                <a:pPr>
                  <a:lnSpc>
                    <a:spcPct val="90000"/>
                  </a:lnSpc>
                </a:pPr>
                <a:r>
                  <a:rPr lang="zh-CN" altLang="en-US" dirty="0"/>
                  <a:t>这类情形下线性分类器可用 </a:t>
                </a:r>
                <a:endParaRPr lang="en-US" altLang="zh-CN" dirty="0"/>
              </a:p>
            </p:txBody>
          </p:sp>
        </mc:Choice>
        <mc:Fallback xmlns="">
          <p:sp>
            <p:nvSpPr>
              <p:cNvPr id="3" name="Content Placeholder 2">
                <a:extLst>
                  <a:ext uri="{FF2B5EF4-FFF2-40B4-BE49-F238E27FC236}">
                    <a16:creationId xmlns:a16="http://schemas.microsoft.com/office/drawing/2014/main" id="{9EA0F165-8941-4D6C-BAE4-F52C9F12FF6C}"/>
                  </a:ext>
                </a:extLst>
              </p:cNvPr>
              <p:cNvSpPr>
                <a:spLocks noGrp="1" noRot="1" noChangeAspect="1" noMove="1" noResize="1" noEditPoints="1" noAdjustHandles="1" noChangeArrowheads="1" noChangeShapeType="1" noTextEdit="1"/>
              </p:cNvSpPr>
              <p:nvPr>
                <p:ph idx="1"/>
              </p:nvPr>
            </p:nvSpPr>
            <p:spPr>
              <a:xfrm>
                <a:off x="762000" y="1600200"/>
                <a:ext cx="7772400" cy="4800600"/>
              </a:xfrm>
              <a:blipFill>
                <a:blip r:embed="rId3"/>
                <a:stretch>
                  <a:fillRect l="-549" t="-330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27372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人造问题</a:t>
            </a:r>
            <a:r>
              <a:rPr lang="en-US" altLang="zh-CN" dirty="0">
                <a:ea typeface="ＭＳ Ｐゴシック" panose="020B0600070205080204" pitchFamily="34" charset="-128"/>
              </a:rPr>
              <a:t>2</a:t>
            </a:r>
            <a:endParaRPr lang="zh-CN" altLang="en-US" dirty="0"/>
          </a:p>
        </p:txBody>
      </p:sp>
      <p:pic>
        <p:nvPicPr>
          <p:cNvPr id="6" name="Picture 5">
            <a:extLst>
              <a:ext uri="{FF2B5EF4-FFF2-40B4-BE49-F238E27FC236}">
                <a16:creationId xmlns:a16="http://schemas.microsoft.com/office/drawing/2014/main" id="{41F82864-6A4A-4322-8396-1BDE2460E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747838"/>
            <a:ext cx="4572000" cy="257556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9071432-554D-4754-BBB5-6B1A4C1958E3}"/>
                  </a:ext>
                </a:extLst>
              </p:cNvPr>
              <p:cNvSpPr txBox="1"/>
              <p:nvPr/>
            </p:nvSpPr>
            <p:spPr>
              <a:xfrm>
                <a:off x="342900" y="4572000"/>
                <a:ext cx="8610600" cy="430887"/>
              </a:xfrm>
              <a:prstGeom prst="rect">
                <a:avLst/>
              </a:prstGeom>
              <a:noFill/>
            </p:spPr>
            <p:txBody>
              <a:bodyPr wrap="square" rtlCol="0">
                <a:spAutoFit/>
              </a:bodyPr>
              <a:lstStyle/>
              <a:p>
                <a:pPr algn="ctr"/>
                <a:r>
                  <a:rPr lang="zh-CN" altLang="en-US" sz="2200" dirty="0"/>
                  <a:t>两个属性</a:t>
                </a:r>
                <a14:m>
                  <m:oMath xmlns:m="http://schemas.openxmlformats.org/officeDocument/2006/math">
                    <m:r>
                      <a:rPr lang="en-US" altLang="zh-CN" sz="2200" i="1">
                        <a:latin typeface="Cambria Math" panose="02040503050406030204" pitchFamily="18" charset="0"/>
                      </a:rPr>
                      <m:t>−2</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ea typeface="Cambria Math" panose="02040503050406030204" pitchFamily="18" charset="0"/>
                      </a:rPr>
                      <m:t>≤2</m:t>
                    </m:r>
                  </m:oMath>
                </a14:m>
                <a:r>
                  <a:rPr lang="zh-CN" altLang="en-US" sz="2200" dirty="0"/>
                  <a:t> </a:t>
                </a:r>
              </a:p>
            </p:txBody>
          </p:sp>
        </mc:Choice>
        <mc:Fallback xmlns="">
          <p:sp>
            <p:nvSpPr>
              <p:cNvPr id="7" name="TextBox 6">
                <a:extLst>
                  <a:ext uri="{FF2B5EF4-FFF2-40B4-BE49-F238E27FC236}">
                    <a16:creationId xmlns:a16="http://schemas.microsoft.com/office/drawing/2014/main" id="{09071432-554D-4754-BBB5-6B1A4C1958E3}"/>
                  </a:ext>
                </a:extLst>
              </p:cNvPr>
              <p:cNvSpPr txBox="1">
                <a:spLocks noRot="1" noChangeAspect="1" noMove="1" noResize="1" noEditPoints="1" noAdjustHandles="1" noChangeArrowheads="1" noChangeShapeType="1" noTextEdit="1"/>
              </p:cNvSpPr>
              <p:nvPr/>
            </p:nvSpPr>
            <p:spPr>
              <a:xfrm>
                <a:off x="342900" y="4572000"/>
                <a:ext cx="8610600" cy="430887"/>
              </a:xfrm>
              <a:prstGeom prst="rect">
                <a:avLst/>
              </a:prstGeom>
              <a:blipFill>
                <a:blip r:embed="rId4"/>
                <a:stretch>
                  <a:fillRect t="-15493" b="-21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1981C76-2455-417A-A158-A99F55F67A67}"/>
                  </a:ext>
                </a:extLst>
              </p:cNvPr>
              <p:cNvSpPr txBox="1"/>
              <p:nvPr/>
            </p:nvSpPr>
            <p:spPr>
              <a:xfrm>
                <a:off x="342900" y="5119384"/>
                <a:ext cx="8610600" cy="76944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0</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oMath>
                  </m:oMathPara>
                </a14:m>
                <a:endParaRPr lang="en-US" altLang="zh-CN" sz="2200" dirty="0"/>
              </a:p>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b="0" i="1" smtClean="0">
                          <a:latin typeface="Cambria Math" panose="02040503050406030204" pitchFamily="18" charset="0"/>
                          <a:ea typeface="Cambria Math" panose="02040503050406030204" pitchFamily="18" charset="0"/>
                        </a:rPr>
                        <m:t>&lt;</m:t>
                      </m:r>
                      <m:r>
                        <a:rPr lang="en-US" altLang="zh-CN" sz="2200" i="1">
                          <a:latin typeface="Cambria Math" panose="02040503050406030204" pitchFamily="18" charset="0"/>
                          <a:ea typeface="Cambria Math" panose="02040503050406030204" pitchFamily="18" charset="0"/>
                        </a:rPr>
                        <m:t>0→</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=−1</m:t>
                      </m:r>
                    </m:oMath>
                  </m:oMathPara>
                </a14:m>
                <a:endParaRPr lang="zh-CN" altLang="en-US" sz="2200" dirty="0"/>
              </a:p>
            </p:txBody>
          </p:sp>
        </mc:Choice>
        <mc:Fallback xmlns="">
          <p:sp>
            <p:nvSpPr>
              <p:cNvPr id="8" name="TextBox 7">
                <a:extLst>
                  <a:ext uri="{FF2B5EF4-FFF2-40B4-BE49-F238E27FC236}">
                    <a16:creationId xmlns:a16="http://schemas.microsoft.com/office/drawing/2014/main" id="{D1981C76-2455-417A-A158-A99F55F67A67}"/>
                  </a:ext>
                </a:extLst>
              </p:cNvPr>
              <p:cNvSpPr txBox="1">
                <a:spLocks noRot="1" noChangeAspect="1" noMove="1" noResize="1" noEditPoints="1" noAdjustHandles="1" noChangeArrowheads="1" noChangeShapeType="1" noTextEdit="1"/>
              </p:cNvSpPr>
              <p:nvPr/>
            </p:nvSpPr>
            <p:spPr>
              <a:xfrm>
                <a:off x="342900" y="5119384"/>
                <a:ext cx="8610600" cy="769441"/>
              </a:xfrm>
              <a:prstGeom prst="rect">
                <a:avLst/>
              </a:prstGeom>
              <a:blipFill>
                <a:blip r:embed="rId7"/>
                <a:stretch>
                  <a:fillRect b="-5556"/>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90377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br>
              <a:rPr lang="en-US" altLang="zh-CN" dirty="0">
                <a:ea typeface="ＭＳ Ｐゴシック" panose="020B0600070205080204" pitchFamily="34" charset="-128"/>
              </a:rPr>
            </a:br>
            <a:r>
              <a:rPr lang="zh-CN" altLang="en-US" dirty="0">
                <a:ea typeface="ＭＳ Ｐゴシック" panose="020B0600070205080204" pitchFamily="34" charset="-128"/>
              </a:rPr>
              <a:t>另一个非线性问题</a:t>
            </a:r>
            <a:endParaRPr lang="zh-CN" altLang="en-US" dirty="0"/>
          </a:p>
        </p:txBody>
      </p:sp>
      <p:pic>
        <p:nvPicPr>
          <p:cNvPr id="9" name="Picture 8">
            <a:extLst>
              <a:ext uri="{FF2B5EF4-FFF2-40B4-BE49-F238E27FC236}">
                <a16:creationId xmlns:a16="http://schemas.microsoft.com/office/drawing/2014/main" id="{C57A1E47-0155-427D-BF06-E00D7DC545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sp>
        <p:nvSpPr>
          <p:cNvPr id="8" name="TextBox 7">
            <a:extLst>
              <a:ext uri="{FF2B5EF4-FFF2-40B4-BE49-F238E27FC236}">
                <a16:creationId xmlns:a16="http://schemas.microsoft.com/office/drawing/2014/main" id="{7664C3AC-AB78-4917-8832-C607B6DE6DC9}"/>
              </a:ext>
            </a:extLst>
          </p:cNvPr>
          <p:cNvSpPr txBox="1"/>
          <p:nvPr/>
        </p:nvSpPr>
        <p:spPr>
          <a:xfrm>
            <a:off x="-76202" y="1740476"/>
            <a:ext cx="9296400" cy="430887"/>
          </a:xfrm>
          <a:prstGeom prst="rect">
            <a:avLst/>
          </a:prstGeom>
          <a:noFill/>
        </p:spPr>
        <p:txBody>
          <a:bodyPr wrap="square" rtlCol="0">
            <a:spAutoFit/>
          </a:bodyPr>
          <a:lstStyle/>
          <a:p>
            <a:pPr algn="ctr"/>
            <a:r>
              <a:rPr lang="zh-CN" altLang="en-US" sz="2200" dirty="0"/>
              <a:t>这次情况不同了</a:t>
            </a:r>
            <a:endParaRPr lang="en-US" altLang="zh-CN" sz="2200" dirty="0"/>
          </a:p>
        </p:txBody>
      </p:sp>
    </p:spTree>
    <p:custDataLst>
      <p:tags r:id="rId1"/>
    </p:custDataLst>
    <p:extLst>
      <p:ext uri="{BB962C8B-B14F-4D97-AF65-F5344CB8AC3E}">
        <p14:creationId xmlns:p14="http://schemas.microsoft.com/office/powerpoint/2010/main" val="279735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BDF6B7-4970-4EA9-B0B8-E98FF6093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2368800"/>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br>
              <a:rPr lang="en-US" altLang="zh-CN" dirty="0">
                <a:ea typeface="ＭＳ Ｐゴシック" panose="020B0600070205080204" pitchFamily="34" charset="-128"/>
              </a:rPr>
            </a:br>
            <a:r>
              <a:rPr lang="zh-CN" altLang="en-US" dirty="0">
                <a:ea typeface="ＭＳ Ｐゴシック" panose="020B0600070205080204" pitchFamily="34" charset="-128"/>
              </a:rPr>
              <a:t>另一个非线性问题</a:t>
            </a:r>
            <a:endParaRPr lang="zh-CN" altLang="en-US" dirty="0"/>
          </a:p>
        </p:txBody>
      </p:sp>
      <p:sp>
        <p:nvSpPr>
          <p:cNvPr id="8" name="TextBox 7">
            <a:extLst>
              <a:ext uri="{FF2B5EF4-FFF2-40B4-BE49-F238E27FC236}">
                <a16:creationId xmlns:a16="http://schemas.microsoft.com/office/drawing/2014/main" id="{7664C3AC-AB78-4917-8832-C607B6DE6DC9}"/>
              </a:ext>
            </a:extLst>
          </p:cNvPr>
          <p:cNvSpPr txBox="1"/>
          <p:nvPr/>
        </p:nvSpPr>
        <p:spPr>
          <a:xfrm>
            <a:off x="-76202" y="1740476"/>
            <a:ext cx="9296400" cy="430887"/>
          </a:xfrm>
          <a:prstGeom prst="rect">
            <a:avLst/>
          </a:prstGeom>
          <a:noFill/>
        </p:spPr>
        <p:txBody>
          <a:bodyPr wrap="square" rtlCol="0">
            <a:spAutoFit/>
          </a:bodyPr>
          <a:lstStyle/>
          <a:p>
            <a:pPr algn="ctr"/>
            <a:r>
              <a:rPr lang="en-US" altLang="zh-CN" sz="2200" dirty="0"/>
              <a:t>Logistic regression</a:t>
            </a:r>
            <a:r>
              <a:rPr lang="zh-CN" altLang="en-US" sz="2200" dirty="0"/>
              <a:t>已经竭尽所能了</a:t>
            </a:r>
            <a:endParaRPr lang="en-US" altLang="zh-CN" sz="2200" dirty="0"/>
          </a:p>
        </p:txBody>
      </p:sp>
    </p:spTree>
    <p:extLst>
      <p:ext uri="{BB962C8B-B14F-4D97-AF65-F5344CB8AC3E}">
        <p14:creationId xmlns:p14="http://schemas.microsoft.com/office/powerpoint/2010/main" val="3647885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本质非线性问题</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4800600"/>
          </a:xfrm>
        </p:spPr>
        <p:txBody>
          <a:bodyPr>
            <a:normAutofit/>
          </a:bodyPr>
          <a:lstStyle/>
          <a:p>
            <a:pPr>
              <a:lnSpc>
                <a:spcPct val="90000"/>
              </a:lnSpc>
            </a:pPr>
            <a:r>
              <a:rPr lang="zh-CN" altLang="en-US" dirty="0"/>
              <a:t>有些问题本质上是非线性的</a:t>
            </a:r>
            <a:endParaRPr lang="en-US" altLang="zh-CN" dirty="0"/>
          </a:p>
          <a:p>
            <a:pPr>
              <a:lnSpc>
                <a:spcPct val="90000"/>
              </a:lnSpc>
            </a:pPr>
            <a:r>
              <a:rPr lang="zh-CN" altLang="en-US" dirty="0"/>
              <a:t>线性分类器无法处理</a:t>
            </a:r>
            <a:endParaRPr lang="en-US" altLang="zh-CN" dirty="0"/>
          </a:p>
          <a:p>
            <a:pPr lvl="1">
              <a:lnSpc>
                <a:spcPct val="90000"/>
              </a:lnSpc>
            </a:pPr>
            <a:r>
              <a:rPr lang="zh-CN" altLang="en-US" dirty="0"/>
              <a:t>第二个人造问题就是一例</a:t>
            </a:r>
            <a:endParaRPr lang="en-US" altLang="zh-CN" dirty="0"/>
          </a:p>
          <a:p>
            <a:pPr>
              <a:lnSpc>
                <a:spcPct val="90000"/>
              </a:lnSpc>
            </a:pPr>
            <a:r>
              <a:rPr lang="zh-CN" altLang="en-US" dirty="0"/>
              <a:t>我们需要一些不同的方案</a:t>
            </a:r>
            <a:endParaRPr lang="en-US" altLang="zh-CN" dirty="0"/>
          </a:p>
          <a:p>
            <a:pPr lvl="1">
              <a:lnSpc>
                <a:spcPct val="90000"/>
              </a:lnSpc>
            </a:pPr>
            <a:r>
              <a:rPr lang="zh-CN" altLang="en-US" dirty="0"/>
              <a:t>例如：把一个非线性问题转换成线性问题</a:t>
            </a:r>
            <a:endParaRPr lang="en-US" altLang="zh-CN" dirty="0"/>
          </a:p>
        </p:txBody>
      </p:sp>
    </p:spTree>
    <p:custDataLst>
      <p:tags r:id="rId1"/>
    </p:custDataLst>
    <p:extLst>
      <p:ext uri="{BB962C8B-B14F-4D97-AF65-F5344CB8AC3E}">
        <p14:creationId xmlns:p14="http://schemas.microsoft.com/office/powerpoint/2010/main" val="18828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变换</a:t>
            </a:r>
            <a:endParaRPr lang="zh-CN" alt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64C3AC-AB78-4917-8832-C607B6DE6DC9}"/>
                  </a:ext>
                </a:extLst>
              </p:cNvPr>
              <p:cNvSpPr txBox="1"/>
              <p:nvPr/>
            </p:nvSpPr>
            <p:spPr>
              <a:xfrm>
                <a:off x="514347" y="1620941"/>
                <a:ext cx="8115301" cy="769441"/>
              </a:xfrm>
              <a:prstGeom prst="rect">
                <a:avLst/>
              </a:prstGeom>
              <a:noFill/>
            </p:spPr>
            <p:txBody>
              <a:bodyPr wrap="square" rtlCol="0">
                <a:spAutoFit/>
              </a:bodyPr>
              <a:lstStyle/>
              <a:p>
                <a:pPr algn="ctr"/>
                <a:r>
                  <a:rPr lang="zh-CN" altLang="en-US" sz="2200" dirty="0"/>
                  <a:t>想法：从已有的两个属性中衍生出一个新的属性</a:t>
                </a:r>
                <a:endParaRPr lang="en-US" altLang="zh-CN" sz="2200" dirty="0"/>
              </a:p>
              <a:p>
                <a:pPr algn="ct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3</m:t>
                          </m:r>
                        </m:sub>
                      </m:sSub>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1</m:t>
                          </m:r>
                        </m:sub>
                      </m:sSub>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2</m:t>
                          </m:r>
                        </m:sub>
                      </m:sSub>
                    </m:oMath>
                  </m:oMathPara>
                </a14:m>
                <a:endParaRPr lang="en-US" altLang="zh-CN" sz="2200" dirty="0"/>
              </a:p>
            </p:txBody>
          </p:sp>
        </mc:Choice>
        <mc:Fallback xmlns="">
          <p:sp>
            <p:nvSpPr>
              <p:cNvPr id="8" name="TextBox 7">
                <a:extLst>
                  <a:ext uri="{FF2B5EF4-FFF2-40B4-BE49-F238E27FC236}">
                    <a16:creationId xmlns:a16="http://schemas.microsoft.com/office/drawing/2014/main" id="{7664C3AC-AB78-4917-8832-C607B6DE6DC9}"/>
                  </a:ext>
                </a:extLst>
              </p:cNvPr>
              <p:cNvSpPr txBox="1">
                <a:spLocks noRot="1" noChangeAspect="1" noMove="1" noResize="1" noEditPoints="1" noAdjustHandles="1" noChangeArrowheads="1" noChangeShapeType="1" noTextEdit="1"/>
              </p:cNvSpPr>
              <p:nvPr/>
            </p:nvSpPr>
            <p:spPr>
              <a:xfrm>
                <a:off x="514347" y="1620941"/>
                <a:ext cx="8115301" cy="769441"/>
              </a:xfrm>
              <a:prstGeom prst="rect">
                <a:avLst/>
              </a:prstGeom>
              <a:blipFill>
                <a:blip r:embed="rId3"/>
                <a:stretch>
                  <a:fillRect t="-8730" b="-794"/>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37E352F0-2B56-436D-82CB-482D8B3BD987}"/>
              </a:ext>
            </a:extLst>
          </p:cNvPr>
          <p:cNvSpPr txBox="1"/>
          <p:nvPr/>
        </p:nvSpPr>
        <p:spPr>
          <a:xfrm>
            <a:off x="402600" y="2895600"/>
            <a:ext cx="8338793" cy="430887"/>
          </a:xfrm>
          <a:prstGeom prst="rect">
            <a:avLst/>
          </a:prstGeom>
          <a:noFill/>
        </p:spPr>
        <p:txBody>
          <a:bodyPr wrap="square" rtlCol="0">
            <a:spAutoFit/>
          </a:bodyPr>
          <a:lstStyle/>
          <a:p>
            <a:pPr algn="ctr"/>
            <a:r>
              <a:rPr lang="zh-CN" altLang="en-US" sz="2200" dirty="0"/>
              <a:t>把数据从原先的二维空间映射到一个更高维（三维）空间中</a:t>
            </a:r>
            <a:endParaRPr lang="en-US" altLang="zh-CN" sz="2200" dirty="0"/>
          </a:p>
        </p:txBody>
      </p:sp>
      <p:sp>
        <p:nvSpPr>
          <p:cNvPr id="7" name="TextBox 6">
            <a:extLst>
              <a:ext uri="{FF2B5EF4-FFF2-40B4-BE49-F238E27FC236}">
                <a16:creationId xmlns:a16="http://schemas.microsoft.com/office/drawing/2014/main" id="{5E541619-F9FD-4764-9110-46F03BBDF620}"/>
              </a:ext>
            </a:extLst>
          </p:cNvPr>
          <p:cNvSpPr txBox="1"/>
          <p:nvPr/>
        </p:nvSpPr>
        <p:spPr>
          <a:xfrm>
            <a:off x="808262" y="4191000"/>
            <a:ext cx="2993571" cy="430887"/>
          </a:xfrm>
          <a:prstGeom prst="rect">
            <a:avLst/>
          </a:prstGeom>
          <a:noFill/>
        </p:spPr>
        <p:txBody>
          <a:bodyPr wrap="square" rtlCol="0">
            <a:spAutoFit/>
          </a:bodyPr>
          <a:lstStyle/>
          <a:p>
            <a:pPr algn="ctr"/>
            <a:r>
              <a:rPr lang="zh-CN" altLang="en-US" sz="2200" dirty="0"/>
              <a:t>二维非线性问题</a:t>
            </a:r>
            <a:endParaRPr lang="en-US" altLang="zh-CN" sz="22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1D09B0-BEDD-4318-A624-34C997C255D3}"/>
                  </a:ext>
                </a:extLst>
              </p:cNvPr>
              <p:cNvSpPr txBox="1"/>
              <p:nvPr/>
            </p:nvSpPr>
            <p:spPr>
              <a:xfrm>
                <a:off x="476249" y="5211519"/>
                <a:ext cx="3657600"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0</m:t>
                      </m:r>
                    </m:oMath>
                  </m:oMathPara>
                </a14:m>
                <a:endParaRPr lang="zh-CN" altLang="en-US" sz="2200" dirty="0"/>
              </a:p>
            </p:txBody>
          </p:sp>
        </mc:Choice>
        <mc:Fallback xmlns="">
          <p:sp>
            <p:nvSpPr>
              <p:cNvPr id="9" name="TextBox 8">
                <a:extLst>
                  <a:ext uri="{FF2B5EF4-FFF2-40B4-BE49-F238E27FC236}">
                    <a16:creationId xmlns:a16="http://schemas.microsoft.com/office/drawing/2014/main" id="{3B1D09B0-BEDD-4318-A624-34C997C255D3}"/>
                  </a:ext>
                </a:extLst>
              </p:cNvPr>
              <p:cNvSpPr txBox="1">
                <a:spLocks noRot="1" noChangeAspect="1" noMove="1" noResize="1" noEditPoints="1" noAdjustHandles="1" noChangeArrowheads="1" noChangeShapeType="1" noTextEdit="1"/>
              </p:cNvSpPr>
              <p:nvPr/>
            </p:nvSpPr>
            <p:spPr>
              <a:xfrm>
                <a:off x="476249" y="5211519"/>
                <a:ext cx="3657600" cy="430887"/>
              </a:xfrm>
              <a:prstGeom prst="rect">
                <a:avLst/>
              </a:prstGeom>
              <a:blipFill>
                <a:blip r:embed="rId6"/>
                <a:stretch>
                  <a:fillRect b="-1408"/>
                </a:stretch>
              </a:blipFill>
            </p:spPr>
            <p:txBody>
              <a:bodyPr/>
              <a:lstStyle/>
              <a:p>
                <a:r>
                  <a:rPr lang="zh-CN" altLang="en-US">
                    <a:noFill/>
                  </a:rPr>
                  <a:t> </a:t>
                </a:r>
              </a:p>
            </p:txBody>
          </p:sp>
        </mc:Fallback>
      </mc:AlternateContent>
      <p:sp>
        <p:nvSpPr>
          <p:cNvPr id="12" name="TextBox 11">
            <a:extLst>
              <a:ext uri="{FF2B5EF4-FFF2-40B4-BE49-F238E27FC236}">
                <a16:creationId xmlns:a16="http://schemas.microsoft.com/office/drawing/2014/main" id="{D93B052F-2BC5-48C7-AB5A-3E67BF7F8E68}"/>
              </a:ext>
            </a:extLst>
          </p:cNvPr>
          <p:cNvSpPr txBox="1"/>
          <p:nvPr/>
        </p:nvSpPr>
        <p:spPr>
          <a:xfrm>
            <a:off x="5342169" y="4191000"/>
            <a:ext cx="2993571" cy="430887"/>
          </a:xfrm>
          <a:prstGeom prst="rect">
            <a:avLst/>
          </a:prstGeom>
          <a:noFill/>
        </p:spPr>
        <p:txBody>
          <a:bodyPr wrap="square" rtlCol="0">
            <a:spAutoFit/>
          </a:bodyPr>
          <a:lstStyle/>
          <a:p>
            <a:pPr algn="ctr"/>
            <a:r>
              <a:rPr lang="zh-CN" altLang="en-US" sz="2200" dirty="0"/>
              <a:t>三维线性问题</a:t>
            </a:r>
            <a:endParaRPr lang="en-US" altLang="zh-CN" sz="22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09D1642-EB4C-4468-8801-1818B35DCC34}"/>
                  </a:ext>
                </a:extLst>
              </p:cNvPr>
              <p:cNvSpPr txBox="1"/>
              <p:nvPr/>
            </p:nvSpPr>
            <p:spPr>
              <a:xfrm>
                <a:off x="5010154" y="5206940"/>
                <a:ext cx="3657600"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+0.1</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2</m:t>
                          </m:r>
                        </m:sub>
                      </m:sSub>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3</m:t>
                          </m:r>
                        </m:sub>
                      </m:sSub>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0</m:t>
                      </m:r>
                    </m:oMath>
                  </m:oMathPara>
                </a14:m>
                <a:endParaRPr lang="zh-CN" altLang="en-US" sz="2200" dirty="0"/>
              </a:p>
            </p:txBody>
          </p:sp>
        </mc:Choice>
        <mc:Fallback xmlns="">
          <p:sp>
            <p:nvSpPr>
              <p:cNvPr id="13" name="TextBox 12">
                <a:extLst>
                  <a:ext uri="{FF2B5EF4-FFF2-40B4-BE49-F238E27FC236}">
                    <a16:creationId xmlns:a16="http://schemas.microsoft.com/office/drawing/2014/main" id="{E09D1642-EB4C-4468-8801-1818B35DCC34}"/>
                  </a:ext>
                </a:extLst>
              </p:cNvPr>
              <p:cNvSpPr txBox="1">
                <a:spLocks noRot="1" noChangeAspect="1" noMove="1" noResize="1" noEditPoints="1" noAdjustHandles="1" noChangeArrowheads="1" noChangeShapeType="1" noTextEdit="1"/>
              </p:cNvSpPr>
              <p:nvPr/>
            </p:nvSpPr>
            <p:spPr>
              <a:xfrm>
                <a:off x="5010154" y="5206940"/>
                <a:ext cx="3657600" cy="430887"/>
              </a:xfrm>
              <a:prstGeom prst="rect">
                <a:avLst/>
              </a:prstGeom>
              <a:blipFill>
                <a:blip r:embed="rId7"/>
                <a:stretch>
                  <a:fillRect b="-1408"/>
                </a:stretch>
              </a:blipFill>
            </p:spPr>
            <p:txBody>
              <a:bodyPr/>
              <a:lstStyle/>
              <a:p>
                <a:r>
                  <a:rPr lang="zh-CN" altLang="en-US">
                    <a:noFill/>
                  </a:rPr>
                  <a:t> </a:t>
                </a:r>
              </a:p>
            </p:txBody>
          </p:sp>
        </mc:Fallback>
      </mc:AlternateContent>
      <p:sp>
        <p:nvSpPr>
          <p:cNvPr id="3" name="Arrow: Right 2">
            <a:extLst>
              <a:ext uri="{FF2B5EF4-FFF2-40B4-BE49-F238E27FC236}">
                <a16:creationId xmlns:a16="http://schemas.microsoft.com/office/drawing/2014/main" id="{3306E200-C98A-4003-A67C-4F16C0114E49}"/>
              </a:ext>
            </a:extLst>
          </p:cNvPr>
          <p:cNvSpPr/>
          <p:nvPr/>
        </p:nvSpPr>
        <p:spPr bwMode="auto">
          <a:xfrm>
            <a:off x="4133849" y="4708062"/>
            <a:ext cx="1047751"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Tree>
    <p:custDataLst>
      <p:tags r:id="rId1"/>
    </p:custDataLst>
    <p:extLst>
      <p:ext uri="{BB962C8B-B14F-4D97-AF65-F5344CB8AC3E}">
        <p14:creationId xmlns:p14="http://schemas.microsoft.com/office/powerpoint/2010/main" val="125732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100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100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7" grpId="0"/>
      <p:bldP spid="9" grpId="0"/>
      <p:bldP spid="12" grpId="0"/>
      <p:bldP spid="13" grpId="0"/>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非线性 </a:t>
            </a:r>
            <a:r>
              <a:rPr lang="zh-CN" altLang="en-US" dirty="0">
                <a:latin typeface="等线" panose="02010600030101010101" pitchFamily="2" charset="-122"/>
                <a:ea typeface="等线" panose="02010600030101010101" pitchFamily="2" charset="-122"/>
              </a:rPr>
              <a:t>→</a:t>
            </a:r>
            <a:r>
              <a:rPr lang="zh-CN" altLang="en-US" dirty="0">
                <a:ea typeface="ＭＳ Ｐゴシック" panose="020B0600070205080204" pitchFamily="34" charset="-128"/>
              </a:rPr>
              <a:t> 线性</a:t>
            </a:r>
            <a:endParaRPr lang="zh-CN" altLang="en-US" dirty="0"/>
          </a:p>
        </p:txBody>
      </p:sp>
      <p:pic>
        <p:nvPicPr>
          <p:cNvPr id="9" name="Picture 8">
            <a:extLst>
              <a:ext uri="{FF2B5EF4-FFF2-40B4-BE49-F238E27FC236}">
                <a16:creationId xmlns:a16="http://schemas.microsoft.com/office/drawing/2014/main" id="{C57A1E47-0155-427D-BF06-E00D7DC545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057400"/>
            <a:ext cx="3657607" cy="3657607"/>
          </a:xfrm>
          <a:prstGeom prst="rect">
            <a:avLst/>
          </a:prstGeom>
        </p:spPr>
      </p:pic>
      <p:pic>
        <p:nvPicPr>
          <p:cNvPr id="7" name="Picture 6">
            <a:extLst>
              <a:ext uri="{FF2B5EF4-FFF2-40B4-BE49-F238E27FC236}">
                <a16:creationId xmlns:a16="http://schemas.microsoft.com/office/drawing/2014/main" id="{2F3BF806-B8A6-47C9-9576-1A65DCCA5C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6800" y="1900231"/>
            <a:ext cx="4114808" cy="4114808"/>
          </a:xfrm>
          <a:prstGeom prst="rect">
            <a:avLst/>
          </a:prstGeom>
        </p:spPr>
      </p:pic>
      <p:pic>
        <p:nvPicPr>
          <p:cNvPr id="13" name="Picture 12">
            <a:extLst>
              <a:ext uri="{FF2B5EF4-FFF2-40B4-BE49-F238E27FC236}">
                <a16:creationId xmlns:a16="http://schemas.microsoft.com/office/drawing/2014/main" id="{967C56B8-F321-40C1-9788-8F40D652DC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5600" y="1900800"/>
            <a:ext cx="4114808" cy="4114808"/>
          </a:xfrm>
          <a:prstGeom prst="rect">
            <a:avLst/>
          </a:prstGeom>
        </p:spPr>
      </p:pic>
      <p:sp>
        <p:nvSpPr>
          <p:cNvPr id="11" name="Arrow: Right 10">
            <a:extLst>
              <a:ext uri="{FF2B5EF4-FFF2-40B4-BE49-F238E27FC236}">
                <a16:creationId xmlns:a16="http://schemas.microsoft.com/office/drawing/2014/main" id="{E7371AD5-9A87-4703-9180-F5D45DC8A1A3}"/>
              </a:ext>
            </a:extLst>
          </p:cNvPr>
          <p:cNvSpPr/>
          <p:nvPr/>
        </p:nvSpPr>
        <p:spPr bwMode="auto">
          <a:xfrm>
            <a:off x="3817760" y="3657603"/>
            <a:ext cx="1047751" cy="4572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Tree>
    <p:custDataLst>
      <p:tags r:id="rId1"/>
    </p:custDataLst>
    <p:extLst>
      <p:ext uri="{BB962C8B-B14F-4D97-AF65-F5344CB8AC3E}">
        <p14:creationId xmlns:p14="http://schemas.microsoft.com/office/powerpoint/2010/main" val="90057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100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从已有的属</a:t>
            </a:r>
            <a:r>
              <a:rPr lang="zh-CN" altLang="en-US">
                <a:ea typeface="ＭＳ Ｐゴシック" panose="020B0600070205080204" pitchFamily="34" charset="-128"/>
              </a:rPr>
              <a:t>性中创造新</a:t>
            </a:r>
            <a:r>
              <a:rPr lang="zh-CN" altLang="en-US" dirty="0">
                <a:ea typeface="ＭＳ Ｐゴシック" panose="020B0600070205080204" pitchFamily="34" charset="-128"/>
              </a:rPr>
              <a:t>属性</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7772400" cy="5105400"/>
          </a:xfrm>
        </p:spPr>
        <p:txBody>
          <a:bodyPr/>
          <a:lstStyle/>
          <a:p>
            <a:r>
              <a:rPr lang="zh-CN" altLang="en-US" dirty="0"/>
              <a:t>人为构建</a:t>
            </a:r>
            <a:endParaRPr lang="en-US" altLang="zh-CN" dirty="0"/>
          </a:p>
          <a:p>
            <a:pPr lvl="1"/>
            <a:r>
              <a:rPr lang="zh-CN" altLang="en-US" dirty="0"/>
              <a:t>如同我们刚看到的例子</a:t>
            </a:r>
            <a:endParaRPr lang="en-US" altLang="zh-CN" dirty="0"/>
          </a:p>
          <a:p>
            <a:pPr lvl="2"/>
            <a:r>
              <a:rPr lang="zh-CN" altLang="en-US" dirty="0"/>
              <a:t>对于本质不甚明了的问题很困难</a:t>
            </a:r>
            <a:endParaRPr lang="en-US" altLang="zh-CN" dirty="0"/>
          </a:p>
          <a:p>
            <a:pPr lvl="2"/>
            <a:r>
              <a:rPr lang="zh-CN" altLang="en-US" dirty="0"/>
              <a:t>对于大规模问题也很困难</a:t>
            </a:r>
            <a:endParaRPr lang="en-US" altLang="zh-CN" dirty="0"/>
          </a:p>
          <a:p>
            <a:r>
              <a:rPr lang="zh-CN" altLang="en-US" dirty="0"/>
              <a:t>用更复杂的模型来解决</a:t>
            </a:r>
            <a:endParaRPr lang="en-US" altLang="zh-CN" dirty="0"/>
          </a:p>
          <a:p>
            <a:pPr lvl="1"/>
            <a:r>
              <a:rPr lang="zh-CN" altLang="en-US" dirty="0"/>
              <a:t>生成极大量甚至无穷多特征交互后进行线性分类器学习的</a:t>
            </a:r>
            <a:r>
              <a:rPr lang="en-US" altLang="zh-CN" dirty="0"/>
              <a:t>kernel trick</a:t>
            </a:r>
          </a:p>
          <a:p>
            <a:pPr lvl="1"/>
            <a:r>
              <a:rPr lang="zh-CN" altLang="en-US" dirty="0"/>
              <a:t>设计由大量人工神经细胞构成的多层深度模型的</a:t>
            </a:r>
            <a:r>
              <a:rPr lang="zh-CN" altLang="en-US" dirty="0">
                <a:solidFill>
                  <a:srgbClr val="C00000"/>
                </a:solidFill>
              </a:rPr>
              <a:t>深度学习</a:t>
            </a:r>
            <a:endParaRPr lang="en-US" altLang="zh-CN" dirty="0">
              <a:solidFill>
                <a:srgbClr val="C00000"/>
              </a:solidFill>
            </a:endParaRPr>
          </a:p>
          <a:p>
            <a:pPr lvl="2"/>
            <a:r>
              <a:rPr lang="zh-CN" altLang="en-US" dirty="0"/>
              <a:t>每一层中的每个神经细胞都创造出了新的特征</a:t>
            </a:r>
            <a:endParaRPr lang="en-US" altLang="zh-CN" dirty="0"/>
          </a:p>
        </p:txBody>
      </p:sp>
    </p:spTree>
    <p:custDataLst>
      <p:tags r:id="rId1"/>
    </p:custDataLst>
    <p:extLst>
      <p:ext uri="{BB962C8B-B14F-4D97-AF65-F5344CB8AC3E}">
        <p14:creationId xmlns:p14="http://schemas.microsoft.com/office/powerpoint/2010/main" val="181558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br>
              <a:rPr lang="en-US" altLang="zh-CN" dirty="0">
                <a:ea typeface="SimSun" panose="02010600030101010101" pitchFamily="2" charset="-122"/>
              </a:rPr>
            </a:br>
            <a:r>
              <a:rPr lang="zh-CN" altLang="en-US" dirty="0">
                <a:ea typeface="SimSun" panose="02010600030101010101" pitchFamily="2" charset="-122"/>
              </a:rPr>
              <a:t>作为神经细胞的感知器</a:t>
            </a:r>
            <a:endParaRPr lang="en-US" altLang="zh-CN" dirty="0">
              <a:ea typeface="SimSun" panose="02010600030101010101" pitchFamily="2" charset="-122"/>
            </a:endParaRPr>
          </a:p>
        </p:txBody>
      </p:sp>
      <p:sp>
        <p:nvSpPr>
          <p:cNvPr id="447507" name="Oval 19"/>
          <p:cNvSpPr>
            <a:spLocks noChangeArrowheads="1"/>
          </p:cNvSpPr>
          <p:nvPr/>
        </p:nvSpPr>
        <p:spPr bwMode="auto">
          <a:xfrm>
            <a:off x="4179887" y="2815203"/>
            <a:ext cx="1296988" cy="122396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endParaRPr lang="en-US" altLang="zh-CN" sz="1800" b="0"/>
          </a:p>
        </p:txBody>
      </p:sp>
      <p:sp>
        <p:nvSpPr>
          <p:cNvPr id="447508" name="Line 20"/>
          <p:cNvSpPr>
            <a:spLocks noChangeShapeType="1"/>
          </p:cNvSpPr>
          <p:nvPr/>
        </p:nvSpPr>
        <p:spPr bwMode="auto">
          <a:xfrm>
            <a:off x="2741612" y="2319298"/>
            <a:ext cx="1511300" cy="8562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09" name="Line 21"/>
          <p:cNvSpPr>
            <a:spLocks noChangeShapeType="1"/>
          </p:cNvSpPr>
          <p:nvPr/>
        </p:nvSpPr>
        <p:spPr bwMode="auto">
          <a:xfrm>
            <a:off x="2668587" y="2888228"/>
            <a:ext cx="1511300" cy="431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2" name="Line 24"/>
          <p:cNvSpPr>
            <a:spLocks noChangeShapeType="1"/>
          </p:cNvSpPr>
          <p:nvPr/>
        </p:nvSpPr>
        <p:spPr bwMode="auto">
          <a:xfrm flipV="1">
            <a:off x="2668586" y="3744494"/>
            <a:ext cx="1584325" cy="5835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4" name="Line 26"/>
          <p:cNvSpPr>
            <a:spLocks noChangeShapeType="1"/>
          </p:cNvSpPr>
          <p:nvPr/>
        </p:nvSpPr>
        <p:spPr bwMode="auto">
          <a:xfrm>
            <a:off x="5476875" y="3462903"/>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47515" name="Object 27"/>
          <p:cNvGraphicFramePr>
            <a:graphicFrameLocks noChangeAspect="1"/>
          </p:cNvGraphicFramePr>
          <p:nvPr/>
        </p:nvGraphicFramePr>
        <p:xfrm>
          <a:off x="5837237" y="3135878"/>
          <a:ext cx="273050" cy="327025"/>
        </p:xfrm>
        <a:graphic>
          <a:graphicData uri="http://schemas.openxmlformats.org/presentationml/2006/ole">
            <mc:AlternateContent xmlns:mc="http://schemas.openxmlformats.org/markup-compatibility/2006">
              <mc:Choice xmlns:v="urn:schemas-microsoft-com:vml" Requires="v">
                <p:oleObj name="Equation" r:id="rId4" imgW="0" imgH="28604" progId="Equation.3">
                  <p:embed/>
                </p:oleObj>
              </mc:Choice>
              <mc:Fallback>
                <p:oleObj name="Equation" r:id="rId4" imgW="0" imgH="28604" progId="Equation.3">
                  <p:embed/>
                  <p:pic>
                    <p:nvPicPr>
                      <p:cNvPr id="447515"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237" y="3135878"/>
                        <a:ext cx="27305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16" name="Freeform 28"/>
          <p:cNvSpPr>
            <a:spLocks/>
          </p:cNvSpPr>
          <p:nvPr/>
        </p:nvSpPr>
        <p:spPr bwMode="auto">
          <a:xfrm>
            <a:off x="4829175" y="2888228"/>
            <a:ext cx="215900" cy="1079500"/>
          </a:xfrm>
          <a:custGeom>
            <a:avLst/>
            <a:gdLst>
              <a:gd name="T0" fmla="*/ 2147483646 w 136"/>
              <a:gd name="T1" fmla="*/ 0 h 680"/>
              <a:gd name="T2" fmla="*/ 0 w 136"/>
              <a:gd name="T3" fmla="*/ 2147483646 h 680"/>
              <a:gd name="T4" fmla="*/ 2147483646 w 136"/>
              <a:gd name="T5" fmla="*/ 2147483646 h 680"/>
              <a:gd name="T6" fmla="*/ 0 60000 65536"/>
              <a:gd name="T7" fmla="*/ 0 60000 65536"/>
              <a:gd name="T8" fmla="*/ 0 60000 65536"/>
              <a:gd name="T9" fmla="*/ 0 w 136"/>
              <a:gd name="T10" fmla="*/ 0 h 680"/>
              <a:gd name="T11" fmla="*/ 136 w 136"/>
              <a:gd name="T12" fmla="*/ 680 h 680"/>
            </a:gdLst>
            <a:ahLst/>
            <a:cxnLst>
              <a:cxn ang="T6">
                <a:pos x="T0" y="T1"/>
              </a:cxn>
              <a:cxn ang="T7">
                <a:pos x="T2" y="T3"/>
              </a:cxn>
              <a:cxn ang="T8">
                <a:pos x="T4" y="T5"/>
              </a:cxn>
            </a:cxnLst>
            <a:rect l="T9" t="T10" r="T11" b="T12"/>
            <a:pathLst>
              <a:path w="136" h="680">
                <a:moveTo>
                  <a:pt x="136" y="0"/>
                </a:moveTo>
                <a:cubicBezTo>
                  <a:pt x="68" y="102"/>
                  <a:pt x="0" y="204"/>
                  <a:pt x="0" y="317"/>
                </a:cubicBezTo>
                <a:cubicBezTo>
                  <a:pt x="0" y="430"/>
                  <a:pt x="106" y="620"/>
                  <a:pt x="136" y="680"/>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Rectangle 1"/>
              <p:cNvSpPr/>
              <p:nvPr/>
            </p:nvSpPr>
            <p:spPr>
              <a:xfrm>
                <a:off x="4851400" y="3238033"/>
                <a:ext cx="5568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4851400" y="3238033"/>
                <a:ext cx="556819"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189267" y="2351048"/>
                <a:ext cx="636072" cy="15696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2</m:t>
                          </m:r>
                        </m:sub>
                      </m:sSub>
                    </m:oMath>
                  </m:oMathPara>
                </a14:m>
                <a:endParaRPr lang="en-US" sz="240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7" name="Rectangle 16"/>
              <p:cNvSpPr>
                <a:spLocks noRot="1" noChangeAspect="1" noMove="1" noResize="1" noEditPoints="1" noAdjustHandles="1" noChangeArrowheads="1" noChangeShapeType="1" noTextEdit="1"/>
              </p:cNvSpPr>
              <p:nvPr/>
            </p:nvSpPr>
            <p:spPr>
              <a:xfrm>
                <a:off x="3189267" y="2351048"/>
                <a:ext cx="636072" cy="1569660"/>
              </a:xfrm>
              <a:prstGeom prst="rect">
                <a:avLst/>
              </a:prstGeom>
              <a:blipFill>
                <a:blip r:embed="rId10"/>
                <a:stretch>
                  <a:fillRect r="-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151299" y="1981200"/>
                <a:ext cx="636072" cy="26776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dirty="0"/>
              </a:p>
              <a:p>
                <a:endParaRPr lang="en-U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ea typeface="Cambria Math" panose="02040503050406030204" pitchFamily="18" charset="0"/>
                </a:endParaRPr>
              </a:p>
              <a:p>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2151299" y="1981200"/>
                <a:ext cx="636072" cy="267765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C2FC3F9-47B3-465C-97B4-5ADF6EF3573B}"/>
                  </a:ext>
                </a:extLst>
              </p:cNvPr>
              <p:cNvSpPr/>
              <p:nvPr/>
            </p:nvSpPr>
            <p:spPr>
              <a:xfrm>
                <a:off x="2137071" y="4940107"/>
                <a:ext cx="27699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m:oMathPara>
                </a14:m>
                <a:endParaRPr lang="zh-CN" altLang="en-US" dirty="0"/>
              </a:p>
            </p:txBody>
          </p:sp>
        </mc:Choice>
        <mc:Fallback xmlns="">
          <p:sp>
            <p:nvSpPr>
              <p:cNvPr id="4" name="Rectangle 3">
                <a:extLst>
                  <a:ext uri="{FF2B5EF4-FFF2-40B4-BE49-F238E27FC236}">
                    <a16:creationId xmlns:a16="http://schemas.microsoft.com/office/drawing/2014/main" id="{1C2FC3F9-47B3-465C-97B4-5ADF6EF3573B}"/>
                  </a:ext>
                </a:extLst>
              </p:cNvPr>
              <p:cNvSpPr>
                <a:spLocks noRot="1" noChangeAspect="1" noMove="1" noResize="1" noEditPoints="1" noAdjustHandles="1" noChangeArrowheads="1" noChangeShapeType="1" noTextEdit="1"/>
              </p:cNvSpPr>
              <p:nvPr/>
            </p:nvSpPr>
            <p:spPr>
              <a:xfrm>
                <a:off x="2137071" y="4940107"/>
                <a:ext cx="2769925"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1F975CBD-FC9F-4AC9-9FD5-32626C75BFED}"/>
                  </a:ext>
                </a:extLst>
              </p:cNvPr>
              <p:cNvSpPr/>
              <p:nvPr/>
            </p:nvSpPr>
            <p:spPr>
              <a:xfrm>
                <a:off x="4716496" y="4964668"/>
                <a:ext cx="9223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m:oMathPara>
                </a14:m>
                <a:endParaRPr lang="zh-CN" altLang="en-US" dirty="0"/>
              </a:p>
            </p:txBody>
          </p:sp>
        </mc:Choice>
        <mc:Fallback xmlns="">
          <p:sp>
            <p:nvSpPr>
              <p:cNvPr id="19" name="Rectangle 18">
                <a:extLst>
                  <a:ext uri="{FF2B5EF4-FFF2-40B4-BE49-F238E27FC236}">
                    <a16:creationId xmlns:a16="http://schemas.microsoft.com/office/drawing/2014/main" id="{1F975CBD-FC9F-4AC9-9FD5-32626C75BFED}"/>
                  </a:ext>
                </a:extLst>
              </p:cNvPr>
              <p:cNvSpPr>
                <a:spLocks noRot="1" noChangeAspect="1" noMove="1" noResize="1" noEditPoints="1" noAdjustHandles="1" noChangeArrowheads="1" noChangeShapeType="1" noTextEdit="1"/>
              </p:cNvSpPr>
              <p:nvPr/>
            </p:nvSpPr>
            <p:spPr>
              <a:xfrm>
                <a:off x="4716496" y="4964668"/>
                <a:ext cx="922304" cy="369332"/>
              </a:xfrm>
              <a:prstGeom prst="rect">
                <a:avLst/>
              </a:prstGeom>
              <a:blipFill>
                <a:blip r:embed="rId13"/>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77ED89C-E28A-4E0E-890B-0C07A53E74EF}"/>
                  </a:ext>
                </a:extLst>
              </p:cNvPr>
              <p:cNvSpPr/>
              <p:nvPr/>
            </p:nvSpPr>
            <p:spPr>
              <a:xfrm>
                <a:off x="5438819" y="4973364"/>
                <a:ext cx="6190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&gt;0</m:t>
                      </m:r>
                    </m:oMath>
                  </m:oMathPara>
                </a14:m>
                <a:endParaRPr lang="zh-CN" altLang="en-US" dirty="0"/>
              </a:p>
            </p:txBody>
          </p:sp>
        </mc:Choice>
        <mc:Fallback xmlns="">
          <p:sp>
            <p:nvSpPr>
              <p:cNvPr id="20" name="Rectangle 19">
                <a:extLst>
                  <a:ext uri="{FF2B5EF4-FFF2-40B4-BE49-F238E27FC236}">
                    <a16:creationId xmlns:a16="http://schemas.microsoft.com/office/drawing/2014/main" id="{F77ED89C-E28A-4E0E-890B-0C07A53E74EF}"/>
                  </a:ext>
                </a:extLst>
              </p:cNvPr>
              <p:cNvSpPr>
                <a:spLocks noRot="1" noChangeAspect="1" noMove="1" noResize="1" noEditPoints="1" noAdjustHandles="1" noChangeArrowheads="1" noChangeShapeType="1" noTextEdit="1"/>
              </p:cNvSpPr>
              <p:nvPr/>
            </p:nvSpPr>
            <p:spPr>
              <a:xfrm>
                <a:off x="5438819" y="4973364"/>
                <a:ext cx="619080" cy="369332"/>
              </a:xfrm>
              <a:prstGeom prst="rect">
                <a:avLst/>
              </a:prstGeom>
              <a:blipFill>
                <a:blip r:embed="rId14"/>
                <a:stretch>
                  <a:fillRect/>
                </a:stretch>
              </a:blipFill>
            </p:spPr>
            <p:txBody>
              <a:bodyPr/>
              <a:lstStyle/>
              <a:p>
                <a:r>
                  <a:rPr lang="zh-CN" altLang="en-US">
                    <a:noFill/>
                  </a:rPr>
                  <a:t> </a:t>
                </a:r>
              </a:p>
            </p:txBody>
          </p:sp>
        </mc:Fallback>
      </mc:AlternateContent>
      <p:sp>
        <p:nvSpPr>
          <p:cNvPr id="21" name="TextBox 20">
            <a:extLst>
              <a:ext uri="{FF2B5EF4-FFF2-40B4-BE49-F238E27FC236}">
                <a16:creationId xmlns:a16="http://schemas.microsoft.com/office/drawing/2014/main" id="{0A9E9006-672E-403E-8E19-3B848B684FDB}"/>
              </a:ext>
            </a:extLst>
          </p:cNvPr>
          <p:cNvSpPr txBox="1"/>
          <p:nvPr/>
        </p:nvSpPr>
        <p:spPr>
          <a:xfrm>
            <a:off x="5772182" y="4964668"/>
            <a:ext cx="457200" cy="369332"/>
          </a:xfrm>
          <a:prstGeom prst="rect">
            <a:avLst/>
          </a:prstGeom>
          <a:noFill/>
        </p:spPr>
        <p:txBody>
          <a:bodyPr wrap="square" rtlCol="0">
            <a:spAutoFit/>
          </a:bodyPr>
          <a:lstStyle/>
          <a:p>
            <a:pPr algn="ctr"/>
            <a:r>
              <a:rPr lang="en-US" altLang="zh-CN" dirty="0"/>
              <a:t>?</a:t>
            </a:r>
            <a:endParaRPr lang="zh-CN" altLang="en-US" dirty="0"/>
          </a:p>
        </p:txBody>
      </p:sp>
      <p:pic>
        <p:nvPicPr>
          <p:cNvPr id="22" name="Picture 21">
            <a:extLst>
              <a:ext uri="{FF2B5EF4-FFF2-40B4-BE49-F238E27FC236}">
                <a16:creationId xmlns:a16="http://schemas.microsoft.com/office/drawing/2014/main" id="{AEE0ADB6-1B63-41E9-B508-E3F290481BEF}"/>
              </a:ext>
            </a:extLst>
          </p:cNvPr>
          <p:cNvPicPr>
            <a:picLocks noChangeAspect="1"/>
          </p:cNvPicPr>
          <p:nvPr/>
        </p:nvPicPr>
        <p:blipFill rotWithShape="1">
          <a:blip r:embed="rId15">
            <a:extLst>
              <a:ext uri="{28A0092B-C50C-407E-A947-70E740481C1C}">
                <a14:useLocalDpi xmlns:a14="http://schemas.microsoft.com/office/drawing/2010/main" val="0"/>
              </a:ext>
            </a:extLst>
          </a:blip>
          <a:srcRect t="8707" r="5903" b="-2391"/>
          <a:stretch/>
        </p:blipFill>
        <p:spPr>
          <a:xfrm>
            <a:off x="4709391" y="3552133"/>
            <a:ext cx="2160000" cy="1332000"/>
          </a:xfrm>
          <a:prstGeom prst="rect">
            <a:avLst/>
          </a:prstGeom>
        </p:spPr>
      </p:pic>
    </p:spTree>
    <p:custDataLst>
      <p:tags r:id="rId1"/>
    </p:custDataLst>
    <p:extLst>
      <p:ext uri="{BB962C8B-B14F-4D97-AF65-F5344CB8AC3E}">
        <p14:creationId xmlns:p14="http://schemas.microsoft.com/office/powerpoint/2010/main" val="37907201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750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75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75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75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75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75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07" grpId="0" animBg="1"/>
      <p:bldP spid="447508" grpId="0" animBg="1"/>
      <p:bldP spid="447509" grpId="0" animBg="1"/>
      <p:bldP spid="447512" grpId="0" animBg="1"/>
      <p:bldP spid="447514" grpId="0" animBg="1"/>
      <p:bldP spid="447516" grpId="0" animBg="1"/>
      <p:bldP spid="2" grpId="0"/>
      <p:bldP spid="17" grpId="0"/>
      <p:bldP spid="18" grpId="0"/>
      <p:bldP spid="4" grpId="0"/>
      <p:bldP spid="19" grpId="0"/>
      <p:bldP spid="20"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a:xfrm>
            <a:off x="1122363" y="457200"/>
            <a:ext cx="8021637" cy="914400"/>
          </a:xfrm>
        </p:spPr>
        <p:txBody>
          <a:bodyPr/>
          <a:lstStyle/>
          <a:p>
            <a:pPr eaLnBrk="1" hangingPunct="1"/>
            <a:br>
              <a:rPr lang="en-US" altLang="zh-CN" dirty="0">
                <a:ea typeface="SimSun" panose="02010600030101010101" pitchFamily="2" charset="-122"/>
              </a:rPr>
            </a:br>
            <a:br>
              <a:rPr lang="en-US" altLang="zh-CN" dirty="0">
                <a:ea typeface="SimSun" panose="02010600030101010101" pitchFamily="2" charset="-122"/>
              </a:rPr>
            </a:br>
            <a:r>
              <a:rPr lang="en-US" altLang="zh-CN" dirty="0">
                <a:ea typeface="SimSun" panose="02010600030101010101" pitchFamily="2" charset="-122"/>
              </a:rPr>
              <a:t>Logistic Regression</a:t>
            </a:r>
            <a:r>
              <a:rPr lang="zh-CN" altLang="en-US" dirty="0">
                <a:ea typeface="SimSun" panose="02010600030101010101" pitchFamily="2" charset="-122"/>
              </a:rPr>
              <a:t>神经细胞</a:t>
            </a:r>
            <a:endParaRPr lang="en-US" altLang="zh-CN" dirty="0">
              <a:ea typeface="SimSun" panose="02010600030101010101" pitchFamily="2" charset="-122"/>
            </a:endParaRPr>
          </a:p>
        </p:txBody>
      </p:sp>
      <p:sp>
        <p:nvSpPr>
          <p:cNvPr id="447507" name="Oval 19"/>
          <p:cNvSpPr>
            <a:spLocks noChangeArrowheads="1"/>
          </p:cNvSpPr>
          <p:nvPr/>
        </p:nvSpPr>
        <p:spPr bwMode="auto">
          <a:xfrm>
            <a:off x="4179887" y="2815203"/>
            <a:ext cx="1296988" cy="122396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endParaRPr lang="en-US" altLang="zh-CN" sz="1800" b="0"/>
          </a:p>
        </p:txBody>
      </p:sp>
      <p:sp>
        <p:nvSpPr>
          <p:cNvPr id="447508" name="Line 20"/>
          <p:cNvSpPr>
            <a:spLocks noChangeShapeType="1"/>
          </p:cNvSpPr>
          <p:nvPr/>
        </p:nvSpPr>
        <p:spPr bwMode="auto">
          <a:xfrm>
            <a:off x="2741612" y="2319298"/>
            <a:ext cx="1511300" cy="8562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09" name="Line 21"/>
          <p:cNvSpPr>
            <a:spLocks noChangeShapeType="1"/>
          </p:cNvSpPr>
          <p:nvPr/>
        </p:nvSpPr>
        <p:spPr bwMode="auto">
          <a:xfrm>
            <a:off x="2668587" y="2888228"/>
            <a:ext cx="1511300" cy="431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2" name="Line 24"/>
          <p:cNvSpPr>
            <a:spLocks noChangeShapeType="1"/>
          </p:cNvSpPr>
          <p:nvPr/>
        </p:nvSpPr>
        <p:spPr bwMode="auto">
          <a:xfrm flipV="1">
            <a:off x="2668586" y="3744494"/>
            <a:ext cx="1584325" cy="5835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4" name="Line 26"/>
          <p:cNvSpPr>
            <a:spLocks noChangeShapeType="1"/>
          </p:cNvSpPr>
          <p:nvPr/>
        </p:nvSpPr>
        <p:spPr bwMode="auto">
          <a:xfrm>
            <a:off x="5476875" y="3462903"/>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47515" name="Object 27"/>
          <p:cNvGraphicFramePr>
            <a:graphicFrameLocks noChangeAspect="1"/>
          </p:cNvGraphicFramePr>
          <p:nvPr/>
        </p:nvGraphicFramePr>
        <p:xfrm>
          <a:off x="5837237" y="3135878"/>
          <a:ext cx="273050" cy="327025"/>
        </p:xfrm>
        <a:graphic>
          <a:graphicData uri="http://schemas.openxmlformats.org/presentationml/2006/ole">
            <mc:AlternateContent xmlns:mc="http://schemas.openxmlformats.org/markup-compatibility/2006">
              <mc:Choice xmlns:v="urn:schemas-microsoft-com:vml" Requires="v">
                <p:oleObj name="Equation" r:id="rId4" imgW="0" imgH="28604" progId="Equation.3">
                  <p:embed/>
                </p:oleObj>
              </mc:Choice>
              <mc:Fallback>
                <p:oleObj name="Equation" r:id="rId4" imgW="0" imgH="28604" progId="Equation.3">
                  <p:embed/>
                  <p:pic>
                    <p:nvPicPr>
                      <p:cNvPr id="447515"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237" y="3135878"/>
                        <a:ext cx="27305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16" name="Freeform 28"/>
          <p:cNvSpPr>
            <a:spLocks/>
          </p:cNvSpPr>
          <p:nvPr/>
        </p:nvSpPr>
        <p:spPr bwMode="auto">
          <a:xfrm>
            <a:off x="4829175" y="2888228"/>
            <a:ext cx="215900" cy="1079500"/>
          </a:xfrm>
          <a:custGeom>
            <a:avLst/>
            <a:gdLst>
              <a:gd name="T0" fmla="*/ 2147483646 w 136"/>
              <a:gd name="T1" fmla="*/ 0 h 680"/>
              <a:gd name="T2" fmla="*/ 0 w 136"/>
              <a:gd name="T3" fmla="*/ 2147483646 h 680"/>
              <a:gd name="T4" fmla="*/ 2147483646 w 136"/>
              <a:gd name="T5" fmla="*/ 2147483646 h 680"/>
              <a:gd name="T6" fmla="*/ 0 60000 65536"/>
              <a:gd name="T7" fmla="*/ 0 60000 65536"/>
              <a:gd name="T8" fmla="*/ 0 60000 65536"/>
              <a:gd name="T9" fmla="*/ 0 w 136"/>
              <a:gd name="T10" fmla="*/ 0 h 680"/>
              <a:gd name="T11" fmla="*/ 136 w 136"/>
              <a:gd name="T12" fmla="*/ 680 h 680"/>
            </a:gdLst>
            <a:ahLst/>
            <a:cxnLst>
              <a:cxn ang="T6">
                <a:pos x="T0" y="T1"/>
              </a:cxn>
              <a:cxn ang="T7">
                <a:pos x="T2" y="T3"/>
              </a:cxn>
              <a:cxn ang="T8">
                <a:pos x="T4" y="T5"/>
              </a:cxn>
            </a:cxnLst>
            <a:rect l="T9" t="T10" r="T11" b="T12"/>
            <a:pathLst>
              <a:path w="136" h="680">
                <a:moveTo>
                  <a:pt x="136" y="0"/>
                </a:moveTo>
                <a:cubicBezTo>
                  <a:pt x="68" y="102"/>
                  <a:pt x="0" y="204"/>
                  <a:pt x="0" y="317"/>
                </a:cubicBezTo>
                <a:cubicBezTo>
                  <a:pt x="0" y="430"/>
                  <a:pt x="106" y="620"/>
                  <a:pt x="136" y="680"/>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Rectangle 1"/>
              <p:cNvSpPr/>
              <p:nvPr/>
            </p:nvSpPr>
            <p:spPr>
              <a:xfrm>
                <a:off x="4851400" y="3238033"/>
                <a:ext cx="5568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4851400" y="3238033"/>
                <a:ext cx="556819"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189267" y="2351048"/>
                <a:ext cx="636072" cy="15696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2</m:t>
                          </m:r>
                        </m:sub>
                      </m:sSub>
                    </m:oMath>
                  </m:oMathPara>
                </a14:m>
                <a:endParaRPr lang="en-US" sz="240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7" name="Rectangle 16"/>
              <p:cNvSpPr>
                <a:spLocks noRot="1" noChangeAspect="1" noMove="1" noResize="1" noEditPoints="1" noAdjustHandles="1" noChangeArrowheads="1" noChangeShapeType="1" noTextEdit="1"/>
              </p:cNvSpPr>
              <p:nvPr/>
            </p:nvSpPr>
            <p:spPr>
              <a:xfrm>
                <a:off x="3189267" y="2351048"/>
                <a:ext cx="636072" cy="1569660"/>
              </a:xfrm>
              <a:prstGeom prst="rect">
                <a:avLst/>
              </a:prstGeom>
              <a:blipFill>
                <a:blip r:embed="rId10"/>
                <a:stretch>
                  <a:fillRect r="-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151299" y="1981200"/>
                <a:ext cx="636072" cy="26776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dirty="0"/>
              </a:p>
              <a:p>
                <a:endParaRPr lang="en-U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ea typeface="Cambria Math" panose="02040503050406030204" pitchFamily="18" charset="0"/>
                </a:endParaRPr>
              </a:p>
              <a:p>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2151299" y="1981200"/>
                <a:ext cx="636072" cy="267765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C2FC3F9-47B3-465C-97B4-5ADF6EF3573B}"/>
                  </a:ext>
                </a:extLst>
              </p:cNvPr>
              <p:cNvSpPr/>
              <p:nvPr/>
            </p:nvSpPr>
            <p:spPr>
              <a:xfrm>
                <a:off x="2137071" y="4940107"/>
                <a:ext cx="27699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m:oMathPara>
                </a14:m>
                <a:endParaRPr lang="zh-CN" altLang="en-US" dirty="0"/>
              </a:p>
            </p:txBody>
          </p:sp>
        </mc:Choice>
        <mc:Fallback xmlns="">
          <p:sp>
            <p:nvSpPr>
              <p:cNvPr id="4" name="Rectangle 3">
                <a:extLst>
                  <a:ext uri="{FF2B5EF4-FFF2-40B4-BE49-F238E27FC236}">
                    <a16:creationId xmlns:a16="http://schemas.microsoft.com/office/drawing/2014/main" id="{1C2FC3F9-47B3-465C-97B4-5ADF6EF3573B}"/>
                  </a:ext>
                </a:extLst>
              </p:cNvPr>
              <p:cNvSpPr>
                <a:spLocks noRot="1" noChangeAspect="1" noMove="1" noResize="1" noEditPoints="1" noAdjustHandles="1" noChangeArrowheads="1" noChangeShapeType="1" noTextEdit="1"/>
              </p:cNvSpPr>
              <p:nvPr/>
            </p:nvSpPr>
            <p:spPr>
              <a:xfrm>
                <a:off x="2137071" y="4940107"/>
                <a:ext cx="2769925"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1F975CBD-FC9F-4AC9-9FD5-32626C75BFED}"/>
                  </a:ext>
                </a:extLst>
              </p:cNvPr>
              <p:cNvSpPr/>
              <p:nvPr/>
            </p:nvSpPr>
            <p:spPr>
              <a:xfrm>
                <a:off x="4716496" y="4964668"/>
                <a:ext cx="9223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m:oMathPara>
                </a14:m>
                <a:endParaRPr lang="zh-CN" altLang="en-US" dirty="0"/>
              </a:p>
            </p:txBody>
          </p:sp>
        </mc:Choice>
        <mc:Fallback xmlns="">
          <p:sp>
            <p:nvSpPr>
              <p:cNvPr id="19" name="Rectangle 18">
                <a:extLst>
                  <a:ext uri="{FF2B5EF4-FFF2-40B4-BE49-F238E27FC236}">
                    <a16:creationId xmlns:a16="http://schemas.microsoft.com/office/drawing/2014/main" id="{1F975CBD-FC9F-4AC9-9FD5-32626C75BFED}"/>
                  </a:ext>
                </a:extLst>
              </p:cNvPr>
              <p:cNvSpPr>
                <a:spLocks noRot="1" noChangeAspect="1" noMove="1" noResize="1" noEditPoints="1" noAdjustHandles="1" noChangeArrowheads="1" noChangeShapeType="1" noTextEdit="1"/>
              </p:cNvSpPr>
              <p:nvPr/>
            </p:nvSpPr>
            <p:spPr>
              <a:xfrm>
                <a:off x="4716496" y="4964668"/>
                <a:ext cx="922304" cy="369332"/>
              </a:xfrm>
              <a:prstGeom prst="rect">
                <a:avLst/>
              </a:prstGeom>
              <a:blipFill>
                <a:blip r:embed="rId13"/>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77ED89C-E28A-4E0E-890B-0C07A53E74EF}"/>
                  </a:ext>
                </a:extLst>
              </p:cNvPr>
              <p:cNvSpPr/>
              <p:nvPr/>
            </p:nvSpPr>
            <p:spPr>
              <a:xfrm>
                <a:off x="5365225" y="4964897"/>
                <a:ext cx="349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p:txBody>
          </p:sp>
        </mc:Choice>
        <mc:Fallback xmlns="">
          <p:sp>
            <p:nvSpPr>
              <p:cNvPr id="20" name="Rectangle 19">
                <a:extLst>
                  <a:ext uri="{FF2B5EF4-FFF2-40B4-BE49-F238E27FC236}">
                    <a16:creationId xmlns:a16="http://schemas.microsoft.com/office/drawing/2014/main" id="{F77ED89C-E28A-4E0E-890B-0C07A53E74EF}"/>
                  </a:ext>
                </a:extLst>
              </p:cNvPr>
              <p:cNvSpPr>
                <a:spLocks noRot="1" noChangeAspect="1" noMove="1" noResize="1" noEditPoints="1" noAdjustHandles="1" noChangeArrowheads="1" noChangeShapeType="1" noTextEdit="1"/>
              </p:cNvSpPr>
              <p:nvPr/>
            </p:nvSpPr>
            <p:spPr>
              <a:xfrm>
                <a:off x="5365225" y="4964897"/>
                <a:ext cx="349775" cy="369332"/>
              </a:xfrm>
              <a:prstGeom prst="rect">
                <a:avLst/>
              </a:prstGeom>
              <a:blipFill>
                <a:blip r:embed="rId14"/>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00DC93D0-E767-4FA3-884F-FB31C488450D}"/>
                  </a:ext>
                </a:extLst>
              </p:cNvPr>
              <p:cNvSpPr/>
              <p:nvPr/>
            </p:nvSpPr>
            <p:spPr>
              <a:xfrm>
                <a:off x="1196395" y="4963636"/>
                <a:ext cx="1250021"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1+</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m:t>
                          </m:r>
                        </m:sup>
                      </m:sSup>
                    </m:oMath>
                  </m:oMathPara>
                </a14:m>
                <a:endParaRPr lang="zh-CN" altLang="en-US" dirty="0"/>
              </a:p>
            </p:txBody>
          </p:sp>
        </mc:Choice>
        <mc:Fallback xmlns="">
          <p:sp>
            <p:nvSpPr>
              <p:cNvPr id="22" name="Rectangle 21">
                <a:extLst>
                  <a:ext uri="{FF2B5EF4-FFF2-40B4-BE49-F238E27FC236}">
                    <a16:creationId xmlns:a16="http://schemas.microsoft.com/office/drawing/2014/main" id="{00DC93D0-E767-4FA3-884F-FB31C488450D}"/>
                  </a:ext>
                </a:extLst>
              </p:cNvPr>
              <p:cNvSpPr>
                <a:spLocks noRot="1" noChangeAspect="1" noMove="1" noResize="1" noEditPoints="1" noAdjustHandles="1" noChangeArrowheads="1" noChangeShapeType="1" noTextEdit="1"/>
              </p:cNvSpPr>
              <p:nvPr/>
            </p:nvSpPr>
            <p:spPr>
              <a:xfrm>
                <a:off x="1196395" y="4963636"/>
                <a:ext cx="1250021" cy="47699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1BB8A0F1-A2AE-49D8-BDAD-5B59A0440165}"/>
                  </a:ext>
                </a:extLst>
              </p:cNvPr>
              <p:cNvSpPr/>
              <p:nvPr/>
            </p:nvSpPr>
            <p:spPr>
              <a:xfrm>
                <a:off x="3138139" y="4492887"/>
                <a:ext cx="44595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1</m:t>
                      </m:r>
                    </m:oMath>
                  </m:oMathPara>
                </a14:m>
                <a:endParaRPr lang="zh-CN" altLang="en-US" dirty="0"/>
              </a:p>
            </p:txBody>
          </p:sp>
        </mc:Choice>
        <mc:Fallback xmlns="">
          <p:sp>
            <p:nvSpPr>
              <p:cNvPr id="23" name="Rectangle 22">
                <a:extLst>
                  <a:ext uri="{FF2B5EF4-FFF2-40B4-BE49-F238E27FC236}">
                    <a16:creationId xmlns:a16="http://schemas.microsoft.com/office/drawing/2014/main" id="{1BB8A0F1-A2AE-49D8-BDAD-5B59A0440165}"/>
                  </a:ext>
                </a:extLst>
              </p:cNvPr>
              <p:cNvSpPr>
                <a:spLocks noRot="1" noChangeAspect="1" noMove="1" noResize="1" noEditPoints="1" noAdjustHandles="1" noChangeArrowheads="1" noChangeShapeType="1" noTextEdit="1"/>
              </p:cNvSpPr>
              <p:nvPr/>
            </p:nvSpPr>
            <p:spPr>
              <a:xfrm>
                <a:off x="3138139" y="4492887"/>
                <a:ext cx="445955" cy="461665"/>
              </a:xfrm>
              <a:prstGeom prst="rect">
                <a:avLst/>
              </a:prstGeom>
              <a:blipFill>
                <a:blip r:embed="rId16"/>
                <a:stretch>
                  <a:fillRect/>
                </a:stretch>
              </a:blipFill>
            </p:spPr>
            <p:txBody>
              <a:bodyPr/>
              <a:lstStyle/>
              <a:p>
                <a:r>
                  <a:rPr lang="zh-CN" altLang="en-US">
                    <a:noFill/>
                  </a:rPr>
                  <a:t> </a:t>
                </a:r>
              </a:p>
            </p:txBody>
          </p:sp>
        </mc:Fallback>
      </mc:AlternateContent>
      <p:cxnSp>
        <p:nvCxnSpPr>
          <p:cNvPr id="6" name="Straight Connector 5">
            <a:extLst>
              <a:ext uri="{FF2B5EF4-FFF2-40B4-BE49-F238E27FC236}">
                <a16:creationId xmlns:a16="http://schemas.microsoft.com/office/drawing/2014/main" id="{F5E37016-FC1A-4169-A913-7AB8355DBF4F}"/>
              </a:ext>
            </a:extLst>
          </p:cNvPr>
          <p:cNvCxnSpPr>
            <a:endCxn id="20" idx="0"/>
          </p:cNvCxnSpPr>
          <p:nvPr/>
        </p:nvCxnSpPr>
        <p:spPr bwMode="auto">
          <a:xfrm>
            <a:off x="1295400" y="4940107"/>
            <a:ext cx="4244713" cy="2479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26" name="Picture 25">
            <a:extLst>
              <a:ext uri="{FF2B5EF4-FFF2-40B4-BE49-F238E27FC236}">
                <a16:creationId xmlns:a16="http://schemas.microsoft.com/office/drawing/2014/main" id="{A206C863-D58D-4020-A082-12E7575F31F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007722" y="3707880"/>
            <a:ext cx="1828958" cy="1219306"/>
          </a:xfrm>
          <a:prstGeom prst="rect">
            <a:avLst/>
          </a:prstGeom>
        </p:spPr>
      </p:pic>
    </p:spTree>
    <p:custDataLst>
      <p:tags r:id="rId1"/>
    </p:custDataLst>
    <p:extLst>
      <p:ext uri="{BB962C8B-B14F-4D97-AF65-F5344CB8AC3E}">
        <p14:creationId xmlns:p14="http://schemas.microsoft.com/office/powerpoint/2010/main" val="26323659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750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75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75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75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75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75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07" grpId="0" animBg="1"/>
      <p:bldP spid="447508" grpId="0" animBg="1"/>
      <p:bldP spid="447509" grpId="0" animBg="1"/>
      <p:bldP spid="447512" grpId="0" animBg="1"/>
      <p:bldP spid="447514" grpId="0" animBg="1"/>
      <p:bldP spid="447516" grpId="0" animBg="1"/>
      <p:bldP spid="2" grpId="0"/>
      <p:bldP spid="17" grpId="0"/>
      <p:bldP spid="18" grpId="0"/>
      <p:bldP spid="4" grpId="0"/>
      <p:bldP spid="19" grpId="0"/>
      <p:bldP spid="20" grpId="0"/>
      <p:bldP spid="22"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3704E-3551-75B5-F0DE-075EAEA6CB73}"/>
            </a:ext>
          </a:extLst>
        </p:cNvPr>
        <p:cNvGrpSpPr/>
        <p:nvPr/>
      </p:nvGrpSpPr>
      <p:grpSpPr>
        <a:xfrm>
          <a:off x="0" y="0"/>
          <a:ext cx="0" cy="0"/>
          <a:chOff x="0" y="0"/>
          <a:chExt cx="0" cy="0"/>
        </a:xfrm>
      </p:grpSpPr>
      <p:sp>
        <p:nvSpPr>
          <p:cNvPr id="187395" name="Rectangle 2">
            <a:extLst>
              <a:ext uri="{FF2B5EF4-FFF2-40B4-BE49-F238E27FC236}">
                <a16:creationId xmlns:a16="http://schemas.microsoft.com/office/drawing/2014/main" id="{D50752D6-C658-49C1-D7D2-A318F9D2BC1F}"/>
              </a:ext>
            </a:extLst>
          </p:cNvPr>
          <p:cNvSpPr>
            <a:spLocks noGrp="1" noChangeArrowheads="1"/>
          </p:cNvSpPr>
          <p:nvPr>
            <p:ph type="title"/>
          </p:nvPr>
        </p:nvSpPr>
        <p:spPr>
          <a:xfrm>
            <a:off x="1122363" y="457200"/>
            <a:ext cx="8021637" cy="914400"/>
          </a:xfrm>
        </p:spPr>
        <p:txBody>
          <a:bodyPr/>
          <a:lstStyle/>
          <a:p>
            <a:pPr eaLnBrk="1" hangingPunct="1"/>
            <a:br>
              <a:rPr lang="en-US" altLang="zh-CN" dirty="0">
                <a:ea typeface="SimSun" panose="02010600030101010101" pitchFamily="2" charset="-122"/>
              </a:rPr>
            </a:br>
            <a:r>
              <a:rPr lang="zh-CN" altLang="en-US" dirty="0">
                <a:ea typeface="SimSun" panose="02010600030101010101" pitchFamily="2" charset="-122"/>
              </a:rPr>
              <a:t>线性整流（</a:t>
            </a:r>
            <a:r>
              <a:rPr lang="en-US" altLang="zh-CN" dirty="0">
                <a:ea typeface="SimSun" panose="02010600030101010101" pitchFamily="2" charset="-122"/>
              </a:rPr>
              <a:t>Rectifier</a:t>
            </a:r>
            <a:r>
              <a:rPr lang="zh-CN" altLang="en-US" dirty="0">
                <a:ea typeface="SimSun" panose="02010600030101010101" pitchFamily="2" charset="-122"/>
              </a:rPr>
              <a:t>）神经细胞</a:t>
            </a:r>
            <a:endParaRPr lang="en-US" altLang="zh-CN" dirty="0">
              <a:ea typeface="SimSun" panose="02010600030101010101" pitchFamily="2" charset="-122"/>
            </a:endParaRPr>
          </a:p>
        </p:txBody>
      </p:sp>
      <p:sp>
        <p:nvSpPr>
          <p:cNvPr id="447507" name="Oval 19">
            <a:extLst>
              <a:ext uri="{FF2B5EF4-FFF2-40B4-BE49-F238E27FC236}">
                <a16:creationId xmlns:a16="http://schemas.microsoft.com/office/drawing/2014/main" id="{602BAF1E-CA52-2FC8-50AF-B8F4F3EF93E4}"/>
              </a:ext>
            </a:extLst>
          </p:cNvPr>
          <p:cNvSpPr>
            <a:spLocks noChangeArrowheads="1"/>
          </p:cNvSpPr>
          <p:nvPr/>
        </p:nvSpPr>
        <p:spPr bwMode="auto">
          <a:xfrm>
            <a:off x="4179887" y="2815203"/>
            <a:ext cx="1296988" cy="122396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endParaRPr lang="en-US" altLang="zh-CN" sz="1800" b="0"/>
          </a:p>
        </p:txBody>
      </p:sp>
      <p:sp>
        <p:nvSpPr>
          <p:cNvPr id="447508" name="Line 20">
            <a:extLst>
              <a:ext uri="{FF2B5EF4-FFF2-40B4-BE49-F238E27FC236}">
                <a16:creationId xmlns:a16="http://schemas.microsoft.com/office/drawing/2014/main" id="{3393AC47-AA42-8F49-F264-174A2BC63F2D}"/>
              </a:ext>
            </a:extLst>
          </p:cNvPr>
          <p:cNvSpPr>
            <a:spLocks noChangeShapeType="1"/>
          </p:cNvSpPr>
          <p:nvPr/>
        </p:nvSpPr>
        <p:spPr bwMode="auto">
          <a:xfrm>
            <a:off x="2741612" y="2319298"/>
            <a:ext cx="1511300" cy="8562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09" name="Line 21">
            <a:extLst>
              <a:ext uri="{FF2B5EF4-FFF2-40B4-BE49-F238E27FC236}">
                <a16:creationId xmlns:a16="http://schemas.microsoft.com/office/drawing/2014/main" id="{5FEF6F4A-4221-736B-E377-69111C91BE22}"/>
              </a:ext>
            </a:extLst>
          </p:cNvPr>
          <p:cNvSpPr>
            <a:spLocks noChangeShapeType="1"/>
          </p:cNvSpPr>
          <p:nvPr/>
        </p:nvSpPr>
        <p:spPr bwMode="auto">
          <a:xfrm>
            <a:off x="2668587" y="2888228"/>
            <a:ext cx="1511300" cy="431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2" name="Line 24">
            <a:extLst>
              <a:ext uri="{FF2B5EF4-FFF2-40B4-BE49-F238E27FC236}">
                <a16:creationId xmlns:a16="http://schemas.microsoft.com/office/drawing/2014/main" id="{F9747689-7CC6-A038-69BB-60542BA8CC5B}"/>
              </a:ext>
            </a:extLst>
          </p:cNvPr>
          <p:cNvSpPr>
            <a:spLocks noChangeShapeType="1"/>
          </p:cNvSpPr>
          <p:nvPr/>
        </p:nvSpPr>
        <p:spPr bwMode="auto">
          <a:xfrm flipV="1">
            <a:off x="2668586" y="3744494"/>
            <a:ext cx="1584325" cy="5835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4" name="Line 26">
            <a:extLst>
              <a:ext uri="{FF2B5EF4-FFF2-40B4-BE49-F238E27FC236}">
                <a16:creationId xmlns:a16="http://schemas.microsoft.com/office/drawing/2014/main" id="{DC9CBF82-3843-794A-9191-58472710C827}"/>
              </a:ext>
            </a:extLst>
          </p:cNvPr>
          <p:cNvSpPr>
            <a:spLocks noChangeShapeType="1"/>
          </p:cNvSpPr>
          <p:nvPr/>
        </p:nvSpPr>
        <p:spPr bwMode="auto">
          <a:xfrm>
            <a:off x="5476875" y="3462903"/>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47515" name="Object 27">
            <a:extLst>
              <a:ext uri="{FF2B5EF4-FFF2-40B4-BE49-F238E27FC236}">
                <a16:creationId xmlns:a16="http://schemas.microsoft.com/office/drawing/2014/main" id="{44239BCD-D42F-3429-CFC6-0C008C721718}"/>
              </a:ext>
            </a:extLst>
          </p:cNvPr>
          <p:cNvGraphicFramePr>
            <a:graphicFrameLocks noChangeAspect="1"/>
          </p:cNvGraphicFramePr>
          <p:nvPr/>
        </p:nvGraphicFramePr>
        <p:xfrm>
          <a:off x="5837237" y="3135878"/>
          <a:ext cx="273050" cy="327025"/>
        </p:xfrm>
        <a:graphic>
          <a:graphicData uri="http://schemas.openxmlformats.org/presentationml/2006/ole">
            <mc:AlternateContent xmlns:mc="http://schemas.openxmlformats.org/markup-compatibility/2006">
              <mc:Choice xmlns:v="urn:schemas-microsoft-com:vml" Requires="v">
                <p:oleObj name="Equation" r:id="rId4" imgW="0" imgH="28604" progId="Equation.3">
                  <p:embed/>
                </p:oleObj>
              </mc:Choice>
              <mc:Fallback>
                <p:oleObj name="Equation" r:id="rId4" imgW="0" imgH="28604" progId="Equation.3">
                  <p:embed/>
                  <p:pic>
                    <p:nvPicPr>
                      <p:cNvPr id="447515"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237" y="3135878"/>
                        <a:ext cx="27305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16" name="Freeform 28">
            <a:extLst>
              <a:ext uri="{FF2B5EF4-FFF2-40B4-BE49-F238E27FC236}">
                <a16:creationId xmlns:a16="http://schemas.microsoft.com/office/drawing/2014/main" id="{40DDDE90-6D69-8B32-24BC-D7BFCBD58335}"/>
              </a:ext>
            </a:extLst>
          </p:cNvPr>
          <p:cNvSpPr>
            <a:spLocks/>
          </p:cNvSpPr>
          <p:nvPr/>
        </p:nvSpPr>
        <p:spPr bwMode="auto">
          <a:xfrm>
            <a:off x="4829175" y="2888228"/>
            <a:ext cx="215900" cy="1079500"/>
          </a:xfrm>
          <a:custGeom>
            <a:avLst/>
            <a:gdLst>
              <a:gd name="T0" fmla="*/ 2147483646 w 136"/>
              <a:gd name="T1" fmla="*/ 0 h 680"/>
              <a:gd name="T2" fmla="*/ 0 w 136"/>
              <a:gd name="T3" fmla="*/ 2147483646 h 680"/>
              <a:gd name="T4" fmla="*/ 2147483646 w 136"/>
              <a:gd name="T5" fmla="*/ 2147483646 h 680"/>
              <a:gd name="T6" fmla="*/ 0 60000 65536"/>
              <a:gd name="T7" fmla="*/ 0 60000 65536"/>
              <a:gd name="T8" fmla="*/ 0 60000 65536"/>
              <a:gd name="T9" fmla="*/ 0 w 136"/>
              <a:gd name="T10" fmla="*/ 0 h 680"/>
              <a:gd name="T11" fmla="*/ 136 w 136"/>
              <a:gd name="T12" fmla="*/ 680 h 680"/>
            </a:gdLst>
            <a:ahLst/>
            <a:cxnLst>
              <a:cxn ang="T6">
                <a:pos x="T0" y="T1"/>
              </a:cxn>
              <a:cxn ang="T7">
                <a:pos x="T2" y="T3"/>
              </a:cxn>
              <a:cxn ang="T8">
                <a:pos x="T4" y="T5"/>
              </a:cxn>
            </a:cxnLst>
            <a:rect l="T9" t="T10" r="T11" b="T12"/>
            <a:pathLst>
              <a:path w="136" h="680">
                <a:moveTo>
                  <a:pt x="136" y="0"/>
                </a:moveTo>
                <a:cubicBezTo>
                  <a:pt x="68" y="102"/>
                  <a:pt x="0" y="204"/>
                  <a:pt x="0" y="317"/>
                </a:cubicBezTo>
                <a:cubicBezTo>
                  <a:pt x="0" y="430"/>
                  <a:pt x="106" y="620"/>
                  <a:pt x="136" y="680"/>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CEB3A31-2716-088B-9B5F-BF9466399455}"/>
                  </a:ext>
                </a:extLst>
              </p:cNvPr>
              <p:cNvSpPr/>
              <p:nvPr/>
            </p:nvSpPr>
            <p:spPr>
              <a:xfrm>
                <a:off x="4851400" y="3238033"/>
                <a:ext cx="5568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4851400" y="3238033"/>
                <a:ext cx="556819"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6672758-F80A-39B6-E656-D0EDAC3E911B}"/>
                  </a:ext>
                </a:extLst>
              </p:cNvPr>
              <p:cNvSpPr/>
              <p:nvPr/>
            </p:nvSpPr>
            <p:spPr>
              <a:xfrm>
                <a:off x="3189267" y="2351048"/>
                <a:ext cx="636072" cy="15696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2</m:t>
                          </m:r>
                        </m:sub>
                      </m:sSub>
                    </m:oMath>
                  </m:oMathPara>
                </a14:m>
                <a:endParaRPr lang="en-US" sz="240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7" name="Rectangle 16"/>
              <p:cNvSpPr>
                <a:spLocks noRot="1" noChangeAspect="1" noMove="1" noResize="1" noEditPoints="1" noAdjustHandles="1" noChangeArrowheads="1" noChangeShapeType="1" noTextEdit="1"/>
              </p:cNvSpPr>
              <p:nvPr/>
            </p:nvSpPr>
            <p:spPr>
              <a:xfrm>
                <a:off x="3189267" y="2351048"/>
                <a:ext cx="636072" cy="1569660"/>
              </a:xfrm>
              <a:prstGeom prst="rect">
                <a:avLst/>
              </a:prstGeom>
              <a:blipFill>
                <a:blip r:embed="rId10"/>
                <a:stretch>
                  <a:fillRect r="-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EF48E25-1FBF-8EAD-305E-1AB8CAACD323}"/>
                  </a:ext>
                </a:extLst>
              </p:cNvPr>
              <p:cNvSpPr/>
              <p:nvPr/>
            </p:nvSpPr>
            <p:spPr>
              <a:xfrm>
                <a:off x="2151299" y="1981200"/>
                <a:ext cx="636072" cy="26776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dirty="0"/>
              </a:p>
              <a:p>
                <a:endParaRPr lang="en-U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ea typeface="Cambria Math" panose="02040503050406030204" pitchFamily="18" charset="0"/>
                </a:endParaRPr>
              </a:p>
              <a:p>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2151299" y="1981200"/>
                <a:ext cx="636072" cy="267765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7594448-56CD-DB02-0987-684F75807845}"/>
                  </a:ext>
                </a:extLst>
              </p:cNvPr>
              <p:cNvSpPr/>
              <p:nvPr/>
            </p:nvSpPr>
            <p:spPr>
              <a:xfrm>
                <a:off x="2137071" y="4940107"/>
                <a:ext cx="27699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m:oMathPara>
                </a14:m>
                <a:endParaRPr lang="zh-CN" altLang="en-US" dirty="0"/>
              </a:p>
            </p:txBody>
          </p:sp>
        </mc:Choice>
        <mc:Fallback xmlns="">
          <p:sp>
            <p:nvSpPr>
              <p:cNvPr id="4" name="Rectangle 3">
                <a:extLst>
                  <a:ext uri="{FF2B5EF4-FFF2-40B4-BE49-F238E27FC236}">
                    <a16:creationId xmlns:a16="http://schemas.microsoft.com/office/drawing/2014/main" id="{1C2FC3F9-47B3-465C-97B4-5ADF6EF3573B}"/>
                  </a:ext>
                </a:extLst>
              </p:cNvPr>
              <p:cNvSpPr>
                <a:spLocks noRot="1" noChangeAspect="1" noMove="1" noResize="1" noEditPoints="1" noAdjustHandles="1" noChangeArrowheads="1" noChangeShapeType="1" noTextEdit="1"/>
              </p:cNvSpPr>
              <p:nvPr/>
            </p:nvSpPr>
            <p:spPr>
              <a:xfrm>
                <a:off x="2137071" y="4940107"/>
                <a:ext cx="2769925"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7779F2CF-5DE8-8A10-6FD6-FEA9A32330F4}"/>
                  </a:ext>
                </a:extLst>
              </p:cNvPr>
              <p:cNvSpPr/>
              <p:nvPr/>
            </p:nvSpPr>
            <p:spPr>
              <a:xfrm>
                <a:off x="4716496" y="4964668"/>
                <a:ext cx="9223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m:oMathPara>
                </a14:m>
                <a:endParaRPr lang="zh-CN" altLang="en-US" dirty="0"/>
              </a:p>
            </p:txBody>
          </p:sp>
        </mc:Choice>
        <mc:Fallback xmlns="">
          <p:sp>
            <p:nvSpPr>
              <p:cNvPr id="19" name="Rectangle 18">
                <a:extLst>
                  <a:ext uri="{FF2B5EF4-FFF2-40B4-BE49-F238E27FC236}">
                    <a16:creationId xmlns:a16="http://schemas.microsoft.com/office/drawing/2014/main" id="{1F975CBD-FC9F-4AC9-9FD5-32626C75BFED}"/>
                  </a:ext>
                </a:extLst>
              </p:cNvPr>
              <p:cNvSpPr>
                <a:spLocks noRot="1" noChangeAspect="1" noMove="1" noResize="1" noEditPoints="1" noAdjustHandles="1" noChangeArrowheads="1" noChangeShapeType="1" noTextEdit="1"/>
              </p:cNvSpPr>
              <p:nvPr/>
            </p:nvSpPr>
            <p:spPr>
              <a:xfrm>
                <a:off x="4716496" y="4964668"/>
                <a:ext cx="922304" cy="369332"/>
              </a:xfrm>
              <a:prstGeom prst="rect">
                <a:avLst/>
              </a:prstGeom>
              <a:blipFill>
                <a:blip r:embed="rId13"/>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9FF4D219-C950-167B-5A34-560CA9B33015}"/>
                  </a:ext>
                </a:extLst>
              </p:cNvPr>
              <p:cNvSpPr/>
              <p:nvPr/>
            </p:nvSpPr>
            <p:spPr>
              <a:xfrm>
                <a:off x="1409207" y="4957129"/>
                <a:ext cx="430919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max</m:t>
                      </m:r>
                      <m:r>
                        <a:rPr lang="en-US" altLang="zh-CN" b="0" i="1" smtClean="0">
                          <a:latin typeface="Cambria Math" panose="02040503050406030204" pitchFamily="18" charset="0"/>
                        </a:rPr>
                        <m:t>⁡{0,                                                         }</m:t>
                      </m:r>
                    </m:oMath>
                  </m:oMathPara>
                </a14:m>
                <a:endParaRPr lang="zh-CN" altLang="en-US" dirty="0"/>
              </a:p>
            </p:txBody>
          </p:sp>
        </mc:Choice>
        <mc:Fallback xmlns="">
          <p:sp>
            <p:nvSpPr>
              <p:cNvPr id="20" name="Rectangle 19">
                <a:extLst>
                  <a:ext uri="{FF2B5EF4-FFF2-40B4-BE49-F238E27FC236}">
                    <a16:creationId xmlns:a16="http://schemas.microsoft.com/office/drawing/2014/main" id="{9FF4D219-C950-167B-5A34-560CA9B33015}"/>
                  </a:ext>
                </a:extLst>
              </p:cNvPr>
              <p:cNvSpPr>
                <a:spLocks noRot="1" noChangeAspect="1" noMove="1" noResize="1" noEditPoints="1" noAdjustHandles="1" noChangeArrowheads="1" noChangeShapeType="1" noTextEdit="1"/>
              </p:cNvSpPr>
              <p:nvPr/>
            </p:nvSpPr>
            <p:spPr>
              <a:xfrm>
                <a:off x="1409207" y="4957129"/>
                <a:ext cx="4309192" cy="369332"/>
              </a:xfrm>
              <a:prstGeom prst="rect">
                <a:avLst/>
              </a:prstGeom>
              <a:blipFill>
                <a:blip r:embed="rId14"/>
                <a:stretch>
                  <a:fillRect b="-16393"/>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6C0F03EE-B826-9907-7913-E7ABB0593B43}"/>
              </a:ext>
            </a:extLst>
          </p:cNvPr>
          <p:cNvPicPr>
            <a:picLocks noChangeAspect="1"/>
          </p:cNvPicPr>
          <p:nvPr/>
        </p:nvPicPr>
        <p:blipFill>
          <a:blip r:embed="rId15">
            <a:alphaModFix amt="35000"/>
          </a:blip>
          <a:stretch>
            <a:fillRect/>
          </a:stretch>
        </p:blipFill>
        <p:spPr>
          <a:xfrm>
            <a:off x="5177648" y="3624387"/>
            <a:ext cx="1939479" cy="974388"/>
          </a:xfrm>
          <a:prstGeom prst="rect">
            <a:avLst/>
          </a:prstGeom>
        </p:spPr>
      </p:pic>
      <p:sp>
        <p:nvSpPr>
          <p:cNvPr id="11" name="TextBox 10">
            <a:extLst>
              <a:ext uri="{FF2B5EF4-FFF2-40B4-BE49-F238E27FC236}">
                <a16:creationId xmlns:a16="http://schemas.microsoft.com/office/drawing/2014/main" id="{2FB71948-DDBD-E95D-CEA4-BD29E575E572}"/>
              </a:ext>
            </a:extLst>
          </p:cNvPr>
          <p:cNvSpPr txBox="1"/>
          <p:nvPr/>
        </p:nvSpPr>
        <p:spPr>
          <a:xfrm>
            <a:off x="5766642" y="4658854"/>
            <a:ext cx="2531182" cy="1446550"/>
          </a:xfrm>
          <a:prstGeom prst="rect">
            <a:avLst/>
          </a:prstGeom>
          <a:noFill/>
        </p:spPr>
        <p:txBody>
          <a:bodyPr wrap="square" rtlCol="0">
            <a:spAutoFit/>
          </a:bodyPr>
          <a:lstStyle/>
          <a:p>
            <a:pPr algn="ctr"/>
            <a:r>
              <a:rPr lang="zh-CN" altLang="en-US" sz="2200" dirty="0"/>
              <a:t>线性整流函数（</a:t>
            </a:r>
            <a:r>
              <a:rPr lang="en-US" altLang="zh-CN" sz="2200" dirty="0"/>
              <a:t>rectifier </a:t>
            </a:r>
            <a:r>
              <a:rPr lang="zh-CN" altLang="en-US" sz="2200" dirty="0"/>
              <a:t>或</a:t>
            </a:r>
            <a:r>
              <a:rPr lang="en-US" altLang="zh-CN" sz="2200" dirty="0"/>
              <a:t>rectified linear unit: </a:t>
            </a:r>
            <a:r>
              <a:rPr lang="en-US" altLang="zh-CN" sz="2200" dirty="0" err="1"/>
              <a:t>ReLU</a:t>
            </a:r>
            <a:r>
              <a:rPr lang="zh-CN" altLang="en-US" sz="2200" dirty="0"/>
              <a:t>）</a:t>
            </a:r>
            <a:endParaRPr lang="en-US" altLang="zh-CN" sz="2200" dirty="0"/>
          </a:p>
        </p:txBody>
      </p:sp>
    </p:spTree>
    <p:custDataLst>
      <p:tags r:id="rId1"/>
    </p:custDataLst>
    <p:extLst>
      <p:ext uri="{BB962C8B-B14F-4D97-AF65-F5344CB8AC3E}">
        <p14:creationId xmlns:p14="http://schemas.microsoft.com/office/powerpoint/2010/main" val="114504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750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75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75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75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75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75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07" grpId="0" animBg="1"/>
      <p:bldP spid="447508" grpId="0" animBg="1"/>
      <p:bldP spid="447509" grpId="0" animBg="1"/>
      <p:bldP spid="447512" grpId="0" animBg="1"/>
      <p:bldP spid="447514" grpId="0" animBg="1"/>
      <p:bldP spid="447516" grpId="0" animBg="1"/>
      <p:bldP spid="2" grpId="0"/>
      <p:bldP spid="17" grpId="0"/>
      <p:bldP spid="18" grpId="0"/>
      <p:bldP spid="4" grpId="0"/>
      <p:bldP spid="19" grpId="0"/>
      <p:bldP spid="2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br>
              <a:rPr lang="en-US" altLang="zh-CN" dirty="0">
                <a:ea typeface="SimSun" panose="02010600030101010101" pitchFamily="2" charset="-122"/>
              </a:rPr>
            </a:br>
            <a:r>
              <a:rPr lang="zh-CN" altLang="en-US" dirty="0">
                <a:ea typeface="SimSun" panose="02010600030101010101" pitchFamily="2" charset="-122"/>
              </a:rPr>
              <a:t>通常的神经细胞</a:t>
            </a:r>
            <a:endParaRPr lang="en-US" altLang="zh-CN" dirty="0">
              <a:ea typeface="SimSun" panose="02010600030101010101" pitchFamily="2" charset="-122"/>
            </a:endParaRPr>
          </a:p>
        </p:txBody>
      </p:sp>
      <p:sp>
        <p:nvSpPr>
          <p:cNvPr id="447507" name="Oval 19"/>
          <p:cNvSpPr>
            <a:spLocks noChangeArrowheads="1"/>
          </p:cNvSpPr>
          <p:nvPr/>
        </p:nvSpPr>
        <p:spPr bwMode="auto">
          <a:xfrm>
            <a:off x="4179887" y="2815203"/>
            <a:ext cx="1296988" cy="122396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endParaRPr lang="en-US" altLang="zh-CN" sz="1800" b="0"/>
          </a:p>
        </p:txBody>
      </p:sp>
      <p:sp>
        <p:nvSpPr>
          <p:cNvPr id="447508" name="Line 20"/>
          <p:cNvSpPr>
            <a:spLocks noChangeShapeType="1"/>
          </p:cNvSpPr>
          <p:nvPr/>
        </p:nvSpPr>
        <p:spPr bwMode="auto">
          <a:xfrm>
            <a:off x="2741612" y="2319298"/>
            <a:ext cx="1511300" cy="8562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09" name="Line 21"/>
          <p:cNvSpPr>
            <a:spLocks noChangeShapeType="1"/>
          </p:cNvSpPr>
          <p:nvPr/>
        </p:nvSpPr>
        <p:spPr bwMode="auto">
          <a:xfrm>
            <a:off x="2668587" y="2888228"/>
            <a:ext cx="1511300" cy="431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2" name="Line 24"/>
          <p:cNvSpPr>
            <a:spLocks noChangeShapeType="1"/>
          </p:cNvSpPr>
          <p:nvPr/>
        </p:nvSpPr>
        <p:spPr bwMode="auto">
          <a:xfrm flipV="1">
            <a:off x="2668586" y="3744494"/>
            <a:ext cx="1584325" cy="58359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7514" name="Line 26"/>
          <p:cNvSpPr>
            <a:spLocks noChangeShapeType="1"/>
          </p:cNvSpPr>
          <p:nvPr/>
        </p:nvSpPr>
        <p:spPr bwMode="auto">
          <a:xfrm>
            <a:off x="5476875" y="3462903"/>
            <a:ext cx="1152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447515" name="Object 27"/>
          <p:cNvGraphicFramePr>
            <a:graphicFrameLocks noChangeAspect="1"/>
          </p:cNvGraphicFramePr>
          <p:nvPr/>
        </p:nvGraphicFramePr>
        <p:xfrm>
          <a:off x="5837237" y="3135878"/>
          <a:ext cx="273050" cy="327025"/>
        </p:xfrm>
        <a:graphic>
          <a:graphicData uri="http://schemas.openxmlformats.org/presentationml/2006/ole">
            <mc:AlternateContent xmlns:mc="http://schemas.openxmlformats.org/markup-compatibility/2006">
              <mc:Choice xmlns:v="urn:schemas-microsoft-com:vml" Requires="v">
                <p:oleObj name="Equation" r:id="rId4" imgW="0" imgH="28604" progId="Equation.3">
                  <p:embed/>
                </p:oleObj>
              </mc:Choice>
              <mc:Fallback>
                <p:oleObj name="Equation" r:id="rId4" imgW="0" imgH="28604" progId="Equation.3">
                  <p:embed/>
                  <p:pic>
                    <p:nvPicPr>
                      <p:cNvPr id="447515"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7237" y="3135878"/>
                        <a:ext cx="273050"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516" name="Freeform 28"/>
          <p:cNvSpPr>
            <a:spLocks/>
          </p:cNvSpPr>
          <p:nvPr/>
        </p:nvSpPr>
        <p:spPr bwMode="auto">
          <a:xfrm>
            <a:off x="4829175" y="2888228"/>
            <a:ext cx="215900" cy="1079500"/>
          </a:xfrm>
          <a:custGeom>
            <a:avLst/>
            <a:gdLst>
              <a:gd name="T0" fmla="*/ 2147483646 w 136"/>
              <a:gd name="T1" fmla="*/ 0 h 680"/>
              <a:gd name="T2" fmla="*/ 0 w 136"/>
              <a:gd name="T3" fmla="*/ 2147483646 h 680"/>
              <a:gd name="T4" fmla="*/ 2147483646 w 136"/>
              <a:gd name="T5" fmla="*/ 2147483646 h 680"/>
              <a:gd name="T6" fmla="*/ 0 60000 65536"/>
              <a:gd name="T7" fmla="*/ 0 60000 65536"/>
              <a:gd name="T8" fmla="*/ 0 60000 65536"/>
              <a:gd name="T9" fmla="*/ 0 w 136"/>
              <a:gd name="T10" fmla="*/ 0 h 680"/>
              <a:gd name="T11" fmla="*/ 136 w 136"/>
              <a:gd name="T12" fmla="*/ 680 h 680"/>
            </a:gdLst>
            <a:ahLst/>
            <a:cxnLst>
              <a:cxn ang="T6">
                <a:pos x="T0" y="T1"/>
              </a:cxn>
              <a:cxn ang="T7">
                <a:pos x="T2" y="T3"/>
              </a:cxn>
              <a:cxn ang="T8">
                <a:pos x="T4" y="T5"/>
              </a:cxn>
            </a:cxnLst>
            <a:rect l="T9" t="T10" r="T11" b="T12"/>
            <a:pathLst>
              <a:path w="136" h="680">
                <a:moveTo>
                  <a:pt x="136" y="0"/>
                </a:moveTo>
                <a:cubicBezTo>
                  <a:pt x="68" y="102"/>
                  <a:pt x="0" y="204"/>
                  <a:pt x="0" y="317"/>
                </a:cubicBezTo>
                <a:cubicBezTo>
                  <a:pt x="0" y="430"/>
                  <a:pt x="106" y="620"/>
                  <a:pt x="136" y="680"/>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mc:AlternateContent xmlns:mc="http://schemas.openxmlformats.org/markup-compatibility/2006" xmlns:a14="http://schemas.microsoft.com/office/drawing/2010/main">
        <mc:Choice Requires="a14">
          <p:sp>
            <p:nvSpPr>
              <p:cNvPr id="2" name="Rectangle 1"/>
              <p:cNvSpPr/>
              <p:nvPr/>
            </p:nvSpPr>
            <p:spPr>
              <a:xfrm>
                <a:off x="4851400" y="3238033"/>
                <a:ext cx="5568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4851400" y="3238033"/>
                <a:ext cx="556819"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189267" y="2351048"/>
                <a:ext cx="636072" cy="156966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2</m:t>
                          </m:r>
                        </m:sub>
                      </m:sSub>
                    </m:oMath>
                  </m:oMathPara>
                </a14:m>
                <a:endParaRPr lang="en-US" sz="240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𝑤</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7" name="Rectangle 16"/>
              <p:cNvSpPr>
                <a:spLocks noRot="1" noChangeAspect="1" noMove="1" noResize="1" noEditPoints="1" noAdjustHandles="1" noChangeArrowheads="1" noChangeShapeType="1" noTextEdit="1"/>
              </p:cNvSpPr>
              <p:nvPr/>
            </p:nvSpPr>
            <p:spPr>
              <a:xfrm>
                <a:off x="3189267" y="2351048"/>
                <a:ext cx="636072" cy="1569660"/>
              </a:xfrm>
              <a:prstGeom prst="rect">
                <a:avLst/>
              </a:prstGeom>
              <a:blipFill>
                <a:blip r:embed="rId10"/>
                <a:stretch>
                  <a:fillRect r="-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151299" y="1981200"/>
                <a:ext cx="636072" cy="26776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oMath>
                  </m:oMathPara>
                </a14:m>
                <a:endParaRPr lang="en-US" sz="2400" dirty="0"/>
              </a:p>
              <a:p>
                <a:endParaRPr lang="en-US" sz="24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oMath>
                  </m:oMathPara>
                </a14:m>
                <a:endParaRPr lang="en-US" sz="2400" dirty="0">
                  <a:ea typeface="Cambria Math" panose="02040503050406030204" pitchFamily="18" charset="0"/>
                </a:endParaRPr>
              </a:p>
              <a:p>
                <a:endParaRPr lang="en-US" sz="2400" dirty="0"/>
              </a:p>
              <a:p>
                <a:endParaRPr lang="en-U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oMath>
                  </m:oMathPara>
                </a14:m>
                <a:endParaRPr lang="en-US" sz="2400" dirty="0"/>
              </a:p>
            </p:txBody>
          </p:sp>
        </mc:Choice>
        <mc:Fallback xmlns="">
          <p:sp>
            <p:nvSpPr>
              <p:cNvPr id="18" name="Rectangle 17"/>
              <p:cNvSpPr>
                <a:spLocks noRot="1" noChangeAspect="1" noMove="1" noResize="1" noEditPoints="1" noAdjustHandles="1" noChangeArrowheads="1" noChangeShapeType="1" noTextEdit="1"/>
              </p:cNvSpPr>
              <p:nvPr/>
            </p:nvSpPr>
            <p:spPr>
              <a:xfrm>
                <a:off x="2151299" y="1981200"/>
                <a:ext cx="636072" cy="2677656"/>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C2FC3F9-47B3-465C-97B4-5ADF6EF3573B}"/>
                  </a:ext>
                </a:extLst>
              </p:cNvPr>
              <p:cNvSpPr/>
              <p:nvPr/>
            </p:nvSpPr>
            <p:spPr>
              <a:xfrm>
                <a:off x="2137071" y="4940107"/>
                <a:ext cx="27699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𝑛</m:t>
                          </m:r>
                        </m:sub>
                      </m:sSub>
                    </m:oMath>
                  </m:oMathPara>
                </a14:m>
                <a:endParaRPr lang="zh-CN" altLang="en-US" dirty="0"/>
              </a:p>
            </p:txBody>
          </p:sp>
        </mc:Choice>
        <mc:Fallback xmlns="">
          <p:sp>
            <p:nvSpPr>
              <p:cNvPr id="4" name="Rectangle 3">
                <a:extLst>
                  <a:ext uri="{FF2B5EF4-FFF2-40B4-BE49-F238E27FC236}">
                    <a16:creationId xmlns:a16="http://schemas.microsoft.com/office/drawing/2014/main" id="{1C2FC3F9-47B3-465C-97B4-5ADF6EF3573B}"/>
                  </a:ext>
                </a:extLst>
              </p:cNvPr>
              <p:cNvSpPr>
                <a:spLocks noRot="1" noChangeAspect="1" noMove="1" noResize="1" noEditPoints="1" noAdjustHandles="1" noChangeArrowheads="1" noChangeShapeType="1" noTextEdit="1"/>
              </p:cNvSpPr>
              <p:nvPr/>
            </p:nvSpPr>
            <p:spPr>
              <a:xfrm>
                <a:off x="2137071" y="4940107"/>
                <a:ext cx="2769925"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1F975CBD-FC9F-4AC9-9FD5-32626C75BFED}"/>
                  </a:ext>
                </a:extLst>
              </p:cNvPr>
              <p:cNvSpPr/>
              <p:nvPr/>
            </p:nvSpPr>
            <p:spPr>
              <a:xfrm>
                <a:off x="4716496" y="4964668"/>
                <a:ext cx="9223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m:oMathPara>
                </a14:m>
                <a:endParaRPr lang="zh-CN" altLang="en-US" dirty="0"/>
              </a:p>
            </p:txBody>
          </p:sp>
        </mc:Choice>
        <mc:Fallback xmlns="">
          <p:sp>
            <p:nvSpPr>
              <p:cNvPr id="19" name="Rectangle 18">
                <a:extLst>
                  <a:ext uri="{FF2B5EF4-FFF2-40B4-BE49-F238E27FC236}">
                    <a16:creationId xmlns:a16="http://schemas.microsoft.com/office/drawing/2014/main" id="{1F975CBD-FC9F-4AC9-9FD5-32626C75BFED}"/>
                  </a:ext>
                </a:extLst>
              </p:cNvPr>
              <p:cNvSpPr>
                <a:spLocks noRot="1" noChangeAspect="1" noMove="1" noResize="1" noEditPoints="1" noAdjustHandles="1" noChangeArrowheads="1" noChangeShapeType="1" noTextEdit="1"/>
              </p:cNvSpPr>
              <p:nvPr/>
            </p:nvSpPr>
            <p:spPr>
              <a:xfrm>
                <a:off x="4716496" y="4964668"/>
                <a:ext cx="922304" cy="369332"/>
              </a:xfrm>
              <a:prstGeom prst="rect">
                <a:avLst/>
              </a:prstGeom>
              <a:blipFill>
                <a:blip r:embed="rId13"/>
                <a:stretch>
                  <a:fillRect b="-14754"/>
                </a:stretch>
              </a:blipFill>
            </p:spPr>
            <p:txBody>
              <a:bodyPr/>
              <a:lstStyle/>
              <a:p>
                <a:r>
                  <a:rPr lang="zh-CN" altLang="en-US">
                    <a:noFill/>
                  </a:rPr>
                  <a:t> </a:t>
                </a:r>
              </a:p>
            </p:txBody>
          </p:sp>
        </mc:Fallback>
      </mc:AlternateContent>
      <p:sp>
        <p:nvSpPr>
          <p:cNvPr id="24" name="TextBox 23">
            <a:extLst>
              <a:ext uri="{FF2B5EF4-FFF2-40B4-BE49-F238E27FC236}">
                <a16:creationId xmlns:a16="http://schemas.microsoft.com/office/drawing/2014/main" id="{0174282F-A0BE-4231-96A4-ADFF47460B95}"/>
              </a:ext>
            </a:extLst>
          </p:cNvPr>
          <p:cNvSpPr txBox="1"/>
          <p:nvPr/>
        </p:nvSpPr>
        <p:spPr>
          <a:xfrm>
            <a:off x="-80888" y="2629657"/>
            <a:ext cx="2365441" cy="769441"/>
          </a:xfrm>
          <a:prstGeom prst="rect">
            <a:avLst/>
          </a:prstGeom>
          <a:noFill/>
        </p:spPr>
        <p:txBody>
          <a:bodyPr wrap="square" rtlCol="0">
            <a:spAutoFit/>
          </a:bodyPr>
          <a:lstStyle/>
          <a:p>
            <a:pPr algn="ctr"/>
            <a:r>
              <a:rPr lang="zh-CN" altLang="en-US" sz="2200" dirty="0"/>
              <a:t>（来自别的神经细胞的）输入</a:t>
            </a:r>
          </a:p>
        </p:txBody>
      </p:sp>
      <p:sp>
        <p:nvSpPr>
          <p:cNvPr id="25" name="TextBox 24">
            <a:extLst>
              <a:ext uri="{FF2B5EF4-FFF2-40B4-BE49-F238E27FC236}">
                <a16:creationId xmlns:a16="http://schemas.microsoft.com/office/drawing/2014/main" id="{C666BE8E-EB07-4456-AFF8-03F27CEEAE0C}"/>
              </a:ext>
            </a:extLst>
          </p:cNvPr>
          <p:cNvSpPr txBox="1"/>
          <p:nvPr/>
        </p:nvSpPr>
        <p:spPr>
          <a:xfrm>
            <a:off x="3110581" y="4093813"/>
            <a:ext cx="1461419" cy="430887"/>
          </a:xfrm>
          <a:prstGeom prst="rect">
            <a:avLst/>
          </a:prstGeom>
          <a:noFill/>
        </p:spPr>
        <p:txBody>
          <a:bodyPr wrap="square" rtlCol="0">
            <a:spAutoFit/>
          </a:bodyPr>
          <a:lstStyle/>
          <a:p>
            <a:pPr algn="ctr"/>
            <a:r>
              <a:rPr lang="zh-CN" altLang="en-US" sz="2200" dirty="0"/>
              <a:t>权重</a:t>
            </a:r>
          </a:p>
        </p:txBody>
      </p:sp>
      <p:sp>
        <p:nvSpPr>
          <p:cNvPr id="27" name="TextBox 26">
            <a:extLst>
              <a:ext uri="{FF2B5EF4-FFF2-40B4-BE49-F238E27FC236}">
                <a16:creationId xmlns:a16="http://schemas.microsoft.com/office/drawing/2014/main" id="{C6602976-2AF9-4BE6-9179-9EFF47AA210C}"/>
              </a:ext>
            </a:extLst>
          </p:cNvPr>
          <p:cNvSpPr txBox="1"/>
          <p:nvPr/>
        </p:nvSpPr>
        <p:spPr>
          <a:xfrm>
            <a:off x="4179887" y="2342017"/>
            <a:ext cx="1461419" cy="430887"/>
          </a:xfrm>
          <a:prstGeom prst="rect">
            <a:avLst/>
          </a:prstGeom>
          <a:noFill/>
        </p:spPr>
        <p:txBody>
          <a:bodyPr wrap="square" rtlCol="0">
            <a:spAutoFit/>
          </a:bodyPr>
          <a:lstStyle/>
          <a:p>
            <a:pPr algn="ctr"/>
            <a:r>
              <a:rPr lang="zh-CN" altLang="en-US" sz="2200" dirty="0"/>
              <a:t>偏向</a:t>
            </a: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8C6E8F45-28D9-4C64-95B8-349E3DA5290D}"/>
                  </a:ext>
                </a:extLst>
              </p:cNvPr>
              <p:cNvSpPr/>
              <p:nvPr/>
            </p:nvSpPr>
            <p:spPr>
              <a:xfrm>
                <a:off x="5365225" y="4964897"/>
                <a:ext cx="349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oMath>
                  </m:oMathPara>
                </a14:m>
                <a:endParaRPr lang="zh-CN" altLang="en-US" dirty="0"/>
              </a:p>
            </p:txBody>
          </p:sp>
        </mc:Choice>
        <mc:Fallback xmlns="">
          <p:sp>
            <p:nvSpPr>
              <p:cNvPr id="28" name="Rectangle 27">
                <a:extLst>
                  <a:ext uri="{FF2B5EF4-FFF2-40B4-BE49-F238E27FC236}">
                    <a16:creationId xmlns:a16="http://schemas.microsoft.com/office/drawing/2014/main" id="{8C6E8F45-28D9-4C64-95B8-349E3DA5290D}"/>
                  </a:ext>
                </a:extLst>
              </p:cNvPr>
              <p:cNvSpPr>
                <a:spLocks noRot="1" noChangeAspect="1" noMove="1" noResize="1" noEditPoints="1" noAdjustHandles="1" noChangeArrowheads="1" noChangeShapeType="1" noTextEdit="1"/>
              </p:cNvSpPr>
              <p:nvPr/>
            </p:nvSpPr>
            <p:spPr>
              <a:xfrm>
                <a:off x="5365225" y="4964897"/>
                <a:ext cx="349775" cy="369332"/>
              </a:xfrm>
              <a:prstGeom prst="rect">
                <a:avLst/>
              </a:prstGeom>
              <a:blipFill>
                <a:blip r:embed="rId14"/>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47946080-C437-422E-B87B-256E51C01455}"/>
                  </a:ext>
                </a:extLst>
              </p:cNvPr>
              <p:cNvSpPr/>
              <p:nvPr/>
            </p:nvSpPr>
            <p:spPr>
              <a:xfrm>
                <a:off x="1908678" y="4931640"/>
                <a:ext cx="4831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oMath>
                  </m:oMathPara>
                </a14:m>
                <a:endParaRPr lang="zh-CN" altLang="en-US" dirty="0"/>
              </a:p>
            </p:txBody>
          </p:sp>
        </mc:Choice>
        <mc:Fallback xmlns="">
          <p:sp>
            <p:nvSpPr>
              <p:cNvPr id="29" name="Rectangle 28">
                <a:extLst>
                  <a:ext uri="{FF2B5EF4-FFF2-40B4-BE49-F238E27FC236}">
                    <a16:creationId xmlns:a16="http://schemas.microsoft.com/office/drawing/2014/main" id="{47946080-C437-422E-B87B-256E51C01455}"/>
                  </a:ext>
                </a:extLst>
              </p:cNvPr>
              <p:cNvSpPr>
                <a:spLocks noRot="1" noChangeAspect="1" noMove="1" noResize="1" noEditPoints="1" noAdjustHandles="1" noChangeArrowheads="1" noChangeShapeType="1" noTextEdit="1"/>
              </p:cNvSpPr>
              <p:nvPr/>
            </p:nvSpPr>
            <p:spPr>
              <a:xfrm>
                <a:off x="1908678" y="4931640"/>
                <a:ext cx="483146" cy="369332"/>
              </a:xfrm>
              <a:prstGeom prst="rect">
                <a:avLst/>
              </a:prstGeom>
              <a:blipFill>
                <a:blip r:embed="rId15"/>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4C03CD0-F0D2-4B6C-A68B-227B842978F2}"/>
                  </a:ext>
                </a:extLst>
              </p:cNvPr>
              <p:cNvSpPr txBox="1"/>
              <p:nvPr/>
            </p:nvSpPr>
            <p:spPr>
              <a:xfrm>
                <a:off x="5116282" y="3544761"/>
                <a:ext cx="1873710" cy="769441"/>
              </a:xfrm>
              <a:prstGeom prst="rect">
                <a:avLst/>
              </a:prstGeom>
              <a:noFill/>
            </p:spPr>
            <p:txBody>
              <a:bodyPr wrap="square" rtlCol="0">
                <a:spAutoFit/>
              </a:bodyPr>
              <a:lstStyle/>
              <a:p>
                <a:pPr algn="ctr"/>
                <a:r>
                  <a:rPr lang="zh-CN" altLang="en-US" sz="2200" dirty="0"/>
                  <a:t>激活函数</a:t>
                </a:r>
                <a:endParaRPr lang="en-US" altLang="zh-CN" sz="2200" dirty="0"/>
              </a:p>
              <a:p>
                <a:pPr algn="ct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𝑓</m:t>
                      </m:r>
                      <m:r>
                        <a:rPr lang="en-US" altLang="zh-CN" sz="2200" b="0" i="1" smtClean="0">
                          <a:latin typeface="Cambria Math" panose="02040503050406030204" pitchFamily="18" charset="0"/>
                        </a:rPr>
                        <m:t>(∙)</m:t>
                      </m:r>
                    </m:oMath>
                  </m:oMathPara>
                </a14:m>
                <a:endParaRPr lang="en-US" altLang="zh-CN" sz="2200" dirty="0"/>
              </a:p>
            </p:txBody>
          </p:sp>
        </mc:Choice>
        <mc:Fallback xmlns="">
          <p:sp>
            <p:nvSpPr>
              <p:cNvPr id="30" name="TextBox 29">
                <a:extLst>
                  <a:ext uri="{FF2B5EF4-FFF2-40B4-BE49-F238E27FC236}">
                    <a16:creationId xmlns:a16="http://schemas.microsoft.com/office/drawing/2014/main" id="{04C03CD0-F0D2-4B6C-A68B-227B842978F2}"/>
                  </a:ext>
                </a:extLst>
              </p:cNvPr>
              <p:cNvSpPr txBox="1">
                <a:spLocks noRot="1" noChangeAspect="1" noMove="1" noResize="1" noEditPoints="1" noAdjustHandles="1" noChangeArrowheads="1" noChangeShapeType="1" noTextEdit="1"/>
              </p:cNvSpPr>
              <p:nvPr/>
            </p:nvSpPr>
            <p:spPr>
              <a:xfrm>
                <a:off x="5116282" y="3544761"/>
                <a:ext cx="1873710" cy="769441"/>
              </a:xfrm>
              <a:prstGeom prst="rect">
                <a:avLst/>
              </a:prstGeom>
              <a:blipFill>
                <a:blip r:embed="rId16"/>
                <a:stretch>
                  <a:fillRect t="-7874" b="-86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F496D57-6B1A-47C2-8AFB-C3495D336BF8}"/>
                  </a:ext>
                </a:extLst>
              </p:cNvPr>
              <p:cNvSpPr txBox="1"/>
              <p:nvPr/>
            </p:nvSpPr>
            <p:spPr>
              <a:xfrm>
                <a:off x="6597316" y="2351048"/>
                <a:ext cx="2123797" cy="1107996"/>
              </a:xfrm>
              <a:prstGeom prst="rect">
                <a:avLst/>
              </a:prstGeom>
              <a:noFill/>
            </p:spPr>
            <p:txBody>
              <a:bodyPr wrap="square" rtlCol="0">
                <a:spAutoFit/>
              </a:bodyPr>
              <a:lstStyle/>
              <a:p>
                <a:pPr algn="ctr"/>
                <a:r>
                  <a:rPr lang="zh-CN" altLang="en-US" sz="2200" dirty="0"/>
                  <a:t>（向别的神经细胞）输出</a:t>
                </a:r>
                <a:endParaRPr lang="en-US" altLang="zh-CN" sz="2200" dirty="0"/>
              </a:p>
              <a:p>
                <a:pPr algn="ct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𝑓</m:t>
                      </m:r>
                      <m:r>
                        <a:rPr lang="en-US" altLang="zh-CN" sz="2200" b="0" i="1" smtClean="0">
                          <a:latin typeface="Cambria Math" panose="02040503050406030204" pitchFamily="18" charset="0"/>
                        </a:rPr>
                        <m:t>(</m:t>
                      </m:r>
                      <m:r>
                        <a:rPr lang="en-US" altLang="zh-CN" sz="2200" b="1" i="0" smtClean="0">
                          <a:latin typeface="Cambria Math" panose="02040503050406030204" pitchFamily="18" charset="0"/>
                        </a:rPr>
                        <m:t>𝐰</m:t>
                      </m:r>
                      <m:r>
                        <a:rPr lang="en-US" altLang="zh-CN" sz="2200" b="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ea typeface="Cambria Math" panose="02040503050406030204" pitchFamily="18" charset="0"/>
                        </a:rPr>
                        <m:t>𝐱</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r>
                        <a:rPr lang="en-US" altLang="zh-CN" sz="2200" b="0" i="1" smtClean="0">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31" name="TextBox 30">
                <a:extLst>
                  <a:ext uri="{FF2B5EF4-FFF2-40B4-BE49-F238E27FC236}">
                    <a16:creationId xmlns:a16="http://schemas.microsoft.com/office/drawing/2014/main" id="{1F496D57-6B1A-47C2-8AFB-C3495D336BF8}"/>
                  </a:ext>
                </a:extLst>
              </p:cNvPr>
              <p:cNvSpPr txBox="1">
                <a:spLocks noRot="1" noChangeAspect="1" noMove="1" noResize="1" noEditPoints="1" noAdjustHandles="1" noChangeArrowheads="1" noChangeShapeType="1" noTextEdit="1"/>
              </p:cNvSpPr>
              <p:nvPr/>
            </p:nvSpPr>
            <p:spPr>
              <a:xfrm>
                <a:off x="6597316" y="2351048"/>
                <a:ext cx="2123797" cy="1107996"/>
              </a:xfrm>
              <a:prstGeom prst="rect">
                <a:avLst/>
              </a:prstGeom>
              <a:blipFill>
                <a:blip r:embed="rId17"/>
                <a:stretch>
                  <a:fillRect t="-4420" b="-663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9665274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75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75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75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750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75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75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07" grpId="0" animBg="1"/>
      <p:bldP spid="447508" grpId="0" animBg="1"/>
      <p:bldP spid="447509" grpId="0" animBg="1"/>
      <p:bldP spid="447512" grpId="0" animBg="1"/>
      <p:bldP spid="447514" grpId="0" animBg="1"/>
      <p:bldP spid="447516" grpId="0" animBg="1"/>
      <p:bldP spid="2" grpId="0"/>
      <p:bldP spid="17" grpId="0"/>
      <p:bldP spid="18" grpId="0"/>
      <p:bldP spid="4" grpId="0"/>
      <p:bldP spid="19" grpId="0"/>
      <p:bldP spid="24" grpId="0"/>
      <p:bldP spid="25" grpId="0"/>
      <p:bldP spid="27" grpId="0"/>
      <p:bldP spid="28" grpId="0"/>
      <p:bldP spid="29" grpId="0"/>
      <p:bldP spid="30" grpId="0"/>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br>
              <a:rPr lang="en-US" altLang="zh-CN" dirty="0">
                <a:ea typeface="SimSun" panose="02010600030101010101" pitchFamily="2" charset="-122"/>
              </a:rPr>
            </a:br>
            <a:r>
              <a:rPr lang="zh-CN" altLang="en-US" dirty="0">
                <a:ea typeface="SimSun" panose="02010600030101010101" pitchFamily="2" charset="-122"/>
              </a:rPr>
              <a:t>复杂神经网络</a:t>
            </a:r>
            <a:endParaRPr lang="en-US" altLang="zh-CN" dirty="0">
              <a:ea typeface="SimSun" panose="02010600030101010101" pitchFamily="2" charset="-122"/>
            </a:endParaRPr>
          </a:p>
        </p:txBody>
      </p:sp>
      <p:pic>
        <p:nvPicPr>
          <p:cNvPr id="5" name="Picture 4">
            <a:extLst>
              <a:ext uri="{FF2B5EF4-FFF2-40B4-BE49-F238E27FC236}">
                <a16:creationId xmlns:a16="http://schemas.microsoft.com/office/drawing/2014/main" id="{503F2E15-2BC8-4F46-AD72-5363827B0E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2082800"/>
            <a:ext cx="5486400" cy="3086100"/>
          </a:xfrm>
          <a:prstGeom prst="rect">
            <a:avLst/>
          </a:prstGeom>
        </p:spPr>
      </p:pic>
      <p:sp>
        <p:nvSpPr>
          <p:cNvPr id="26" name="TextBox 25">
            <a:extLst>
              <a:ext uri="{FF2B5EF4-FFF2-40B4-BE49-F238E27FC236}">
                <a16:creationId xmlns:a16="http://schemas.microsoft.com/office/drawing/2014/main" id="{15F6A279-56B9-4846-A8DD-0B5B186E0FFB}"/>
              </a:ext>
            </a:extLst>
          </p:cNvPr>
          <p:cNvSpPr txBox="1"/>
          <p:nvPr/>
        </p:nvSpPr>
        <p:spPr>
          <a:xfrm>
            <a:off x="1371600" y="1524000"/>
            <a:ext cx="6400800" cy="430887"/>
          </a:xfrm>
          <a:prstGeom prst="rect">
            <a:avLst/>
          </a:prstGeom>
          <a:noFill/>
        </p:spPr>
        <p:txBody>
          <a:bodyPr wrap="square" rtlCol="0">
            <a:spAutoFit/>
          </a:bodyPr>
          <a:lstStyle/>
          <a:p>
            <a:pPr algn="ctr"/>
            <a:r>
              <a:rPr lang="zh-CN" altLang="en-US" sz="2200" dirty="0"/>
              <a:t>互连的神经细胞</a:t>
            </a:r>
            <a:endParaRPr lang="en-US" altLang="zh-CN" sz="2200" dirty="0"/>
          </a:p>
        </p:txBody>
      </p:sp>
      <p:sp>
        <p:nvSpPr>
          <p:cNvPr id="32" name="TextBox 31">
            <a:extLst>
              <a:ext uri="{FF2B5EF4-FFF2-40B4-BE49-F238E27FC236}">
                <a16:creationId xmlns:a16="http://schemas.microsoft.com/office/drawing/2014/main" id="{80FDE320-22D1-4425-B13F-520A13581B18}"/>
              </a:ext>
            </a:extLst>
          </p:cNvPr>
          <p:cNvSpPr txBox="1"/>
          <p:nvPr/>
        </p:nvSpPr>
        <p:spPr>
          <a:xfrm>
            <a:off x="1047750" y="5135642"/>
            <a:ext cx="7048500" cy="430887"/>
          </a:xfrm>
          <a:prstGeom prst="rect">
            <a:avLst/>
          </a:prstGeom>
          <a:noFill/>
        </p:spPr>
        <p:txBody>
          <a:bodyPr wrap="square" rtlCol="0">
            <a:spAutoFit/>
          </a:bodyPr>
          <a:lstStyle/>
          <a:p>
            <a:pPr algn="ctr"/>
            <a:r>
              <a:rPr lang="zh-CN" altLang="en-US" sz="2200" dirty="0"/>
              <a:t>不同的神经细胞：不同的输入连接数，不同的激活函数</a:t>
            </a:r>
            <a:endParaRPr lang="en-US" altLang="zh-CN" sz="2200" dirty="0"/>
          </a:p>
        </p:txBody>
      </p:sp>
    </p:spTree>
    <p:custDataLst>
      <p:tags r:id="rId1"/>
    </p:custDataLst>
    <p:extLst>
      <p:ext uri="{BB962C8B-B14F-4D97-AF65-F5344CB8AC3E}">
        <p14:creationId xmlns:p14="http://schemas.microsoft.com/office/powerpoint/2010/main" val="2516363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br>
              <a:rPr lang="en-US" altLang="zh-CN" dirty="0">
                <a:ea typeface="SimSun" panose="02010600030101010101" pitchFamily="2" charset="-122"/>
              </a:rPr>
            </a:br>
            <a:r>
              <a:rPr lang="zh-CN" altLang="en-US" dirty="0">
                <a:ea typeface="SimSun" panose="02010600030101010101" pitchFamily="2" charset="-122"/>
              </a:rPr>
              <a:t>复杂神经网络</a:t>
            </a:r>
            <a:endParaRPr lang="en-US" altLang="zh-CN" dirty="0">
              <a:ea typeface="SimSun" panose="02010600030101010101" pitchFamily="2" charset="-122"/>
            </a:endParaRPr>
          </a:p>
        </p:txBody>
      </p:sp>
      <p:pic>
        <p:nvPicPr>
          <p:cNvPr id="5" name="Picture 4">
            <a:extLst>
              <a:ext uri="{FF2B5EF4-FFF2-40B4-BE49-F238E27FC236}">
                <a16:creationId xmlns:a16="http://schemas.microsoft.com/office/drawing/2014/main" id="{503F2E15-2BC8-4F46-AD72-5363827B0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082800"/>
            <a:ext cx="5486400" cy="3086100"/>
          </a:xfrm>
          <a:prstGeom prst="rect">
            <a:avLst/>
          </a:prstGeom>
        </p:spPr>
      </p:pic>
      <p:sp>
        <p:nvSpPr>
          <p:cNvPr id="26" name="TextBox 25">
            <a:extLst>
              <a:ext uri="{FF2B5EF4-FFF2-40B4-BE49-F238E27FC236}">
                <a16:creationId xmlns:a16="http://schemas.microsoft.com/office/drawing/2014/main" id="{15F6A279-56B9-4846-A8DD-0B5B186E0FFB}"/>
              </a:ext>
            </a:extLst>
          </p:cNvPr>
          <p:cNvSpPr txBox="1"/>
          <p:nvPr/>
        </p:nvSpPr>
        <p:spPr>
          <a:xfrm>
            <a:off x="1371600" y="1524000"/>
            <a:ext cx="6400800" cy="430887"/>
          </a:xfrm>
          <a:prstGeom prst="rect">
            <a:avLst/>
          </a:prstGeom>
          <a:noFill/>
        </p:spPr>
        <p:txBody>
          <a:bodyPr wrap="square" rtlCol="0">
            <a:spAutoFit/>
          </a:bodyPr>
          <a:lstStyle/>
          <a:p>
            <a:pPr algn="ctr"/>
            <a:r>
              <a:rPr lang="zh-CN" altLang="en-US" sz="2200" dirty="0"/>
              <a:t>互连的神经细胞</a:t>
            </a:r>
            <a:endParaRPr lang="en-US" altLang="zh-CN" sz="2200" dirty="0"/>
          </a:p>
        </p:txBody>
      </p:sp>
      <p:sp>
        <p:nvSpPr>
          <p:cNvPr id="32" name="TextBox 31">
            <a:extLst>
              <a:ext uri="{FF2B5EF4-FFF2-40B4-BE49-F238E27FC236}">
                <a16:creationId xmlns:a16="http://schemas.microsoft.com/office/drawing/2014/main" id="{80FDE320-22D1-4425-B13F-520A13581B18}"/>
              </a:ext>
            </a:extLst>
          </p:cNvPr>
          <p:cNvSpPr txBox="1"/>
          <p:nvPr/>
        </p:nvSpPr>
        <p:spPr>
          <a:xfrm>
            <a:off x="1047750" y="5135642"/>
            <a:ext cx="7048500" cy="430887"/>
          </a:xfrm>
          <a:prstGeom prst="rect">
            <a:avLst/>
          </a:prstGeom>
          <a:noFill/>
        </p:spPr>
        <p:txBody>
          <a:bodyPr wrap="square" rtlCol="0">
            <a:spAutoFit/>
          </a:bodyPr>
          <a:lstStyle/>
          <a:p>
            <a:pPr algn="ctr"/>
            <a:r>
              <a:rPr lang="zh-CN" altLang="en-US" sz="2200" dirty="0"/>
              <a:t>复杂的连接结构</a:t>
            </a:r>
            <a:endParaRPr lang="en-US" altLang="zh-CN" sz="2200" dirty="0"/>
          </a:p>
        </p:txBody>
      </p:sp>
    </p:spTree>
    <p:extLst>
      <p:ext uri="{BB962C8B-B14F-4D97-AF65-F5344CB8AC3E}">
        <p14:creationId xmlns:p14="http://schemas.microsoft.com/office/powerpoint/2010/main" val="264207276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p:nvPr>
        </p:nvSpPr>
        <p:spPr/>
        <p:txBody>
          <a:bodyPr/>
          <a:lstStyle/>
          <a:p>
            <a:pPr eaLnBrk="1" hangingPunct="1"/>
            <a:br>
              <a:rPr lang="en-US" altLang="zh-CN" dirty="0">
                <a:ea typeface="SimSun" panose="02010600030101010101" pitchFamily="2" charset="-122"/>
              </a:rPr>
            </a:br>
            <a:r>
              <a:rPr lang="zh-CN" altLang="en-US" dirty="0">
                <a:ea typeface="SimSun" panose="02010600030101010101" pitchFamily="2" charset="-122"/>
              </a:rPr>
              <a:t>复杂神经网络</a:t>
            </a:r>
            <a:endParaRPr lang="en-US" altLang="zh-CN" dirty="0">
              <a:ea typeface="SimSun" panose="02010600030101010101" pitchFamily="2" charset="-122"/>
            </a:endParaRPr>
          </a:p>
        </p:txBody>
      </p:sp>
      <p:pic>
        <p:nvPicPr>
          <p:cNvPr id="5" name="Picture 4">
            <a:extLst>
              <a:ext uri="{FF2B5EF4-FFF2-40B4-BE49-F238E27FC236}">
                <a16:creationId xmlns:a16="http://schemas.microsoft.com/office/drawing/2014/main" id="{503F2E15-2BC8-4F46-AD72-5363827B0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082800"/>
            <a:ext cx="5486400" cy="3086100"/>
          </a:xfrm>
          <a:prstGeom prst="rect">
            <a:avLst/>
          </a:prstGeom>
        </p:spPr>
      </p:pic>
      <p:sp>
        <p:nvSpPr>
          <p:cNvPr id="26" name="TextBox 25">
            <a:extLst>
              <a:ext uri="{FF2B5EF4-FFF2-40B4-BE49-F238E27FC236}">
                <a16:creationId xmlns:a16="http://schemas.microsoft.com/office/drawing/2014/main" id="{15F6A279-56B9-4846-A8DD-0B5B186E0FFB}"/>
              </a:ext>
            </a:extLst>
          </p:cNvPr>
          <p:cNvSpPr txBox="1"/>
          <p:nvPr/>
        </p:nvSpPr>
        <p:spPr>
          <a:xfrm>
            <a:off x="1371600" y="1524000"/>
            <a:ext cx="6400800" cy="430887"/>
          </a:xfrm>
          <a:prstGeom prst="rect">
            <a:avLst/>
          </a:prstGeom>
          <a:noFill/>
        </p:spPr>
        <p:txBody>
          <a:bodyPr wrap="square" rtlCol="0">
            <a:spAutoFit/>
          </a:bodyPr>
          <a:lstStyle/>
          <a:p>
            <a:pPr algn="ctr"/>
            <a:r>
              <a:rPr lang="zh-CN" altLang="en-US" sz="2200" dirty="0"/>
              <a:t>互连的神经细胞</a:t>
            </a:r>
            <a:endParaRPr lang="en-US" altLang="zh-CN" sz="2200" dirty="0"/>
          </a:p>
        </p:txBody>
      </p:sp>
      <p:sp>
        <p:nvSpPr>
          <p:cNvPr id="32" name="TextBox 31">
            <a:extLst>
              <a:ext uri="{FF2B5EF4-FFF2-40B4-BE49-F238E27FC236}">
                <a16:creationId xmlns:a16="http://schemas.microsoft.com/office/drawing/2014/main" id="{80FDE320-22D1-4425-B13F-520A13581B18}"/>
              </a:ext>
            </a:extLst>
          </p:cNvPr>
          <p:cNvSpPr txBox="1"/>
          <p:nvPr/>
        </p:nvSpPr>
        <p:spPr>
          <a:xfrm>
            <a:off x="1047750" y="5135642"/>
            <a:ext cx="7048500" cy="430887"/>
          </a:xfrm>
          <a:prstGeom prst="rect">
            <a:avLst/>
          </a:prstGeom>
          <a:noFill/>
        </p:spPr>
        <p:txBody>
          <a:bodyPr wrap="square" rtlCol="0">
            <a:spAutoFit/>
          </a:bodyPr>
          <a:lstStyle/>
          <a:p>
            <a:pPr algn="ctr"/>
            <a:r>
              <a:rPr lang="zh-CN" altLang="en-US" sz="2200" dirty="0"/>
              <a:t>通过不同的设计，能够灵活适应于特定的应用</a:t>
            </a:r>
            <a:endParaRPr lang="en-US" altLang="zh-CN" sz="2200" dirty="0"/>
          </a:p>
        </p:txBody>
      </p:sp>
      <p:sp>
        <p:nvSpPr>
          <p:cNvPr id="2" name="TextBox 1">
            <a:extLst>
              <a:ext uri="{FF2B5EF4-FFF2-40B4-BE49-F238E27FC236}">
                <a16:creationId xmlns:a16="http://schemas.microsoft.com/office/drawing/2014/main" id="{FE5A777B-65A0-ABB6-2135-183B09F74C16}"/>
              </a:ext>
            </a:extLst>
          </p:cNvPr>
          <p:cNvSpPr txBox="1"/>
          <p:nvPr/>
        </p:nvSpPr>
        <p:spPr>
          <a:xfrm>
            <a:off x="1150241" y="5718929"/>
            <a:ext cx="7048500" cy="430887"/>
          </a:xfrm>
          <a:prstGeom prst="rect">
            <a:avLst/>
          </a:prstGeom>
          <a:noFill/>
        </p:spPr>
        <p:txBody>
          <a:bodyPr wrap="square" rtlCol="0">
            <a:spAutoFit/>
          </a:bodyPr>
          <a:lstStyle/>
          <a:p>
            <a:pPr algn="ctr"/>
            <a:r>
              <a:rPr lang="zh-CN" altLang="en-US" sz="2200" b="1" dirty="0">
                <a:solidFill>
                  <a:srgbClr val="C00000"/>
                </a:solidFill>
              </a:rPr>
              <a:t>多层感知器</a:t>
            </a:r>
            <a:r>
              <a:rPr lang="zh-CN" altLang="en-US" sz="2200" dirty="0"/>
              <a:t>往往是其中</a:t>
            </a:r>
            <a:r>
              <a:rPr lang="zh-CN" altLang="en-US" sz="2200" b="1" dirty="0"/>
              <a:t>简单和通用的组成部分</a:t>
            </a:r>
            <a:endParaRPr lang="en-US" altLang="zh-CN" sz="2200" b="1" dirty="0"/>
          </a:p>
        </p:txBody>
      </p:sp>
    </p:spTree>
    <p:extLst>
      <p:ext uri="{BB962C8B-B14F-4D97-AF65-F5344CB8AC3E}">
        <p14:creationId xmlns:p14="http://schemas.microsoft.com/office/powerpoint/2010/main" val="2127141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012FB-D47F-DD30-8694-62E02C408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A3DFE-CDF1-9179-1E92-E394BBD1561D}"/>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FBF8C2E2-6243-80AD-7A2C-4B99220CEDFE}"/>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F3816305-9B01-A282-7944-CB9D9A5D31C1}"/>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1B1A7CEB-2D43-3513-4842-91C6D902BFD3}"/>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D127B9A6-F8B5-921E-4775-FF35EA53DC99}"/>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863F363E-1748-1D8D-88C1-7BB8EED66234}"/>
              </a:ext>
            </a:extLst>
          </p:cNvPr>
          <p:cNvSpPr txBox="1"/>
          <p:nvPr/>
        </p:nvSpPr>
        <p:spPr>
          <a:xfrm>
            <a:off x="1916668" y="3339938"/>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6AC40FD3-23BE-A020-80C5-5BAA706F7177}"/>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A33357E7-68B2-2EF2-2E17-B39B6397E860}"/>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74C58F92-2E64-79F3-5485-112D33441204}"/>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6CAD1A9D-3E21-B470-39C5-662C87216670}"/>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15251AA-ED99-D8CB-30D6-FB1DB875F3BE}"/>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C15251AA-ED99-D8CB-30D6-FB1DB875F3BE}"/>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5FD988D-A3E8-7150-8122-CA3BBAE418EC}"/>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E6AEB6E-A407-AA3D-9391-D0BB2D0E6031}"/>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cxnSp>
        <p:nvCxnSpPr>
          <p:cNvPr id="63" name="Straight Arrow Connector 62">
            <a:extLst>
              <a:ext uri="{FF2B5EF4-FFF2-40B4-BE49-F238E27FC236}">
                <a16:creationId xmlns:a16="http://schemas.microsoft.com/office/drawing/2014/main" id="{9ABED512-2798-C803-A6A3-BE71408B0FDD}"/>
              </a:ext>
            </a:extLst>
          </p:cNvPr>
          <p:cNvCxnSpPr>
            <a:cxnSpLocks/>
          </p:cNvCxnSpPr>
          <p:nvPr/>
        </p:nvCxnSpPr>
        <p:spPr bwMode="auto">
          <a:xfrm>
            <a:off x="4261731" y="2820349"/>
            <a:ext cx="213906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3" name="Group 2">
            <a:extLst>
              <a:ext uri="{FF2B5EF4-FFF2-40B4-BE49-F238E27FC236}">
                <a16:creationId xmlns:a16="http://schemas.microsoft.com/office/drawing/2014/main" id="{131C723E-BAEE-5075-A042-9256FD1CB288}"/>
              </a:ext>
            </a:extLst>
          </p:cNvPr>
          <p:cNvGrpSpPr/>
          <p:nvPr/>
        </p:nvGrpSpPr>
        <p:grpSpPr>
          <a:xfrm>
            <a:off x="1799762" y="2195658"/>
            <a:ext cx="396194" cy="2191417"/>
            <a:chOff x="2956606" y="2255698"/>
            <a:chExt cx="396194" cy="2191417"/>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54DDB9B-F147-0D45-B312-0592BBECD889}"/>
                    </a:ext>
                  </a:extLst>
                </p:cNvPr>
                <p:cNvSpPr txBox="1"/>
                <p:nvPr/>
              </p:nvSpPr>
              <p:spPr>
                <a:xfrm>
                  <a:off x="2956606" y="225569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1,1</m:t>
                            </m:r>
                          </m:sub>
                        </m:sSub>
                      </m:oMath>
                    </m:oMathPara>
                  </a14:m>
                  <a:endParaRPr lang="en-US" dirty="0"/>
                </a:p>
              </p:txBody>
            </p:sp>
          </mc:Choice>
          <mc:Fallback xmlns="">
            <p:sp>
              <p:nvSpPr>
                <p:cNvPr id="5" name="TextBox 4">
                  <a:extLst>
                    <a:ext uri="{FF2B5EF4-FFF2-40B4-BE49-F238E27FC236}">
                      <a16:creationId xmlns:a16="http://schemas.microsoft.com/office/drawing/2014/main" id="{454DDB9B-F147-0D45-B312-0592BBECD889}"/>
                    </a:ext>
                  </a:extLst>
                </p:cNvPr>
                <p:cNvSpPr txBox="1">
                  <a:spLocks noRot="1" noChangeAspect="1" noMove="1" noResize="1" noEditPoints="1" noAdjustHandles="1" noChangeArrowheads="1" noChangeShapeType="1" noTextEdit="1"/>
                </p:cNvSpPr>
                <p:nvPr/>
              </p:nvSpPr>
              <p:spPr>
                <a:xfrm>
                  <a:off x="2956606" y="2255698"/>
                  <a:ext cx="396194" cy="381515"/>
                </a:xfrm>
                <a:prstGeom prst="rect">
                  <a:avLst/>
                </a:prstGeom>
                <a:blipFill>
                  <a:blip r:embed="rId7"/>
                  <a:stretch>
                    <a:fillRect r="-3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9DBC5E-424B-67C9-D60A-961C4ECC2D1A}"/>
                    </a:ext>
                  </a:extLst>
                </p:cNvPr>
                <p:cNvSpPr txBox="1"/>
                <p:nvPr/>
              </p:nvSpPr>
              <p:spPr>
                <a:xfrm>
                  <a:off x="2959807" y="2664539"/>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2</m:t>
                            </m:r>
                          </m:sub>
                        </m:sSub>
                      </m:oMath>
                    </m:oMathPara>
                  </a14:m>
                  <a:endParaRPr lang="en-US" dirty="0"/>
                </a:p>
              </p:txBody>
            </p:sp>
          </mc:Choice>
          <mc:Fallback xmlns="">
            <p:sp>
              <p:nvSpPr>
                <p:cNvPr id="8" name="TextBox 7">
                  <a:extLst>
                    <a:ext uri="{FF2B5EF4-FFF2-40B4-BE49-F238E27FC236}">
                      <a16:creationId xmlns:a16="http://schemas.microsoft.com/office/drawing/2014/main" id="{059DBC5E-424B-67C9-D60A-961C4ECC2D1A}"/>
                    </a:ext>
                  </a:extLst>
                </p:cNvPr>
                <p:cNvSpPr txBox="1">
                  <a:spLocks noRot="1" noChangeAspect="1" noMove="1" noResize="1" noEditPoints="1" noAdjustHandles="1" noChangeArrowheads="1" noChangeShapeType="1" noTextEdit="1"/>
                </p:cNvSpPr>
                <p:nvPr/>
              </p:nvSpPr>
              <p:spPr>
                <a:xfrm>
                  <a:off x="2959807" y="2664539"/>
                  <a:ext cx="350497" cy="381515"/>
                </a:xfrm>
                <a:prstGeom prst="rect">
                  <a:avLst/>
                </a:prstGeom>
                <a:blipFill>
                  <a:blip r:embed="rId8"/>
                  <a:stretch>
                    <a:fillRect r="-543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39ADA71-24FF-3530-DF89-65AE9D5AB501}"/>
                    </a:ext>
                  </a:extLst>
                </p:cNvPr>
                <p:cNvSpPr txBox="1"/>
                <p:nvPr/>
              </p:nvSpPr>
              <p:spPr>
                <a:xfrm>
                  <a:off x="2956606" y="4065600"/>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𝑛</m:t>
                            </m:r>
                          </m:sub>
                        </m:sSub>
                      </m:oMath>
                    </m:oMathPara>
                  </a14:m>
                  <a:endParaRPr lang="en-US" dirty="0"/>
                </a:p>
              </p:txBody>
            </p:sp>
          </mc:Choice>
          <mc:Fallback xmlns="">
            <p:sp>
              <p:nvSpPr>
                <p:cNvPr id="12" name="TextBox 11">
                  <a:extLst>
                    <a:ext uri="{FF2B5EF4-FFF2-40B4-BE49-F238E27FC236}">
                      <a16:creationId xmlns:a16="http://schemas.microsoft.com/office/drawing/2014/main" id="{339ADA71-24FF-3530-DF89-65AE9D5AB501}"/>
                    </a:ext>
                  </a:extLst>
                </p:cNvPr>
                <p:cNvSpPr txBox="1">
                  <a:spLocks noRot="1" noChangeAspect="1" noMove="1" noResize="1" noEditPoints="1" noAdjustHandles="1" noChangeArrowheads="1" noChangeShapeType="1" noTextEdit="1"/>
                </p:cNvSpPr>
                <p:nvPr/>
              </p:nvSpPr>
              <p:spPr>
                <a:xfrm>
                  <a:off x="2956606" y="4065600"/>
                  <a:ext cx="350497" cy="381515"/>
                </a:xfrm>
                <a:prstGeom prst="rect">
                  <a:avLst/>
                </a:prstGeom>
                <a:blipFill>
                  <a:blip r:embed="rId9"/>
                  <a:stretch>
                    <a:fillRect r="-5344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7BFF3C-0F48-1646-F69C-C90B3639D436}"/>
                  </a:ext>
                </a:extLst>
              </p:cNvPr>
              <p:cNvSpPr txBox="1"/>
              <p:nvPr/>
            </p:nvSpPr>
            <p:spPr>
              <a:xfrm>
                <a:off x="3917663" y="235861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oMath>
                  </m:oMathPara>
                </a14:m>
                <a:endParaRPr lang="en-US" dirty="0"/>
              </a:p>
            </p:txBody>
          </p:sp>
        </mc:Choice>
        <mc:Fallback xmlns="">
          <p:sp>
            <p:nvSpPr>
              <p:cNvPr id="14" name="TextBox 13">
                <a:extLst>
                  <a:ext uri="{FF2B5EF4-FFF2-40B4-BE49-F238E27FC236}">
                    <a16:creationId xmlns:a16="http://schemas.microsoft.com/office/drawing/2014/main" id="{5A7BFF3C-0F48-1646-F69C-C90B3639D436}"/>
                  </a:ext>
                </a:extLst>
              </p:cNvPr>
              <p:cNvSpPr txBox="1">
                <a:spLocks noRot="1" noChangeAspect="1" noMove="1" noResize="1" noEditPoints="1" noAdjustHandles="1" noChangeArrowheads="1" noChangeShapeType="1" noTextEdit="1"/>
              </p:cNvSpPr>
              <p:nvPr/>
            </p:nvSpPr>
            <p:spPr>
              <a:xfrm>
                <a:off x="3917663" y="2358618"/>
                <a:ext cx="396194" cy="3815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0A5CB4-8204-426C-3ECA-CA05CDB1B8DD}"/>
                  </a:ext>
                </a:extLst>
              </p:cNvPr>
              <p:cNvSpPr txBox="1"/>
              <p:nvPr/>
            </p:nvSpPr>
            <p:spPr>
              <a:xfrm>
                <a:off x="4313857" y="2341040"/>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i="1">
                              <a:latin typeface="Cambria Math" panose="02040503050406030204" pitchFamily="18" charset="0"/>
                            </a:rPr>
                            <m:t>1</m:t>
                          </m:r>
                        </m:sub>
                      </m:sSub>
                      <m:r>
                        <a:rPr lang="en-US"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𝐰</m:t>
                          </m:r>
                        </m:e>
                        <m:sub>
                          <m:r>
                            <a:rPr lang="en-US" i="1">
                              <a:latin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rPr>
                        <m:t>𝐱</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m:oMathPara>
                </a14:m>
                <a:endParaRPr lang="en-US" dirty="0"/>
              </a:p>
            </p:txBody>
          </p:sp>
        </mc:Choice>
        <mc:Fallback xmlns="">
          <p:sp>
            <p:nvSpPr>
              <p:cNvPr id="15" name="TextBox 14">
                <a:extLst>
                  <a:ext uri="{FF2B5EF4-FFF2-40B4-BE49-F238E27FC236}">
                    <a16:creationId xmlns:a16="http://schemas.microsoft.com/office/drawing/2014/main" id="{DE0A5CB4-8204-426C-3ECA-CA05CDB1B8DD}"/>
                  </a:ext>
                </a:extLst>
              </p:cNvPr>
              <p:cNvSpPr txBox="1">
                <a:spLocks noRot="1" noChangeAspect="1" noMove="1" noResize="1" noEditPoints="1" noAdjustHandles="1" noChangeArrowheads="1" noChangeShapeType="1" noTextEdit="1"/>
              </p:cNvSpPr>
              <p:nvPr/>
            </p:nvSpPr>
            <p:spPr>
              <a:xfrm>
                <a:off x="4313857" y="2341040"/>
                <a:ext cx="2242502" cy="369332"/>
              </a:xfrm>
              <a:prstGeom prst="rect">
                <a:avLst/>
              </a:prstGeom>
              <a:blipFill>
                <a:blip r:embed="rId11"/>
                <a:stretch>
                  <a:fillRect b="-1475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25815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40" grpId="0"/>
      <p:bldP spid="14"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D7E4B-B313-1C42-0CD3-53F776586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F3DCA-BDE4-FCCE-4D49-03234B229B4C}"/>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0F2D41D8-F58A-6C50-9E98-899B8FF4E177}"/>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C62A644B-89F4-B979-8659-80D9A9ED6089}"/>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B8232370-A82F-17F1-9A7D-6F4128C449BA}"/>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B725F7E8-2365-FCE5-E90C-8B0863114069}"/>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7956D380-B30A-90D8-4B84-36FC2339D3E8}"/>
              </a:ext>
            </a:extLst>
          </p:cNvPr>
          <p:cNvSpPr txBox="1"/>
          <p:nvPr/>
        </p:nvSpPr>
        <p:spPr>
          <a:xfrm>
            <a:off x="2541928" y="3941459"/>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99064442-5940-E235-9735-1B6D776CF5E9}"/>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8CE65602-54D2-47C0-4221-39AB4706A659}"/>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83ACA946-C053-13C7-610E-112CDB89759F}"/>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674D677A-E918-9A44-F375-D2BDC15EAC5E}"/>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856DA70-9FF5-D00E-09E3-FC712C17B66F}"/>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2856DA70-9FF5-D00E-09E3-FC712C17B66F}"/>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85F0E07-8F16-3CC7-0CAC-A95014ED7CA0}"/>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15B9FC7-2009-AEF4-3699-5D7FCFFD8A69}"/>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0EFB16CB-9BD2-F6A0-C992-462602D38F15}"/>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4" name="Straight Arrow Connector 3">
            <a:extLst>
              <a:ext uri="{FF2B5EF4-FFF2-40B4-BE49-F238E27FC236}">
                <a16:creationId xmlns:a16="http://schemas.microsoft.com/office/drawing/2014/main" id="{6B1CACF8-603D-BB90-46F4-A52115A247CE}"/>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7EA007CC-481C-C185-C812-6C548AAC8328}"/>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5E36AD1F-441A-BA99-54EA-2F065112F5BB}"/>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4159A105-B200-C1F4-0665-821A24B2A0A3}"/>
              </a:ext>
            </a:extLst>
          </p:cNvPr>
          <p:cNvCxnSpPr>
            <a:cxnSpLocks/>
          </p:cNvCxnSpPr>
          <p:nvPr/>
        </p:nvCxnSpPr>
        <p:spPr bwMode="auto">
          <a:xfrm>
            <a:off x="4261731" y="2820349"/>
            <a:ext cx="213906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5C3C8F6-0462-DFC9-EEC2-E07DB1203A33}"/>
                  </a:ext>
                </a:extLst>
              </p:cNvPr>
              <p:cNvSpPr txBox="1"/>
              <p:nvPr/>
            </p:nvSpPr>
            <p:spPr>
              <a:xfrm>
                <a:off x="4313857" y="2341040"/>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i="1">
                              <a:latin typeface="Cambria Math" panose="02040503050406030204" pitchFamily="18" charset="0"/>
                            </a:rPr>
                            <m:t>1</m:t>
                          </m:r>
                        </m:sub>
                      </m:sSub>
                      <m:r>
                        <a:rPr lang="en-US"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𝐰</m:t>
                          </m:r>
                        </m:e>
                        <m:sub>
                          <m:r>
                            <a:rPr lang="en-US" i="1">
                              <a:latin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rPr>
                        <m:t>𝐱</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65C3C8F6-0462-DFC9-EEC2-E07DB1203A33}"/>
                  </a:ext>
                </a:extLst>
              </p:cNvPr>
              <p:cNvSpPr txBox="1">
                <a:spLocks noRot="1" noChangeAspect="1" noMove="1" noResize="1" noEditPoints="1" noAdjustHandles="1" noChangeArrowheads="1" noChangeShapeType="1" noTextEdit="1"/>
              </p:cNvSpPr>
              <p:nvPr/>
            </p:nvSpPr>
            <p:spPr>
              <a:xfrm>
                <a:off x="4313857" y="2341040"/>
                <a:ext cx="2242502" cy="369332"/>
              </a:xfrm>
              <a:prstGeom prst="rect">
                <a:avLst/>
              </a:prstGeom>
              <a:blipFill>
                <a:blip r:embed="rId7"/>
                <a:stretch>
                  <a:fillRect b="-14754"/>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BF5BEE5E-AB7A-43D4-F2EC-7D4C077157A3}"/>
              </a:ext>
            </a:extLst>
          </p:cNvPr>
          <p:cNvCxnSpPr>
            <a:cxnSpLocks/>
          </p:cNvCxnSpPr>
          <p:nvPr/>
        </p:nvCxnSpPr>
        <p:spPr bwMode="auto">
          <a:xfrm>
            <a:off x="4258572" y="3341044"/>
            <a:ext cx="213906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57D0D15-EB12-C766-A4E8-94AB4E20783D}"/>
                  </a:ext>
                </a:extLst>
              </p:cNvPr>
              <p:cNvSpPr txBox="1"/>
              <p:nvPr/>
            </p:nvSpPr>
            <p:spPr>
              <a:xfrm>
                <a:off x="4310698" y="2861735"/>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𝐰</m:t>
                          </m:r>
                        </m:e>
                        <m:sub>
                          <m:r>
                            <a:rPr lang="en-US" b="0" i="1" smtClean="0">
                              <a:latin typeface="Cambria Math" panose="02040503050406030204" pitchFamily="18" charset="0"/>
                            </a:rPr>
                            <m:t>2</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rPr>
                        <m:t>𝐱</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657D0D15-EB12-C766-A4E8-94AB4E20783D}"/>
                  </a:ext>
                </a:extLst>
              </p:cNvPr>
              <p:cNvSpPr txBox="1">
                <a:spLocks noRot="1" noChangeAspect="1" noMove="1" noResize="1" noEditPoints="1" noAdjustHandles="1" noChangeArrowheads="1" noChangeShapeType="1" noTextEdit="1"/>
              </p:cNvSpPr>
              <p:nvPr/>
            </p:nvSpPr>
            <p:spPr>
              <a:xfrm>
                <a:off x="4310698" y="2861735"/>
                <a:ext cx="2242502" cy="369332"/>
              </a:xfrm>
              <a:prstGeom prst="rect">
                <a:avLst/>
              </a:prstGeom>
              <a:blipFill>
                <a:blip r:embed="rId8"/>
                <a:stretch>
                  <a:fillRect b="-14754"/>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732C3B3A-7E6D-41AE-2589-E60F0787D85A}"/>
              </a:ext>
            </a:extLst>
          </p:cNvPr>
          <p:cNvGrpSpPr/>
          <p:nvPr/>
        </p:nvGrpSpPr>
        <p:grpSpPr>
          <a:xfrm>
            <a:off x="2471630" y="2820349"/>
            <a:ext cx="396194" cy="2191417"/>
            <a:chOff x="2956606" y="2255698"/>
            <a:chExt cx="396194" cy="2191417"/>
          </a:xfrm>
        </p:grpSpPr>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2815194-A91B-E98E-7C00-DE200FBBE7B5}"/>
                    </a:ext>
                  </a:extLst>
                </p:cNvPr>
                <p:cNvSpPr txBox="1"/>
                <p:nvPr/>
              </p:nvSpPr>
              <p:spPr>
                <a:xfrm>
                  <a:off x="2956606" y="225569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2,1</m:t>
                            </m:r>
                          </m:sub>
                        </m:sSub>
                      </m:oMath>
                    </m:oMathPara>
                  </a14:m>
                  <a:endParaRPr lang="en-US" dirty="0"/>
                </a:p>
              </p:txBody>
            </p:sp>
          </mc:Choice>
          <mc:Fallback xmlns="">
            <p:sp>
              <p:nvSpPr>
                <p:cNvPr id="21" name="TextBox 20">
                  <a:extLst>
                    <a:ext uri="{FF2B5EF4-FFF2-40B4-BE49-F238E27FC236}">
                      <a16:creationId xmlns:a16="http://schemas.microsoft.com/office/drawing/2014/main" id="{02815194-A91B-E98E-7C00-DE200FBBE7B5}"/>
                    </a:ext>
                  </a:extLst>
                </p:cNvPr>
                <p:cNvSpPr txBox="1">
                  <a:spLocks noRot="1" noChangeAspect="1" noMove="1" noResize="1" noEditPoints="1" noAdjustHandles="1" noChangeArrowheads="1" noChangeShapeType="1" noTextEdit="1"/>
                </p:cNvSpPr>
                <p:nvPr/>
              </p:nvSpPr>
              <p:spPr>
                <a:xfrm>
                  <a:off x="2956606" y="2255698"/>
                  <a:ext cx="396194" cy="381515"/>
                </a:xfrm>
                <a:prstGeom prst="rect">
                  <a:avLst/>
                </a:prstGeom>
                <a:blipFill>
                  <a:blip r:embed="rId9"/>
                  <a:stretch>
                    <a:fillRect r="-38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B3A0953-233E-0964-B9BE-9FC59E9A7CBF}"/>
                    </a:ext>
                  </a:extLst>
                </p:cNvPr>
                <p:cNvSpPr txBox="1"/>
                <p:nvPr/>
              </p:nvSpPr>
              <p:spPr>
                <a:xfrm>
                  <a:off x="2959807" y="2664539"/>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2</m:t>
                            </m:r>
                          </m:sub>
                        </m:sSub>
                      </m:oMath>
                    </m:oMathPara>
                  </a14:m>
                  <a:endParaRPr lang="en-US" dirty="0"/>
                </a:p>
              </p:txBody>
            </p:sp>
          </mc:Choice>
          <mc:Fallback xmlns="">
            <p:sp>
              <p:nvSpPr>
                <p:cNvPr id="23" name="TextBox 22">
                  <a:extLst>
                    <a:ext uri="{FF2B5EF4-FFF2-40B4-BE49-F238E27FC236}">
                      <a16:creationId xmlns:a16="http://schemas.microsoft.com/office/drawing/2014/main" id="{CB3A0953-233E-0964-B9BE-9FC59E9A7CBF}"/>
                    </a:ext>
                  </a:extLst>
                </p:cNvPr>
                <p:cNvSpPr txBox="1">
                  <a:spLocks noRot="1" noChangeAspect="1" noMove="1" noResize="1" noEditPoints="1" noAdjustHandles="1" noChangeArrowheads="1" noChangeShapeType="1" noTextEdit="1"/>
                </p:cNvSpPr>
                <p:nvPr/>
              </p:nvSpPr>
              <p:spPr>
                <a:xfrm>
                  <a:off x="2959807" y="2664539"/>
                  <a:ext cx="350497" cy="381515"/>
                </a:xfrm>
                <a:prstGeom prst="rect">
                  <a:avLst/>
                </a:prstGeom>
                <a:blipFill>
                  <a:blip r:embed="rId10"/>
                  <a:stretch>
                    <a:fillRect r="-561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DF68EBB-28A6-A2B8-5FC5-8552A5CE4DBE}"/>
                    </a:ext>
                  </a:extLst>
                </p:cNvPr>
                <p:cNvSpPr txBox="1"/>
                <p:nvPr/>
              </p:nvSpPr>
              <p:spPr>
                <a:xfrm>
                  <a:off x="2956606" y="4065600"/>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𝑛</m:t>
                            </m:r>
                          </m:sub>
                        </m:sSub>
                      </m:oMath>
                    </m:oMathPara>
                  </a14:m>
                  <a:endParaRPr lang="en-US" dirty="0"/>
                </a:p>
              </p:txBody>
            </p:sp>
          </mc:Choice>
          <mc:Fallback xmlns="">
            <p:sp>
              <p:nvSpPr>
                <p:cNvPr id="27" name="TextBox 26">
                  <a:extLst>
                    <a:ext uri="{FF2B5EF4-FFF2-40B4-BE49-F238E27FC236}">
                      <a16:creationId xmlns:a16="http://schemas.microsoft.com/office/drawing/2014/main" id="{0DF68EBB-28A6-A2B8-5FC5-8552A5CE4DBE}"/>
                    </a:ext>
                  </a:extLst>
                </p:cNvPr>
                <p:cNvSpPr txBox="1">
                  <a:spLocks noRot="1" noChangeAspect="1" noMove="1" noResize="1" noEditPoints="1" noAdjustHandles="1" noChangeArrowheads="1" noChangeShapeType="1" noTextEdit="1"/>
                </p:cNvSpPr>
                <p:nvPr/>
              </p:nvSpPr>
              <p:spPr>
                <a:xfrm>
                  <a:off x="2956606" y="4065600"/>
                  <a:ext cx="350497" cy="381515"/>
                </a:xfrm>
                <a:prstGeom prst="rect">
                  <a:avLst/>
                </a:prstGeom>
                <a:blipFill>
                  <a:blip r:embed="rId11"/>
                  <a:stretch>
                    <a:fillRect r="-5517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67BF3EF-051B-1567-E94C-CD43789805E1}"/>
                  </a:ext>
                </a:extLst>
              </p:cNvPr>
              <p:cNvSpPr txBox="1"/>
              <p:nvPr/>
            </p:nvSpPr>
            <p:spPr>
              <a:xfrm>
                <a:off x="3947071" y="2890937"/>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2</m:t>
                          </m:r>
                        </m:sub>
                      </m:sSub>
                    </m:oMath>
                  </m:oMathPara>
                </a14:m>
                <a:endParaRPr lang="en-US" dirty="0"/>
              </a:p>
            </p:txBody>
          </p:sp>
        </mc:Choice>
        <mc:Fallback xmlns="">
          <p:sp>
            <p:nvSpPr>
              <p:cNvPr id="28" name="TextBox 27">
                <a:extLst>
                  <a:ext uri="{FF2B5EF4-FFF2-40B4-BE49-F238E27FC236}">
                    <a16:creationId xmlns:a16="http://schemas.microsoft.com/office/drawing/2014/main" id="{367BF3EF-051B-1567-E94C-CD43789805E1}"/>
                  </a:ext>
                </a:extLst>
              </p:cNvPr>
              <p:cNvSpPr txBox="1">
                <a:spLocks noRot="1" noChangeAspect="1" noMove="1" noResize="1" noEditPoints="1" noAdjustHandles="1" noChangeArrowheads="1" noChangeShapeType="1" noTextEdit="1"/>
              </p:cNvSpPr>
              <p:nvPr/>
            </p:nvSpPr>
            <p:spPr>
              <a:xfrm>
                <a:off x="3947071" y="2890937"/>
                <a:ext cx="396194" cy="381515"/>
              </a:xfrm>
              <a:prstGeom prst="rect">
                <a:avLst/>
              </a:prstGeom>
              <a:blipFill>
                <a:blip r:embed="rId12"/>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6198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DE63-0BDF-AFF2-D5A2-CE54EEAA9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78DCD-8FEE-0097-FA86-59F04CDCBBA9}"/>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D1E47488-0204-B16A-A9F1-157DB317C42B}"/>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EAFDB9BB-B426-4A0F-77F7-3E11A306F647}"/>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49BE28B9-3653-B21F-AA78-706EF7361A81}"/>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41A2B3D6-7E5F-C3C5-A899-B5200769439A}"/>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2C7A8D15-3887-19B5-975E-E0BFA6E494D2}"/>
              </a:ext>
            </a:extLst>
          </p:cNvPr>
          <p:cNvSpPr txBox="1"/>
          <p:nvPr/>
        </p:nvSpPr>
        <p:spPr>
          <a:xfrm>
            <a:off x="2110592" y="3830650"/>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4C7639F9-030D-868A-FC5B-972085A391BD}"/>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8E1A88E1-7297-499E-A0A8-378C8AC87FB6}"/>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08ADAF8E-46A5-F4C2-FCE7-7A740ED4FCDA}"/>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F845D535-E0FB-0896-9BE9-D8E9DE4894AC}"/>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666CDA0-DDB7-E5AE-4999-EEA8C7FCF31C}"/>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2666CDA0-DDB7-E5AE-4999-EEA8C7FCF31C}"/>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40E9EFD-154D-ADF8-A14E-E5668BFBE417}"/>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8B6B747-31BE-705F-0CEF-0A06B6F23761}"/>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64B8F8AB-C90E-77CE-59E7-C3C7E84BEB51}"/>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016C9D8E-EA50-6E2D-D946-FEF160ABA020}"/>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71C4CE44-2710-09F0-8318-533A459A4D65}"/>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66D365AE-6B44-5111-21E8-2D905F0EBC23}"/>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A59751D5-10A6-944C-D5A2-ACDD0474AC0E}"/>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D040454-9F25-AAC8-FE43-9C35AB63BE84}"/>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6134B4AC-CF59-CBF4-B737-0785D5165638}"/>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B5CB8A3D-6822-8BD5-5C31-89DDBAEA8006}"/>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6FE4C2FB-26B2-DCD2-5301-92B8D383CEAB}"/>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4E678C04-05A9-566A-0263-EC7B8DA19A58}"/>
              </a:ext>
            </a:extLst>
          </p:cNvPr>
          <p:cNvCxnSpPr>
            <a:cxnSpLocks/>
          </p:cNvCxnSpPr>
          <p:nvPr/>
        </p:nvCxnSpPr>
        <p:spPr bwMode="auto">
          <a:xfrm>
            <a:off x="4261731" y="2820349"/>
            <a:ext cx="213906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6E61EA9A-32C6-D5E3-5E97-EB0F64060C4C}"/>
              </a:ext>
            </a:extLst>
          </p:cNvPr>
          <p:cNvCxnSpPr>
            <a:cxnSpLocks/>
          </p:cNvCxnSpPr>
          <p:nvPr/>
        </p:nvCxnSpPr>
        <p:spPr bwMode="auto">
          <a:xfrm>
            <a:off x="4258572" y="3341044"/>
            <a:ext cx="213906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DB6DFCB-2FEA-A4CB-4DCA-09559D80F0C2}"/>
                  </a:ext>
                </a:extLst>
              </p:cNvPr>
              <p:cNvSpPr txBox="1"/>
              <p:nvPr/>
            </p:nvSpPr>
            <p:spPr>
              <a:xfrm>
                <a:off x="4313857" y="2341040"/>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i="1">
                              <a:latin typeface="Cambria Math" panose="02040503050406030204" pitchFamily="18" charset="0"/>
                            </a:rPr>
                            <m:t>1</m:t>
                          </m:r>
                        </m:sub>
                      </m:sSub>
                      <m:r>
                        <a:rPr lang="en-US"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𝐰</m:t>
                          </m:r>
                        </m:e>
                        <m:sub>
                          <m:r>
                            <a:rPr lang="en-US" i="1">
                              <a:latin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rPr>
                        <m:t>𝐱</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m:oMathPara>
                </a14:m>
                <a:endParaRPr lang="en-US" dirty="0"/>
              </a:p>
            </p:txBody>
          </p:sp>
        </mc:Choice>
        <mc:Fallback xmlns="">
          <p:sp>
            <p:nvSpPr>
              <p:cNvPr id="23" name="TextBox 22">
                <a:extLst>
                  <a:ext uri="{FF2B5EF4-FFF2-40B4-BE49-F238E27FC236}">
                    <a16:creationId xmlns:a16="http://schemas.microsoft.com/office/drawing/2014/main" id="{FDB6DFCB-2FEA-A4CB-4DCA-09559D80F0C2}"/>
                  </a:ext>
                </a:extLst>
              </p:cNvPr>
              <p:cNvSpPr txBox="1">
                <a:spLocks noRot="1" noChangeAspect="1" noMove="1" noResize="1" noEditPoints="1" noAdjustHandles="1" noChangeArrowheads="1" noChangeShapeType="1" noTextEdit="1"/>
              </p:cNvSpPr>
              <p:nvPr/>
            </p:nvSpPr>
            <p:spPr>
              <a:xfrm>
                <a:off x="4313857" y="2341040"/>
                <a:ext cx="2242502" cy="369332"/>
              </a:xfrm>
              <a:prstGeom prst="rect">
                <a:avLst/>
              </a:prstGeom>
              <a:blipFill>
                <a:blip r:embed="rId7"/>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4DDFCD3-1A26-4423-A221-19764984B0B5}"/>
                  </a:ext>
                </a:extLst>
              </p:cNvPr>
              <p:cNvSpPr txBox="1"/>
              <p:nvPr/>
            </p:nvSpPr>
            <p:spPr>
              <a:xfrm>
                <a:off x="4310698" y="2861735"/>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𝐰</m:t>
                          </m:r>
                        </m:e>
                        <m:sub>
                          <m:r>
                            <a:rPr lang="en-US" b="0" i="1" smtClean="0">
                              <a:latin typeface="Cambria Math" panose="02040503050406030204" pitchFamily="18" charset="0"/>
                            </a:rPr>
                            <m:t>2</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rPr>
                        <m:t>𝐱</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oMath>
                  </m:oMathPara>
                </a14:m>
                <a:endParaRPr lang="en-US" dirty="0"/>
              </a:p>
            </p:txBody>
          </p:sp>
        </mc:Choice>
        <mc:Fallback xmlns="">
          <p:sp>
            <p:nvSpPr>
              <p:cNvPr id="27" name="TextBox 26">
                <a:extLst>
                  <a:ext uri="{FF2B5EF4-FFF2-40B4-BE49-F238E27FC236}">
                    <a16:creationId xmlns:a16="http://schemas.microsoft.com/office/drawing/2014/main" id="{A4DDFCD3-1A26-4423-A221-19764984B0B5}"/>
                  </a:ext>
                </a:extLst>
              </p:cNvPr>
              <p:cNvSpPr txBox="1">
                <a:spLocks noRot="1" noChangeAspect="1" noMove="1" noResize="1" noEditPoints="1" noAdjustHandles="1" noChangeArrowheads="1" noChangeShapeType="1" noTextEdit="1"/>
              </p:cNvSpPr>
              <p:nvPr/>
            </p:nvSpPr>
            <p:spPr>
              <a:xfrm>
                <a:off x="4310698" y="2861735"/>
                <a:ext cx="2242502" cy="369332"/>
              </a:xfrm>
              <a:prstGeom prst="rect">
                <a:avLst/>
              </a:prstGeom>
              <a:blipFill>
                <a:blip r:embed="rId8"/>
                <a:stretch>
                  <a:fillRect b="-14754"/>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2A070A4F-6376-B51E-2A63-5B3832EB5A5B}"/>
              </a:ext>
            </a:extLst>
          </p:cNvPr>
          <p:cNvCxnSpPr>
            <a:cxnSpLocks/>
          </p:cNvCxnSpPr>
          <p:nvPr/>
        </p:nvCxnSpPr>
        <p:spPr bwMode="auto">
          <a:xfrm>
            <a:off x="4242097" y="4648200"/>
            <a:ext cx="213906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77033B3-4650-8CD2-BCF5-98D3AC10A4A0}"/>
                  </a:ext>
                </a:extLst>
              </p:cNvPr>
              <p:cNvSpPr txBox="1"/>
              <p:nvPr/>
            </p:nvSpPr>
            <p:spPr>
              <a:xfrm>
                <a:off x="4273214" y="4219182"/>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𝐰</m:t>
                          </m:r>
                        </m:e>
                        <m:sub>
                          <m:r>
                            <a:rPr lang="en-US" b="0" i="1" smtClean="0">
                              <a:latin typeface="Cambria Math" panose="02040503050406030204" pitchFamily="18" charset="0"/>
                            </a:rPr>
                            <m:t>𝑘</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rPr>
                        <m:t>𝐱</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𝑘</m:t>
                          </m:r>
                        </m:sub>
                      </m:sSub>
                      <m:r>
                        <a:rPr lang="en-US" sz="1800" b="0" i="1" smtClean="0">
                          <a:latin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F77033B3-4650-8CD2-BCF5-98D3AC10A4A0}"/>
                  </a:ext>
                </a:extLst>
              </p:cNvPr>
              <p:cNvSpPr txBox="1">
                <a:spLocks noRot="1" noChangeAspect="1" noMove="1" noResize="1" noEditPoints="1" noAdjustHandles="1" noChangeArrowheads="1" noChangeShapeType="1" noTextEdit="1"/>
              </p:cNvSpPr>
              <p:nvPr/>
            </p:nvSpPr>
            <p:spPr>
              <a:xfrm>
                <a:off x="4273214" y="4219182"/>
                <a:ext cx="2242502" cy="369332"/>
              </a:xfrm>
              <a:prstGeom prst="rect">
                <a:avLst/>
              </a:prstGeom>
              <a:blipFill>
                <a:blip r:embed="rId9"/>
                <a:stretch>
                  <a:fillRect b="-14754"/>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3B687AE4-228E-ABC1-9070-F7A3B650BDDB}"/>
              </a:ext>
            </a:extLst>
          </p:cNvPr>
          <p:cNvGrpSpPr/>
          <p:nvPr/>
        </p:nvGrpSpPr>
        <p:grpSpPr>
          <a:xfrm>
            <a:off x="2081882" y="2861736"/>
            <a:ext cx="429424" cy="2136067"/>
            <a:chOff x="2956606" y="2255698"/>
            <a:chExt cx="396194" cy="2107630"/>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C17E969-4BCD-3B5C-CB06-E7B841A54252}"/>
                    </a:ext>
                  </a:extLst>
                </p:cNvPr>
                <p:cNvSpPr txBox="1"/>
                <p:nvPr/>
              </p:nvSpPr>
              <p:spPr>
                <a:xfrm>
                  <a:off x="2956606" y="225569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1C17E969-4BCD-3B5C-CB06-E7B841A54252}"/>
                    </a:ext>
                  </a:extLst>
                </p:cNvPr>
                <p:cNvSpPr txBox="1">
                  <a:spLocks noRot="1" noChangeAspect="1" noMove="1" noResize="1" noEditPoints="1" noAdjustHandles="1" noChangeArrowheads="1" noChangeShapeType="1" noTextEdit="1"/>
                </p:cNvSpPr>
                <p:nvPr/>
              </p:nvSpPr>
              <p:spPr>
                <a:xfrm>
                  <a:off x="2956606" y="2255698"/>
                  <a:ext cx="396194" cy="381515"/>
                </a:xfrm>
                <a:prstGeom prst="rect">
                  <a:avLst/>
                </a:prstGeom>
                <a:blipFill>
                  <a:blip r:embed="rId10"/>
                  <a:stretch>
                    <a:fillRect r="-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8ACB503-C581-5803-A1C1-4F5516EE9C4F}"/>
                    </a:ext>
                  </a:extLst>
                </p:cNvPr>
                <p:cNvSpPr txBox="1"/>
                <p:nvPr/>
              </p:nvSpPr>
              <p:spPr>
                <a:xfrm>
                  <a:off x="2959807" y="2664539"/>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𝑘</m:t>
                            </m:r>
                            <m:r>
                              <a:rPr lang="en-US" i="1">
                                <a:latin typeface="Cambria Math" panose="02040503050406030204" pitchFamily="18" charset="0"/>
                              </a:rPr>
                              <m:t>,</m:t>
                            </m:r>
                            <m:r>
                              <a:rPr lang="en-US" b="0" i="1" smtClean="0">
                                <a:latin typeface="Cambria Math" panose="02040503050406030204" pitchFamily="18" charset="0"/>
                              </a:rPr>
                              <m:t>2</m:t>
                            </m:r>
                          </m:sub>
                        </m:sSub>
                      </m:oMath>
                    </m:oMathPara>
                  </a14:m>
                  <a:endParaRPr lang="en-US" dirty="0"/>
                </a:p>
              </p:txBody>
            </p:sp>
          </mc:Choice>
          <mc:Fallback xmlns="">
            <p:sp>
              <p:nvSpPr>
                <p:cNvPr id="35" name="TextBox 34">
                  <a:extLst>
                    <a:ext uri="{FF2B5EF4-FFF2-40B4-BE49-F238E27FC236}">
                      <a16:creationId xmlns:a16="http://schemas.microsoft.com/office/drawing/2014/main" id="{58ACB503-C581-5803-A1C1-4F5516EE9C4F}"/>
                    </a:ext>
                  </a:extLst>
                </p:cNvPr>
                <p:cNvSpPr txBox="1">
                  <a:spLocks noRot="1" noChangeAspect="1" noMove="1" noResize="1" noEditPoints="1" noAdjustHandles="1" noChangeArrowheads="1" noChangeShapeType="1" noTextEdit="1"/>
                </p:cNvSpPr>
                <p:nvPr/>
              </p:nvSpPr>
              <p:spPr>
                <a:xfrm>
                  <a:off x="2959807" y="2664539"/>
                  <a:ext cx="350497" cy="381515"/>
                </a:xfrm>
                <a:prstGeom prst="rect">
                  <a:avLst/>
                </a:prstGeom>
                <a:blipFill>
                  <a:blip r:embed="rId11"/>
                  <a:stretch>
                    <a:fillRect r="-46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F8B6BB7-DAF6-07CF-E604-6CC090444333}"/>
                    </a:ext>
                  </a:extLst>
                </p:cNvPr>
                <p:cNvSpPr txBox="1"/>
                <p:nvPr/>
              </p:nvSpPr>
              <p:spPr>
                <a:xfrm>
                  <a:off x="2967472" y="3981813"/>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𝑘</m:t>
                            </m:r>
                            <m:r>
                              <a:rPr lang="en-US" i="1">
                                <a:latin typeface="Cambria Math" panose="02040503050406030204" pitchFamily="18" charset="0"/>
                              </a:rPr>
                              <m:t>,</m:t>
                            </m:r>
                            <m:r>
                              <a:rPr lang="en-US" b="0" i="1" smtClean="0">
                                <a:latin typeface="Cambria Math" panose="02040503050406030204" pitchFamily="18" charset="0"/>
                              </a:rPr>
                              <m:t>𝑛</m:t>
                            </m:r>
                          </m:sub>
                        </m:sSub>
                      </m:oMath>
                    </m:oMathPara>
                  </a14:m>
                  <a:endParaRPr lang="en-US" dirty="0"/>
                </a:p>
              </p:txBody>
            </p:sp>
          </mc:Choice>
          <mc:Fallback xmlns="">
            <p:sp>
              <p:nvSpPr>
                <p:cNvPr id="36" name="TextBox 35">
                  <a:extLst>
                    <a:ext uri="{FF2B5EF4-FFF2-40B4-BE49-F238E27FC236}">
                      <a16:creationId xmlns:a16="http://schemas.microsoft.com/office/drawing/2014/main" id="{7F8B6BB7-DAF6-07CF-E604-6CC090444333}"/>
                    </a:ext>
                  </a:extLst>
                </p:cNvPr>
                <p:cNvSpPr txBox="1">
                  <a:spLocks noRot="1" noChangeAspect="1" noMove="1" noResize="1" noEditPoints="1" noAdjustHandles="1" noChangeArrowheads="1" noChangeShapeType="1" noTextEdit="1"/>
                </p:cNvSpPr>
                <p:nvPr/>
              </p:nvSpPr>
              <p:spPr>
                <a:xfrm>
                  <a:off x="2967472" y="3981813"/>
                  <a:ext cx="350497" cy="381515"/>
                </a:xfrm>
                <a:prstGeom prst="rect">
                  <a:avLst/>
                </a:prstGeom>
                <a:blipFill>
                  <a:blip r:embed="rId12"/>
                  <a:stretch>
                    <a:fillRect r="-4444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B1CD191-8F12-94C0-E555-B96978C277AC}"/>
                  </a:ext>
                </a:extLst>
              </p:cNvPr>
              <p:cNvSpPr txBox="1"/>
              <p:nvPr/>
            </p:nvSpPr>
            <p:spPr>
              <a:xfrm>
                <a:off x="3957566" y="4160743"/>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𝑘</m:t>
                          </m:r>
                        </m:sub>
                      </m:sSub>
                    </m:oMath>
                  </m:oMathPara>
                </a14:m>
                <a:endParaRPr lang="en-US" dirty="0"/>
              </a:p>
            </p:txBody>
          </p:sp>
        </mc:Choice>
        <mc:Fallback xmlns="">
          <p:sp>
            <p:nvSpPr>
              <p:cNvPr id="37" name="TextBox 36">
                <a:extLst>
                  <a:ext uri="{FF2B5EF4-FFF2-40B4-BE49-F238E27FC236}">
                    <a16:creationId xmlns:a16="http://schemas.microsoft.com/office/drawing/2014/main" id="{3B1CD191-8F12-94C0-E555-B96978C277AC}"/>
                  </a:ext>
                </a:extLst>
              </p:cNvPr>
              <p:cNvSpPr txBox="1">
                <a:spLocks noRot="1" noChangeAspect="1" noMove="1" noResize="1" noEditPoints="1" noAdjustHandles="1" noChangeArrowheads="1" noChangeShapeType="1" noTextEdit="1"/>
              </p:cNvSpPr>
              <p:nvPr/>
            </p:nvSpPr>
            <p:spPr>
              <a:xfrm>
                <a:off x="3957566" y="4160743"/>
                <a:ext cx="396194" cy="38151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5255F80-6318-85D5-5042-8D8FDA935A36}"/>
                  </a:ext>
                </a:extLst>
              </p:cNvPr>
              <p:cNvSpPr txBox="1"/>
              <p:nvPr/>
            </p:nvSpPr>
            <p:spPr>
              <a:xfrm>
                <a:off x="2367598" y="5576902"/>
                <a:ext cx="3886199" cy="374270"/>
              </a:xfrm>
              <a:prstGeom prst="rect">
                <a:avLst/>
              </a:prstGeom>
              <a:noFill/>
            </p:spPr>
            <p:txBody>
              <a:bodyPr wrap="square">
                <a:spAutoFit/>
              </a:bodyPr>
              <a:lstStyle/>
              <a:p>
                <a:r>
                  <a:rPr lang="zh-CN" altLang="en-US" dirty="0"/>
                  <a:t>简写的矩阵表示：</a:t>
                </a:r>
                <a14:m>
                  <m:oMath xmlns:m="http://schemas.openxmlformats.org/officeDocument/2006/math">
                    <m:sSup>
                      <m:sSupPr>
                        <m:ctrlPr>
                          <a:rPr lang="en-US" b="1" i="1">
                            <a:latin typeface="Cambria Math" panose="02040503050406030204" pitchFamily="18" charset="0"/>
                          </a:rPr>
                        </m:ctrlPr>
                      </m:sSupPr>
                      <m:e>
                        <m:r>
                          <a:rPr lang="en-US" b="1" i="0" smtClean="0">
                            <a:latin typeface="Cambria Math" panose="02040503050406030204" pitchFamily="18" charset="0"/>
                          </a:rPr>
                          <m:t>𝐳</m:t>
                        </m:r>
                      </m:e>
                      <m:sup>
                        <m:r>
                          <m:rPr>
                            <m:sty m:val="p"/>
                          </m:rPr>
                          <a:rPr lang="en-US">
                            <a:latin typeface="Cambria Math" panose="02040503050406030204" pitchFamily="18" charset="0"/>
                          </a:rPr>
                          <m:t>T</m:t>
                        </m:r>
                      </m:sup>
                    </m:sSup>
                    <m:r>
                      <a:rPr lang="en-US" b="0" i="1" smtClean="0">
                        <a:latin typeface="Cambria Math" panose="02040503050406030204" pitchFamily="18" charset="0"/>
                      </a:rPr>
                      <m:t>=</m:t>
                    </m:r>
                    <m:r>
                      <a:rPr lang="en-US" sz="1800" b="1" i="1" smtClean="0">
                        <a:latin typeface="Cambria Math" panose="02040503050406030204" pitchFamily="18" charset="0"/>
                      </a:rPr>
                      <m:t>𝒇</m:t>
                    </m:r>
                    <m:r>
                      <a:rPr lang="en-US" sz="1800" b="0" i="1" smtClean="0">
                        <a:latin typeface="Cambria Math" panose="02040503050406030204" pitchFamily="18" charset="0"/>
                      </a:rPr>
                      <m:t>(</m:t>
                    </m:r>
                    <m:r>
                      <a:rPr lang="en-US" b="1" i="0" smtClean="0">
                        <a:latin typeface="Cambria Math" panose="02040503050406030204" pitchFamily="18" charset="0"/>
                      </a:rPr>
                      <m:t>𝐖</m:t>
                    </m:r>
                    <m:sSup>
                      <m:sSupPr>
                        <m:ctrlPr>
                          <a:rPr lang="en-US" sz="1800" b="1" i="1" smtClean="0">
                            <a:latin typeface="Cambria Math" panose="02040503050406030204" pitchFamily="18" charset="0"/>
                          </a:rPr>
                        </m:ctrlPr>
                      </m:sSupPr>
                      <m:e>
                        <m:r>
                          <a:rPr lang="en-US" b="1">
                            <a:latin typeface="Cambria Math" panose="02040503050406030204" pitchFamily="18" charset="0"/>
                          </a:rPr>
                          <m:t>𝐱</m:t>
                        </m:r>
                      </m:e>
                      <m:sup>
                        <m:r>
                          <m:rPr>
                            <m:sty m:val="p"/>
                          </m:rPr>
                          <a:rPr lang="en-US" sz="1800" b="0" i="0" smtClean="0">
                            <a:latin typeface="Cambria Math" panose="02040503050406030204" pitchFamily="18" charset="0"/>
                          </a:rPr>
                          <m:t>T</m:t>
                        </m:r>
                      </m:sup>
                    </m:sSup>
                    <m:r>
                      <a:rPr lang="en-US" sz="1800" b="0" i="1" smtClean="0">
                        <a:latin typeface="Cambria Math" panose="02040503050406030204" pitchFamily="18" charset="0"/>
                      </a:rPr>
                      <m:t>+</m:t>
                    </m:r>
                    <m:sSup>
                      <m:sSupPr>
                        <m:ctrlPr>
                          <a:rPr lang="en-US" b="1" i="1">
                            <a:latin typeface="Cambria Math" panose="02040503050406030204" pitchFamily="18" charset="0"/>
                          </a:rPr>
                        </m:ctrlPr>
                      </m:sSupPr>
                      <m:e>
                        <m:r>
                          <a:rPr lang="en-US" b="1" i="0" smtClean="0">
                            <a:latin typeface="Cambria Math" panose="02040503050406030204" pitchFamily="18" charset="0"/>
                          </a:rPr>
                          <m:t>𝐛</m:t>
                        </m:r>
                      </m:e>
                      <m:sup>
                        <m:r>
                          <m:rPr>
                            <m:sty m:val="p"/>
                          </m:rPr>
                          <a:rPr lang="en-US">
                            <a:latin typeface="Cambria Math" panose="02040503050406030204" pitchFamily="18" charset="0"/>
                          </a:rPr>
                          <m:t>T</m:t>
                        </m:r>
                      </m:sup>
                    </m:sSup>
                    <m:r>
                      <a:rPr lang="en-US" sz="1800" b="0" i="1" smtClean="0">
                        <a:latin typeface="Cambria Math" panose="02040503050406030204" pitchFamily="18" charset="0"/>
                      </a:rPr>
                      <m:t>)</m:t>
                    </m:r>
                  </m:oMath>
                </a14:m>
                <a:endParaRPr lang="en-US" dirty="0"/>
              </a:p>
            </p:txBody>
          </p:sp>
        </mc:Choice>
        <mc:Fallback xmlns="">
          <p:sp>
            <p:nvSpPr>
              <p:cNvPr id="38" name="TextBox 37">
                <a:extLst>
                  <a:ext uri="{FF2B5EF4-FFF2-40B4-BE49-F238E27FC236}">
                    <a16:creationId xmlns:a16="http://schemas.microsoft.com/office/drawing/2014/main" id="{C5255F80-6318-85D5-5042-8D8FDA935A36}"/>
                  </a:ext>
                </a:extLst>
              </p:cNvPr>
              <p:cNvSpPr txBox="1">
                <a:spLocks noRot="1" noChangeAspect="1" noMove="1" noResize="1" noEditPoints="1" noAdjustHandles="1" noChangeArrowheads="1" noChangeShapeType="1" noTextEdit="1"/>
              </p:cNvSpPr>
              <p:nvPr/>
            </p:nvSpPr>
            <p:spPr>
              <a:xfrm>
                <a:off x="2367598" y="5576902"/>
                <a:ext cx="3886199" cy="374270"/>
              </a:xfrm>
              <a:prstGeom prst="rect">
                <a:avLst/>
              </a:prstGeom>
              <a:blipFill>
                <a:blip r:embed="rId14"/>
                <a:stretch>
                  <a:fillRect l="-1254" t="-13115" r="-470" b="-2131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62176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28089-813D-73E1-8A66-5F9CB38A9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792BF-86CF-795B-83DC-314E0953D57C}"/>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77C106EA-4429-E901-3CD0-7921E6C4FE70}"/>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7534EAC9-E746-AC5F-4737-B04FEF48D56C}"/>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9EAF93CA-07BB-0420-5070-E71162A845ED}"/>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8DB7E362-C8A6-BECF-3019-C3750B85EC56}"/>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F8EAA585-8EFE-C018-6952-5277F0CF1E74}"/>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0CFF158D-68E1-2FE3-4B9A-3A3C9094096D}"/>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7E1CBC28-49BD-9453-DF99-51F0A2277B0A}"/>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210543E9-3FF2-338C-D0C9-302F2BC48FF9}"/>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D8A0F2B1-C891-8BAF-243A-96B1B531B562}"/>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2E5929-332B-E293-BF78-79DA65D344A6}"/>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B72E5929-332B-E293-BF78-79DA65D344A6}"/>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FA1BB3D-BA44-1BCE-3950-F223CF792EA5}"/>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06F4652-4D20-6E8E-E5EE-4F8057AD5FF4}"/>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251FE705-D1EF-4FEB-0109-9AC8CB1A25F6}"/>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CFEEF34E-D116-9DFD-3C0B-F7AB9F6AA74A}"/>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C4C5A219-8F73-0263-60E0-769A49D3408A}"/>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CB4C5200-3696-EDFD-2F1F-6578769836F5}"/>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236957E3-F6A6-774E-E084-0146AC581A81}"/>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FE4901F-D9A3-828D-A5EC-EDEC18BF4F30}"/>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D4F1F903-6068-9BF8-BC88-ACE5304D3C6B}"/>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B3922264-F32B-C81D-D0B3-530CE90A0854}"/>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96B28BDB-57BC-0B00-783A-54B17FEB170F}"/>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69613A67-03F9-0202-AB5F-E930E37B475D}"/>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0E860971-05AE-4A91-F36D-3D8D95D2FFE9}"/>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E191C72C-5A90-80C3-1D7D-F627E38C088C}"/>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E191C72C-5A90-80C3-1D7D-F627E38C088C}"/>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86915506-88B3-F68A-7280-98F50BE521BC}"/>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86915506-88B3-F68A-7280-98F50BE521BC}"/>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AE47B12B-B871-460A-3297-7295B3A85D81}"/>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AE47B12B-B871-460A-3297-7295B3A85D81}"/>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5" name="TextBox 14">
            <a:extLst>
              <a:ext uri="{FF2B5EF4-FFF2-40B4-BE49-F238E27FC236}">
                <a16:creationId xmlns:a16="http://schemas.microsoft.com/office/drawing/2014/main" id="{A5DF4FE8-320C-1B30-37E1-C6C1FC062FD8}"/>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18" name="TextBox 17">
            <a:extLst>
              <a:ext uri="{FF2B5EF4-FFF2-40B4-BE49-F238E27FC236}">
                <a16:creationId xmlns:a16="http://schemas.microsoft.com/office/drawing/2014/main" id="{37B0360C-46C7-A32D-9426-58A2CB8238BE}"/>
              </a:ext>
            </a:extLst>
          </p:cNvPr>
          <p:cNvSpPr txBox="1"/>
          <p:nvPr/>
        </p:nvSpPr>
        <p:spPr>
          <a:xfrm>
            <a:off x="2136299" y="5601017"/>
            <a:ext cx="4871402" cy="646331"/>
          </a:xfrm>
          <a:prstGeom prst="rect">
            <a:avLst/>
          </a:prstGeom>
          <a:noFill/>
        </p:spPr>
        <p:txBody>
          <a:bodyPr wrap="square">
            <a:spAutoFit/>
          </a:bodyPr>
          <a:lstStyle/>
          <a:p>
            <a:pPr algn="ctr"/>
            <a:r>
              <a:rPr lang="zh-CN" altLang="en-US" dirty="0"/>
              <a:t>每一个隐藏层的神经细胞输出都是一个由输入特征属性变换组合而得的一个新的特征属性</a:t>
            </a:r>
            <a:endParaRPr lang="en-US" dirty="0"/>
          </a:p>
        </p:txBody>
      </p:sp>
    </p:spTree>
    <p:custDataLst>
      <p:tags r:id="rId1"/>
    </p:custDataLst>
    <p:extLst>
      <p:ext uri="{BB962C8B-B14F-4D97-AF65-F5344CB8AC3E}">
        <p14:creationId xmlns:p14="http://schemas.microsoft.com/office/powerpoint/2010/main" val="1136915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1AB05-52A2-A978-12ED-F7FF62DAB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05ED3-8B1D-0B45-B214-84A10C41BB6D}"/>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4CB5CAEE-7E9F-35E5-5EE9-C3C750A9080F}"/>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DFAC1ED8-10D6-F798-EB01-DD4FE94D5600}"/>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32035860-3B1D-CECE-855B-1307CB25E0E3}"/>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50B7E4DA-A794-42F6-0E72-7B5517FDE6B4}"/>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F4DB2AD3-F727-F39D-C291-7DFCC3511950}"/>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27C75B6F-BA0B-EC06-7B96-C950ECCF798A}"/>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4A584775-37C2-9C97-6F98-2D32ED181F1E}"/>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A78EC1A6-3EE4-6708-0255-F292A4D497B3}"/>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EDF77F69-2B50-36E0-1697-2F4FC23919F4}"/>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D9A77F2-BD58-2CB0-FF98-2C71C9FE9D17}"/>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1D9A77F2-BD58-2CB0-FF98-2C71C9FE9D17}"/>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34C8381-B6C3-2628-FC25-E6A877FF0369}"/>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F51B711-F1AC-1FE8-A8BC-6B81D831ACD8}"/>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651E823D-EB68-2623-659D-1B93FEBE2732}"/>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F6F7A0F0-CC8F-EF17-F764-D2A518B4086B}"/>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D809A160-CD94-425E-1953-A53D89A6B9F9}"/>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E462B8BB-C1AA-C4CA-8C84-120C56C5FC16}"/>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58C57832-05CE-82CC-DD56-7F4992A70C2A}"/>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BC1E3C2C-3BEB-D80A-7141-BD9728E11F11}"/>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5A173498-687E-51F9-B29D-201030F18D4A}"/>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6822B727-84D0-6F4A-0944-791093DD7FCF}"/>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46211918-4654-D9BB-3FDB-0C390F53433A}"/>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B9596A0F-6DBD-8DDC-3E34-6456BC6E6C8C}"/>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4E8C09C0-A33A-477D-ED20-A4AE36516C08}"/>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7FF26E1A-0D83-1AEF-85BE-55DA1F42E83D}"/>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20F85531-67DA-F592-9A7A-524A28DE24EB}"/>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0" name="TextBox 89">
            <a:extLst>
              <a:ext uri="{FF2B5EF4-FFF2-40B4-BE49-F238E27FC236}">
                <a16:creationId xmlns:a16="http://schemas.microsoft.com/office/drawing/2014/main" id="{33DBB086-776E-99E3-805A-CE1BFDC89C68}"/>
              </a:ext>
            </a:extLst>
          </p:cNvPr>
          <p:cNvSpPr txBox="1"/>
          <p:nvPr/>
        </p:nvSpPr>
        <p:spPr>
          <a:xfrm>
            <a:off x="5073938" y="3227117"/>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91" name="Straight Arrow Connector 90">
            <a:extLst>
              <a:ext uri="{FF2B5EF4-FFF2-40B4-BE49-F238E27FC236}">
                <a16:creationId xmlns:a16="http://schemas.microsoft.com/office/drawing/2014/main" id="{4C6075A3-0071-A1CB-0496-FDEA9767EF63}"/>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51E0B0CC-BAB7-F0E9-681F-86FFE4F5E43F}"/>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DE609445-7B2C-8737-B665-7163269998AB}"/>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635CED21-C8E6-566D-F980-6845936555EC}"/>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635CED21-C8E6-566D-F980-6845936555EC}"/>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86733066-C5B4-B2D4-1BC1-0FDBA15D9191}"/>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86733066-C5B4-B2D4-1BC1-0FDBA15D9191}"/>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09071A65-12C3-598B-7378-8F63570E649E}"/>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09071A65-12C3-598B-7378-8F63570E649E}"/>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grpSp>
        <p:nvGrpSpPr>
          <p:cNvPr id="3" name="Group 2">
            <a:extLst>
              <a:ext uri="{FF2B5EF4-FFF2-40B4-BE49-F238E27FC236}">
                <a16:creationId xmlns:a16="http://schemas.microsoft.com/office/drawing/2014/main" id="{CE70051D-71FE-89F5-8E70-40784581990C}"/>
              </a:ext>
            </a:extLst>
          </p:cNvPr>
          <p:cNvGrpSpPr/>
          <p:nvPr/>
        </p:nvGrpSpPr>
        <p:grpSpPr>
          <a:xfrm>
            <a:off x="5039334" y="2348414"/>
            <a:ext cx="403936" cy="1627205"/>
            <a:chOff x="2948864" y="2255698"/>
            <a:chExt cx="403936" cy="1627205"/>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D47D32C-3405-4D0E-EB22-416F69788F79}"/>
                    </a:ext>
                  </a:extLst>
                </p:cNvPr>
                <p:cNvSpPr txBox="1"/>
                <p:nvPr/>
              </p:nvSpPr>
              <p:spPr>
                <a:xfrm>
                  <a:off x="2956606" y="225569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1,1</m:t>
                            </m:r>
                          </m:sub>
                        </m:sSub>
                      </m:oMath>
                    </m:oMathPara>
                  </a14:m>
                  <a:endParaRPr lang="en-US" dirty="0"/>
                </a:p>
              </p:txBody>
            </p:sp>
          </mc:Choice>
          <mc:Fallback xmlns="">
            <p:sp>
              <p:nvSpPr>
                <p:cNvPr id="5" name="TextBox 4">
                  <a:extLst>
                    <a:ext uri="{FF2B5EF4-FFF2-40B4-BE49-F238E27FC236}">
                      <a16:creationId xmlns:a16="http://schemas.microsoft.com/office/drawing/2014/main" id="{9D47D32C-3405-4D0E-EB22-416F69788F79}"/>
                    </a:ext>
                  </a:extLst>
                </p:cNvPr>
                <p:cNvSpPr txBox="1">
                  <a:spLocks noRot="1" noChangeAspect="1" noMove="1" noResize="1" noEditPoints="1" noAdjustHandles="1" noChangeArrowheads="1" noChangeShapeType="1" noTextEdit="1"/>
                </p:cNvSpPr>
                <p:nvPr/>
              </p:nvSpPr>
              <p:spPr>
                <a:xfrm>
                  <a:off x="2956606" y="2255698"/>
                  <a:ext cx="396194" cy="381515"/>
                </a:xfrm>
                <a:prstGeom prst="rect">
                  <a:avLst/>
                </a:prstGeom>
                <a:blipFill>
                  <a:blip r:embed="rId10"/>
                  <a:stretch>
                    <a:fillRect r="-26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BB2B5D-DD58-7F41-574D-4AFF9D31C8DE}"/>
                    </a:ext>
                  </a:extLst>
                </p:cNvPr>
                <p:cNvSpPr txBox="1"/>
                <p:nvPr/>
              </p:nvSpPr>
              <p:spPr>
                <a:xfrm>
                  <a:off x="2959807" y="2664539"/>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2</m:t>
                            </m:r>
                          </m:sub>
                        </m:sSub>
                      </m:oMath>
                    </m:oMathPara>
                  </a14:m>
                  <a:endParaRPr lang="en-US" dirty="0"/>
                </a:p>
              </p:txBody>
            </p:sp>
          </mc:Choice>
          <mc:Fallback xmlns="">
            <p:sp>
              <p:nvSpPr>
                <p:cNvPr id="8" name="TextBox 7">
                  <a:extLst>
                    <a:ext uri="{FF2B5EF4-FFF2-40B4-BE49-F238E27FC236}">
                      <a16:creationId xmlns:a16="http://schemas.microsoft.com/office/drawing/2014/main" id="{A9BB2B5D-DD58-7F41-574D-4AFF9D31C8DE}"/>
                    </a:ext>
                  </a:extLst>
                </p:cNvPr>
                <p:cNvSpPr txBox="1">
                  <a:spLocks noRot="1" noChangeAspect="1" noMove="1" noResize="1" noEditPoints="1" noAdjustHandles="1" noChangeArrowheads="1" noChangeShapeType="1" noTextEdit="1"/>
                </p:cNvSpPr>
                <p:nvPr/>
              </p:nvSpPr>
              <p:spPr>
                <a:xfrm>
                  <a:off x="2959807" y="2664539"/>
                  <a:ext cx="350497" cy="381515"/>
                </a:xfrm>
                <a:prstGeom prst="rect">
                  <a:avLst/>
                </a:prstGeom>
                <a:blipFill>
                  <a:blip r:embed="rId11"/>
                  <a:stretch>
                    <a:fillRect r="-43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20F08F9-8AAF-E071-3ACD-56F1B78479BD}"/>
                    </a:ext>
                  </a:extLst>
                </p:cNvPr>
                <p:cNvSpPr txBox="1"/>
                <p:nvPr/>
              </p:nvSpPr>
              <p:spPr>
                <a:xfrm>
                  <a:off x="2948864" y="3501388"/>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12" name="TextBox 11">
                  <a:extLst>
                    <a:ext uri="{FF2B5EF4-FFF2-40B4-BE49-F238E27FC236}">
                      <a16:creationId xmlns:a16="http://schemas.microsoft.com/office/drawing/2014/main" id="{220F08F9-8AAF-E071-3ACD-56F1B78479BD}"/>
                    </a:ext>
                  </a:extLst>
                </p:cNvPr>
                <p:cNvSpPr txBox="1">
                  <a:spLocks noRot="1" noChangeAspect="1" noMove="1" noResize="1" noEditPoints="1" noAdjustHandles="1" noChangeArrowheads="1" noChangeShapeType="1" noTextEdit="1"/>
                </p:cNvSpPr>
                <p:nvPr/>
              </p:nvSpPr>
              <p:spPr>
                <a:xfrm>
                  <a:off x="2948864" y="3501388"/>
                  <a:ext cx="350497" cy="381515"/>
                </a:xfrm>
                <a:prstGeom prst="rect">
                  <a:avLst/>
                </a:prstGeom>
                <a:blipFill>
                  <a:blip r:embed="rId12"/>
                  <a:stretch>
                    <a:fillRect r="-4561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B42790-478D-5A09-0F96-0EED04DDE89F}"/>
                  </a:ext>
                </a:extLst>
              </p:cNvPr>
              <p:cNvSpPr txBox="1"/>
              <p:nvPr/>
            </p:nvSpPr>
            <p:spPr>
              <a:xfrm>
                <a:off x="6782141" y="2400734"/>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1</m:t>
                          </m:r>
                        </m:sub>
                      </m:sSub>
                    </m:oMath>
                  </m:oMathPara>
                </a14:m>
                <a:endParaRPr lang="en-US" dirty="0"/>
              </a:p>
            </p:txBody>
          </p:sp>
        </mc:Choice>
        <mc:Fallback xmlns="">
          <p:sp>
            <p:nvSpPr>
              <p:cNvPr id="13" name="TextBox 12">
                <a:extLst>
                  <a:ext uri="{FF2B5EF4-FFF2-40B4-BE49-F238E27FC236}">
                    <a16:creationId xmlns:a16="http://schemas.microsoft.com/office/drawing/2014/main" id="{45B42790-478D-5A09-0F96-0EED04DDE89F}"/>
                  </a:ext>
                </a:extLst>
              </p:cNvPr>
              <p:cNvSpPr txBox="1">
                <a:spLocks noRot="1" noChangeAspect="1" noMove="1" noResize="1" noEditPoints="1" noAdjustHandles="1" noChangeArrowheads="1" noChangeShapeType="1" noTextEdit="1"/>
              </p:cNvSpPr>
              <p:nvPr/>
            </p:nvSpPr>
            <p:spPr>
              <a:xfrm>
                <a:off x="6782141" y="2400734"/>
                <a:ext cx="396194" cy="38151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CBC8993-34A7-DB2C-B177-2BA96AD5C1BF}"/>
                  </a:ext>
                </a:extLst>
              </p:cNvPr>
              <p:cNvSpPr txBox="1"/>
              <p:nvPr/>
            </p:nvSpPr>
            <p:spPr>
              <a:xfrm>
                <a:off x="7099628" y="2393494"/>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𝐯</m:t>
                          </m:r>
                        </m:e>
                        <m:sub>
                          <m:r>
                            <a:rPr lang="en-US" i="1">
                              <a:latin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𝐳</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0CBC8993-34A7-DB2C-B177-2BA96AD5C1BF}"/>
                  </a:ext>
                </a:extLst>
              </p:cNvPr>
              <p:cNvSpPr txBox="1">
                <a:spLocks noRot="1" noChangeAspect="1" noMove="1" noResize="1" noEditPoints="1" noAdjustHandles="1" noChangeArrowheads="1" noChangeShapeType="1" noTextEdit="1"/>
              </p:cNvSpPr>
              <p:nvPr/>
            </p:nvSpPr>
            <p:spPr>
              <a:xfrm>
                <a:off x="7099628" y="2393494"/>
                <a:ext cx="2242502" cy="369332"/>
              </a:xfrm>
              <a:prstGeom prst="rect">
                <a:avLst/>
              </a:prstGeom>
              <a:blipFill>
                <a:blip r:embed="rId14"/>
                <a:stretch>
                  <a:fillRect b="-15000"/>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36E177D-D92D-154D-CB14-CB8A2870925E}"/>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Tree>
    <p:custDataLst>
      <p:tags r:id="rId1"/>
    </p:custDataLst>
    <p:extLst>
      <p:ext uri="{BB962C8B-B14F-4D97-AF65-F5344CB8AC3E}">
        <p14:creationId xmlns:p14="http://schemas.microsoft.com/office/powerpoint/2010/main" val="211848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13"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0997C-854A-A1A4-F5BF-41DD08281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7B940-1FFE-6D62-5DF2-708862A3E57F}"/>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47AED7B3-2D6D-0032-CC6B-F894DD275329}"/>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0BAE3D85-ED47-30BE-4F3A-1AE84D1252C9}"/>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17FEAA65-2698-5228-1C75-624A8718AC4D}"/>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24CB245-6ABB-6EC8-A382-54815DC84808}"/>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7855C6D8-EEE8-3E65-1AF4-2377310EC4AE}"/>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13316671-F760-AA4F-C135-990F47694BAC}"/>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2EF53D31-AD3B-ACB2-E798-AA35D65CF15A}"/>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5493B1FB-C985-07E0-B225-1A5021F2B918}"/>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52169F7E-B246-2166-BC5E-16A799172401}"/>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79E9FAF-D8D7-C7C7-36D7-AEA6185FAEC8}"/>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779E9FAF-D8D7-C7C7-36D7-AEA6185FAEC8}"/>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05C55F-BB9B-C909-5A73-A1EBC8803C0A}"/>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B932CD0-40D2-AC6D-BC69-F89AB0CB81C2}"/>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E38B9BAA-59A0-8816-1798-9EC85D882105}"/>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086F754D-11B4-2052-792A-DAA4152630D7}"/>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8FD1DA38-C459-ACF4-80A2-C56A1CF67B9D}"/>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F942F5DC-957D-4577-0281-FBE1F1D573B5}"/>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C00A1CB6-ABAC-1736-3B80-D860B5B0817D}"/>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8330E78-6D85-5815-A0BE-70FCC10B13DD}"/>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847DC88D-3838-C445-9048-CD4B8AC38B4E}"/>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F270227C-C35D-881D-FD7A-2023476A4957}"/>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FF3CAFB1-B20E-413D-3BEF-9E27090BD035}"/>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DA516507-2546-D4B0-F70A-087E77F5BFB1}"/>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DC3AA118-BB23-2D37-E85E-947BBCE23094}"/>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98D41485-C38F-5410-9100-F04F8FB222B5}"/>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B96F0EFC-C80E-901B-62E1-7855CC94A43F}"/>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58FD6D9D-C9DD-948F-5F23-8320BD0572DA}"/>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B58263C6-DB7A-6255-BD61-99FA50416BF5}"/>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6E69B314-59BA-D842-413B-C7E34271D3CB}"/>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2707DE21-29E2-0A4A-49FC-D2A99F8FC44A}"/>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EA6C3AA6-6165-5C87-3B7B-FED37B2B4D26}"/>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FC421936-DE99-434B-E496-997A5F9206E3}"/>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9F39764D-4259-B0CD-01DF-17DBFD21D1DC}"/>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9AC16716-B0FC-1A0B-0F3F-C1EFC515399E}"/>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A7A3E888-C5F9-6543-3571-AF53D3AE7BCA}"/>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A7A3E888-C5F9-6543-3571-AF53D3AE7BCA}"/>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EFE29DF-666A-C08F-F749-5A18F757449A}"/>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AEFE29DF-666A-C08F-F749-5A18F757449A}"/>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6951AC4D-7D15-76FB-E174-9EB6EF425861}"/>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6951AC4D-7D15-76FB-E174-9EB6EF425861}"/>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grpSp>
        <p:nvGrpSpPr>
          <p:cNvPr id="117" name="Group 116">
            <a:extLst>
              <a:ext uri="{FF2B5EF4-FFF2-40B4-BE49-F238E27FC236}">
                <a16:creationId xmlns:a16="http://schemas.microsoft.com/office/drawing/2014/main" id="{C20B3E44-5CF3-7105-0B50-4FBEEE55E4C2}"/>
              </a:ext>
            </a:extLst>
          </p:cNvPr>
          <p:cNvGrpSpPr/>
          <p:nvPr/>
        </p:nvGrpSpPr>
        <p:grpSpPr>
          <a:xfrm>
            <a:off x="5334444" y="2663328"/>
            <a:ext cx="396194" cy="1446530"/>
            <a:chOff x="2956606" y="2255698"/>
            <a:chExt cx="396194" cy="1446530"/>
          </a:xfrm>
        </p:grpSpPr>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A14FA082-1BD4-82A8-156B-D824E4B1A1A7}"/>
                    </a:ext>
                  </a:extLst>
                </p:cNvPr>
                <p:cNvSpPr txBox="1"/>
                <p:nvPr/>
              </p:nvSpPr>
              <p:spPr>
                <a:xfrm>
                  <a:off x="2956606" y="225569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2,1</m:t>
                            </m:r>
                          </m:sub>
                        </m:sSub>
                      </m:oMath>
                    </m:oMathPara>
                  </a14:m>
                  <a:endParaRPr lang="en-US" dirty="0"/>
                </a:p>
              </p:txBody>
            </p:sp>
          </mc:Choice>
          <mc:Fallback xmlns="">
            <p:sp>
              <p:nvSpPr>
                <p:cNvPr id="118" name="TextBox 117">
                  <a:extLst>
                    <a:ext uri="{FF2B5EF4-FFF2-40B4-BE49-F238E27FC236}">
                      <a16:creationId xmlns:a16="http://schemas.microsoft.com/office/drawing/2014/main" id="{A14FA082-1BD4-82A8-156B-D824E4B1A1A7}"/>
                    </a:ext>
                  </a:extLst>
                </p:cNvPr>
                <p:cNvSpPr txBox="1">
                  <a:spLocks noRot="1" noChangeAspect="1" noMove="1" noResize="1" noEditPoints="1" noAdjustHandles="1" noChangeArrowheads="1" noChangeShapeType="1" noTextEdit="1"/>
                </p:cNvSpPr>
                <p:nvPr/>
              </p:nvSpPr>
              <p:spPr>
                <a:xfrm>
                  <a:off x="2956606" y="2255698"/>
                  <a:ext cx="396194" cy="381515"/>
                </a:xfrm>
                <a:prstGeom prst="rect">
                  <a:avLst/>
                </a:prstGeom>
                <a:blipFill>
                  <a:blip r:embed="rId10"/>
                  <a:stretch>
                    <a:fillRect r="-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B7BAB57D-C498-07E3-BC5D-91129E755D64}"/>
                    </a:ext>
                  </a:extLst>
                </p:cNvPr>
                <p:cNvSpPr txBox="1"/>
                <p:nvPr/>
              </p:nvSpPr>
              <p:spPr>
                <a:xfrm>
                  <a:off x="2961628" y="2625055"/>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2</m:t>
                            </m:r>
                          </m:sub>
                        </m:sSub>
                      </m:oMath>
                    </m:oMathPara>
                  </a14:m>
                  <a:endParaRPr lang="en-US" dirty="0"/>
                </a:p>
              </p:txBody>
            </p:sp>
          </mc:Choice>
          <mc:Fallback xmlns="">
            <p:sp>
              <p:nvSpPr>
                <p:cNvPr id="119" name="TextBox 118">
                  <a:extLst>
                    <a:ext uri="{FF2B5EF4-FFF2-40B4-BE49-F238E27FC236}">
                      <a16:creationId xmlns:a16="http://schemas.microsoft.com/office/drawing/2014/main" id="{B7BAB57D-C498-07E3-BC5D-91129E755D64}"/>
                    </a:ext>
                  </a:extLst>
                </p:cNvPr>
                <p:cNvSpPr txBox="1">
                  <a:spLocks noRot="1" noChangeAspect="1" noMove="1" noResize="1" noEditPoints="1" noAdjustHandles="1" noChangeArrowheads="1" noChangeShapeType="1" noTextEdit="1"/>
                </p:cNvSpPr>
                <p:nvPr/>
              </p:nvSpPr>
              <p:spPr>
                <a:xfrm>
                  <a:off x="2961628" y="2625055"/>
                  <a:ext cx="350497" cy="381515"/>
                </a:xfrm>
                <a:prstGeom prst="rect">
                  <a:avLst/>
                </a:prstGeom>
                <a:blipFill>
                  <a:blip r:embed="rId11"/>
                  <a:stretch>
                    <a:fillRect r="-438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B58628D1-1BEB-255A-0E06-6DDD6AB31864}"/>
                    </a:ext>
                  </a:extLst>
                </p:cNvPr>
                <p:cNvSpPr txBox="1"/>
                <p:nvPr/>
              </p:nvSpPr>
              <p:spPr>
                <a:xfrm>
                  <a:off x="2956606" y="3320713"/>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120" name="TextBox 119">
                  <a:extLst>
                    <a:ext uri="{FF2B5EF4-FFF2-40B4-BE49-F238E27FC236}">
                      <a16:creationId xmlns:a16="http://schemas.microsoft.com/office/drawing/2014/main" id="{B58628D1-1BEB-255A-0E06-6DDD6AB31864}"/>
                    </a:ext>
                  </a:extLst>
                </p:cNvPr>
                <p:cNvSpPr txBox="1">
                  <a:spLocks noRot="1" noChangeAspect="1" noMove="1" noResize="1" noEditPoints="1" noAdjustHandles="1" noChangeArrowheads="1" noChangeShapeType="1" noTextEdit="1"/>
                </p:cNvSpPr>
                <p:nvPr/>
              </p:nvSpPr>
              <p:spPr>
                <a:xfrm>
                  <a:off x="2956606" y="3320713"/>
                  <a:ext cx="350497" cy="381515"/>
                </a:xfrm>
                <a:prstGeom prst="rect">
                  <a:avLst/>
                </a:prstGeom>
                <a:blipFill>
                  <a:blip r:embed="rId12"/>
                  <a:stretch>
                    <a:fillRect r="-4482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1C50BC1A-6A46-EAD7-7EA0-DE0F42030F46}"/>
                  </a:ext>
                </a:extLst>
              </p:cNvPr>
              <p:cNvSpPr txBox="1"/>
              <p:nvPr/>
            </p:nvSpPr>
            <p:spPr>
              <a:xfrm>
                <a:off x="6688065" y="2940575"/>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2</m:t>
                          </m:r>
                        </m:sub>
                      </m:sSub>
                    </m:oMath>
                  </m:oMathPara>
                </a14:m>
                <a:endParaRPr lang="en-US" dirty="0"/>
              </a:p>
            </p:txBody>
          </p:sp>
        </mc:Choice>
        <mc:Fallback xmlns="">
          <p:sp>
            <p:nvSpPr>
              <p:cNvPr id="121" name="TextBox 120">
                <a:extLst>
                  <a:ext uri="{FF2B5EF4-FFF2-40B4-BE49-F238E27FC236}">
                    <a16:creationId xmlns:a16="http://schemas.microsoft.com/office/drawing/2014/main" id="{1C50BC1A-6A46-EAD7-7EA0-DE0F42030F46}"/>
                  </a:ext>
                </a:extLst>
              </p:cNvPr>
              <p:cNvSpPr txBox="1">
                <a:spLocks noRot="1" noChangeAspect="1" noMove="1" noResize="1" noEditPoints="1" noAdjustHandles="1" noChangeArrowheads="1" noChangeShapeType="1" noTextEdit="1"/>
              </p:cNvSpPr>
              <p:nvPr/>
            </p:nvSpPr>
            <p:spPr>
              <a:xfrm>
                <a:off x="6688065" y="2940575"/>
                <a:ext cx="396194" cy="38151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DE38716D-DDDA-F1A8-F79C-2CF75E896F1F}"/>
                  </a:ext>
                </a:extLst>
              </p:cNvPr>
              <p:cNvSpPr txBox="1"/>
              <p:nvPr/>
            </p:nvSpPr>
            <p:spPr>
              <a:xfrm>
                <a:off x="7101523" y="2933335"/>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𝐯</m:t>
                          </m:r>
                        </m:e>
                        <m:sub>
                          <m:r>
                            <a:rPr lang="en-US" b="0" i="1" smtClean="0">
                              <a:latin typeface="Cambria Math" panose="02040503050406030204" pitchFamily="18" charset="0"/>
                            </a:rPr>
                            <m:t>2</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𝐳</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oMath>
                  </m:oMathPara>
                </a14:m>
                <a:endParaRPr lang="en-US" dirty="0"/>
              </a:p>
            </p:txBody>
          </p:sp>
        </mc:Choice>
        <mc:Fallback xmlns="">
          <p:sp>
            <p:nvSpPr>
              <p:cNvPr id="122" name="TextBox 121">
                <a:extLst>
                  <a:ext uri="{FF2B5EF4-FFF2-40B4-BE49-F238E27FC236}">
                    <a16:creationId xmlns:a16="http://schemas.microsoft.com/office/drawing/2014/main" id="{DE38716D-DDDA-F1A8-F79C-2CF75E896F1F}"/>
                  </a:ext>
                </a:extLst>
              </p:cNvPr>
              <p:cNvSpPr txBox="1">
                <a:spLocks noRot="1" noChangeAspect="1" noMove="1" noResize="1" noEditPoints="1" noAdjustHandles="1" noChangeArrowheads="1" noChangeShapeType="1" noTextEdit="1"/>
              </p:cNvSpPr>
              <p:nvPr/>
            </p:nvSpPr>
            <p:spPr>
              <a:xfrm>
                <a:off x="7101523" y="2933335"/>
                <a:ext cx="2242502" cy="369332"/>
              </a:xfrm>
              <a:prstGeom prst="rect">
                <a:avLst/>
              </a:prstGeom>
              <a:blipFill>
                <a:blip r:embed="rId14"/>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7C1F1032-516F-1C8C-E47C-98E27746621E}"/>
                  </a:ext>
                </a:extLst>
              </p:cNvPr>
              <p:cNvSpPr txBox="1"/>
              <p:nvPr/>
            </p:nvSpPr>
            <p:spPr>
              <a:xfrm>
                <a:off x="7099628" y="2393494"/>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𝐯</m:t>
                          </m:r>
                        </m:e>
                        <m:sub>
                          <m:r>
                            <a:rPr lang="en-US" i="1">
                              <a:latin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𝐳</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m:oMathPara>
                </a14:m>
                <a:endParaRPr lang="en-US" dirty="0"/>
              </a:p>
            </p:txBody>
          </p:sp>
        </mc:Choice>
        <mc:Fallback xmlns="">
          <p:sp>
            <p:nvSpPr>
              <p:cNvPr id="123" name="TextBox 122">
                <a:extLst>
                  <a:ext uri="{FF2B5EF4-FFF2-40B4-BE49-F238E27FC236}">
                    <a16:creationId xmlns:a16="http://schemas.microsoft.com/office/drawing/2014/main" id="{7C1F1032-516F-1C8C-E47C-98E27746621E}"/>
                  </a:ext>
                </a:extLst>
              </p:cNvPr>
              <p:cNvSpPr txBox="1">
                <a:spLocks noRot="1" noChangeAspect="1" noMove="1" noResize="1" noEditPoints="1" noAdjustHandles="1" noChangeArrowheads="1" noChangeShapeType="1" noTextEdit="1"/>
              </p:cNvSpPr>
              <p:nvPr/>
            </p:nvSpPr>
            <p:spPr>
              <a:xfrm>
                <a:off x="7099628" y="2393494"/>
                <a:ext cx="2242502" cy="369332"/>
              </a:xfrm>
              <a:prstGeom prst="rect">
                <a:avLst/>
              </a:prstGeom>
              <a:blipFill>
                <a:blip r:embed="rId15"/>
                <a:stretch>
                  <a:fillRect b="-15000"/>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72049A63-1B96-5127-4DD8-FF4D0B969A6A}"/>
              </a:ext>
            </a:extLst>
          </p:cNvPr>
          <p:cNvSpPr txBox="1"/>
          <p:nvPr/>
        </p:nvSpPr>
        <p:spPr>
          <a:xfrm>
            <a:off x="5404173" y="3460564"/>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125" name="TextBox 124">
            <a:extLst>
              <a:ext uri="{FF2B5EF4-FFF2-40B4-BE49-F238E27FC236}">
                <a16:creationId xmlns:a16="http://schemas.microsoft.com/office/drawing/2014/main" id="{EABC0913-B394-F11F-F522-C5FEF6BA2097}"/>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Tree>
    <p:custDataLst>
      <p:tags r:id="rId1"/>
    </p:custDataLst>
    <p:extLst>
      <p:ext uri="{BB962C8B-B14F-4D97-AF65-F5344CB8AC3E}">
        <p14:creationId xmlns:p14="http://schemas.microsoft.com/office/powerpoint/2010/main" val="316193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121" grpId="0"/>
      <p:bldP spid="1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B0BC-B665-B320-20AE-7A346A6E7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96B1B-DAF3-2912-6EFC-E30F282974FE}"/>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AFD93CE7-B754-3E46-C706-786585340A20}"/>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9342CC3C-07FE-8EE2-C5A9-DDAB6FB61863}"/>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024E1E63-8823-8CFF-4A77-2469CDCD3D17}"/>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4DBE1007-8C3E-B633-E16C-8054B3684B7A}"/>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3670EE78-B83E-6359-3356-3E767F8661E7}"/>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87344213-0719-1B3F-0E4F-D9CFE82EDB8F}"/>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83D54730-5641-77CE-0668-FF591A8A920C}"/>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A87BDB1E-CC9E-8DFD-02DF-63AEF26F4765}"/>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9FA2E0C6-018B-0909-1456-96E0086B37C5}"/>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50C4F6A-6D34-E0CD-6762-E71FF57F2266}"/>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D50C4F6A-6D34-E0CD-6762-E71FF57F2266}"/>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67AB2A7-E764-4ADB-F19C-F057CFC5611E}"/>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B2B9C18-1CE4-09BA-B7A9-ACFE730FB9FB}"/>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1CE3A8E1-8D2F-2F99-ECB9-EA77D34CBD66}"/>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7D303044-1BAA-B14C-81E2-E9C116C6024B}"/>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77E7C4D3-B62D-7804-6555-EEDD13D55FAB}"/>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1DBF1129-6780-3DDF-8039-51C70A5AE720}"/>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8BCE3B5B-EE74-3937-D532-97E876D75C64}"/>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C9970263-6D32-9DC4-66AC-662498FD6060}"/>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EA040CDB-16B8-E9F9-265C-BC5D97D4CB77}"/>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93C1C010-6820-224D-B1B8-9BD1535CA44D}"/>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A034E036-9B78-E8A5-B82D-8F8249E6BB46}"/>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57888D20-6B75-7912-0F4A-FA96D48AE095}"/>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C834D6F7-43AD-A3B2-1EF9-381F5E611405}"/>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B7F50649-51C8-4FA1-1672-3E76DCC9C7D5}"/>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B8312D34-0C04-8BF9-EECB-92C97B1C2B9A}"/>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AE10D61A-6325-BDAD-229F-9F9F9DDAFB91}"/>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FB067AA6-61C7-9E84-3961-C73AD47A49F1}"/>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5823A9C5-354F-F026-C70C-C99FC611EB01}"/>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9143D8D9-646F-E24A-FBBD-278AB894138D}"/>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F99919D0-D2ED-EA69-6F88-4DBFB2252830}"/>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F426A26A-8D02-B247-FC4C-AFAAF0569A95}"/>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822585ED-DABA-2F11-E658-20161A3E2498}"/>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C7B61BB8-D515-5266-83AE-D70D53737639}"/>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BF481BCC-A3BC-207A-7511-23AEBD953E1E}"/>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BF481BCC-A3BC-207A-7511-23AEBD953E1E}"/>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4BA9F88A-3E5E-0AFA-CF6F-87DEB1A7E871}"/>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4BA9F88A-3E5E-0AFA-CF6F-87DEB1A7E871}"/>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945513EE-54A0-009D-09F1-46F12910E3E4}"/>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945513EE-54A0-009D-09F1-46F12910E3E4}"/>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grpSp>
        <p:nvGrpSpPr>
          <p:cNvPr id="117" name="Group 116">
            <a:extLst>
              <a:ext uri="{FF2B5EF4-FFF2-40B4-BE49-F238E27FC236}">
                <a16:creationId xmlns:a16="http://schemas.microsoft.com/office/drawing/2014/main" id="{B9D36223-3302-7961-AD0E-3BFFD01C884A}"/>
              </a:ext>
            </a:extLst>
          </p:cNvPr>
          <p:cNvGrpSpPr/>
          <p:nvPr/>
        </p:nvGrpSpPr>
        <p:grpSpPr>
          <a:xfrm>
            <a:off x="5408388" y="3238242"/>
            <a:ext cx="410032" cy="1453054"/>
            <a:chOff x="2223361" y="2180755"/>
            <a:chExt cx="410032" cy="1453054"/>
          </a:xfrm>
        </p:grpSpPr>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C389F99B-A695-09F4-AF79-A1AE687A4C3D}"/>
                    </a:ext>
                  </a:extLst>
                </p:cNvPr>
                <p:cNvSpPr txBox="1"/>
                <p:nvPr/>
              </p:nvSpPr>
              <p:spPr>
                <a:xfrm>
                  <a:off x="2223361" y="2180755"/>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𝑙</m:t>
                            </m:r>
                            <m:r>
                              <a:rPr lang="en-US" sz="1800" b="0" i="1" smtClean="0">
                                <a:latin typeface="Cambria Math" panose="02040503050406030204" pitchFamily="18" charset="0"/>
                              </a:rPr>
                              <m:t>,1</m:t>
                            </m:r>
                          </m:sub>
                        </m:sSub>
                      </m:oMath>
                    </m:oMathPara>
                  </a14:m>
                  <a:endParaRPr lang="en-US" dirty="0"/>
                </a:p>
              </p:txBody>
            </p:sp>
          </mc:Choice>
          <mc:Fallback xmlns="">
            <p:sp>
              <p:nvSpPr>
                <p:cNvPr id="118" name="TextBox 117">
                  <a:extLst>
                    <a:ext uri="{FF2B5EF4-FFF2-40B4-BE49-F238E27FC236}">
                      <a16:creationId xmlns:a16="http://schemas.microsoft.com/office/drawing/2014/main" id="{C389F99B-A695-09F4-AF79-A1AE687A4C3D}"/>
                    </a:ext>
                  </a:extLst>
                </p:cNvPr>
                <p:cNvSpPr txBox="1">
                  <a:spLocks noRot="1" noChangeAspect="1" noMove="1" noResize="1" noEditPoints="1" noAdjustHandles="1" noChangeArrowheads="1" noChangeShapeType="1" noTextEdit="1"/>
                </p:cNvSpPr>
                <p:nvPr/>
              </p:nvSpPr>
              <p:spPr>
                <a:xfrm>
                  <a:off x="2223361" y="2180755"/>
                  <a:ext cx="396194" cy="381515"/>
                </a:xfrm>
                <a:prstGeom prst="rect">
                  <a:avLst/>
                </a:prstGeom>
                <a:blipFill>
                  <a:blip r:embed="rId10"/>
                  <a:stretch>
                    <a:fillRect r="-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920ABBD2-725F-4034-72F5-52A3AD49FD76}"/>
                    </a:ext>
                  </a:extLst>
                </p:cNvPr>
                <p:cNvSpPr txBox="1"/>
                <p:nvPr/>
              </p:nvSpPr>
              <p:spPr>
                <a:xfrm>
                  <a:off x="2255928" y="2595425"/>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𝑙</m:t>
                            </m:r>
                            <m:r>
                              <a:rPr lang="en-US" i="1">
                                <a:latin typeface="Cambria Math" panose="02040503050406030204" pitchFamily="18" charset="0"/>
                              </a:rPr>
                              <m:t>,</m:t>
                            </m:r>
                            <m:r>
                              <a:rPr lang="en-US" b="0" i="1" smtClean="0">
                                <a:latin typeface="Cambria Math" panose="02040503050406030204" pitchFamily="18" charset="0"/>
                              </a:rPr>
                              <m:t>2</m:t>
                            </m:r>
                          </m:sub>
                        </m:sSub>
                      </m:oMath>
                    </m:oMathPara>
                  </a14:m>
                  <a:endParaRPr lang="en-US" dirty="0"/>
                </a:p>
              </p:txBody>
            </p:sp>
          </mc:Choice>
          <mc:Fallback xmlns="">
            <p:sp>
              <p:nvSpPr>
                <p:cNvPr id="119" name="TextBox 118">
                  <a:extLst>
                    <a:ext uri="{FF2B5EF4-FFF2-40B4-BE49-F238E27FC236}">
                      <a16:creationId xmlns:a16="http://schemas.microsoft.com/office/drawing/2014/main" id="{920ABBD2-725F-4034-72F5-52A3AD49FD76}"/>
                    </a:ext>
                  </a:extLst>
                </p:cNvPr>
                <p:cNvSpPr txBox="1">
                  <a:spLocks noRot="1" noChangeAspect="1" noMove="1" noResize="1" noEditPoints="1" noAdjustHandles="1" noChangeArrowheads="1" noChangeShapeType="1" noTextEdit="1"/>
                </p:cNvSpPr>
                <p:nvPr/>
              </p:nvSpPr>
              <p:spPr>
                <a:xfrm>
                  <a:off x="2255928" y="2595425"/>
                  <a:ext cx="350497" cy="381515"/>
                </a:xfrm>
                <a:prstGeom prst="rect">
                  <a:avLst/>
                </a:prstGeom>
                <a:blipFill>
                  <a:blip r:embed="rId11"/>
                  <a:stretch>
                    <a:fillRect r="-350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8AFD5151-B1FA-BE36-BD49-1166A4FA9D58}"/>
                    </a:ext>
                  </a:extLst>
                </p:cNvPr>
                <p:cNvSpPr txBox="1"/>
                <p:nvPr/>
              </p:nvSpPr>
              <p:spPr>
                <a:xfrm>
                  <a:off x="2282896" y="3252294"/>
                  <a:ext cx="350497"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𝑙</m:t>
                            </m:r>
                            <m:r>
                              <a:rPr lang="en-US" i="1">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120" name="TextBox 119">
                  <a:extLst>
                    <a:ext uri="{FF2B5EF4-FFF2-40B4-BE49-F238E27FC236}">
                      <a16:creationId xmlns:a16="http://schemas.microsoft.com/office/drawing/2014/main" id="{8AFD5151-B1FA-BE36-BD49-1166A4FA9D58}"/>
                    </a:ext>
                  </a:extLst>
                </p:cNvPr>
                <p:cNvSpPr txBox="1">
                  <a:spLocks noRot="1" noChangeAspect="1" noMove="1" noResize="1" noEditPoints="1" noAdjustHandles="1" noChangeArrowheads="1" noChangeShapeType="1" noTextEdit="1"/>
                </p:cNvSpPr>
                <p:nvPr/>
              </p:nvSpPr>
              <p:spPr>
                <a:xfrm>
                  <a:off x="2282896" y="3252294"/>
                  <a:ext cx="350497" cy="381515"/>
                </a:xfrm>
                <a:prstGeom prst="rect">
                  <a:avLst/>
                </a:prstGeom>
                <a:blipFill>
                  <a:blip r:embed="rId12"/>
                  <a:stretch>
                    <a:fillRect r="-3859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082A95CB-1FE0-F4E2-AC0D-37BD52CBE153}"/>
                  </a:ext>
                </a:extLst>
              </p:cNvPr>
              <p:cNvSpPr txBox="1"/>
              <p:nvPr/>
            </p:nvSpPr>
            <p:spPr>
              <a:xfrm>
                <a:off x="6692281" y="4336218"/>
                <a:ext cx="39619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𝑙</m:t>
                          </m:r>
                        </m:sub>
                      </m:sSub>
                    </m:oMath>
                  </m:oMathPara>
                </a14:m>
                <a:endParaRPr lang="en-US" dirty="0"/>
              </a:p>
            </p:txBody>
          </p:sp>
        </mc:Choice>
        <mc:Fallback xmlns="">
          <p:sp>
            <p:nvSpPr>
              <p:cNvPr id="121" name="TextBox 120">
                <a:extLst>
                  <a:ext uri="{FF2B5EF4-FFF2-40B4-BE49-F238E27FC236}">
                    <a16:creationId xmlns:a16="http://schemas.microsoft.com/office/drawing/2014/main" id="{082A95CB-1FE0-F4E2-AC0D-37BD52CBE153}"/>
                  </a:ext>
                </a:extLst>
              </p:cNvPr>
              <p:cNvSpPr txBox="1">
                <a:spLocks noRot="1" noChangeAspect="1" noMove="1" noResize="1" noEditPoints="1" noAdjustHandles="1" noChangeArrowheads="1" noChangeShapeType="1" noTextEdit="1"/>
              </p:cNvSpPr>
              <p:nvPr/>
            </p:nvSpPr>
            <p:spPr>
              <a:xfrm>
                <a:off x="6692281" y="4336218"/>
                <a:ext cx="396194" cy="38151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59A6801F-F3D9-121B-C551-C9FFB23AD524}"/>
                  </a:ext>
                </a:extLst>
              </p:cNvPr>
              <p:cNvSpPr txBox="1"/>
              <p:nvPr/>
            </p:nvSpPr>
            <p:spPr>
              <a:xfrm>
                <a:off x="7101523" y="2933335"/>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𝐯</m:t>
                          </m:r>
                        </m:e>
                        <m:sub>
                          <m:r>
                            <a:rPr lang="en-US" b="0" i="1" smtClean="0">
                              <a:latin typeface="Cambria Math" panose="02040503050406030204" pitchFamily="18" charset="0"/>
                            </a:rPr>
                            <m:t>2</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𝐳</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oMath>
                  </m:oMathPara>
                </a14:m>
                <a:endParaRPr lang="en-US" dirty="0"/>
              </a:p>
            </p:txBody>
          </p:sp>
        </mc:Choice>
        <mc:Fallback xmlns="">
          <p:sp>
            <p:nvSpPr>
              <p:cNvPr id="122" name="TextBox 121">
                <a:extLst>
                  <a:ext uri="{FF2B5EF4-FFF2-40B4-BE49-F238E27FC236}">
                    <a16:creationId xmlns:a16="http://schemas.microsoft.com/office/drawing/2014/main" id="{59A6801F-F3D9-121B-C551-C9FFB23AD524}"/>
                  </a:ext>
                </a:extLst>
              </p:cNvPr>
              <p:cNvSpPr txBox="1">
                <a:spLocks noRot="1" noChangeAspect="1" noMove="1" noResize="1" noEditPoints="1" noAdjustHandles="1" noChangeArrowheads="1" noChangeShapeType="1" noTextEdit="1"/>
              </p:cNvSpPr>
              <p:nvPr/>
            </p:nvSpPr>
            <p:spPr>
              <a:xfrm>
                <a:off x="7101523" y="2933335"/>
                <a:ext cx="2242502" cy="369332"/>
              </a:xfrm>
              <a:prstGeom prst="rect">
                <a:avLst/>
              </a:prstGeom>
              <a:blipFill>
                <a:blip r:embed="rId14"/>
                <a:stretch>
                  <a:fillRect b="-147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717BE27E-6CA8-9A7C-C3CD-E17F13AF7A85}"/>
                  </a:ext>
                </a:extLst>
              </p:cNvPr>
              <p:cNvSpPr txBox="1"/>
              <p:nvPr/>
            </p:nvSpPr>
            <p:spPr>
              <a:xfrm>
                <a:off x="7099628" y="2393494"/>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𝐯</m:t>
                          </m:r>
                        </m:e>
                        <m:sub>
                          <m:r>
                            <a:rPr lang="en-US" i="1">
                              <a:latin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𝐳</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m:oMathPara>
                </a14:m>
                <a:endParaRPr lang="en-US" dirty="0"/>
              </a:p>
            </p:txBody>
          </p:sp>
        </mc:Choice>
        <mc:Fallback xmlns="">
          <p:sp>
            <p:nvSpPr>
              <p:cNvPr id="123" name="TextBox 122">
                <a:extLst>
                  <a:ext uri="{FF2B5EF4-FFF2-40B4-BE49-F238E27FC236}">
                    <a16:creationId xmlns:a16="http://schemas.microsoft.com/office/drawing/2014/main" id="{717BE27E-6CA8-9A7C-C3CD-E17F13AF7A85}"/>
                  </a:ext>
                </a:extLst>
              </p:cNvPr>
              <p:cNvSpPr txBox="1">
                <a:spLocks noRot="1" noChangeAspect="1" noMove="1" noResize="1" noEditPoints="1" noAdjustHandles="1" noChangeArrowheads="1" noChangeShapeType="1" noTextEdit="1"/>
              </p:cNvSpPr>
              <p:nvPr/>
            </p:nvSpPr>
            <p:spPr>
              <a:xfrm>
                <a:off x="7099628" y="2393494"/>
                <a:ext cx="2242502" cy="369332"/>
              </a:xfrm>
              <a:prstGeom prst="rect">
                <a:avLst/>
              </a:prstGeom>
              <a:blipFill>
                <a:blip r:embed="rId15"/>
                <a:stretch>
                  <a:fillRect b="-15000"/>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C1B21A41-8E20-4547-922A-6100C1509535}"/>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4FB314C3-6967-C261-224F-B7D65D04AB11}"/>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0DD8BFEF-5323-24CB-4D5C-15C275C312E0}"/>
              </a:ext>
            </a:extLst>
          </p:cNvPr>
          <p:cNvSpPr txBox="1"/>
          <p:nvPr/>
        </p:nvSpPr>
        <p:spPr>
          <a:xfrm>
            <a:off x="5477493" y="4065720"/>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A9967077-60BB-3BC2-90FE-9542BEE047F4}"/>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3C51212-44DF-F19D-3F3D-5812350F7805}"/>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7A71ED48-ED79-346D-49D2-FCEFF62EFD26}"/>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8ED3FD63-0E94-2B82-AAD0-911074F90707}"/>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3B98FEB-2EAB-E84C-71F0-6839F18FEB1C}"/>
                  </a:ext>
                </a:extLst>
              </p:cNvPr>
              <p:cNvSpPr txBox="1"/>
              <p:nvPr/>
            </p:nvSpPr>
            <p:spPr>
              <a:xfrm>
                <a:off x="7053898" y="4228837"/>
                <a:ext cx="2242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r>
                        <a:rPr lang="en-US" b="0" i="1" smtClean="0">
                          <a:latin typeface="Cambria Math" panose="02040503050406030204" pitchFamily="18" charset="0"/>
                        </a:rPr>
                        <m:t>=</m:t>
                      </m:r>
                      <m:r>
                        <a:rPr lang="en-US" sz="1800" b="0" i="1" smtClean="0">
                          <a:latin typeface="Cambria Math" panose="02040503050406030204" pitchFamily="18" charset="0"/>
                        </a:rPr>
                        <m:t>𝑔</m:t>
                      </m:r>
                      <m:r>
                        <a:rPr lang="en-US" sz="1800"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𝐯</m:t>
                          </m:r>
                        </m:e>
                        <m:sub>
                          <m:r>
                            <a:rPr lang="en-US" b="0" i="1" smtClean="0">
                              <a:latin typeface="Cambria Math" panose="02040503050406030204" pitchFamily="18" charset="0"/>
                            </a:rPr>
                            <m:t>𝑙</m:t>
                          </m:r>
                        </m:sub>
                      </m:sSub>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𝐳</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𝑑</m:t>
                          </m:r>
                        </m:e>
                        <m:sub>
                          <m:r>
                            <a:rPr lang="en-US" sz="1800" b="0" i="1" smtClean="0">
                              <a:latin typeface="Cambria Math" panose="02040503050406030204" pitchFamily="18" charset="0"/>
                            </a:rPr>
                            <m:t>𝑙</m:t>
                          </m:r>
                        </m:sub>
                      </m:sSub>
                      <m:r>
                        <a:rPr lang="en-US" sz="1800" b="0" i="1" smtClean="0">
                          <a:latin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63B98FEB-2EAB-E84C-71F0-6839F18FEB1C}"/>
                  </a:ext>
                </a:extLst>
              </p:cNvPr>
              <p:cNvSpPr txBox="1">
                <a:spLocks noRot="1" noChangeAspect="1" noMove="1" noResize="1" noEditPoints="1" noAdjustHandles="1" noChangeArrowheads="1" noChangeShapeType="1" noTextEdit="1"/>
              </p:cNvSpPr>
              <p:nvPr/>
            </p:nvSpPr>
            <p:spPr>
              <a:xfrm>
                <a:off x="7053898" y="4228837"/>
                <a:ext cx="2242502" cy="369332"/>
              </a:xfrm>
              <a:prstGeom prst="rect">
                <a:avLst/>
              </a:prstGeom>
              <a:blipFill>
                <a:blip r:embed="rId16"/>
                <a:stretch>
                  <a:fillRect b="-15000"/>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7D9F4B82-CB79-9718-8CCA-0434BB0C5661}"/>
              </a:ext>
            </a:extLst>
          </p:cNvPr>
          <p:cNvSpPr txBox="1"/>
          <p:nvPr/>
        </p:nvSpPr>
        <p:spPr>
          <a:xfrm>
            <a:off x="7674247"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6" name="TextBox 35">
            <a:extLst>
              <a:ext uri="{FF2B5EF4-FFF2-40B4-BE49-F238E27FC236}">
                <a16:creationId xmlns:a16="http://schemas.microsoft.com/office/drawing/2014/main" id="{F82DDB73-3143-EFFE-7E1D-F1D662B3E0B0}"/>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Tree>
    <p:custDataLst>
      <p:tags r:id="rId1"/>
    </p:custDataLst>
    <p:extLst>
      <p:ext uri="{BB962C8B-B14F-4D97-AF65-F5344CB8AC3E}">
        <p14:creationId xmlns:p14="http://schemas.microsoft.com/office/powerpoint/2010/main" val="227130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P spid="3" grpId="0" animBg="1"/>
      <p:bldP spid="32" grpId="0"/>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F02F2-4ED8-AB96-776F-E9A15F5C0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0DB43-B125-C1F3-F8F0-8F732D22CE14}"/>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A7703F18-E550-E14A-81AC-CAB196361145}"/>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10777E78-9211-4B42-2866-C99C831B12E4}"/>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795E57F3-73F4-9CE1-8DAB-08538F74AB6D}"/>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BC230BF4-5142-8D09-B36E-296956A02DF1}"/>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350A0BC5-580F-3F03-EACD-A7A1B3522F50}"/>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C94060B7-C4DB-DACA-7AF7-5173602E6D33}"/>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D533A79B-37D4-6DF3-692E-D9CE4C3EF9F9}"/>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FB4F70E4-B62D-1E54-6462-63EDAAFDC166}"/>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3DCBF651-9262-C974-6438-B87A8EF719BD}"/>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2A920FD-5001-64BA-1471-4A83B8ABD1F2}"/>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52A920FD-5001-64BA-1471-4A83B8ABD1F2}"/>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7F27A0-86CC-00BB-5F1A-155C882E33DC}"/>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F3CE9E7-6623-4F7D-1B20-A6BC27E8F574}"/>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E3AD145E-7D73-C618-EA82-135E5323E4D1}"/>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EFA958F6-FEF3-4C03-7F0B-1F08850A5939}"/>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2BCBFB91-22BB-ED98-EA46-DE5CEDE9D250}"/>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97C45DFA-4CB6-C1AD-A040-1DA9BD2BD693}"/>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BFD44492-EDB4-3B33-8CF1-37EDC92E6A4C}"/>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4789E829-315A-4A2B-08A8-9185395A2CB1}"/>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ABA65792-5D56-3A73-088A-85B26A0BB474}"/>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CCAC83DB-CB3E-1ADF-CFC4-25A35C4FA174}"/>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B1E92309-EB6A-093D-9208-024252EE33FF}"/>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A8B38009-1FDD-1737-9BDC-C2D7A7F4E01D}"/>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BBBF1285-59D7-1542-BB28-81B31C343D51}"/>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B9A61B4B-2A96-1CDC-7406-13E0F48A71B2}"/>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220C9973-3C77-5643-271A-DF9AC23415B6}"/>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54DDDB25-2B68-F097-09E6-597C78E67694}"/>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F45D822F-A511-6A19-186B-043118A67DBD}"/>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C0E75E80-DF23-03D3-1975-329C02DFF0DB}"/>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3BB3EB76-35BF-140E-BC96-63ADB256ACC8}"/>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B736CEBD-0C41-B947-4F50-16DF45BCA732}"/>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0ACCDAF8-3239-6CDA-4B87-78DA6D3A5A36}"/>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0300858D-E07B-8080-20E1-926477C6B34B}"/>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5D86FA05-11D5-E2B7-D62A-FE71A9402332}"/>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91261F5C-0B53-A632-B845-D1662B45812A}"/>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91261F5C-0B53-A632-B845-D1662B45812A}"/>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6C1B6E1B-BB7E-02B3-D240-F8BBED8DE1FE}"/>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6C1B6E1B-BB7E-02B3-D240-F8BBED8DE1FE}"/>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90D12BD7-5B77-03C5-5F9D-167B15C40439}"/>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90D12BD7-5B77-03C5-5F9D-167B15C40439}"/>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3A80453-7E0D-652E-1D90-61CB6F72D97C}"/>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122" name="TextBox 121">
                <a:extLst>
                  <a:ext uri="{FF2B5EF4-FFF2-40B4-BE49-F238E27FC236}">
                    <a16:creationId xmlns:a16="http://schemas.microsoft.com/office/drawing/2014/main" id="{03A80453-7E0D-652E-1D90-61CB6F72D97C}"/>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16D3FCB8-8CF7-3D99-DE16-E6F12318CC63}"/>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123" name="TextBox 122">
                <a:extLst>
                  <a:ext uri="{FF2B5EF4-FFF2-40B4-BE49-F238E27FC236}">
                    <a16:creationId xmlns:a16="http://schemas.microsoft.com/office/drawing/2014/main" id="{16D3FCB8-8CF7-3D99-DE16-E6F12318CC63}"/>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6C30DBA4-A91B-8B52-1016-F74D8D064800}"/>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77E4ECBA-0614-88D0-43DD-64DBAEF5F289}"/>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ED670000-707D-A5A5-8239-14E1CE9F1E77}"/>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BB60138D-271F-E579-9285-E8C083AB3448}"/>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73E52506-09E8-1E0A-BF31-03FC7882E493}"/>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A1B64D99-0608-BAFA-69B8-88A539D337F3}"/>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20685B2D-CE34-0CF1-D0A9-41B6627B7138}"/>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18C45FC-92C2-D7C3-CDB4-237D34DD34B2}"/>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2" name="TextBox 31">
                <a:extLst>
                  <a:ext uri="{FF2B5EF4-FFF2-40B4-BE49-F238E27FC236}">
                    <a16:creationId xmlns:a16="http://schemas.microsoft.com/office/drawing/2014/main" id="{918C45FC-92C2-D7C3-CDB4-237D34DD34B2}"/>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DD32B06-427B-BCB3-329C-AFD31D7C5F7D}"/>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3FBFF85-31AC-664F-54F0-D9AC7F21EB73}"/>
                  </a:ext>
                </a:extLst>
              </p:cNvPr>
              <p:cNvSpPr txBox="1"/>
              <p:nvPr/>
            </p:nvSpPr>
            <p:spPr>
              <a:xfrm>
                <a:off x="2367598" y="5576902"/>
                <a:ext cx="6314062" cy="374270"/>
              </a:xfrm>
              <a:prstGeom prst="rect">
                <a:avLst/>
              </a:prstGeom>
              <a:noFill/>
            </p:spPr>
            <p:txBody>
              <a:bodyPr wrap="square">
                <a:spAutoFit/>
              </a:bodyPr>
              <a:lstStyle/>
              <a:p>
                <a:r>
                  <a:rPr lang="zh-CN" altLang="en-US" dirty="0"/>
                  <a:t>简写的矩阵表示：</a:t>
                </a:r>
                <a14:m>
                  <m:oMath xmlns:m="http://schemas.openxmlformats.org/officeDocument/2006/math">
                    <m:sSup>
                      <m:sSupPr>
                        <m:ctrlPr>
                          <a:rPr lang="en-US" b="1" i="1">
                            <a:latin typeface="Cambria Math" panose="02040503050406030204" pitchFamily="18" charset="0"/>
                          </a:rPr>
                        </m:ctrlPr>
                      </m:sSupPr>
                      <m:e>
                        <m:r>
                          <a:rPr lang="en-US" b="1" i="1" smtClean="0">
                            <a:latin typeface="Cambria Math" panose="02040503050406030204" pitchFamily="18" charset="0"/>
                          </a:rPr>
                          <m:t>𝒚</m:t>
                        </m:r>
                      </m:e>
                      <m:sup>
                        <m:r>
                          <m:rPr>
                            <m:sty m:val="p"/>
                          </m:rPr>
                          <a:rPr lang="en-US">
                            <a:latin typeface="Cambria Math" panose="02040503050406030204" pitchFamily="18" charset="0"/>
                          </a:rPr>
                          <m:t>T</m:t>
                        </m:r>
                      </m:sup>
                    </m:sSup>
                    <m:r>
                      <a:rPr lang="en-US" b="0" i="1" smtClean="0">
                        <a:latin typeface="Cambria Math" panose="02040503050406030204" pitchFamily="18" charset="0"/>
                      </a:rPr>
                      <m:t>=</m:t>
                    </m:r>
                    <m:r>
                      <a:rPr lang="en-US" sz="1800" b="1" i="1" smtClean="0">
                        <a:latin typeface="Cambria Math" panose="02040503050406030204" pitchFamily="18" charset="0"/>
                      </a:rPr>
                      <m:t>𝒈</m:t>
                    </m:r>
                    <m:r>
                      <a:rPr lang="en-US" sz="1800" b="1" i="1" smtClean="0">
                        <a:latin typeface="Cambria Math" panose="02040503050406030204" pitchFamily="18" charset="0"/>
                      </a:rPr>
                      <m:t>(</m:t>
                    </m:r>
                    <m:r>
                      <a:rPr lang="en-US" b="1" i="0" smtClean="0">
                        <a:latin typeface="Cambria Math" panose="02040503050406030204" pitchFamily="18" charset="0"/>
                      </a:rPr>
                      <m:t>𝐕</m:t>
                    </m:r>
                    <m:sSup>
                      <m:sSupPr>
                        <m:ctrlPr>
                          <a:rPr lang="en-US" sz="1800" b="1" i="1" smtClean="0">
                            <a:latin typeface="Cambria Math" panose="02040503050406030204" pitchFamily="18" charset="0"/>
                          </a:rPr>
                        </m:ctrlPr>
                      </m:sSupPr>
                      <m:e>
                        <m:r>
                          <a:rPr lang="en-US" b="1" i="0" smtClean="0">
                            <a:latin typeface="Cambria Math" panose="02040503050406030204" pitchFamily="18" charset="0"/>
                          </a:rPr>
                          <m:t>𝐳</m:t>
                        </m:r>
                      </m:e>
                      <m:sup>
                        <m:r>
                          <m:rPr>
                            <m:sty m:val="p"/>
                          </m:rPr>
                          <a:rPr lang="en-US" sz="1800" b="0" i="0" smtClean="0">
                            <a:latin typeface="Cambria Math" panose="02040503050406030204" pitchFamily="18" charset="0"/>
                          </a:rPr>
                          <m:t>T</m:t>
                        </m:r>
                      </m:sup>
                    </m:sSup>
                    <m:r>
                      <a:rPr lang="en-US" sz="1800" b="0" i="1" smtClean="0">
                        <a:latin typeface="Cambria Math" panose="02040503050406030204" pitchFamily="18" charset="0"/>
                      </a:rPr>
                      <m:t>+</m:t>
                    </m:r>
                    <m:sSup>
                      <m:sSupPr>
                        <m:ctrlPr>
                          <a:rPr lang="en-US" b="1" i="1">
                            <a:latin typeface="Cambria Math" panose="02040503050406030204" pitchFamily="18" charset="0"/>
                          </a:rPr>
                        </m:ctrlPr>
                      </m:sSupPr>
                      <m:e>
                        <m:r>
                          <a:rPr lang="en-US" b="1" i="0" smtClean="0">
                            <a:latin typeface="Cambria Math" panose="02040503050406030204" pitchFamily="18" charset="0"/>
                          </a:rPr>
                          <m:t>𝐝</m:t>
                        </m:r>
                      </m:e>
                      <m:sup>
                        <m:r>
                          <m:rPr>
                            <m:sty m:val="p"/>
                          </m:rPr>
                          <a:rPr lang="en-US">
                            <a:latin typeface="Cambria Math" panose="02040503050406030204" pitchFamily="18" charset="0"/>
                          </a:rPr>
                          <m:t>T</m:t>
                        </m:r>
                      </m:sup>
                    </m:sSup>
                    <m:r>
                      <a:rPr lang="en-US" sz="1800" b="0" i="1" smtClean="0">
                        <a:latin typeface="Cambria Math" panose="02040503050406030204" pitchFamily="18" charset="0"/>
                      </a:rPr>
                      <m:t>)</m:t>
                    </m:r>
                  </m:oMath>
                </a14:m>
                <a:endParaRPr lang="en-US" dirty="0"/>
              </a:p>
            </p:txBody>
          </p:sp>
        </mc:Choice>
        <mc:Fallback xmlns="">
          <p:sp>
            <p:nvSpPr>
              <p:cNvPr id="13" name="TextBox 12">
                <a:extLst>
                  <a:ext uri="{FF2B5EF4-FFF2-40B4-BE49-F238E27FC236}">
                    <a16:creationId xmlns:a16="http://schemas.microsoft.com/office/drawing/2014/main" id="{03FBFF85-31AC-664F-54F0-D9AC7F21EB73}"/>
                  </a:ext>
                </a:extLst>
              </p:cNvPr>
              <p:cNvSpPr txBox="1">
                <a:spLocks noRot="1" noChangeAspect="1" noMove="1" noResize="1" noEditPoints="1" noAdjustHandles="1" noChangeArrowheads="1" noChangeShapeType="1" noTextEdit="1"/>
              </p:cNvSpPr>
              <p:nvPr/>
            </p:nvSpPr>
            <p:spPr>
              <a:xfrm>
                <a:off x="2367598" y="5576902"/>
                <a:ext cx="6314062" cy="374270"/>
              </a:xfrm>
              <a:prstGeom prst="rect">
                <a:avLst/>
              </a:prstGeom>
              <a:blipFill>
                <a:blip r:embed="rId13"/>
                <a:stretch>
                  <a:fillRect l="-772" t="-1311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AB873B3-0E25-6EAB-39A7-37407D7FD84D}"/>
                  </a:ext>
                </a:extLst>
              </p:cNvPr>
              <p:cNvSpPr txBox="1"/>
              <p:nvPr/>
            </p:nvSpPr>
            <p:spPr>
              <a:xfrm>
                <a:off x="6002837" y="5571839"/>
                <a:ext cx="2845888" cy="3742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sz="1800" b="1" i="1" smtClean="0">
                          <a:latin typeface="Cambria Math" panose="02040503050406030204" pitchFamily="18" charset="0"/>
                        </a:rPr>
                        <m:t>𝒈</m:t>
                      </m:r>
                      <m:r>
                        <a:rPr lang="en-US" sz="1800" b="1" i="1" smtClean="0">
                          <a:latin typeface="Cambria Math" panose="02040503050406030204" pitchFamily="18" charset="0"/>
                        </a:rPr>
                        <m:t>(</m:t>
                      </m:r>
                      <m:r>
                        <a:rPr lang="en-US" b="1" i="0" smtClean="0">
                          <a:latin typeface="Cambria Math" panose="02040503050406030204" pitchFamily="18" charset="0"/>
                        </a:rPr>
                        <m:t>𝐕</m:t>
                      </m:r>
                      <m:r>
                        <a:rPr lang="en-US" b="1" i="1">
                          <a:latin typeface="Cambria Math" panose="02040503050406030204" pitchFamily="18" charset="0"/>
                        </a:rPr>
                        <m:t>𝒇</m:t>
                      </m:r>
                      <m:r>
                        <a:rPr lang="en-US" i="1">
                          <a:latin typeface="Cambria Math" panose="02040503050406030204" pitchFamily="18" charset="0"/>
                        </a:rPr>
                        <m:t>(</m:t>
                      </m:r>
                      <m:r>
                        <a:rPr lang="en-US" b="1">
                          <a:latin typeface="Cambria Math" panose="02040503050406030204" pitchFamily="18" charset="0"/>
                        </a:rPr>
                        <m:t>𝐖</m:t>
                      </m:r>
                      <m:sSup>
                        <m:sSupPr>
                          <m:ctrlPr>
                            <a:rPr lang="en-US" b="1" i="1">
                              <a:latin typeface="Cambria Math" panose="02040503050406030204" pitchFamily="18" charset="0"/>
                            </a:rPr>
                          </m:ctrlPr>
                        </m:sSupPr>
                        <m:e>
                          <m:r>
                            <a:rPr lang="en-US" b="1">
                              <a:latin typeface="Cambria Math" panose="02040503050406030204" pitchFamily="18" charset="0"/>
                            </a:rPr>
                            <m:t>𝐱</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𝐛</m:t>
                          </m:r>
                        </m:e>
                        <m:sup>
                          <m:r>
                            <m:rPr>
                              <m:sty m:val="p"/>
                            </m:rPr>
                            <a:rPr lang="en-US">
                              <a:latin typeface="Cambria Math" panose="02040503050406030204" pitchFamily="18" charset="0"/>
                            </a:rPr>
                            <m:t>T</m:t>
                          </m:r>
                        </m:sup>
                      </m:sSup>
                      <m:r>
                        <a:rPr lang="en-US" i="1">
                          <a:latin typeface="Cambria Math" panose="02040503050406030204" pitchFamily="18" charset="0"/>
                        </a:rPr>
                        <m:t>)</m:t>
                      </m:r>
                      <m:r>
                        <a:rPr lang="en-US" sz="1800" b="0" i="1" smtClean="0">
                          <a:latin typeface="Cambria Math" panose="02040503050406030204" pitchFamily="18" charset="0"/>
                        </a:rPr>
                        <m:t>+</m:t>
                      </m:r>
                      <m:sSup>
                        <m:sSupPr>
                          <m:ctrlPr>
                            <a:rPr lang="en-US" b="1" i="1">
                              <a:latin typeface="Cambria Math" panose="02040503050406030204" pitchFamily="18" charset="0"/>
                            </a:rPr>
                          </m:ctrlPr>
                        </m:sSupPr>
                        <m:e>
                          <m:r>
                            <a:rPr lang="en-US" b="1" i="0" smtClean="0">
                              <a:latin typeface="Cambria Math" panose="02040503050406030204" pitchFamily="18" charset="0"/>
                            </a:rPr>
                            <m:t>𝐝</m:t>
                          </m:r>
                        </m:e>
                        <m:sup>
                          <m:r>
                            <m:rPr>
                              <m:sty m:val="p"/>
                            </m:rPr>
                            <a:rPr lang="en-US">
                              <a:latin typeface="Cambria Math" panose="02040503050406030204" pitchFamily="18" charset="0"/>
                            </a:rPr>
                            <m:t>T</m:t>
                          </m:r>
                        </m:sup>
                      </m:sSup>
                      <m:r>
                        <a:rPr lang="en-US" sz="1800"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2AB873B3-0E25-6EAB-39A7-37407D7FD84D}"/>
                  </a:ext>
                </a:extLst>
              </p:cNvPr>
              <p:cNvSpPr txBox="1">
                <a:spLocks noRot="1" noChangeAspect="1" noMove="1" noResize="1" noEditPoints="1" noAdjustHandles="1" noChangeArrowheads="1" noChangeShapeType="1" noTextEdit="1"/>
              </p:cNvSpPr>
              <p:nvPr/>
            </p:nvSpPr>
            <p:spPr>
              <a:xfrm>
                <a:off x="6002837" y="5571839"/>
                <a:ext cx="2845888" cy="374270"/>
              </a:xfrm>
              <a:prstGeom prst="rect">
                <a:avLst/>
              </a:prstGeom>
              <a:blipFill>
                <a:blip r:embed="rId14"/>
                <a:stretch>
                  <a:fillRect b="-16393"/>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3F455E3A-1679-F615-21DF-683FF15C1E61}"/>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23" name="TextBox 22">
            <a:extLst>
              <a:ext uri="{FF2B5EF4-FFF2-40B4-BE49-F238E27FC236}">
                <a16:creationId xmlns:a16="http://schemas.microsoft.com/office/drawing/2014/main" id="{300D2804-D33D-7DC2-C86B-7EC630E95A3F}"/>
              </a:ext>
            </a:extLst>
          </p:cNvPr>
          <p:cNvSpPr txBox="1"/>
          <p:nvPr/>
        </p:nvSpPr>
        <p:spPr>
          <a:xfrm>
            <a:off x="2136299" y="6107668"/>
            <a:ext cx="4871402" cy="369332"/>
          </a:xfrm>
          <a:prstGeom prst="rect">
            <a:avLst/>
          </a:prstGeom>
          <a:noFill/>
        </p:spPr>
        <p:txBody>
          <a:bodyPr wrap="square">
            <a:spAutoFit/>
          </a:bodyPr>
          <a:lstStyle/>
          <a:p>
            <a:pPr algn="ctr"/>
            <a:r>
              <a:rPr lang="zh-CN" altLang="en-US" dirty="0"/>
              <a:t>激活函数必须是非线性的</a:t>
            </a:r>
            <a:endParaRPr lang="en-US" dirty="0"/>
          </a:p>
        </p:txBody>
      </p:sp>
      <p:sp>
        <p:nvSpPr>
          <p:cNvPr id="27" name="TextBox 26">
            <a:extLst>
              <a:ext uri="{FF2B5EF4-FFF2-40B4-BE49-F238E27FC236}">
                <a16:creationId xmlns:a16="http://schemas.microsoft.com/office/drawing/2014/main" id="{46EF8650-EFB6-4B63-A5FD-BF781E17ED67}"/>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Tree>
    <p:custDataLst>
      <p:tags r:id="rId1"/>
    </p:custDataLst>
    <p:extLst>
      <p:ext uri="{BB962C8B-B14F-4D97-AF65-F5344CB8AC3E}">
        <p14:creationId xmlns:p14="http://schemas.microsoft.com/office/powerpoint/2010/main" val="95735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F1C19-99FA-97F2-AD2A-EF02346D6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866DA-970A-B05D-F100-43021607EED4}"/>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三</a:t>
            </a:r>
            <a:r>
              <a:rPr lang="zh-CN" altLang="en-US" dirty="0">
                <a:ea typeface="ＭＳ Ｐゴシック" panose="020B0600070205080204" pitchFamily="34" charset="-128"/>
              </a:rPr>
              <a:t>层感知器</a:t>
            </a:r>
            <a:endParaRPr lang="zh-CN" altLang="en-US" dirty="0"/>
          </a:p>
        </p:txBody>
      </p:sp>
      <p:sp>
        <p:nvSpPr>
          <p:cNvPr id="17" name="Oval 16">
            <a:extLst>
              <a:ext uri="{FF2B5EF4-FFF2-40B4-BE49-F238E27FC236}">
                <a16:creationId xmlns:a16="http://schemas.microsoft.com/office/drawing/2014/main" id="{DEEC413F-1BFF-5A94-D3A4-0B0FEABF8863}"/>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AE01A2CA-147C-E10E-120A-D62751AE2F3E}"/>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C452AC76-E35D-736F-2DF2-9FC50D9ED8EA}"/>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353E878C-C448-9688-3562-69BFA01D9BF4}"/>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A3640BCA-9FEB-129D-FDD0-F595E8CB6F18}"/>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F97A2B8C-6C60-F0C1-D45C-FC4971C6A48B}"/>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15ECB5AF-4AF3-E208-8692-2F59BF411E2E}"/>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21AFDA41-C87E-7AF8-2738-0C087780FDE7}"/>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6EE25A24-311D-8D44-39FC-FC35812487A9}"/>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13C3322-1356-FD25-68C1-174E94D8F209}"/>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313C3322-1356-FD25-68C1-174E94D8F209}"/>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90FB60-4523-4D10-6FC3-4AAA5B70C5CC}"/>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CD86852-7E67-A587-9B3E-5F689288E7DE}"/>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A150E6E8-B05D-33DB-1FAB-55C5B9B05A3E}"/>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61D3A835-39E0-0ED3-B15E-975A8D453669}"/>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40CC9A8C-7CFF-6961-AD73-E56F536A09DE}"/>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EA32E519-B271-E19C-BA15-C1AB083B53CB}"/>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C24F0D-5F4B-664D-D369-718A0D8998E3}"/>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1C09381A-E85E-0531-686C-E597E3ABCF05}"/>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6DB631A0-5093-8101-C241-C01E413F7957}"/>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0339C62D-5493-1CCF-D5A0-AF097A8E3EA3}"/>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4218321A-6685-A586-D94C-CE6278E98EC8}"/>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438E33D1-CBA2-9D3C-11C9-0CBBE8AFF5EB}"/>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34CF10BF-816B-BD6B-0244-9F7BC4A88887}"/>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31EAAE74-2F3F-7FE1-A630-BFCB8C2AEAC5}"/>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58E4B49B-A586-10C1-66EA-2322AF6B7E09}"/>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C193026E-5350-A4C6-A064-21469730B1E5}"/>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59792A51-09A8-877F-08FE-6F97E2FA865D}"/>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F913E758-F7F5-1789-9632-6E134873457B}"/>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28F58DE8-3F5F-7412-3124-ED1756AD3A21}"/>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6F464B3F-E710-D3A9-C079-B3B2CF382565}"/>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3216E37B-F972-AD7F-9F73-4B2A48EF1A35}"/>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42540E31-0464-FC22-6AE3-89529C838296}"/>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12C54CD9-FF98-FA5D-AC02-E1C707ADFA08}"/>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AEA5F269-DDA7-7FBA-36A4-0D99F35A3B93}"/>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AEA5F269-DDA7-7FBA-36A4-0D99F35A3B93}"/>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B7410971-6476-D7B8-59AA-E6F5AEEE8913}"/>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B7410971-6476-D7B8-59AA-E6F5AEEE8913}"/>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44E98EF-3397-252F-D264-E5209A00C8D0}"/>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244E98EF-3397-252F-D264-E5209A00C8D0}"/>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FC5C8A05-85E6-0C85-7039-4F6B5F8909BA}"/>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122" name="TextBox 121">
                <a:extLst>
                  <a:ext uri="{FF2B5EF4-FFF2-40B4-BE49-F238E27FC236}">
                    <a16:creationId xmlns:a16="http://schemas.microsoft.com/office/drawing/2014/main" id="{FC5C8A05-85E6-0C85-7039-4F6B5F8909BA}"/>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9CF904E2-A572-C396-C53A-0599632E213A}"/>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123" name="TextBox 122">
                <a:extLst>
                  <a:ext uri="{FF2B5EF4-FFF2-40B4-BE49-F238E27FC236}">
                    <a16:creationId xmlns:a16="http://schemas.microsoft.com/office/drawing/2014/main" id="{9CF904E2-A572-C396-C53A-0599632E213A}"/>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949431CB-89EB-585F-8A79-EF80CDAE6A7A}"/>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480A6B39-A62D-02BA-DF49-773A1B817EB5}"/>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884C95EE-B427-F8CC-D3C5-65F93975A718}"/>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B88B895E-6464-5A59-CA6A-DC70A36CD360}"/>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5E7DE4B-513A-919A-B943-10E11B61409B}"/>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D310AD6F-3F79-D780-9756-CCB4415E7649}"/>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79527744-1673-D0B3-CE66-838E69E6BEF9}"/>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0A2358F-EFF4-B73D-B81F-51E60DD127F1}"/>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2" name="TextBox 31">
                <a:extLst>
                  <a:ext uri="{FF2B5EF4-FFF2-40B4-BE49-F238E27FC236}">
                    <a16:creationId xmlns:a16="http://schemas.microsoft.com/office/drawing/2014/main" id="{30A2358F-EFF4-B73D-B81F-51E60DD127F1}"/>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D985C2D-92D9-1E51-7303-3E2B4398CE62}"/>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46C487-8101-32E7-AD02-4A6239E4EED9}"/>
                  </a:ext>
                </a:extLst>
              </p:cNvPr>
              <p:cNvSpPr txBox="1"/>
              <p:nvPr/>
            </p:nvSpPr>
            <p:spPr>
              <a:xfrm>
                <a:off x="2367598" y="5576902"/>
                <a:ext cx="6314062" cy="374270"/>
              </a:xfrm>
              <a:prstGeom prst="rect">
                <a:avLst/>
              </a:prstGeom>
              <a:noFill/>
            </p:spPr>
            <p:txBody>
              <a:bodyPr wrap="square">
                <a:spAutoFit/>
              </a:bodyPr>
              <a:lstStyle/>
              <a:p>
                <a:r>
                  <a:rPr lang="zh-CN" altLang="en-US" dirty="0"/>
                  <a:t>简写的矩阵表示：</a:t>
                </a:r>
                <a14:m>
                  <m:oMath xmlns:m="http://schemas.openxmlformats.org/officeDocument/2006/math">
                    <m:sSup>
                      <m:sSupPr>
                        <m:ctrlPr>
                          <a:rPr lang="en-US" b="1" i="1">
                            <a:latin typeface="Cambria Math" panose="02040503050406030204" pitchFamily="18" charset="0"/>
                          </a:rPr>
                        </m:ctrlPr>
                      </m:sSupPr>
                      <m:e>
                        <m:r>
                          <a:rPr lang="en-US" b="1" i="1" smtClean="0">
                            <a:latin typeface="Cambria Math" panose="02040503050406030204" pitchFamily="18" charset="0"/>
                          </a:rPr>
                          <m:t>𝒚</m:t>
                        </m:r>
                      </m:e>
                      <m:sup>
                        <m:r>
                          <m:rPr>
                            <m:sty m:val="p"/>
                          </m:rPr>
                          <a:rPr lang="en-US">
                            <a:latin typeface="Cambria Math" panose="02040503050406030204" pitchFamily="18" charset="0"/>
                          </a:rPr>
                          <m:t>T</m:t>
                        </m:r>
                      </m:sup>
                    </m:sSup>
                    <m:r>
                      <a:rPr lang="en-US" b="0" i="1" smtClean="0">
                        <a:latin typeface="Cambria Math" panose="02040503050406030204" pitchFamily="18" charset="0"/>
                      </a:rPr>
                      <m:t>=</m:t>
                    </m:r>
                    <m:r>
                      <a:rPr lang="en-US" sz="1800" b="1" i="1" smtClean="0">
                        <a:latin typeface="Cambria Math" panose="02040503050406030204" pitchFamily="18" charset="0"/>
                      </a:rPr>
                      <m:t>𝒈</m:t>
                    </m:r>
                    <m:r>
                      <a:rPr lang="en-US" sz="1800" b="1" i="1" smtClean="0">
                        <a:latin typeface="Cambria Math" panose="02040503050406030204" pitchFamily="18" charset="0"/>
                      </a:rPr>
                      <m:t>(</m:t>
                    </m:r>
                    <m:r>
                      <a:rPr lang="en-US" b="1" i="0" smtClean="0">
                        <a:latin typeface="Cambria Math" panose="02040503050406030204" pitchFamily="18" charset="0"/>
                      </a:rPr>
                      <m:t>𝐕</m:t>
                    </m:r>
                    <m:sSup>
                      <m:sSupPr>
                        <m:ctrlPr>
                          <a:rPr lang="en-US" sz="1800" b="1" i="1" smtClean="0">
                            <a:latin typeface="Cambria Math" panose="02040503050406030204" pitchFamily="18" charset="0"/>
                          </a:rPr>
                        </m:ctrlPr>
                      </m:sSupPr>
                      <m:e>
                        <m:r>
                          <a:rPr lang="en-US" b="1" i="0" smtClean="0">
                            <a:latin typeface="Cambria Math" panose="02040503050406030204" pitchFamily="18" charset="0"/>
                          </a:rPr>
                          <m:t>𝐳</m:t>
                        </m:r>
                      </m:e>
                      <m:sup>
                        <m:r>
                          <m:rPr>
                            <m:sty m:val="p"/>
                          </m:rPr>
                          <a:rPr lang="en-US" sz="1800" b="0" i="0" smtClean="0">
                            <a:latin typeface="Cambria Math" panose="02040503050406030204" pitchFamily="18" charset="0"/>
                          </a:rPr>
                          <m:t>T</m:t>
                        </m:r>
                      </m:sup>
                    </m:sSup>
                    <m:r>
                      <a:rPr lang="en-US" sz="1800" b="0" i="1" smtClean="0">
                        <a:latin typeface="Cambria Math" panose="02040503050406030204" pitchFamily="18" charset="0"/>
                      </a:rPr>
                      <m:t>+</m:t>
                    </m:r>
                    <m:sSup>
                      <m:sSupPr>
                        <m:ctrlPr>
                          <a:rPr lang="en-US" b="1" i="1">
                            <a:latin typeface="Cambria Math" panose="02040503050406030204" pitchFamily="18" charset="0"/>
                          </a:rPr>
                        </m:ctrlPr>
                      </m:sSupPr>
                      <m:e>
                        <m:r>
                          <a:rPr lang="en-US" b="1" i="0" smtClean="0">
                            <a:latin typeface="Cambria Math" panose="02040503050406030204" pitchFamily="18" charset="0"/>
                          </a:rPr>
                          <m:t>𝐝</m:t>
                        </m:r>
                      </m:e>
                      <m:sup>
                        <m:r>
                          <m:rPr>
                            <m:sty m:val="p"/>
                          </m:rPr>
                          <a:rPr lang="en-US">
                            <a:latin typeface="Cambria Math" panose="02040503050406030204" pitchFamily="18" charset="0"/>
                          </a:rPr>
                          <m:t>T</m:t>
                        </m:r>
                      </m:sup>
                    </m:sSup>
                    <m:r>
                      <a:rPr lang="en-US" sz="1800" b="0" i="1" smtClean="0">
                        <a:latin typeface="Cambria Math" panose="02040503050406030204" pitchFamily="18" charset="0"/>
                      </a:rPr>
                      <m:t>)</m:t>
                    </m:r>
                  </m:oMath>
                </a14:m>
                <a:endParaRPr lang="en-US" dirty="0"/>
              </a:p>
            </p:txBody>
          </p:sp>
        </mc:Choice>
        <mc:Fallback xmlns="">
          <p:sp>
            <p:nvSpPr>
              <p:cNvPr id="13" name="TextBox 12">
                <a:extLst>
                  <a:ext uri="{FF2B5EF4-FFF2-40B4-BE49-F238E27FC236}">
                    <a16:creationId xmlns:a16="http://schemas.microsoft.com/office/drawing/2014/main" id="{5D46C487-8101-32E7-AD02-4A6239E4EED9}"/>
                  </a:ext>
                </a:extLst>
              </p:cNvPr>
              <p:cNvSpPr txBox="1">
                <a:spLocks noRot="1" noChangeAspect="1" noMove="1" noResize="1" noEditPoints="1" noAdjustHandles="1" noChangeArrowheads="1" noChangeShapeType="1" noTextEdit="1"/>
              </p:cNvSpPr>
              <p:nvPr/>
            </p:nvSpPr>
            <p:spPr>
              <a:xfrm>
                <a:off x="2367598" y="5576902"/>
                <a:ext cx="6314062" cy="374270"/>
              </a:xfrm>
              <a:prstGeom prst="rect">
                <a:avLst/>
              </a:prstGeom>
              <a:blipFill>
                <a:blip r:embed="rId13"/>
                <a:stretch>
                  <a:fillRect l="-772" t="-1311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713786-F910-719F-CA23-9D0559A70582}"/>
                  </a:ext>
                </a:extLst>
              </p:cNvPr>
              <p:cNvSpPr txBox="1"/>
              <p:nvPr/>
            </p:nvSpPr>
            <p:spPr>
              <a:xfrm>
                <a:off x="6002837" y="5571839"/>
                <a:ext cx="2845888" cy="3742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sz="1800" b="1" i="1" smtClean="0">
                          <a:latin typeface="Cambria Math" panose="02040503050406030204" pitchFamily="18" charset="0"/>
                        </a:rPr>
                        <m:t>𝒈</m:t>
                      </m:r>
                      <m:r>
                        <a:rPr lang="en-US" sz="1800" b="1" i="1" smtClean="0">
                          <a:latin typeface="Cambria Math" panose="02040503050406030204" pitchFamily="18" charset="0"/>
                        </a:rPr>
                        <m:t>(</m:t>
                      </m:r>
                      <m:r>
                        <a:rPr lang="en-US" b="1" i="0" smtClean="0">
                          <a:latin typeface="Cambria Math" panose="02040503050406030204" pitchFamily="18" charset="0"/>
                        </a:rPr>
                        <m:t>𝐕</m:t>
                      </m:r>
                      <m:r>
                        <a:rPr lang="en-US" b="1" i="1">
                          <a:latin typeface="Cambria Math" panose="02040503050406030204" pitchFamily="18" charset="0"/>
                        </a:rPr>
                        <m:t>𝒇</m:t>
                      </m:r>
                      <m:r>
                        <a:rPr lang="en-US" i="1">
                          <a:latin typeface="Cambria Math" panose="02040503050406030204" pitchFamily="18" charset="0"/>
                        </a:rPr>
                        <m:t>(</m:t>
                      </m:r>
                      <m:r>
                        <a:rPr lang="en-US" b="1">
                          <a:latin typeface="Cambria Math" panose="02040503050406030204" pitchFamily="18" charset="0"/>
                        </a:rPr>
                        <m:t>𝐖</m:t>
                      </m:r>
                      <m:sSup>
                        <m:sSupPr>
                          <m:ctrlPr>
                            <a:rPr lang="en-US" b="1" i="1">
                              <a:latin typeface="Cambria Math" panose="02040503050406030204" pitchFamily="18" charset="0"/>
                            </a:rPr>
                          </m:ctrlPr>
                        </m:sSupPr>
                        <m:e>
                          <m:r>
                            <a:rPr lang="en-US" b="1">
                              <a:latin typeface="Cambria Math" panose="02040503050406030204" pitchFamily="18" charset="0"/>
                            </a:rPr>
                            <m:t>𝐱</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𝐛</m:t>
                          </m:r>
                        </m:e>
                        <m:sup>
                          <m:r>
                            <m:rPr>
                              <m:sty m:val="p"/>
                            </m:rPr>
                            <a:rPr lang="en-US">
                              <a:latin typeface="Cambria Math" panose="02040503050406030204" pitchFamily="18" charset="0"/>
                            </a:rPr>
                            <m:t>T</m:t>
                          </m:r>
                        </m:sup>
                      </m:sSup>
                      <m:r>
                        <a:rPr lang="en-US" i="1">
                          <a:latin typeface="Cambria Math" panose="02040503050406030204" pitchFamily="18" charset="0"/>
                        </a:rPr>
                        <m:t>)</m:t>
                      </m:r>
                      <m:r>
                        <a:rPr lang="en-US" sz="1800" b="0" i="1" smtClean="0">
                          <a:latin typeface="Cambria Math" panose="02040503050406030204" pitchFamily="18" charset="0"/>
                        </a:rPr>
                        <m:t>+</m:t>
                      </m:r>
                      <m:sSup>
                        <m:sSupPr>
                          <m:ctrlPr>
                            <a:rPr lang="en-US" b="1" i="1">
                              <a:latin typeface="Cambria Math" panose="02040503050406030204" pitchFamily="18" charset="0"/>
                            </a:rPr>
                          </m:ctrlPr>
                        </m:sSupPr>
                        <m:e>
                          <m:r>
                            <a:rPr lang="en-US" b="1" i="0" smtClean="0">
                              <a:latin typeface="Cambria Math" panose="02040503050406030204" pitchFamily="18" charset="0"/>
                            </a:rPr>
                            <m:t>𝐝</m:t>
                          </m:r>
                        </m:e>
                        <m:sup>
                          <m:r>
                            <m:rPr>
                              <m:sty m:val="p"/>
                            </m:rPr>
                            <a:rPr lang="en-US">
                              <a:latin typeface="Cambria Math" panose="02040503050406030204" pitchFamily="18" charset="0"/>
                            </a:rPr>
                            <m:t>T</m:t>
                          </m:r>
                        </m:sup>
                      </m:sSup>
                      <m:r>
                        <a:rPr lang="en-US" sz="1800"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95713786-F910-719F-CA23-9D0559A70582}"/>
                  </a:ext>
                </a:extLst>
              </p:cNvPr>
              <p:cNvSpPr txBox="1">
                <a:spLocks noRot="1" noChangeAspect="1" noMove="1" noResize="1" noEditPoints="1" noAdjustHandles="1" noChangeArrowheads="1" noChangeShapeType="1" noTextEdit="1"/>
              </p:cNvSpPr>
              <p:nvPr/>
            </p:nvSpPr>
            <p:spPr>
              <a:xfrm>
                <a:off x="6002837" y="5571839"/>
                <a:ext cx="2845888" cy="374270"/>
              </a:xfrm>
              <a:prstGeom prst="rect">
                <a:avLst/>
              </a:prstGeom>
              <a:blipFill>
                <a:blip r:embed="rId14"/>
                <a:stretch>
                  <a:fillRect b="-16393"/>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1DE4C0B5-B66A-CD28-CE93-828ABC40F132}"/>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02E9895-BF15-6163-A44C-9B64DB6E0AB1}"/>
                  </a:ext>
                </a:extLst>
              </p:cNvPr>
              <p:cNvSpPr txBox="1"/>
              <p:nvPr/>
            </p:nvSpPr>
            <p:spPr>
              <a:xfrm>
                <a:off x="979687" y="6002758"/>
                <a:ext cx="7869038" cy="656205"/>
              </a:xfrm>
              <a:prstGeom prst="rect">
                <a:avLst/>
              </a:prstGeom>
              <a:noFill/>
            </p:spPr>
            <p:txBody>
              <a:bodyPr wrap="square">
                <a:spAutoFit/>
              </a:bodyPr>
              <a:lstStyle/>
              <a:p>
                <a:r>
                  <a:rPr lang="zh-CN" altLang="en-US" dirty="0"/>
                  <a:t>否则</a:t>
                </a:r>
                <a14:m>
                  <m:oMath xmlns:m="http://schemas.openxmlformats.org/officeDocument/2006/math">
                    <m:r>
                      <a:rPr lang="en-US" b="1" i="1" smtClean="0">
                        <a:latin typeface="Cambria Math" panose="02040503050406030204" pitchFamily="18" charset="0"/>
                      </a:rPr>
                      <m:t>𝒈</m:t>
                    </m:r>
                    <m:r>
                      <a:rPr lang="en-US" b="1" i="1" smtClean="0">
                        <a:latin typeface="Cambria Math" panose="02040503050406030204" pitchFamily="18" charset="0"/>
                      </a:rPr>
                      <m:t>(</m:t>
                    </m:r>
                    <m:r>
                      <a:rPr lang="en-US" b="1">
                        <a:latin typeface="Cambria Math" panose="02040503050406030204" pitchFamily="18" charset="0"/>
                      </a:rPr>
                      <m:t>𝐕</m:t>
                    </m:r>
                    <m:r>
                      <a:rPr lang="en-US" b="1" i="1">
                        <a:latin typeface="Cambria Math" panose="02040503050406030204" pitchFamily="18" charset="0"/>
                      </a:rPr>
                      <m:t>𝒇</m:t>
                    </m:r>
                    <m:r>
                      <a:rPr lang="en-US" i="1">
                        <a:latin typeface="Cambria Math" panose="02040503050406030204" pitchFamily="18" charset="0"/>
                      </a:rPr>
                      <m:t>(</m:t>
                    </m:r>
                    <m:r>
                      <a:rPr lang="en-US" b="1">
                        <a:latin typeface="Cambria Math" panose="02040503050406030204" pitchFamily="18" charset="0"/>
                      </a:rPr>
                      <m:t>𝐖</m:t>
                    </m:r>
                    <m:sSup>
                      <m:sSupPr>
                        <m:ctrlPr>
                          <a:rPr lang="en-US" b="1" i="1">
                            <a:latin typeface="Cambria Math" panose="02040503050406030204" pitchFamily="18" charset="0"/>
                          </a:rPr>
                        </m:ctrlPr>
                      </m:sSupPr>
                      <m:e>
                        <m:r>
                          <a:rPr lang="en-US" b="1">
                            <a:latin typeface="Cambria Math" panose="02040503050406030204" pitchFamily="18" charset="0"/>
                          </a:rPr>
                          <m:t>𝐱</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𝐛</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𝐝</m:t>
                        </m:r>
                      </m:e>
                      <m:sup>
                        <m:r>
                          <m:rPr>
                            <m:sty m:val="p"/>
                          </m:rPr>
                          <a:rPr lang="en-US">
                            <a:latin typeface="Cambria Math" panose="02040503050406030204" pitchFamily="18" charset="0"/>
                          </a:rPr>
                          <m:t>T</m:t>
                        </m:r>
                      </m:sup>
                    </m:sSup>
                    <m:r>
                      <a:rPr lang="en-US" i="1">
                        <a:latin typeface="Cambria Math" panose="02040503050406030204" pitchFamily="18" charset="0"/>
                      </a:rPr>
                      <m:t>)</m:t>
                    </m:r>
                    <m:r>
                      <a:rPr lang="en-US" b="0" i="1" smtClean="0">
                        <a:latin typeface="Cambria Math" panose="02040503050406030204" pitchFamily="18" charset="0"/>
                      </a:rPr>
                      <m:t>=</m:t>
                    </m:r>
                    <m:r>
                      <a:rPr lang="en-US" b="1" i="1">
                        <a:latin typeface="Cambria Math" panose="02040503050406030204" pitchFamily="18" charset="0"/>
                      </a:rPr>
                      <m:t>𝒈</m:t>
                    </m:r>
                    <m:r>
                      <a:rPr lang="en-US" b="1" i="1" smtClean="0">
                        <a:latin typeface="Cambria Math" panose="02040503050406030204" pitchFamily="18" charset="0"/>
                      </a:rPr>
                      <m:t>(</m:t>
                    </m:r>
                    <m:r>
                      <a:rPr lang="en-US" b="1">
                        <a:latin typeface="Cambria Math" panose="02040503050406030204" pitchFamily="18" charset="0"/>
                      </a:rPr>
                      <m:t>𝐕</m:t>
                    </m:r>
                    <m:r>
                      <a:rPr lang="en-US" b="1"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r>
                      <a:rPr lang="en-US" b="1">
                        <a:latin typeface="Cambria Math" panose="02040503050406030204" pitchFamily="18" charset="0"/>
                      </a:rPr>
                      <m:t>𝐖</m:t>
                    </m:r>
                    <m:sSup>
                      <m:sSupPr>
                        <m:ctrlPr>
                          <a:rPr lang="en-US" b="1" i="1">
                            <a:latin typeface="Cambria Math" panose="02040503050406030204" pitchFamily="18" charset="0"/>
                          </a:rPr>
                        </m:ctrlPr>
                      </m:sSupPr>
                      <m:e>
                        <m:r>
                          <a:rPr lang="en-US" b="1">
                            <a:latin typeface="Cambria Math" panose="02040503050406030204" pitchFamily="18" charset="0"/>
                          </a:rPr>
                          <m:t>𝐱</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𝐛</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𝐝</m:t>
                        </m:r>
                      </m:e>
                      <m:sup>
                        <m:r>
                          <m:rPr>
                            <m:sty m:val="p"/>
                          </m:rPr>
                          <a:rPr lang="en-US">
                            <a:latin typeface="Cambria Math" panose="02040503050406030204" pitchFamily="18" charset="0"/>
                          </a:rPr>
                          <m:t>T</m:t>
                        </m:r>
                      </m:sup>
                    </m:sSup>
                    <m:r>
                      <a:rPr lang="en-US" i="1">
                        <a:latin typeface="Cambria Math" panose="02040503050406030204" pitchFamily="18" charset="0"/>
                      </a:rPr>
                      <m:t>)</m:t>
                    </m:r>
                  </m:oMath>
                </a14:m>
                <a:endParaRPr lang="en-US"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                                                        =</m:t>
                    </m:r>
                    <m:r>
                      <a:rPr lang="en-US" b="1" i="1">
                        <a:latin typeface="Cambria Math" panose="02040503050406030204" pitchFamily="18" charset="0"/>
                      </a:rPr>
                      <m:t>𝒈</m:t>
                    </m:r>
                    <m:r>
                      <a:rPr lang="en-US" b="1" i="1" smtClean="0">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𝑘</m:t>
                    </m:r>
                    <m:r>
                      <a:rPr lang="en-US" b="1">
                        <a:latin typeface="Cambria Math" panose="02040503050406030204" pitchFamily="18" charset="0"/>
                      </a:rPr>
                      <m:t>𝐕𝐖</m:t>
                    </m:r>
                    <m:r>
                      <a:rPr lang="en-US" b="1" i="0" smtClean="0">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𝐱</m:t>
                        </m:r>
                      </m:e>
                      <m:sup>
                        <m:r>
                          <m:rPr>
                            <m:sty m:val="p"/>
                          </m:rPr>
                          <a:rPr lang="en-US">
                            <a:latin typeface="Cambria Math" panose="02040503050406030204" pitchFamily="18" charset="0"/>
                          </a:rPr>
                          <m:t>T</m:t>
                        </m:r>
                      </m:sup>
                    </m:sSup>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𝑘</m:t>
                    </m:r>
                    <m:r>
                      <a:rPr lang="en-US" b="1" i="0" smtClean="0">
                        <a:latin typeface="Cambria Math" panose="02040503050406030204" pitchFamily="18" charset="0"/>
                      </a:rPr>
                      <m:t>𝐕</m:t>
                    </m:r>
                    <m:sSup>
                      <m:sSupPr>
                        <m:ctrlPr>
                          <a:rPr lang="en-US" b="1" i="1">
                            <a:latin typeface="Cambria Math" panose="02040503050406030204" pitchFamily="18" charset="0"/>
                          </a:rPr>
                        </m:ctrlPr>
                      </m:sSupPr>
                      <m:e>
                        <m:r>
                          <a:rPr lang="en-US" b="1">
                            <a:latin typeface="Cambria Math" panose="02040503050406030204" pitchFamily="18" charset="0"/>
                          </a:rPr>
                          <m:t>𝐛</m:t>
                        </m:r>
                      </m:e>
                      <m:sup>
                        <m:r>
                          <m:rPr>
                            <m:sty m:val="p"/>
                          </m:rPr>
                          <a:rPr lang="en-US">
                            <a:latin typeface="Cambria Math" panose="02040503050406030204" pitchFamily="18" charset="0"/>
                          </a:rPr>
                          <m:t>T</m:t>
                        </m:r>
                      </m:sup>
                    </m:sSup>
                    <m:r>
                      <a:rPr lang="en-US" i="1">
                        <a:latin typeface="Cambria Math" panose="02040503050406030204" pitchFamily="18" charset="0"/>
                      </a:rPr>
                      <m:t>+</m:t>
                    </m:r>
                    <m:sSup>
                      <m:sSupPr>
                        <m:ctrlPr>
                          <a:rPr lang="en-US" b="1" i="1">
                            <a:latin typeface="Cambria Math" panose="02040503050406030204" pitchFamily="18" charset="0"/>
                          </a:rPr>
                        </m:ctrlPr>
                      </m:sSupPr>
                      <m:e>
                        <m:r>
                          <a:rPr lang="en-US" b="1">
                            <a:latin typeface="Cambria Math" panose="02040503050406030204" pitchFamily="18" charset="0"/>
                          </a:rPr>
                          <m:t>𝐝</m:t>
                        </m:r>
                      </m:e>
                      <m:sup>
                        <m:r>
                          <m:rPr>
                            <m:sty m:val="p"/>
                          </m:rPr>
                          <a:rPr lang="en-US">
                            <a:latin typeface="Cambria Math" panose="02040503050406030204" pitchFamily="18" charset="0"/>
                          </a:rPr>
                          <m:t>T</m:t>
                        </m:r>
                      </m:sup>
                    </m:sSup>
                    <m:r>
                      <a:rPr lang="en-US" i="1">
                        <a:latin typeface="Cambria Math" panose="02040503050406030204" pitchFamily="18" charset="0"/>
                      </a:rPr>
                      <m:t>)</m:t>
                    </m:r>
                    <m:r>
                      <a:rPr lang="en-US"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隐藏层消失</a:t>
                </a:r>
                <a:endParaRPr lang="en-US" dirty="0"/>
              </a:p>
            </p:txBody>
          </p:sp>
        </mc:Choice>
        <mc:Fallback xmlns="">
          <p:sp>
            <p:nvSpPr>
              <p:cNvPr id="23" name="TextBox 22">
                <a:extLst>
                  <a:ext uri="{FF2B5EF4-FFF2-40B4-BE49-F238E27FC236}">
                    <a16:creationId xmlns:a16="http://schemas.microsoft.com/office/drawing/2014/main" id="{D02E9895-BF15-6163-A44C-9B64DB6E0AB1}"/>
                  </a:ext>
                </a:extLst>
              </p:cNvPr>
              <p:cNvSpPr txBox="1">
                <a:spLocks noRot="1" noChangeAspect="1" noMove="1" noResize="1" noEditPoints="1" noAdjustHandles="1" noChangeArrowheads="1" noChangeShapeType="1" noTextEdit="1"/>
              </p:cNvSpPr>
              <p:nvPr/>
            </p:nvSpPr>
            <p:spPr>
              <a:xfrm>
                <a:off x="979687" y="6002758"/>
                <a:ext cx="7869038" cy="656205"/>
              </a:xfrm>
              <a:prstGeom prst="rect">
                <a:avLst/>
              </a:prstGeom>
              <a:blipFill>
                <a:blip r:embed="rId15"/>
                <a:stretch>
                  <a:fillRect l="-697" t="-6542" b="-12150"/>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6804A6A1-3F03-0919-258C-49D2A84EBEB0}"/>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Tree>
    <p:custDataLst>
      <p:tags r:id="rId1"/>
    </p:custDataLst>
    <p:extLst>
      <p:ext uri="{BB962C8B-B14F-4D97-AF65-F5344CB8AC3E}">
        <p14:creationId xmlns:p14="http://schemas.microsoft.com/office/powerpoint/2010/main" val="610180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543A9-664C-A8E1-0A80-65EE6D5AE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12F5E-8138-6789-6CE5-4C9646A6AD4D}"/>
              </a:ext>
            </a:extLst>
          </p:cNvPr>
          <p:cNvSpPr>
            <a:spLocks noGrp="1"/>
          </p:cNvSpPr>
          <p:nvPr>
            <p:ph type="title"/>
          </p:nvPr>
        </p:nvSpPr>
        <p:spPr/>
        <p:txBody>
          <a:bodyPr/>
          <a:lstStyle/>
          <a:p>
            <a:r>
              <a:rPr lang="zh-CN" altLang="en-US" dirty="0">
                <a:ea typeface="ＭＳ Ｐゴシック" panose="020B0600070205080204" pitchFamily="34" charset="-128"/>
              </a:rPr>
              <a:t>三层感知器</a:t>
            </a:r>
            <a:endParaRPr lang="zh-CN" altLang="en-US" dirty="0"/>
          </a:p>
        </p:txBody>
      </p:sp>
      <p:sp>
        <p:nvSpPr>
          <p:cNvPr id="17" name="Oval 16">
            <a:extLst>
              <a:ext uri="{FF2B5EF4-FFF2-40B4-BE49-F238E27FC236}">
                <a16:creationId xmlns:a16="http://schemas.microsoft.com/office/drawing/2014/main" id="{B2FB7E89-3DCA-C1B0-0E46-11F00BDCC259}"/>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06479EE2-C14F-2CE7-D60E-CA203B5017B8}"/>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2D3D0A99-0256-48C5-4485-8625878A9802}"/>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7B81417D-24A9-EBA7-CD19-74DBE869ECB7}"/>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CBAD53E0-2F74-48EC-AC3A-20E8A53731E1}"/>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7EF405B2-D2BC-E9B7-11AE-3BF05B1FC150}"/>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483388CB-91AE-1FB6-C26E-C7E75CFB8AFE}"/>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32DF7654-E971-72FA-C5DA-0FC14EC1D571}"/>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3E6338E7-F3EA-6215-0C2D-AA48386C19F5}"/>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9115987-6D3A-885F-78AB-0533F797D042}"/>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A9115987-6D3A-885F-78AB-0533F797D042}"/>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243394-0EB1-AA44-9056-2B9559638962}"/>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76E35E3-C95A-F637-D7D5-14FBF663D453}"/>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64CEA002-F174-96D8-8D4D-CF068B78C1B4}"/>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A598F7B9-BAD2-9A05-F36F-90F44D1173BA}"/>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01276AE3-EF9B-AA48-77F9-92A4AB837B1E}"/>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D61E5734-E334-78C2-CFBB-51C7D41C5027}"/>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44449BA-409B-3B5D-5F2A-57C7C1AA43B5}"/>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64A5791C-3D1E-F5F0-47B0-16F5B1F24E11}"/>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3941276C-0942-AC71-38E6-24E14F22C930}"/>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F4A9D745-0A88-1E4F-51A0-9AB7EBCA82EA}"/>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79C2ACFB-07DF-6185-98A3-2BC4AC1A5738}"/>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574A5929-EFD4-FE36-F16D-8915AC67F58A}"/>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F44A3940-41E1-EDA5-82A9-A6F0FA481BAE}"/>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74D62AEC-9509-084C-0E3D-FB955363FD65}"/>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EEEAE512-E96D-E81E-B2FF-EA1D12FAC450}"/>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FBD9491A-C759-7B3B-CC76-7845085E9683}"/>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9A058523-D0F6-A082-4B41-46448AB3080A}"/>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7A0F2A28-E9E6-374E-B243-D6A7E5E2E635}"/>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2D6BAA0D-2468-6CDC-52BF-C994AF9710C5}"/>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3AD29482-81CD-3749-D6CD-E10CDF112FE0}"/>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BB4E0195-D39D-1AF4-92F9-754916C6B11A}"/>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22BEC08D-EA7B-BDBD-0B8E-2DCC7DA63C94}"/>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28A61F96-6B39-4563-4E5E-BC4C0CF52C14}"/>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07959EBE-94E6-1EB0-1EBF-A8D9DB0F5608}"/>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07959EBE-94E6-1EB0-1EBF-A8D9DB0F5608}"/>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5419CE20-6680-2F08-97CF-2AF290E56314}"/>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5419CE20-6680-2F08-97CF-2AF290E56314}"/>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CDC01264-DCBC-7258-7FE8-7703AAB5D6F5}"/>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CDC01264-DCBC-7258-7FE8-7703AAB5D6F5}"/>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11B1535E-EC15-3344-272E-8CE78DA563AB}"/>
                  </a:ext>
                </a:extLst>
              </p:cNvPr>
              <p:cNvSpPr txBox="1"/>
              <p:nvPr/>
            </p:nvSpPr>
            <p:spPr>
              <a:xfrm>
                <a:off x="7858292" y="2952886"/>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122" name="TextBox 121">
                <a:extLst>
                  <a:ext uri="{FF2B5EF4-FFF2-40B4-BE49-F238E27FC236}">
                    <a16:creationId xmlns:a16="http://schemas.microsoft.com/office/drawing/2014/main" id="{11B1535E-EC15-3344-272E-8CE78DA563AB}"/>
                  </a:ext>
                </a:extLst>
              </p:cNvPr>
              <p:cNvSpPr txBox="1">
                <a:spLocks noRot="1" noChangeAspect="1" noMove="1" noResize="1" noEditPoints="1" noAdjustHandles="1" noChangeArrowheads="1" noChangeShapeType="1" noTextEdit="1"/>
              </p:cNvSpPr>
              <p:nvPr/>
            </p:nvSpPr>
            <p:spPr>
              <a:xfrm>
                <a:off x="7858292" y="2952886"/>
                <a:ext cx="518477" cy="369332"/>
              </a:xfrm>
              <a:prstGeom prst="rect">
                <a:avLst/>
              </a:prstGeom>
              <a:blipFill>
                <a:blip r:embed="rId10"/>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C280B696-AE0F-6A30-79D9-30D08D98CC19}"/>
                  </a:ext>
                </a:extLst>
              </p:cNvPr>
              <p:cNvSpPr txBox="1"/>
              <p:nvPr/>
            </p:nvSpPr>
            <p:spPr>
              <a:xfrm>
                <a:off x="7766212" y="2436486"/>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123" name="TextBox 122">
                <a:extLst>
                  <a:ext uri="{FF2B5EF4-FFF2-40B4-BE49-F238E27FC236}">
                    <a16:creationId xmlns:a16="http://schemas.microsoft.com/office/drawing/2014/main" id="{C280B696-AE0F-6A30-79D9-30D08D98CC19}"/>
                  </a:ext>
                </a:extLst>
              </p:cNvPr>
              <p:cNvSpPr txBox="1">
                <a:spLocks noRot="1" noChangeAspect="1" noMove="1" noResize="1" noEditPoints="1" noAdjustHandles="1" noChangeArrowheads="1" noChangeShapeType="1" noTextEdit="1"/>
              </p:cNvSpPr>
              <p:nvPr/>
            </p:nvSpPr>
            <p:spPr>
              <a:xfrm>
                <a:off x="7766212" y="2436486"/>
                <a:ext cx="637125" cy="369332"/>
              </a:xfrm>
              <a:prstGeom prst="rect">
                <a:avLst/>
              </a:prstGeom>
              <a:blipFill>
                <a:blip r:embed="rId11"/>
                <a:stretch>
                  <a:fillRect b="-8333"/>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607C9DAE-0649-9A4F-2FF3-6483BA309631}"/>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90A1725D-EFBA-6D34-0E1D-163F629CED1E}"/>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2613D52F-71EC-45DB-F90A-84868BA5C53E}"/>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878BF936-95A2-C21F-DE59-93829D491F31}"/>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95451EA9-703D-7CCF-1619-E6FDF4E82C7A}"/>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8952657D-A9B8-7502-39C8-ABA07A421020}"/>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3A2B1030-7C9F-4FA6-F0D9-8E28ADBFD4D4}"/>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EE9914B-E5B8-6FA0-65D8-F030AB1AADCB}"/>
                  </a:ext>
                </a:extLst>
              </p:cNvPr>
              <p:cNvSpPr txBox="1"/>
              <p:nvPr/>
            </p:nvSpPr>
            <p:spPr>
              <a:xfrm>
                <a:off x="7834479" y="4224986"/>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2" name="TextBox 31">
                <a:extLst>
                  <a:ext uri="{FF2B5EF4-FFF2-40B4-BE49-F238E27FC236}">
                    <a16:creationId xmlns:a16="http://schemas.microsoft.com/office/drawing/2014/main" id="{5EE9914B-E5B8-6FA0-65D8-F030AB1AADCB}"/>
                  </a:ext>
                </a:extLst>
              </p:cNvPr>
              <p:cNvSpPr txBox="1">
                <a:spLocks noRot="1" noChangeAspect="1" noMove="1" noResize="1" noEditPoints="1" noAdjustHandles="1" noChangeArrowheads="1" noChangeShapeType="1" noTextEdit="1"/>
              </p:cNvSpPr>
              <p:nvPr/>
            </p:nvSpPr>
            <p:spPr>
              <a:xfrm>
                <a:off x="7834479" y="4224986"/>
                <a:ext cx="566102" cy="369332"/>
              </a:xfrm>
              <a:prstGeom prst="rect">
                <a:avLst/>
              </a:prstGeom>
              <a:blipFill>
                <a:blip r:embed="rId12"/>
                <a:stretch>
                  <a:fillRect b="-819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B4A406F-DFB7-DFB2-01E8-7D4BCEDED00E}"/>
              </a:ext>
            </a:extLst>
          </p:cNvPr>
          <p:cNvSpPr txBox="1"/>
          <p:nvPr/>
        </p:nvSpPr>
        <p:spPr>
          <a:xfrm>
            <a:off x="6073258" y="1657385"/>
            <a:ext cx="2842142" cy="769441"/>
          </a:xfrm>
          <a:prstGeom prst="rect">
            <a:avLst/>
          </a:prstGeom>
          <a:noFill/>
        </p:spPr>
        <p:txBody>
          <a:bodyPr wrap="square" rtlCol="0">
            <a:spAutoFit/>
          </a:bodyPr>
          <a:lstStyle/>
          <a:p>
            <a:pPr algn="ctr"/>
            <a:r>
              <a:rPr lang="zh-CN" altLang="en-US" sz="2200" dirty="0"/>
              <a:t>也可以是</a:t>
            </a:r>
            <a:r>
              <a:rPr lang="en-US" altLang="zh-CN" sz="2200" dirty="0" err="1"/>
              <a:t>softmax</a:t>
            </a:r>
            <a:r>
              <a:rPr lang="zh-CN" altLang="en-US" sz="2200" dirty="0"/>
              <a:t>输出分类结果与概率</a:t>
            </a:r>
          </a:p>
        </p:txBody>
      </p:sp>
      <p:sp>
        <p:nvSpPr>
          <p:cNvPr id="27" name="Rectangle 26">
            <a:extLst>
              <a:ext uri="{FF2B5EF4-FFF2-40B4-BE49-F238E27FC236}">
                <a16:creationId xmlns:a16="http://schemas.microsoft.com/office/drawing/2014/main" id="{7469990A-BD26-5D96-6BF4-0ADA69DE09DD}"/>
              </a:ext>
            </a:extLst>
          </p:cNvPr>
          <p:cNvSpPr/>
          <p:nvPr/>
        </p:nvSpPr>
        <p:spPr bwMode="auto">
          <a:xfrm>
            <a:off x="6984008" y="2621152"/>
            <a:ext cx="752745" cy="228270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TextBox 27">
            <a:extLst>
              <a:ext uri="{FF2B5EF4-FFF2-40B4-BE49-F238E27FC236}">
                <a16:creationId xmlns:a16="http://schemas.microsoft.com/office/drawing/2014/main" id="{142844E4-F281-A6AE-5C42-9C8E20C4DED6}"/>
              </a:ext>
            </a:extLst>
          </p:cNvPr>
          <p:cNvSpPr txBox="1"/>
          <p:nvPr/>
        </p:nvSpPr>
        <p:spPr>
          <a:xfrm>
            <a:off x="7858292" y="383220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4" name="TextBox 33">
            <a:extLst>
              <a:ext uri="{FF2B5EF4-FFF2-40B4-BE49-F238E27FC236}">
                <a16:creationId xmlns:a16="http://schemas.microsoft.com/office/drawing/2014/main" id="{E4F95569-E6F1-5D94-CF1A-DA433FB605E5}"/>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p:spTree>
    <p:custDataLst>
      <p:tags r:id="rId1"/>
    </p:custDataLst>
    <p:extLst>
      <p:ext uri="{BB962C8B-B14F-4D97-AF65-F5344CB8AC3E}">
        <p14:creationId xmlns:p14="http://schemas.microsoft.com/office/powerpoint/2010/main" val="224212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p:bldP spid="123" grpId="0"/>
      <p:bldP spid="32" grpId="0"/>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555D3-9365-3F67-C556-A1130C276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588BA-0820-8ECE-7BF3-135CF062AA89}"/>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多层感知器的训练：极大似然估计</a:t>
            </a:r>
          </a:p>
        </p:txBody>
      </p:sp>
      <p:sp>
        <p:nvSpPr>
          <p:cNvPr id="3" name="Content Placeholder 2">
            <a:extLst>
              <a:ext uri="{FF2B5EF4-FFF2-40B4-BE49-F238E27FC236}">
                <a16:creationId xmlns:a16="http://schemas.microsoft.com/office/drawing/2014/main" id="{6864BCF5-E2DD-A706-3660-2C697CF87D14}"/>
              </a:ext>
            </a:extLst>
          </p:cNvPr>
          <p:cNvSpPr>
            <a:spLocks noGrp="1"/>
          </p:cNvSpPr>
          <p:nvPr>
            <p:ph idx="1"/>
          </p:nvPr>
        </p:nvSpPr>
        <p:spPr>
          <a:xfrm>
            <a:off x="762000" y="1600200"/>
            <a:ext cx="7772400" cy="5257800"/>
          </a:xfrm>
        </p:spPr>
        <p:txBody>
          <a:bodyPr>
            <a:normAutofit/>
          </a:bodyPr>
          <a:lstStyle/>
          <a:p>
            <a:r>
              <a:rPr lang="zh-CN" altLang="en-US" dirty="0"/>
              <a:t>定义损失函数</a:t>
            </a:r>
            <a:endParaRPr lang="en-US" altLang="zh-CN" dirty="0"/>
          </a:p>
          <a:p>
            <a:pPr lvl="1"/>
            <a:r>
              <a:rPr lang="zh-CN" altLang="en-US" dirty="0"/>
              <a:t>类似</a:t>
            </a:r>
            <a:r>
              <a:rPr lang="en-US" altLang="zh-CN" dirty="0"/>
              <a:t>logistic regression</a:t>
            </a:r>
          </a:p>
          <a:p>
            <a:pPr lvl="2"/>
            <a:r>
              <a:rPr lang="zh-CN" altLang="en-US" dirty="0"/>
              <a:t>自变量包含每一层的权重和偏向</a:t>
            </a:r>
            <a:endParaRPr lang="en-US" altLang="zh-CN" dirty="0"/>
          </a:p>
          <a:p>
            <a:r>
              <a:rPr lang="zh-CN" altLang="en-US" dirty="0"/>
              <a:t>梯度下降</a:t>
            </a:r>
            <a:endParaRPr lang="en-US" altLang="zh-CN" dirty="0"/>
          </a:p>
          <a:p>
            <a:pPr lvl="1"/>
            <a:r>
              <a:rPr lang="zh-CN" altLang="en-US" dirty="0"/>
              <a:t>每一轮需要求出所有的偏导数</a:t>
            </a:r>
            <a:endParaRPr lang="en-US" altLang="zh-CN" dirty="0"/>
          </a:p>
          <a:p>
            <a:pPr lvl="2"/>
            <a:r>
              <a:rPr lang="zh-CN" altLang="en-US" dirty="0"/>
              <a:t>前向计算得到损失函数</a:t>
            </a:r>
            <a:endParaRPr lang="en-US" altLang="zh-CN" dirty="0"/>
          </a:p>
          <a:p>
            <a:pPr lvl="2"/>
            <a:r>
              <a:rPr lang="zh-CN" altLang="en-US" dirty="0"/>
              <a:t>反向传播逐层计算偏导数</a:t>
            </a:r>
            <a:endParaRPr lang="en-US" altLang="zh-CN" dirty="0"/>
          </a:p>
        </p:txBody>
      </p:sp>
    </p:spTree>
    <p:extLst>
      <p:ext uri="{BB962C8B-B14F-4D97-AF65-F5344CB8AC3E}">
        <p14:creationId xmlns:p14="http://schemas.microsoft.com/office/powerpoint/2010/main" val="149285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733B7-B753-D3A3-78F0-2AA1B4657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817D9-26EE-689D-C46D-45CAD2DB84A5}"/>
              </a:ext>
            </a:extLst>
          </p:cNvPr>
          <p:cNvSpPr>
            <a:spLocks noGrp="1"/>
          </p:cNvSpPr>
          <p:nvPr>
            <p:ph type="title"/>
          </p:nvPr>
        </p:nvSpPr>
        <p:spPr/>
        <p:txBody>
          <a:bodyPr/>
          <a:lstStyle/>
          <a:p>
            <a:r>
              <a:rPr lang="zh-CN" altLang="en-US" dirty="0">
                <a:ea typeface="ＭＳ Ｐゴシック" panose="020B0600070205080204" pitchFamily="34" charset="-128"/>
              </a:rPr>
              <a:t>前向计算</a:t>
            </a:r>
            <a:endParaRPr lang="zh-CN" altLang="en-US" dirty="0"/>
          </a:p>
        </p:txBody>
      </p:sp>
      <p:sp>
        <p:nvSpPr>
          <p:cNvPr id="17" name="Oval 16">
            <a:extLst>
              <a:ext uri="{FF2B5EF4-FFF2-40B4-BE49-F238E27FC236}">
                <a16:creationId xmlns:a16="http://schemas.microsoft.com/office/drawing/2014/main" id="{CFCEF892-A981-623B-E0B2-B5F45F0DC2AF}"/>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DC5CD73B-FA7C-4BC4-3623-35D9D92EA19C}"/>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BCCEBCA7-B1F0-3582-8112-CD90BF61E83C}"/>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DD74559B-5235-5793-438D-0494495A5E70}"/>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C7BEBA03-C61D-8167-36F0-6823E0103F15}"/>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409D02F9-2DDF-54A9-A739-61AFEE83ACF6}"/>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79F47B7D-047D-9514-47CA-ED4B66A6A4F8}"/>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814EDFB6-0DF4-ABD2-1A32-C77204A813E1}"/>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CD3339B2-8963-2F0C-FC34-366FADAABED6}"/>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D4A516A-AA48-442D-1535-A15DD928FB52}"/>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BD4A516A-AA48-442D-1535-A15DD928FB52}"/>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4149468-94B1-4892-183E-96CC09734B63}"/>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07F9AFF-3192-E68B-DA22-3F5ECAA92A26}"/>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75A6F35E-2074-3A92-0FD9-D9A99B1256D1}"/>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48AFBA71-7060-40E4-4E2D-5DBCC4B883B0}"/>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74B380A3-E6D3-34E5-E1EE-D4D5A1CDB291}"/>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157CE3C9-4079-B3DE-B4D7-B54058ABAF9A}"/>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452C34-5D6E-7FDE-EDEE-3C8A4ED2A650}"/>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E7DE3633-0A2B-6A14-D044-2D400C1F4F22}"/>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F70D509C-6F46-C8F1-7A05-2E72E718EDA0}"/>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8285E87E-E7DF-8A51-170D-BACB2D8D2A4A}"/>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2B5575EE-5A00-088E-9722-6E0709707C00}"/>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5F410D82-AAF9-DB42-3AA0-62B40F88D440}"/>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B7935B88-2423-175E-AD8C-AAECCAD1FE5B}"/>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EE42233E-45F5-B222-3E66-1C42052BA4E3}"/>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7933AEB3-324C-8DCB-C7F9-61787DA3E15B}"/>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415B2095-F28F-8FEB-E8F3-0A919A99B5B6}"/>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92FCAB68-398C-64DD-540B-9BC0ADE01F86}"/>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8BA15DCB-1D10-FEA8-C631-CBFE0B9D9E75}"/>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AAFAB12B-4B8C-7063-DE02-EDA8617ABAE2}"/>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02856A68-92AE-E463-EC1C-BF073A46492E}"/>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CB12DA4A-4A12-4990-F2B9-3F232CAB378D}"/>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A401EC0C-FAEF-8DD5-07FF-34F6C30D34CD}"/>
              </a:ext>
            </a:extLst>
          </p:cNvPr>
          <p:cNvGrpSpPr/>
          <p:nvPr/>
        </p:nvGrpSpPr>
        <p:grpSpPr>
          <a:xfrm>
            <a:off x="3408632" y="1821956"/>
            <a:ext cx="2209800" cy="2679523"/>
            <a:chOff x="1066800" y="1840625"/>
            <a:chExt cx="2209800" cy="2679523"/>
          </a:xfrm>
        </p:grpSpPr>
        <p:sp>
          <p:nvSpPr>
            <p:cNvPr id="115" name="TextBox 114">
              <a:extLst>
                <a:ext uri="{FF2B5EF4-FFF2-40B4-BE49-F238E27FC236}">
                  <a16:creationId xmlns:a16="http://schemas.microsoft.com/office/drawing/2014/main" id="{76C3D610-453B-CF18-B7D8-0C4CA6E25ED1}"/>
                </a:ext>
              </a:extLst>
            </p:cNvPr>
            <p:cNvSpPr txBox="1"/>
            <p:nvPr/>
          </p:nvSpPr>
          <p:spPr>
            <a:xfrm>
              <a:off x="1066800" y="1840625"/>
              <a:ext cx="2209800" cy="430887"/>
            </a:xfrm>
            <a:prstGeom prst="rect">
              <a:avLst/>
            </a:prstGeom>
            <a:noFill/>
          </p:spPr>
          <p:txBody>
            <a:bodyPr wrap="square" rtlCol="0">
              <a:spAutoFit/>
            </a:bodyPr>
            <a:lstStyle/>
            <a:p>
              <a:pPr algn="ctr"/>
              <a:r>
                <a:rPr lang="zh-CN" altLang="en-US" sz="2200" dirty="0"/>
                <a:t>先计算隐藏层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90C1427D-E1D0-A9F9-5C64-6FD2C8B758C6}"/>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90C1427D-E1D0-A9F9-5C64-6FD2C8B758C6}"/>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0C11CB27-068B-4094-F324-D1254D154C80}"/>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0C11CB27-068B-4094-F324-D1254D154C80}"/>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8BF77233-5EBD-8526-5EC3-54F6AEEFCB03}"/>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8BF77233-5EBD-8526-5EC3-54F6AEEFCB03}"/>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6D0B4A45-8BFC-3764-B746-FEAA3ACB3E80}"/>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A6F7C2BB-933D-65FD-299F-21C0DDCA7291}"/>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9BE74425-CC09-E25F-EFB6-304C4E6469C2}"/>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EE018F35-DDE9-528B-03C9-23B87FFAE89F}"/>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42C843C1-653E-68F8-F335-FD7CC6EF4291}"/>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EC2C89D8-8BFD-3B9E-178A-89E6C07FEADA}"/>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A1BD083E-CFFC-3AA5-D46B-F397997CDB59}"/>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E794479E-4E24-4EAF-6FA6-34D2056EC195}"/>
              </a:ext>
            </a:extLst>
          </p:cNvPr>
          <p:cNvCxnSpPr>
            <a:cxnSpLocks/>
          </p:cNvCxnSpPr>
          <p:nvPr/>
        </p:nvCxnSpPr>
        <p:spPr bwMode="auto">
          <a:xfrm>
            <a:off x="2817714" y="5620067"/>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TextBox 26">
            <a:extLst>
              <a:ext uri="{FF2B5EF4-FFF2-40B4-BE49-F238E27FC236}">
                <a16:creationId xmlns:a16="http://schemas.microsoft.com/office/drawing/2014/main" id="{093CA94C-0F8A-F7D6-1782-044FF7CB5622}"/>
              </a:ext>
            </a:extLst>
          </p:cNvPr>
          <p:cNvSpPr txBox="1"/>
          <p:nvPr/>
        </p:nvSpPr>
        <p:spPr>
          <a:xfrm>
            <a:off x="2975227" y="5688819"/>
            <a:ext cx="2209800" cy="430887"/>
          </a:xfrm>
          <a:prstGeom prst="rect">
            <a:avLst/>
          </a:prstGeom>
          <a:noFill/>
        </p:spPr>
        <p:txBody>
          <a:bodyPr wrap="square" rtlCol="0">
            <a:spAutoFit/>
          </a:bodyPr>
          <a:lstStyle/>
          <a:p>
            <a:pPr algn="ctr"/>
            <a:r>
              <a:rPr lang="zh-CN" altLang="en-US" sz="2200" dirty="0"/>
              <a:t>前向计算</a:t>
            </a:r>
          </a:p>
        </p:txBody>
      </p:sp>
      <p:sp>
        <p:nvSpPr>
          <p:cNvPr id="28" name="TextBox 27">
            <a:extLst>
              <a:ext uri="{FF2B5EF4-FFF2-40B4-BE49-F238E27FC236}">
                <a16:creationId xmlns:a16="http://schemas.microsoft.com/office/drawing/2014/main" id="{E651869A-F90E-D508-452F-DBB3DCC53AB9}"/>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3794D16-E80B-2A62-1978-E9C46B88AD13}"/>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53794D16-E80B-2A62-1978-E9C46B88AD13}"/>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39F0CE2-06E0-0837-B5F0-59F5F7057890}"/>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939F0CE2-06E0-0837-B5F0-59F5F7057890}"/>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F489265-7E88-D1C7-F542-935B86EEAE08}"/>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0F489265-7E88-D1C7-F542-935B86EEAE08}"/>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BC6EBE39-F2A0-1AE2-6A96-C63C2338941C}"/>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再计算输出</a:t>
            </a:r>
          </a:p>
        </p:txBody>
      </p:sp>
      <p:sp>
        <p:nvSpPr>
          <p:cNvPr id="38" name="TextBox 37">
            <a:extLst>
              <a:ext uri="{FF2B5EF4-FFF2-40B4-BE49-F238E27FC236}">
                <a16:creationId xmlns:a16="http://schemas.microsoft.com/office/drawing/2014/main" id="{F49E9D68-3C6A-3A5A-37D3-83CF38F08ADD}"/>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508C6CF-D376-4162-3313-028024F7F8A2}"/>
                  </a:ext>
                </a:extLst>
              </p:cNvPr>
              <p:cNvSpPr txBox="1"/>
              <p:nvPr/>
            </p:nvSpPr>
            <p:spPr>
              <a:xfrm>
                <a:off x="6139240" y="4878208"/>
                <a:ext cx="2738060" cy="769441"/>
              </a:xfrm>
              <a:prstGeom prst="rect">
                <a:avLst/>
              </a:prstGeom>
              <a:noFill/>
            </p:spPr>
            <p:txBody>
              <a:bodyPr wrap="square" rtlCol="0">
                <a:spAutoFit/>
              </a:bodyPr>
              <a:lstStyle/>
              <a:p>
                <a:pPr algn="ctr">
                  <a:tabLst>
                    <a:tab pos="2171700" algn="l"/>
                  </a:tabLst>
                </a:pPr>
                <a:r>
                  <a:rPr lang="zh-CN" altLang="en-US" sz="2200" dirty="0"/>
                  <a:t>最后获得损失函数值</a:t>
                </a:r>
                <a14:m>
                  <m:oMath xmlns:m="http://schemas.openxmlformats.org/officeDocument/2006/math">
                    <m:r>
                      <a:rPr lang="en-US" altLang="zh-CN" sz="2200" b="0" i="1" smtClean="0">
                        <a:latin typeface="Cambria Math" panose="02040503050406030204" pitchFamily="18" charset="0"/>
                      </a:rPr>
                      <m:t>𝐿</m:t>
                    </m:r>
                    <m:r>
                      <a:rPr lang="en-US" altLang="zh-CN" sz="2200" b="0" i="1" smtClean="0">
                        <a:latin typeface="Cambria Math" panose="02040503050406030204" pitchFamily="18" charset="0"/>
                      </a:rPr>
                      <m:t>(</m:t>
                    </m:r>
                    <m:r>
                      <a:rPr lang="en-US" altLang="zh-CN" sz="2200" b="1" i="0" smtClean="0">
                        <a:latin typeface="Cambria Math" panose="02040503050406030204" pitchFamily="18" charset="0"/>
                      </a:rPr>
                      <m:t>𝐖</m:t>
                    </m:r>
                    <m:r>
                      <a:rPr lang="en-US" altLang="zh-CN" sz="2200" b="0" i="1" smtClean="0">
                        <a:latin typeface="Cambria Math" panose="02040503050406030204" pitchFamily="18" charset="0"/>
                      </a:rPr>
                      <m:t>,</m:t>
                    </m:r>
                    <m:r>
                      <a:rPr lang="en-US" altLang="zh-CN" sz="2200" b="1" i="0" smtClean="0">
                        <a:latin typeface="Cambria Math" panose="02040503050406030204" pitchFamily="18" charset="0"/>
                      </a:rPr>
                      <m:t>𝐛</m:t>
                    </m:r>
                    <m:r>
                      <a:rPr lang="en-US" altLang="zh-CN" sz="2200" b="0" i="1" smtClean="0">
                        <a:latin typeface="Cambria Math" panose="02040503050406030204" pitchFamily="18" charset="0"/>
                      </a:rPr>
                      <m:t>,</m:t>
                    </m:r>
                    <m:r>
                      <a:rPr lang="en-US" altLang="zh-CN" sz="2200" b="1" i="0" smtClean="0">
                        <a:latin typeface="Cambria Math" panose="02040503050406030204" pitchFamily="18" charset="0"/>
                      </a:rPr>
                      <m:t>𝐕</m:t>
                    </m:r>
                    <m:r>
                      <a:rPr lang="en-US" altLang="zh-CN" sz="2200" b="0" i="1" smtClean="0">
                        <a:latin typeface="Cambria Math" panose="02040503050406030204" pitchFamily="18" charset="0"/>
                      </a:rPr>
                      <m:t>,</m:t>
                    </m:r>
                    <m:r>
                      <a:rPr lang="en-US" altLang="zh-CN" sz="2200" b="1" i="0" smtClean="0">
                        <a:latin typeface="Cambria Math" panose="02040503050406030204" pitchFamily="18" charset="0"/>
                      </a:rPr>
                      <m:t>𝐝</m:t>
                    </m:r>
                    <m:r>
                      <a:rPr lang="en-US" altLang="zh-CN" sz="2200" b="0" i="1" smtClean="0">
                        <a:latin typeface="Cambria Math" panose="02040503050406030204" pitchFamily="18" charset="0"/>
                      </a:rPr>
                      <m:t>)</m:t>
                    </m:r>
                  </m:oMath>
                </a14:m>
                <a:endParaRPr lang="zh-CN" altLang="en-US" sz="2200" dirty="0"/>
              </a:p>
            </p:txBody>
          </p:sp>
        </mc:Choice>
        <mc:Fallback xmlns="">
          <p:sp>
            <p:nvSpPr>
              <p:cNvPr id="39" name="TextBox 38">
                <a:extLst>
                  <a:ext uri="{FF2B5EF4-FFF2-40B4-BE49-F238E27FC236}">
                    <a16:creationId xmlns:a16="http://schemas.microsoft.com/office/drawing/2014/main" id="{6508C6CF-D376-4162-3313-028024F7F8A2}"/>
                  </a:ext>
                </a:extLst>
              </p:cNvPr>
              <p:cNvSpPr txBox="1">
                <a:spLocks noRot="1" noChangeAspect="1" noMove="1" noResize="1" noEditPoints="1" noAdjustHandles="1" noChangeArrowheads="1" noChangeShapeType="1" noTextEdit="1"/>
              </p:cNvSpPr>
              <p:nvPr/>
            </p:nvSpPr>
            <p:spPr>
              <a:xfrm>
                <a:off x="6139240" y="4878208"/>
                <a:ext cx="2738060" cy="769441"/>
              </a:xfrm>
              <a:prstGeom prst="rect">
                <a:avLst/>
              </a:prstGeom>
              <a:blipFill>
                <a:blip r:embed="rId13"/>
                <a:stretch>
                  <a:fillRect l="-2450" t="-6349" r="-2227" b="-952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9293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4" grpId="0"/>
      <p:bldP spid="35" grpId="0"/>
      <p:bldP spid="36" grpId="0"/>
      <p:bldP spid="37" grpId="0"/>
      <p:bldP spid="38" grpId="0"/>
      <p:bldP spid="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63373-293A-8F2A-B3D2-20B2DC387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0E337-6C27-E482-73CB-0895A594F051}"/>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9F69C042-6F39-78FC-7C6F-97D3E2348059}"/>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4359EC2E-882A-C187-DC87-405A9B4B2706}"/>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0ACC2FF5-9CCA-E51D-A750-865B1D564B20}"/>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7CD0C9E5-5B17-5DD7-B044-B8422B562F1D}"/>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38F047AF-85C5-26B2-282B-A1E5F6F840CF}"/>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8F67395D-8E39-66AB-3A5B-6200634EDFDF}"/>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40457749-202F-E1D4-823E-D630988C4600}"/>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C0890AC6-E3D3-FA53-D4F6-E68E8A6E7B09}"/>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D4766923-57DB-CAFE-2B8D-05F1D75B5935}"/>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743AB1D-99CA-871D-5C21-11CE9FA5C2F9}"/>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9743AB1D-99CA-871D-5C21-11CE9FA5C2F9}"/>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8A9185-C8EF-A6EB-D028-D34D02DEA330}"/>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CC31F31-84F3-019C-17C2-9D08C369DB18}"/>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CFF963EB-2B7A-8688-8F78-E65D78B948E3}"/>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28D0B645-BB5B-AA82-A532-8285C61FB963}"/>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E19768DC-FBE1-149F-88C4-84525AFB2C94}"/>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E0F26C85-CB1C-E4B8-E99C-CCFC723D5043}"/>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A905B17D-AE07-0698-5229-D4D5E4B823EF}"/>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111A9AB2-B2C0-BA15-6DF3-711070A9664D}"/>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D156EA8-7642-AE17-5DA3-A143E625AE8D}"/>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6F0E0001-1F7F-6206-10CA-60D2EE6C531A}"/>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FFC88657-739C-92EE-40AE-3B75816DEAFF}"/>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79CCE840-59A1-A6E4-B10E-7E7A62AA20CF}"/>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D5B1A530-115C-BD0A-C8BC-C4CAA0224BD4}"/>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C8F1125C-64D8-666C-F46B-B5AA0220A43D}"/>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3926F1D0-6547-6B16-E0F6-978D81F1BABC}"/>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CDAC6BD2-1EB7-60A4-3CC4-A32FF963E7A0}"/>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DAF6C036-541C-B5BB-12B7-4FD299582E0B}"/>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08315E92-91C0-B9FD-042A-7273669AE3FB}"/>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795916FF-46E2-D729-FA70-44C5EB59AA6B}"/>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1F298EB1-35CD-4BE5-3765-E51163C6556D}"/>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03105E12-1B3E-1A95-9438-A633D31321C5}"/>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B82AA81E-D77E-48DB-4626-67FED3B0A7C8}"/>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BECF80C3-5499-6E56-C7EF-44A1CE0A14E5}"/>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0579B1F2-5720-3D3D-9B91-B92793F55F91}"/>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0579B1F2-5720-3D3D-9B91-B92793F55F91}"/>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3F7BDD06-6AAB-164D-19B4-077627F9AFF4}"/>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3F7BDD06-6AAB-164D-19B4-077627F9AFF4}"/>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312FC24-8FF8-D72F-DF6D-14E2596A68C7}"/>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5312FC24-8FF8-D72F-DF6D-14E2596A68C7}"/>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792CEF1A-5FDB-BEE9-A2B4-990C1A3612CF}"/>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136D8DA0-2145-7672-2B3A-00983DC07EAD}"/>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C565CB97-459E-DD7D-9E11-3B5EDE24ACC9}"/>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76557F7E-CDAA-317E-A0DC-39BAD586C7EA}"/>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D595B2F-226F-2771-C3A4-A9F9474C9635}"/>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66FA7C34-A933-9FA8-08F8-326DE29061B3}"/>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6F42D43F-47AC-4AD5-C0AB-449954B67172}"/>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90698A5C-7E6C-EFB7-C277-69335D4DAF57}"/>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4ACB29A-37CC-1203-2B5C-600039E30884}"/>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C4ACB29A-37CC-1203-2B5C-600039E30884}"/>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22787D1-FFBC-8654-9C8D-947F39B29C7B}"/>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D22787D1-FFBC-8654-9C8D-947F39B29C7B}"/>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F922548-4DD9-696E-6468-B19E84DB0817}"/>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1F922548-4DD9-696E-6468-B19E84DB0817}"/>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9B26461A-1965-0172-414F-53C3F0DB7AC7}"/>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C1AB0EA4-41B3-8895-804B-D588B91ED861}"/>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0E6D0E3-3B15-439C-197A-8F581BEA6269}"/>
                  </a:ext>
                </a:extLst>
              </p:cNvPr>
              <p:cNvSpPr txBox="1"/>
              <p:nvPr/>
            </p:nvSpPr>
            <p:spPr>
              <a:xfrm>
                <a:off x="3582265" y="4951175"/>
                <a:ext cx="4316598" cy="951414"/>
              </a:xfrm>
              <a:prstGeom prst="rect">
                <a:avLst/>
              </a:prstGeom>
              <a:noFill/>
            </p:spPr>
            <p:txBody>
              <a:bodyPr wrap="square" rtlCol="0">
                <a:spAutoFit/>
              </a:bodyPr>
              <a:lstStyle/>
              <a:p>
                <a:pPr algn="ctr">
                  <a:tabLst>
                    <a:tab pos="2171700" algn="l"/>
                  </a:tabLst>
                </a:pPr>
                <a:r>
                  <a:rPr lang="zh-CN" altLang="en-US" sz="2200" dirty="0"/>
                  <a:t>和从前</a:t>
                </a:r>
                <a:r>
                  <a:rPr lang="zh-CN" altLang="en-US" sz="2200" b="0" dirty="0"/>
                  <a:t>什么区别：</a:t>
                </a:r>
                <a14:m>
                  <m:oMath xmlns:m="http://schemas.openxmlformats.org/officeDocument/2006/math">
                    <m:func>
                      <m:funcPr>
                        <m:ctrlPr>
                          <a:rPr lang="en-US" altLang="zh-CN" sz="2200" b="0" i="1" smtClean="0">
                            <a:latin typeface="Cambria Math" panose="02040503050406030204" pitchFamily="18" charset="0"/>
                          </a:rPr>
                        </m:ctrlPr>
                      </m:funcPr>
                      <m:fName>
                        <m:limLow>
                          <m:limLowPr>
                            <m:ctrlPr>
                              <a:rPr lang="en-US" altLang="zh-CN" sz="2200" b="0" i="1" smtClean="0">
                                <a:latin typeface="Cambria Math" panose="02040503050406030204" pitchFamily="18" charset="0"/>
                              </a:rPr>
                            </m:ctrlPr>
                          </m:limLowPr>
                          <m:e>
                            <m:r>
                              <m:rPr>
                                <m:sty m:val="p"/>
                              </m:rPr>
                              <a:rPr lang="en-US" altLang="zh-CN" sz="2200" b="0" i="0" smtClean="0">
                                <a:latin typeface="Cambria Math" panose="02040503050406030204" pitchFamily="18" charset="0"/>
                              </a:rPr>
                              <m:t>lim</m:t>
                            </m:r>
                          </m:e>
                          <m:lim>
                            <m:r>
                              <a:rPr lang="zh-CN" altLang="en-US" sz="2200" b="0" i="1" smtClean="0">
                                <a:latin typeface="Cambria Math" panose="02040503050406030204" pitchFamily="18" charset="0"/>
                              </a:rPr>
                              <m:t>𝛿</m:t>
                            </m:r>
                            <m:r>
                              <a:rPr lang="zh-CN" altLang="en-US" sz="2200" b="0" i="1" smtClean="0">
                                <a:latin typeface="Cambria Math" panose="02040503050406030204" pitchFamily="18" charset="0"/>
                              </a:rPr>
                              <m:t>→0</m:t>
                            </m:r>
                          </m:lim>
                        </m:limLow>
                      </m:fName>
                      <m:e>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𝐿</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𝑣</m:t>
                                </m:r>
                              </m:e>
                              <m:sub>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𝑗</m:t>
                                </m:r>
                              </m:sub>
                            </m:sSub>
                            <m:r>
                              <a:rPr lang="en-US" altLang="zh-CN" sz="2200" b="0" i="1" smtClean="0">
                                <a:latin typeface="Cambria Math" panose="02040503050406030204" pitchFamily="18" charset="0"/>
                              </a:rPr>
                              <m:t>+</m:t>
                            </m:r>
                            <m:r>
                              <a:rPr lang="zh-CN" altLang="en-US" sz="2200" b="0" i="1" smtClean="0">
                                <a:latin typeface="Cambria Math" panose="02040503050406030204" pitchFamily="18" charset="0"/>
                              </a:rPr>
                              <m:t>𝛿</m:t>
                            </m:r>
                            <m:r>
                              <a:rPr lang="en-US" altLang="zh-CN" sz="2200" b="0" i="1" smtClean="0">
                                <a:latin typeface="Cambria Math" panose="02040503050406030204" pitchFamily="18" charset="0"/>
                              </a:rPr>
                              <m:t>,∗)−</m:t>
                            </m:r>
                            <m:r>
                              <a:rPr lang="en-US" altLang="zh-CN" sz="2200" i="1">
                                <a:latin typeface="Cambria Math" panose="02040503050406030204" pitchFamily="18" charset="0"/>
                              </a:rPr>
                              <m:t>𝐿</m:t>
                            </m:r>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𝑣</m:t>
                                </m:r>
                              </m:e>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𝑗</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oMath>
                </a14:m>
                <a:endParaRPr lang="zh-CN" altLang="en-US" sz="2200" dirty="0"/>
              </a:p>
            </p:txBody>
          </p:sp>
        </mc:Choice>
        <mc:Fallback xmlns="">
          <p:sp>
            <p:nvSpPr>
              <p:cNvPr id="39" name="TextBox 38">
                <a:extLst>
                  <a:ext uri="{FF2B5EF4-FFF2-40B4-BE49-F238E27FC236}">
                    <a16:creationId xmlns:a16="http://schemas.microsoft.com/office/drawing/2014/main" id="{E0E6D0E3-3B15-439C-197A-8F581BEA6269}"/>
                  </a:ext>
                </a:extLst>
              </p:cNvPr>
              <p:cNvSpPr txBox="1">
                <a:spLocks noRot="1" noChangeAspect="1" noMove="1" noResize="1" noEditPoints="1" noAdjustHandles="1" noChangeArrowheads="1" noChangeShapeType="1" noTextEdit="1"/>
              </p:cNvSpPr>
              <p:nvPr/>
            </p:nvSpPr>
            <p:spPr>
              <a:xfrm>
                <a:off x="3582265" y="4951175"/>
                <a:ext cx="4316598" cy="951414"/>
              </a:xfrm>
              <a:prstGeom prst="rect">
                <a:avLst/>
              </a:prstGeom>
              <a:blipFill>
                <a:blip r:embed="rId13"/>
                <a:stretch>
                  <a:fillRect t="-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67402D74-43E0-28CF-8D57-93AA850E5120}"/>
                  </a:ext>
                </a:extLst>
              </p:cNvPr>
              <p:cNvSpPr txBox="1"/>
              <p:nvPr/>
            </p:nvSpPr>
            <p:spPr>
              <a:xfrm>
                <a:off x="5509759" y="3284118"/>
                <a:ext cx="396194"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𝑖</m:t>
                          </m:r>
                          <m:r>
                            <a:rPr lang="en-US" sz="1800" b="0" i="1" smtClean="0">
                              <a:latin typeface="Cambria Math" panose="02040503050406030204" pitchFamily="18" charset="0"/>
                            </a:rPr>
                            <m:t>,</m:t>
                          </m:r>
                          <m:r>
                            <a:rPr lang="en-US" sz="1800" b="0" i="1" smtClean="0">
                              <a:latin typeface="Cambria Math" panose="02040503050406030204" pitchFamily="18" charset="0"/>
                            </a:rPr>
                            <m:t>𝑗</m:t>
                          </m:r>
                        </m:sub>
                      </m:sSub>
                    </m:oMath>
                  </m:oMathPara>
                </a14:m>
                <a:endParaRPr lang="en-US" dirty="0"/>
              </a:p>
            </p:txBody>
          </p:sp>
        </mc:Choice>
        <mc:Fallback xmlns="">
          <p:sp>
            <p:nvSpPr>
              <p:cNvPr id="41" name="TextBox 40">
                <a:extLst>
                  <a:ext uri="{FF2B5EF4-FFF2-40B4-BE49-F238E27FC236}">
                    <a16:creationId xmlns:a16="http://schemas.microsoft.com/office/drawing/2014/main" id="{67402D74-43E0-28CF-8D57-93AA850E5120}"/>
                  </a:ext>
                </a:extLst>
              </p:cNvPr>
              <p:cNvSpPr txBox="1">
                <a:spLocks noRot="1" noChangeAspect="1" noMove="1" noResize="1" noEditPoints="1" noAdjustHandles="1" noChangeArrowheads="1" noChangeShapeType="1" noTextEdit="1"/>
              </p:cNvSpPr>
              <p:nvPr/>
            </p:nvSpPr>
            <p:spPr>
              <a:xfrm>
                <a:off x="5509759" y="3284118"/>
                <a:ext cx="396194" cy="391646"/>
              </a:xfrm>
              <a:prstGeom prst="rect">
                <a:avLst/>
              </a:prstGeom>
              <a:blipFill>
                <a:blip r:embed="rId14"/>
                <a:stretch>
                  <a:fillRect r="-20000" b="-781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9A258B41-7047-9BC4-3738-1D0B8D3E1108}"/>
              </a:ext>
            </a:extLst>
          </p:cNvPr>
          <p:cNvSpPr txBox="1"/>
          <p:nvPr/>
        </p:nvSpPr>
        <p:spPr>
          <a:xfrm>
            <a:off x="3733800" y="1699773"/>
            <a:ext cx="4316598" cy="769441"/>
          </a:xfrm>
          <a:prstGeom prst="rect">
            <a:avLst/>
          </a:prstGeom>
          <a:noFill/>
        </p:spPr>
        <p:txBody>
          <a:bodyPr wrap="square" rtlCol="0">
            <a:spAutoFit/>
          </a:bodyPr>
          <a:lstStyle/>
          <a:p>
            <a:pPr algn="ctr">
              <a:tabLst>
                <a:tab pos="2171700" algn="l"/>
              </a:tabLst>
            </a:pPr>
            <a:r>
              <a:rPr lang="zh-CN" altLang="en-US" sz="2200" dirty="0"/>
              <a:t>这一层比较</a:t>
            </a:r>
            <a:endParaRPr lang="en-US" altLang="zh-CN" sz="2200" dirty="0"/>
          </a:p>
          <a:p>
            <a:pPr algn="ctr">
              <a:tabLst>
                <a:tab pos="2171700" algn="l"/>
              </a:tabLst>
            </a:pPr>
            <a:r>
              <a:rPr lang="zh-CN" altLang="en-US" sz="2200" dirty="0"/>
              <a:t>简单，例如</a:t>
            </a:r>
          </a:p>
        </p:txBody>
      </p:sp>
    </p:spTree>
    <p:custDataLst>
      <p:tags r:id="rId1"/>
    </p:custDataLst>
    <p:extLst>
      <p:ext uri="{BB962C8B-B14F-4D97-AF65-F5344CB8AC3E}">
        <p14:creationId xmlns:p14="http://schemas.microsoft.com/office/powerpoint/2010/main" val="2705220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P spid="4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614E0-01F5-4496-790A-F265A4C22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167AA-4B81-C2F1-F328-7C89D9A582FD}"/>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41238349-E7F1-1C26-62EF-5B3191B37AA4}"/>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666AAC77-A8CC-81C5-066F-12F3EA1D1377}"/>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7EC48440-F4B4-BCCF-1FEE-C1AAE8FFFD6A}"/>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75B93349-5936-5558-EB97-7C8B069A851A}"/>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27934F1A-3DEB-0B10-AA5A-255C575BBBE6}"/>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87E5B647-1EDF-AB6C-8737-F854AD3EAAFE}"/>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6F0EE66C-55D4-6398-7D83-D154BF9EB9C4}"/>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6359BB32-0502-D4D7-F30B-73760C079E7D}"/>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1BA905D1-9D7F-8648-766A-DCA4092206D6}"/>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FED27D-B83F-E6DC-52D2-2A01902FC79A}"/>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74FED27D-B83F-E6DC-52D2-2A01902FC79A}"/>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1EE9CF9-9548-99FD-C020-6F340397DB59}"/>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20E62EF-2AF9-754B-6F71-E2B292A23FF9}"/>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B174B012-4AE2-370E-4D21-114A6F4E9572}"/>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3BB3EDB3-0BA5-433A-20A5-C1DEC4CF5316}"/>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97E730F6-45C4-15BD-6391-737E8D85E563}"/>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FA2B5056-8EEF-688B-388C-05BB8586D8D8}"/>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9FA9ED0-4B23-DA68-185C-CBB8839CBEFE}"/>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B64D14B3-1F9F-1977-9260-55E1BE709A0A}"/>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3EB6F177-F006-87C7-7AF3-CEA3EDDDDA29}"/>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A2C36940-A47A-7A16-2706-35C328C9D3FF}"/>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E34C0F45-4D5E-319A-B17D-2AC7988687DD}"/>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D1508E60-B6E4-7D3A-2E6A-0BCD5F31E7B2}"/>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80F17ED2-D17A-560B-C5C2-776E238A58FA}"/>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8013B7DB-D8FC-D52D-1152-E5CC9DDB3DF7}"/>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1A6DD29B-B8AB-0221-F5A8-50F3253D4CA3}"/>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C3C228AE-BD89-EBA5-6580-BEC18C2319EA}"/>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4BF5F6D9-F865-0F8B-EAC2-5F671B0DDBC4}"/>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259443D6-B630-8B45-EBA8-1AB1EDBFEEA0}"/>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F573924B-F328-2C5D-45B4-D632DC21BECB}"/>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D87CDE8-BCD3-50CE-64A5-03318CA36A77}"/>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316FDCCD-9929-752D-151A-3BB8A17E5592}"/>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FCD4A43A-6185-5DA2-6C0B-4171663A3294}"/>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43465B0F-08EE-B46D-FB28-83F6E4481C6B}"/>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FF121BE5-A91A-BD3B-8481-56E96F22B18C}"/>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FF121BE5-A91A-BD3B-8481-56E96F22B18C}"/>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0EC2CF90-74DF-3CA4-5C8E-E8D6BEB0F5A5}"/>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0EC2CF90-74DF-3CA4-5C8E-E8D6BEB0F5A5}"/>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0519E2A4-BD8D-6974-E4A9-25D3ABA7099B}"/>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0519E2A4-BD8D-6974-E4A9-25D3ABA7099B}"/>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5DE692F7-BC56-197C-8585-827F5CCFCE53}"/>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189A1B8A-C7E3-B7BF-4DD4-1B1264B3F6C9}"/>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5D06628D-309F-9FE9-195C-C12F726B3FE2}"/>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69EAE214-2B9A-5734-2CF4-00D6F224CE07}"/>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3C75372-851B-423A-7A40-B7A4C842BE55}"/>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DF0D0097-6C0A-80C9-7DF1-A9B4BEB3D7A1}"/>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7633A6CD-52C1-50F7-E344-1D346E11336C}"/>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B2CE0DF2-FEFF-0258-9EC9-0F4BF03C3DCD}"/>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3E29DC0-BD03-A2AA-F832-4ED1C6D0A46A}"/>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13E29DC0-BD03-A2AA-F832-4ED1C6D0A46A}"/>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884D103-AB34-2002-3E7D-218E1A4CE063}"/>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F884D103-AB34-2002-3E7D-218E1A4CE063}"/>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46C1A2F-2CDD-DDCA-4C8A-C5094BD8B712}"/>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846C1A2F-2CDD-DDCA-4C8A-C5094BD8B712}"/>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E9F8E91E-D4A4-1494-CB28-D5BC11BC277B}"/>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C4C76D0F-367F-05D3-41C5-ACE2D6895D23}"/>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9C59146-DAA8-A4C4-AFF9-D4A2D8B0A3BF}"/>
                  </a:ext>
                </a:extLst>
              </p:cNvPr>
              <p:cNvSpPr txBox="1"/>
              <p:nvPr/>
            </p:nvSpPr>
            <p:spPr>
              <a:xfrm>
                <a:off x="2413701" y="5366213"/>
                <a:ext cx="4316598" cy="951414"/>
              </a:xfrm>
              <a:prstGeom prst="rect">
                <a:avLst/>
              </a:prstGeom>
              <a:noFill/>
            </p:spPr>
            <p:txBody>
              <a:bodyPr wrap="square" rtlCol="0">
                <a:spAutoFit/>
              </a:bodyPr>
              <a:lstStyle/>
              <a:p>
                <a:pPr algn="ctr">
                  <a:tabLst>
                    <a:tab pos="2171700" algn="l"/>
                  </a:tabLst>
                </a:pPr>
                <a:r>
                  <a:rPr lang="zh-CN" altLang="en-US" sz="2200" dirty="0"/>
                  <a:t>我们想计算</a:t>
                </a:r>
                <a:r>
                  <a:rPr lang="zh-CN" altLang="en-US" sz="2200" b="0" dirty="0"/>
                  <a:t>：</a:t>
                </a:r>
                <a14:m>
                  <m:oMath xmlns:m="http://schemas.openxmlformats.org/officeDocument/2006/math">
                    <m:func>
                      <m:funcPr>
                        <m:ctrlPr>
                          <a:rPr lang="en-US" altLang="zh-CN" sz="2200" b="0" i="1" smtClean="0">
                            <a:latin typeface="Cambria Math" panose="02040503050406030204" pitchFamily="18" charset="0"/>
                          </a:rPr>
                        </m:ctrlPr>
                      </m:funcPr>
                      <m:fName>
                        <m:limLow>
                          <m:limLowPr>
                            <m:ctrlPr>
                              <a:rPr lang="en-US" altLang="zh-CN" sz="2200" b="0" i="1" smtClean="0">
                                <a:latin typeface="Cambria Math" panose="02040503050406030204" pitchFamily="18" charset="0"/>
                              </a:rPr>
                            </m:ctrlPr>
                          </m:limLowPr>
                          <m:e>
                            <m:r>
                              <m:rPr>
                                <m:sty m:val="p"/>
                              </m:rPr>
                              <a:rPr lang="en-US" altLang="zh-CN" sz="2200" b="0" i="0" smtClean="0">
                                <a:latin typeface="Cambria Math" panose="02040503050406030204" pitchFamily="18" charset="0"/>
                              </a:rPr>
                              <m:t>lim</m:t>
                            </m:r>
                          </m:e>
                          <m:lim>
                            <m:r>
                              <a:rPr lang="zh-CN" altLang="en-US" sz="2200" b="0" i="1" smtClean="0">
                                <a:latin typeface="Cambria Math" panose="02040503050406030204" pitchFamily="18" charset="0"/>
                              </a:rPr>
                              <m:t>𝛿</m:t>
                            </m:r>
                            <m:r>
                              <a:rPr lang="zh-CN" altLang="en-US" sz="2200" b="0" i="1" smtClean="0">
                                <a:latin typeface="Cambria Math" panose="02040503050406030204" pitchFamily="18" charset="0"/>
                              </a:rPr>
                              <m:t>→0</m:t>
                            </m:r>
                          </m:lim>
                        </m:limLow>
                      </m:fName>
                      <m:e>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𝐿</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𝑛</m:t>
                                </m:r>
                              </m:sub>
                            </m:sSub>
                            <m:r>
                              <a:rPr lang="en-US" altLang="zh-CN" sz="2200" b="0" i="1" smtClean="0">
                                <a:latin typeface="Cambria Math" panose="02040503050406030204" pitchFamily="18" charset="0"/>
                              </a:rPr>
                              <m:t>+</m:t>
                            </m:r>
                            <m:r>
                              <a:rPr lang="zh-CN" altLang="en-US" sz="2200" b="0" i="1" smtClean="0">
                                <a:latin typeface="Cambria Math" panose="02040503050406030204" pitchFamily="18" charset="0"/>
                              </a:rPr>
                              <m:t>𝛿</m:t>
                            </m:r>
                            <m:r>
                              <a:rPr lang="en-US" altLang="zh-CN" sz="2200" b="0" i="1" smtClean="0">
                                <a:latin typeface="Cambria Math" panose="02040503050406030204" pitchFamily="18" charset="0"/>
                              </a:rPr>
                              <m:t>,∗)−</m:t>
                            </m:r>
                            <m:r>
                              <a:rPr lang="en-US" altLang="zh-CN" sz="2200" i="1">
                                <a:latin typeface="Cambria Math" panose="02040503050406030204" pitchFamily="18" charset="0"/>
                              </a:rPr>
                              <m:t>𝐿</m:t>
                            </m:r>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i="1">
                                    <a:latin typeface="Cambria Math" panose="02040503050406030204" pitchFamily="18" charset="0"/>
                                  </a:rPr>
                                  <m:t>,</m:t>
                                </m:r>
                                <m:r>
                                  <a:rPr lang="en-US" altLang="zh-CN" sz="2200" b="0" i="1" smtClean="0">
                                    <a:latin typeface="Cambria Math" panose="02040503050406030204" pitchFamily="18" charset="0"/>
                                  </a:rPr>
                                  <m:t>𝑛</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oMath>
                </a14:m>
                <a:endParaRPr lang="zh-CN" altLang="en-US" sz="2200" dirty="0"/>
              </a:p>
            </p:txBody>
          </p:sp>
        </mc:Choice>
        <mc:Fallback xmlns="">
          <p:sp>
            <p:nvSpPr>
              <p:cNvPr id="39" name="TextBox 38">
                <a:extLst>
                  <a:ext uri="{FF2B5EF4-FFF2-40B4-BE49-F238E27FC236}">
                    <a16:creationId xmlns:a16="http://schemas.microsoft.com/office/drawing/2014/main" id="{09C59146-DAA8-A4C4-AFF9-D4A2D8B0A3BF}"/>
                  </a:ext>
                </a:extLst>
              </p:cNvPr>
              <p:cNvSpPr txBox="1">
                <a:spLocks noRot="1" noChangeAspect="1" noMove="1" noResize="1" noEditPoints="1" noAdjustHandles="1" noChangeArrowheads="1" noChangeShapeType="1" noTextEdit="1"/>
              </p:cNvSpPr>
              <p:nvPr/>
            </p:nvSpPr>
            <p:spPr>
              <a:xfrm>
                <a:off x="2413701" y="5366213"/>
                <a:ext cx="4316598" cy="951414"/>
              </a:xfrm>
              <a:prstGeom prst="rect">
                <a:avLst/>
              </a:prstGeom>
              <a:blipFill>
                <a:blip r:embed="rId13"/>
                <a:stretch>
                  <a:fillRect t="-4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D914D35-16D8-D5D9-682C-0B0029BDC090}"/>
                  </a:ext>
                </a:extLst>
              </p:cNvPr>
              <p:cNvSpPr txBox="1"/>
              <p:nvPr/>
            </p:nvSpPr>
            <p:spPr>
              <a:xfrm>
                <a:off x="2285944" y="5024319"/>
                <a:ext cx="1494883" cy="381515"/>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以</m:t>
                    </m:r>
                    <m:sSub>
                      <m:sSubPr>
                        <m:ctrlPr>
                          <a:rPr lang="en-US" sz="1800"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sub>
                    </m:sSub>
                  </m:oMath>
                </a14:m>
                <a:r>
                  <a:rPr lang="zh-CN" altLang="en-US" dirty="0"/>
                  <a:t>为例</a:t>
                </a:r>
                <a:endParaRPr lang="en-US" dirty="0"/>
              </a:p>
            </p:txBody>
          </p:sp>
        </mc:Choice>
        <mc:Fallback xmlns="">
          <p:sp>
            <p:nvSpPr>
              <p:cNvPr id="41" name="TextBox 40">
                <a:extLst>
                  <a:ext uri="{FF2B5EF4-FFF2-40B4-BE49-F238E27FC236}">
                    <a16:creationId xmlns:a16="http://schemas.microsoft.com/office/drawing/2014/main" id="{BD914D35-16D8-D5D9-682C-0B0029BDC090}"/>
                  </a:ext>
                </a:extLst>
              </p:cNvPr>
              <p:cNvSpPr txBox="1">
                <a:spLocks noRot="1" noChangeAspect="1" noMove="1" noResize="1" noEditPoints="1" noAdjustHandles="1" noChangeArrowheads="1" noChangeShapeType="1" noTextEdit="1"/>
              </p:cNvSpPr>
              <p:nvPr/>
            </p:nvSpPr>
            <p:spPr>
              <a:xfrm>
                <a:off x="2285944" y="5024319"/>
                <a:ext cx="1494883" cy="381515"/>
              </a:xfrm>
              <a:prstGeom prst="rect">
                <a:avLst/>
              </a:prstGeom>
              <a:blipFill>
                <a:blip r:embed="rId14"/>
                <a:stretch>
                  <a:fillRect l="-816" t="-12698" b="-1587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CBFA6292-5CE2-5081-7391-9E7503498D95}"/>
              </a:ext>
            </a:extLst>
          </p:cNvPr>
          <p:cNvSpPr txBox="1"/>
          <p:nvPr/>
        </p:nvSpPr>
        <p:spPr>
          <a:xfrm>
            <a:off x="1640864" y="1612348"/>
            <a:ext cx="1941401" cy="769441"/>
          </a:xfrm>
          <a:prstGeom prst="rect">
            <a:avLst/>
          </a:prstGeom>
          <a:noFill/>
        </p:spPr>
        <p:txBody>
          <a:bodyPr wrap="square" rtlCol="0">
            <a:spAutoFit/>
          </a:bodyPr>
          <a:lstStyle/>
          <a:p>
            <a:pPr algn="ctr">
              <a:tabLst>
                <a:tab pos="2171700" algn="l"/>
              </a:tabLst>
            </a:pPr>
            <a:r>
              <a:rPr lang="zh-CN" altLang="en-US" sz="2200" dirty="0"/>
              <a:t>这一层计算就比较麻烦了</a:t>
            </a:r>
          </a:p>
        </p:txBody>
      </p:sp>
    </p:spTree>
    <p:custDataLst>
      <p:tags r:id="rId1"/>
    </p:custDataLst>
    <p:extLst>
      <p:ext uri="{BB962C8B-B14F-4D97-AF65-F5344CB8AC3E}">
        <p14:creationId xmlns:p14="http://schemas.microsoft.com/office/powerpoint/2010/main" val="3100071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A2461-417A-816F-2E0C-1E729A4D7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4AB5A-8181-F534-959E-C819F972F7AE}"/>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D22C233D-C7F9-1AB6-69A0-C0238458960E}"/>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1BD41412-DD15-6B8B-75BE-80EFB18946BC}"/>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70F43F6D-3E04-6721-E0F1-9CD4275DC8DA}"/>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4953192F-D20B-69B8-A470-F6AF28F766AA}"/>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1BE34311-30D3-15F5-C411-671B67B9A692}"/>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CBCC1E8E-1E9B-ED6C-0BFD-31E6CB8D2B6F}"/>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6F5C94C4-B7F0-E749-64DA-80C91C99A84E}"/>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3CA4289D-2BA8-382A-0484-423F98CB7711}"/>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198C7104-EE39-F7D8-46E0-3E9C93046375}"/>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F5850C-DEE7-9268-5AE9-D7D07B3398D2}"/>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10F5850C-DEE7-9268-5AE9-D7D07B3398D2}"/>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F3CDCC0-FAF1-3CC9-3E25-9D9583EF47B6}"/>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32A5027-4827-7CCC-0FBD-4CA912F9C8FA}"/>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1EE96728-D66F-0AEB-9702-82864D21A7AF}"/>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54B18F80-2ED4-A844-0C05-E9D6BEABED24}"/>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7B7B857F-9034-03EE-979C-DDF01AF3F37C}"/>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0B48E817-5C92-89C7-7BA3-101AE937F335}"/>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10D129F3-E85A-882B-7891-6C577EC1F434}"/>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0F6EF7D2-F221-34FF-DE6F-12A0D5C8BD02}"/>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F5D510D-424F-759F-1FD2-3B52705DB096}"/>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094C6BEC-6486-F6E9-3603-761332D46591}"/>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813E9F8A-4FFC-A971-437D-66A2A8E27C64}"/>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83362E2E-6405-7ECB-494E-C78913F5B301}"/>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B78DCB1C-36EC-81B2-E803-2C47A905EDCE}"/>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A8EED70F-13D8-5A4B-98AE-039EC183BCB6}"/>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56276968-8245-0E2C-869D-C19C6FCEA384}"/>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7709B14D-DD4B-46FF-D82A-C1AE4D2AFAA0}"/>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D59F77E8-0770-8522-69B5-595C7B50FEC9}"/>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9866A5FC-7288-8253-E93C-E2BF85DBEE6D}"/>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17C3F776-F6FF-CFAC-D2A6-674A39269E87}"/>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6879B391-6199-8F6D-C638-E9DD4326758B}"/>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86BAA295-ED42-552A-6E79-41579D38F764}"/>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6A79F94F-C849-F224-F291-B4B1453CBFC4}"/>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01A19685-9B30-A846-3ED1-8CBF82F7E456}"/>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2BCBDF1C-301D-0D35-2390-574B9A124D45}"/>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2BCBDF1C-301D-0D35-2390-574B9A124D45}"/>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D276FD66-4FC4-5197-01DA-95ABEE2EC2DB}"/>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D276FD66-4FC4-5197-01DA-95ABEE2EC2D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BF816B48-7AB2-6D2A-DB5A-BB863B5DA80C}"/>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BF816B48-7AB2-6D2A-DB5A-BB863B5DA80C}"/>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3ADADD04-C054-B034-FB98-84464B18D8F6}"/>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18DB69EE-BB9E-E853-0B38-0D7D30C138C9}"/>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1D92E408-1031-5C03-0264-87ACDC4E681C}"/>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FEB15EAE-6EB9-67B4-E678-A87CC91986EC}"/>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429A278-C0DA-B5B1-10AF-E9BD7214D7EE}"/>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4034C7E4-5E5D-AAC9-7F0D-A793734A5994}"/>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8BBB93ED-5160-0C9C-D189-9A0FCC4C9461}"/>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451697FE-B055-C78D-8518-FF378D36287C}"/>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A9875E5-910F-781D-46CD-7C079A465535}"/>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FA9875E5-910F-781D-46CD-7C079A465535}"/>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0F362D7-E605-1521-4B33-F0CC52A13727}"/>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B0F362D7-E605-1521-4B33-F0CC52A13727}"/>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8A496D6-E5DF-5A2B-1DE6-07F3CF6B091C}"/>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B8A496D6-E5DF-5A2B-1DE6-07F3CF6B091C}"/>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C28C6E36-41B2-ACF4-7674-F60AB128AC70}"/>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B7F12141-1279-8CDC-60EA-0AF4570CC808}"/>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BACD677-0EE6-C0CA-1BE1-AD9F4A7997B4}"/>
                  </a:ext>
                </a:extLst>
              </p:cNvPr>
              <p:cNvSpPr txBox="1"/>
              <p:nvPr/>
            </p:nvSpPr>
            <p:spPr>
              <a:xfrm>
                <a:off x="2413701" y="5366213"/>
                <a:ext cx="4316598" cy="937116"/>
              </a:xfrm>
              <a:prstGeom prst="rect">
                <a:avLst/>
              </a:prstGeom>
              <a:noFill/>
            </p:spPr>
            <p:txBody>
              <a:bodyPr wrap="square" rtlCol="0">
                <a:spAutoFit/>
              </a:bodyPr>
              <a:lstStyle/>
              <a:p>
                <a:pPr algn="ctr">
                  <a:tabLst>
                    <a:tab pos="2171700" algn="l"/>
                  </a:tabLst>
                </a:pPr>
                <a:r>
                  <a:rPr lang="zh-CN" altLang="en-US" sz="2200" dirty="0"/>
                  <a:t>容易计算的是</a:t>
                </a:r>
                <a:r>
                  <a:rPr lang="zh-CN" altLang="en-US" sz="2200" b="0" dirty="0"/>
                  <a:t>：</a:t>
                </a:r>
                <a14:m>
                  <m:oMath xmlns:m="http://schemas.openxmlformats.org/officeDocument/2006/math">
                    <m:func>
                      <m:funcPr>
                        <m:ctrlPr>
                          <a:rPr lang="en-US" altLang="zh-CN" sz="2200" b="0" i="1" smtClean="0">
                            <a:latin typeface="Cambria Math" panose="02040503050406030204" pitchFamily="18" charset="0"/>
                          </a:rPr>
                        </m:ctrlPr>
                      </m:funcPr>
                      <m:fName>
                        <m:limLow>
                          <m:limLowPr>
                            <m:ctrlPr>
                              <a:rPr lang="en-US" altLang="zh-CN" sz="2200" b="0" i="1" smtClean="0">
                                <a:latin typeface="Cambria Math" panose="02040503050406030204" pitchFamily="18" charset="0"/>
                              </a:rPr>
                            </m:ctrlPr>
                          </m:limLowPr>
                          <m:e>
                            <m:r>
                              <m:rPr>
                                <m:sty m:val="p"/>
                              </m:rPr>
                              <a:rPr lang="en-US" altLang="zh-CN" sz="2200" b="0" i="0" smtClean="0">
                                <a:latin typeface="Cambria Math" panose="02040503050406030204" pitchFamily="18" charset="0"/>
                              </a:rPr>
                              <m:t>lim</m:t>
                            </m:r>
                          </m:e>
                          <m:lim>
                            <m:r>
                              <a:rPr lang="zh-CN" altLang="en-US" sz="2200" b="0" i="1" smtClean="0">
                                <a:latin typeface="Cambria Math" panose="02040503050406030204" pitchFamily="18" charset="0"/>
                              </a:rPr>
                              <m:t>𝛿</m:t>
                            </m:r>
                            <m:r>
                              <a:rPr lang="zh-CN" altLang="en-US" sz="2200" b="0" i="1" smtClean="0">
                                <a:latin typeface="Cambria Math" panose="02040503050406030204" pitchFamily="18" charset="0"/>
                              </a:rPr>
                              <m:t>→0</m:t>
                            </m:r>
                          </m:lim>
                        </m:limLow>
                      </m:fName>
                      <m:e>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𝑓</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𝑛</m:t>
                                </m:r>
                              </m:sub>
                            </m:sSub>
                            <m:r>
                              <a:rPr lang="en-US" altLang="zh-CN" sz="2200" b="0" i="1" smtClean="0">
                                <a:latin typeface="Cambria Math" panose="02040503050406030204" pitchFamily="18" charset="0"/>
                              </a:rPr>
                              <m:t>+</m:t>
                            </m:r>
                            <m:r>
                              <a:rPr lang="zh-CN" altLang="en-US" sz="2200" b="0" i="1" smtClean="0">
                                <a:latin typeface="Cambria Math" panose="02040503050406030204" pitchFamily="18" charset="0"/>
                              </a:rPr>
                              <m:t>𝛿</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𝑓</m:t>
                            </m:r>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i="1">
                                    <a:latin typeface="Cambria Math" panose="02040503050406030204" pitchFamily="18" charset="0"/>
                                  </a:rPr>
                                  <m:t>,</m:t>
                                </m:r>
                                <m:r>
                                  <a:rPr lang="en-US" altLang="zh-CN" sz="2200" b="0" i="1" smtClean="0">
                                    <a:latin typeface="Cambria Math" panose="02040503050406030204" pitchFamily="18" charset="0"/>
                                  </a:rPr>
                                  <m:t>𝑛</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oMath>
                </a14:m>
                <a:endParaRPr lang="zh-CN" altLang="en-US" sz="2200" dirty="0"/>
              </a:p>
            </p:txBody>
          </p:sp>
        </mc:Choice>
        <mc:Fallback xmlns="">
          <p:sp>
            <p:nvSpPr>
              <p:cNvPr id="39" name="TextBox 38">
                <a:extLst>
                  <a:ext uri="{FF2B5EF4-FFF2-40B4-BE49-F238E27FC236}">
                    <a16:creationId xmlns:a16="http://schemas.microsoft.com/office/drawing/2014/main" id="{DBACD677-0EE6-C0CA-1BE1-AD9F4A7997B4}"/>
                  </a:ext>
                </a:extLst>
              </p:cNvPr>
              <p:cNvSpPr txBox="1">
                <a:spLocks noRot="1" noChangeAspect="1" noMove="1" noResize="1" noEditPoints="1" noAdjustHandles="1" noChangeArrowheads="1" noChangeShapeType="1" noTextEdit="1"/>
              </p:cNvSpPr>
              <p:nvPr/>
            </p:nvSpPr>
            <p:spPr>
              <a:xfrm>
                <a:off x="2413701" y="5366213"/>
                <a:ext cx="4316598" cy="937116"/>
              </a:xfrm>
              <a:prstGeom prst="rect">
                <a:avLst/>
              </a:prstGeom>
              <a:blipFill>
                <a:blip r:embed="rId13"/>
                <a:stretch>
                  <a:fillRect t="-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29BDDEF-C53E-562E-BC8E-5953D1D2F732}"/>
                  </a:ext>
                </a:extLst>
              </p:cNvPr>
              <p:cNvSpPr txBox="1"/>
              <p:nvPr/>
            </p:nvSpPr>
            <p:spPr>
              <a:xfrm>
                <a:off x="2285944" y="5024319"/>
                <a:ext cx="1494883" cy="381515"/>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以</m:t>
                    </m:r>
                    <m:sSub>
                      <m:sSubPr>
                        <m:ctrlPr>
                          <a:rPr lang="en-US" sz="1800"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sub>
                    </m:sSub>
                  </m:oMath>
                </a14:m>
                <a:r>
                  <a:rPr lang="zh-CN" altLang="en-US" dirty="0"/>
                  <a:t>为例</a:t>
                </a:r>
                <a:endParaRPr lang="en-US" dirty="0"/>
              </a:p>
            </p:txBody>
          </p:sp>
        </mc:Choice>
        <mc:Fallback xmlns="">
          <p:sp>
            <p:nvSpPr>
              <p:cNvPr id="41" name="TextBox 40">
                <a:extLst>
                  <a:ext uri="{FF2B5EF4-FFF2-40B4-BE49-F238E27FC236}">
                    <a16:creationId xmlns:a16="http://schemas.microsoft.com/office/drawing/2014/main" id="{729BDDEF-C53E-562E-BC8E-5953D1D2F732}"/>
                  </a:ext>
                </a:extLst>
              </p:cNvPr>
              <p:cNvSpPr txBox="1">
                <a:spLocks noRot="1" noChangeAspect="1" noMove="1" noResize="1" noEditPoints="1" noAdjustHandles="1" noChangeArrowheads="1" noChangeShapeType="1" noTextEdit="1"/>
              </p:cNvSpPr>
              <p:nvPr/>
            </p:nvSpPr>
            <p:spPr>
              <a:xfrm>
                <a:off x="2285944" y="5024319"/>
                <a:ext cx="1494883" cy="381515"/>
              </a:xfrm>
              <a:prstGeom prst="rect">
                <a:avLst/>
              </a:prstGeom>
              <a:blipFill>
                <a:blip r:embed="rId14"/>
                <a:stretch>
                  <a:fillRect l="-816" t="-12698" b="-1587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18AF0DF5-DDD4-FF80-8FF8-F2B5F2D16101}"/>
              </a:ext>
            </a:extLst>
          </p:cNvPr>
          <p:cNvSpPr txBox="1"/>
          <p:nvPr/>
        </p:nvSpPr>
        <p:spPr>
          <a:xfrm>
            <a:off x="1640864" y="1612348"/>
            <a:ext cx="1941401" cy="769441"/>
          </a:xfrm>
          <a:prstGeom prst="rect">
            <a:avLst/>
          </a:prstGeom>
          <a:noFill/>
        </p:spPr>
        <p:txBody>
          <a:bodyPr wrap="square" rtlCol="0">
            <a:spAutoFit/>
          </a:bodyPr>
          <a:lstStyle/>
          <a:p>
            <a:pPr algn="ctr">
              <a:tabLst>
                <a:tab pos="2171700" algn="l"/>
              </a:tabLst>
            </a:pPr>
            <a:r>
              <a:rPr lang="zh-CN" altLang="en-US" sz="2200" dirty="0"/>
              <a:t>这一层计算就比较麻烦了</a:t>
            </a:r>
          </a:p>
        </p:txBody>
      </p:sp>
    </p:spTree>
    <p:custDataLst>
      <p:tags r:id="rId1"/>
    </p:custDataLst>
    <p:extLst>
      <p:ext uri="{BB962C8B-B14F-4D97-AF65-F5344CB8AC3E}">
        <p14:creationId xmlns:p14="http://schemas.microsoft.com/office/powerpoint/2010/main" val="14919176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CBB0-B16C-963E-04C6-7314EB00F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F167D-0AAA-DF09-208F-21BA02805129}"/>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CAAB8412-65C8-6431-5D8C-1B05BC47C429}"/>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F9F992BC-5363-4C14-FA74-D7EF1F4E3C03}"/>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7A33F678-970B-CBAD-E6E2-0ED5999A5B3E}"/>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61951C61-1099-A7CD-1EA2-FEEB72F99BAC}"/>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A69948ED-A6AF-12CB-1076-F4F488AACC11}"/>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D48869C0-0B23-AD24-FD34-DD10FF63DF05}"/>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39CE8E91-7253-0136-FBCA-6E655FB22E79}"/>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C19E580F-E63B-4B91-38CC-298B8268DB03}"/>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879C82B2-78BA-AA71-79A4-8824739AB28E}"/>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97D901C-DC56-56EA-D262-3ED95F9D655C}"/>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E97D901C-DC56-56EA-D262-3ED95F9D655C}"/>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914963-2588-A641-CA61-9B9FAA7373F5}"/>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E9D2DA9-6CD1-1EFE-99FA-3A1FF68C42B6}"/>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70EA6688-14D0-ABAE-4909-AEF688ABD150}"/>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F9A27DB9-E369-FAA0-EEBE-049A09E4962A}"/>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01B19795-FACE-3E0D-6811-55CE975F7DF2}"/>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94FE6DE7-1726-A018-5A52-33F186DAC4E5}"/>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144D0307-96C2-2626-ED93-5D4018E84CE9}"/>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45F6DEF-F310-39F8-E2A5-B62F373D2967}"/>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3498A5F1-D9F3-BEF3-C1F0-4A2B94C32393}"/>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16EDB896-1433-54D4-3719-A71FF3F65AB2}"/>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5A35F4AA-6309-6FFA-76C1-2634C75A7879}"/>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7BC3C1F0-159A-8F18-E9BF-CAA8D3C20B70}"/>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4601CFEF-89AF-67B7-401C-D50D809EF990}"/>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D47FD819-1EE5-7ABD-2F1A-32F5F8141B2E}"/>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89FBB5EE-5EBD-3DA3-89D3-69C953888ECB}"/>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54C8B278-27B6-8F7A-80BE-58248DB7B631}"/>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B57EBE97-BADC-2EAF-B90B-B258FA0FACB4}"/>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C8115263-AA07-A768-6EB8-6D1FB96D4475}"/>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76BBC82C-DE15-6B92-7CAB-6D9FDCC8054F}"/>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41747E05-0377-0729-C63C-7D3593531E3B}"/>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D63961F2-2F10-50F0-BEE5-11D5E3C5D76C}"/>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BB7339BC-6695-4497-93D9-2CAC4CB72DCC}"/>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299E1F89-0B6D-91A0-3F72-94E6DFD322D5}"/>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A2156D01-D830-65EA-F188-357ECC6B3D0F}"/>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A2156D01-D830-65EA-F188-357ECC6B3D0F}"/>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32812D72-D97D-575D-8E42-F34A48ABBFB9}"/>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32812D72-D97D-575D-8E42-F34A48ABBFB9}"/>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9376CD4-EB0C-B0C3-959A-602FE9BC4702}"/>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E9376CD4-EB0C-B0C3-959A-602FE9BC4702}"/>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7CD4AF6A-D1B7-BE08-ED89-601141DB6FFD}"/>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4BF674DA-6696-D6E6-E26A-9FFAA54A0E10}"/>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AA18D3BD-A38E-4CE7-AF2B-099BF08FD5FC}"/>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839F8B0E-7F66-F4F6-34FE-8EE1CDE367D8}"/>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1D303CF8-BDAF-A06E-428F-053EF63B40D8}"/>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A98DB7DC-8A28-D8FD-4207-1CDB2BA098D6}"/>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EB7E626D-18B6-5B5E-1391-7691B46E4E84}"/>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1581631B-405E-341F-DF63-8ADEB1C2CD66}"/>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8D03729-7423-2741-39E5-8EE9A5CA56CE}"/>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88D03729-7423-2741-39E5-8EE9A5CA56CE}"/>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4384731-1EDF-E81F-A553-F882216A8D0C}"/>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F4384731-1EDF-E81F-A553-F882216A8D0C}"/>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D153FB7-0DF2-3F49-879D-1B3C203E1B30}"/>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1D153FB7-0DF2-3F49-879D-1B3C203E1B30}"/>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E9336476-D743-FEAB-C24C-86987400A124}"/>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D8F7F022-0DA4-3FE7-0F61-71E01C439FA6}"/>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EC61187-0FF7-8537-B6AF-42579509B4B4}"/>
                  </a:ext>
                </a:extLst>
              </p:cNvPr>
              <p:cNvSpPr txBox="1"/>
              <p:nvPr/>
            </p:nvSpPr>
            <p:spPr>
              <a:xfrm>
                <a:off x="1640864" y="5363308"/>
                <a:ext cx="5739699" cy="816442"/>
              </a:xfrm>
              <a:prstGeom prst="rect">
                <a:avLst/>
              </a:prstGeom>
              <a:noFill/>
            </p:spPr>
            <p:txBody>
              <a:bodyPr wrap="square" rtlCol="0">
                <a:spAutoFit/>
              </a:bodyPr>
              <a:lstStyle/>
              <a:p>
                <a:pPr algn="ctr">
                  <a:tabLst>
                    <a:tab pos="2171700" algn="l"/>
                  </a:tabLst>
                </a:pPr>
                <a:r>
                  <a:rPr lang="zh-CN" altLang="en-US" sz="2200" b="0" dirty="0"/>
                  <a:t>注意到</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𝑧</m:t>
                        </m:r>
                      </m:e>
                      <m:sub>
                        <m:r>
                          <a:rPr lang="en-US" sz="2400" i="1">
                            <a:latin typeface="Cambria Math" panose="02040503050406030204" pitchFamily="18" charset="0"/>
                          </a:rPr>
                          <m:t>𝑘</m:t>
                        </m:r>
                      </m:sub>
                    </m:sSub>
                    <m:r>
                      <a:rPr lang="en-US" sz="2400" b="0" i="1" smtClean="0">
                        <a:latin typeface="Cambria Math" panose="02040503050406030204" pitchFamily="18" charset="0"/>
                      </a:rPr>
                      <m:t>=</m:t>
                    </m:r>
                    <m:r>
                      <a:rPr lang="en-US" altLang="zh-CN" sz="2400" i="1">
                        <a:latin typeface="Cambria Math" panose="02040503050406030204" pitchFamily="18" charset="0"/>
                      </a:rPr>
                      <m:t>𝑓</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𝑛</m:t>
                        </m:r>
                      </m:sub>
                    </m:sSub>
                    <m:r>
                      <a:rPr lang="en-US" altLang="zh-CN" sz="2400" i="1">
                        <a:latin typeface="Cambria Math" panose="02040503050406030204" pitchFamily="18" charset="0"/>
                      </a:rPr>
                      <m:t>,∗)</m:t>
                    </m:r>
                  </m:oMath>
                </a14:m>
                <a:endParaRPr lang="en-US" altLang="zh-CN" sz="2200" dirty="0"/>
              </a:p>
              <a:p>
                <a:pPr algn="ctr">
                  <a:tabLst>
                    <a:tab pos="2171700" algn="l"/>
                  </a:tabLst>
                </a:pPr>
                <a:r>
                  <a:rPr lang="zh-CN" altLang="en-US" sz="2200" dirty="0"/>
                  <a:t>而且损失函数可以写成不包含</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𝑘</m:t>
                        </m:r>
                        <m:r>
                          <a:rPr lang="en-US" altLang="zh-CN" sz="2000" i="1">
                            <a:latin typeface="Cambria Math" panose="02040503050406030204" pitchFamily="18" charset="0"/>
                          </a:rPr>
                          <m:t>,</m:t>
                        </m:r>
                        <m:r>
                          <a:rPr lang="en-US" altLang="zh-CN" sz="2000" i="1">
                            <a:latin typeface="Cambria Math" panose="02040503050406030204" pitchFamily="18" charset="0"/>
                          </a:rPr>
                          <m:t>𝑛</m:t>
                        </m:r>
                      </m:sub>
                    </m:sSub>
                  </m:oMath>
                </a14:m>
                <a:r>
                  <a:rPr lang="zh-CN" altLang="en-US" sz="2200" dirty="0"/>
                  <a:t>的</a:t>
                </a:r>
                <a14:m>
                  <m:oMath xmlns:m="http://schemas.openxmlformats.org/officeDocument/2006/math">
                    <m:r>
                      <a:rPr lang="en-US" altLang="zh-CN" sz="2000" b="0" i="1" smtClean="0">
                        <a:latin typeface="Cambria Math" panose="02040503050406030204" pitchFamily="18" charset="0"/>
                      </a:rPr>
                      <m:t>𝐿</m:t>
                    </m:r>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i="1">
                            <a:latin typeface="Cambria Math" panose="02040503050406030204" pitchFamily="18" charset="0"/>
                          </a:rPr>
                          <m:t>𝑘</m:t>
                        </m:r>
                      </m:sub>
                    </m:sSub>
                    <m:r>
                      <a:rPr lang="en-US" altLang="zh-CN" sz="2000" i="1">
                        <a:latin typeface="Cambria Math" panose="02040503050406030204" pitchFamily="18" charset="0"/>
                      </a:rPr>
                      <m:t>,∗)</m:t>
                    </m:r>
                  </m:oMath>
                </a14:m>
                <a:endParaRPr lang="en-US" altLang="zh-CN" sz="2000" dirty="0"/>
              </a:p>
            </p:txBody>
          </p:sp>
        </mc:Choice>
        <mc:Fallback xmlns="">
          <p:sp>
            <p:nvSpPr>
              <p:cNvPr id="39" name="TextBox 38">
                <a:extLst>
                  <a:ext uri="{FF2B5EF4-FFF2-40B4-BE49-F238E27FC236}">
                    <a16:creationId xmlns:a16="http://schemas.microsoft.com/office/drawing/2014/main" id="{6EC61187-0FF7-8537-B6AF-42579509B4B4}"/>
                  </a:ext>
                </a:extLst>
              </p:cNvPr>
              <p:cNvSpPr txBox="1">
                <a:spLocks noRot="1" noChangeAspect="1" noMove="1" noResize="1" noEditPoints="1" noAdjustHandles="1" noChangeArrowheads="1" noChangeShapeType="1" noTextEdit="1"/>
              </p:cNvSpPr>
              <p:nvPr/>
            </p:nvSpPr>
            <p:spPr>
              <a:xfrm>
                <a:off x="1640864" y="5363308"/>
                <a:ext cx="5739699" cy="816442"/>
              </a:xfrm>
              <a:prstGeom prst="rect">
                <a:avLst/>
              </a:prstGeom>
              <a:blipFill>
                <a:blip r:embed="rId13"/>
                <a:stretch>
                  <a:fillRect l="-425" t="-5224" b="-10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9E5468E-FF76-717D-E0C5-A98471C71CE1}"/>
                  </a:ext>
                </a:extLst>
              </p:cNvPr>
              <p:cNvSpPr txBox="1"/>
              <p:nvPr/>
            </p:nvSpPr>
            <p:spPr>
              <a:xfrm>
                <a:off x="2285944" y="5024319"/>
                <a:ext cx="1494883" cy="381515"/>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以</m:t>
                    </m:r>
                    <m:sSub>
                      <m:sSubPr>
                        <m:ctrlPr>
                          <a:rPr lang="en-US" sz="1800"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sub>
                    </m:sSub>
                  </m:oMath>
                </a14:m>
                <a:r>
                  <a:rPr lang="zh-CN" altLang="en-US" dirty="0"/>
                  <a:t>为例</a:t>
                </a:r>
                <a:endParaRPr lang="en-US" dirty="0"/>
              </a:p>
            </p:txBody>
          </p:sp>
        </mc:Choice>
        <mc:Fallback xmlns="">
          <p:sp>
            <p:nvSpPr>
              <p:cNvPr id="41" name="TextBox 40">
                <a:extLst>
                  <a:ext uri="{FF2B5EF4-FFF2-40B4-BE49-F238E27FC236}">
                    <a16:creationId xmlns:a16="http://schemas.microsoft.com/office/drawing/2014/main" id="{D9E5468E-FF76-717D-E0C5-A98471C71CE1}"/>
                  </a:ext>
                </a:extLst>
              </p:cNvPr>
              <p:cNvSpPr txBox="1">
                <a:spLocks noRot="1" noChangeAspect="1" noMove="1" noResize="1" noEditPoints="1" noAdjustHandles="1" noChangeArrowheads="1" noChangeShapeType="1" noTextEdit="1"/>
              </p:cNvSpPr>
              <p:nvPr/>
            </p:nvSpPr>
            <p:spPr>
              <a:xfrm>
                <a:off x="2285944" y="5024319"/>
                <a:ext cx="1494883" cy="381515"/>
              </a:xfrm>
              <a:prstGeom prst="rect">
                <a:avLst/>
              </a:prstGeom>
              <a:blipFill>
                <a:blip r:embed="rId14"/>
                <a:stretch>
                  <a:fillRect l="-816" t="-12698" b="-1587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DB859797-B4D0-9C13-9DE1-7672E8B56C57}"/>
              </a:ext>
            </a:extLst>
          </p:cNvPr>
          <p:cNvSpPr txBox="1"/>
          <p:nvPr/>
        </p:nvSpPr>
        <p:spPr>
          <a:xfrm>
            <a:off x="1640864" y="1612348"/>
            <a:ext cx="1941401" cy="769441"/>
          </a:xfrm>
          <a:prstGeom prst="rect">
            <a:avLst/>
          </a:prstGeom>
          <a:noFill/>
        </p:spPr>
        <p:txBody>
          <a:bodyPr wrap="square" rtlCol="0">
            <a:spAutoFit/>
          </a:bodyPr>
          <a:lstStyle/>
          <a:p>
            <a:pPr algn="ctr">
              <a:tabLst>
                <a:tab pos="2171700" algn="l"/>
              </a:tabLst>
            </a:pPr>
            <a:r>
              <a:rPr lang="zh-CN" altLang="en-US" sz="2200" dirty="0"/>
              <a:t>这一层计算就比较麻烦了</a:t>
            </a:r>
          </a:p>
        </p:txBody>
      </p:sp>
    </p:spTree>
    <p:custDataLst>
      <p:tags r:id="rId1"/>
    </p:custDataLst>
    <p:extLst>
      <p:ext uri="{BB962C8B-B14F-4D97-AF65-F5344CB8AC3E}">
        <p14:creationId xmlns:p14="http://schemas.microsoft.com/office/powerpoint/2010/main" val="1668790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CED55-94FE-5467-44A6-E021AD516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0B0F8-F3B2-6AF7-1C97-AE9ECEF067F6}"/>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68A270CD-2C9A-55BF-2DA5-66302D2E9607}"/>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F9036C66-D9CF-D051-751D-174529857A5F}"/>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67AAEBDB-D606-053C-C892-A63C8B29AC65}"/>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78CD2C5B-0945-2228-F99B-79B7DC944EC6}"/>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78B920A3-1EF0-17C2-B09C-1336AC9C94D3}"/>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7D45401F-4EF5-6F6C-1D2D-D2FE50046A4F}"/>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7527BDCA-2E15-23D9-0ED5-EC7321359D8F}"/>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8F4E8201-6FD8-4153-1F85-B0C157EBF7AB}"/>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4D2B758F-5BD7-8ACF-5DA1-36D5000799CC}"/>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EEC1B7-8492-72F8-C591-A47F47E4BBBB}"/>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B0EEC1B7-8492-72F8-C591-A47F47E4BBBB}"/>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C3E5292-9B64-B567-EC02-6D15699E70DC}"/>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FE3E16D-E821-6ACE-C204-D821D87F040D}"/>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6FFCAA32-FE19-B4DA-76A6-AE94F4E750CD}"/>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450A2F78-C80D-7531-E542-2072237D41C4}"/>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4F3F8C86-F790-7BC3-3C7F-E828C020ADB2}"/>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94E3FFBA-35AE-BF1E-95E6-931AF5F2B5FC}"/>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FD3BF6CC-8E84-E3B8-7872-B4290DD791F5}"/>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DB7DC1B6-4F8A-FA59-6F08-8BA5F9E8AEB7}"/>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589D4234-BF7C-D15F-075D-E52D404AD0BC}"/>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498256B5-3E69-EB37-3E2B-22EEED4245E6}"/>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08CDAE21-2C06-2935-16CC-70CE71F02323}"/>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20E26023-9F12-56D6-0500-C76BA142395B}"/>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CF3B91CF-D41A-9298-6167-02A600725DC9}"/>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246C8D69-3C48-9F01-D509-9991DFB7C3D9}"/>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B670E3C8-FFD3-3033-B277-3FA1F94BBF41}"/>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762115C4-08F4-0512-E851-EF4EA079DEB2}"/>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FFD9CBF9-0CFB-C2DA-764B-4F9C9B8CEF52}"/>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DBB8848C-FEDF-639F-318F-E6496FD17F4E}"/>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B3F7567A-4FAE-64EB-F119-0DD624DF95DA}"/>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811A6E2B-777F-D22D-B681-D381D2394C2B}"/>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2FBC0695-BFA1-7778-8A5D-C64C31281B92}"/>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5351759D-F13B-1F67-9612-D8D25BA1B5EA}"/>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67FCF464-0125-0C8E-080F-810DB925D995}"/>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A9CA5FD4-8854-473D-4603-67D83FC39A59}"/>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A9CA5FD4-8854-473D-4603-67D83FC39A59}"/>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970C389C-C401-8D32-B242-961FECED7C96}"/>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970C389C-C401-8D32-B242-961FECED7C96}"/>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4BA9214-6ECF-6F4D-0404-798B7541CA30}"/>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E4BA9214-6ECF-6F4D-0404-798B7541CA30}"/>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8E389253-5442-5799-2CFC-8EED8F327B88}"/>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F8523AA0-CF5F-5FAD-2B9E-3F878BC9322C}"/>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6CC4F569-02F0-82B8-14F0-F13D804AC493}"/>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F68B4E3F-3BAE-E1B6-34FB-8752A94B115D}"/>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B9D26950-0010-30BF-5B67-537AED41501A}"/>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FC8F43FD-92E9-10D3-4EDE-2BF702BC7617}"/>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8665F3D9-F840-868B-53F9-11843AC34F18}"/>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FA9161D8-6436-1F91-1837-F0C62A0BFAC7}"/>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EDAA5FD-81EE-0B1B-4BE6-E4CD5DE4B491}"/>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2EDAA5FD-81EE-0B1B-4BE6-E4CD5DE4B491}"/>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D725AE5-FB9B-5480-5EA5-1A9F3B129026}"/>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AD725AE5-FB9B-5480-5EA5-1A9F3B129026}"/>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646F97E-1C41-BEB6-1C75-04C6E89D7486}"/>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4646F97E-1C41-BEB6-1C75-04C6E89D7486}"/>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1F3A631A-ABE9-C400-BAEF-F558C8178A85}"/>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ABD0C049-5369-E2E1-954B-4905F2146768}"/>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0258008-A337-6D84-9757-5EE690C8FF5A}"/>
                  </a:ext>
                </a:extLst>
              </p:cNvPr>
              <p:cNvSpPr txBox="1"/>
              <p:nvPr/>
            </p:nvSpPr>
            <p:spPr>
              <a:xfrm>
                <a:off x="793632" y="5364863"/>
                <a:ext cx="7620000" cy="1257524"/>
              </a:xfrm>
              <a:prstGeom prst="rect">
                <a:avLst/>
              </a:prstGeom>
              <a:noFill/>
            </p:spPr>
            <p:txBody>
              <a:bodyPr wrap="square" rtlCol="0">
                <a:spAutoFit/>
              </a:bodyPr>
              <a:lstStyle/>
              <a:p>
                <a:pPr algn="ctr">
                  <a:tabLst>
                    <a:tab pos="2171700" algn="l"/>
                  </a:tabLst>
                </a:pPr>
                <a:r>
                  <a:rPr lang="zh-CN" altLang="en-US" sz="2200" dirty="0"/>
                  <a:t>所以我们计算</a:t>
                </a:r>
                <a:r>
                  <a:rPr lang="zh-CN" altLang="en-US" sz="2200" b="0" dirty="0"/>
                  <a:t>：</a:t>
                </a:r>
                <a14:m>
                  <m:oMath xmlns:m="http://schemas.openxmlformats.org/officeDocument/2006/math">
                    <m:func>
                      <m:funcPr>
                        <m:ctrlPr>
                          <a:rPr lang="en-US" altLang="zh-CN" sz="2200" i="1">
                            <a:latin typeface="Cambria Math" panose="02040503050406030204" pitchFamily="18" charset="0"/>
                          </a:rPr>
                        </m:ctrlPr>
                      </m:funcPr>
                      <m:fName>
                        <m:limLow>
                          <m:limLowPr>
                            <m:ctrlPr>
                              <a:rPr lang="en-US" altLang="zh-CN" sz="2200" i="1">
                                <a:latin typeface="Cambria Math" panose="02040503050406030204" pitchFamily="18" charset="0"/>
                              </a:rPr>
                            </m:ctrlPr>
                          </m:limLowPr>
                          <m:e>
                            <m:r>
                              <m:rPr>
                                <m:sty m:val="p"/>
                              </m:rPr>
                              <a:rPr lang="en-US" altLang="zh-CN" sz="2200">
                                <a:latin typeface="Cambria Math" panose="02040503050406030204" pitchFamily="18" charset="0"/>
                              </a:rPr>
                              <m:t>lim</m:t>
                            </m:r>
                          </m:e>
                          <m:lim>
                            <m:r>
                              <a:rPr lang="zh-CN" altLang="en-US" sz="2200" i="1">
                                <a:latin typeface="Cambria Math" panose="02040503050406030204" pitchFamily="18" charset="0"/>
                              </a:rPr>
                              <m:t>𝛿</m:t>
                            </m:r>
                            <m:r>
                              <a:rPr lang="zh-CN" altLang="en-US" sz="2200" i="1">
                                <a:latin typeface="Cambria Math" panose="02040503050406030204" pitchFamily="18" charset="0"/>
                              </a:rPr>
                              <m:t>→0</m:t>
                            </m:r>
                          </m:lim>
                        </m:limLow>
                      </m:fName>
                      <m:e>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𝐿</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𝐿</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r>
                      <a:rPr lang="en-US" altLang="zh-CN" sz="2200" i="1">
                        <a:latin typeface="Cambria Math" panose="02040503050406030204" pitchFamily="18" charset="0"/>
                      </a:rPr>
                      <m:t>=</m:t>
                    </m:r>
                    <m:func>
                      <m:funcPr>
                        <m:ctrlPr>
                          <a:rPr lang="en-US" altLang="zh-CN" sz="2200" i="1">
                            <a:latin typeface="Cambria Math" panose="02040503050406030204" pitchFamily="18" charset="0"/>
                          </a:rPr>
                        </m:ctrlPr>
                      </m:funcPr>
                      <m:fName>
                        <m:limLow>
                          <m:limLowPr>
                            <m:ctrlPr>
                              <a:rPr lang="en-US" altLang="zh-CN" sz="2200" i="1">
                                <a:latin typeface="Cambria Math" panose="02040503050406030204" pitchFamily="18" charset="0"/>
                              </a:rPr>
                            </m:ctrlPr>
                          </m:limLowPr>
                          <m:e>
                            <m:r>
                              <m:rPr>
                                <m:sty m:val="p"/>
                              </m:rPr>
                              <a:rPr lang="en-US" altLang="zh-CN" sz="2200">
                                <a:latin typeface="Cambria Math" panose="02040503050406030204" pitchFamily="18" charset="0"/>
                              </a:rPr>
                              <m:t>lim</m:t>
                            </m:r>
                          </m:e>
                          <m:lim>
                            <m:r>
                              <a:rPr lang="zh-CN" altLang="en-US" sz="2200" i="1">
                                <a:latin typeface="Cambria Math" panose="02040503050406030204" pitchFamily="18" charset="0"/>
                              </a:rPr>
                              <m:t>𝛿</m:t>
                            </m:r>
                            <m:r>
                              <a:rPr lang="zh-CN" altLang="en-US" sz="2200" i="1">
                                <a:latin typeface="Cambria Math" panose="02040503050406030204" pitchFamily="18" charset="0"/>
                              </a:rPr>
                              <m:t>→0</m:t>
                            </m:r>
                          </m:lim>
                        </m:limLow>
                      </m:fName>
                      <m:e>
                        <m:f>
                          <m:fPr>
                            <m:ctrlPr>
                              <a:rPr lang="en-US" altLang="zh-CN" sz="2200" i="1">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𝐿</m:t>
                                </m:r>
                              </m:e>
                              <m:sup>
                                <m:r>
                                  <a:rPr lang="en-US" altLang="zh-CN" sz="2200" i="1">
                                    <a:latin typeface="Cambria Math" panose="02040503050406030204" pitchFamily="18" charset="0"/>
                                  </a:rPr>
                                  <m:t>′</m:t>
                                </m:r>
                              </m:sup>
                            </m:sSup>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𝑧</m:t>
                                </m:r>
                              </m:e>
                              <m:sub>
                                <m:r>
                                  <a:rPr lang="en-US" altLang="zh-CN" sz="2200" i="1">
                                    <a:latin typeface="Cambria Math" panose="02040503050406030204" pitchFamily="18" charset="0"/>
                                  </a:rPr>
                                  <m:t>𝑘</m:t>
                                </m:r>
                              </m:sub>
                            </m:sSub>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𝐿</m:t>
                                </m:r>
                              </m:e>
                              <m:sup>
                                <m:r>
                                  <a:rPr lang="en-US" altLang="zh-CN" sz="2200" b="0" i="1" smtClean="0">
                                    <a:latin typeface="Cambria Math" panose="02040503050406030204" pitchFamily="18" charset="0"/>
                                  </a:rPr>
                                  <m:t>′</m:t>
                                </m:r>
                              </m:sup>
                            </m:sSup>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𝑧</m:t>
                                </m:r>
                              </m:e>
                              <m:sub>
                                <m:r>
                                  <a:rPr lang="en-US" altLang="zh-CN" sz="2200" i="1">
                                    <a:latin typeface="Cambria Math" panose="02040503050406030204" pitchFamily="18" charset="0"/>
                                  </a:rPr>
                                  <m:t>𝑘</m:t>
                                </m:r>
                              </m:sub>
                            </m:sSub>
                            <m:r>
                              <a:rPr lang="en-US" altLang="zh-CN" sz="2200" i="1">
                                <a:latin typeface="Cambria Math" panose="02040503050406030204" pitchFamily="18" charset="0"/>
                              </a:rPr>
                              <m:t>,∗)</m:t>
                            </m:r>
                          </m:num>
                          <m:den>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den>
                        </m:f>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oMath>
                </a14:m>
                <a:endParaRPr lang="zh-CN" altLang="en-US" sz="2200" dirty="0"/>
              </a:p>
            </p:txBody>
          </p:sp>
        </mc:Choice>
        <mc:Fallback xmlns="">
          <p:sp>
            <p:nvSpPr>
              <p:cNvPr id="39" name="TextBox 38">
                <a:extLst>
                  <a:ext uri="{FF2B5EF4-FFF2-40B4-BE49-F238E27FC236}">
                    <a16:creationId xmlns:a16="http://schemas.microsoft.com/office/drawing/2014/main" id="{80258008-A337-6D84-9757-5EE690C8FF5A}"/>
                  </a:ext>
                </a:extLst>
              </p:cNvPr>
              <p:cNvSpPr txBox="1">
                <a:spLocks noRot="1" noChangeAspect="1" noMove="1" noResize="1" noEditPoints="1" noAdjustHandles="1" noChangeArrowheads="1" noChangeShapeType="1" noTextEdit="1"/>
              </p:cNvSpPr>
              <p:nvPr/>
            </p:nvSpPr>
            <p:spPr>
              <a:xfrm>
                <a:off x="793632" y="5364863"/>
                <a:ext cx="7620000" cy="125752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9D4ABB9-A98D-DE79-8026-B217AACB769C}"/>
                  </a:ext>
                </a:extLst>
              </p:cNvPr>
              <p:cNvSpPr txBox="1"/>
              <p:nvPr/>
            </p:nvSpPr>
            <p:spPr>
              <a:xfrm>
                <a:off x="2285944" y="5024319"/>
                <a:ext cx="1494883" cy="381515"/>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以</m:t>
                    </m:r>
                    <m:sSub>
                      <m:sSubPr>
                        <m:ctrlPr>
                          <a:rPr lang="en-US" sz="1800"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sub>
                    </m:sSub>
                  </m:oMath>
                </a14:m>
                <a:r>
                  <a:rPr lang="zh-CN" altLang="en-US" dirty="0"/>
                  <a:t>为例</a:t>
                </a:r>
                <a:endParaRPr lang="en-US" dirty="0"/>
              </a:p>
            </p:txBody>
          </p:sp>
        </mc:Choice>
        <mc:Fallback xmlns="">
          <p:sp>
            <p:nvSpPr>
              <p:cNvPr id="41" name="TextBox 40">
                <a:extLst>
                  <a:ext uri="{FF2B5EF4-FFF2-40B4-BE49-F238E27FC236}">
                    <a16:creationId xmlns:a16="http://schemas.microsoft.com/office/drawing/2014/main" id="{99D4ABB9-A98D-DE79-8026-B217AACB769C}"/>
                  </a:ext>
                </a:extLst>
              </p:cNvPr>
              <p:cNvSpPr txBox="1">
                <a:spLocks noRot="1" noChangeAspect="1" noMove="1" noResize="1" noEditPoints="1" noAdjustHandles="1" noChangeArrowheads="1" noChangeShapeType="1" noTextEdit="1"/>
              </p:cNvSpPr>
              <p:nvPr/>
            </p:nvSpPr>
            <p:spPr>
              <a:xfrm>
                <a:off x="2285944" y="5024319"/>
                <a:ext cx="1494883" cy="381515"/>
              </a:xfrm>
              <a:prstGeom prst="rect">
                <a:avLst/>
              </a:prstGeom>
              <a:blipFill>
                <a:blip r:embed="rId14"/>
                <a:stretch>
                  <a:fillRect l="-816" t="-12698" b="-1587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BFE02658-9025-B93F-4E95-4606B96AC7D9}"/>
              </a:ext>
            </a:extLst>
          </p:cNvPr>
          <p:cNvSpPr txBox="1"/>
          <p:nvPr/>
        </p:nvSpPr>
        <p:spPr>
          <a:xfrm>
            <a:off x="1640864" y="1612348"/>
            <a:ext cx="1941401" cy="769441"/>
          </a:xfrm>
          <a:prstGeom prst="rect">
            <a:avLst/>
          </a:prstGeom>
          <a:noFill/>
        </p:spPr>
        <p:txBody>
          <a:bodyPr wrap="square" rtlCol="0">
            <a:spAutoFit/>
          </a:bodyPr>
          <a:lstStyle/>
          <a:p>
            <a:pPr algn="ctr">
              <a:tabLst>
                <a:tab pos="2171700" algn="l"/>
              </a:tabLst>
            </a:pPr>
            <a:r>
              <a:rPr lang="zh-CN" altLang="en-US" sz="2200" dirty="0"/>
              <a:t>这一层计算就比较麻烦了</a:t>
            </a:r>
          </a:p>
        </p:txBody>
      </p:sp>
    </p:spTree>
    <p:custDataLst>
      <p:tags r:id="rId1"/>
    </p:custDataLst>
    <p:extLst>
      <p:ext uri="{BB962C8B-B14F-4D97-AF65-F5344CB8AC3E}">
        <p14:creationId xmlns:p14="http://schemas.microsoft.com/office/powerpoint/2010/main" val="4018888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31486-B7A1-FC38-B810-EFAD097F8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EFCC7-393C-6DBA-2091-88DC1E77A7DF}"/>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92DDBCC9-91B5-DD78-4670-A2D2FC6CA815}"/>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AF6E2AD7-BBAA-AC47-E5AF-12B55CD143DD}"/>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FCCAF51E-0F7B-F103-B12A-9AFAB5608F7B}"/>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9172E927-D7B4-6C3D-CFE1-7F8B98D68D7C}"/>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E52EB5F9-EC89-FD96-A09A-34E3F671EBC7}"/>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0E000730-330A-EDAE-55F3-26BC805E6571}"/>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B5EE2116-D972-D379-06E6-7A94BADA4E0F}"/>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A82ABD74-BD0F-9ACC-9ACA-65B66B5908DC}"/>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24690308-CD6D-0152-1237-FDEEA39A9395}"/>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97ADB99-D014-2F56-1137-3B449E825680}"/>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997ADB99-D014-2F56-1137-3B449E825680}"/>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AB053D4-35A2-C722-6EB1-9899DA45BB99}"/>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6D2F272-D983-127C-6267-208B283639B4}"/>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3377FC14-481D-2660-6A99-3A42DC830A1D}"/>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A60BA75A-500C-5D29-1632-C3F692B63A51}"/>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8E88C730-09C1-8080-98E2-6397C8A9B816}"/>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27B221DC-8039-E769-5823-D5A45F88F8A9}"/>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BDAD631C-659D-B04D-0C79-B152F98EA1FC}"/>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66EBE876-057C-60F5-D197-9DDB2510E988}"/>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E7112667-B948-DD72-7E58-CD7F78535E0E}"/>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9056624B-3441-1961-C15E-0FE556E12B60}"/>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4678D43E-D2F6-6A7F-F495-516652640DD2}"/>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F73E8315-F0C7-6527-D814-3C6CC68C3647}"/>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BCD06B06-69A7-2C52-9F9B-7BE7C295AA50}"/>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99209052-AD45-D403-CD6C-252077EDBCAA}"/>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1A60EA6A-2BF5-FCBA-BF11-74EF1AD2BA8E}"/>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ADA1BC08-24A5-43B3-50E1-1441C18B3E15}"/>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1267D231-17A3-9E76-A0A8-612CE6818F6A}"/>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102DE4E5-F5C8-7498-B795-365F638E34A6}"/>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526D0643-CD37-720B-031E-6FAC1B0C1D0E}"/>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D83CFA5C-BC68-3798-0314-7291983853A0}"/>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FC5F7380-E604-F997-C343-001A27D1B6C6}"/>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5F62D284-0313-FC73-E90C-86B041B418CF}"/>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6B0F5D01-5EBC-2B53-CDAE-75357D2F99FE}"/>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0C187148-ECE4-308A-4EAF-8E95166D95D6}"/>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0C187148-ECE4-308A-4EAF-8E95166D95D6}"/>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A9A479BB-24D3-B515-5295-12E8999D29BF}"/>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A9A479BB-24D3-B515-5295-12E8999D29BF}"/>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A46173C9-1673-52FF-4F05-8494022F45A7}"/>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A46173C9-1673-52FF-4F05-8494022F45A7}"/>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83B0F4C4-C86A-0750-4222-FE162A81B543}"/>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587D54DF-0E65-D1EF-5865-98EB1D885DE5}"/>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A0220822-D548-F69D-48C9-8FA9883AF29C}"/>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F9D30335-ADFA-CE40-FA4E-16F4598F916C}"/>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643CAC6-0066-86E8-01FF-D867C9C17465}"/>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EA005BE1-8EDA-1C2F-CDA6-9AF14EB1BD54}"/>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4592643C-3AAB-4613-F1C0-7AA7F59DC045}"/>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30D3CD43-4586-5055-5C36-B7D93377D89B}"/>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102788D-36F9-C496-686E-74BC0D42E684}"/>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6102788D-36F9-C496-686E-74BC0D42E684}"/>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3E6DB76-2DD6-BC57-B1B3-0E6ADA953DA0}"/>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B3E6DB76-2DD6-BC57-B1B3-0E6ADA953DA0}"/>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03544E3-255B-9549-FE42-E8F414C7E4EF}"/>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503544E3-255B-9549-FE42-E8F414C7E4EF}"/>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3CAEDF91-EFFC-383C-BFAF-5BA62CD9B8FF}"/>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7378AC79-74A2-AE58-E6BE-3C2451247485}"/>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E5CF38A-7D03-CCAF-44AF-B0411B1D7D5F}"/>
                  </a:ext>
                </a:extLst>
              </p:cNvPr>
              <p:cNvSpPr txBox="1"/>
              <p:nvPr/>
            </p:nvSpPr>
            <p:spPr>
              <a:xfrm>
                <a:off x="1221192" y="5250196"/>
                <a:ext cx="6741136" cy="1588127"/>
              </a:xfrm>
              <a:prstGeom prst="rect">
                <a:avLst/>
              </a:prstGeom>
              <a:noFill/>
            </p:spPr>
            <p:txBody>
              <a:bodyPr wrap="square" rtlCol="0">
                <a:spAutoFit/>
              </a:bodyPr>
              <a:lstStyle/>
              <a:p>
                <a:pPr algn="ctr">
                  <a:tabLst>
                    <a:tab pos="2171700" algn="l"/>
                  </a:tabLst>
                </a:pPr>
                <a:r>
                  <a:rPr lang="zh-CN" altLang="en-US" sz="2200" dirty="0"/>
                  <a:t>于是</a:t>
                </a:r>
                <a14:m>
                  <m:oMath xmlns:m="http://schemas.openxmlformats.org/officeDocument/2006/math">
                    <m:func>
                      <m:funcPr>
                        <m:ctrlPr>
                          <a:rPr lang="en-US" altLang="zh-CN" sz="2200" i="1">
                            <a:latin typeface="Cambria Math" panose="02040503050406030204" pitchFamily="18" charset="0"/>
                          </a:rPr>
                        </m:ctrlPr>
                      </m:funcPr>
                      <m:fName>
                        <m:limLow>
                          <m:limLowPr>
                            <m:ctrlPr>
                              <a:rPr lang="en-US" altLang="zh-CN" sz="2200" i="1">
                                <a:latin typeface="Cambria Math" panose="02040503050406030204" pitchFamily="18" charset="0"/>
                              </a:rPr>
                            </m:ctrlPr>
                          </m:limLowPr>
                          <m:e>
                            <m:r>
                              <m:rPr>
                                <m:sty m:val="p"/>
                              </m:rPr>
                              <a:rPr lang="en-US" altLang="zh-CN" sz="2200">
                                <a:latin typeface="Cambria Math" panose="02040503050406030204" pitchFamily="18" charset="0"/>
                              </a:rPr>
                              <m:t>lim</m:t>
                            </m:r>
                          </m:e>
                          <m:lim>
                            <m:r>
                              <a:rPr lang="zh-CN" altLang="en-US" sz="2200" i="1">
                                <a:latin typeface="Cambria Math" panose="02040503050406030204" pitchFamily="18" charset="0"/>
                              </a:rPr>
                              <m:t>𝛿</m:t>
                            </m:r>
                            <m:r>
                              <a:rPr lang="zh-CN" altLang="en-US" sz="2200" i="1">
                                <a:latin typeface="Cambria Math" panose="02040503050406030204" pitchFamily="18" charset="0"/>
                              </a:rPr>
                              <m:t>→0</m:t>
                            </m:r>
                          </m:lim>
                        </m:limLow>
                      </m:fName>
                      <m:e>
                        <m:f>
                          <m:fPr>
                            <m:ctrlPr>
                              <a:rPr lang="en-US" altLang="zh-CN" sz="2200" i="1">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𝐿</m:t>
                                </m:r>
                              </m:e>
                              <m:sup>
                                <m:r>
                                  <a:rPr lang="en-US" altLang="zh-CN" sz="2200" i="1">
                                    <a:latin typeface="Cambria Math" panose="02040503050406030204" pitchFamily="18" charset="0"/>
                                  </a:rPr>
                                  <m:t>′</m:t>
                                </m:r>
                              </m:sup>
                            </m:sSup>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𝑧</m:t>
                                </m:r>
                              </m:e>
                              <m:sub>
                                <m:r>
                                  <a:rPr lang="en-US" altLang="zh-CN" sz="2200" i="1">
                                    <a:latin typeface="Cambria Math" panose="02040503050406030204" pitchFamily="18" charset="0"/>
                                  </a:rPr>
                                  <m:t>𝑘</m:t>
                                </m:r>
                              </m:sub>
                            </m:sSub>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𝐿</m:t>
                                </m:r>
                              </m:e>
                              <m:sup>
                                <m:r>
                                  <a:rPr lang="en-US" altLang="zh-CN" sz="2200" i="1">
                                    <a:latin typeface="Cambria Math" panose="02040503050406030204" pitchFamily="18" charset="0"/>
                                  </a:rPr>
                                  <m:t>′</m:t>
                                </m:r>
                              </m:sup>
                            </m:sSup>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𝑧</m:t>
                                </m:r>
                              </m:e>
                              <m:sub>
                                <m:r>
                                  <a:rPr lang="en-US" altLang="zh-CN" sz="2200" i="1">
                                    <a:latin typeface="Cambria Math" panose="02040503050406030204" pitchFamily="18" charset="0"/>
                                  </a:rPr>
                                  <m:t>𝑘</m:t>
                                </m:r>
                              </m:sub>
                            </m:sSub>
                            <m:r>
                              <a:rPr lang="en-US" altLang="zh-CN" sz="2200" i="1">
                                <a:latin typeface="Cambria Math" panose="02040503050406030204" pitchFamily="18" charset="0"/>
                              </a:rPr>
                              <m:t>,∗)</m:t>
                            </m:r>
                          </m:num>
                          <m:den>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den>
                        </m:f>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r>
                      <a:rPr lang="en-US" altLang="zh-CN" sz="2200" i="1" smtClean="0">
                        <a:latin typeface="Cambria Math" panose="02040503050406030204" pitchFamily="18" charset="0"/>
                      </a:rPr>
                      <m:t>=</m:t>
                    </m:r>
                    <m:func>
                      <m:funcPr>
                        <m:ctrlPr>
                          <a:rPr lang="en-US" altLang="zh-CN" sz="2200" i="1">
                            <a:latin typeface="Cambria Math" panose="02040503050406030204" pitchFamily="18" charset="0"/>
                          </a:rPr>
                        </m:ctrlPr>
                      </m:funcPr>
                      <m:fName>
                        <m:limLow>
                          <m:limLowPr>
                            <m:ctrlPr>
                              <a:rPr lang="en-US" altLang="zh-CN" sz="2200" i="1">
                                <a:latin typeface="Cambria Math" panose="02040503050406030204" pitchFamily="18" charset="0"/>
                              </a:rPr>
                            </m:ctrlPr>
                          </m:limLowPr>
                          <m:e>
                            <m:r>
                              <m:rPr>
                                <m:sty m:val="p"/>
                              </m:rPr>
                              <a:rPr lang="en-US" altLang="zh-CN" sz="2200">
                                <a:latin typeface="Cambria Math" panose="02040503050406030204" pitchFamily="18" charset="0"/>
                              </a:rPr>
                              <m:t>lim</m:t>
                            </m:r>
                          </m:e>
                          <m:lim>
                            <m:r>
                              <a:rPr lang="zh-CN" altLang="en-US" sz="2200" i="1">
                                <a:latin typeface="Cambria Math" panose="02040503050406030204" pitchFamily="18" charset="0"/>
                              </a:rPr>
                              <m:t>𝜎</m:t>
                            </m:r>
                            <m:r>
                              <a:rPr lang="zh-CN" altLang="en-US" sz="2200" i="1">
                                <a:latin typeface="Cambria Math" panose="02040503050406030204" pitchFamily="18" charset="0"/>
                              </a:rPr>
                              <m:t>→0</m:t>
                            </m:r>
                          </m:lim>
                        </m:limLow>
                      </m:fName>
                      <m:e>
                        <m:f>
                          <m:fPr>
                            <m:ctrlPr>
                              <a:rPr lang="en-US" altLang="zh-CN" sz="2200" i="1">
                                <a:latin typeface="Cambria Math" panose="02040503050406030204" pitchFamily="18" charset="0"/>
                              </a:rPr>
                            </m:ctrlPr>
                          </m:fPr>
                          <m:num>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𝐿</m:t>
                                </m:r>
                              </m:e>
                              <m:sup>
                                <m:r>
                                  <a:rPr lang="en-US" altLang="zh-CN" sz="2200" i="1">
                                    <a:latin typeface="Cambria Math" panose="02040503050406030204" pitchFamily="18" charset="0"/>
                                  </a:rPr>
                                  <m:t>′</m:t>
                                </m:r>
                              </m:sup>
                            </m:sSup>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𝑧</m:t>
                                </m:r>
                              </m:e>
                              <m:sub>
                                <m:r>
                                  <a:rPr lang="en-US" altLang="zh-CN" sz="2200" i="1">
                                    <a:latin typeface="Cambria Math" panose="02040503050406030204" pitchFamily="18" charset="0"/>
                                  </a:rPr>
                                  <m:t>𝑘</m:t>
                                </m:r>
                              </m:sub>
                            </m:sSub>
                            <m:r>
                              <a:rPr lang="en-US" altLang="zh-CN" sz="2200" i="1">
                                <a:latin typeface="Cambria Math" panose="02040503050406030204" pitchFamily="18" charset="0"/>
                              </a:rPr>
                              <m:t>+</m:t>
                            </m:r>
                            <m:r>
                              <a:rPr lang="zh-CN" altLang="en-US" sz="2200" i="1" smtClean="0">
                                <a:latin typeface="Cambria Math" panose="02040503050406030204" pitchFamily="18" charset="0"/>
                              </a:rPr>
                              <m:t>𝜎</m:t>
                            </m:r>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𝐿</m:t>
                                </m:r>
                              </m:e>
                              <m:sup>
                                <m:r>
                                  <a:rPr lang="en-US" altLang="zh-CN" sz="2200" i="1">
                                    <a:latin typeface="Cambria Math" panose="02040503050406030204" pitchFamily="18" charset="0"/>
                                  </a:rPr>
                                  <m:t>′</m:t>
                                </m:r>
                              </m:sup>
                            </m:sSup>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𝑧</m:t>
                                </m:r>
                              </m:e>
                              <m:sub>
                                <m:r>
                                  <a:rPr lang="en-US" altLang="zh-CN" sz="2200" i="1">
                                    <a:latin typeface="Cambria Math" panose="02040503050406030204" pitchFamily="18" charset="0"/>
                                  </a:rPr>
                                  <m:t>𝑘</m:t>
                                </m:r>
                              </m:sub>
                            </m:sSub>
                            <m:r>
                              <a:rPr lang="en-US" altLang="zh-CN" sz="2200" i="1">
                                <a:latin typeface="Cambria Math" panose="02040503050406030204" pitchFamily="18" charset="0"/>
                              </a:rPr>
                              <m:t>,∗)</m:t>
                            </m:r>
                          </m:num>
                          <m:den>
                            <m:r>
                              <a:rPr lang="zh-CN" altLang="en-US" sz="2200" i="1" smtClean="0">
                                <a:latin typeface="Cambria Math" panose="02040503050406030204" pitchFamily="18" charset="0"/>
                              </a:rPr>
                              <m:t>𝜎</m:t>
                            </m:r>
                          </m:den>
                        </m:f>
                      </m:e>
                    </m:func>
                    <m:r>
                      <a:rPr lang="zh-CN" altLang="en-US" sz="2200" i="1" smtClean="0">
                        <a:latin typeface="Cambria Math" panose="02040503050406030204" pitchFamily="18" charset="0"/>
                      </a:rPr>
                      <m:t>∙</m:t>
                    </m:r>
                    <m:func>
                      <m:funcPr>
                        <m:ctrlPr>
                          <a:rPr lang="en-US" altLang="zh-CN" sz="2200" i="1">
                            <a:latin typeface="Cambria Math" panose="02040503050406030204" pitchFamily="18" charset="0"/>
                          </a:rPr>
                        </m:ctrlPr>
                      </m:funcPr>
                      <m:fName>
                        <m:limLow>
                          <m:limLowPr>
                            <m:ctrlPr>
                              <a:rPr lang="en-US" altLang="zh-CN" sz="2200" i="1">
                                <a:latin typeface="Cambria Math" panose="02040503050406030204" pitchFamily="18" charset="0"/>
                              </a:rPr>
                            </m:ctrlPr>
                          </m:limLowPr>
                          <m:e>
                            <m:r>
                              <m:rPr>
                                <m:sty m:val="p"/>
                              </m:rPr>
                              <a:rPr lang="en-US" altLang="zh-CN" sz="2200">
                                <a:latin typeface="Cambria Math" panose="02040503050406030204" pitchFamily="18" charset="0"/>
                              </a:rPr>
                              <m:t>lim</m:t>
                            </m:r>
                          </m:e>
                          <m:lim>
                            <m:r>
                              <a:rPr lang="zh-CN" altLang="en-US" sz="2200" i="1">
                                <a:latin typeface="Cambria Math" panose="02040503050406030204" pitchFamily="18" charset="0"/>
                              </a:rPr>
                              <m:t>𝛿</m:t>
                            </m:r>
                            <m:r>
                              <a:rPr lang="zh-CN" altLang="en-US" sz="2200" i="1">
                                <a:latin typeface="Cambria Math" panose="02040503050406030204" pitchFamily="18" charset="0"/>
                              </a:rPr>
                              <m:t>→0</m:t>
                            </m:r>
                          </m:lim>
                        </m:limLow>
                      </m:fName>
                      <m:e>
                        <m:f>
                          <m:fPr>
                            <m:ctrlPr>
                              <a:rPr lang="en-US" altLang="zh-CN" sz="2200" i="1">
                                <a:latin typeface="Cambria Math" panose="02040503050406030204" pitchFamily="18" charset="0"/>
                              </a:rPr>
                            </m:ctrlPr>
                          </m:fPr>
                          <m:num>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r>
                              <a:rPr lang="zh-CN" altLang="en-US" sz="2200" i="1">
                                <a:latin typeface="Cambria Math" panose="02040503050406030204" pitchFamily="18" charset="0"/>
                              </a:rPr>
                              <m:t>𝛿</m:t>
                            </m:r>
                            <m:r>
                              <a:rPr lang="en-US" altLang="zh-CN" sz="2200" i="1">
                                <a:latin typeface="Cambria Math" panose="02040503050406030204" pitchFamily="18" charset="0"/>
                              </a:rPr>
                              <m:t>,∗)−</m:t>
                            </m:r>
                            <m:r>
                              <a:rPr lang="en-US" altLang="zh-CN" sz="2200" i="1">
                                <a:latin typeface="Cambria Math" panose="02040503050406030204" pitchFamily="18" charset="0"/>
                              </a:rPr>
                              <m:t>𝑓</m:t>
                            </m:r>
                            <m:r>
                              <a:rPr lang="en-US" altLang="zh-CN" sz="2200" i="1">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𝑘</m:t>
                                </m:r>
                                <m:r>
                                  <a:rPr lang="en-US" altLang="zh-CN" sz="2200" i="1">
                                    <a:latin typeface="Cambria Math" panose="02040503050406030204" pitchFamily="18" charset="0"/>
                                  </a:rPr>
                                  <m:t>,</m:t>
                                </m:r>
                                <m:r>
                                  <a:rPr lang="en-US" altLang="zh-CN" sz="2200" i="1">
                                    <a:latin typeface="Cambria Math" panose="02040503050406030204" pitchFamily="18" charset="0"/>
                                  </a:rPr>
                                  <m:t>𝑛</m:t>
                                </m:r>
                              </m:sub>
                            </m:sSub>
                            <m:r>
                              <a:rPr lang="en-US" altLang="zh-CN" sz="2200" i="1">
                                <a:latin typeface="Cambria Math" panose="02040503050406030204" pitchFamily="18" charset="0"/>
                              </a:rPr>
                              <m:t>,∗)</m:t>
                            </m:r>
                          </m:num>
                          <m:den>
                            <m:r>
                              <a:rPr lang="zh-CN" altLang="en-US" sz="2200" i="1">
                                <a:latin typeface="Cambria Math" panose="02040503050406030204" pitchFamily="18" charset="0"/>
                              </a:rPr>
                              <m:t>𝛿</m:t>
                            </m:r>
                          </m:den>
                        </m:f>
                      </m:e>
                    </m:func>
                  </m:oMath>
                </a14:m>
                <a:endParaRPr lang="zh-CN" altLang="en-US" sz="2200" dirty="0"/>
              </a:p>
            </p:txBody>
          </p:sp>
        </mc:Choice>
        <mc:Fallback xmlns="">
          <p:sp>
            <p:nvSpPr>
              <p:cNvPr id="39" name="TextBox 38">
                <a:extLst>
                  <a:ext uri="{FF2B5EF4-FFF2-40B4-BE49-F238E27FC236}">
                    <a16:creationId xmlns:a16="http://schemas.microsoft.com/office/drawing/2014/main" id="{3E5CF38A-7D03-CCAF-44AF-B0411B1D7D5F}"/>
                  </a:ext>
                </a:extLst>
              </p:cNvPr>
              <p:cNvSpPr txBox="1">
                <a:spLocks noRot="1" noChangeAspect="1" noMove="1" noResize="1" noEditPoints="1" noAdjustHandles="1" noChangeArrowheads="1" noChangeShapeType="1" noTextEdit="1"/>
              </p:cNvSpPr>
              <p:nvPr/>
            </p:nvSpPr>
            <p:spPr>
              <a:xfrm>
                <a:off x="1221192" y="5250196"/>
                <a:ext cx="6741136" cy="1588127"/>
              </a:xfrm>
              <a:prstGeom prst="rect">
                <a:avLst/>
              </a:prstGeom>
              <a:blipFill>
                <a:blip r:embed="rId13"/>
                <a:stretch>
                  <a:fillRect l="-6962" t="-2682" r="-68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4A078E3-816C-0C05-D349-755FCC206059}"/>
                  </a:ext>
                </a:extLst>
              </p:cNvPr>
              <p:cNvSpPr txBox="1"/>
              <p:nvPr/>
            </p:nvSpPr>
            <p:spPr>
              <a:xfrm>
                <a:off x="2285944" y="5024319"/>
                <a:ext cx="1494883" cy="381515"/>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以</m:t>
                    </m:r>
                    <m:sSub>
                      <m:sSubPr>
                        <m:ctrlPr>
                          <a:rPr lang="en-US" sz="1800"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sub>
                    </m:sSub>
                  </m:oMath>
                </a14:m>
                <a:r>
                  <a:rPr lang="zh-CN" altLang="en-US" dirty="0"/>
                  <a:t>为例</a:t>
                </a:r>
                <a:endParaRPr lang="en-US" dirty="0"/>
              </a:p>
            </p:txBody>
          </p:sp>
        </mc:Choice>
        <mc:Fallback xmlns="">
          <p:sp>
            <p:nvSpPr>
              <p:cNvPr id="41" name="TextBox 40">
                <a:extLst>
                  <a:ext uri="{FF2B5EF4-FFF2-40B4-BE49-F238E27FC236}">
                    <a16:creationId xmlns:a16="http://schemas.microsoft.com/office/drawing/2014/main" id="{84A078E3-816C-0C05-D349-755FCC206059}"/>
                  </a:ext>
                </a:extLst>
              </p:cNvPr>
              <p:cNvSpPr txBox="1">
                <a:spLocks noRot="1" noChangeAspect="1" noMove="1" noResize="1" noEditPoints="1" noAdjustHandles="1" noChangeArrowheads="1" noChangeShapeType="1" noTextEdit="1"/>
              </p:cNvSpPr>
              <p:nvPr/>
            </p:nvSpPr>
            <p:spPr>
              <a:xfrm>
                <a:off x="2285944" y="5024319"/>
                <a:ext cx="1494883" cy="381515"/>
              </a:xfrm>
              <a:prstGeom prst="rect">
                <a:avLst/>
              </a:prstGeom>
              <a:blipFill>
                <a:blip r:embed="rId14"/>
                <a:stretch>
                  <a:fillRect l="-816" t="-12698" b="-1587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EDA31BAE-8E1C-47FC-923C-DC8FEB437BA9}"/>
              </a:ext>
            </a:extLst>
          </p:cNvPr>
          <p:cNvSpPr txBox="1"/>
          <p:nvPr/>
        </p:nvSpPr>
        <p:spPr>
          <a:xfrm>
            <a:off x="1640864" y="1612348"/>
            <a:ext cx="1941401" cy="769441"/>
          </a:xfrm>
          <a:prstGeom prst="rect">
            <a:avLst/>
          </a:prstGeom>
          <a:noFill/>
        </p:spPr>
        <p:txBody>
          <a:bodyPr wrap="square" rtlCol="0">
            <a:spAutoFit/>
          </a:bodyPr>
          <a:lstStyle/>
          <a:p>
            <a:pPr algn="ctr">
              <a:tabLst>
                <a:tab pos="2171700" algn="l"/>
              </a:tabLst>
            </a:pPr>
            <a:r>
              <a:rPr lang="zh-CN" altLang="en-US" sz="2200" dirty="0"/>
              <a:t>这一层计算就比较麻烦了</a:t>
            </a:r>
          </a:p>
        </p:txBody>
      </p:sp>
    </p:spTree>
    <p:custDataLst>
      <p:tags r:id="rId1"/>
    </p:custDataLst>
    <p:extLst>
      <p:ext uri="{BB962C8B-B14F-4D97-AF65-F5344CB8AC3E}">
        <p14:creationId xmlns:p14="http://schemas.microsoft.com/office/powerpoint/2010/main" val="2661569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05BD5-65E9-2D24-6612-B41070A02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4891D-4663-EE4F-A092-CEB87F7800E6}"/>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7FB4729E-BD93-4A77-3584-6B1E8CCC93E4}"/>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5D823C85-11EF-086A-22DA-F609F9B69698}"/>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EDA73C67-9D42-7479-3FEB-FD2481D3FB4A}"/>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B76869FC-8748-540A-93E0-09B1EE43D13D}"/>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F875D52F-38E8-CBC8-D853-AAC493D09ABF}"/>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A3947376-7C83-4FC1-C92E-5C6C6D867A37}"/>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376E5004-2E2B-06BA-2EC9-278F56567379}"/>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AE3B05C1-1BD9-B801-144C-4AF74087091A}"/>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DD463F33-25D4-78FC-BBA5-2191326C3326}"/>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3A984-3C25-B980-5472-3AFDFF28FB05}"/>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5B13A984-3C25-B980-5472-3AFDFF28FB05}"/>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DA6D08-B8A5-23E9-083D-4B1F05C84FEE}"/>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DBD1CE8-24A9-0DA6-F2B4-97AC2CC70635}"/>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E47F3D7A-802E-0EAC-7590-8EFC526FE395}"/>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4BF9268A-9B21-BF48-D76B-B000E14E6F1F}"/>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31DD3824-9A20-4C8E-4035-7C567CBDCAF0}"/>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07A5214C-2F80-CFB3-D07F-C8D62C498E24}"/>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DF785B35-D4E1-3C0B-326D-362D4050A38E}"/>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3EF38051-2E14-F732-2CA0-14F2C050E688}"/>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8548CF41-96CC-7958-C2CB-AD32DD6A7F11}"/>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CA53B222-C052-CCB6-5505-C0D074545738}"/>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967D2065-5E92-4D88-8030-38DEFB519A8F}"/>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066FBB26-4846-9771-3C98-02B49B74143D}"/>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CA0BCFE3-62BE-7E3C-0A51-FD57C0AAF7D3}"/>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61612DBA-D051-A6DE-01B2-B8FB611D3E61}"/>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53335BB1-ABC1-1632-BA28-A92A79626F47}"/>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E9AC6F48-B02C-3E6D-03A1-5A5258CCD48E}"/>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043F5FD3-E78D-8962-C19D-03FB89F5BEB1}"/>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F5848D00-DD2D-2E0F-50A3-19D83C79CBC7}"/>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CE45C13E-60E7-A48B-C0B6-A0F81A34DE25}"/>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BBAF284A-184B-F0DD-E088-8F1C09E02698}"/>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0A65DAE5-922C-CE28-08FC-E304E3005F90}"/>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B0108805-D070-1572-937A-4D45F42610B1}"/>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8E62EF89-389D-8BAE-8BA0-8D633FE0925B}"/>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0A87C13D-5033-85B4-57E3-255DA197936C}"/>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0A87C13D-5033-85B4-57E3-255DA197936C}"/>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E529480C-6E5E-202C-CDFD-02F3A77A8489}"/>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E529480C-6E5E-202C-CDFD-02F3A77A8489}"/>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B3E6A7FE-5FAE-791A-A1C3-C39BE3986353}"/>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B3E6A7FE-5FAE-791A-A1C3-C39BE3986353}"/>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45596C82-FA86-C644-628B-CA36329D2150}"/>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561B38B3-B35D-1D4C-0124-D6D7C1DCF9EF}"/>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F6724598-DC1E-B36D-7357-7E618E8DB1D5}"/>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9EBE6A65-8C79-9710-E097-06B454260DA0}"/>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E9F3507-E9CE-FDE2-8619-E7B376B50AB1}"/>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14BABD3D-144D-00B0-FFF4-69D58882E8A1}"/>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16646060-4D8F-E2B1-E20E-98D82F9428E2}"/>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CA7632AE-29F4-1E4C-EDD9-E9C460A558FB}"/>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CB4327F-2D33-2CFD-D245-31A41B9A8DAD}"/>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4CB4327F-2D33-2CFD-D245-31A41B9A8DAD}"/>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98183C3-A1B6-BBE6-2D01-B5F901E39B90}"/>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D98183C3-A1B6-BBE6-2D01-B5F901E39B90}"/>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509875D-A1B1-D283-6A86-A80D08ED2A71}"/>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9509875D-A1B1-D283-6A86-A80D08ED2A71}"/>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0468240A-6F94-361D-D7FC-CEE61BC58106}"/>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B7E9F385-445A-8EEC-378E-F32EF126698E}"/>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218034D-0C47-EFBE-70BC-2E3F2E76389F}"/>
                  </a:ext>
                </a:extLst>
              </p:cNvPr>
              <p:cNvSpPr txBox="1"/>
              <p:nvPr/>
            </p:nvSpPr>
            <p:spPr>
              <a:xfrm>
                <a:off x="1640864" y="5363308"/>
                <a:ext cx="6741136" cy="666721"/>
              </a:xfrm>
              <a:prstGeom prst="rect">
                <a:avLst/>
              </a:prstGeom>
              <a:noFill/>
            </p:spPr>
            <p:txBody>
              <a:bodyPr wrap="square" rtlCol="0">
                <a:spAutoFit/>
              </a:bodyPr>
              <a:lstStyle/>
              <a:p>
                <a:pPr algn="ctr">
                  <a:tabLst>
                    <a:tab pos="2171700" algn="l"/>
                  </a:tabLst>
                </a:pPr>
                <a:r>
                  <a:rPr lang="zh-CN" altLang="en-US" sz="2200" dirty="0"/>
                  <a:t>也就是复合</a:t>
                </a:r>
                <a:r>
                  <a:rPr lang="zh-CN" altLang="en-US" sz="2200" b="0" dirty="0"/>
                  <a:t>函数求导的链式法则</a:t>
                </a:r>
                <a14:m>
                  <m:oMath xmlns:m="http://schemas.openxmlformats.org/officeDocument/2006/math">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𝑑𝐿</m:t>
                        </m:r>
                      </m:num>
                      <m:den>
                        <m:r>
                          <a:rPr lang="en-US" altLang="zh-CN" sz="2200" b="0" i="1" smtClean="0">
                            <a:latin typeface="Cambria Math" panose="02040503050406030204" pitchFamily="18" charset="0"/>
                          </a:rPr>
                          <m:t>𝑑</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𝑛</m:t>
                            </m:r>
                          </m:sub>
                        </m:sSub>
                      </m:den>
                    </m:f>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𝑑𝐿</m:t>
                        </m:r>
                      </m:num>
                      <m:den>
                        <m:r>
                          <a:rPr lang="en-US" altLang="zh-CN" sz="2200" b="0" i="1" smtClean="0">
                            <a:latin typeface="Cambria Math" panose="02040503050406030204" pitchFamily="18" charset="0"/>
                          </a:rPr>
                          <m:t>𝑑</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𝑧</m:t>
                            </m:r>
                          </m:e>
                          <m:sub>
                            <m:r>
                              <a:rPr lang="en-US" altLang="zh-CN" sz="2200" b="0" i="1" smtClean="0">
                                <a:latin typeface="Cambria Math" panose="02040503050406030204" pitchFamily="18" charset="0"/>
                              </a:rPr>
                              <m:t>𝑘</m:t>
                            </m:r>
                          </m:sub>
                        </m:sSub>
                      </m:den>
                    </m:f>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𝑑</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𝑧</m:t>
                            </m:r>
                          </m:e>
                          <m:sub>
                            <m:r>
                              <a:rPr lang="en-US" altLang="zh-CN" sz="2200" i="1">
                                <a:latin typeface="Cambria Math" panose="02040503050406030204" pitchFamily="18" charset="0"/>
                              </a:rPr>
                              <m:t>𝑘</m:t>
                            </m:r>
                          </m:sub>
                        </m:sSub>
                      </m:num>
                      <m:den>
                        <m:r>
                          <a:rPr lang="en-US" altLang="zh-CN" sz="2200" b="0" i="1" smtClean="0">
                            <a:latin typeface="Cambria Math" panose="02040503050406030204" pitchFamily="18" charset="0"/>
                          </a:rPr>
                          <m:t>𝑑</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𝑛</m:t>
                            </m:r>
                          </m:sub>
                        </m:sSub>
                      </m:den>
                    </m:f>
                  </m:oMath>
                </a14:m>
                <a:endParaRPr lang="zh-CN" altLang="en-US" sz="2200" dirty="0"/>
              </a:p>
            </p:txBody>
          </p:sp>
        </mc:Choice>
        <mc:Fallback xmlns="">
          <p:sp>
            <p:nvSpPr>
              <p:cNvPr id="39" name="TextBox 38">
                <a:extLst>
                  <a:ext uri="{FF2B5EF4-FFF2-40B4-BE49-F238E27FC236}">
                    <a16:creationId xmlns:a16="http://schemas.microsoft.com/office/drawing/2014/main" id="{4218034D-0C47-EFBE-70BC-2E3F2E76389F}"/>
                  </a:ext>
                </a:extLst>
              </p:cNvPr>
              <p:cNvSpPr txBox="1">
                <a:spLocks noRot="1" noChangeAspect="1" noMove="1" noResize="1" noEditPoints="1" noAdjustHandles="1" noChangeArrowheads="1" noChangeShapeType="1" noTextEdit="1"/>
              </p:cNvSpPr>
              <p:nvPr/>
            </p:nvSpPr>
            <p:spPr>
              <a:xfrm>
                <a:off x="1640864" y="5363308"/>
                <a:ext cx="6741136" cy="66672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2F961A5-BE1E-A889-5327-39A9247B0DB9}"/>
                  </a:ext>
                </a:extLst>
              </p:cNvPr>
              <p:cNvSpPr txBox="1"/>
              <p:nvPr/>
            </p:nvSpPr>
            <p:spPr>
              <a:xfrm>
                <a:off x="2285944" y="5024319"/>
                <a:ext cx="1494883" cy="381515"/>
              </a:xfrm>
              <a:prstGeom prst="rect">
                <a:avLst/>
              </a:prstGeom>
              <a:noFill/>
            </p:spPr>
            <p:txBody>
              <a:bodyPr wrap="square">
                <a:spAutoFit/>
              </a:bodyPr>
              <a:lstStyle/>
              <a:p>
                <a14:m>
                  <m:oMath xmlns:m="http://schemas.openxmlformats.org/officeDocument/2006/math">
                    <m:r>
                      <a:rPr lang="zh-CN" altLang="en-US" i="1" smtClean="0">
                        <a:latin typeface="Cambria Math" panose="02040503050406030204" pitchFamily="18" charset="0"/>
                      </a:rPr>
                      <m:t>以</m:t>
                    </m:r>
                    <m:sSub>
                      <m:sSubPr>
                        <m:ctrlPr>
                          <a:rPr lang="en-US" sz="1800"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sub>
                    </m:sSub>
                  </m:oMath>
                </a14:m>
                <a:r>
                  <a:rPr lang="zh-CN" altLang="en-US" dirty="0"/>
                  <a:t>为例</a:t>
                </a:r>
                <a:endParaRPr lang="en-US" dirty="0"/>
              </a:p>
            </p:txBody>
          </p:sp>
        </mc:Choice>
        <mc:Fallback xmlns="">
          <p:sp>
            <p:nvSpPr>
              <p:cNvPr id="41" name="TextBox 40">
                <a:extLst>
                  <a:ext uri="{FF2B5EF4-FFF2-40B4-BE49-F238E27FC236}">
                    <a16:creationId xmlns:a16="http://schemas.microsoft.com/office/drawing/2014/main" id="{42F961A5-BE1E-A889-5327-39A9247B0DB9}"/>
                  </a:ext>
                </a:extLst>
              </p:cNvPr>
              <p:cNvSpPr txBox="1">
                <a:spLocks noRot="1" noChangeAspect="1" noMove="1" noResize="1" noEditPoints="1" noAdjustHandles="1" noChangeArrowheads="1" noChangeShapeType="1" noTextEdit="1"/>
              </p:cNvSpPr>
              <p:nvPr/>
            </p:nvSpPr>
            <p:spPr>
              <a:xfrm>
                <a:off x="2285944" y="5024319"/>
                <a:ext cx="1494883" cy="381515"/>
              </a:xfrm>
              <a:prstGeom prst="rect">
                <a:avLst/>
              </a:prstGeom>
              <a:blipFill>
                <a:blip r:embed="rId14"/>
                <a:stretch>
                  <a:fillRect l="-816" t="-12698" b="-15873"/>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F376D813-D8F0-9AC7-609D-3A5ECED27FC2}"/>
              </a:ext>
            </a:extLst>
          </p:cNvPr>
          <p:cNvSpPr txBox="1"/>
          <p:nvPr/>
        </p:nvSpPr>
        <p:spPr>
          <a:xfrm>
            <a:off x="1640864" y="1612348"/>
            <a:ext cx="1941401" cy="769441"/>
          </a:xfrm>
          <a:prstGeom prst="rect">
            <a:avLst/>
          </a:prstGeom>
          <a:noFill/>
        </p:spPr>
        <p:txBody>
          <a:bodyPr wrap="square" rtlCol="0">
            <a:spAutoFit/>
          </a:bodyPr>
          <a:lstStyle/>
          <a:p>
            <a:pPr algn="ctr">
              <a:tabLst>
                <a:tab pos="2171700" algn="l"/>
              </a:tabLst>
            </a:pPr>
            <a:r>
              <a:rPr lang="zh-CN" altLang="en-US" sz="2200" dirty="0"/>
              <a:t>这一层计算就比较麻烦了</a:t>
            </a:r>
          </a:p>
        </p:txBody>
      </p:sp>
    </p:spTree>
    <p:custDataLst>
      <p:tags r:id="rId1"/>
    </p:custDataLst>
    <p:extLst>
      <p:ext uri="{BB962C8B-B14F-4D97-AF65-F5344CB8AC3E}">
        <p14:creationId xmlns:p14="http://schemas.microsoft.com/office/powerpoint/2010/main" val="16562292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F67D-72D8-EBB9-3C96-94BDD916E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457AC-509B-ADFD-103B-B36FC42035CF}"/>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D0B898C0-0499-8F79-9892-646030A645BD}"/>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0AEF8FA2-1578-0691-5300-F4A8EABC3D2E}"/>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647D1FEB-8398-A26A-4597-7BBF699586B5}"/>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561A7FC0-42AA-D701-5B07-8CF66F687C15}"/>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9AC31FEF-BD12-E0BE-E8EF-F8A837968BC5}"/>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F90AA20C-A827-E1D2-1162-00BB3FBC5EFF}"/>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DF6A0654-6BC1-E6A8-954A-06D91F157C55}"/>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CEF3B199-9DC8-6863-A579-6251EA6F1CFF}"/>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62265685-7FA5-D2A5-C0EF-8942D918174D}"/>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1BF8EE5-5C85-58AF-2524-31878B401FF8}"/>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C1BF8EE5-5C85-58AF-2524-31878B401FF8}"/>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2F6408A-3DCD-6873-D918-BBFCBD372EA5}"/>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D59ADEA-FA10-4C3C-0B1B-A47B089B5E2C}"/>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42405A0B-5AF7-819F-7530-265D7B791954}"/>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201AA864-FD95-6B7A-A321-ADC7FBFBEC8F}"/>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8BAD1EC2-BE33-0971-9E95-9DFCF5AB8173}"/>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B66DA9D5-A3A1-BEE8-B725-7CCA1E947BEA}"/>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934A6986-B1B3-6DF8-3FB4-A5FA9ADE4DC3}"/>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8321472C-A887-6E2C-7179-B477F6205145}"/>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00BB7728-A2CE-679A-7263-21B915874DF8}"/>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A5DE94FF-C271-EAD2-E948-2040320113C2}"/>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7E9B823F-BC48-F7CC-65B2-9CDAF9F64CBF}"/>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E97CCB49-D7D6-518C-2500-474ADA0D6F1D}"/>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66A75805-2658-782C-CA0F-31558B88ADE3}"/>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BFB87EE9-A322-CB95-0E0B-8875E123BC42}"/>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FCC8BEA7-322F-76D0-104E-BE6E1C96402A}"/>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560A9882-E40D-6607-5EAE-B688DD711767}"/>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2383A41D-7673-C9AA-1CDF-E22128682A81}"/>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62084FD4-7042-4B70-EF5A-E1C7BF7C19CE}"/>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4F5F3457-FEF7-ADB6-1E23-51F870DB7DEC}"/>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AC285F77-0653-DE2B-BB02-424A677E0E54}"/>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7DFD967C-3BC1-56F2-726C-360773D122AA}"/>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55AEC3B3-CD28-7DDF-BCDD-0863FBA3A7B0}"/>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9B369867-6CC4-98EA-8463-B3DE2AA1DC68}"/>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44E9F35-4138-D3C1-B8FD-A1F3E006E885}"/>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144E9F35-4138-D3C1-B8FD-A1F3E006E885}"/>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ED000020-F8D2-FBB9-7A12-2A030C0DAF49}"/>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ED000020-F8D2-FBB9-7A12-2A030C0DAF49}"/>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2858D9F-E8C1-8067-AA1C-7CB661599270}"/>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52858D9F-E8C1-8067-AA1C-7CB661599270}"/>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3959685E-3359-0971-E277-8E764D7A5ED0}"/>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92AA7309-67CE-2D51-046C-51A4313B5E6C}"/>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C49D14B9-C357-1790-2A93-BDF98A1A3E4E}"/>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6A9E95A3-10C0-6240-BC54-1D18D1726336}"/>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F88BF0B0-C1E8-6C03-4938-56C707531CFE}"/>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3EC2939C-0DD5-B705-C74E-05E45A6AB0C4}"/>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3E201AC4-B6BF-3E16-3285-DFEDBEB65501}"/>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4786197E-BE6E-254E-7415-5F14C75E3253}"/>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73D9408-0A35-F1DB-E8B3-7F6CA9A3904D}"/>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D73D9408-0A35-F1DB-E8B3-7F6CA9A3904D}"/>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AC07DD0-1084-73C1-7D04-DAB5BB4B47C7}"/>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1AC07DD0-1084-73C1-7D04-DAB5BB4B47C7}"/>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2F06867-95B1-4BCF-7973-2169CBF6DF2C}"/>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32F06867-95B1-4BCF-7973-2169CBF6DF2C}"/>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D51238B1-CBA4-E02B-D204-E1ADD6783271}"/>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BFCB09BD-CE94-AD96-218E-F680567F82AE}"/>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12" name="Straight Arrow Connector 11">
            <a:extLst>
              <a:ext uri="{FF2B5EF4-FFF2-40B4-BE49-F238E27FC236}">
                <a16:creationId xmlns:a16="http://schemas.microsoft.com/office/drawing/2014/main" id="{AAE1DF3A-C975-84DE-335E-2F6B8DFF1CA2}"/>
              </a:ext>
            </a:extLst>
          </p:cNvPr>
          <p:cNvCxnSpPr>
            <a:cxnSpLocks/>
          </p:cNvCxnSpPr>
          <p:nvPr/>
        </p:nvCxnSpPr>
        <p:spPr bwMode="auto">
          <a:xfrm>
            <a:off x="2817714" y="5620067"/>
            <a:ext cx="2869143" cy="12684"/>
          </a:xfrm>
          <a:prstGeom prst="straightConnector1">
            <a:avLst/>
          </a:prstGeom>
          <a:solidFill>
            <a:schemeClr val="accent1"/>
          </a:solidFill>
          <a:ln w="9525" cap="flat" cmpd="sng" algn="ctr">
            <a:solidFill>
              <a:schemeClr val="tx1"/>
            </a:solidFill>
            <a:prstDash val="solid"/>
            <a:round/>
            <a:headEnd type="triangle" w="med" len="med"/>
            <a:tailEnd type="none"/>
          </a:ln>
          <a:effectLst/>
        </p:spPr>
      </p:cxnSp>
      <p:sp>
        <p:nvSpPr>
          <p:cNvPr id="13" name="TextBox 12">
            <a:extLst>
              <a:ext uri="{FF2B5EF4-FFF2-40B4-BE49-F238E27FC236}">
                <a16:creationId xmlns:a16="http://schemas.microsoft.com/office/drawing/2014/main" id="{4D4E63BF-52E0-3E9C-89A2-1255387B1A65}"/>
              </a:ext>
            </a:extLst>
          </p:cNvPr>
          <p:cNvSpPr txBox="1"/>
          <p:nvPr/>
        </p:nvSpPr>
        <p:spPr>
          <a:xfrm>
            <a:off x="2975227" y="5688819"/>
            <a:ext cx="2209800" cy="430887"/>
          </a:xfrm>
          <a:prstGeom prst="rect">
            <a:avLst/>
          </a:prstGeom>
          <a:noFill/>
        </p:spPr>
        <p:txBody>
          <a:bodyPr wrap="square" rtlCol="0">
            <a:spAutoFit/>
          </a:bodyPr>
          <a:lstStyle/>
          <a:p>
            <a:pPr algn="ctr"/>
            <a:r>
              <a:rPr lang="zh-CN" altLang="en-US" sz="2200" dirty="0"/>
              <a:t>反向传播</a:t>
            </a:r>
          </a:p>
        </p:txBody>
      </p:sp>
      <p:sp>
        <p:nvSpPr>
          <p:cNvPr id="15" name="TextBox 14">
            <a:extLst>
              <a:ext uri="{FF2B5EF4-FFF2-40B4-BE49-F238E27FC236}">
                <a16:creationId xmlns:a16="http://schemas.microsoft.com/office/drawing/2014/main" id="{BE4FE8EE-BDA5-2B87-62A3-08E99BC5E2D5}"/>
              </a:ext>
            </a:extLst>
          </p:cNvPr>
          <p:cNvSpPr txBox="1"/>
          <p:nvPr/>
        </p:nvSpPr>
        <p:spPr>
          <a:xfrm>
            <a:off x="4900577" y="4699916"/>
            <a:ext cx="2023114" cy="769441"/>
          </a:xfrm>
          <a:prstGeom prst="rect">
            <a:avLst/>
          </a:prstGeom>
          <a:noFill/>
        </p:spPr>
        <p:txBody>
          <a:bodyPr wrap="square" rtlCol="0">
            <a:spAutoFit/>
          </a:bodyPr>
          <a:lstStyle/>
          <a:p>
            <a:pPr algn="ctr">
              <a:tabLst>
                <a:tab pos="2171700" algn="l"/>
              </a:tabLst>
            </a:pPr>
            <a:r>
              <a:rPr lang="zh-CN" altLang="en-US" sz="2200" dirty="0"/>
              <a:t>先计算后一层参数的偏导数</a:t>
            </a:r>
          </a:p>
        </p:txBody>
      </p:sp>
    </p:spTree>
    <p:custDataLst>
      <p:tags r:id="rId1"/>
    </p:custDataLst>
    <p:extLst>
      <p:ext uri="{BB962C8B-B14F-4D97-AF65-F5344CB8AC3E}">
        <p14:creationId xmlns:p14="http://schemas.microsoft.com/office/powerpoint/2010/main" val="323774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right)">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22BED-DC30-9BAA-E572-0BA150A25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B29CF-F8B0-DBD2-4527-0052E5AC3D74}"/>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FBF64212-C3A2-35B5-8154-DC068610C8A5}"/>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224CBFE3-1B40-0C79-BD05-85296B002B80}"/>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0F5868AF-B075-ADA4-B704-5AE6C26F9D74}"/>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F385D8F3-46A8-41E8-C109-038DFBCA069E}"/>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C1CB90A9-E512-5D3E-60AC-B16887ABECFF}"/>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9890A21B-3CFE-AA2F-11AD-01755FA3A9B0}"/>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647CEC62-53E6-8D71-673A-03AC6C09B7EE}"/>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99DBB752-BBBD-5AA7-A427-6E4D19C00A88}"/>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DFBFDF48-A04B-A15D-6A31-ED3CF0382A53}"/>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E11AD38-3A13-1179-7F64-EC6C2F1BA70F}"/>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3E11AD38-3A13-1179-7F64-EC6C2F1BA70F}"/>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4455777-76E5-71CF-F6EF-79852F6F4E00}"/>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1D78F4A-E105-EAC2-618F-F38DCB87DD08}"/>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7B6E62AF-3513-68EA-B102-D549694E51D5}"/>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7CEFAB83-9A45-4822-AF6F-DCE4AEF6AEE4}"/>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83B1DBE3-B2ED-1D67-83B7-40734FB84743}"/>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E02FA610-235E-28B5-BFC0-DDBDFA09083A}"/>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41ACB565-BD0C-EF6B-B5FF-74FF52F5947E}"/>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4134DEDA-C306-7B79-8CEC-14C052B26C2E}"/>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9D3DDBB-0A3C-23D3-46BA-E2FAA67AF803}"/>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28B13E8D-D7E5-FF52-0F92-315EE907BF32}"/>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C31EA845-C6C7-7DDB-2643-9DF7EAFEF9BB}"/>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E2FF77CA-94B7-4B15-36C6-6E61D4B63692}"/>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C29AEC91-39E7-8634-E0FA-4F4B86C04DD8}"/>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B5CFAB0D-0A27-DBCA-B83B-A2ABA7CBA7D7}"/>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55FBC7A1-9EA2-1DEA-3A3D-194D638B5593}"/>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EAB60448-89D1-6F56-945E-8F2761DA45CA}"/>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3E6D40A8-9DBF-5F38-4344-CE2115B5B1F8}"/>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6B5C28E7-152C-0008-8550-F4AB752EA0EC}"/>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D73A5503-EA82-89E1-CABB-2684EA388615}"/>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72A3741C-DDFB-20DC-DB14-B822F6C4A657}"/>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C174D09D-0E62-7EB5-8842-74576A5C85BE}"/>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A7CA5939-5F87-6053-C8C9-0665C621978A}"/>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E682CB44-86F4-5D27-5B80-19342D1D5486}"/>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50739231-933C-10A4-B696-FFE9882442A6}"/>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50739231-933C-10A4-B696-FFE9882442A6}"/>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333C1559-EAEF-A8CC-A983-A803B7ED4C8C}"/>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333C1559-EAEF-A8CC-A983-A803B7ED4C8C}"/>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AD4B270A-D44D-F5C4-557B-B2A909BFFE3C}"/>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AD4B270A-D44D-F5C4-557B-B2A909BFFE3C}"/>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CF3E4A9F-6F17-2D2A-1C27-E4C3906D77A2}"/>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6CEA49F4-C9E2-F70C-1982-F2A2F71F9ECA}"/>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C47F598D-EF16-52CD-46BB-92C0A75235A0}"/>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42EAAF65-4173-4595-446F-58FC8FC21168}"/>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D4869FC9-42A4-EF7A-5854-06CDFED7D4BD}"/>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5172EB13-8DDD-9DC1-6077-0953F722FCE0}"/>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45983EEE-F4CD-CEB4-9214-38C3DB0402D8}"/>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91FAEEDF-2946-CA57-19A5-5038A3B88839}"/>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469339D-BBCB-69AD-9381-F59FC17B1E72}"/>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C469339D-BBCB-69AD-9381-F59FC17B1E72}"/>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0BC8F6E-A8FA-F87B-2F5A-EF829965B5EC}"/>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70BC8F6E-A8FA-F87B-2F5A-EF829965B5EC}"/>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6491A44-9E96-4512-2DDF-9A3908D360A8}"/>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16491A44-9E96-4512-2DDF-9A3908D360A8}"/>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727F49A4-491C-97C3-A5E5-50EFA9B6120A}"/>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D63BC68A-2F09-5D52-D237-0933093EA260}"/>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12" name="Straight Arrow Connector 11">
            <a:extLst>
              <a:ext uri="{FF2B5EF4-FFF2-40B4-BE49-F238E27FC236}">
                <a16:creationId xmlns:a16="http://schemas.microsoft.com/office/drawing/2014/main" id="{064E62F4-9D9E-875D-1CBB-0FDEDAF7B1EA}"/>
              </a:ext>
            </a:extLst>
          </p:cNvPr>
          <p:cNvCxnSpPr>
            <a:cxnSpLocks/>
          </p:cNvCxnSpPr>
          <p:nvPr/>
        </p:nvCxnSpPr>
        <p:spPr bwMode="auto">
          <a:xfrm>
            <a:off x="2817714" y="5620067"/>
            <a:ext cx="2869143" cy="12684"/>
          </a:xfrm>
          <a:prstGeom prst="straightConnector1">
            <a:avLst/>
          </a:prstGeom>
          <a:solidFill>
            <a:schemeClr val="accent1"/>
          </a:solidFill>
          <a:ln w="9525" cap="flat" cmpd="sng" algn="ctr">
            <a:solidFill>
              <a:schemeClr val="tx1"/>
            </a:solidFill>
            <a:prstDash val="solid"/>
            <a:round/>
            <a:headEnd type="triangle" w="med" len="med"/>
            <a:tailEnd type="none"/>
          </a:ln>
          <a:effectLst/>
        </p:spPr>
      </p:cxnSp>
      <p:sp>
        <p:nvSpPr>
          <p:cNvPr id="13" name="TextBox 12">
            <a:extLst>
              <a:ext uri="{FF2B5EF4-FFF2-40B4-BE49-F238E27FC236}">
                <a16:creationId xmlns:a16="http://schemas.microsoft.com/office/drawing/2014/main" id="{4014AC6D-7D63-2188-A3A7-3F113A9F7F7A}"/>
              </a:ext>
            </a:extLst>
          </p:cNvPr>
          <p:cNvSpPr txBox="1"/>
          <p:nvPr/>
        </p:nvSpPr>
        <p:spPr>
          <a:xfrm>
            <a:off x="2975227" y="5688819"/>
            <a:ext cx="2209800" cy="430887"/>
          </a:xfrm>
          <a:prstGeom prst="rect">
            <a:avLst/>
          </a:prstGeom>
          <a:noFill/>
        </p:spPr>
        <p:txBody>
          <a:bodyPr wrap="square" rtlCol="0">
            <a:spAutoFit/>
          </a:bodyPr>
          <a:lstStyle/>
          <a:p>
            <a:pPr algn="ctr"/>
            <a:r>
              <a:rPr lang="zh-CN" altLang="en-US" sz="2200" dirty="0"/>
              <a:t>反向传播</a:t>
            </a:r>
          </a:p>
        </p:txBody>
      </p:sp>
      <p:sp>
        <p:nvSpPr>
          <p:cNvPr id="15" name="TextBox 14">
            <a:extLst>
              <a:ext uri="{FF2B5EF4-FFF2-40B4-BE49-F238E27FC236}">
                <a16:creationId xmlns:a16="http://schemas.microsoft.com/office/drawing/2014/main" id="{63CEE462-C3CC-EE14-B416-548947B2AB31}"/>
              </a:ext>
            </a:extLst>
          </p:cNvPr>
          <p:cNvSpPr txBox="1"/>
          <p:nvPr/>
        </p:nvSpPr>
        <p:spPr>
          <a:xfrm>
            <a:off x="3230540" y="4766852"/>
            <a:ext cx="2023114" cy="769441"/>
          </a:xfrm>
          <a:prstGeom prst="rect">
            <a:avLst/>
          </a:prstGeom>
          <a:noFill/>
        </p:spPr>
        <p:txBody>
          <a:bodyPr wrap="square" rtlCol="0">
            <a:spAutoFit/>
          </a:bodyPr>
          <a:lstStyle/>
          <a:p>
            <a:pPr algn="ctr">
              <a:tabLst>
                <a:tab pos="2171700" algn="l"/>
              </a:tabLst>
            </a:pPr>
            <a:r>
              <a:rPr lang="zh-CN" altLang="en-US" sz="2200" dirty="0"/>
              <a:t>再计算隐藏层输出的偏导数</a:t>
            </a:r>
          </a:p>
        </p:txBody>
      </p:sp>
    </p:spTree>
    <p:custDataLst>
      <p:tags r:id="rId1"/>
    </p:custDataLst>
    <p:extLst>
      <p:ext uri="{BB962C8B-B14F-4D97-AF65-F5344CB8AC3E}">
        <p14:creationId xmlns:p14="http://schemas.microsoft.com/office/powerpoint/2010/main" val="30747970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A001-63C9-8FA9-E03A-7C5E07845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AB78C-C414-718A-9356-9C2C4BB3A59A}"/>
              </a:ext>
            </a:extLst>
          </p:cNvPr>
          <p:cNvSpPr>
            <a:spLocks noGrp="1"/>
          </p:cNvSpPr>
          <p:nvPr>
            <p:ph type="title"/>
          </p:nvPr>
        </p:nvSpPr>
        <p:spPr/>
        <p:txBody>
          <a:bodyPr/>
          <a:lstStyle/>
          <a:p>
            <a:r>
              <a:rPr lang="zh-CN" altLang="en-US" dirty="0">
                <a:ea typeface="ＭＳ Ｐゴシック" panose="020B0600070205080204" pitchFamily="34" charset="-128"/>
              </a:rPr>
              <a:t>计算偏导数：反向传播</a:t>
            </a:r>
            <a:endParaRPr lang="zh-CN" altLang="en-US" dirty="0"/>
          </a:p>
        </p:txBody>
      </p:sp>
      <p:sp>
        <p:nvSpPr>
          <p:cNvPr id="17" name="Oval 16">
            <a:extLst>
              <a:ext uri="{FF2B5EF4-FFF2-40B4-BE49-F238E27FC236}">
                <a16:creationId xmlns:a16="http://schemas.microsoft.com/office/drawing/2014/main" id="{D8B3B8B7-072A-1AD8-8178-DAABC8210BEA}"/>
              </a:ext>
            </a:extLst>
          </p:cNvPr>
          <p:cNvSpPr/>
          <p:nvPr/>
        </p:nvSpPr>
        <p:spPr bwMode="auto">
          <a:xfrm>
            <a:off x="4089697" y="2744149"/>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10" name="Straight Arrow Connector 9">
            <a:extLst>
              <a:ext uri="{FF2B5EF4-FFF2-40B4-BE49-F238E27FC236}">
                <a16:creationId xmlns:a16="http://schemas.microsoft.com/office/drawing/2014/main" id="{A8D63989-6875-EB75-1BBC-1240C2D52B15}"/>
              </a:ext>
            </a:extLst>
          </p:cNvPr>
          <p:cNvCxnSpPr>
            <a:cxnSpLocks/>
            <a:stCxn id="9" idx="3"/>
            <a:endCxn id="17" idx="2"/>
          </p:cNvCxnSpPr>
          <p:nvPr/>
        </p:nvCxnSpPr>
        <p:spPr bwMode="auto">
          <a:xfrm>
            <a:off x="1271200" y="2606116"/>
            <a:ext cx="2818497" cy="214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46504A51-E586-A800-4771-BAAAFD0F4593}"/>
              </a:ext>
            </a:extLst>
          </p:cNvPr>
          <p:cNvCxnSpPr>
            <a:cxnSpLocks/>
            <a:stCxn id="11" idx="3"/>
            <a:endCxn id="17" idx="2"/>
          </p:cNvCxnSpPr>
          <p:nvPr/>
        </p:nvCxnSpPr>
        <p:spPr bwMode="auto">
          <a:xfrm flipV="1">
            <a:off x="1259328" y="2820349"/>
            <a:ext cx="2830369" cy="28635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6E064ECC-EDC9-0909-34F2-BDD9FF6B17D2}"/>
              </a:ext>
            </a:extLst>
          </p:cNvPr>
          <p:cNvCxnSpPr>
            <a:cxnSpLocks/>
            <a:stCxn id="19" idx="3"/>
            <a:endCxn id="17" idx="2"/>
          </p:cNvCxnSpPr>
          <p:nvPr/>
        </p:nvCxnSpPr>
        <p:spPr bwMode="auto">
          <a:xfrm flipV="1">
            <a:off x="1245137" y="2820349"/>
            <a:ext cx="2844560" cy="23759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6C6B7C56-27A7-6786-A27F-38DAF667A293}"/>
              </a:ext>
            </a:extLst>
          </p:cNvPr>
          <p:cNvSpPr txBox="1"/>
          <p:nvPr/>
        </p:nvSpPr>
        <p:spPr>
          <a:xfrm>
            <a:off x="2144486" y="3662006"/>
            <a:ext cx="738664" cy="430887"/>
          </a:xfrm>
          <a:prstGeom prst="rect">
            <a:avLst/>
          </a:prstGeom>
          <a:noFill/>
        </p:spPr>
        <p:txBody>
          <a:bodyPr vert="eaVert" wrap="square" rtlCol="0">
            <a:spAutoFit/>
          </a:bodyPr>
          <a:lstStyle/>
          <a:p>
            <a:r>
              <a:rPr lang="en-US" altLang="zh-CN" sz="3600" dirty="0"/>
              <a:t>…</a:t>
            </a:r>
            <a:endParaRPr lang="zh-CN" altLang="en-US" sz="3600" dirty="0"/>
          </a:p>
        </p:txBody>
      </p:sp>
      <p:grpSp>
        <p:nvGrpSpPr>
          <p:cNvPr id="20" name="Group 19">
            <a:extLst>
              <a:ext uri="{FF2B5EF4-FFF2-40B4-BE49-F238E27FC236}">
                <a16:creationId xmlns:a16="http://schemas.microsoft.com/office/drawing/2014/main" id="{FB8C788F-155F-0F04-A105-F1977EDF0965}"/>
              </a:ext>
            </a:extLst>
          </p:cNvPr>
          <p:cNvGrpSpPr/>
          <p:nvPr/>
        </p:nvGrpSpPr>
        <p:grpSpPr>
          <a:xfrm>
            <a:off x="76200" y="1871402"/>
            <a:ext cx="2209800" cy="3509578"/>
            <a:chOff x="1066800" y="1840625"/>
            <a:chExt cx="2209800" cy="3509578"/>
          </a:xfrm>
        </p:grpSpPr>
        <p:grpSp>
          <p:nvGrpSpPr>
            <p:cNvPr id="7" name="Group 6">
              <a:extLst>
                <a:ext uri="{FF2B5EF4-FFF2-40B4-BE49-F238E27FC236}">
                  <a16:creationId xmlns:a16="http://schemas.microsoft.com/office/drawing/2014/main" id="{89210156-4F5A-C085-7EFB-BAC6501709FC}"/>
                </a:ext>
              </a:extLst>
            </p:cNvPr>
            <p:cNvGrpSpPr/>
            <p:nvPr/>
          </p:nvGrpSpPr>
          <p:grpSpPr>
            <a:xfrm>
              <a:off x="1066800" y="1840625"/>
              <a:ext cx="2209800" cy="2563547"/>
              <a:chOff x="1791834" y="1840625"/>
              <a:chExt cx="2209800" cy="2563547"/>
            </a:xfrm>
          </p:grpSpPr>
          <p:sp>
            <p:nvSpPr>
              <p:cNvPr id="25" name="TextBox 24">
                <a:extLst>
                  <a:ext uri="{FF2B5EF4-FFF2-40B4-BE49-F238E27FC236}">
                    <a16:creationId xmlns:a16="http://schemas.microsoft.com/office/drawing/2014/main" id="{1C0F1DD8-930B-73A3-D53A-A68FAEC3E1BD}"/>
                  </a:ext>
                </a:extLst>
              </p:cNvPr>
              <p:cNvSpPr txBox="1"/>
              <p:nvPr/>
            </p:nvSpPr>
            <p:spPr>
              <a:xfrm>
                <a:off x="1791834" y="1840625"/>
                <a:ext cx="2209800" cy="430887"/>
              </a:xfrm>
              <a:prstGeom prst="rect">
                <a:avLst/>
              </a:prstGeom>
              <a:noFill/>
            </p:spPr>
            <p:txBody>
              <a:bodyPr wrap="square" rtlCol="0">
                <a:spAutoFit/>
              </a:bodyPr>
              <a:lstStyle/>
              <a:p>
                <a:pPr algn="ctr"/>
                <a:r>
                  <a:rPr lang="zh-CN" altLang="en-US" sz="2200" dirty="0"/>
                  <a:t>输入</a:t>
                </a:r>
              </a:p>
            </p:txBody>
          </p:sp>
          <p:sp>
            <p:nvSpPr>
              <p:cNvPr id="6" name="TextBox 5">
                <a:extLst>
                  <a:ext uri="{FF2B5EF4-FFF2-40B4-BE49-F238E27FC236}">
                    <a16:creationId xmlns:a16="http://schemas.microsoft.com/office/drawing/2014/main" id="{1BBA260C-5EEB-D28D-01A6-7C9903184BA2}"/>
                  </a:ext>
                </a:extLst>
              </p:cNvPr>
              <p:cNvSpPr txBox="1"/>
              <p:nvPr/>
            </p:nvSpPr>
            <p:spPr>
              <a:xfrm>
                <a:off x="2668564" y="3973285"/>
                <a:ext cx="738664" cy="430887"/>
              </a:xfrm>
              <a:prstGeom prst="rect">
                <a:avLst/>
              </a:prstGeom>
              <a:noFill/>
            </p:spPr>
            <p:txBody>
              <a:bodyPr vert="eaVert" wrap="square" rtlCol="0">
                <a:spAutoFit/>
              </a:bodyPr>
              <a:lstStyle/>
              <a:p>
                <a:r>
                  <a:rPr lang="en-US" altLang="zh-CN" sz="3600" dirty="0"/>
                  <a:t>…</a:t>
                </a:r>
                <a:endParaRPr lang="zh-CN" altLang="en-US" sz="3600" dirty="0"/>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5678801-EB3C-8E3A-D44C-8CE6B06EBC93}"/>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oMath>
                    </m:oMathPara>
                  </a14:m>
                  <a:endParaRPr lang="en-US" dirty="0"/>
                </a:p>
              </p:txBody>
            </p:sp>
          </mc:Choice>
          <mc:Fallback xmlns="">
            <p:sp>
              <p:nvSpPr>
                <p:cNvPr id="9" name="TextBox 8">
                  <a:extLst>
                    <a:ext uri="{FF2B5EF4-FFF2-40B4-BE49-F238E27FC236}">
                      <a16:creationId xmlns:a16="http://schemas.microsoft.com/office/drawing/2014/main" id="{A5678801-EB3C-8E3A-D44C-8CE6B06EBC93}"/>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694FEF2-DCC9-A3C4-C7FC-E32DA8C3732D}"/>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oMath>
                    </m:oMathPara>
                  </a14:m>
                  <a:endParaRPr lang="en-US" dirty="0"/>
                </a:p>
              </p:txBody>
            </p:sp>
          </mc:Choice>
          <mc:Fallback xmlns="">
            <p:sp>
              <p:nvSpPr>
                <p:cNvPr id="11" name="TextBox 10">
                  <a:extLst>
                    <a:ext uri="{FF2B5EF4-FFF2-40B4-BE49-F238E27FC236}">
                      <a16:creationId xmlns:a16="http://schemas.microsoft.com/office/drawing/2014/main" id="{694DB2A0-283E-03CA-E47E-038E5B5A74FB}"/>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F26B400-A9AE-A52D-1469-461B9A410799}"/>
                    </a:ext>
                  </a:extLst>
                </p:cNvPr>
                <p:cNvSpPr txBox="1"/>
                <p:nvPr/>
              </p:nvSpPr>
              <p:spPr>
                <a:xfrm>
                  <a:off x="1839543" y="4980871"/>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oMath>
                    </m:oMathPara>
                  </a14:m>
                  <a:endParaRPr lang="en-US" dirty="0"/>
                </a:p>
              </p:txBody>
            </p:sp>
          </mc:Choice>
          <mc:Fallback xmlns="">
            <p:sp>
              <p:nvSpPr>
                <p:cNvPr id="19" name="TextBox 18">
                  <a:extLst>
                    <a:ext uri="{FF2B5EF4-FFF2-40B4-BE49-F238E27FC236}">
                      <a16:creationId xmlns:a16="http://schemas.microsoft.com/office/drawing/2014/main" id="{F6C65FC1-AB59-19DE-A9C1-01123F9DB5C3}"/>
                    </a:ext>
                  </a:extLst>
                </p:cNvPr>
                <p:cNvSpPr txBox="1">
                  <a:spLocks noRot="1" noChangeAspect="1" noMove="1" noResize="1" noEditPoints="1" noAdjustHandles="1" noChangeArrowheads="1" noChangeShapeType="1" noTextEdit="1"/>
                </p:cNvSpPr>
                <p:nvPr/>
              </p:nvSpPr>
              <p:spPr>
                <a:xfrm>
                  <a:off x="1839543" y="4980871"/>
                  <a:ext cx="396194" cy="369332"/>
                </a:xfrm>
                <a:prstGeom prst="rect">
                  <a:avLst/>
                </a:prstGeom>
                <a:blipFill>
                  <a:blip r:embed="rId6"/>
                  <a:stretch>
                    <a:fillRect/>
                  </a:stretch>
                </a:blipFill>
              </p:spPr>
              <p:txBody>
                <a:bodyPr/>
                <a:lstStyle/>
                <a:p>
                  <a:r>
                    <a:rPr lang="en-US">
                      <a:noFill/>
                    </a:rPr>
                    <a:t> </a:t>
                  </a:r>
                </a:p>
              </p:txBody>
            </p:sp>
          </mc:Fallback>
        </mc:AlternateContent>
      </p:grpSp>
      <p:sp>
        <p:nvSpPr>
          <p:cNvPr id="16" name="Oval 15">
            <a:extLst>
              <a:ext uri="{FF2B5EF4-FFF2-40B4-BE49-F238E27FC236}">
                <a16:creationId xmlns:a16="http://schemas.microsoft.com/office/drawing/2014/main" id="{ED929FBF-0960-9E58-1002-7304CD69AFAD}"/>
              </a:ext>
            </a:extLst>
          </p:cNvPr>
          <p:cNvSpPr/>
          <p:nvPr/>
        </p:nvSpPr>
        <p:spPr bwMode="auto">
          <a:xfrm>
            <a:off x="4080127" y="32766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Oval 21">
            <a:extLst>
              <a:ext uri="{FF2B5EF4-FFF2-40B4-BE49-F238E27FC236}">
                <a16:creationId xmlns:a16="http://schemas.microsoft.com/office/drawing/2014/main" id="{D82EEA5F-C1AE-4EEC-C5ED-B5C6A0B52615}"/>
              </a:ext>
            </a:extLst>
          </p:cNvPr>
          <p:cNvSpPr/>
          <p:nvPr/>
        </p:nvSpPr>
        <p:spPr bwMode="auto">
          <a:xfrm>
            <a:off x="4091025" y="45720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E304771C-B56A-314C-8735-E6FFC0195FFA}"/>
              </a:ext>
            </a:extLst>
          </p:cNvPr>
          <p:cNvSpPr txBox="1"/>
          <p:nvPr/>
        </p:nvSpPr>
        <p:spPr>
          <a:xfrm>
            <a:off x="3943822" y="3852753"/>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4" name="Straight Arrow Connector 3">
            <a:extLst>
              <a:ext uri="{FF2B5EF4-FFF2-40B4-BE49-F238E27FC236}">
                <a16:creationId xmlns:a16="http://schemas.microsoft.com/office/drawing/2014/main" id="{D1CFD511-72ED-9F0D-6732-8E05393F5987}"/>
              </a:ext>
            </a:extLst>
          </p:cNvPr>
          <p:cNvCxnSpPr>
            <a:cxnSpLocks/>
            <a:stCxn id="9" idx="3"/>
            <a:endCxn id="16" idx="1"/>
          </p:cNvCxnSpPr>
          <p:nvPr/>
        </p:nvCxnSpPr>
        <p:spPr bwMode="auto">
          <a:xfrm>
            <a:off x="1271200" y="2606116"/>
            <a:ext cx="2831245" cy="6928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F07F0F5E-29CE-8DF3-9952-1D48935559BE}"/>
              </a:ext>
            </a:extLst>
          </p:cNvPr>
          <p:cNvCxnSpPr>
            <a:cxnSpLocks/>
            <a:stCxn id="11" idx="3"/>
            <a:endCxn id="16" idx="2"/>
          </p:cNvCxnSpPr>
          <p:nvPr/>
        </p:nvCxnSpPr>
        <p:spPr bwMode="auto">
          <a:xfrm>
            <a:off x="1259328" y="3106701"/>
            <a:ext cx="2820799" cy="2460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2FF17EC4-627E-72D4-817F-D57A1B23424F}"/>
              </a:ext>
            </a:extLst>
          </p:cNvPr>
          <p:cNvCxnSpPr>
            <a:cxnSpLocks/>
            <a:stCxn id="19" idx="3"/>
            <a:endCxn id="16" idx="2"/>
          </p:cNvCxnSpPr>
          <p:nvPr/>
        </p:nvCxnSpPr>
        <p:spPr bwMode="auto">
          <a:xfrm flipV="1">
            <a:off x="1245137" y="3352800"/>
            <a:ext cx="2834990" cy="18435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A3B70E92-8D79-7E78-DF24-8F94429B1A64}"/>
              </a:ext>
            </a:extLst>
          </p:cNvPr>
          <p:cNvCxnSpPr>
            <a:cxnSpLocks/>
            <a:stCxn id="9" idx="3"/>
            <a:endCxn id="22" idx="1"/>
          </p:cNvCxnSpPr>
          <p:nvPr/>
        </p:nvCxnSpPr>
        <p:spPr bwMode="auto">
          <a:xfrm>
            <a:off x="1271200" y="2606116"/>
            <a:ext cx="2842143" cy="19882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6B0A8825-2AD8-C590-2BE3-CBE9B50980E3}"/>
              </a:ext>
            </a:extLst>
          </p:cNvPr>
          <p:cNvCxnSpPr>
            <a:cxnSpLocks/>
            <a:stCxn id="11" idx="3"/>
            <a:endCxn id="22" idx="2"/>
          </p:cNvCxnSpPr>
          <p:nvPr/>
        </p:nvCxnSpPr>
        <p:spPr bwMode="auto">
          <a:xfrm>
            <a:off x="1259328" y="3106701"/>
            <a:ext cx="2831697" cy="15414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4" name="Straight Arrow Connector 53">
            <a:extLst>
              <a:ext uri="{FF2B5EF4-FFF2-40B4-BE49-F238E27FC236}">
                <a16:creationId xmlns:a16="http://schemas.microsoft.com/office/drawing/2014/main" id="{7A03BB5F-6D9E-342B-E438-2731C0371FB0}"/>
              </a:ext>
            </a:extLst>
          </p:cNvPr>
          <p:cNvCxnSpPr>
            <a:cxnSpLocks/>
            <a:stCxn id="19" idx="3"/>
            <a:endCxn id="22" idx="2"/>
          </p:cNvCxnSpPr>
          <p:nvPr/>
        </p:nvCxnSpPr>
        <p:spPr bwMode="auto">
          <a:xfrm flipV="1">
            <a:off x="1245137" y="4648200"/>
            <a:ext cx="2845888" cy="5481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9" name="Oval 58">
            <a:extLst>
              <a:ext uri="{FF2B5EF4-FFF2-40B4-BE49-F238E27FC236}">
                <a16:creationId xmlns:a16="http://schemas.microsoft.com/office/drawing/2014/main" id="{C2500C81-577E-3A1D-907C-995825004A0F}"/>
              </a:ext>
            </a:extLst>
          </p:cNvPr>
          <p:cNvSpPr/>
          <p:nvPr/>
        </p:nvSpPr>
        <p:spPr bwMode="auto">
          <a:xfrm>
            <a:off x="7156970" y="2751667"/>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60" name="Oval 59">
            <a:extLst>
              <a:ext uri="{FF2B5EF4-FFF2-40B4-BE49-F238E27FC236}">
                <a16:creationId xmlns:a16="http://schemas.microsoft.com/office/drawing/2014/main" id="{01F0EC4F-AC72-6CA5-A6AC-B3B18ED15176}"/>
              </a:ext>
            </a:extLst>
          </p:cNvPr>
          <p:cNvSpPr/>
          <p:nvPr/>
        </p:nvSpPr>
        <p:spPr bwMode="auto">
          <a:xfrm>
            <a:off x="7147400" y="3284118"/>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63" name="Straight Arrow Connector 62">
            <a:extLst>
              <a:ext uri="{FF2B5EF4-FFF2-40B4-BE49-F238E27FC236}">
                <a16:creationId xmlns:a16="http://schemas.microsoft.com/office/drawing/2014/main" id="{1F7F4224-CA4E-20DB-DE82-C6F56791E707}"/>
              </a:ext>
            </a:extLst>
          </p:cNvPr>
          <p:cNvCxnSpPr>
            <a:cxnSpLocks/>
            <a:stCxn id="17" idx="6"/>
            <a:endCxn id="59" idx="2"/>
          </p:cNvCxnSpPr>
          <p:nvPr/>
        </p:nvCxnSpPr>
        <p:spPr bwMode="auto">
          <a:xfrm>
            <a:off x="4242097" y="2820349"/>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Straight Arrow Connector 65">
            <a:extLst>
              <a:ext uri="{FF2B5EF4-FFF2-40B4-BE49-F238E27FC236}">
                <a16:creationId xmlns:a16="http://schemas.microsoft.com/office/drawing/2014/main" id="{C9882D98-504D-7F32-DCA3-124DAF496536}"/>
              </a:ext>
            </a:extLst>
          </p:cNvPr>
          <p:cNvCxnSpPr>
            <a:cxnSpLocks/>
            <a:stCxn id="17" idx="6"/>
            <a:endCxn id="60" idx="1"/>
          </p:cNvCxnSpPr>
          <p:nvPr/>
        </p:nvCxnSpPr>
        <p:spPr bwMode="auto">
          <a:xfrm>
            <a:off x="4242097" y="2820349"/>
            <a:ext cx="2927621" cy="4860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Straight Arrow Connector 71">
            <a:extLst>
              <a:ext uri="{FF2B5EF4-FFF2-40B4-BE49-F238E27FC236}">
                <a16:creationId xmlns:a16="http://schemas.microsoft.com/office/drawing/2014/main" id="{2BD7D003-A9E5-9956-592C-55EED414C9F0}"/>
              </a:ext>
            </a:extLst>
          </p:cNvPr>
          <p:cNvCxnSpPr>
            <a:cxnSpLocks/>
            <a:stCxn id="16" idx="6"/>
            <a:endCxn id="59" idx="2"/>
          </p:cNvCxnSpPr>
          <p:nvPr/>
        </p:nvCxnSpPr>
        <p:spPr bwMode="auto">
          <a:xfrm flipV="1">
            <a:off x="4232527" y="2827867"/>
            <a:ext cx="2924443" cy="5249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5" name="Straight Arrow Connector 74">
            <a:extLst>
              <a:ext uri="{FF2B5EF4-FFF2-40B4-BE49-F238E27FC236}">
                <a16:creationId xmlns:a16="http://schemas.microsoft.com/office/drawing/2014/main" id="{3C02916B-839C-1260-66C2-839AA9867BC1}"/>
              </a:ext>
            </a:extLst>
          </p:cNvPr>
          <p:cNvCxnSpPr>
            <a:cxnSpLocks/>
            <a:stCxn id="16" idx="6"/>
            <a:endCxn id="60" idx="2"/>
          </p:cNvCxnSpPr>
          <p:nvPr/>
        </p:nvCxnSpPr>
        <p:spPr bwMode="auto">
          <a:xfrm>
            <a:off x="4232527" y="3352800"/>
            <a:ext cx="2914873" cy="75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4" name="Straight Arrow Connector 83">
            <a:extLst>
              <a:ext uri="{FF2B5EF4-FFF2-40B4-BE49-F238E27FC236}">
                <a16:creationId xmlns:a16="http://schemas.microsoft.com/office/drawing/2014/main" id="{9D72A801-B5DF-9973-094C-40792577CFCF}"/>
              </a:ext>
            </a:extLst>
          </p:cNvPr>
          <p:cNvCxnSpPr>
            <a:cxnSpLocks/>
            <a:stCxn id="22" idx="6"/>
            <a:endCxn id="60" idx="3"/>
          </p:cNvCxnSpPr>
          <p:nvPr/>
        </p:nvCxnSpPr>
        <p:spPr bwMode="auto">
          <a:xfrm flipV="1">
            <a:off x="4243425" y="3414200"/>
            <a:ext cx="2926293" cy="1234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7" name="Straight Arrow Connector 86">
            <a:extLst>
              <a:ext uri="{FF2B5EF4-FFF2-40B4-BE49-F238E27FC236}">
                <a16:creationId xmlns:a16="http://schemas.microsoft.com/office/drawing/2014/main" id="{8CEF885F-1301-FC31-5B49-6CF6B7C7850F}"/>
              </a:ext>
            </a:extLst>
          </p:cNvPr>
          <p:cNvCxnSpPr>
            <a:cxnSpLocks/>
            <a:stCxn id="22" idx="6"/>
            <a:endCxn id="59" idx="3"/>
          </p:cNvCxnSpPr>
          <p:nvPr/>
        </p:nvCxnSpPr>
        <p:spPr bwMode="auto">
          <a:xfrm flipV="1">
            <a:off x="4243425" y="2881749"/>
            <a:ext cx="2935863" cy="17664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B5235A7E-A775-275E-861D-BBC3FC684037}"/>
              </a:ext>
            </a:extLst>
          </p:cNvPr>
          <p:cNvCxnSpPr>
            <a:cxnSpLocks/>
            <a:stCxn id="59" idx="6"/>
          </p:cNvCxnSpPr>
          <p:nvPr/>
        </p:nvCxnSpPr>
        <p:spPr bwMode="auto">
          <a:xfrm>
            <a:off x="7309370" y="2827867"/>
            <a:ext cx="99643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8" name="Straight Arrow Connector 97">
            <a:extLst>
              <a:ext uri="{FF2B5EF4-FFF2-40B4-BE49-F238E27FC236}">
                <a16:creationId xmlns:a16="http://schemas.microsoft.com/office/drawing/2014/main" id="{F00EC251-3894-CC07-3AC9-B65D6EE104DE}"/>
              </a:ext>
            </a:extLst>
          </p:cNvPr>
          <p:cNvCxnSpPr>
            <a:cxnSpLocks/>
            <a:stCxn id="60" idx="6"/>
          </p:cNvCxnSpPr>
          <p:nvPr/>
        </p:nvCxnSpPr>
        <p:spPr bwMode="auto">
          <a:xfrm>
            <a:off x="7299800" y="3360318"/>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110" name="Group 109">
            <a:extLst>
              <a:ext uri="{FF2B5EF4-FFF2-40B4-BE49-F238E27FC236}">
                <a16:creationId xmlns:a16="http://schemas.microsoft.com/office/drawing/2014/main" id="{2DA6E822-F748-AD25-943C-7D4C2175F388}"/>
              </a:ext>
            </a:extLst>
          </p:cNvPr>
          <p:cNvGrpSpPr/>
          <p:nvPr/>
        </p:nvGrpSpPr>
        <p:grpSpPr>
          <a:xfrm>
            <a:off x="3102538" y="1820089"/>
            <a:ext cx="2209800" cy="2681390"/>
            <a:chOff x="760706" y="1838758"/>
            <a:chExt cx="2209800" cy="2681390"/>
          </a:xfrm>
        </p:grpSpPr>
        <p:sp>
          <p:nvSpPr>
            <p:cNvPr id="115" name="TextBox 114">
              <a:extLst>
                <a:ext uri="{FF2B5EF4-FFF2-40B4-BE49-F238E27FC236}">
                  <a16:creationId xmlns:a16="http://schemas.microsoft.com/office/drawing/2014/main" id="{2AD6E366-AEB1-76A7-13DA-C0C755041291}"/>
                </a:ext>
              </a:extLst>
            </p:cNvPr>
            <p:cNvSpPr txBox="1"/>
            <p:nvPr/>
          </p:nvSpPr>
          <p:spPr>
            <a:xfrm>
              <a:off x="760706" y="1838758"/>
              <a:ext cx="2209800" cy="430887"/>
            </a:xfrm>
            <a:prstGeom prst="rect">
              <a:avLst/>
            </a:prstGeom>
            <a:noFill/>
          </p:spPr>
          <p:txBody>
            <a:bodyPr wrap="square" rtlCol="0">
              <a:spAutoFit/>
            </a:bodyPr>
            <a:lstStyle/>
            <a:p>
              <a:pPr algn="ctr"/>
              <a:r>
                <a:rPr lang="zh-CN" altLang="en-US" sz="2200" dirty="0"/>
                <a:t>隐藏层</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C80A0F14-462D-C0E5-2352-2A52E8E929F6}"/>
                    </a:ext>
                  </a:extLst>
                </p:cNvPr>
                <p:cNvSpPr txBox="1"/>
                <p:nvPr/>
              </p:nvSpPr>
              <p:spPr>
                <a:xfrm>
                  <a:off x="1865606" y="2390673"/>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sz="1800" b="0" i="1" smtClean="0">
                                <a:latin typeface="Cambria Math" panose="02040503050406030204" pitchFamily="18" charset="0"/>
                              </a:rPr>
                              <m:t>1</m:t>
                            </m:r>
                          </m:sub>
                        </m:sSub>
                      </m:oMath>
                    </m:oMathPara>
                  </a14:m>
                  <a:endParaRPr lang="en-US" dirty="0"/>
                </a:p>
              </p:txBody>
            </p:sp>
          </mc:Choice>
          <mc:Fallback xmlns="">
            <p:sp>
              <p:nvSpPr>
                <p:cNvPr id="112" name="TextBox 111">
                  <a:extLst>
                    <a:ext uri="{FF2B5EF4-FFF2-40B4-BE49-F238E27FC236}">
                      <a16:creationId xmlns:a16="http://schemas.microsoft.com/office/drawing/2014/main" id="{C80A0F14-462D-C0E5-2352-2A52E8E929F6}"/>
                    </a:ext>
                  </a:extLst>
                </p:cNvPr>
                <p:cNvSpPr txBox="1">
                  <a:spLocks noRot="1" noChangeAspect="1" noMove="1" noResize="1" noEditPoints="1" noAdjustHandles="1" noChangeArrowheads="1" noChangeShapeType="1" noTextEdit="1"/>
                </p:cNvSpPr>
                <p:nvPr/>
              </p:nvSpPr>
              <p:spPr>
                <a:xfrm>
                  <a:off x="1865606" y="2390673"/>
                  <a:ext cx="39619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29C7BD8C-7EA1-5BEB-316F-5B40B97DFBF0}"/>
                    </a:ext>
                  </a:extLst>
                </p:cNvPr>
                <p:cNvSpPr txBox="1"/>
                <p:nvPr/>
              </p:nvSpPr>
              <p:spPr>
                <a:xfrm>
                  <a:off x="1853734" y="2891258"/>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2</m:t>
                            </m:r>
                          </m:sub>
                        </m:sSub>
                      </m:oMath>
                    </m:oMathPara>
                  </a14:m>
                  <a:endParaRPr lang="en-US" dirty="0"/>
                </a:p>
              </p:txBody>
            </p:sp>
          </mc:Choice>
          <mc:Fallback xmlns="">
            <p:sp>
              <p:nvSpPr>
                <p:cNvPr id="113" name="TextBox 112">
                  <a:extLst>
                    <a:ext uri="{FF2B5EF4-FFF2-40B4-BE49-F238E27FC236}">
                      <a16:creationId xmlns:a16="http://schemas.microsoft.com/office/drawing/2014/main" id="{29C7BD8C-7EA1-5BEB-316F-5B40B97DFBF0}"/>
                    </a:ext>
                  </a:extLst>
                </p:cNvPr>
                <p:cNvSpPr txBox="1">
                  <a:spLocks noRot="1" noChangeAspect="1" noMove="1" noResize="1" noEditPoints="1" noAdjustHandles="1" noChangeArrowheads="1" noChangeShapeType="1" noTextEdit="1"/>
                </p:cNvSpPr>
                <p:nvPr/>
              </p:nvSpPr>
              <p:spPr>
                <a:xfrm>
                  <a:off x="1853734" y="2891258"/>
                  <a:ext cx="39619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0E2A8EEF-C74C-4EAB-AF7D-1C32A5197CFA}"/>
                    </a:ext>
                  </a:extLst>
                </p:cNvPr>
                <p:cNvSpPr txBox="1"/>
                <p:nvPr/>
              </p:nvSpPr>
              <p:spPr>
                <a:xfrm>
                  <a:off x="1865606" y="4150816"/>
                  <a:ext cx="3961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𝑘</m:t>
                            </m:r>
                          </m:sub>
                        </m:sSub>
                      </m:oMath>
                    </m:oMathPara>
                  </a14:m>
                  <a:endParaRPr lang="en-US" dirty="0"/>
                </a:p>
              </p:txBody>
            </p:sp>
          </mc:Choice>
          <mc:Fallback xmlns="">
            <p:sp>
              <p:nvSpPr>
                <p:cNvPr id="114" name="TextBox 113">
                  <a:extLst>
                    <a:ext uri="{FF2B5EF4-FFF2-40B4-BE49-F238E27FC236}">
                      <a16:creationId xmlns:a16="http://schemas.microsoft.com/office/drawing/2014/main" id="{0E2A8EEF-C74C-4EAB-AF7D-1C32A5197CFA}"/>
                    </a:ext>
                  </a:extLst>
                </p:cNvPr>
                <p:cNvSpPr txBox="1">
                  <a:spLocks noRot="1" noChangeAspect="1" noMove="1" noResize="1" noEditPoints="1" noAdjustHandles="1" noChangeArrowheads="1" noChangeShapeType="1" noTextEdit="1"/>
                </p:cNvSpPr>
                <p:nvPr/>
              </p:nvSpPr>
              <p:spPr>
                <a:xfrm>
                  <a:off x="1865606" y="4150816"/>
                  <a:ext cx="396194" cy="369332"/>
                </a:xfrm>
                <a:prstGeom prst="rect">
                  <a:avLst/>
                </a:prstGeom>
                <a:blipFill>
                  <a:blip r:embed="rId9"/>
                  <a:stretch>
                    <a:fillRect b="-1667"/>
                  </a:stretch>
                </a:blipFill>
              </p:spPr>
              <p:txBody>
                <a:bodyPr/>
                <a:lstStyle/>
                <a:p>
                  <a:r>
                    <a:rPr lang="en-US">
                      <a:noFill/>
                    </a:rPr>
                    <a:t> </a:t>
                  </a:r>
                </a:p>
              </p:txBody>
            </p:sp>
          </mc:Fallback>
        </mc:AlternateContent>
      </p:grpSp>
      <p:sp>
        <p:nvSpPr>
          <p:cNvPr id="124" name="TextBox 123">
            <a:extLst>
              <a:ext uri="{FF2B5EF4-FFF2-40B4-BE49-F238E27FC236}">
                <a16:creationId xmlns:a16="http://schemas.microsoft.com/office/drawing/2014/main" id="{E0607965-69DC-8CF2-34FE-078213B890EF}"/>
              </a:ext>
            </a:extLst>
          </p:cNvPr>
          <p:cNvSpPr txBox="1"/>
          <p:nvPr/>
        </p:nvSpPr>
        <p:spPr>
          <a:xfrm>
            <a:off x="6998089" y="3843670"/>
            <a:ext cx="738664" cy="430887"/>
          </a:xfrm>
          <a:prstGeom prst="rect">
            <a:avLst/>
          </a:prstGeom>
          <a:noFill/>
        </p:spPr>
        <p:txBody>
          <a:bodyPr vert="eaVert" wrap="square" rtlCol="0">
            <a:spAutoFit/>
          </a:bodyPr>
          <a:lstStyle/>
          <a:p>
            <a:r>
              <a:rPr lang="en-US" altLang="zh-CN" sz="3600" dirty="0"/>
              <a:t>…</a:t>
            </a:r>
            <a:endParaRPr lang="zh-CN" altLang="en-US" sz="3600" dirty="0"/>
          </a:p>
        </p:txBody>
      </p:sp>
      <p:sp>
        <p:nvSpPr>
          <p:cNvPr id="3" name="Oval 2">
            <a:extLst>
              <a:ext uri="{FF2B5EF4-FFF2-40B4-BE49-F238E27FC236}">
                <a16:creationId xmlns:a16="http://schemas.microsoft.com/office/drawing/2014/main" id="{64008BAB-19D0-E796-375E-C66C265889DA}"/>
              </a:ext>
            </a:extLst>
          </p:cNvPr>
          <p:cNvSpPr/>
          <p:nvPr/>
        </p:nvSpPr>
        <p:spPr bwMode="auto">
          <a:xfrm>
            <a:off x="7112568" y="458468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23EB54E1-4865-2478-FEA0-01C1BF5F9CB9}"/>
              </a:ext>
            </a:extLst>
          </p:cNvPr>
          <p:cNvSpPr txBox="1"/>
          <p:nvPr/>
        </p:nvSpPr>
        <p:spPr>
          <a:xfrm>
            <a:off x="5556770" y="4066058"/>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8" name="Straight Arrow Connector 7">
            <a:extLst>
              <a:ext uri="{FF2B5EF4-FFF2-40B4-BE49-F238E27FC236}">
                <a16:creationId xmlns:a16="http://schemas.microsoft.com/office/drawing/2014/main" id="{17D9E035-7D26-D9E3-769C-39724FBFC9ED}"/>
              </a:ext>
            </a:extLst>
          </p:cNvPr>
          <p:cNvCxnSpPr>
            <a:cxnSpLocks/>
            <a:stCxn id="17" idx="6"/>
            <a:endCxn id="3" idx="0"/>
          </p:cNvCxnSpPr>
          <p:nvPr/>
        </p:nvCxnSpPr>
        <p:spPr bwMode="auto">
          <a:xfrm>
            <a:off x="4242097" y="2820349"/>
            <a:ext cx="2946671" cy="17643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F2BAADE6-177D-BDA5-12E6-94D980393F97}"/>
              </a:ext>
            </a:extLst>
          </p:cNvPr>
          <p:cNvCxnSpPr>
            <a:cxnSpLocks/>
            <a:stCxn id="16" idx="6"/>
            <a:endCxn id="3" idx="0"/>
          </p:cNvCxnSpPr>
          <p:nvPr/>
        </p:nvCxnSpPr>
        <p:spPr bwMode="auto">
          <a:xfrm>
            <a:off x="4232527" y="3352800"/>
            <a:ext cx="2956241" cy="12318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F5678B1D-2644-1C83-6EE1-E6F667607E30}"/>
              </a:ext>
            </a:extLst>
          </p:cNvPr>
          <p:cNvCxnSpPr>
            <a:cxnSpLocks/>
            <a:stCxn id="22" idx="6"/>
            <a:endCxn id="3" idx="2"/>
          </p:cNvCxnSpPr>
          <p:nvPr/>
        </p:nvCxnSpPr>
        <p:spPr bwMode="auto">
          <a:xfrm>
            <a:off x="4243425" y="4648200"/>
            <a:ext cx="2869143" cy="126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C31835DD-610F-6FB2-F1E5-9078D5E98C8B}"/>
              </a:ext>
            </a:extLst>
          </p:cNvPr>
          <p:cNvCxnSpPr>
            <a:cxnSpLocks/>
          </p:cNvCxnSpPr>
          <p:nvPr/>
        </p:nvCxnSpPr>
        <p:spPr bwMode="auto">
          <a:xfrm>
            <a:off x="7252175" y="4655820"/>
            <a:ext cx="100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TextBox 27">
            <a:extLst>
              <a:ext uri="{FF2B5EF4-FFF2-40B4-BE49-F238E27FC236}">
                <a16:creationId xmlns:a16="http://schemas.microsoft.com/office/drawing/2014/main" id="{AD7C2A01-E162-7FFB-2D4A-8F2AB264F642}"/>
              </a:ext>
            </a:extLst>
          </p:cNvPr>
          <p:cNvSpPr txBox="1"/>
          <p:nvPr/>
        </p:nvSpPr>
        <p:spPr>
          <a:xfrm>
            <a:off x="4180113" y="3717360"/>
            <a:ext cx="738664" cy="430887"/>
          </a:xfrm>
          <a:prstGeom prst="rect">
            <a:avLst/>
          </a:prstGeom>
          <a:noFill/>
        </p:spPr>
        <p:txBody>
          <a:bodyPr vert="eaVert" wrap="square" rtlCol="0">
            <a:spAutoFit/>
          </a:bodyPr>
          <a:lstStyle/>
          <a:p>
            <a:r>
              <a:rPr lang="en-US" altLang="zh-CN" sz="3600" dirty="0"/>
              <a:t>…</a:t>
            </a:r>
            <a:endParaRPr lang="zh-CN" altLang="en-US" sz="3600" dirty="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E2A49F1-5573-8473-FB10-3B3528CEBBE5}"/>
                  </a:ext>
                </a:extLst>
              </p:cNvPr>
              <p:cNvSpPr txBox="1"/>
              <p:nvPr/>
            </p:nvSpPr>
            <p:spPr>
              <a:xfrm>
                <a:off x="7317522" y="2954200"/>
                <a:ext cx="5184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oMath>
                  </m:oMathPara>
                </a14:m>
                <a:endParaRPr lang="en-US" dirty="0"/>
              </a:p>
            </p:txBody>
          </p:sp>
        </mc:Choice>
        <mc:Fallback xmlns="">
          <p:sp>
            <p:nvSpPr>
              <p:cNvPr id="34" name="TextBox 33">
                <a:extLst>
                  <a:ext uri="{FF2B5EF4-FFF2-40B4-BE49-F238E27FC236}">
                    <a16:creationId xmlns:a16="http://schemas.microsoft.com/office/drawing/2014/main" id="{2E2A49F1-5573-8473-FB10-3B3528CEBBE5}"/>
                  </a:ext>
                </a:extLst>
              </p:cNvPr>
              <p:cNvSpPr txBox="1">
                <a:spLocks noRot="1" noChangeAspect="1" noMove="1" noResize="1" noEditPoints="1" noAdjustHandles="1" noChangeArrowheads="1" noChangeShapeType="1" noTextEdit="1"/>
              </p:cNvSpPr>
              <p:nvPr/>
            </p:nvSpPr>
            <p:spPr>
              <a:xfrm>
                <a:off x="7317522" y="2954200"/>
                <a:ext cx="518477" cy="369332"/>
              </a:xfrm>
              <a:prstGeom prst="rect">
                <a:avLst/>
              </a:prstGeom>
              <a:blipFill>
                <a:blip r:embed="rId10"/>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0C2127E-E32A-B839-588F-56F876ABFF44}"/>
                  </a:ext>
                </a:extLst>
              </p:cNvPr>
              <p:cNvSpPr txBox="1"/>
              <p:nvPr/>
            </p:nvSpPr>
            <p:spPr>
              <a:xfrm>
                <a:off x="7233170" y="2408402"/>
                <a:ext cx="6371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m:oMathPara>
                </a14:m>
                <a:endParaRPr lang="en-US" dirty="0"/>
              </a:p>
            </p:txBody>
          </p:sp>
        </mc:Choice>
        <mc:Fallback xmlns="">
          <p:sp>
            <p:nvSpPr>
              <p:cNvPr id="35" name="TextBox 34">
                <a:extLst>
                  <a:ext uri="{FF2B5EF4-FFF2-40B4-BE49-F238E27FC236}">
                    <a16:creationId xmlns:a16="http://schemas.microsoft.com/office/drawing/2014/main" id="{80C2127E-E32A-B839-588F-56F876ABFF44}"/>
                  </a:ext>
                </a:extLst>
              </p:cNvPr>
              <p:cNvSpPr txBox="1">
                <a:spLocks noRot="1" noChangeAspect="1" noMove="1" noResize="1" noEditPoints="1" noAdjustHandles="1" noChangeArrowheads="1" noChangeShapeType="1" noTextEdit="1"/>
              </p:cNvSpPr>
              <p:nvPr/>
            </p:nvSpPr>
            <p:spPr>
              <a:xfrm>
                <a:off x="7233170" y="2408402"/>
                <a:ext cx="637125" cy="369332"/>
              </a:xfrm>
              <a:prstGeom prst="rect">
                <a:avLst/>
              </a:prstGeom>
              <a:blipFill>
                <a:blip r:embed="rId11"/>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A8D9264-106B-FEA3-93A0-F0C849016C6D}"/>
                  </a:ext>
                </a:extLst>
              </p:cNvPr>
              <p:cNvSpPr txBox="1"/>
              <p:nvPr/>
            </p:nvSpPr>
            <p:spPr>
              <a:xfrm>
                <a:off x="7277940" y="4274294"/>
                <a:ext cx="5661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𝑙</m:t>
                          </m:r>
                        </m:sub>
                      </m:sSub>
                    </m:oMath>
                  </m:oMathPara>
                </a14:m>
                <a:endParaRPr lang="en-US" dirty="0"/>
              </a:p>
            </p:txBody>
          </p:sp>
        </mc:Choice>
        <mc:Fallback xmlns="">
          <p:sp>
            <p:nvSpPr>
              <p:cNvPr id="36" name="TextBox 35">
                <a:extLst>
                  <a:ext uri="{FF2B5EF4-FFF2-40B4-BE49-F238E27FC236}">
                    <a16:creationId xmlns:a16="http://schemas.microsoft.com/office/drawing/2014/main" id="{FA8D9264-106B-FEA3-93A0-F0C849016C6D}"/>
                  </a:ext>
                </a:extLst>
              </p:cNvPr>
              <p:cNvSpPr txBox="1">
                <a:spLocks noRot="1" noChangeAspect="1" noMove="1" noResize="1" noEditPoints="1" noAdjustHandles="1" noChangeArrowheads="1" noChangeShapeType="1" noTextEdit="1"/>
              </p:cNvSpPr>
              <p:nvPr/>
            </p:nvSpPr>
            <p:spPr>
              <a:xfrm>
                <a:off x="7277940" y="4274294"/>
                <a:ext cx="566102" cy="369332"/>
              </a:xfrm>
              <a:prstGeom prst="rect">
                <a:avLst/>
              </a:prstGeom>
              <a:blipFill>
                <a:blip r:embed="rId12"/>
                <a:stretch>
                  <a:fillRect b="-8197"/>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45983F99-ECD5-7DD9-73BD-7BA859764530}"/>
              </a:ext>
            </a:extLst>
          </p:cNvPr>
          <p:cNvSpPr txBox="1"/>
          <p:nvPr/>
        </p:nvSpPr>
        <p:spPr>
          <a:xfrm>
            <a:off x="6471860" y="1867287"/>
            <a:ext cx="2209800" cy="430887"/>
          </a:xfrm>
          <a:prstGeom prst="rect">
            <a:avLst/>
          </a:prstGeom>
          <a:noFill/>
        </p:spPr>
        <p:txBody>
          <a:bodyPr wrap="square" rtlCol="0">
            <a:spAutoFit/>
          </a:bodyPr>
          <a:lstStyle/>
          <a:p>
            <a:pPr algn="ctr"/>
            <a:r>
              <a:rPr lang="zh-CN" altLang="en-US" sz="2200" dirty="0"/>
              <a:t>输出</a:t>
            </a:r>
          </a:p>
        </p:txBody>
      </p:sp>
      <p:sp>
        <p:nvSpPr>
          <p:cNvPr id="38" name="TextBox 37">
            <a:extLst>
              <a:ext uri="{FF2B5EF4-FFF2-40B4-BE49-F238E27FC236}">
                <a16:creationId xmlns:a16="http://schemas.microsoft.com/office/drawing/2014/main" id="{62F0E684-7494-FD11-0925-7F96A7AA4A9C}"/>
              </a:ext>
            </a:extLst>
          </p:cNvPr>
          <p:cNvSpPr txBox="1"/>
          <p:nvPr/>
        </p:nvSpPr>
        <p:spPr>
          <a:xfrm>
            <a:off x="7341168" y="3843669"/>
            <a:ext cx="738664" cy="430887"/>
          </a:xfrm>
          <a:prstGeom prst="rect">
            <a:avLst/>
          </a:prstGeom>
          <a:noFill/>
        </p:spPr>
        <p:txBody>
          <a:bodyPr vert="eaVert" wrap="square" rtlCol="0">
            <a:spAutoFit/>
          </a:bodyPr>
          <a:lstStyle/>
          <a:p>
            <a:r>
              <a:rPr lang="en-US" altLang="zh-CN" sz="3600" dirty="0"/>
              <a:t>…</a:t>
            </a:r>
            <a:endParaRPr lang="zh-CN" altLang="en-US" sz="3600" dirty="0"/>
          </a:p>
        </p:txBody>
      </p:sp>
      <p:cxnSp>
        <p:nvCxnSpPr>
          <p:cNvPr id="12" name="Straight Arrow Connector 11">
            <a:extLst>
              <a:ext uri="{FF2B5EF4-FFF2-40B4-BE49-F238E27FC236}">
                <a16:creationId xmlns:a16="http://schemas.microsoft.com/office/drawing/2014/main" id="{F53B4831-51D2-D7C2-C8BE-96BB5AA98789}"/>
              </a:ext>
            </a:extLst>
          </p:cNvPr>
          <p:cNvCxnSpPr>
            <a:cxnSpLocks/>
          </p:cNvCxnSpPr>
          <p:nvPr/>
        </p:nvCxnSpPr>
        <p:spPr bwMode="auto">
          <a:xfrm>
            <a:off x="2817714" y="5620067"/>
            <a:ext cx="2869143" cy="12684"/>
          </a:xfrm>
          <a:prstGeom prst="straightConnector1">
            <a:avLst/>
          </a:prstGeom>
          <a:solidFill>
            <a:schemeClr val="accent1"/>
          </a:solidFill>
          <a:ln w="9525" cap="flat" cmpd="sng" algn="ctr">
            <a:solidFill>
              <a:schemeClr val="tx1"/>
            </a:solidFill>
            <a:prstDash val="solid"/>
            <a:round/>
            <a:headEnd type="triangle" w="med" len="med"/>
            <a:tailEnd type="none"/>
          </a:ln>
          <a:effectLst/>
        </p:spPr>
      </p:cxnSp>
      <p:sp>
        <p:nvSpPr>
          <p:cNvPr id="13" name="TextBox 12">
            <a:extLst>
              <a:ext uri="{FF2B5EF4-FFF2-40B4-BE49-F238E27FC236}">
                <a16:creationId xmlns:a16="http://schemas.microsoft.com/office/drawing/2014/main" id="{EFA3A178-EE6E-4D3D-C26E-8A9DF0E2D255}"/>
              </a:ext>
            </a:extLst>
          </p:cNvPr>
          <p:cNvSpPr txBox="1"/>
          <p:nvPr/>
        </p:nvSpPr>
        <p:spPr>
          <a:xfrm>
            <a:off x="2975227" y="5688819"/>
            <a:ext cx="2209800" cy="430887"/>
          </a:xfrm>
          <a:prstGeom prst="rect">
            <a:avLst/>
          </a:prstGeom>
          <a:noFill/>
        </p:spPr>
        <p:txBody>
          <a:bodyPr wrap="square" rtlCol="0">
            <a:spAutoFit/>
          </a:bodyPr>
          <a:lstStyle/>
          <a:p>
            <a:pPr algn="ctr"/>
            <a:r>
              <a:rPr lang="zh-CN" altLang="en-US" sz="2200" dirty="0"/>
              <a:t>反向传播</a:t>
            </a:r>
          </a:p>
        </p:txBody>
      </p:sp>
      <p:sp>
        <p:nvSpPr>
          <p:cNvPr id="15" name="TextBox 14">
            <a:extLst>
              <a:ext uri="{FF2B5EF4-FFF2-40B4-BE49-F238E27FC236}">
                <a16:creationId xmlns:a16="http://schemas.microsoft.com/office/drawing/2014/main" id="{2875A416-0C0E-DA1E-748D-F0A49C9D74CF}"/>
              </a:ext>
            </a:extLst>
          </p:cNvPr>
          <p:cNvSpPr txBox="1"/>
          <p:nvPr/>
        </p:nvSpPr>
        <p:spPr>
          <a:xfrm>
            <a:off x="1871593" y="4880670"/>
            <a:ext cx="2023114" cy="769441"/>
          </a:xfrm>
          <a:prstGeom prst="rect">
            <a:avLst/>
          </a:prstGeom>
          <a:noFill/>
        </p:spPr>
        <p:txBody>
          <a:bodyPr wrap="square" rtlCol="0">
            <a:spAutoFit/>
          </a:bodyPr>
          <a:lstStyle/>
          <a:p>
            <a:pPr algn="ctr">
              <a:tabLst>
                <a:tab pos="2171700" algn="l"/>
              </a:tabLst>
            </a:pPr>
            <a:r>
              <a:rPr lang="zh-CN" altLang="en-US" sz="2200" dirty="0"/>
              <a:t>最后计算前一层的偏导数</a:t>
            </a:r>
          </a:p>
        </p:txBody>
      </p:sp>
    </p:spTree>
    <p:custDataLst>
      <p:tags r:id="rId1"/>
    </p:custDataLst>
    <p:extLst>
      <p:ext uri="{BB962C8B-B14F-4D97-AF65-F5344CB8AC3E}">
        <p14:creationId xmlns:p14="http://schemas.microsoft.com/office/powerpoint/2010/main" val="3793097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074463D5-38C0-449F-86E6-7104AF355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2014" y="2004215"/>
            <a:ext cx="3657607" cy="3657607"/>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br>
              <a:rPr lang="en-US" altLang="zh-CN" dirty="0">
                <a:ea typeface="ＭＳ Ｐゴシック" panose="020B0600070205080204" pitchFamily="34" charset="-128"/>
              </a:rPr>
            </a:br>
            <a:r>
              <a:rPr lang="zh-CN" altLang="en-US" dirty="0">
                <a:ea typeface="ＭＳ Ｐゴシック" panose="020B0600070205080204" pitchFamily="34" charset="-128"/>
              </a:rPr>
              <a:t>如果你还记得</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2387758" y="1524000"/>
            <a:ext cx="4368504" cy="430887"/>
          </a:xfrm>
          <a:prstGeom prst="rect">
            <a:avLst/>
          </a:prstGeom>
        </p:spPr>
        <p:txBody>
          <a:bodyPr wrap="none">
            <a:spAutoFit/>
          </a:bodyPr>
          <a:lstStyle/>
          <a:p>
            <a:pPr algn="ctr"/>
            <a:r>
              <a:rPr lang="en-US" altLang="zh-CN" sz="2200" dirty="0"/>
              <a:t>Logistic regression</a:t>
            </a:r>
            <a:r>
              <a:rPr lang="zh-CN" altLang="en-US" sz="2200" dirty="0"/>
              <a:t>中的梯度下降</a:t>
            </a:r>
          </a:p>
        </p:txBody>
      </p:sp>
      <p:sp>
        <p:nvSpPr>
          <p:cNvPr id="16" name="Rectangle 15">
            <a:extLst>
              <a:ext uri="{FF2B5EF4-FFF2-40B4-BE49-F238E27FC236}">
                <a16:creationId xmlns:a16="http://schemas.microsoft.com/office/drawing/2014/main" id="{112FE56A-1099-45CD-B301-922E57615980}"/>
              </a:ext>
            </a:extLst>
          </p:cNvPr>
          <p:cNvSpPr/>
          <p:nvPr/>
        </p:nvSpPr>
        <p:spPr>
          <a:xfrm>
            <a:off x="1940534" y="5478959"/>
            <a:ext cx="5262979" cy="430887"/>
          </a:xfrm>
          <a:prstGeom prst="rect">
            <a:avLst/>
          </a:prstGeom>
        </p:spPr>
        <p:txBody>
          <a:bodyPr wrap="none">
            <a:spAutoFit/>
          </a:bodyPr>
          <a:lstStyle/>
          <a:p>
            <a:pPr algn="ctr"/>
            <a:r>
              <a:rPr lang="zh-CN" altLang="en-US" sz="2200" dirty="0"/>
              <a:t>它能成功，因为那里只有一个局部最小值</a:t>
            </a:r>
          </a:p>
        </p:txBody>
      </p:sp>
    </p:spTree>
    <p:custDataLst>
      <p:tags r:id="rId1"/>
    </p:custDataLst>
    <p:extLst>
      <p:ext uri="{BB962C8B-B14F-4D97-AF65-F5344CB8AC3E}">
        <p14:creationId xmlns:p14="http://schemas.microsoft.com/office/powerpoint/2010/main" val="244887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a:xfrm>
            <a:off x="1122363" y="457200"/>
            <a:ext cx="7716837" cy="914400"/>
          </a:xfrm>
        </p:spPr>
        <p:txBody>
          <a:bodyPr/>
          <a:lstStyle/>
          <a:p>
            <a:r>
              <a:rPr lang="zh-CN" altLang="en-US" dirty="0">
                <a:ea typeface="ＭＳ Ｐゴシック" panose="020B0600070205080204" pitchFamily="34" charset="-128"/>
              </a:rPr>
              <a:t>陷阱</a:t>
            </a:r>
            <a:endParaRPr lang="zh-CN" altLang="en-US" dirty="0"/>
          </a:p>
        </p:txBody>
      </p:sp>
      <p:sp>
        <p:nvSpPr>
          <p:cNvPr id="10" name="Rectangle 9">
            <a:extLst>
              <a:ext uri="{FF2B5EF4-FFF2-40B4-BE49-F238E27FC236}">
                <a16:creationId xmlns:a16="http://schemas.microsoft.com/office/drawing/2014/main" id="{EF52460D-499E-4E94-B92A-9366131584DA}"/>
              </a:ext>
            </a:extLst>
          </p:cNvPr>
          <p:cNvSpPr/>
          <p:nvPr/>
        </p:nvSpPr>
        <p:spPr>
          <a:xfrm>
            <a:off x="1658399" y="1855113"/>
            <a:ext cx="5827236" cy="430887"/>
          </a:xfrm>
          <a:prstGeom prst="rect">
            <a:avLst/>
          </a:prstGeom>
        </p:spPr>
        <p:txBody>
          <a:bodyPr wrap="none">
            <a:spAutoFit/>
          </a:bodyPr>
          <a:lstStyle/>
          <a:p>
            <a:pPr algn="ctr"/>
            <a:r>
              <a:rPr lang="zh-CN" altLang="en-US" sz="2200" dirty="0"/>
              <a:t>在多层神经网络的训练中，存在很多局部最优</a:t>
            </a:r>
          </a:p>
        </p:txBody>
      </p:sp>
      <p:sp>
        <p:nvSpPr>
          <p:cNvPr id="7" name="Rectangle 6">
            <a:extLst>
              <a:ext uri="{FF2B5EF4-FFF2-40B4-BE49-F238E27FC236}">
                <a16:creationId xmlns:a16="http://schemas.microsoft.com/office/drawing/2014/main" id="{CC556BB7-FD06-4CC2-9E2C-328CBD22696F}"/>
              </a:ext>
            </a:extLst>
          </p:cNvPr>
          <p:cNvSpPr/>
          <p:nvPr/>
        </p:nvSpPr>
        <p:spPr>
          <a:xfrm>
            <a:off x="697980" y="2617113"/>
            <a:ext cx="7802136" cy="430887"/>
          </a:xfrm>
          <a:prstGeom prst="rect">
            <a:avLst/>
          </a:prstGeom>
        </p:spPr>
        <p:txBody>
          <a:bodyPr wrap="none">
            <a:spAutoFit/>
          </a:bodyPr>
          <a:lstStyle/>
          <a:p>
            <a:pPr algn="ctr"/>
            <a:r>
              <a:rPr lang="zh-CN" altLang="en-US" sz="2200" dirty="0"/>
              <a:t>平凡的梯度下降很容易陷入一个比全局最小差很多的局部最小</a:t>
            </a:r>
          </a:p>
        </p:txBody>
      </p:sp>
      <p:pic>
        <p:nvPicPr>
          <p:cNvPr id="5" name="Picture 4">
            <a:extLst>
              <a:ext uri="{FF2B5EF4-FFF2-40B4-BE49-F238E27FC236}">
                <a16:creationId xmlns:a16="http://schemas.microsoft.com/office/drawing/2014/main" id="{32D1C759-7FCF-485D-AEEE-8571CE158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7766" y="3710733"/>
            <a:ext cx="4008467" cy="2385267"/>
          </a:xfrm>
          <a:prstGeom prst="rect">
            <a:avLst/>
          </a:prstGeom>
        </p:spPr>
      </p:pic>
      <p:sp>
        <p:nvSpPr>
          <p:cNvPr id="11" name="Rectangle 10">
            <a:extLst>
              <a:ext uri="{FF2B5EF4-FFF2-40B4-BE49-F238E27FC236}">
                <a16:creationId xmlns:a16="http://schemas.microsoft.com/office/drawing/2014/main" id="{585CA88D-8A25-4798-B765-1FC5444B804C}"/>
              </a:ext>
            </a:extLst>
          </p:cNvPr>
          <p:cNvSpPr/>
          <p:nvPr/>
        </p:nvSpPr>
        <p:spPr>
          <a:xfrm>
            <a:off x="6075618" y="3623505"/>
            <a:ext cx="1313180" cy="430887"/>
          </a:xfrm>
          <a:prstGeom prst="rect">
            <a:avLst/>
          </a:prstGeom>
        </p:spPr>
        <p:txBody>
          <a:bodyPr wrap="none">
            <a:spAutoFit/>
          </a:bodyPr>
          <a:lstStyle/>
          <a:p>
            <a:pPr algn="ctr"/>
            <a:r>
              <a:rPr lang="zh-CN" altLang="en-US" sz="2200" dirty="0"/>
              <a:t>全局最优</a:t>
            </a:r>
          </a:p>
        </p:txBody>
      </p:sp>
      <p:cxnSp>
        <p:nvCxnSpPr>
          <p:cNvPr id="9" name="Straight Arrow Connector 8">
            <a:extLst>
              <a:ext uri="{FF2B5EF4-FFF2-40B4-BE49-F238E27FC236}">
                <a16:creationId xmlns:a16="http://schemas.microsoft.com/office/drawing/2014/main" id="{2A202A1D-DD42-4774-B292-86F35DD4A863}"/>
              </a:ext>
            </a:extLst>
          </p:cNvPr>
          <p:cNvCxnSpPr>
            <a:cxnSpLocks/>
            <a:stCxn id="11" idx="2"/>
          </p:cNvCxnSpPr>
          <p:nvPr/>
        </p:nvCxnSpPr>
        <p:spPr bwMode="auto">
          <a:xfrm flipH="1">
            <a:off x="5981700" y="4054392"/>
            <a:ext cx="750508" cy="15800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7" name="Rectangle 16">
            <a:extLst>
              <a:ext uri="{FF2B5EF4-FFF2-40B4-BE49-F238E27FC236}">
                <a16:creationId xmlns:a16="http://schemas.microsoft.com/office/drawing/2014/main" id="{FC2B07AE-5252-40EF-BB65-BD690193BC3E}"/>
              </a:ext>
            </a:extLst>
          </p:cNvPr>
          <p:cNvSpPr/>
          <p:nvPr/>
        </p:nvSpPr>
        <p:spPr>
          <a:xfrm>
            <a:off x="667614" y="4271742"/>
            <a:ext cx="1877437" cy="430887"/>
          </a:xfrm>
          <a:prstGeom prst="rect">
            <a:avLst/>
          </a:prstGeom>
        </p:spPr>
        <p:txBody>
          <a:bodyPr wrap="none">
            <a:spAutoFit/>
          </a:bodyPr>
          <a:lstStyle/>
          <a:p>
            <a:pPr algn="ctr"/>
            <a:r>
              <a:rPr lang="zh-CN" altLang="en-US" sz="2200" dirty="0"/>
              <a:t>陷入局部最优</a:t>
            </a:r>
          </a:p>
        </p:txBody>
      </p:sp>
      <p:cxnSp>
        <p:nvCxnSpPr>
          <p:cNvPr id="18" name="Straight Arrow Connector 17">
            <a:extLst>
              <a:ext uri="{FF2B5EF4-FFF2-40B4-BE49-F238E27FC236}">
                <a16:creationId xmlns:a16="http://schemas.microsoft.com/office/drawing/2014/main" id="{D668B729-DFF0-4FF5-A8C4-457145C554F5}"/>
              </a:ext>
            </a:extLst>
          </p:cNvPr>
          <p:cNvCxnSpPr>
            <a:cxnSpLocks/>
          </p:cNvCxnSpPr>
          <p:nvPr/>
        </p:nvCxnSpPr>
        <p:spPr bwMode="auto">
          <a:xfrm>
            <a:off x="2580466" y="4562223"/>
            <a:ext cx="1452967" cy="6001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37676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11" grpId="0"/>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F0E3D-7E84-3082-AFF5-959974EAE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4F689-5C22-DEB9-B892-CF65E92C0CFE}"/>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很多改善的技巧</a:t>
            </a:r>
          </a:p>
        </p:txBody>
      </p:sp>
      <p:sp>
        <p:nvSpPr>
          <p:cNvPr id="3" name="Content Placeholder 2">
            <a:extLst>
              <a:ext uri="{FF2B5EF4-FFF2-40B4-BE49-F238E27FC236}">
                <a16:creationId xmlns:a16="http://schemas.microsoft.com/office/drawing/2014/main" id="{8C6BD937-71CD-737A-3837-E7E444561578}"/>
              </a:ext>
            </a:extLst>
          </p:cNvPr>
          <p:cNvSpPr>
            <a:spLocks noGrp="1"/>
          </p:cNvSpPr>
          <p:nvPr>
            <p:ph idx="1"/>
          </p:nvPr>
        </p:nvSpPr>
        <p:spPr>
          <a:xfrm>
            <a:off x="762000" y="1600200"/>
            <a:ext cx="7772400" cy="5257800"/>
          </a:xfrm>
        </p:spPr>
        <p:txBody>
          <a:bodyPr>
            <a:normAutofit/>
          </a:bodyPr>
          <a:lstStyle/>
          <a:p>
            <a:r>
              <a:rPr lang="zh-CN" altLang="en-US" dirty="0"/>
              <a:t>随机梯度下降</a:t>
            </a:r>
            <a:endParaRPr lang="en-US" altLang="zh-CN" dirty="0"/>
          </a:p>
          <a:p>
            <a:pPr lvl="1"/>
            <a:r>
              <a:rPr lang="zh-CN" altLang="en-US" dirty="0"/>
              <a:t>将训练数据随机打乱顺序，划分成好几部分</a:t>
            </a:r>
            <a:endParaRPr lang="en-US" altLang="zh-CN" dirty="0"/>
          </a:p>
          <a:p>
            <a:pPr lvl="2"/>
            <a:r>
              <a:rPr lang="zh-CN" altLang="en-US" dirty="0"/>
              <a:t>每次只用一部分进行梯度下降</a:t>
            </a:r>
            <a:endParaRPr lang="en-US" altLang="zh-CN" dirty="0"/>
          </a:p>
          <a:p>
            <a:pPr lvl="2"/>
            <a:r>
              <a:rPr lang="zh-CN" altLang="en-US" dirty="0"/>
              <a:t>而非用所有的数据</a:t>
            </a:r>
            <a:endParaRPr lang="en-US" altLang="zh-CN" dirty="0"/>
          </a:p>
          <a:p>
            <a:pPr lvl="1"/>
            <a:r>
              <a:rPr lang="zh-CN" altLang="en-US" dirty="0"/>
              <a:t>学习速率的调节</a:t>
            </a:r>
            <a:endParaRPr lang="en-US" altLang="zh-CN" dirty="0"/>
          </a:p>
          <a:p>
            <a:r>
              <a:rPr lang="zh-CN" altLang="en-US" dirty="0"/>
              <a:t>考虑梯度的惯性</a:t>
            </a:r>
            <a:endParaRPr lang="en-US" altLang="zh-CN" dirty="0"/>
          </a:p>
          <a:p>
            <a:pPr lvl="1"/>
            <a:r>
              <a:rPr lang="zh-CN" altLang="en-US" dirty="0"/>
              <a:t>记录一段时间内梯度的指数移动平均值</a:t>
            </a:r>
            <a:endParaRPr lang="en-US" altLang="zh-CN" dirty="0"/>
          </a:p>
          <a:p>
            <a:pPr lvl="2"/>
            <a:r>
              <a:rPr lang="zh-CN" altLang="en-US" dirty="0"/>
              <a:t>更新参数的时候加入惯性</a:t>
            </a:r>
            <a:endParaRPr lang="en-US" altLang="zh-CN" dirty="0"/>
          </a:p>
          <a:p>
            <a:r>
              <a:rPr lang="zh-CN" altLang="en-US" dirty="0"/>
              <a:t>还有各种更复杂的技巧</a:t>
            </a:r>
            <a:endParaRPr lang="en-US" altLang="zh-CN" dirty="0"/>
          </a:p>
          <a:p>
            <a:pPr lvl="1"/>
            <a:r>
              <a:rPr lang="zh-CN" altLang="en-US" dirty="0"/>
              <a:t>各种</a:t>
            </a:r>
            <a:r>
              <a:rPr lang="en-US" altLang="zh-CN" dirty="0"/>
              <a:t>optimizer</a:t>
            </a:r>
            <a:r>
              <a:rPr lang="zh-CN" altLang="en-US" dirty="0"/>
              <a:t>，例如</a:t>
            </a:r>
            <a:r>
              <a:rPr lang="en-US" altLang="zh-CN" dirty="0"/>
              <a:t>Adam, Lamb</a:t>
            </a:r>
          </a:p>
        </p:txBody>
      </p:sp>
    </p:spTree>
    <p:extLst>
      <p:ext uri="{BB962C8B-B14F-4D97-AF65-F5344CB8AC3E}">
        <p14:creationId xmlns:p14="http://schemas.microsoft.com/office/powerpoint/2010/main" val="79725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5C5BE-5677-21C4-CECF-5871FD3C0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4CF13-B49E-4300-BFF9-F753ED341E15}"/>
              </a:ext>
            </a:extLst>
          </p:cNvPr>
          <p:cNvSpPr>
            <a:spLocks noGrp="1"/>
          </p:cNvSpPr>
          <p:nvPr>
            <p:ph type="title"/>
          </p:nvPr>
        </p:nvSpPr>
        <p:spPr/>
        <p:txBody>
          <a:bodyPr/>
          <a:lstStyle/>
          <a:p>
            <a:r>
              <a:rPr lang="zh-CN" altLang="en-US" dirty="0">
                <a:ea typeface="ＭＳ Ｐゴシック" panose="020B0600070205080204" pitchFamily="34" charset="-128"/>
              </a:rPr>
              <a:t>用于手写邮政编码识别</a:t>
            </a:r>
            <a:endParaRPr lang="zh-CN" altLang="en-US" dirty="0"/>
          </a:p>
        </p:txBody>
      </p:sp>
      <p:graphicFrame>
        <p:nvGraphicFramePr>
          <p:cNvPr id="7" name="Table 6">
            <a:extLst>
              <a:ext uri="{FF2B5EF4-FFF2-40B4-BE49-F238E27FC236}">
                <a16:creationId xmlns:a16="http://schemas.microsoft.com/office/drawing/2014/main" id="{EEB29BA1-5B01-7288-A4FE-256A989E7E5D}"/>
              </a:ext>
            </a:extLst>
          </p:cNvPr>
          <p:cNvGraphicFramePr>
            <a:graphicFrameLocks noGrp="1"/>
          </p:cNvGraphicFramePr>
          <p:nvPr>
            <p:extLst>
              <p:ext uri="{D42A27DB-BD31-4B8C-83A1-F6EECF244321}">
                <p14:modId xmlns:p14="http://schemas.microsoft.com/office/powerpoint/2010/main" val="2981339767"/>
              </p:ext>
            </p:extLst>
          </p:nvPr>
        </p:nvGraphicFramePr>
        <p:xfrm>
          <a:off x="1752600" y="2286000"/>
          <a:ext cx="5638800" cy="1112520"/>
        </p:xfrm>
        <a:graphic>
          <a:graphicData uri="http://schemas.openxmlformats.org/drawingml/2006/table">
            <a:tbl>
              <a:tblPr firstRow="1" bandRow="1">
                <a:tableStyleId>{D27102A9-8310-4765-A935-A1911B00CA55}</a:tableStyleId>
              </a:tblPr>
              <a:tblGrid>
                <a:gridCol w="3200400">
                  <a:extLst>
                    <a:ext uri="{9D8B030D-6E8A-4147-A177-3AD203B41FA5}">
                      <a16:colId xmlns:a16="http://schemas.microsoft.com/office/drawing/2014/main" val="1065155212"/>
                    </a:ext>
                  </a:extLst>
                </a:gridCol>
                <a:gridCol w="2438400">
                  <a:extLst>
                    <a:ext uri="{9D8B030D-6E8A-4147-A177-3AD203B41FA5}">
                      <a16:colId xmlns:a16="http://schemas.microsoft.com/office/drawing/2014/main" val="3861532805"/>
                    </a:ext>
                  </a:extLst>
                </a:gridCol>
              </a:tblGrid>
              <a:tr h="370840">
                <a:tc>
                  <a:txBody>
                    <a:bodyPr/>
                    <a:lstStyle/>
                    <a:p>
                      <a:r>
                        <a:rPr lang="zh-CN" altLang="en-US" dirty="0"/>
                        <a:t>方法</a:t>
                      </a:r>
                    </a:p>
                  </a:txBody>
                  <a:tcPr anchor="ctr"/>
                </a:tc>
                <a:tc>
                  <a:txBody>
                    <a:bodyPr/>
                    <a:lstStyle/>
                    <a:p>
                      <a:pPr algn="ctr"/>
                      <a:r>
                        <a:rPr lang="zh-CN" altLang="en-US" dirty="0"/>
                        <a:t>准确率</a:t>
                      </a:r>
                    </a:p>
                  </a:txBody>
                  <a:tcPr anchor="ctr"/>
                </a:tc>
                <a:extLst>
                  <a:ext uri="{0D108BD9-81ED-4DB2-BD59-A6C34878D82A}">
                    <a16:rowId xmlns:a16="http://schemas.microsoft.com/office/drawing/2014/main" val="1689843995"/>
                  </a:ext>
                </a:extLst>
              </a:tr>
              <a:tr h="370840">
                <a:tc>
                  <a:txBody>
                    <a:bodyPr/>
                    <a:lstStyle/>
                    <a:p>
                      <a:r>
                        <a:rPr lang="en-US" altLang="zh-CN" dirty="0"/>
                        <a:t>Logistic regression</a:t>
                      </a:r>
                      <a:endParaRPr lang="zh-CN" altLang="en-US" dirty="0"/>
                    </a:p>
                  </a:txBody>
                  <a:tcPr anchor="ctr"/>
                </a:tc>
                <a:tc>
                  <a:txBody>
                    <a:bodyPr/>
                    <a:lstStyle/>
                    <a:p>
                      <a:pPr algn="ctr"/>
                      <a:r>
                        <a:rPr lang="en-US" altLang="zh-CN" dirty="0">
                          <a:solidFill>
                            <a:srgbClr val="C00000"/>
                          </a:solidFill>
                        </a:rPr>
                        <a:t>91.6%</a:t>
                      </a:r>
                      <a:endParaRPr lang="zh-CN" altLang="en-US" dirty="0">
                        <a:solidFill>
                          <a:srgbClr val="C00000"/>
                        </a:solidFill>
                      </a:endParaRPr>
                    </a:p>
                  </a:txBody>
                  <a:tcPr anchor="ctr"/>
                </a:tc>
                <a:extLst>
                  <a:ext uri="{0D108BD9-81ED-4DB2-BD59-A6C34878D82A}">
                    <a16:rowId xmlns:a16="http://schemas.microsoft.com/office/drawing/2014/main" val="3970347712"/>
                  </a:ext>
                </a:extLst>
              </a:tr>
              <a:tr h="370840">
                <a:tc>
                  <a:txBody>
                    <a:bodyPr/>
                    <a:lstStyle/>
                    <a:p>
                      <a:r>
                        <a:rPr lang="zh-CN" altLang="en-US" sz="1800" dirty="0"/>
                        <a:t>多</a:t>
                      </a:r>
                      <a:r>
                        <a:rPr lang="zh-CN" altLang="en-US" dirty="0"/>
                        <a:t>层感知器</a:t>
                      </a:r>
                    </a:p>
                  </a:txBody>
                  <a:tcPr anchor="ctr"/>
                </a:tc>
                <a:tc>
                  <a:txBody>
                    <a:bodyPr/>
                    <a:lstStyle/>
                    <a:p>
                      <a:pPr algn="ctr"/>
                      <a:r>
                        <a:rPr lang="en-US" altLang="zh-CN" dirty="0">
                          <a:solidFill>
                            <a:srgbClr val="339933"/>
                          </a:solidFill>
                        </a:rPr>
                        <a:t>94.6%</a:t>
                      </a:r>
                      <a:endParaRPr lang="zh-CN" altLang="en-US" dirty="0">
                        <a:solidFill>
                          <a:srgbClr val="339933"/>
                        </a:solidFill>
                      </a:endParaRPr>
                    </a:p>
                  </a:txBody>
                  <a:tcPr anchor="ctr"/>
                </a:tc>
                <a:extLst>
                  <a:ext uri="{0D108BD9-81ED-4DB2-BD59-A6C34878D82A}">
                    <a16:rowId xmlns:a16="http://schemas.microsoft.com/office/drawing/2014/main" val="1455740654"/>
                  </a:ext>
                </a:extLst>
              </a:tr>
            </a:tbl>
          </a:graphicData>
        </a:graphic>
      </p:graphicFrame>
      <p:sp>
        <p:nvSpPr>
          <p:cNvPr id="3" name="Rectangle 2">
            <a:extLst>
              <a:ext uri="{FF2B5EF4-FFF2-40B4-BE49-F238E27FC236}">
                <a16:creationId xmlns:a16="http://schemas.microsoft.com/office/drawing/2014/main" id="{889ABBD6-D13E-3B22-299C-CFC1DD7A9A6D}"/>
              </a:ext>
            </a:extLst>
          </p:cNvPr>
          <p:cNvSpPr/>
          <p:nvPr/>
        </p:nvSpPr>
        <p:spPr>
          <a:xfrm>
            <a:off x="1386705" y="1855113"/>
            <a:ext cx="6370655" cy="430887"/>
          </a:xfrm>
          <a:prstGeom prst="rect">
            <a:avLst/>
          </a:prstGeom>
        </p:spPr>
        <p:txBody>
          <a:bodyPr wrap="none">
            <a:spAutoFit/>
          </a:bodyPr>
          <a:lstStyle/>
          <a:p>
            <a:pPr algn="ctr"/>
            <a:r>
              <a:rPr lang="zh-CN" altLang="en-US" sz="2200" dirty="0"/>
              <a:t>多层感知器：</a:t>
            </a:r>
            <a:r>
              <a:rPr lang="en-US" altLang="zh-CN" sz="2200" dirty="0"/>
              <a:t>256</a:t>
            </a:r>
            <a:r>
              <a:rPr lang="zh-CN" altLang="en-US" sz="2200" dirty="0"/>
              <a:t>个</a:t>
            </a:r>
            <a:r>
              <a:rPr lang="en-US" altLang="zh-CN" sz="2200" dirty="0" err="1"/>
              <a:t>ReLU</a:t>
            </a:r>
            <a:r>
              <a:rPr lang="zh-CN" altLang="en-US" sz="2200" dirty="0"/>
              <a:t>激活神经细胞的隐藏层</a:t>
            </a:r>
          </a:p>
        </p:txBody>
      </p:sp>
    </p:spTree>
    <p:extLst>
      <p:ext uri="{BB962C8B-B14F-4D97-AF65-F5344CB8AC3E}">
        <p14:creationId xmlns:p14="http://schemas.microsoft.com/office/powerpoint/2010/main" val="94848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6" name="TextBox 35">
            <a:extLst>
              <a:ext uri="{FF2B5EF4-FFF2-40B4-BE49-F238E27FC236}">
                <a16:creationId xmlns:a16="http://schemas.microsoft.com/office/drawing/2014/main" id="{9289DD4D-AA9B-4B9B-B862-E835BD76B09A}"/>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2929232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1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6" grpId="0" animBg="1"/>
      <p:bldP spid="24" grpId="0" animBg="1"/>
      <p:bldP spid="26" grpId="0" animBg="1"/>
      <p:bldP spid="27" grpId="0" animBg="1"/>
      <p:bldP spid="28" grpId="0" animBg="1"/>
      <p:bldP spid="36" grpId="0"/>
      <p:bldP spid="70" grpId="0" animBg="1"/>
      <p:bldP spid="71" grpId="0" animBg="1"/>
      <p:bldP spid="72" grpId="0" animBg="1"/>
      <p:bldP spid="7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117123" y="5235005"/>
            <a:ext cx="9372600" cy="430887"/>
          </a:xfrm>
          <a:prstGeom prst="rect">
            <a:avLst/>
          </a:prstGeom>
          <a:noFill/>
        </p:spPr>
        <p:txBody>
          <a:bodyPr wrap="square" rtlCol="0">
            <a:spAutoFit/>
          </a:bodyPr>
          <a:lstStyle/>
          <a:p>
            <a:pPr algn="ctr"/>
            <a:r>
              <a:rPr lang="zh-CN" altLang="en-US" sz="2200" dirty="0"/>
              <a:t>在训练时，在隐藏层随机禁用一部分（例如</a:t>
            </a:r>
            <a:r>
              <a:rPr lang="en-US" altLang="zh-CN" sz="2200" dirty="0"/>
              <a:t>50%</a:t>
            </a:r>
            <a:r>
              <a:rPr lang="zh-CN" altLang="en-US" sz="2200" dirty="0"/>
              <a:t>）的神经细胞</a:t>
            </a:r>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 name="TextBox 4">
            <a:extLst>
              <a:ext uri="{FF2B5EF4-FFF2-40B4-BE49-F238E27FC236}">
                <a16:creationId xmlns:a16="http://schemas.microsoft.com/office/drawing/2014/main" id="{6EC178F2-CE58-0362-274D-770212E620AE}"/>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4021679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2149827" y="5260744"/>
            <a:ext cx="4838700" cy="430887"/>
          </a:xfrm>
          <a:prstGeom prst="rect">
            <a:avLst/>
          </a:prstGeom>
          <a:noFill/>
        </p:spPr>
        <p:txBody>
          <a:bodyPr wrap="square" rtlCol="0">
            <a:spAutoFit/>
          </a:bodyPr>
          <a:lstStyle/>
          <a:p>
            <a:pPr algn="ctr"/>
            <a:r>
              <a:rPr lang="zh-CN" altLang="en-US" sz="2200" dirty="0"/>
              <a:t>前向计算损失</a:t>
            </a:r>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 name="Straight Arrow Connector 5">
            <a:extLst>
              <a:ext uri="{FF2B5EF4-FFF2-40B4-BE49-F238E27FC236}">
                <a16:creationId xmlns:a16="http://schemas.microsoft.com/office/drawing/2014/main" id="{F02B3F13-4CF7-4E9C-834B-CDE0D34F1B51}"/>
              </a:ext>
            </a:extLst>
          </p:cNvPr>
          <p:cNvCxnSpPr>
            <a:cxnSpLocks/>
          </p:cNvCxnSpPr>
          <p:nvPr/>
        </p:nvCxnSpPr>
        <p:spPr bwMode="auto">
          <a:xfrm>
            <a:off x="3159032" y="5029200"/>
            <a:ext cx="29337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 name="TextBox 4">
            <a:extLst>
              <a:ext uri="{FF2B5EF4-FFF2-40B4-BE49-F238E27FC236}">
                <a16:creationId xmlns:a16="http://schemas.microsoft.com/office/drawing/2014/main" id="{D03973BA-E8E3-6CC7-4FE2-1532697D0FCA}"/>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32329995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2149827" y="5260744"/>
            <a:ext cx="4838700" cy="430887"/>
          </a:xfrm>
          <a:prstGeom prst="rect">
            <a:avLst/>
          </a:prstGeom>
          <a:noFill/>
        </p:spPr>
        <p:txBody>
          <a:bodyPr wrap="square" rtlCol="0">
            <a:spAutoFit/>
          </a:bodyPr>
          <a:lstStyle/>
          <a:p>
            <a:pPr algn="ctr"/>
            <a:r>
              <a:rPr lang="zh-CN" altLang="en-US" sz="2200" dirty="0"/>
              <a:t>梯度反向传播</a:t>
            </a:r>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 name="Straight Arrow Connector 5">
            <a:extLst>
              <a:ext uri="{FF2B5EF4-FFF2-40B4-BE49-F238E27FC236}">
                <a16:creationId xmlns:a16="http://schemas.microsoft.com/office/drawing/2014/main" id="{F02B3F13-4CF7-4E9C-834B-CDE0D34F1B51}"/>
              </a:ext>
            </a:extLst>
          </p:cNvPr>
          <p:cNvCxnSpPr>
            <a:cxnSpLocks/>
          </p:cNvCxnSpPr>
          <p:nvPr/>
        </p:nvCxnSpPr>
        <p:spPr bwMode="auto">
          <a:xfrm>
            <a:off x="3159032" y="5029200"/>
            <a:ext cx="2933700" cy="0"/>
          </a:xfrm>
          <a:prstGeom prst="straightConnector1">
            <a:avLst/>
          </a:prstGeom>
          <a:solidFill>
            <a:schemeClr val="accent1"/>
          </a:solidFill>
          <a:ln w="9525" cap="flat" cmpd="sng" algn="ctr">
            <a:solidFill>
              <a:schemeClr val="tx1"/>
            </a:solidFill>
            <a:prstDash val="solid"/>
            <a:round/>
            <a:headEnd type="triangle" w="med" len="med"/>
            <a:tailEnd type="none"/>
          </a:ln>
          <a:effectLst/>
        </p:spPr>
      </p:cxnSp>
      <p:sp>
        <p:nvSpPr>
          <p:cNvPr id="5" name="TextBox 4">
            <a:extLst>
              <a:ext uri="{FF2B5EF4-FFF2-40B4-BE49-F238E27FC236}">
                <a16:creationId xmlns:a16="http://schemas.microsoft.com/office/drawing/2014/main" id="{E1B1B6A3-CC87-F908-88BA-0385FA7049AC}"/>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1491832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cxnSpLocks/>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3" name="TextBox 42">
            <a:extLst>
              <a:ext uri="{FF2B5EF4-FFF2-40B4-BE49-F238E27FC236}">
                <a16:creationId xmlns:a16="http://schemas.microsoft.com/office/drawing/2014/main" id="{77E596BB-4899-4C33-B0FC-8E69B0A53E61}"/>
              </a:ext>
            </a:extLst>
          </p:cNvPr>
          <p:cNvSpPr txBox="1"/>
          <p:nvPr/>
        </p:nvSpPr>
        <p:spPr>
          <a:xfrm>
            <a:off x="-117123" y="5235005"/>
            <a:ext cx="9372600" cy="430887"/>
          </a:xfrm>
          <a:prstGeom prst="rect">
            <a:avLst/>
          </a:prstGeom>
          <a:noFill/>
        </p:spPr>
        <p:txBody>
          <a:bodyPr wrap="square" rtlCol="0">
            <a:spAutoFit/>
          </a:bodyPr>
          <a:lstStyle/>
          <a:p>
            <a:pPr algn="ctr"/>
            <a:r>
              <a:rPr lang="zh-CN" altLang="en-US" sz="2200" dirty="0"/>
              <a:t>在新的一批，再度随机禁用一部分（例如</a:t>
            </a:r>
            <a:r>
              <a:rPr lang="en-US" altLang="zh-CN" sz="2200" dirty="0"/>
              <a:t>50%</a:t>
            </a:r>
            <a:r>
              <a:rPr lang="zh-CN" altLang="en-US" sz="2200" dirty="0"/>
              <a:t>）的神经细胞</a:t>
            </a:r>
          </a:p>
        </p:txBody>
      </p:sp>
      <p:sp>
        <p:nvSpPr>
          <p:cNvPr id="6" name="TextBox 5">
            <a:extLst>
              <a:ext uri="{FF2B5EF4-FFF2-40B4-BE49-F238E27FC236}">
                <a16:creationId xmlns:a16="http://schemas.microsoft.com/office/drawing/2014/main" id="{31EDAE2B-6896-365F-03E1-799FB22E2BA2}"/>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29071445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4" name="TextBox 43">
            <a:extLst>
              <a:ext uri="{FF2B5EF4-FFF2-40B4-BE49-F238E27FC236}">
                <a16:creationId xmlns:a16="http://schemas.microsoft.com/office/drawing/2014/main" id="{DF4BF826-C336-4F5B-910B-2E1EF0A716FF}"/>
              </a:ext>
            </a:extLst>
          </p:cNvPr>
          <p:cNvSpPr txBox="1"/>
          <p:nvPr/>
        </p:nvSpPr>
        <p:spPr>
          <a:xfrm>
            <a:off x="2149827" y="5260744"/>
            <a:ext cx="4838700" cy="430887"/>
          </a:xfrm>
          <a:prstGeom prst="rect">
            <a:avLst/>
          </a:prstGeom>
          <a:noFill/>
        </p:spPr>
        <p:txBody>
          <a:bodyPr wrap="square" rtlCol="0">
            <a:spAutoFit/>
          </a:bodyPr>
          <a:lstStyle/>
          <a:p>
            <a:pPr algn="ctr"/>
            <a:r>
              <a:rPr lang="zh-CN" altLang="en-US" sz="2200" dirty="0"/>
              <a:t>前向计算损失</a:t>
            </a:r>
          </a:p>
        </p:txBody>
      </p:sp>
      <p:cxnSp>
        <p:nvCxnSpPr>
          <p:cNvPr id="46" name="Straight Arrow Connector 45">
            <a:extLst>
              <a:ext uri="{FF2B5EF4-FFF2-40B4-BE49-F238E27FC236}">
                <a16:creationId xmlns:a16="http://schemas.microsoft.com/office/drawing/2014/main" id="{4D9957C5-D6AA-4449-86FD-A07665040003}"/>
              </a:ext>
            </a:extLst>
          </p:cNvPr>
          <p:cNvCxnSpPr>
            <a:cxnSpLocks/>
          </p:cNvCxnSpPr>
          <p:nvPr/>
        </p:nvCxnSpPr>
        <p:spPr bwMode="auto">
          <a:xfrm>
            <a:off x="3159032" y="5029200"/>
            <a:ext cx="29337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 name="TextBox 4">
            <a:extLst>
              <a:ext uri="{FF2B5EF4-FFF2-40B4-BE49-F238E27FC236}">
                <a16:creationId xmlns:a16="http://schemas.microsoft.com/office/drawing/2014/main" id="{B158D562-BC1B-982E-0215-C088DBB17874}"/>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37951764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bg1">
                <a:lumMod val="85000"/>
              </a:schemeClr>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4" name="TextBox 43">
            <a:extLst>
              <a:ext uri="{FF2B5EF4-FFF2-40B4-BE49-F238E27FC236}">
                <a16:creationId xmlns:a16="http://schemas.microsoft.com/office/drawing/2014/main" id="{4C86E047-ADEE-49F4-81BE-C804BEBF691E}"/>
              </a:ext>
            </a:extLst>
          </p:cNvPr>
          <p:cNvSpPr txBox="1"/>
          <p:nvPr/>
        </p:nvSpPr>
        <p:spPr>
          <a:xfrm>
            <a:off x="2149827" y="5260744"/>
            <a:ext cx="4838700" cy="430887"/>
          </a:xfrm>
          <a:prstGeom prst="rect">
            <a:avLst/>
          </a:prstGeom>
          <a:noFill/>
        </p:spPr>
        <p:txBody>
          <a:bodyPr wrap="square" rtlCol="0">
            <a:spAutoFit/>
          </a:bodyPr>
          <a:lstStyle/>
          <a:p>
            <a:pPr algn="ctr"/>
            <a:r>
              <a:rPr lang="zh-CN" altLang="en-US" sz="2200" dirty="0"/>
              <a:t>梯度反向传播</a:t>
            </a:r>
          </a:p>
        </p:txBody>
      </p:sp>
      <p:cxnSp>
        <p:nvCxnSpPr>
          <p:cNvPr id="46" name="Straight Arrow Connector 45">
            <a:extLst>
              <a:ext uri="{FF2B5EF4-FFF2-40B4-BE49-F238E27FC236}">
                <a16:creationId xmlns:a16="http://schemas.microsoft.com/office/drawing/2014/main" id="{93C3FFCF-EBFE-4E85-9CE0-56A53D753526}"/>
              </a:ext>
            </a:extLst>
          </p:cNvPr>
          <p:cNvCxnSpPr>
            <a:cxnSpLocks/>
          </p:cNvCxnSpPr>
          <p:nvPr/>
        </p:nvCxnSpPr>
        <p:spPr bwMode="auto">
          <a:xfrm>
            <a:off x="3159032" y="5029200"/>
            <a:ext cx="2933700" cy="0"/>
          </a:xfrm>
          <a:prstGeom prst="straightConnector1">
            <a:avLst/>
          </a:prstGeom>
          <a:solidFill>
            <a:schemeClr val="accent1"/>
          </a:solidFill>
          <a:ln w="9525" cap="flat" cmpd="sng" algn="ctr">
            <a:solidFill>
              <a:schemeClr val="tx1"/>
            </a:solidFill>
            <a:prstDash val="solid"/>
            <a:round/>
            <a:headEnd type="triangle" w="med" len="med"/>
            <a:tailEnd type="none"/>
          </a:ln>
          <a:effectLst/>
        </p:spPr>
      </p:cxnSp>
      <p:sp>
        <p:nvSpPr>
          <p:cNvPr id="5" name="TextBox 4">
            <a:extLst>
              <a:ext uri="{FF2B5EF4-FFF2-40B4-BE49-F238E27FC236}">
                <a16:creationId xmlns:a16="http://schemas.microsoft.com/office/drawing/2014/main" id="{5B4E778B-672B-9805-90AE-CDDA1F10EB7A}"/>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17607860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1194423" y="5172195"/>
            <a:ext cx="6755153" cy="430887"/>
          </a:xfrm>
          <a:prstGeom prst="rect">
            <a:avLst/>
          </a:prstGeom>
          <a:noFill/>
        </p:spPr>
        <p:txBody>
          <a:bodyPr wrap="square" rtlCol="0">
            <a:spAutoFit/>
          </a:bodyPr>
          <a:lstStyle/>
          <a:p>
            <a:pPr algn="ctr"/>
            <a:r>
              <a:rPr lang="zh-CN" altLang="en-US" sz="2200" dirty="0"/>
              <a:t>训练结束后恢复所有的神经细胞</a:t>
            </a:r>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 name="TextBox 4">
            <a:extLst>
              <a:ext uri="{FF2B5EF4-FFF2-40B4-BE49-F238E27FC236}">
                <a16:creationId xmlns:a16="http://schemas.microsoft.com/office/drawing/2014/main" id="{1606A051-8400-8768-48F7-92135B102983}"/>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1208968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1181100" y="5174091"/>
            <a:ext cx="6776153" cy="430887"/>
          </a:xfrm>
          <a:prstGeom prst="rect">
            <a:avLst/>
          </a:prstGeom>
          <a:noFill/>
        </p:spPr>
        <p:txBody>
          <a:bodyPr wrap="square" rtlCol="0">
            <a:spAutoFit/>
          </a:bodyPr>
          <a:lstStyle/>
          <a:p>
            <a:pPr algn="ctr"/>
            <a:r>
              <a:rPr lang="zh-CN" altLang="en-US" sz="2200" dirty="0"/>
              <a:t>然而，对最后一层的神经细胞而言，连接数从</a:t>
            </a:r>
            <a:r>
              <a:rPr lang="en-US" altLang="zh-CN" sz="2200" dirty="0"/>
              <a:t>2</a:t>
            </a:r>
            <a:r>
              <a:rPr lang="zh-CN" altLang="en-US" sz="2200" dirty="0"/>
              <a:t>变到</a:t>
            </a:r>
            <a:r>
              <a:rPr lang="en-US" altLang="zh-CN" sz="2200" dirty="0"/>
              <a:t>4</a:t>
            </a:r>
            <a:endParaRPr lang="zh-CN" altLang="en-US" sz="2200" dirty="0"/>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 name="TextBox 4">
            <a:extLst>
              <a:ext uri="{FF2B5EF4-FFF2-40B4-BE49-F238E27FC236}">
                <a16:creationId xmlns:a16="http://schemas.microsoft.com/office/drawing/2014/main" id="{7CBFB40E-2269-F87D-F939-74B1F6BAEE09}"/>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32764885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Dropout</a:t>
            </a:r>
            <a:endParaRPr lang="zh-CN" altLang="en-US"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917668" y="5198351"/>
            <a:ext cx="7195253" cy="430887"/>
          </a:xfrm>
          <a:prstGeom prst="rect">
            <a:avLst/>
          </a:prstGeom>
          <a:noFill/>
        </p:spPr>
        <p:txBody>
          <a:bodyPr wrap="square" rtlCol="0">
            <a:spAutoFit/>
          </a:bodyPr>
          <a:lstStyle/>
          <a:p>
            <a:pPr algn="ctr"/>
            <a:r>
              <a:rPr lang="zh-CN" altLang="en-US" sz="2200" dirty="0"/>
              <a:t>所以我们需要把权重减半</a:t>
            </a:r>
          </a:p>
        </p:txBody>
      </p:sp>
      <p:sp>
        <p:nvSpPr>
          <p:cNvPr id="3" name="Oval 2">
            <a:extLst>
              <a:ext uri="{FF2B5EF4-FFF2-40B4-BE49-F238E27FC236}">
                <a16:creationId xmlns:a16="http://schemas.microsoft.com/office/drawing/2014/main" id="{FB344FCA-6DEE-41C6-B383-509AFE813F79}"/>
              </a:ext>
            </a:extLst>
          </p:cNvPr>
          <p:cNvSpPr/>
          <p:nvPr/>
        </p:nvSpPr>
        <p:spPr bwMode="auto">
          <a:xfrm>
            <a:off x="2166257" y="28178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Oval 14">
            <a:extLst>
              <a:ext uri="{FF2B5EF4-FFF2-40B4-BE49-F238E27FC236}">
                <a16:creationId xmlns:a16="http://schemas.microsoft.com/office/drawing/2014/main" id="{2CF546BD-C367-49A6-8834-8F5DF0411255}"/>
              </a:ext>
            </a:extLst>
          </p:cNvPr>
          <p:cNvSpPr/>
          <p:nvPr/>
        </p:nvSpPr>
        <p:spPr bwMode="auto">
          <a:xfrm>
            <a:off x="2166257" y="3519156"/>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Oval 15">
            <a:extLst>
              <a:ext uri="{FF2B5EF4-FFF2-40B4-BE49-F238E27FC236}">
                <a16:creationId xmlns:a16="http://schemas.microsoft.com/office/drawing/2014/main" id="{323687E3-1F17-486F-B832-7D1743DC29BB}"/>
              </a:ext>
            </a:extLst>
          </p:cNvPr>
          <p:cNvSpPr/>
          <p:nvPr/>
        </p:nvSpPr>
        <p:spPr bwMode="auto">
          <a:xfrm>
            <a:off x="2166257" y="4296154"/>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Oval 23">
            <a:extLst>
              <a:ext uri="{FF2B5EF4-FFF2-40B4-BE49-F238E27FC236}">
                <a16:creationId xmlns:a16="http://schemas.microsoft.com/office/drawing/2014/main" id="{2221A610-73A3-4D61-B187-074CABDCDB7C}"/>
              </a:ext>
            </a:extLst>
          </p:cNvPr>
          <p:cNvSpPr/>
          <p:nvPr/>
        </p:nvSpPr>
        <p:spPr bwMode="auto">
          <a:xfrm>
            <a:off x="4492977" y="247996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Oval 25">
            <a:extLst>
              <a:ext uri="{FF2B5EF4-FFF2-40B4-BE49-F238E27FC236}">
                <a16:creationId xmlns:a16="http://schemas.microsoft.com/office/drawing/2014/main" id="{90281F25-FA5F-4E9C-BBAB-F57BFDBE95F8}"/>
              </a:ext>
            </a:extLst>
          </p:cNvPr>
          <p:cNvSpPr/>
          <p:nvPr/>
        </p:nvSpPr>
        <p:spPr bwMode="auto">
          <a:xfrm>
            <a:off x="4492977" y="3221181"/>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Oval 26">
            <a:extLst>
              <a:ext uri="{FF2B5EF4-FFF2-40B4-BE49-F238E27FC236}">
                <a16:creationId xmlns:a16="http://schemas.microsoft.com/office/drawing/2014/main" id="{522D944E-50FD-4209-BA87-5759F042E1FE}"/>
              </a:ext>
            </a:extLst>
          </p:cNvPr>
          <p:cNvSpPr/>
          <p:nvPr/>
        </p:nvSpPr>
        <p:spPr bwMode="auto">
          <a:xfrm>
            <a:off x="4495800" y="39624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8" name="Oval 27">
            <a:extLst>
              <a:ext uri="{FF2B5EF4-FFF2-40B4-BE49-F238E27FC236}">
                <a16:creationId xmlns:a16="http://schemas.microsoft.com/office/drawing/2014/main" id="{F2E179ED-2566-4F6A-93C9-8E64C3F4490E}"/>
              </a:ext>
            </a:extLst>
          </p:cNvPr>
          <p:cNvSpPr/>
          <p:nvPr/>
        </p:nvSpPr>
        <p:spPr bwMode="auto">
          <a:xfrm>
            <a:off x="4492977" y="4648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9" name="Straight Arrow Connector 8">
            <a:extLst>
              <a:ext uri="{FF2B5EF4-FFF2-40B4-BE49-F238E27FC236}">
                <a16:creationId xmlns:a16="http://schemas.microsoft.com/office/drawing/2014/main" id="{3D6E6E1E-DEAE-4828-8E25-92413DCFA032}"/>
              </a:ext>
            </a:extLst>
          </p:cNvPr>
          <p:cNvCxnSpPr>
            <a:stCxn id="3" idx="6"/>
            <a:endCxn id="24" idx="2"/>
          </p:cNvCxnSpPr>
          <p:nvPr/>
        </p:nvCxnSpPr>
        <p:spPr bwMode="auto">
          <a:xfrm flipV="1">
            <a:off x="2318657" y="2556162"/>
            <a:ext cx="2174320" cy="3378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91CCB8F9-9DCA-4184-B00C-F010A3C949FD}"/>
              </a:ext>
            </a:extLst>
          </p:cNvPr>
          <p:cNvCxnSpPr>
            <a:cxnSpLocks/>
            <a:stCxn id="3" idx="6"/>
            <a:endCxn id="26" idx="2"/>
          </p:cNvCxnSpPr>
          <p:nvPr/>
        </p:nvCxnSpPr>
        <p:spPr bwMode="auto">
          <a:xfrm>
            <a:off x="2318657" y="2894054"/>
            <a:ext cx="2174320" cy="40332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9" name="Straight Arrow Connector 38">
            <a:extLst>
              <a:ext uri="{FF2B5EF4-FFF2-40B4-BE49-F238E27FC236}">
                <a16:creationId xmlns:a16="http://schemas.microsoft.com/office/drawing/2014/main" id="{540F2CE0-4C73-4A92-9DBB-12ECD8BD371D}"/>
              </a:ext>
            </a:extLst>
          </p:cNvPr>
          <p:cNvCxnSpPr>
            <a:cxnSpLocks/>
            <a:stCxn id="3" idx="6"/>
            <a:endCxn id="27" idx="1"/>
          </p:cNvCxnSpPr>
          <p:nvPr/>
        </p:nvCxnSpPr>
        <p:spPr bwMode="auto">
          <a:xfrm>
            <a:off x="2318657" y="2894054"/>
            <a:ext cx="2199461" cy="10906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EA0485AE-D47C-41A4-B4A8-5855FF22E00D}"/>
              </a:ext>
            </a:extLst>
          </p:cNvPr>
          <p:cNvCxnSpPr>
            <a:cxnSpLocks/>
            <a:stCxn id="3" idx="6"/>
            <a:endCxn id="28" idx="1"/>
          </p:cNvCxnSpPr>
          <p:nvPr/>
        </p:nvCxnSpPr>
        <p:spPr bwMode="auto">
          <a:xfrm>
            <a:off x="2318657" y="2894054"/>
            <a:ext cx="2196638" cy="1776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F0D46FC-0087-49C7-8F3A-B3D99272ED90}"/>
              </a:ext>
            </a:extLst>
          </p:cNvPr>
          <p:cNvCxnSpPr>
            <a:cxnSpLocks/>
            <a:stCxn id="15" idx="6"/>
            <a:endCxn id="27" idx="2"/>
          </p:cNvCxnSpPr>
          <p:nvPr/>
        </p:nvCxnSpPr>
        <p:spPr bwMode="auto">
          <a:xfrm>
            <a:off x="2318657" y="3595356"/>
            <a:ext cx="2177143" cy="4432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423DA573-51DD-4330-91B5-8EEF7E8F35E2}"/>
              </a:ext>
            </a:extLst>
          </p:cNvPr>
          <p:cNvCxnSpPr>
            <a:cxnSpLocks/>
            <a:stCxn id="15" idx="6"/>
            <a:endCxn id="26" idx="3"/>
          </p:cNvCxnSpPr>
          <p:nvPr/>
        </p:nvCxnSpPr>
        <p:spPr bwMode="auto">
          <a:xfrm flipV="1">
            <a:off x="2318657" y="3351263"/>
            <a:ext cx="2196638" cy="244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D6C9B940-E67B-4ADE-9EC1-F5CBA5459385}"/>
              </a:ext>
            </a:extLst>
          </p:cNvPr>
          <p:cNvCxnSpPr>
            <a:cxnSpLocks/>
            <a:stCxn id="15" idx="6"/>
            <a:endCxn id="24" idx="2"/>
          </p:cNvCxnSpPr>
          <p:nvPr/>
        </p:nvCxnSpPr>
        <p:spPr bwMode="auto">
          <a:xfrm flipV="1">
            <a:off x="2318657" y="2556162"/>
            <a:ext cx="2174320" cy="10391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6C7D0CA-BA5D-46FA-AECA-431AF23A8350}"/>
              </a:ext>
            </a:extLst>
          </p:cNvPr>
          <p:cNvCxnSpPr>
            <a:cxnSpLocks/>
            <a:stCxn id="15" idx="6"/>
            <a:endCxn id="28" idx="2"/>
          </p:cNvCxnSpPr>
          <p:nvPr/>
        </p:nvCxnSpPr>
        <p:spPr bwMode="auto">
          <a:xfrm>
            <a:off x="2318657" y="3595356"/>
            <a:ext cx="2174320" cy="1129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a:extLst>
              <a:ext uri="{FF2B5EF4-FFF2-40B4-BE49-F238E27FC236}">
                <a16:creationId xmlns:a16="http://schemas.microsoft.com/office/drawing/2014/main" id="{0B5801D5-2951-4FA8-87B3-2468B2B37FF5}"/>
              </a:ext>
            </a:extLst>
          </p:cNvPr>
          <p:cNvCxnSpPr>
            <a:cxnSpLocks/>
            <a:stCxn id="16" idx="6"/>
            <a:endCxn id="28" idx="2"/>
          </p:cNvCxnSpPr>
          <p:nvPr/>
        </p:nvCxnSpPr>
        <p:spPr bwMode="auto">
          <a:xfrm>
            <a:off x="2318657" y="4372354"/>
            <a:ext cx="2174320" cy="3520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8C8480A2-DEDE-4193-BA1B-893EF8268DFD}"/>
              </a:ext>
            </a:extLst>
          </p:cNvPr>
          <p:cNvCxnSpPr>
            <a:cxnSpLocks/>
            <a:stCxn id="16" idx="6"/>
            <a:endCxn id="27" idx="2"/>
          </p:cNvCxnSpPr>
          <p:nvPr/>
        </p:nvCxnSpPr>
        <p:spPr bwMode="auto">
          <a:xfrm flipV="1">
            <a:off x="2318657" y="4038600"/>
            <a:ext cx="2177143" cy="3337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481F0B70-96B1-4B76-B87C-C35C2D34C5C8}"/>
              </a:ext>
            </a:extLst>
          </p:cNvPr>
          <p:cNvCxnSpPr>
            <a:cxnSpLocks/>
            <a:stCxn id="16" idx="6"/>
            <a:endCxn id="26" idx="3"/>
          </p:cNvCxnSpPr>
          <p:nvPr/>
        </p:nvCxnSpPr>
        <p:spPr bwMode="auto">
          <a:xfrm flipV="1">
            <a:off x="2318657" y="3351263"/>
            <a:ext cx="2196638" cy="10210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259C1705-7386-4AC7-AAC9-74D7D75C48BB}"/>
              </a:ext>
            </a:extLst>
          </p:cNvPr>
          <p:cNvCxnSpPr>
            <a:cxnSpLocks/>
            <a:stCxn id="16" idx="6"/>
            <a:endCxn id="24" idx="2"/>
          </p:cNvCxnSpPr>
          <p:nvPr/>
        </p:nvCxnSpPr>
        <p:spPr bwMode="auto">
          <a:xfrm flipV="1">
            <a:off x="2318657" y="2556162"/>
            <a:ext cx="2174320" cy="18161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0" name="Rectangle 69">
            <a:extLst>
              <a:ext uri="{FF2B5EF4-FFF2-40B4-BE49-F238E27FC236}">
                <a16:creationId xmlns:a16="http://schemas.microsoft.com/office/drawing/2014/main" id="{21FF683C-9BE3-430F-B4A2-435912538E40}"/>
              </a:ext>
            </a:extLst>
          </p:cNvPr>
          <p:cNvSpPr/>
          <p:nvPr/>
        </p:nvSpPr>
        <p:spPr bwMode="auto">
          <a:xfrm>
            <a:off x="6550377" y="2667705"/>
            <a:ext cx="457200" cy="200281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1" name="Oval 70">
            <a:extLst>
              <a:ext uri="{FF2B5EF4-FFF2-40B4-BE49-F238E27FC236}">
                <a16:creationId xmlns:a16="http://schemas.microsoft.com/office/drawing/2014/main" id="{2778FC63-0542-4F8C-B616-27DFBE35C113}"/>
              </a:ext>
            </a:extLst>
          </p:cNvPr>
          <p:cNvSpPr/>
          <p:nvPr/>
        </p:nvSpPr>
        <p:spPr bwMode="auto">
          <a:xfrm>
            <a:off x="6702777" y="27889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2" name="Oval 71">
            <a:extLst>
              <a:ext uri="{FF2B5EF4-FFF2-40B4-BE49-F238E27FC236}">
                <a16:creationId xmlns:a16="http://schemas.microsoft.com/office/drawing/2014/main" id="{8BA4BAFC-E11B-4FEB-9BD2-74C2D901E47A}"/>
              </a:ext>
            </a:extLst>
          </p:cNvPr>
          <p:cNvSpPr/>
          <p:nvPr/>
        </p:nvSpPr>
        <p:spPr bwMode="auto">
          <a:xfrm>
            <a:off x="6702777" y="3490202"/>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73" name="Oval 72">
            <a:extLst>
              <a:ext uri="{FF2B5EF4-FFF2-40B4-BE49-F238E27FC236}">
                <a16:creationId xmlns:a16="http://schemas.microsoft.com/office/drawing/2014/main" id="{138CBF8B-5436-4932-B672-C59CC1485BBF}"/>
              </a:ext>
            </a:extLst>
          </p:cNvPr>
          <p:cNvSpPr/>
          <p:nvPr/>
        </p:nvSpPr>
        <p:spPr bwMode="auto">
          <a:xfrm>
            <a:off x="6702777" y="4267200"/>
            <a:ext cx="152400" cy="1524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74" name="Straight Arrow Connector 73">
            <a:extLst>
              <a:ext uri="{FF2B5EF4-FFF2-40B4-BE49-F238E27FC236}">
                <a16:creationId xmlns:a16="http://schemas.microsoft.com/office/drawing/2014/main" id="{A3EF2235-AABF-48BC-BD67-AB3CFF3A0FE2}"/>
              </a:ext>
            </a:extLst>
          </p:cNvPr>
          <p:cNvCxnSpPr>
            <a:cxnSpLocks/>
            <a:stCxn id="24" idx="6"/>
            <a:endCxn id="71" idx="2"/>
          </p:cNvCxnSpPr>
          <p:nvPr/>
        </p:nvCxnSpPr>
        <p:spPr bwMode="auto">
          <a:xfrm>
            <a:off x="4645377" y="2556162"/>
            <a:ext cx="2057400" cy="30893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8" name="Straight Arrow Connector 77">
            <a:extLst>
              <a:ext uri="{FF2B5EF4-FFF2-40B4-BE49-F238E27FC236}">
                <a16:creationId xmlns:a16="http://schemas.microsoft.com/office/drawing/2014/main" id="{676613AF-DDDE-4831-BF6C-66C7DB51C582}"/>
              </a:ext>
            </a:extLst>
          </p:cNvPr>
          <p:cNvCxnSpPr>
            <a:cxnSpLocks/>
            <a:stCxn id="24" idx="6"/>
            <a:endCxn id="72" idx="1"/>
          </p:cNvCxnSpPr>
          <p:nvPr/>
        </p:nvCxnSpPr>
        <p:spPr bwMode="auto">
          <a:xfrm>
            <a:off x="4645377" y="2556162"/>
            <a:ext cx="2079718" cy="9563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2" name="Straight Arrow Connector 81">
            <a:extLst>
              <a:ext uri="{FF2B5EF4-FFF2-40B4-BE49-F238E27FC236}">
                <a16:creationId xmlns:a16="http://schemas.microsoft.com/office/drawing/2014/main" id="{9EE4FF91-87F4-4FD2-BE24-332F57102D00}"/>
              </a:ext>
            </a:extLst>
          </p:cNvPr>
          <p:cNvCxnSpPr>
            <a:cxnSpLocks/>
            <a:stCxn id="24" idx="6"/>
            <a:endCxn id="73" idx="1"/>
          </p:cNvCxnSpPr>
          <p:nvPr/>
        </p:nvCxnSpPr>
        <p:spPr bwMode="auto">
          <a:xfrm>
            <a:off x="4645377" y="2556162"/>
            <a:ext cx="2079718" cy="17333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5" name="Straight Arrow Connector 84">
            <a:extLst>
              <a:ext uri="{FF2B5EF4-FFF2-40B4-BE49-F238E27FC236}">
                <a16:creationId xmlns:a16="http://schemas.microsoft.com/office/drawing/2014/main" id="{F0A30728-F4CF-4D46-A5BF-C537855D1209}"/>
              </a:ext>
            </a:extLst>
          </p:cNvPr>
          <p:cNvCxnSpPr>
            <a:cxnSpLocks/>
            <a:stCxn id="26" idx="6"/>
            <a:endCxn id="71" idx="2"/>
          </p:cNvCxnSpPr>
          <p:nvPr/>
        </p:nvCxnSpPr>
        <p:spPr bwMode="auto">
          <a:xfrm flipV="1">
            <a:off x="4645377" y="2865100"/>
            <a:ext cx="2057400" cy="4322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88" name="Straight Arrow Connector 87">
            <a:extLst>
              <a:ext uri="{FF2B5EF4-FFF2-40B4-BE49-F238E27FC236}">
                <a16:creationId xmlns:a16="http://schemas.microsoft.com/office/drawing/2014/main" id="{1CB11C04-EE4A-42AF-B38F-15DF1C8C90B4}"/>
              </a:ext>
            </a:extLst>
          </p:cNvPr>
          <p:cNvCxnSpPr>
            <a:cxnSpLocks/>
            <a:stCxn id="27" idx="7"/>
            <a:endCxn id="71" idx="2"/>
          </p:cNvCxnSpPr>
          <p:nvPr/>
        </p:nvCxnSpPr>
        <p:spPr bwMode="auto">
          <a:xfrm flipV="1">
            <a:off x="4625882" y="2865100"/>
            <a:ext cx="2076895" cy="11196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Straight Arrow Connector 90">
            <a:extLst>
              <a:ext uri="{FF2B5EF4-FFF2-40B4-BE49-F238E27FC236}">
                <a16:creationId xmlns:a16="http://schemas.microsoft.com/office/drawing/2014/main" id="{5C65EC03-BFB0-45DC-BFDF-A096B018A146}"/>
              </a:ext>
            </a:extLst>
          </p:cNvPr>
          <p:cNvCxnSpPr>
            <a:cxnSpLocks/>
            <a:stCxn id="28" idx="6"/>
            <a:endCxn id="71" idx="3"/>
          </p:cNvCxnSpPr>
          <p:nvPr/>
        </p:nvCxnSpPr>
        <p:spPr bwMode="auto">
          <a:xfrm flipV="1">
            <a:off x="4645377" y="2918982"/>
            <a:ext cx="2079718" cy="180541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5" name="Straight Arrow Connector 94">
            <a:extLst>
              <a:ext uri="{FF2B5EF4-FFF2-40B4-BE49-F238E27FC236}">
                <a16:creationId xmlns:a16="http://schemas.microsoft.com/office/drawing/2014/main" id="{AAD18EA7-09B3-46CA-BA69-67544EB6D242}"/>
              </a:ext>
            </a:extLst>
          </p:cNvPr>
          <p:cNvCxnSpPr>
            <a:cxnSpLocks/>
            <a:stCxn id="26" idx="6"/>
            <a:endCxn id="72" idx="2"/>
          </p:cNvCxnSpPr>
          <p:nvPr/>
        </p:nvCxnSpPr>
        <p:spPr bwMode="auto">
          <a:xfrm>
            <a:off x="4645377" y="3297381"/>
            <a:ext cx="2057400" cy="26902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9" name="Straight Arrow Connector 98">
            <a:extLst>
              <a:ext uri="{FF2B5EF4-FFF2-40B4-BE49-F238E27FC236}">
                <a16:creationId xmlns:a16="http://schemas.microsoft.com/office/drawing/2014/main" id="{5140437B-83FB-4BD6-8C17-8FDA8809D09D}"/>
              </a:ext>
            </a:extLst>
          </p:cNvPr>
          <p:cNvCxnSpPr>
            <a:cxnSpLocks/>
            <a:stCxn id="26" idx="6"/>
            <a:endCxn id="73" idx="1"/>
          </p:cNvCxnSpPr>
          <p:nvPr/>
        </p:nvCxnSpPr>
        <p:spPr bwMode="auto">
          <a:xfrm>
            <a:off x="4645377" y="3297381"/>
            <a:ext cx="2079718" cy="9921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Straight Arrow Connector 101">
            <a:extLst>
              <a:ext uri="{FF2B5EF4-FFF2-40B4-BE49-F238E27FC236}">
                <a16:creationId xmlns:a16="http://schemas.microsoft.com/office/drawing/2014/main" id="{76ED9708-F1CA-4A1F-BEC5-7CCB3188BC3D}"/>
              </a:ext>
            </a:extLst>
          </p:cNvPr>
          <p:cNvCxnSpPr>
            <a:cxnSpLocks/>
            <a:stCxn id="27" idx="7"/>
            <a:endCxn id="72" idx="2"/>
          </p:cNvCxnSpPr>
          <p:nvPr/>
        </p:nvCxnSpPr>
        <p:spPr bwMode="auto">
          <a:xfrm flipV="1">
            <a:off x="4625882" y="3566402"/>
            <a:ext cx="2076895" cy="4183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7" name="Straight Arrow Connector 106">
            <a:extLst>
              <a:ext uri="{FF2B5EF4-FFF2-40B4-BE49-F238E27FC236}">
                <a16:creationId xmlns:a16="http://schemas.microsoft.com/office/drawing/2014/main" id="{A47C1239-E283-4221-AC4A-D2FA95826786}"/>
              </a:ext>
            </a:extLst>
          </p:cNvPr>
          <p:cNvCxnSpPr>
            <a:cxnSpLocks/>
            <a:stCxn id="27" idx="6"/>
            <a:endCxn id="73" idx="2"/>
          </p:cNvCxnSpPr>
          <p:nvPr/>
        </p:nvCxnSpPr>
        <p:spPr bwMode="auto">
          <a:xfrm>
            <a:off x="4648200" y="4038600"/>
            <a:ext cx="2054577" cy="304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1" name="Straight Arrow Connector 110">
            <a:extLst>
              <a:ext uri="{FF2B5EF4-FFF2-40B4-BE49-F238E27FC236}">
                <a16:creationId xmlns:a16="http://schemas.microsoft.com/office/drawing/2014/main" id="{2D471D29-4BD6-4118-89A9-25C2A2429B09}"/>
              </a:ext>
            </a:extLst>
          </p:cNvPr>
          <p:cNvCxnSpPr>
            <a:cxnSpLocks/>
            <a:stCxn id="28" idx="6"/>
            <a:endCxn id="73" idx="2"/>
          </p:cNvCxnSpPr>
          <p:nvPr/>
        </p:nvCxnSpPr>
        <p:spPr bwMode="auto">
          <a:xfrm flipV="1">
            <a:off x="4645377" y="4343400"/>
            <a:ext cx="205740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5" name="Straight Arrow Connector 114">
            <a:extLst>
              <a:ext uri="{FF2B5EF4-FFF2-40B4-BE49-F238E27FC236}">
                <a16:creationId xmlns:a16="http://schemas.microsoft.com/office/drawing/2014/main" id="{3D1C28B6-BD13-484B-87C3-3318F6A8E9B9}"/>
              </a:ext>
            </a:extLst>
          </p:cNvPr>
          <p:cNvCxnSpPr>
            <a:cxnSpLocks/>
            <a:stCxn id="28" idx="6"/>
            <a:endCxn id="72" idx="3"/>
          </p:cNvCxnSpPr>
          <p:nvPr/>
        </p:nvCxnSpPr>
        <p:spPr bwMode="auto">
          <a:xfrm flipV="1">
            <a:off x="4645377" y="3620284"/>
            <a:ext cx="2079718" cy="11041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 name="Arrow: Right 6">
            <a:extLst>
              <a:ext uri="{FF2B5EF4-FFF2-40B4-BE49-F238E27FC236}">
                <a16:creationId xmlns:a16="http://schemas.microsoft.com/office/drawing/2014/main" id="{AAEB9ED4-EE8D-4E0E-A36E-7F32ED538F7A}"/>
              </a:ext>
            </a:extLst>
          </p:cNvPr>
          <p:cNvSpPr/>
          <p:nvPr/>
        </p:nvSpPr>
        <p:spPr bwMode="auto">
          <a:xfrm rot="17662866">
            <a:off x="4620280" y="4273370"/>
            <a:ext cx="1558070" cy="473951"/>
          </a:xfrm>
          <a:prstGeom prst="rightArrow">
            <a:avLst/>
          </a:prstGeom>
          <a:solidFill>
            <a:schemeClr val="accent1">
              <a:alpha val="71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5" name="TextBox 4">
            <a:extLst>
              <a:ext uri="{FF2B5EF4-FFF2-40B4-BE49-F238E27FC236}">
                <a16:creationId xmlns:a16="http://schemas.microsoft.com/office/drawing/2014/main" id="{690D71B1-91F5-64D0-78B9-E828C5336098}"/>
              </a:ext>
            </a:extLst>
          </p:cNvPr>
          <p:cNvSpPr txBox="1"/>
          <p:nvPr/>
        </p:nvSpPr>
        <p:spPr>
          <a:xfrm>
            <a:off x="5601908" y="2159762"/>
            <a:ext cx="2435577" cy="430887"/>
          </a:xfrm>
          <a:prstGeom prst="rect">
            <a:avLst/>
          </a:prstGeom>
          <a:noFill/>
        </p:spPr>
        <p:txBody>
          <a:bodyPr wrap="square" rtlCol="0">
            <a:spAutoFit/>
          </a:bodyPr>
          <a:lstStyle/>
          <a:p>
            <a:pPr algn="ctr"/>
            <a:r>
              <a:rPr lang="en-US" altLang="zh-CN" sz="2200" dirty="0" err="1"/>
              <a:t>Softmax</a:t>
            </a:r>
            <a:endParaRPr lang="en-US" altLang="zh-CN" sz="2200" dirty="0"/>
          </a:p>
        </p:txBody>
      </p:sp>
    </p:spTree>
    <p:extLst>
      <p:ext uri="{BB962C8B-B14F-4D97-AF65-F5344CB8AC3E}">
        <p14:creationId xmlns:p14="http://schemas.microsoft.com/office/powerpoint/2010/main" val="41097935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为什么要用</a:t>
            </a:r>
            <a:r>
              <a:rPr lang="en-US" altLang="zh-CN" dirty="0">
                <a:ea typeface="ＭＳ Ｐゴシック" panose="020B0600070205080204" pitchFamily="34" charset="-128"/>
              </a:rPr>
              <a:t>Dropout</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8001000" cy="5029200"/>
          </a:xfrm>
        </p:spPr>
        <p:txBody>
          <a:bodyPr>
            <a:normAutofit/>
          </a:bodyPr>
          <a:lstStyle/>
          <a:p>
            <a:pPr>
              <a:lnSpc>
                <a:spcPct val="90000"/>
              </a:lnSpc>
            </a:pPr>
            <a:r>
              <a:rPr lang="zh-CN" altLang="en-US" dirty="0"/>
              <a:t>多层神经网络</a:t>
            </a:r>
            <a:endParaRPr lang="en-US" altLang="zh-CN" dirty="0"/>
          </a:p>
          <a:p>
            <a:pPr lvl="1">
              <a:lnSpc>
                <a:spcPct val="90000"/>
              </a:lnSpc>
            </a:pPr>
            <a:r>
              <a:rPr lang="zh-CN" altLang="en-US" dirty="0"/>
              <a:t>拟合训练数据的能力很强</a:t>
            </a:r>
            <a:endParaRPr lang="en-US" altLang="zh-CN" dirty="0"/>
          </a:p>
          <a:p>
            <a:pPr lvl="1">
              <a:lnSpc>
                <a:spcPct val="90000"/>
              </a:lnSpc>
            </a:pPr>
            <a:r>
              <a:rPr lang="zh-CN" altLang="en-US" dirty="0"/>
              <a:t>缺点：容易过度拟合</a:t>
            </a:r>
            <a:endParaRPr lang="en-US" altLang="zh-CN" dirty="0"/>
          </a:p>
          <a:p>
            <a:pPr lvl="2">
              <a:lnSpc>
                <a:spcPct val="90000"/>
              </a:lnSpc>
            </a:pPr>
            <a:r>
              <a:rPr lang="zh-CN" altLang="en-US" dirty="0"/>
              <a:t>优化损失函数时被训练数据中的噪声所误导，而忽视了需要学习的分类任务的本质</a:t>
            </a:r>
            <a:endParaRPr lang="en-US" altLang="zh-CN" dirty="0"/>
          </a:p>
          <a:p>
            <a:pPr>
              <a:lnSpc>
                <a:spcPct val="90000"/>
              </a:lnSpc>
            </a:pPr>
            <a:r>
              <a:rPr lang="en-US" altLang="zh-CN" dirty="0"/>
              <a:t>Dropout</a:t>
            </a:r>
          </a:p>
          <a:p>
            <a:pPr lvl="1">
              <a:lnSpc>
                <a:spcPct val="90000"/>
              </a:lnSpc>
            </a:pPr>
            <a:r>
              <a:rPr lang="zh-CN" altLang="en-US" dirty="0"/>
              <a:t>隐式地进行</a:t>
            </a:r>
            <a:r>
              <a:rPr lang="en-US" altLang="zh-CN" dirty="0"/>
              <a:t>ensemble learning</a:t>
            </a:r>
            <a:r>
              <a:rPr lang="zh-CN" altLang="en-US" dirty="0"/>
              <a:t>，构造出不同的学习实例进行</a:t>
            </a:r>
            <a:endParaRPr lang="en-US" altLang="zh-CN" dirty="0"/>
          </a:p>
          <a:p>
            <a:pPr lvl="1">
              <a:lnSpc>
                <a:spcPct val="90000"/>
              </a:lnSpc>
            </a:pPr>
            <a:r>
              <a:rPr lang="zh-CN" altLang="en-US" dirty="0"/>
              <a:t>不同的学习实例对噪声的拟合具有随机性</a:t>
            </a:r>
            <a:endParaRPr lang="en-US" altLang="zh-CN" dirty="0"/>
          </a:p>
          <a:p>
            <a:pPr lvl="2">
              <a:lnSpc>
                <a:spcPct val="90000"/>
              </a:lnSpc>
            </a:pPr>
            <a:r>
              <a:rPr lang="zh-CN" altLang="en-US" dirty="0"/>
              <a:t>尽可能抵消噪声的影响</a:t>
            </a:r>
            <a:endParaRPr lang="en-US" altLang="zh-CN" dirty="0"/>
          </a:p>
          <a:p>
            <a:pPr lvl="2">
              <a:lnSpc>
                <a:spcPct val="90000"/>
              </a:lnSpc>
            </a:pPr>
            <a:r>
              <a:rPr lang="zh-CN" altLang="en-US" dirty="0"/>
              <a:t>组合出需要学习的分类任务的本质</a:t>
            </a:r>
            <a:endParaRPr lang="en-US" altLang="zh-CN" dirty="0"/>
          </a:p>
        </p:txBody>
      </p:sp>
    </p:spTree>
    <p:custDataLst>
      <p:tags r:id="rId1"/>
    </p:custDataLst>
    <p:extLst>
      <p:ext uri="{BB962C8B-B14F-4D97-AF65-F5344CB8AC3E}">
        <p14:creationId xmlns:p14="http://schemas.microsoft.com/office/powerpoint/2010/main" val="310010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4D913-601F-E03F-4056-0B901A8D9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635AC-116F-DA28-8A60-6F40C5D31F96}"/>
              </a:ext>
            </a:extLst>
          </p:cNvPr>
          <p:cNvSpPr>
            <a:spLocks noGrp="1"/>
          </p:cNvSpPr>
          <p:nvPr>
            <p:ph type="title"/>
          </p:nvPr>
        </p:nvSpPr>
        <p:spPr/>
        <p:txBody>
          <a:bodyPr/>
          <a:lstStyle/>
          <a:p>
            <a:r>
              <a:rPr lang="zh-CN" altLang="en-US" dirty="0">
                <a:ea typeface="ＭＳ Ｐゴシック" panose="020B0600070205080204" pitchFamily="34" charset="-128"/>
              </a:rPr>
              <a:t>用于手写邮政编码识别</a:t>
            </a:r>
            <a:endParaRPr lang="zh-CN" altLang="en-US" dirty="0"/>
          </a:p>
        </p:txBody>
      </p:sp>
      <p:graphicFrame>
        <p:nvGraphicFramePr>
          <p:cNvPr id="7" name="Table 6">
            <a:extLst>
              <a:ext uri="{FF2B5EF4-FFF2-40B4-BE49-F238E27FC236}">
                <a16:creationId xmlns:a16="http://schemas.microsoft.com/office/drawing/2014/main" id="{12A8FEB0-1EFB-68C2-9144-A47672C9F4A1}"/>
              </a:ext>
            </a:extLst>
          </p:cNvPr>
          <p:cNvGraphicFramePr>
            <a:graphicFrameLocks noGrp="1"/>
          </p:cNvGraphicFramePr>
          <p:nvPr>
            <p:extLst>
              <p:ext uri="{D42A27DB-BD31-4B8C-83A1-F6EECF244321}">
                <p14:modId xmlns:p14="http://schemas.microsoft.com/office/powerpoint/2010/main" val="3829351883"/>
              </p:ext>
            </p:extLst>
          </p:nvPr>
        </p:nvGraphicFramePr>
        <p:xfrm>
          <a:off x="1752600" y="2286000"/>
          <a:ext cx="5638800" cy="1483360"/>
        </p:xfrm>
        <a:graphic>
          <a:graphicData uri="http://schemas.openxmlformats.org/drawingml/2006/table">
            <a:tbl>
              <a:tblPr firstRow="1" bandRow="1">
                <a:tableStyleId>{D27102A9-8310-4765-A935-A1911B00CA55}</a:tableStyleId>
              </a:tblPr>
              <a:tblGrid>
                <a:gridCol w="3200400">
                  <a:extLst>
                    <a:ext uri="{9D8B030D-6E8A-4147-A177-3AD203B41FA5}">
                      <a16:colId xmlns:a16="http://schemas.microsoft.com/office/drawing/2014/main" val="1065155212"/>
                    </a:ext>
                  </a:extLst>
                </a:gridCol>
                <a:gridCol w="2438400">
                  <a:extLst>
                    <a:ext uri="{9D8B030D-6E8A-4147-A177-3AD203B41FA5}">
                      <a16:colId xmlns:a16="http://schemas.microsoft.com/office/drawing/2014/main" val="3861532805"/>
                    </a:ext>
                  </a:extLst>
                </a:gridCol>
              </a:tblGrid>
              <a:tr h="370840">
                <a:tc>
                  <a:txBody>
                    <a:bodyPr/>
                    <a:lstStyle/>
                    <a:p>
                      <a:r>
                        <a:rPr lang="zh-CN" altLang="en-US" dirty="0"/>
                        <a:t>方法</a:t>
                      </a:r>
                    </a:p>
                  </a:txBody>
                  <a:tcPr anchor="ctr"/>
                </a:tc>
                <a:tc>
                  <a:txBody>
                    <a:bodyPr/>
                    <a:lstStyle/>
                    <a:p>
                      <a:pPr algn="ctr"/>
                      <a:r>
                        <a:rPr lang="zh-CN" altLang="en-US" dirty="0"/>
                        <a:t>准确率</a:t>
                      </a:r>
                    </a:p>
                  </a:txBody>
                  <a:tcPr anchor="ctr"/>
                </a:tc>
                <a:extLst>
                  <a:ext uri="{0D108BD9-81ED-4DB2-BD59-A6C34878D82A}">
                    <a16:rowId xmlns:a16="http://schemas.microsoft.com/office/drawing/2014/main" val="1689843995"/>
                  </a:ext>
                </a:extLst>
              </a:tr>
              <a:tr h="370840">
                <a:tc>
                  <a:txBody>
                    <a:bodyPr/>
                    <a:lstStyle/>
                    <a:p>
                      <a:r>
                        <a:rPr lang="en-US" altLang="zh-CN" dirty="0"/>
                        <a:t>Logistic regression</a:t>
                      </a:r>
                      <a:endParaRPr lang="zh-CN" altLang="en-US" dirty="0"/>
                    </a:p>
                  </a:txBody>
                  <a:tcPr anchor="ctr"/>
                </a:tc>
                <a:tc>
                  <a:txBody>
                    <a:bodyPr/>
                    <a:lstStyle/>
                    <a:p>
                      <a:pPr algn="ctr"/>
                      <a:r>
                        <a:rPr lang="en-US" altLang="zh-CN" dirty="0">
                          <a:solidFill>
                            <a:srgbClr val="C00000"/>
                          </a:solidFill>
                        </a:rPr>
                        <a:t>91.6%</a:t>
                      </a:r>
                      <a:endParaRPr lang="zh-CN" altLang="en-US" dirty="0">
                        <a:solidFill>
                          <a:srgbClr val="C00000"/>
                        </a:solidFill>
                      </a:endParaRPr>
                    </a:p>
                  </a:txBody>
                  <a:tcPr anchor="ctr"/>
                </a:tc>
                <a:extLst>
                  <a:ext uri="{0D108BD9-81ED-4DB2-BD59-A6C34878D82A}">
                    <a16:rowId xmlns:a16="http://schemas.microsoft.com/office/drawing/2014/main" val="3970347712"/>
                  </a:ext>
                </a:extLst>
              </a:tr>
              <a:tr h="370840">
                <a:tc>
                  <a:txBody>
                    <a:bodyPr/>
                    <a:lstStyle/>
                    <a:p>
                      <a:r>
                        <a:rPr lang="zh-CN" altLang="en-US" sz="1800" dirty="0"/>
                        <a:t>多</a:t>
                      </a:r>
                      <a:r>
                        <a:rPr lang="zh-CN" altLang="en-US" dirty="0"/>
                        <a:t>层感知器</a:t>
                      </a:r>
                    </a:p>
                  </a:txBody>
                  <a:tcPr anchor="ctr"/>
                </a:tc>
                <a:tc>
                  <a:txBody>
                    <a:bodyPr/>
                    <a:lstStyle/>
                    <a:p>
                      <a:pPr algn="ctr"/>
                      <a:r>
                        <a:rPr lang="en-US" altLang="zh-CN" dirty="0">
                          <a:solidFill>
                            <a:schemeClr val="tx1"/>
                          </a:solidFill>
                        </a:rPr>
                        <a:t>94.6%</a:t>
                      </a:r>
                      <a:endParaRPr lang="zh-CN" altLang="en-US" dirty="0">
                        <a:solidFill>
                          <a:schemeClr val="tx1"/>
                        </a:solidFill>
                      </a:endParaRPr>
                    </a:p>
                  </a:txBody>
                  <a:tcPr anchor="ctr"/>
                </a:tc>
                <a:extLst>
                  <a:ext uri="{0D108BD9-81ED-4DB2-BD59-A6C34878D82A}">
                    <a16:rowId xmlns:a16="http://schemas.microsoft.com/office/drawing/2014/main" val="2910723195"/>
                  </a:ext>
                </a:extLst>
              </a:tr>
              <a:tr h="370840">
                <a:tc>
                  <a:txBody>
                    <a:bodyPr/>
                    <a:lstStyle/>
                    <a:p>
                      <a:r>
                        <a:rPr lang="zh-CN" altLang="en-US" sz="1800" dirty="0"/>
                        <a:t>多</a:t>
                      </a:r>
                      <a:r>
                        <a:rPr lang="zh-CN" altLang="en-US" dirty="0"/>
                        <a:t>层感知器 </a:t>
                      </a:r>
                      <a:r>
                        <a:rPr lang="en-US" altLang="zh-CN" dirty="0"/>
                        <a:t>+ dropout </a:t>
                      </a:r>
                      <a:endParaRPr lang="zh-CN" altLang="en-US" dirty="0"/>
                    </a:p>
                  </a:txBody>
                  <a:tcPr anchor="ctr"/>
                </a:tc>
                <a:tc>
                  <a:txBody>
                    <a:bodyPr/>
                    <a:lstStyle/>
                    <a:p>
                      <a:pPr algn="ctr"/>
                      <a:r>
                        <a:rPr lang="en-US" altLang="zh-CN" b="0" dirty="0">
                          <a:solidFill>
                            <a:srgbClr val="339933"/>
                          </a:solidFill>
                        </a:rPr>
                        <a:t>95.2%</a:t>
                      </a:r>
                      <a:endParaRPr lang="zh-CN" altLang="en-US" b="0" dirty="0">
                        <a:solidFill>
                          <a:srgbClr val="339933"/>
                        </a:solidFill>
                      </a:endParaRPr>
                    </a:p>
                  </a:txBody>
                  <a:tcPr anchor="ctr"/>
                </a:tc>
                <a:extLst>
                  <a:ext uri="{0D108BD9-81ED-4DB2-BD59-A6C34878D82A}">
                    <a16:rowId xmlns:a16="http://schemas.microsoft.com/office/drawing/2014/main" val="1455740654"/>
                  </a:ext>
                </a:extLst>
              </a:tr>
            </a:tbl>
          </a:graphicData>
        </a:graphic>
      </p:graphicFrame>
      <p:sp>
        <p:nvSpPr>
          <p:cNvPr id="3" name="Rectangle 2">
            <a:extLst>
              <a:ext uri="{FF2B5EF4-FFF2-40B4-BE49-F238E27FC236}">
                <a16:creationId xmlns:a16="http://schemas.microsoft.com/office/drawing/2014/main" id="{F543744D-A54F-18D8-903F-E2966137499B}"/>
              </a:ext>
            </a:extLst>
          </p:cNvPr>
          <p:cNvSpPr/>
          <p:nvPr/>
        </p:nvSpPr>
        <p:spPr>
          <a:xfrm>
            <a:off x="2407825" y="1855113"/>
            <a:ext cx="4328429" cy="430887"/>
          </a:xfrm>
          <a:prstGeom prst="rect">
            <a:avLst/>
          </a:prstGeom>
        </p:spPr>
        <p:txBody>
          <a:bodyPr wrap="none">
            <a:spAutoFit/>
          </a:bodyPr>
          <a:lstStyle/>
          <a:p>
            <a:pPr algn="ctr"/>
            <a:r>
              <a:rPr lang="zh-CN" altLang="en-US" sz="2200" dirty="0"/>
              <a:t>在隐藏层进行</a:t>
            </a:r>
            <a:r>
              <a:rPr lang="en-US" altLang="zh-CN" sz="2200" dirty="0"/>
              <a:t>30%</a:t>
            </a:r>
            <a:r>
              <a:rPr lang="zh-CN" altLang="en-US" sz="2200" dirty="0"/>
              <a:t>概率的</a:t>
            </a:r>
            <a:r>
              <a:rPr lang="en-US" altLang="zh-CN" sz="2200" dirty="0"/>
              <a:t>dropout</a:t>
            </a:r>
            <a:endParaRPr lang="zh-CN" altLang="en-US" sz="2200" dirty="0"/>
          </a:p>
        </p:txBody>
      </p:sp>
    </p:spTree>
    <p:extLst>
      <p:ext uri="{BB962C8B-B14F-4D97-AF65-F5344CB8AC3E}">
        <p14:creationId xmlns:p14="http://schemas.microsoft.com/office/powerpoint/2010/main" val="13210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FA78-6E22-E680-F6C1-50B64E61B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033F4-66B1-6997-AE84-87BE9F288749}"/>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深度学习中的常客 </a:t>
            </a:r>
            <a:r>
              <a:rPr lang="en-US" altLang="zh-CN" dirty="0">
                <a:ea typeface="MS PGothic" panose="020B0600070205080204" pitchFamily="34" charset="-128"/>
              </a:rPr>
              <a:t>(1)</a:t>
            </a:r>
            <a:endParaRPr lang="zh-CN" altLang="en-US" dirty="0">
              <a:ea typeface="MS PGothic" panose="020B0600070205080204" pitchFamily="34" charset="-128"/>
            </a:endParaRPr>
          </a:p>
        </p:txBody>
      </p:sp>
      <p:sp>
        <p:nvSpPr>
          <p:cNvPr id="5" name="Rectangle 4">
            <a:extLst>
              <a:ext uri="{FF2B5EF4-FFF2-40B4-BE49-F238E27FC236}">
                <a16:creationId xmlns:a16="http://schemas.microsoft.com/office/drawing/2014/main" id="{B0A72C12-2B38-4452-6217-5CC7D06446BC}"/>
              </a:ext>
            </a:extLst>
          </p:cNvPr>
          <p:cNvSpPr/>
          <p:nvPr/>
        </p:nvSpPr>
        <p:spPr>
          <a:xfrm>
            <a:off x="1972617" y="1600200"/>
            <a:ext cx="5198859" cy="430887"/>
          </a:xfrm>
          <a:prstGeom prst="rect">
            <a:avLst/>
          </a:prstGeom>
        </p:spPr>
        <p:txBody>
          <a:bodyPr wrap="none">
            <a:spAutoFit/>
          </a:bodyPr>
          <a:lstStyle/>
          <a:p>
            <a:pPr algn="ctr"/>
            <a:r>
              <a:rPr lang="en-US" altLang="zh-CN" sz="2200" dirty="0"/>
              <a:t>Meta</a:t>
            </a:r>
            <a:r>
              <a:rPr lang="zh-CN" altLang="en-US" sz="2200" dirty="0"/>
              <a:t>（</a:t>
            </a:r>
            <a:r>
              <a:rPr lang="en-US" altLang="zh-CN" sz="2200" dirty="0"/>
              <a:t>Facebook</a:t>
            </a:r>
            <a:r>
              <a:rPr lang="zh-CN" altLang="en-US" sz="2200" dirty="0"/>
              <a:t>）的深度学习推荐模型</a:t>
            </a:r>
          </a:p>
        </p:txBody>
      </p:sp>
      <p:sp>
        <p:nvSpPr>
          <p:cNvPr id="6" name="Rectangle 5">
            <a:extLst>
              <a:ext uri="{FF2B5EF4-FFF2-40B4-BE49-F238E27FC236}">
                <a16:creationId xmlns:a16="http://schemas.microsoft.com/office/drawing/2014/main" id="{7E4BEE1C-E9BD-5D86-ED80-A9180FB91F6D}"/>
              </a:ext>
            </a:extLst>
          </p:cNvPr>
          <p:cNvSpPr/>
          <p:nvPr/>
        </p:nvSpPr>
        <p:spPr>
          <a:xfrm>
            <a:off x="4310744" y="6263827"/>
            <a:ext cx="2723823" cy="430887"/>
          </a:xfrm>
          <a:prstGeom prst="rect">
            <a:avLst/>
          </a:prstGeom>
        </p:spPr>
        <p:txBody>
          <a:bodyPr wrap="none">
            <a:spAutoFit/>
          </a:bodyPr>
          <a:lstStyle/>
          <a:p>
            <a:pPr algn="ctr"/>
            <a:r>
              <a:rPr lang="zh-CN" altLang="en-US" sz="2200" dirty="0"/>
              <a:t>稀疏的离散类型特征</a:t>
            </a:r>
          </a:p>
        </p:txBody>
      </p:sp>
      <p:sp>
        <p:nvSpPr>
          <p:cNvPr id="7" name="Rectangle 6">
            <a:extLst>
              <a:ext uri="{FF2B5EF4-FFF2-40B4-BE49-F238E27FC236}">
                <a16:creationId xmlns:a16="http://schemas.microsoft.com/office/drawing/2014/main" id="{4DE7E098-5A3D-0A1C-8061-82602FD74A89}"/>
              </a:ext>
            </a:extLst>
          </p:cNvPr>
          <p:cNvSpPr/>
          <p:nvPr/>
        </p:nvSpPr>
        <p:spPr>
          <a:xfrm>
            <a:off x="707568" y="6274713"/>
            <a:ext cx="3288080" cy="430887"/>
          </a:xfrm>
          <a:prstGeom prst="rect">
            <a:avLst/>
          </a:prstGeom>
        </p:spPr>
        <p:txBody>
          <a:bodyPr wrap="none">
            <a:spAutoFit/>
          </a:bodyPr>
          <a:lstStyle/>
          <a:p>
            <a:pPr algn="ctr"/>
            <a:r>
              <a:rPr lang="zh-CN" altLang="en-US" sz="2200" dirty="0"/>
              <a:t>表征幅度的连续输入特征</a:t>
            </a:r>
          </a:p>
        </p:txBody>
      </p:sp>
      <p:sp>
        <p:nvSpPr>
          <p:cNvPr id="8" name="Rectangle 7">
            <a:extLst>
              <a:ext uri="{FF2B5EF4-FFF2-40B4-BE49-F238E27FC236}">
                <a16:creationId xmlns:a16="http://schemas.microsoft.com/office/drawing/2014/main" id="{26137FF3-E578-71CB-2B07-748C3F1A0179}"/>
              </a:ext>
            </a:extLst>
          </p:cNvPr>
          <p:cNvSpPr/>
          <p:nvPr/>
        </p:nvSpPr>
        <p:spPr bwMode="auto">
          <a:xfrm>
            <a:off x="3929744" y="5350336"/>
            <a:ext cx="1295400" cy="579658"/>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类型特征映射表</a:t>
            </a:r>
            <a:endParaRPr kumimoji="0" lang="en-US" sz="1800" b="0" i="0" u="none" strike="noStrike" cap="none" normalizeH="0" baseline="0" dirty="0">
              <a:ln>
                <a:noFill/>
              </a:ln>
              <a:solidFill>
                <a:schemeClr val="tx1"/>
              </a:solidFill>
              <a:effectLst/>
              <a:latin typeface="Comic Sans MS" pitchFamily="66" charset="0"/>
              <a:ea typeface="SimSun" pitchFamily="2" charset="-122"/>
            </a:endParaRPr>
          </a:p>
        </p:txBody>
      </p:sp>
      <p:sp>
        <p:nvSpPr>
          <p:cNvPr id="9" name="Rectangle 8">
            <a:extLst>
              <a:ext uri="{FF2B5EF4-FFF2-40B4-BE49-F238E27FC236}">
                <a16:creationId xmlns:a16="http://schemas.microsoft.com/office/drawing/2014/main" id="{3536BED2-EA25-915E-07E0-E07D0E73DFAD}"/>
              </a:ext>
            </a:extLst>
          </p:cNvPr>
          <p:cNvSpPr/>
          <p:nvPr/>
        </p:nvSpPr>
        <p:spPr bwMode="auto">
          <a:xfrm>
            <a:off x="6155580" y="5350336"/>
            <a:ext cx="1295400" cy="612316"/>
          </a:xfrm>
          <a:prstGeom prst="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类型特征映射表</a:t>
            </a:r>
            <a:endParaRPr kumimoji="0" lang="en-US" sz="1800" b="0" i="0" u="none" strike="noStrike" cap="none" normalizeH="0" baseline="0" dirty="0">
              <a:ln>
                <a:noFill/>
              </a:ln>
              <a:solidFill>
                <a:schemeClr val="tx1"/>
              </a:solidFill>
              <a:effectLst/>
              <a:latin typeface="Comic Sans MS" pitchFamily="66" charset="0"/>
              <a:ea typeface="SimSun" pitchFamily="2" charset="-122"/>
            </a:endParaRPr>
          </a:p>
        </p:txBody>
      </p:sp>
      <p:cxnSp>
        <p:nvCxnSpPr>
          <p:cNvPr id="11" name="Straight Arrow Connector 10">
            <a:extLst>
              <a:ext uri="{FF2B5EF4-FFF2-40B4-BE49-F238E27FC236}">
                <a16:creationId xmlns:a16="http://schemas.microsoft.com/office/drawing/2014/main" id="{8BB29FA2-040B-4C03-CE01-7F4134D8D906}"/>
              </a:ext>
            </a:extLst>
          </p:cNvPr>
          <p:cNvCxnSpPr>
            <a:cxnSpLocks/>
            <a:endCxn id="8" idx="2"/>
          </p:cNvCxnSpPr>
          <p:nvPr/>
        </p:nvCxnSpPr>
        <p:spPr bwMode="auto">
          <a:xfrm flipV="1">
            <a:off x="4577444" y="5929994"/>
            <a:ext cx="0" cy="34471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FAB0F09D-D53C-9FA1-0DBE-AAB1AD645ED9}"/>
              </a:ext>
            </a:extLst>
          </p:cNvPr>
          <p:cNvCxnSpPr>
            <a:cxnSpLocks/>
            <a:endCxn id="9" idx="2"/>
          </p:cNvCxnSpPr>
          <p:nvPr/>
        </p:nvCxnSpPr>
        <p:spPr bwMode="auto">
          <a:xfrm flipV="1">
            <a:off x="6803280" y="5962652"/>
            <a:ext cx="0" cy="31206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Rectangle 15">
            <a:extLst>
              <a:ext uri="{FF2B5EF4-FFF2-40B4-BE49-F238E27FC236}">
                <a16:creationId xmlns:a16="http://schemas.microsoft.com/office/drawing/2014/main" id="{48766DF7-C854-8710-AADE-880E4972F63B}"/>
              </a:ext>
            </a:extLst>
          </p:cNvPr>
          <p:cNvSpPr/>
          <p:nvPr/>
        </p:nvSpPr>
        <p:spPr>
          <a:xfrm>
            <a:off x="5493526" y="5350336"/>
            <a:ext cx="375424" cy="430887"/>
          </a:xfrm>
          <a:prstGeom prst="rect">
            <a:avLst/>
          </a:prstGeom>
        </p:spPr>
        <p:txBody>
          <a:bodyPr wrap="none">
            <a:spAutoFit/>
          </a:bodyPr>
          <a:lstStyle/>
          <a:p>
            <a:pPr algn="ctr"/>
            <a:r>
              <a:rPr lang="en-US" altLang="zh-CN" sz="2200" dirty="0"/>
              <a:t>…</a:t>
            </a:r>
            <a:endParaRPr lang="zh-CN" altLang="en-US" sz="2200" dirty="0"/>
          </a:p>
        </p:txBody>
      </p:sp>
      <p:sp>
        <p:nvSpPr>
          <p:cNvPr id="17" name="Rectangle 16">
            <a:extLst>
              <a:ext uri="{FF2B5EF4-FFF2-40B4-BE49-F238E27FC236}">
                <a16:creationId xmlns:a16="http://schemas.microsoft.com/office/drawing/2014/main" id="{14080849-5A5B-D245-352B-850B5ED65BCC}"/>
              </a:ext>
            </a:extLst>
          </p:cNvPr>
          <p:cNvSpPr/>
          <p:nvPr/>
        </p:nvSpPr>
        <p:spPr>
          <a:xfrm>
            <a:off x="5493526" y="5732696"/>
            <a:ext cx="375424" cy="430887"/>
          </a:xfrm>
          <a:prstGeom prst="rect">
            <a:avLst/>
          </a:prstGeom>
        </p:spPr>
        <p:txBody>
          <a:bodyPr wrap="none">
            <a:spAutoFit/>
          </a:bodyPr>
          <a:lstStyle/>
          <a:p>
            <a:pPr algn="ctr"/>
            <a:r>
              <a:rPr lang="en-US" altLang="zh-CN" sz="2200" dirty="0"/>
              <a:t>…</a:t>
            </a:r>
            <a:endParaRPr lang="zh-CN" altLang="en-US" sz="2200" dirty="0"/>
          </a:p>
        </p:txBody>
      </p:sp>
      <p:sp>
        <p:nvSpPr>
          <p:cNvPr id="18" name="Rectangle 17">
            <a:extLst>
              <a:ext uri="{FF2B5EF4-FFF2-40B4-BE49-F238E27FC236}">
                <a16:creationId xmlns:a16="http://schemas.microsoft.com/office/drawing/2014/main" id="{EF78871A-F025-6CED-FF02-67ADC59322DB}"/>
              </a:ext>
            </a:extLst>
          </p:cNvPr>
          <p:cNvSpPr/>
          <p:nvPr/>
        </p:nvSpPr>
        <p:spPr bwMode="auto">
          <a:xfrm>
            <a:off x="1703909" y="4441303"/>
            <a:ext cx="1295400" cy="58602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底层</a:t>
            </a:r>
            <a:r>
              <a:rPr kumimoji="0" lang="zh-CN" altLang="en-US" sz="1800" b="1" i="0" u="none" strike="noStrike" cap="none" normalizeH="0" baseline="0" dirty="0">
                <a:ln>
                  <a:noFill/>
                </a:ln>
                <a:solidFill>
                  <a:srgbClr val="C00000"/>
                </a:solidFill>
                <a:effectLst/>
                <a:latin typeface="Comic Sans MS" pitchFamily="66" charset="0"/>
                <a:ea typeface="SimSun" pitchFamily="2" charset="-122"/>
              </a:rPr>
              <a:t>多层感知器</a:t>
            </a:r>
            <a:endParaRPr kumimoji="0" lang="en-US" sz="1800" b="1" i="0" u="none" strike="noStrike" cap="none" normalizeH="0" baseline="0" dirty="0">
              <a:ln>
                <a:noFill/>
              </a:ln>
              <a:solidFill>
                <a:srgbClr val="C00000"/>
              </a:solidFill>
              <a:effectLst/>
              <a:latin typeface="Comic Sans MS" pitchFamily="66" charset="0"/>
              <a:ea typeface="SimSun" pitchFamily="2" charset="-122"/>
            </a:endParaRPr>
          </a:p>
        </p:txBody>
      </p:sp>
      <p:cxnSp>
        <p:nvCxnSpPr>
          <p:cNvPr id="19" name="Straight Arrow Connector 18">
            <a:extLst>
              <a:ext uri="{FF2B5EF4-FFF2-40B4-BE49-F238E27FC236}">
                <a16:creationId xmlns:a16="http://schemas.microsoft.com/office/drawing/2014/main" id="{B7456D46-310F-A4AE-2CFC-0E0BF679EB06}"/>
              </a:ext>
            </a:extLst>
          </p:cNvPr>
          <p:cNvCxnSpPr>
            <a:cxnSpLocks/>
            <a:stCxn id="7" idx="0"/>
            <a:endCxn id="18" idx="2"/>
          </p:cNvCxnSpPr>
          <p:nvPr/>
        </p:nvCxnSpPr>
        <p:spPr bwMode="auto">
          <a:xfrm flipV="1">
            <a:off x="2351608" y="5027329"/>
            <a:ext cx="1" cy="12473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Rectangle 23">
            <a:extLst>
              <a:ext uri="{FF2B5EF4-FFF2-40B4-BE49-F238E27FC236}">
                <a16:creationId xmlns:a16="http://schemas.microsoft.com/office/drawing/2014/main" id="{F737BA37-3FC3-5235-312D-0B8AB99C3BB0}"/>
              </a:ext>
            </a:extLst>
          </p:cNvPr>
          <p:cNvSpPr/>
          <p:nvPr/>
        </p:nvSpPr>
        <p:spPr bwMode="auto">
          <a:xfrm>
            <a:off x="2140149" y="3583438"/>
            <a:ext cx="4874590" cy="396428"/>
          </a:xfrm>
          <a:prstGeom prst="rect">
            <a:avLst/>
          </a:prstGeom>
          <a:solidFill>
            <a:schemeClr val="accent5">
              <a:lumMod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中间特征交互与组合</a:t>
            </a:r>
            <a:endParaRPr kumimoji="0" lang="en-US" sz="1800" b="0" i="0" u="none" strike="noStrike" cap="none" normalizeH="0" baseline="0" dirty="0">
              <a:ln>
                <a:noFill/>
              </a:ln>
              <a:solidFill>
                <a:schemeClr val="tx1"/>
              </a:solidFill>
              <a:effectLst/>
              <a:latin typeface="Comic Sans MS" pitchFamily="66" charset="0"/>
              <a:ea typeface="SimSun" pitchFamily="2" charset="-122"/>
            </a:endParaRPr>
          </a:p>
        </p:txBody>
      </p:sp>
      <p:sp>
        <p:nvSpPr>
          <p:cNvPr id="29" name="Rectangle 28">
            <a:extLst>
              <a:ext uri="{FF2B5EF4-FFF2-40B4-BE49-F238E27FC236}">
                <a16:creationId xmlns:a16="http://schemas.microsoft.com/office/drawing/2014/main" id="{3FA10F47-EBB3-AEBE-D90F-FCE0DC236271}"/>
              </a:ext>
            </a:extLst>
          </p:cNvPr>
          <p:cNvSpPr/>
          <p:nvPr/>
        </p:nvSpPr>
        <p:spPr bwMode="auto">
          <a:xfrm>
            <a:off x="3922817" y="2595917"/>
            <a:ext cx="1295400" cy="623877"/>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顶层</a:t>
            </a:r>
            <a:r>
              <a:rPr kumimoji="0" lang="zh-CN" altLang="en-US" sz="1800" b="1" i="0" u="none" strike="noStrike" cap="none" normalizeH="0" baseline="0" dirty="0">
                <a:ln>
                  <a:noFill/>
                </a:ln>
                <a:solidFill>
                  <a:srgbClr val="C00000"/>
                </a:solidFill>
                <a:effectLst/>
                <a:latin typeface="Comic Sans MS" pitchFamily="66" charset="0"/>
                <a:ea typeface="SimSun" pitchFamily="2" charset="-122"/>
              </a:rPr>
              <a:t>多层感知器</a:t>
            </a:r>
            <a:endParaRPr kumimoji="0" lang="en-US" sz="1800" b="1" i="0" u="none" strike="noStrike" cap="none" normalizeH="0" baseline="0" dirty="0">
              <a:ln>
                <a:noFill/>
              </a:ln>
              <a:solidFill>
                <a:srgbClr val="C00000"/>
              </a:solidFill>
              <a:effectLst/>
              <a:latin typeface="Comic Sans MS" pitchFamily="66" charset="0"/>
              <a:ea typeface="SimSun" pitchFamily="2" charset="-122"/>
            </a:endParaRPr>
          </a:p>
        </p:txBody>
      </p:sp>
      <p:cxnSp>
        <p:nvCxnSpPr>
          <p:cNvPr id="32" name="Straight Arrow Connector 31">
            <a:extLst>
              <a:ext uri="{FF2B5EF4-FFF2-40B4-BE49-F238E27FC236}">
                <a16:creationId xmlns:a16="http://schemas.microsoft.com/office/drawing/2014/main" id="{7DDD4C3C-F43A-1882-A102-9BCDC462122F}"/>
              </a:ext>
            </a:extLst>
          </p:cNvPr>
          <p:cNvCxnSpPr>
            <a:cxnSpLocks/>
            <a:stCxn id="18" idx="0"/>
          </p:cNvCxnSpPr>
          <p:nvPr/>
        </p:nvCxnSpPr>
        <p:spPr bwMode="auto">
          <a:xfrm flipV="1">
            <a:off x="2351609" y="3979866"/>
            <a:ext cx="0" cy="4614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A6794AEF-A5B0-1B64-52F9-962872EC29FF}"/>
              </a:ext>
            </a:extLst>
          </p:cNvPr>
          <p:cNvCxnSpPr>
            <a:cxnSpLocks/>
            <a:stCxn id="8" idx="0"/>
            <a:endCxn id="48" idx="2"/>
          </p:cNvCxnSpPr>
          <p:nvPr/>
        </p:nvCxnSpPr>
        <p:spPr bwMode="auto">
          <a:xfrm flipH="1" flipV="1">
            <a:off x="4575183" y="5015986"/>
            <a:ext cx="2261" cy="3343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a:extLst>
              <a:ext uri="{FF2B5EF4-FFF2-40B4-BE49-F238E27FC236}">
                <a16:creationId xmlns:a16="http://schemas.microsoft.com/office/drawing/2014/main" id="{408E040C-4FBE-5491-0AC1-8AA3B878E174}"/>
              </a:ext>
            </a:extLst>
          </p:cNvPr>
          <p:cNvCxnSpPr>
            <a:cxnSpLocks/>
            <a:stCxn id="9" idx="0"/>
            <a:endCxn id="50" idx="2"/>
          </p:cNvCxnSpPr>
          <p:nvPr/>
        </p:nvCxnSpPr>
        <p:spPr bwMode="auto">
          <a:xfrm flipV="1">
            <a:off x="6803280" y="5001377"/>
            <a:ext cx="2311" cy="34895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E8D6F0C4-C663-3401-0095-EE7476832BE3}"/>
              </a:ext>
            </a:extLst>
          </p:cNvPr>
          <p:cNvCxnSpPr>
            <a:cxnSpLocks/>
            <a:stCxn id="24" idx="0"/>
            <a:endCxn id="29" idx="2"/>
          </p:cNvCxnSpPr>
          <p:nvPr/>
        </p:nvCxnSpPr>
        <p:spPr bwMode="auto">
          <a:xfrm flipH="1" flipV="1">
            <a:off x="4570517" y="3219794"/>
            <a:ext cx="6927" cy="3636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548A2E6E-93AE-9091-7A88-62CE7AAEAFFF}"/>
              </a:ext>
            </a:extLst>
          </p:cNvPr>
          <p:cNvCxnSpPr>
            <a:cxnSpLocks/>
            <a:stCxn id="29" idx="0"/>
          </p:cNvCxnSpPr>
          <p:nvPr/>
        </p:nvCxnSpPr>
        <p:spPr bwMode="auto">
          <a:xfrm flipV="1">
            <a:off x="4570517" y="2201061"/>
            <a:ext cx="6927" cy="3948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9" name="Rectangle 48">
            <a:extLst>
              <a:ext uri="{FF2B5EF4-FFF2-40B4-BE49-F238E27FC236}">
                <a16:creationId xmlns:a16="http://schemas.microsoft.com/office/drawing/2014/main" id="{B8E66049-7CBC-AEDB-A5CC-493227AFB8AD}"/>
              </a:ext>
            </a:extLst>
          </p:cNvPr>
          <p:cNvSpPr/>
          <p:nvPr/>
        </p:nvSpPr>
        <p:spPr>
          <a:xfrm>
            <a:off x="4577444" y="2127582"/>
            <a:ext cx="1313180" cy="430887"/>
          </a:xfrm>
          <a:prstGeom prst="rect">
            <a:avLst/>
          </a:prstGeom>
        </p:spPr>
        <p:txBody>
          <a:bodyPr wrap="none">
            <a:spAutoFit/>
          </a:bodyPr>
          <a:lstStyle/>
          <a:p>
            <a:pPr algn="ctr"/>
            <a:r>
              <a:rPr lang="zh-CN" altLang="en-US" sz="2200" dirty="0"/>
              <a:t>最终结果</a:t>
            </a:r>
          </a:p>
        </p:txBody>
      </p:sp>
      <p:sp>
        <p:nvSpPr>
          <p:cNvPr id="48" name="Rectangle 47">
            <a:extLst>
              <a:ext uri="{FF2B5EF4-FFF2-40B4-BE49-F238E27FC236}">
                <a16:creationId xmlns:a16="http://schemas.microsoft.com/office/drawing/2014/main" id="{948324E2-91F9-5657-959B-7ED400A4688D}"/>
              </a:ext>
            </a:extLst>
          </p:cNvPr>
          <p:cNvSpPr/>
          <p:nvPr/>
        </p:nvSpPr>
        <p:spPr bwMode="auto">
          <a:xfrm>
            <a:off x="3927483" y="4429960"/>
            <a:ext cx="1295400" cy="58602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底层</a:t>
            </a:r>
            <a:r>
              <a:rPr kumimoji="0" lang="zh-CN" altLang="en-US" sz="1800" b="1" i="0" u="none" strike="noStrike" cap="none" normalizeH="0" baseline="0" dirty="0">
                <a:ln>
                  <a:noFill/>
                </a:ln>
                <a:solidFill>
                  <a:srgbClr val="C00000"/>
                </a:solidFill>
                <a:effectLst/>
                <a:latin typeface="Comic Sans MS" pitchFamily="66" charset="0"/>
                <a:ea typeface="SimSun" pitchFamily="2" charset="-122"/>
              </a:rPr>
              <a:t>多层感知器</a:t>
            </a:r>
            <a:endParaRPr kumimoji="0" lang="en-US" sz="1800" b="1" i="0" u="none" strike="noStrike" cap="none" normalizeH="0" baseline="0" dirty="0">
              <a:ln>
                <a:noFill/>
              </a:ln>
              <a:solidFill>
                <a:srgbClr val="C00000"/>
              </a:solidFill>
              <a:effectLst/>
              <a:latin typeface="Comic Sans MS" pitchFamily="66" charset="0"/>
              <a:ea typeface="SimSun" pitchFamily="2" charset="-122"/>
            </a:endParaRPr>
          </a:p>
        </p:txBody>
      </p:sp>
      <p:sp>
        <p:nvSpPr>
          <p:cNvPr id="50" name="Rectangle 49">
            <a:extLst>
              <a:ext uri="{FF2B5EF4-FFF2-40B4-BE49-F238E27FC236}">
                <a16:creationId xmlns:a16="http://schemas.microsoft.com/office/drawing/2014/main" id="{0C4A0D31-5037-9A0B-5E7E-B5AD023AF00E}"/>
              </a:ext>
            </a:extLst>
          </p:cNvPr>
          <p:cNvSpPr/>
          <p:nvPr/>
        </p:nvSpPr>
        <p:spPr bwMode="auto">
          <a:xfrm>
            <a:off x="6157891" y="4415351"/>
            <a:ext cx="1295400" cy="586026"/>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Comic Sans MS" pitchFamily="66" charset="0"/>
                <a:ea typeface="SimSun" pitchFamily="2" charset="-122"/>
              </a:rPr>
              <a:t>底层</a:t>
            </a:r>
            <a:r>
              <a:rPr kumimoji="0" lang="zh-CN" altLang="en-US" sz="1800" b="1" i="0" u="none" strike="noStrike" cap="none" normalizeH="0" baseline="0" dirty="0">
                <a:ln>
                  <a:noFill/>
                </a:ln>
                <a:solidFill>
                  <a:srgbClr val="C00000"/>
                </a:solidFill>
                <a:effectLst/>
                <a:latin typeface="Comic Sans MS" pitchFamily="66" charset="0"/>
                <a:ea typeface="SimSun" pitchFamily="2" charset="-122"/>
              </a:rPr>
              <a:t>多层感知器</a:t>
            </a:r>
            <a:endParaRPr kumimoji="0" lang="en-US" sz="1800" b="1" i="0" u="none" strike="noStrike" cap="none" normalizeH="0" baseline="0" dirty="0">
              <a:ln>
                <a:noFill/>
              </a:ln>
              <a:solidFill>
                <a:srgbClr val="C00000"/>
              </a:solidFill>
              <a:effectLst/>
              <a:latin typeface="Comic Sans MS" pitchFamily="66" charset="0"/>
              <a:ea typeface="SimSun" pitchFamily="2" charset="-122"/>
            </a:endParaRPr>
          </a:p>
        </p:txBody>
      </p:sp>
      <p:cxnSp>
        <p:nvCxnSpPr>
          <p:cNvPr id="54" name="Straight Arrow Connector 53">
            <a:extLst>
              <a:ext uri="{FF2B5EF4-FFF2-40B4-BE49-F238E27FC236}">
                <a16:creationId xmlns:a16="http://schemas.microsoft.com/office/drawing/2014/main" id="{B974E262-28B5-BA90-2881-52A1FC42D9F1}"/>
              </a:ext>
            </a:extLst>
          </p:cNvPr>
          <p:cNvCxnSpPr>
            <a:cxnSpLocks/>
            <a:stCxn id="48" idx="0"/>
            <a:endCxn id="24" idx="2"/>
          </p:cNvCxnSpPr>
          <p:nvPr/>
        </p:nvCxnSpPr>
        <p:spPr bwMode="auto">
          <a:xfrm flipV="1">
            <a:off x="4575183" y="3979866"/>
            <a:ext cx="2261" cy="4500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036A1E63-BECE-9CA9-BFAD-C7DA31027B09}"/>
              </a:ext>
            </a:extLst>
          </p:cNvPr>
          <p:cNvCxnSpPr>
            <a:cxnSpLocks/>
            <a:stCxn id="50" idx="0"/>
          </p:cNvCxnSpPr>
          <p:nvPr/>
        </p:nvCxnSpPr>
        <p:spPr bwMode="auto">
          <a:xfrm flipV="1">
            <a:off x="6805591" y="3964702"/>
            <a:ext cx="2261" cy="4506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26006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6" grpId="0"/>
      <p:bldP spid="17" grpId="0"/>
      <p:bldP spid="18" grpId="0" animBg="1"/>
      <p:bldP spid="24" grpId="0" animBg="1"/>
      <p:bldP spid="29" grpId="0" animBg="1"/>
      <p:bldP spid="49" grpId="0"/>
      <p:bldP spid="48" grpId="0" animBg="1"/>
      <p:bldP spid="5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Slide Number Placeholder 5">
            <a:extLst>
              <a:ext uri="{FF2B5EF4-FFF2-40B4-BE49-F238E27FC236}">
                <a16:creationId xmlns:a16="http://schemas.microsoft.com/office/drawing/2014/main" id="{4FADD726-2758-43F5-BE7C-274F9F1ED1D4}"/>
              </a:ext>
            </a:extLst>
          </p:cNvPr>
          <p:cNvSpPr>
            <a:spLocks noGrp="1" noChangeArrowheads="1"/>
          </p:cNvSpPr>
          <p:nvPr>
            <p:ph type="sldNum" sz="quarter" idx="12"/>
          </p:nvPr>
        </p:nvSpPr>
        <p:spPr bwMode="auto">
          <a:xfrm>
            <a:off x="10955338" y="6523038"/>
            <a:ext cx="550862" cy="3238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r" defTabSz="457200" rtl="0" eaLnBrk="1" fontAlgn="auto" hangingPunct="1">
              <a:spcBef>
                <a:spcPts val="0"/>
              </a:spcBef>
              <a:spcAft>
                <a:spcPts val="0"/>
              </a:spcAft>
              <a:defRPr sz="1000" b="0" i="0" kern="1200">
                <a:solidFill>
                  <a:schemeClr val="tx1"/>
                </a:solidFill>
                <a:effectLst/>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fontAlgn="base">
              <a:spcBef>
                <a:spcPct val="0"/>
              </a:spcBef>
              <a:spcAft>
                <a:spcPct val="0"/>
              </a:spcAft>
              <a:defRPr/>
            </a:pPr>
            <a:fld id="{B73EC2E5-49BD-485C-AC97-1BAD0D8F5FC9}" type="slidenum">
              <a:rPr lang="en-US" smtClean="0"/>
              <a:pPr fontAlgn="base">
                <a:spcBef>
                  <a:spcPct val="0"/>
                </a:spcBef>
                <a:spcAft>
                  <a:spcPct val="0"/>
                </a:spcAft>
                <a:defRPr/>
              </a:pPr>
              <a:t>64</a:t>
            </a:fld>
            <a:endParaRPr lang="en-US" altLang="en-US" dirty="0"/>
          </a:p>
        </p:txBody>
      </p:sp>
      <p:sp>
        <p:nvSpPr>
          <p:cNvPr id="9" name="TextBox 8">
            <a:extLst>
              <a:ext uri="{FF2B5EF4-FFF2-40B4-BE49-F238E27FC236}">
                <a16:creationId xmlns:a16="http://schemas.microsoft.com/office/drawing/2014/main" id="{A2547415-93F0-2870-9C8B-4D05913A3821}"/>
              </a:ext>
            </a:extLst>
          </p:cNvPr>
          <p:cNvSpPr txBox="1"/>
          <p:nvPr/>
        </p:nvSpPr>
        <p:spPr>
          <a:xfrm>
            <a:off x="152400" y="3331487"/>
            <a:ext cx="1465509" cy="748903"/>
          </a:xfrm>
          <a:prstGeom prst="rect">
            <a:avLst/>
          </a:prstGeom>
          <a:solidFill>
            <a:schemeClr val="accent1"/>
          </a:solidFill>
          <a:ln>
            <a:solidFill>
              <a:schemeClr val="tx1"/>
            </a:solidFill>
          </a:ln>
        </p:spPr>
        <p:txBody>
          <a:bodyPr wrap="square" lIns="0" tIns="0" rIns="0" bIns="0" rtlCol="0" anchor="ctr">
            <a:noAutofit/>
          </a:bodyPr>
          <a:lstStyle/>
          <a:p>
            <a:pPr algn="ctr"/>
            <a:r>
              <a:rPr lang="en-US" dirty="0"/>
              <a:t>Transformer </a:t>
            </a:r>
            <a:r>
              <a:rPr lang="zh-CN" altLang="en-US" dirty="0"/>
              <a:t>大语言模型</a:t>
            </a:r>
            <a:endParaRPr lang="en-US" dirty="0"/>
          </a:p>
        </p:txBody>
      </p:sp>
      <p:sp>
        <p:nvSpPr>
          <p:cNvPr id="11" name="TextBox 10">
            <a:extLst>
              <a:ext uri="{FF2B5EF4-FFF2-40B4-BE49-F238E27FC236}">
                <a16:creationId xmlns:a16="http://schemas.microsoft.com/office/drawing/2014/main" id="{E5FB357F-B196-D284-4CD9-D867878F858C}"/>
              </a:ext>
            </a:extLst>
          </p:cNvPr>
          <p:cNvSpPr txBox="1"/>
          <p:nvPr/>
        </p:nvSpPr>
        <p:spPr>
          <a:xfrm>
            <a:off x="1945839" y="4997004"/>
            <a:ext cx="1977887" cy="323165"/>
          </a:xfrm>
          <a:prstGeom prst="rect">
            <a:avLst/>
          </a:prstGeom>
          <a:noFill/>
        </p:spPr>
        <p:txBody>
          <a:bodyPr wrap="square" rtlCol="0">
            <a:spAutoFit/>
          </a:bodyPr>
          <a:lstStyle/>
          <a:p>
            <a:pPr algn="ctr"/>
            <a:r>
              <a:rPr lang="zh-CN" altLang="en-US" sz="1500" dirty="0"/>
              <a:t>内部特征表示</a:t>
            </a:r>
            <a:endParaRPr lang="en-US" sz="1500" dirty="0"/>
          </a:p>
        </p:txBody>
      </p:sp>
      <p:sp>
        <p:nvSpPr>
          <p:cNvPr id="14" name="TextBox 13">
            <a:extLst>
              <a:ext uri="{FF2B5EF4-FFF2-40B4-BE49-F238E27FC236}">
                <a16:creationId xmlns:a16="http://schemas.microsoft.com/office/drawing/2014/main" id="{B9A5701D-2C3E-4F00-839E-4E3A5D6670C2}"/>
              </a:ext>
            </a:extLst>
          </p:cNvPr>
          <p:cNvSpPr txBox="1"/>
          <p:nvPr/>
        </p:nvSpPr>
        <p:spPr>
          <a:xfrm>
            <a:off x="2687073" y="5879068"/>
            <a:ext cx="1754256" cy="369332"/>
          </a:xfrm>
          <a:prstGeom prst="rect">
            <a:avLst/>
          </a:prstGeom>
          <a:noFill/>
        </p:spPr>
        <p:txBody>
          <a:bodyPr wrap="square" rtlCol="0">
            <a:spAutoFit/>
          </a:bodyPr>
          <a:lstStyle/>
          <a:p>
            <a:pPr algn="ctr"/>
            <a:r>
              <a:rPr lang="zh-CN" altLang="en-US" dirty="0"/>
              <a:t>输入词符号项</a:t>
            </a:r>
            <a:endParaRPr lang="en-US" dirty="0"/>
          </a:p>
        </p:txBody>
      </p:sp>
      <p:sp>
        <p:nvSpPr>
          <p:cNvPr id="16" name="TextBox 15">
            <a:extLst>
              <a:ext uri="{FF2B5EF4-FFF2-40B4-BE49-F238E27FC236}">
                <a16:creationId xmlns:a16="http://schemas.microsoft.com/office/drawing/2014/main" id="{57DBAB11-E3FE-E334-2A8D-D1B5AEDC0F50}"/>
              </a:ext>
            </a:extLst>
          </p:cNvPr>
          <p:cNvSpPr txBox="1"/>
          <p:nvPr/>
        </p:nvSpPr>
        <p:spPr>
          <a:xfrm>
            <a:off x="2321807" y="5322481"/>
            <a:ext cx="2484783" cy="318540"/>
          </a:xfrm>
          <a:prstGeom prst="rect">
            <a:avLst/>
          </a:prstGeom>
          <a:solidFill>
            <a:schemeClr val="accent1"/>
          </a:solidFill>
          <a:ln>
            <a:solidFill>
              <a:schemeClr val="tx1"/>
            </a:solidFill>
          </a:ln>
        </p:spPr>
        <p:txBody>
          <a:bodyPr wrap="square" rtlCol="0" anchor="ctr">
            <a:noAutofit/>
          </a:bodyPr>
          <a:lstStyle/>
          <a:p>
            <a:pPr algn="ctr"/>
            <a:r>
              <a:rPr lang="zh-CN" altLang="en-US" dirty="0"/>
              <a:t>输入词符号特征表</a:t>
            </a:r>
            <a:endParaRPr lang="en-US" dirty="0"/>
          </a:p>
        </p:txBody>
      </p:sp>
      <p:sp>
        <p:nvSpPr>
          <p:cNvPr id="36" name="TextBox 35">
            <a:extLst>
              <a:ext uri="{FF2B5EF4-FFF2-40B4-BE49-F238E27FC236}">
                <a16:creationId xmlns:a16="http://schemas.microsoft.com/office/drawing/2014/main" id="{7B73BEBB-10B1-595F-EB5B-DFAF536CA8E6}"/>
              </a:ext>
            </a:extLst>
          </p:cNvPr>
          <p:cNvSpPr txBox="1"/>
          <p:nvPr/>
        </p:nvSpPr>
        <p:spPr>
          <a:xfrm>
            <a:off x="2325421" y="4662906"/>
            <a:ext cx="2484783" cy="318540"/>
          </a:xfrm>
          <a:prstGeom prst="rect">
            <a:avLst/>
          </a:prstGeom>
          <a:solidFill>
            <a:schemeClr val="accent1"/>
          </a:solidFill>
          <a:ln>
            <a:solidFill>
              <a:schemeClr val="tx1"/>
            </a:solidFill>
          </a:ln>
        </p:spPr>
        <p:txBody>
          <a:bodyPr wrap="square" rtlCol="0" anchor="ctr">
            <a:noAutofit/>
          </a:bodyPr>
          <a:lstStyle/>
          <a:p>
            <a:pPr algn="ctr"/>
            <a:r>
              <a:rPr lang="en-US" dirty="0"/>
              <a:t>Transformer</a:t>
            </a:r>
            <a:r>
              <a:rPr lang="zh-CN" altLang="en-US" dirty="0"/>
              <a:t>模块</a:t>
            </a:r>
            <a:endParaRPr lang="en-US" dirty="0"/>
          </a:p>
        </p:txBody>
      </p:sp>
      <p:sp>
        <p:nvSpPr>
          <p:cNvPr id="48" name="TextBox 47">
            <a:extLst>
              <a:ext uri="{FF2B5EF4-FFF2-40B4-BE49-F238E27FC236}">
                <a16:creationId xmlns:a16="http://schemas.microsoft.com/office/drawing/2014/main" id="{1AF1B8F8-E309-7442-D71D-32998A69E632}"/>
              </a:ext>
            </a:extLst>
          </p:cNvPr>
          <p:cNvSpPr txBox="1"/>
          <p:nvPr/>
        </p:nvSpPr>
        <p:spPr>
          <a:xfrm>
            <a:off x="2321808" y="3331487"/>
            <a:ext cx="2484783" cy="318540"/>
          </a:xfrm>
          <a:prstGeom prst="rect">
            <a:avLst/>
          </a:prstGeom>
          <a:solidFill>
            <a:schemeClr val="accent1"/>
          </a:solidFill>
          <a:ln>
            <a:solidFill>
              <a:schemeClr val="tx1"/>
            </a:solidFill>
          </a:ln>
        </p:spPr>
        <p:txBody>
          <a:bodyPr wrap="square" rtlCol="0" anchor="ctr">
            <a:noAutofit/>
          </a:bodyPr>
          <a:lstStyle/>
          <a:p>
            <a:pPr algn="ctr"/>
            <a:r>
              <a:rPr lang="en-US" dirty="0"/>
              <a:t>Transforme</a:t>
            </a:r>
            <a:r>
              <a:rPr lang="en-US" altLang="zh-CN" dirty="0"/>
              <a:t>r</a:t>
            </a:r>
            <a:r>
              <a:rPr lang="zh-CN" altLang="en-US" dirty="0"/>
              <a:t>模块</a:t>
            </a:r>
            <a:endParaRPr lang="en-US" dirty="0"/>
          </a:p>
        </p:txBody>
      </p:sp>
      <p:sp>
        <p:nvSpPr>
          <p:cNvPr id="52" name="TextBox 51">
            <a:extLst>
              <a:ext uri="{FF2B5EF4-FFF2-40B4-BE49-F238E27FC236}">
                <a16:creationId xmlns:a16="http://schemas.microsoft.com/office/drawing/2014/main" id="{BBFCA9B8-C700-A6E2-EFC2-C48CF634A048}"/>
              </a:ext>
            </a:extLst>
          </p:cNvPr>
          <p:cNvSpPr txBox="1"/>
          <p:nvPr/>
        </p:nvSpPr>
        <p:spPr>
          <a:xfrm>
            <a:off x="2321808" y="2694822"/>
            <a:ext cx="2484783" cy="318540"/>
          </a:xfrm>
          <a:prstGeom prst="rect">
            <a:avLst/>
          </a:prstGeom>
          <a:solidFill>
            <a:schemeClr val="accent1"/>
          </a:solidFill>
          <a:ln>
            <a:solidFill>
              <a:schemeClr val="tx1"/>
            </a:solidFill>
          </a:ln>
        </p:spPr>
        <p:txBody>
          <a:bodyPr wrap="square" rtlCol="0" anchor="ctr">
            <a:noAutofit/>
          </a:bodyPr>
          <a:lstStyle/>
          <a:p>
            <a:pPr algn="ctr"/>
            <a:r>
              <a:rPr lang="zh-CN" altLang="en-US" dirty="0"/>
              <a:t>输出层</a:t>
            </a:r>
            <a:endParaRPr lang="en-US" dirty="0"/>
          </a:p>
        </p:txBody>
      </p:sp>
      <p:sp>
        <p:nvSpPr>
          <p:cNvPr id="55" name="TextBox 54">
            <a:extLst>
              <a:ext uri="{FF2B5EF4-FFF2-40B4-BE49-F238E27FC236}">
                <a16:creationId xmlns:a16="http://schemas.microsoft.com/office/drawing/2014/main" id="{676DA8E1-141E-BCD5-EAAF-3F68D8197087}"/>
              </a:ext>
            </a:extLst>
          </p:cNvPr>
          <p:cNvSpPr txBox="1"/>
          <p:nvPr/>
        </p:nvSpPr>
        <p:spPr>
          <a:xfrm>
            <a:off x="2575257" y="3985597"/>
            <a:ext cx="1977887" cy="323165"/>
          </a:xfrm>
          <a:prstGeom prst="rect">
            <a:avLst/>
          </a:prstGeom>
          <a:noFill/>
        </p:spPr>
        <p:txBody>
          <a:bodyPr wrap="square" rtlCol="0">
            <a:spAutoFit/>
          </a:bodyPr>
          <a:lstStyle/>
          <a:p>
            <a:pPr algn="ctr"/>
            <a:r>
              <a:rPr lang="en-US" sz="1500" dirty="0"/>
              <a:t>…</a:t>
            </a:r>
          </a:p>
        </p:txBody>
      </p:sp>
      <p:sp>
        <p:nvSpPr>
          <p:cNvPr id="61" name="TextBox 60">
            <a:extLst>
              <a:ext uri="{FF2B5EF4-FFF2-40B4-BE49-F238E27FC236}">
                <a16:creationId xmlns:a16="http://schemas.microsoft.com/office/drawing/2014/main" id="{45631E6D-D6C6-0065-FFD3-AE35190BDB14}"/>
              </a:ext>
            </a:extLst>
          </p:cNvPr>
          <p:cNvSpPr txBox="1"/>
          <p:nvPr/>
        </p:nvSpPr>
        <p:spPr>
          <a:xfrm>
            <a:off x="1999623" y="1999098"/>
            <a:ext cx="3133312" cy="369332"/>
          </a:xfrm>
          <a:prstGeom prst="rect">
            <a:avLst/>
          </a:prstGeom>
          <a:noFill/>
        </p:spPr>
        <p:txBody>
          <a:bodyPr wrap="square" rtlCol="0">
            <a:spAutoFit/>
          </a:bodyPr>
          <a:lstStyle/>
          <a:p>
            <a:pPr algn="ctr"/>
            <a:r>
              <a:rPr lang="zh-CN" altLang="en-US" dirty="0"/>
              <a:t>输出词符号项概率</a:t>
            </a:r>
            <a:endParaRPr lang="en-US" dirty="0"/>
          </a:p>
        </p:txBody>
      </p:sp>
      <p:sp>
        <p:nvSpPr>
          <p:cNvPr id="2" name="TextBox 1">
            <a:extLst>
              <a:ext uri="{FF2B5EF4-FFF2-40B4-BE49-F238E27FC236}">
                <a16:creationId xmlns:a16="http://schemas.microsoft.com/office/drawing/2014/main" id="{2A6344B5-6EBA-ABA2-F71E-4962969C2CED}"/>
              </a:ext>
            </a:extLst>
          </p:cNvPr>
          <p:cNvSpPr txBox="1"/>
          <p:nvPr/>
        </p:nvSpPr>
        <p:spPr>
          <a:xfrm>
            <a:off x="5572689" y="2301058"/>
            <a:ext cx="3082607" cy="245930"/>
          </a:xfrm>
          <a:prstGeom prst="rect">
            <a:avLst/>
          </a:prstGeom>
          <a:solidFill>
            <a:schemeClr val="accent1"/>
          </a:solidFill>
          <a:ln>
            <a:solidFill>
              <a:schemeClr val="tx1"/>
            </a:solidFill>
          </a:ln>
        </p:spPr>
        <p:txBody>
          <a:bodyPr wrap="square" rtlCol="0" anchor="ctr">
            <a:noAutofit/>
          </a:bodyPr>
          <a:lstStyle/>
          <a:p>
            <a:pPr algn="ctr"/>
            <a:r>
              <a:rPr lang="zh-CN" altLang="en-US" dirty="0"/>
              <a:t>归一化</a:t>
            </a:r>
            <a:endParaRPr lang="en-US" dirty="0"/>
          </a:p>
        </p:txBody>
      </p:sp>
      <p:cxnSp>
        <p:nvCxnSpPr>
          <p:cNvPr id="3" name="Straight Arrow Connector 2">
            <a:extLst>
              <a:ext uri="{FF2B5EF4-FFF2-40B4-BE49-F238E27FC236}">
                <a16:creationId xmlns:a16="http://schemas.microsoft.com/office/drawing/2014/main" id="{E6D7FF1A-429D-967B-957D-EAB14E0BC716}"/>
              </a:ext>
            </a:extLst>
          </p:cNvPr>
          <p:cNvCxnSpPr>
            <a:cxnSpLocks/>
            <a:endCxn id="10" idx="2"/>
          </p:cNvCxnSpPr>
          <p:nvPr/>
        </p:nvCxnSpPr>
        <p:spPr>
          <a:xfrm flipV="1">
            <a:off x="7103087" y="5703199"/>
            <a:ext cx="7518" cy="346730"/>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3272B50-41B4-8CB2-55C5-614611564750}"/>
              </a:ext>
            </a:extLst>
          </p:cNvPr>
          <p:cNvSpPr txBox="1"/>
          <p:nvPr/>
        </p:nvSpPr>
        <p:spPr>
          <a:xfrm>
            <a:off x="5572689" y="3904482"/>
            <a:ext cx="3075837" cy="274740"/>
          </a:xfrm>
          <a:prstGeom prst="rect">
            <a:avLst/>
          </a:prstGeom>
          <a:solidFill>
            <a:schemeClr val="accent1"/>
          </a:solidFill>
          <a:ln>
            <a:solidFill>
              <a:schemeClr val="tx1"/>
            </a:solidFill>
          </a:ln>
        </p:spPr>
        <p:txBody>
          <a:bodyPr wrap="square" rtlCol="0" anchor="ctr">
            <a:noAutofit/>
          </a:bodyPr>
          <a:lstStyle/>
          <a:p>
            <a:pPr algn="ctr"/>
            <a:r>
              <a:rPr lang="zh-CN" altLang="en-US" dirty="0"/>
              <a:t>归一化</a:t>
            </a:r>
            <a:endParaRPr lang="en-US" dirty="0"/>
          </a:p>
        </p:txBody>
      </p:sp>
      <p:sp>
        <p:nvSpPr>
          <p:cNvPr id="10" name="TextBox 9">
            <a:extLst>
              <a:ext uri="{FF2B5EF4-FFF2-40B4-BE49-F238E27FC236}">
                <a16:creationId xmlns:a16="http://schemas.microsoft.com/office/drawing/2014/main" id="{B522A171-73FD-840C-B592-448DBD7CEC6D}"/>
              </a:ext>
            </a:extLst>
          </p:cNvPr>
          <p:cNvSpPr txBox="1"/>
          <p:nvPr/>
        </p:nvSpPr>
        <p:spPr>
          <a:xfrm>
            <a:off x="5572688" y="5428902"/>
            <a:ext cx="3075833" cy="274297"/>
          </a:xfrm>
          <a:prstGeom prst="rect">
            <a:avLst/>
          </a:prstGeom>
          <a:solidFill>
            <a:schemeClr val="accent1"/>
          </a:solidFill>
          <a:ln>
            <a:solidFill>
              <a:schemeClr val="tx1"/>
            </a:solidFill>
          </a:ln>
        </p:spPr>
        <p:txBody>
          <a:bodyPr wrap="square" rtlCol="0" anchor="ctr">
            <a:noAutofit/>
          </a:bodyPr>
          <a:lstStyle/>
          <a:p>
            <a:pPr algn="ctr"/>
            <a:r>
              <a:rPr lang="zh-CN" altLang="en-US" dirty="0"/>
              <a:t>查询、键、值映射</a:t>
            </a:r>
            <a:endParaRPr lang="en-US" dirty="0"/>
          </a:p>
        </p:txBody>
      </p:sp>
      <p:sp>
        <p:nvSpPr>
          <p:cNvPr id="12" name="TextBox 11">
            <a:extLst>
              <a:ext uri="{FF2B5EF4-FFF2-40B4-BE49-F238E27FC236}">
                <a16:creationId xmlns:a16="http://schemas.microsoft.com/office/drawing/2014/main" id="{E79DE9D0-DE03-15E1-5006-054FB1619BD5}"/>
              </a:ext>
            </a:extLst>
          </p:cNvPr>
          <p:cNvSpPr txBox="1"/>
          <p:nvPr/>
        </p:nvSpPr>
        <p:spPr>
          <a:xfrm>
            <a:off x="5572689" y="4949166"/>
            <a:ext cx="3075835" cy="279320"/>
          </a:xfrm>
          <a:prstGeom prst="rect">
            <a:avLst/>
          </a:prstGeom>
          <a:solidFill>
            <a:schemeClr val="accent1"/>
          </a:solidFill>
          <a:ln>
            <a:solidFill>
              <a:schemeClr val="tx1"/>
            </a:solidFill>
          </a:ln>
        </p:spPr>
        <p:txBody>
          <a:bodyPr wrap="square" rtlCol="0" anchor="ctr">
            <a:noAutofit/>
          </a:bodyPr>
          <a:lstStyle/>
          <a:p>
            <a:pPr algn="ctr"/>
            <a:r>
              <a:rPr lang="zh-CN" altLang="en-US" dirty="0"/>
              <a:t>多头绪注意力机制</a:t>
            </a:r>
            <a:endParaRPr lang="en-US" dirty="0"/>
          </a:p>
        </p:txBody>
      </p:sp>
      <p:sp>
        <p:nvSpPr>
          <p:cNvPr id="13" name="TextBox 12">
            <a:extLst>
              <a:ext uri="{FF2B5EF4-FFF2-40B4-BE49-F238E27FC236}">
                <a16:creationId xmlns:a16="http://schemas.microsoft.com/office/drawing/2014/main" id="{DFAA6D80-8A8E-CC6B-14C2-EEBA9B5E5992}"/>
              </a:ext>
            </a:extLst>
          </p:cNvPr>
          <p:cNvSpPr txBox="1"/>
          <p:nvPr/>
        </p:nvSpPr>
        <p:spPr>
          <a:xfrm>
            <a:off x="5572689" y="4429732"/>
            <a:ext cx="3075837" cy="290240"/>
          </a:xfrm>
          <a:prstGeom prst="rect">
            <a:avLst/>
          </a:prstGeom>
          <a:solidFill>
            <a:schemeClr val="accent1"/>
          </a:solidFill>
          <a:ln>
            <a:solidFill>
              <a:schemeClr val="tx1"/>
            </a:solidFill>
          </a:ln>
        </p:spPr>
        <p:txBody>
          <a:bodyPr wrap="square" rtlCol="0" anchor="ctr">
            <a:noAutofit/>
          </a:bodyPr>
          <a:lstStyle/>
          <a:p>
            <a:pPr algn="ctr"/>
            <a:r>
              <a:rPr lang="zh-CN" altLang="en-US" dirty="0"/>
              <a:t>注意力输出映射</a:t>
            </a:r>
            <a:endParaRPr lang="en-US" dirty="0"/>
          </a:p>
        </p:txBody>
      </p:sp>
      <p:cxnSp>
        <p:nvCxnSpPr>
          <p:cNvPr id="15" name="Straight Arrow Connector 14">
            <a:extLst>
              <a:ext uri="{FF2B5EF4-FFF2-40B4-BE49-F238E27FC236}">
                <a16:creationId xmlns:a16="http://schemas.microsoft.com/office/drawing/2014/main" id="{1ADA3849-E8BF-335E-1EAF-BC438A57AB41}"/>
              </a:ext>
            </a:extLst>
          </p:cNvPr>
          <p:cNvCxnSpPr>
            <a:cxnSpLocks/>
            <a:stCxn id="2" idx="0"/>
          </p:cNvCxnSpPr>
          <p:nvPr/>
        </p:nvCxnSpPr>
        <p:spPr>
          <a:xfrm flipV="1">
            <a:off x="7113993" y="1999098"/>
            <a:ext cx="0" cy="301960"/>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3CB3A2E-4817-B209-A8C4-42E2F2E7B550}"/>
              </a:ext>
            </a:extLst>
          </p:cNvPr>
          <p:cNvCxnSpPr>
            <a:cxnSpLocks/>
            <a:stCxn id="10" idx="0"/>
            <a:endCxn id="12" idx="2"/>
          </p:cNvCxnSpPr>
          <p:nvPr/>
        </p:nvCxnSpPr>
        <p:spPr>
          <a:xfrm flipV="1">
            <a:off x="7110605" y="5228486"/>
            <a:ext cx="2" cy="200416"/>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C592C80-42FA-8AC1-CEA6-D7256B947660}"/>
              </a:ext>
            </a:extLst>
          </p:cNvPr>
          <p:cNvCxnSpPr>
            <a:cxnSpLocks/>
            <a:stCxn id="12" idx="0"/>
            <a:endCxn id="13" idx="2"/>
          </p:cNvCxnSpPr>
          <p:nvPr/>
        </p:nvCxnSpPr>
        <p:spPr>
          <a:xfrm flipV="1">
            <a:off x="7110607" y="4719972"/>
            <a:ext cx="1" cy="229194"/>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3BF3A07-EE70-E38D-98CE-A64FD27B1671}"/>
              </a:ext>
            </a:extLst>
          </p:cNvPr>
          <p:cNvCxnSpPr>
            <a:cxnSpLocks/>
            <a:stCxn id="13" idx="0"/>
            <a:endCxn id="8" idx="2"/>
          </p:cNvCxnSpPr>
          <p:nvPr/>
        </p:nvCxnSpPr>
        <p:spPr>
          <a:xfrm flipV="1">
            <a:off x="7110608" y="4179222"/>
            <a:ext cx="0" cy="250510"/>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3E1A7A3-AFDF-CF1D-DB1A-1A2764EDBEEA}"/>
              </a:ext>
            </a:extLst>
          </p:cNvPr>
          <p:cNvCxnSpPr>
            <a:cxnSpLocks/>
            <a:stCxn id="8" idx="0"/>
            <a:endCxn id="42" idx="2"/>
          </p:cNvCxnSpPr>
          <p:nvPr/>
        </p:nvCxnSpPr>
        <p:spPr>
          <a:xfrm flipH="1" flipV="1">
            <a:off x="7110607" y="3607722"/>
            <a:ext cx="1" cy="296760"/>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8A13CC0-3C3F-9E64-73E3-1A4DFCC35B89}"/>
              </a:ext>
            </a:extLst>
          </p:cNvPr>
          <p:cNvCxnSpPr>
            <a:cxnSpLocks/>
            <a:stCxn id="42" idx="0"/>
            <a:endCxn id="44" idx="2"/>
          </p:cNvCxnSpPr>
          <p:nvPr/>
        </p:nvCxnSpPr>
        <p:spPr>
          <a:xfrm flipH="1" flipV="1">
            <a:off x="7107221" y="3078186"/>
            <a:ext cx="3386" cy="241196"/>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6B360F8-FEEE-FC8A-52FD-8C30092FD571}"/>
              </a:ext>
            </a:extLst>
          </p:cNvPr>
          <p:cNvSpPr txBox="1"/>
          <p:nvPr/>
        </p:nvSpPr>
        <p:spPr>
          <a:xfrm>
            <a:off x="5572690" y="3319382"/>
            <a:ext cx="3075834" cy="288340"/>
          </a:xfrm>
          <a:prstGeom prst="rect">
            <a:avLst/>
          </a:prstGeom>
          <a:solidFill>
            <a:schemeClr val="accent2">
              <a:lumMod val="20000"/>
              <a:lumOff val="80000"/>
            </a:schemeClr>
          </a:solidFill>
          <a:ln>
            <a:solidFill>
              <a:schemeClr val="tx1"/>
            </a:solidFill>
          </a:ln>
        </p:spPr>
        <p:txBody>
          <a:bodyPr wrap="square" rtlCol="0" anchor="ctr">
            <a:noAutofit/>
          </a:bodyPr>
          <a:lstStyle/>
          <a:p>
            <a:pPr algn="ctr"/>
            <a:r>
              <a:rPr lang="zh-CN" altLang="en-US" b="1" dirty="0">
                <a:solidFill>
                  <a:srgbClr val="C00000"/>
                </a:solidFill>
              </a:rPr>
              <a:t>多层感知器</a:t>
            </a:r>
            <a:r>
              <a:rPr lang="zh-CN" altLang="en-US" dirty="0"/>
              <a:t>中的上映射层</a:t>
            </a:r>
            <a:endParaRPr lang="en-US" dirty="0"/>
          </a:p>
        </p:txBody>
      </p:sp>
      <p:sp>
        <p:nvSpPr>
          <p:cNvPr id="44" name="TextBox 43">
            <a:extLst>
              <a:ext uri="{FF2B5EF4-FFF2-40B4-BE49-F238E27FC236}">
                <a16:creationId xmlns:a16="http://schemas.microsoft.com/office/drawing/2014/main" id="{1AC79951-9297-32FF-A99D-F8FBEF3957A4}"/>
              </a:ext>
            </a:extLst>
          </p:cNvPr>
          <p:cNvSpPr txBox="1"/>
          <p:nvPr/>
        </p:nvSpPr>
        <p:spPr>
          <a:xfrm>
            <a:off x="5565918" y="2832256"/>
            <a:ext cx="3082606" cy="245930"/>
          </a:xfrm>
          <a:prstGeom prst="rect">
            <a:avLst/>
          </a:prstGeom>
          <a:solidFill>
            <a:schemeClr val="accent2">
              <a:lumMod val="20000"/>
              <a:lumOff val="80000"/>
            </a:schemeClr>
          </a:solidFill>
          <a:ln>
            <a:solidFill>
              <a:schemeClr val="tx1"/>
            </a:solidFill>
          </a:ln>
        </p:spPr>
        <p:txBody>
          <a:bodyPr wrap="square" rtlCol="0" anchor="ctr">
            <a:noAutofit/>
          </a:bodyPr>
          <a:lstStyle/>
          <a:p>
            <a:pPr algn="ctr"/>
            <a:r>
              <a:rPr lang="zh-CN" altLang="en-US" b="1" dirty="0">
                <a:solidFill>
                  <a:srgbClr val="C00000"/>
                </a:solidFill>
              </a:rPr>
              <a:t>多层感知器</a:t>
            </a:r>
            <a:r>
              <a:rPr lang="zh-CN" altLang="en-US" dirty="0"/>
              <a:t>中的下映射层</a:t>
            </a:r>
            <a:endParaRPr lang="en-US" dirty="0"/>
          </a:p>
        </p:txBody>
      </p:sp>
      <p:cxnSp>
        <p:nvCxnSpPr>
          <p:cNvPr id="56" name="Straight Arrow Connector 55">
            <a:extLst>
              <a:ext uri="{FF2B5EF4-FFF2-40B4-BE49-F238E27FC236}">
                <a16:creationId xmlns:a16="http://schemas.microsoft.com/office/drawing/2014/main" id="{9458BAF7-773B-36FB-8759-C4B68674DEA6}"/>
              </a:ext>
            </a:extLst>
          </p:cNvPr>
          <p:cNvCxnSpPr>
            <a:cxnSpLocks/>
            <a:stCxn id="44" idx="0"/>
            <a:endCxn id="2" idx="2"/>
          </p:cNvCxnSpPr>
          <p:nvPr/>
        </p:nvCxnSpPr>
        <p:spPr>
          <a:xfrm flipV="1">
            <a:off x="7107221" y="2546988"/>
            <a:ext cx="6772" cy="285268"/>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6F3B590-32AB-0F6A-F204-4726248EB5B4}"/>
              </a:ext>
            </a:extLst>
          </p:cNvPr>
          <p:cNvCxnSpPr>
            <a:cxnSpLocks/>
          </p:cNvCxnSpPr>
          <p:nvPr/>
        </p:nvCxnSpPr>
        <p:spPr>
          <a:xfrm>
            <a:off x="7095437" y="5966109"/>
            <a:ext cx="1715963" cy="0"/>
          </a:xfrm>
          <a:prstGeom prst="straightConnector1">
            <a:avLst/>
          </a:prstGeom>
          <a:ln w="12700">
            <a:solidFill>
              <a:schemeClr val="tx1"/>
            </a:solidFill>
            <a:headEnd w="med" len="lg"/>
            <a:tailEnd type="none" w="med"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3921FA6-DDF0-900B-4985-F01890A7BA42}"/>
              </a:ext>
            </a:extLst>
          </p:cNvPr>
          <p:cNvCxnSpPr>
            <a:cxnSpLocks/>
          </p:cNvCxnSpPr>
          <p:nvPr/>
        </p:nvCxnSpPr>
        <p:spPr>
          <a:xfrm flipV="1">
            <a:off x="7095437" y="4322491"/>
            <a:ext cx="1707211" cy="8078"/>
          </a:xfrm>
          <a:prstGeom prst="straightConnector1">
            <a:avLst/>
          </a:prstGeom>
          <a:ln w="127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22528" name="Straight Arrow Connector 22527">
            <a:extLst>
              <a:ext uri="{FF2B5EF4-FFF2-40B4-BE49-F238E27FC236}">
                <a16:creationId xmlns:a16="http://schemas.microsoft.com/office/drawing/2014/main" id="{9EE0A266-C1E0-87C8-9B22-09E0AF367D95}"/>
              </a:ext>
            </a:extLst>
          </p:cNvPr>
          <p:cNvCxnSpPr>
            <a:cxnSpLocks/>
          </p:cNvCxnSpPr>
          <p:nvPr/>
        </p:nvCxnSpPr>
        <p:spPr>
          <a:xfrm>
            <a:off x="8802648" y="4308762"/>
            <a:ext cx="8753" cy="1657347"/>
          </a:xfrm>
          <a:prstGeom prst="straightConnector1">
            <a:avLst/>
          </a:prstGeom>
          <a:ln w="12700">
            <a:solidFill>
              <a:schemeClr val="tx1"/>
            </a:solidFill>
            <a:headEnd w="med" len="lg"/>
            <a:tailEnd type="none" w="med" len="lg"/>
          </a:ln>
        </p:spPr>
        <p:style>
          <a:lnRef idx="1">
            <a:schemeClr val="accent1"/>
          </a:lnRef>
          <a:fillRef idx="0">
            <a:schemeClr val="accent1"/>
          </a:fillRef>
          <a:effectRef idx="0">
            <a:schemeClr val="accent1"/>
          </a:effectRef>
          <a:fontRef idx="minor">
            <a:schemeClr val="tx1"/>
          </a:fontRef>
        </p:style>
      </p:cxnSp>
      <p:sp>
        <p:nvSpPr>
          <p:cNvPr id="22550" name="TextBox 22549">
            <a:extLst>
              <a:ext uri="{FF2B5EF4-FFF2-40B4-BE49-F238E27FC236}">
                <a16:creationId xmlns:a16="http://schemas.microsoft.com/office/drawing/2014/main" id="{FEC9BBA9-BBE7-308F-3F92-24FC8C59A00E}"/>
              </a:ext>
            </a:extLst>
          </p:cNvPr>
          <p:cNvSpPr txBox="1"/>
          <p:nvPr/>
        </p:nvSpPr>
        <p:spPr>
          <a:xfrm>
            <a:off x="7148109" y="4044650"/>
            <a:ext cx="339175" cy="369332"/>
          </a:xfrm>
          <a:prstGeom prst="rect">
            <a:avLst/>
          </a:prstGeom>
          <a:noFill/>
        </p:spPr>
        <p:txBody>
          <a:bodyPr wrap="square" rtlCol="0">
            <a:spAutoFit/>
          </a:bodyPr>
          <a:lstStyle/>
          <a:p>
            <a:r>
              <a:rPr lang="en-US" dirty="0"/>
              <a:t>+</a:t>
            </a:r>
          </a:p>
        </p:txBody>
      </p:sp>
      <p:cxnSp>
        <p:nvCxnSpPr>
          <p:cNvPr id="22551" name="Straight Arrow Connector 22550">
            <a:extLst>
              <a:ext uri="{FF2B5EF4-FFF2-40B4-BE49-F238E27FC236}">
                <a16:creationId xmlns:a16="http://schemas.microsoft.com/office/drawing/2014/main" id="{13DCFE0B-D892-FE58-18F7-4F3A16CBDD57}"/>
              </a:ext>
            </a:extLst>
          </p:cNvPr>
          <p:cNvCxnSpPr>
            <a:cxnSpLocks/>
          </p:cNvCxnSpPr>
          <p:nvPr/>
        </p:nvCxnSpPr>
        <p:spPr>
          <a:xfrm>
            <a:off x="7110604" y="3792980"/>
            <a:ext cx="1700796" cy="0"/>
          </a:xfrm>
          <a:prstGeom prst="straightConnector1">
            <a:avLst/>
          </a:prstGeom>
          <a:ln w="12700">
            <a:solidFill>
              <a:schemeClr val="tx1"/>
            </a:solidFill>
            <a:headEnd w="med" len="lg"/>
            <a:tailEnd type="none" w="med" len="lg"/>
          </a:ln>
        </p:spPr>
        <p:style>
          <a:lnRef idx="1">
            <a:schemeClr val="accent1"/>
          </a:lnRef>
          <a:fillRef idx="0">
            <a:schemeClr val="accent1"/>
          </a:fillRef>
          <a:effectRef idx="0">
            <a:schemeClr val="accent1"/>
          </a:effectRef>
          <a:fontRef idx="minor">
            <a:schemeClr val="tx1"/>
          </a:fontRef>
        </p:style>
      </p:cxnSp>
      <p:cxnSp>
        <p:nvCxnSpPr>
          <p:cNvPr id="22552" name="Straight Arrow Connector 22551">
            <a:extLst>
              <a:ext uri="{FF2B5EF4-FFF2-40B4-BE49-F238E27FC236}">
                <a16:creationId xmlns:a16="http://schemas.microsoft.com/office/drawing/2014/main" id="{29537953-BF53-3BED-5612-64C7469EA23D}"/>
              </a:ext>
            </a:extLst>
          </p:cNvPr>
          <p:cNvCxnSpPr>
            <a:cxnSpLocks/>
          </p:cNvCxnSpPr>
          <p:nvPr/>
        </p:nvCxnSpPr>
        <p:spPr>
          <a:xfrm>
            <a:off x="8811401" y="2752674"/>
            <a:ext cx="0" cy="1065138"/>
          </a:xfrm>
          <a:prstGeom prst="straightConnector1">
            <a:avLst/>
          </a:prstGeom>
          <a:ln w="12700">
            <a:solidFill>
              <a:schemeClr val="tx1"/>
            </a:solidFill>
            <a:headEnd w="med" len="lg"/>
            <a:tailEnd type="none" w="med" len="lg"/>
          </a:ln>
        </p:spPr>
        <p:style>
          <a:lnRef idx="1">
            <a:schemeClr val="accent1"/>
          </a:lnRef>
          <a:fillRef idx="0">
            <a:schemeClr val="accent1"/>
          </a:fillRef>
          <a:effectRef idx="0">
            <a:schemeClr val="accent1"/>
          </a:effectRef>
          <a:fontRef idx="minor">
            <a:schemeClr val="tx1"/>
          </a:fontRef>
        </p:style>
      </p:cxnSp>
      <p:cxnSp>
        <p:nvCxnSpPr>
          <p:cNvPr id="22555" name="Straight Arrow Connector 22554">
            <a:extLst>
              <a:ext uri="{FF2B5EF4-FFF2-40B4-BE49-F238E27FC236}">
                <a16:creationId xmlns:a16="http://schemas.microsoft.com/office/drawing/2014/main" id="{818FE670-EA60-742F-83E8-107689D06B3E}"/>
              </a:ext>
            </a:extLst>
          </p:cNvPr>
          <p:cNvCxnSpPr>
            <a:cxnSpLocks/>
          </p:cNvCxnSpPr>
          <p:nvPr/>
        </p:nvCxnSpPr>
        <p:spPr>
          <a:xfrm>
            <a:off x="7103087" y="2752674"/>
            <a:ext cx="1699561" cy="18299"/>
          </a:xfrm>
          <a:prstGeom prst="straightConnector1">
            <a:avLst/>
          </a:prstGeom>
          <a:ln w="12700">
            <a:solidFill>
              <a:schemeClr val="tx1"/>
            </a:solidFill>
            <a:headEnd type="triangle" w="med" len="lg"/>
            <a:tailEnd type="none" w="med" len="lg"/>
          </a:ln>
        </p:spPr>
        <p:style>
          <a:lnRef idx="1">
            <a:schemeClr val="accent1"/>
          </a:lnRef>
          <a:fillRef idx="0">
            <a:schemeClr val="accent1"/>
          </a:fillRef>
          <a:effectRef idx="0">
            <a:schemeClr val="accent1"/>
          </a:effectRef>
          <a:fontRef idx="minor">
            <a:schemeClr val="tx1"/>
          </a:fontRef>
        </p:style>
      </p:cxnSp>
      <p:sp>
        <p:nvSpPr>
          <p:cNvPr id="22557" name="TextBox 22556">
            <a:extLst>
              <a:ext uri="{FF2B5EF4-FFF2-40B4-BE49-F238E27FC236}">
                <a16:creationId xmlns:a16="http://schemas.microsoft.com/office/drawing/2014/main" id="{83CF1B21-E8B1-6FE7-CF02-ED4EBC6AFACD}"/>
              </a:ext>
            </a:extLst>
          </p:cNvPr>
          <p:cNvSpPr txBox="1"/>
          <p:nvPr/>
        </p:nvSpPr>
        <p:spPr>
          <a:xfrm>
            <a:off x="7143338" y="2462530"/>
            <a:ext cx="339175" cy="369332"/>
          </a:xfrm>
          <a:prstGeom prst="rect">
            <a:avLst/>
          </a:prstGeom>
          <a:noFill/>
        </p:spPr>
        <p:txBody>
          <a:bodyPr wrap="square" rtlCol="0">
            <a:spAutoFit/>
          </a:bodyPr>
          <a:lstStyle/>
          <a:p>
            <a:r>
              <a:rPr lang="en-US" dirty="0"/>
              <a:t>+</a:t>
            </a:r>
          </a:p>
        </p:txBody>
      </p:sp>
      <p:cxnSp>
        <p:nvCxnSpPr>
          <p:cNvPr id="22560" name="Straight Arrow Connector 22559">
            <a:extLst>
              <a:ext uri="{FF2B5EF4-FFF2-40B4-BE49-F238E27FC236}">
                <a16:creationId xmlns:a16="http://schemas.microsoft.com/office/drawing/2014/main" id="{40FCC913-6D51-DD75-669E-A71EF5F8D36A}"/>
              </a:ext>
            </a:extLst>
          </p:cNvPr>
          <p:cNvCxnSpPr>
            <a:cxnSpLocks/>
          </p:cNvCxnSpPr>
          <p:nvPr/>
        </p:nvCxnSpPr>
        <p:spPr>
          <a:xfrm flipV="1">
            <a:off x="1562481" y="2232817"/>
            <a:ext cx="759327" cy="1076312"/>
          </a:xfrm>
          <a:prstGeom prst="straightConnector1">
            <a:avLst/>
          </a:prstGeom>
          <a:ln w="12700">
            <a:solidFill>
              <a:schemeClr val="bg2">
                <a:lumMod val="40000"/>
                <a:lumOff val="60000"/>
              </a:schemeClr>
            </a:solidFill>
            <a:prstDash val="dash"/>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2562" name="Straight Arrow Connector 22561">
            <a:extLst>
              <a:ext uri="{FF2B5EF4-FFF2-40B4-BE49-F238E27FC236}">
                <a16:creationId xmlns:a16="http://schemas.microsoft.com/office/drawing/2014/main" id="{7C584E0A-448E-3C62-ACDE-0B6384FF8453}"/>
              </a:ext>
            </a:extLst>
          </p:cNvPr>
          <p:cNvCxnSpPr>
            <a:cxnSpLocks/>
          </p:cNvCxnSpPr>
          <p:nvPr/>
        </p:nvCxnSpPr>
        <p:spPr>
          <a:xfrm>
            <a:off x="1580575" y="4147179"/>
            <a:ext cx="645126" cy="1313298"/>
          </a:xfrm>
          <a:prstGeom prst="straightConnector1">
            <a:avLst/>
          </a:prstGeom>
          <a:ln w="12700">
            <a:solidFill>
              <a:schemeClr val="bg2">
                <a:lumMod val="40000"/>
                <a:lumOff val="60000"/>
              </a:schemeClr>
            </a:solidFill>
            <a:prstDash val="dash"/>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2565" name="Straight Arrow Connector 22564">
            <a:extLst>
              <a:ext uri="{FF2B5EF4-FFF2-40B4-BE49-F238E27FC236}">
                <a16:creationId xmlns:a16="http://schemas.microsoft.com/office/drawing/2014/main" id="{ABB2BE01-50D9-5963-F83D-A9A8891CD0A3}"/>
              </a:ext>
            </a:extLst>
          </p:cNvPr>
          <p:cNvCxnSpPr>
            <a:cxnSpLocks/>
          </p:cNvCxnSpPr>
          <p:nvPr/>
        </p:nvCxnSpPr>
        <p:spPr>
          <a:xfrm flipV="1">
            <a:off x="4838428" y="2183764"/>
            <a:ext cx="618072" cy="2439323"/>
          </a:xfrm>
          <a:prstGeom prst="straightConnector1">
            <a:avLst/>
          </a:prstGeom>
          <a:ln w="12700">
            <a:solidFill>
              <a:schemeClr val="bg2">
                <a:lumMod val="40000"/>
                <a:lumOff val="60000"/>
              </a:schemeClr>
            </a:solidFill>
            <a:prstDash val="dash"/>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2568" name="Straight Arrow Connector 22567">
            <a:extLst>
              <a:ext uri="{FF2B5EF4-FFF2-40B4-BE49-F238E27FC236}">
                <a16:creationId xmlns:a16="http://schemas.microsoft.com/office/drawing/2014/main" id="{A531B4C2-B6BB-01FD-6721-579D2619CB5D}"/>
              </a:ext>
            </a:extLst>
          </p:cNvPr>
          <p:cNvCxnSpPr>
            <a:cxnSpLocks/>
          </p:cNvCxnSpPr>
          <p:nvPr/>
        </p:nvCxnSpPr>
        <p:spPr>
          <a:xfrm>
            <a:off x="4897297" y="4981446"/>
            <a:ext cx="515283" cy="541970"/>
          </a:xfrm>
          <a:prstGeom prst="straightConnector1">
            <a:avLst/>
          </a:prstGeom>
          <a:ln w="12700">
            <a:solidFill>
              <a:schemeClr val="bg2">
                <a:lumMod val="40000"/>
                <a:lumOff val="60000"/>
              </a:schemeClr>
            </a:solidFill>
            <a:prstDash val="dash"/>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021822A-12EE-049A-2A5B-C8F519417BA4}"/>
              </a:ext>
            </a:extLst>
          </p:cNvPr>
          <p:cNvCxnSpPr>
            <a:cxnSpLocks/>
            <a:stCxn id="14" idx="0"/>
            <a:endCxn id="16" idx="2"/>
          </p:cNvCxnSpPr>
          <p:nvPr/>
        </p:nvCxnSpPr>
        <p:spPr>
          <a:xfrm flipH="1" flipV="1">
            <a:off x="3564199" y="5641021"/>
            <a:ext cx="2" cy="238047"/>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FD18A00-97A5-F83E-0C89-A3959CFC5A52}"/>
              </a:ext>
            </a:extLst>
          </p:cNvPr>
          <p:cNvCxnSpPr>
            <a:cxnSpLocks/>
            <a:stCxn id="16" idx="0"/>
            <a:endCxn id="36" idx="2"/>
          </p:cNvCxnSpPr>
          <p:nvPr/>
        </p:nvCxnSpPr>
        <p:spPr>
          <a:xfrm flipV="1">
            <a:off x="3564199" y="4981446"/>
            <a:ext cx="3614" cy="341035"/>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6794DD2-2B48-F8AC-9707-F54CAD531A55}"/>
              </a:ext>
            </a:extLst>
          </p:cNvPr>
          <p:cNvSpPr txBox="1"/>
          <p:nvPr/>
        </p:nvSpPr>
        <p:spPr>
          <a:xfrm>
            <a:off x="1956831" y="4321167"/>
            <a:ext cx="1977887" cy="323165"/>
          </a:xfrm>
          <a:prstGeom prst="rect">
            <a:avLst/>
          </a:prstGeom>
          <a:noFill/>
        </p:spPr>
        <p:txBody>
          <a:bodyPr wrap="square" rtlCol="0">
            <a:spAutoFit/>
          </a:bodyPr>
          <a:lstStyle/>
          <a:p>
            <a:pPr algn="ctr"/>
            <a:r>
              <a:rPr lang="zh-CN" altLang="en-US" sz="1500" dirty="0"/>
              <a:t>内部特征表示</a:t>
            </a:r>
            <a:endParaRPr lang="en-US" sz="1500" dirty="0"/>
          </a:p>
        </p:txBody>
      </p:sp>
      <p:cxnSp>
        <p:nvCxnSpPr>
          <p:cNvPr id="45" name="Straight Arrow Connector 44">
            <a:extLst>
              <a:ext uri="{FF2B5EF4-FFF2-40B4-BE49-F238E27FC236}">
                <a16:creationId xmlns:a16="http://schemas.microsoft.com/office/drawing/2014/main" id="{F062DA64-3F00-FA95-3158-EA59BBA4BD0E}"/>
              </a:ext>
            </a:extLst>
          </p:cNvPr>
          <p:cNvCxnSpPr>
            <a:cxnSpLocks/>
            <a:stCxn id="36" idx="0"/>
            <a:endCxn id="55" idx="2"/>
          </p:cNvCxnSpPr>
          <p:nvPr/>
        </p:nvCxnSpPr>
        <p:spPr>
          <a:xfrm flipH="1" flipV="1">
            <a:off x="3564201" y="4308762"/>
            <a:ext cx="3612" cy="354144"/>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77EE820-F075-8FAF-05E7-706BB6673155}"/>
              </a:ext>
            </a:extLst>
          </p:cNvPr>
          <p:cNvCxnSpPr>
            <a:cxnSpLocks/>
            <a:stCxn id="55" idx="0"/>
            <a:endCxn id="48" idx="2"/>
          </p:cNvCxnSpPr>
          <p:nvPr/>
        </p:nvCxnSpPr>
        <p:spPr>
          <a:xfrm flipH="1" flipV="1">
            <a:off x="3564200" y="3650027"/>
            <a:ext cx="1" cy="335570"/>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2533" name="Straight Arrow Connector 22532">
            <a:extLst>
              <a:ext uri="{FF2B5EF4-FFF2-40B4-BE49-F238E27FC236}">
                <a16:creationId xmlns:a16="http://schemas.microsoft.com/office/drawing/2014/main" id="{ADDDC740-67EF-F57F-7C04-67D5463CFABA}"/>
              </a:ext>
            </a:extLst>
          </p:cNvPr>
          <p:cNvCxnSpPr>
            <a:cxnSpLocks/>
            <a:stCxn id="48" idx="0"/>
            <a:endCxn id="52" idx="2"/>
          </p:cNvCxnSpPr>
          <p:nvPr/>
        </p:nvCxnSpPr>
        <p:spPr>
          <a:xfrm flipV="1">
            <a:off x="3564200" y="3013362"/>
            <a:ext cx="0" cy="318125"/>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22543" name="Straight Arrow Connector 22542">
            <a:extLst>
              <a:ext uri="{FF2B5EF4-FFF2-40B4-BE49-F238E27FC236}">
                <a16:creationId xmlns:a16="http://schemas.microsoft.com/office/drawing/2014/main" id="{400C582D-45A5-32DF-15D7-17DE6C8A7E93}"/>
              </a:ext>
            </a:extLst>
          </p:cNvPr>
          <p:cNvCxnSpPr>
            <a:cxnSpLocks/>
            <a:stCxn id="52" idx="0"/>
            <a:endCxn id="61" idx="2"/>
          </p:cNvCxnSpPr>
          <p:nvPr/>
        </p:nvCxnSpPr>
        <p:spPr>
          <a:xfrm flipV="1">
            <a:off x="3564200" y="2368430"/>
            <a:ext cx="2079" cy="326392"/>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sp>
        <p:nvSpPr>
          <p:cNvPr id="22549" name="TextBox 22548">
            <a:extLst>
              <a:ext uri="{FF2B5EF4-FFF2-40B4-BE49-F238E27FC236}">
                <a16:creationId xmlns:a16="http://schemas.microsoft.com/office/drawing/2014/main" id="{30601C16-41CD-CB4C-BFCA-8B7B7F504032}"/>
              </a:ext>
            </a:extLst>
          </p:cNvPr>
          <p:cNvSpPr txBox="1"/>
          <p:nvPr/>
        </p:nvSpPr>
        <p:spPr>
          <a:xfrm>
            <a:off x="1945838" y="3028851"/>
            <a:ext cx="1977887" cy="323165"/>
          </a:xfrm>
          <a:prstGeom prst="rect">
            <a:avLst/>
          </a:prstGeom>
          <a:noFill/>
        </p:spPr>
        <p:txBody>
          <a:bodyPr wrap="square" rtlCol="0">
            <a:spAutoFit/>
          </a:bodyPr>
          <a:lstStyle/>
          <a:p>
            <a:pPr algn="ctr"/>
            <a:r>
              <a:rPr lang="zh-CN" altLang="en-US" sz="1500" dirty="0"/>
              <a:t>内部特征表示</a:t>
            </a:r>
            <a:endParaRPr lang="en-US" sz="1500" dirty="0"/>
          </a:p>
        </p:txBody>
      </p:sp>
      <p:sp>
        <p:nvSpPr>
          <p:cNvPr id="22663" name="Title 1">
            <a:extLst>
              <a:ext uri="{FF2B5EF4-FFF2-40B4-BE49-F238E27FC236}">
                <a16:creationId xmlns:a16="http://schemas.microsoft.com/office/drawing/2014/main" id="{1C899222-4A88-E5CC-7C39-09A72A2FDBE0}"/>
              </a:ext>
            </a:extLst>
          </p:cNvPr>
          <p:cNvSpPr>
            <a:spLocks noGrp="1"/>
          </p:cNvSpPr>
          <p:nvPr>
            <p:ph type="title"/>
          </p:nvPr>
        </p:nvSpPr>
        <p:spPr>
          <a:xfrm>
            <a:off x="1122363" y="457200"/>
            <a:ext cx="7793037" cy="914400"/>
          </a:xfrm>
        </p:spPr>
        <p:txBody>
          <a:bodyPr/>
          <a:lstStyle/>
          <a:p>
            <a:r>
              <a:rPr lang="zh-CN" altLang="en-US" dirty="0">
                <a:latin typeface="MS PGothic" panose="020B0600070205080204" pitchFamily="34" charset="-128"/>
                <a:ea typeface="MS PGothic" panose="020B0600070205080204" pitchFamily="34" charset="-128"/>
              </a:rPr>
              <a:t>深度学习中的常客 </a:t>
            </a:r>
            <a:r>
              <a:rPr lang="en-US" altLang="zh-CN" dirty="0">
                <a:ea typeface="MS PGothic" panose="020B0600070205080204" pitchFamily="34" charset="-128"/>
              </a:rPr>
              <a:t>(2)</a:t>
            </a:r>
            <a:endParaRPr lang="zh-CN" altLang="en-US" dirty="0">
              <a:ea typeface="MS PGothic" panose="020B0600070205080204" pitchFamily="34" charset="-128"/>
            </a:endParaRPr>
          </a:p>
        </p:txBody>
      </p:sp>
    </p:spTree>
    <p:custDataLst>
      <p:tags r:id="rId1"/>
    </p:custDataLst>
    <p:extLst>
      <p:ext uri="{BB962C8B-B14F-4D97-AF65-F5344CB8AC3E}">
        <p14:creationId xmlns:p14="http://schemas.microsoft.com/office/powerpoint/2010/main" val="328507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4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5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5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56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25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252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5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255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255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255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2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6" grpId="0" animBg="1"/>
      <p:bldP spid="36" grpId="0" animBg="1"/>
      <p:bldP spid="48" grpId="0" animBg="1"/>
      <p:bldP spid="52" grpId="0" animBg="1"/>
      <p:bldP spid="55" grpId="0"/>
      <p:bldP spid="61" grpId="0"/>
      <p:bldP spid="2" grpId="0" animBg="1"/>
      <p:bldP spid="8" grpId="0" animBg="1"/>
      <p:bldP spid="10" grpId="0" animBg="1"/>
      <p:bldP spid="12" grpId="0" animBg="1"/>
      <p:bldP spid="13" grpId="0" animBg="1"/>
      <p:bldP spid="42" grpId="0" animBg="1"/>
      <p:bldP spid="44" grpId="0" animBg="1"/>
      <p:bldP spid="22550" grpId="0"/>
      <p:bldP spid="22557" grpId="0"/>
      <p:bldP spid="41" grpId="0"/>
      <p:bldP spid="2254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回到手写邮政编码识别</a:t>
            </a:r>
            <a:endParaRPr lang="zh-CN" altLang="en-US" dirty="0"/>
          </a:p>
        </p:txBody>
      </p:sp>
      <p:sp>
        <p:nvSpPr>
          <p:cNvPr id="3" name="Content Placeholder 2">
            <a:extLst>
              <a:ext uri="{FF2B5EF4-FFF2-40B4-BE49-F238E27FC236}">
                <a16:creationId xmlns:a16="http://schemas.microsoft.com/office/drawing/2014/main" id="{9EA0F165-8941-4D6C-BAE4-F52C9F12FF6C}"/>
              </a:ext>
            </a:extLst>
          </p:cNvPr>
          <p:cNvSpPr>
            <a:spLocks noGrp="1"/>
          </p:cNvSpPr>
          <p:nvPr>
            <p:ph idx="1"/>
          </p:nvPr>
        </p:nvSpPr>
        <p:spPr>
          <a:xfrm>
            <a:off x="762000" y="1600200"/>
            <a:ext cx="8001000" cy="5029200"/>
          </a:xfrm>
        </p:spPr>
        <p:txBody>
          <a:bodyPr>
            <a:normAutofit/>
          </a:bodyPr>
          <a:lstStyle/>
          <a:p>
            <a:pPr>
              <a:lnSpc>
                <a:spcPct val="90000"/>
              </a:lnSpc>
            </a:pPr>
            <a:r>
              <a:rPr lang="zh-CN" altLang="en-US" dirty="0"/>
              <a:t>输入：两维图像</a:t>
            </a:r>
            <a:endParaRPr lang="en-US" altLang="zh-CN" dirty="0"/>
          </a:p>
          <a:p>
            <a:pPr lvl="1">
              <a:lnSpc>
                <a:spcPct val="90000"/>
              </a:lnSpc>
            </a:pPr>
            <a:r>
              <a:rPr lang="zh-CN" altLang="en-US" dirty="0"/>
              <a:t>两维处理的动机</a:t>
            </a:r>
            <a:endParaRPr lang="en-US" altLang="zh-CN" dirty="0"/>
          </a:p>
          <a:p>
            <a:pPr lvl="2">
              <a:lnSpc>
                <a:spcPct val="90000"/>
              </a:lnSpc>
            </a:pPr>
            <a:r>
              <a:rPr lang="zh-CN" altLang="en-US" dirty="0"/>
              <a:t>以前我们用的输入的都是一维向量</a:t>
            </a:r>
            <a:endParaRPr lang="en-US" altLang="zh-CN" dirty="0"/>
          </a:p>
          <a:p>
            <a:pPr>
              <a:lnSpc>
                <a:spcPct val="90000"/>
              </a:lnSpc>
            </a:pPr>
            <a:r>
              <a:rPr lang="zh-CN" altLang="en-US" dirty="0"/>
              <a:t>手写数字</a:t>
            </a:r>
            <a:endParaRPr lang="en-US" altLang="zh-CN" dirty="0"/>
          </a:p>
          <a:p>
            <a:pPr lvl="1">
              <a:lnSpc>
                <a:spcPct val="90000"/>
              </a:lnSpc>
            </a:pPr>
            <a:r>
              <a:rPr lang="zh-CN" altLang="en-US" dirty="0"/>
              <a:t>由局部模式组合而成的笔画</a:t>
            </a:r>
            <a:endParaRPr lang="en-US" altLang="zh-CN" dirty="0"/>
          </a:p>
          <a:p>
            <a:pPr lvl="1">
              <a:lnSpc>
                <a:spcPct val="90000"/>
              </a:lnSpc>
            </a:pPr>
            <a:r>
              <a:rPr lang="zh-CN" altLang="en-US" dirty="0"/>
              <a:t>从局部模式中构建高层次模式的动机</a:t>
            </a:r>
            <a:endParaRPr lang="en-US" altLang="zh-CN" dirty="0"/>
          </a:p>
          <a:p>
            <a:pPr lvl="2">
              <a:lnSpc>
                <a:spcPct val="90000"/>
              </a:lnSpc>
            </a:pPr>
            <a:endParaRPr lang="en-US" altLang="zh-CN" dirty="0"/>
          </a:p>
        </p:txBody>
      </p:sp>
    </p:spTree>
    <p:custDataLst>
      <p:tags r:id="rId1"/>
    </p:custDataLst>
    <p:extLst>
      <p:ext uri="{BB962C8B-B14F-4D97-AF65-F5344CB8AC3E}">
        <p14:creationId xmlns:p14="http://schemas.microsoft.com/office/powerpoint/2010/main" val="1363573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cxnSp>
        <p:nvCxnSpPr>
          <p:cNvPr id="9" name="Straight Arrow Connector 8">
            <a:extLst>
              <a:ext uri="{FF2B5EF4-FFF2-40B4-BE49-F238E27FC236}">
                <a16:creationId xmlns:a16="http://schemas.microsoft.com/office/drawing/2014/main" id="{09E3C4B5-06FF-4564-82A8-070D2117C968}"/>
              </a:ext>
            </a:extLst>
          </p:cNvPr>
          <p:cNvCxnSpPr>
            <a:cxnSpLocks/>
            <a:stCxn id="19" idx="3"/>
          </p:cNvCxnSpPr>
          <p:nvPr/>
        </p:nvCxnSpPr>
        <p:spPr bwMode="auto">
          <a:xfrm>
            <a:off x="3352800" y="2611398"/>
            <a:ext cx="77724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7" name="TextBox 16">
            <a:extLst>
              <a:ext uri="{FF2B5EF4-FFF2-40B4-BE49-F238E27FC236}">
                <a16:creationId xmlns:a16="http://schemas.microsoft.com/office/drawing/2014/main" id="{474349CC-D92C-4D24-876A-9BA7D75161A7}"/>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
        <p:nvSpPr>
          <p:cNvPr id="19" name="TextBox 18">
            <a:extLst>
              <a:ext uri="{FF2B5EF4-FFF2-40B4-BE49-F238E27FC236}">
                <a16:creationId xmlns:a16="http://schemas.microsoft.com/office/drawing/2014/main" id="{2E078F0D-C092-41D6-9609-7AB248808732}"/>
              </a:ext>
            </a:extLst>
          </p:cNvPr>
          <p:cNvSpPr txBox="1"/>
          <p:nvPr/>
        </p:nvSpPr>
        <p:spPr>
          <a:xfrm>
            <a:off x="1981200" y="2057400"/>
            <a:ext cx="1371600" cy="1107996"/>
          </a:xfrm>
          <a:prstGeom prst="rect">
            <a:avLst/>
          </a:prstGeom>
          <a:noFill/>
        </p:spPr>
        <p:txBody>
          <a:bodyPr wrap="square" rtlCol="0">
            <a:spAutoFit/>
          </a:bodyPr>
          <a:lstStyle/>
          <a:p>
            <a:pPr algn="ctr"/>
            <a:endParaRPr lang="en-US" altLang="zh-CN" sz="2200" dirty="0"/>
          </a:p>
          <a:p>
            <a:pPr algn="ctr"/>
            <a:r>
              <a:rPr lang="zh-CN" altLang="en-US" sz="2200" dirty="0"/>
              <a:t>负权重</a:t>
            </a:r>
            <a:endParaRPr lang="en-US" altLang="zh-CN" sz="2200" dirty="0"/>
          </a:p>
          <a:p>
            <a:pPr algn="ctr"/>
            <a:r>
              <a:rPr lang="en-US" altLang="zh-CN" sz="2200" dirty="0"/>
              <a:t> </a:t>
            </a:r>
          </a:p>
        </p:txBody>
      </p:sp>
      <p:sp>
        <p:nvSpPr>
          <p:cNvPr id="27" name="TextBox 26">
            <a:extLst>
              <a:ext uri="{FF2B5EF4-FFF2-40B4-BE49-F238E27FC236}">
                <a16:creationId xmlns:a16="http://schemas.microsoft.com/office/drawing/2014/main" id="{09639710-76B2-40F1-A602-6453D3BC81A2}"/>
              </a:ext>
            </a:extLst>
          </p:cNvPr>
          <p:cNvSpPr txBox="1"/>
          <p:nvPr/>
        </p:nvSpPr>
        <p:spPr>
          <a:xfrm>
            <a:off x="5486398" y="2638046"/>
            <a:ext cx="1371600" cy="1107996"/>
          </a:xfrm>
          <a:prstGeom prst="rect">
            <a:avLst/>
          </a:prstGeom>
          <a:noFill/>
        </p:spPr>
        <p:txBody>
          <a:bodyPr wrap="square" rtlCol="0">
            <a:spAutoFit/>
          </a:bodyPr>
          <a:lstStyle/>
          <a:p>
            <a:pPr algn="ctr"/>
            <a:endParaRPr lang="en-US" altLang="zh-CN" sz="2200" dirty="0"/>
          </a:p>
          <a:p>
            <a:pPr algn="ctr"/>
            <a:r>
              <a:rPr lang="zh-CN" altLang="en-US" sz="2200" dirty="0"/>
              <a:t>正权重</a:t>
            </a:r>
            <a:endParaRPr lang="en-US" altLang="zh-CN" sz="2200" dirty="0"/>
          </a:p>
          <a:p>
            <a:pPr algn="ctr"/>
            <a:r>
              <a:rPr lang="en-US" altLang="zh-CN" sz="2200" dirty="0"/>
              <a:t> </a:t>
            </a:r>
          </a:p>
        </p:txBody>
      </p:sp>
      <p:cxnSp>
        <p:nvCxnSpPr>
          <p:cNvPr id="28" name="Straight Arrow Connector 27">
            <a:extLst>
              <a:ext uri="{FF2B5EF4-FFF2-40B4-BE49-F238E27FC236}">
                <a16:creationId xmlns:a16="http://schemas.microsoft.com/office/drawing/2014/main" id="{EBBA8EB2-6178-4A23-AE60-0C6D5C0968CB}"/>
              </a:ext>
            </a:extLst>
          </p:cNvPr>
          <p:cNvCxnSpPr>
            <a:cxnSpLocks/>
            <a:stCxn id="27" idx="1"/>
          </p:cNvCxnSpPr>
          <p:nvPr/>
        </p:nvCxnSpPr>
        <p:spPr bwMode="auto">
          <a:xfrm flipH="1">
            <a:off x="4724400" y="3192044"/>
            <a:ext cx="76199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pic>
        <p:nvPicPr>
          <p:cNvPr id="32" name="Picture 31">
            <a:extLst>
              <a:ext uri="{FF2B5EF4-FFF2-40B4-BE49-F238E27FC236}">
                <a16:creationId xmlns:a16="http://schemas.microsoft.com/office/drawing/2014/main" id="{12F35437-F876-4422-9630-F6161504B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7158" y="4194515"/>
            <a:ext cx="914480" cy="914480"/>
          </a:xfrm>
          <a:prstGeom prst="rect">
            <a:avLst/>
          </a:prstGeom>
        </p:spPr>
      </p:pic>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图像局部</a:t>
            </a:r>
          </a:p>
        </p:txBody>
      </p:sp>
      <p:cxnSp>
        <p:nvCxnSpPr>
          <p:cNvPr id="34" name="Straight Arrow Connector 33">
            <a:extLst>
              <a:ext uri="{FF2B5EF4-FFF2-40B4-BE49-F238E27FC236}">
                <a16:creationId xmlns:a16="http://schemas.microsoft.com/office/drawing/2014/main" id="{A7AC1D7A-730E-4269-8137-1063B66105C0}"/>
              </a:ext>
            </a:extLst>
          </p:cNvPr>
          <p:cNvCxnSpPr>
            <a:cxnSpLocks/>
            <a:stCxn id="35" idx="3"/>
          </p:cNvCxnSpPr>
          <p:nvPr/>
        </p:nvCxnSpPr>
        <p:spPr bwMode="auto">
          <a:xfrm>
            <a:off x="3352800" y="4356592"/>
            <a:ext cx="777240"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5" name="TextBox 34">
            <a:extLst>
              <a:ext uri="{FF2B5EF4-FFF2-40B4-BE49-F238E27FC236}">
                <a16:creationId xmlns:a16="http://schemas.microsoft.com/office/drawing/2014/main" id="{2DEDEBF8-9F08-4F88-A420-FFF802A877DA}"/>
              </a:ext>
            </a:extLst>
          </p:cNvPr>
          <p:cNvSpPr txBox="1"/>
          <p:nvPr/>
        </p:nvSpPr>
        <p:spPr>
          <a:xfrm>
            <a:off x="1295400" y="3802594"/>
            <a:ext cx="2057400" cy="1107996"/>
          </a:xfrm>
          <a:prstGeom prst="rect">
            <a:avLst/>
          </a:prstGeom>
          <a:noFill/>
        </p:spPr>
        <p:txBody>
          <a:bodyPr wrap="square" rtlCol="0">
            <a:spAutoFit/>
          </a:bodyPr>
          <a:lstStyle/>
          <a:p>
            <a:pPr algn="ctr"/>
            <a:endParaRPr lang="en-US" altLang="zh-CN" sz="2200" dirty="0"/>
          </a:p>
          <a:p>
            <a:pPr algn="ctr"/>
            <a:r>
              <a:rPr lang="zh-CN" altLang="en-US" sz="2200" dirty="0"/>
              <a:t>浅色，负值</a:t>
            </a:r>
            <a:endParaRPr lang="en-US" altLang="zh-CN" sz="2200" dirty="0"/>
          </a:p>
          <a:p>
            <a:pPr algn="ctr"/>
            <a:r>
              <a:rPr lang="en-US" altLang="zh-CN" sz="2200" dirty="0"/>
              <a:t> </a:t>
            </a:r>
          </a:p>
        </p:txBody>
      </p:sp>
      <p:sp>
        <p:nvSpPr>
          <p:cNvPr id="37" name="TextBox 36">
            <a:extLst>
              <a:ext uri="{FF2B5EF4-FFF2-40B4-BE49-F238E27FC236}">
                <a16:creationId xmlns:a16="http://schemas.microsoft.com/office/drawing/2014/main" id="{170955F5-04A1-40FC-A6D2-E4051A45CC4F}"/>
              </a:ext>
            </a:extLst>
          </p:cNvPr>
          <p:cNvSpPr txBox="1"/>
          <p:nvPr/>
        </p:nvSpPr>
        <p:spPr>
          <a:xfrm>
            <a:off x="5440678" y="4390646"/>
            <a:ext cx="1950722" cy="1107996"/>
          </a:xfrm>
          <a:prstGeom prst="rect">
            <a:avLst/>
          </a:prstGeom>
          <a:noFill/>
        </p:spPr>
        <p:txBody>
          <a:bodyPr wrap="square" rtlCol="0">
            <a:spAutoFit/>
          </a:bodyPr>
          <a:lstStyle/>
          <a:p>
            <a:pPr algn="ctr"/>
            <a:endParaRPr lang="en-US" altLang="zh-CN" sz="2200" dirty="0"/>
          </a:p>
          <a:p>
            <a:pPr algn="ctr"/>
            <a:r>
              <a:rPr lang="zh-CN" altLang="en-US" sz="2200" dirty="0"/>
              <a:t>深色，正值</a:t>
            </a:r>
            <a:endParaRPr lang="en-US" altLang="zh-CN" sz="2200" dirty="0"/>
          </a:p>
          <a:p>
            <a:pPr algn="ctr"/>
            <a:endParaRPr lang="en-US" altLang="zh-CN" sz="2200" dirty="0"/>
          </a:p>
        </p:txBody>
      </p:sp>
      <p:cxnSp>
        <p:nvCxnSpPr>
          <p:cNvPr id="38" name="Straight Arrow Connector 37">
            <a:extLst>
              <a:ext uri="{FF2B5EF4-FFF2-40B4-BE49-F238E27FC236}">
                <a16:creationId xmlns:a16="http://schemas.microsoft.com/office/drawing/2014/main" id="{AB55A037-D510-451E-B7DE-E68B50E90F21}"/>
              </a:ext>
            </a:extLst>
          </p:cNvPr>
          <p:cNvCxnSpPr>
            <a:cxnSpLocks/>
            <a:stCxn id="37" idx="1"/>
          </p:cNvCxnSpPr>
          <p:nvPr/>
        </p:nvCxnSpPr>
        <p:spPr bwMode="auto">
          <a:xfrm flipH="1">
            <a:off x="4678680" y="4944644"/>
            <a:ext cx="761998"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157640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7" grpId="0"/>
      <p:bldP spid="33" grpId="0"/>
      <p:bldP spid="35" grpId="0"/>
      <p:bldP spid="3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32" name="Picture 31">
            <a:extLst>
              <a:ext uri="{FF2B5EF4-FFF2-40B4-BE49-F238E27FC236}">
                <a16:creationId xmlns:a16="http://schemas.microsoft.com/office/drawing/2014/main" id="{12F35437-F876-4422-9630-F6161504B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7158" y="4194515"/>
            <a:ext cx="914480" cy="914480"/>
          </a:xfrm>
          <a:prstGeom prst="rect">
            <a:avLst/>
          </a:prstGeom>
        </p:spPr>
      </p:pic>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099560" y="262128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8" name="TextBox 17">
            <a:extLst>
              <a:ext uri="{FF2B5EF4-FFF2-40B4-BE49-F238E27FC236}">
                <a16:creationId xmlns:a16="http://schemas.microsoft.com/office/drawing/2014/main" id="{F6CDB78B-DB19-431E-9A9B-B0FBE4910013}"/>
              </a:ext>
            </a:extLst>
          </p:cNvPr>
          <p:cNvSpPr txBox="1"/>
          <p:nvPr/>
        </p:nvSpPr>
        <p:spPr>
          <a:xfrm>
            <a:off x="338454" y="3053864"/>
            <a:ext cx="2355002" cy="430887"/>
          </a:xfrm>
          <a:prstGeom prst="rect">
            <a:avLst/>
          </a:prstGeom>
          <a:noFill/>
        </p:spPr>
        <p:txBody>
          <a:bodyPr wrap="square" rtlCol="0">
            <a:spAutoFit/>
          </a:bodyPr>
          <a:lstStyle/>
          <a:p>
            <a:pPr algn="ctr"/>
            <a:r>
              <a:rPr lang="zh-CN" altLang="en-US" sz="2200" dirty="0"/>
              <a:t>对应元素相乘</a:t>
            </a:r>
            <a:r>
              <a:rPr lang="en-US" altLang="zh-CN" sz="2200" dirty="0"/>
              <a:t> </a:t>
            </a:r>
          </a:p>
        </p:txBody>
      </p:sp>
      <p:sp>
        <p:nvSpPr>
          <p:cNvPr id="20" name="TextBox 19">
            <a:extLst>
              <a:ext uri="{FF2B5EF4-FFF2-40B4-BE49-F238E27FC236}">
                <a16:creationId xmlns:a16="http://schemas.microsoft.com/office/drawing/2014/main" id="{F6D5BCD6-DABA-4E3E-A6AA-ABC04AC06200}"/>
              </a:ext>
            </a:extLst>
          </p:cNvPr>
          <p:cNvSpPr txBox="1"/>
          <p:nvPr/>
        </p:nvSpPr>
        <p:spPr>
          <a:xfrm>
            <a:off x="3738302" y="3430932"/>
            <a:ext cx="292677" cy="430887"/>
          </a:xfrm>
          <a:prstGeom prst="rect">
            <a:avLst/>
          </a:prstGeom>
          <a:noFill/>
        </p:spPr>
        <p:txBody>
          <a:bodyPr wrap="square" rtlCol="0">
            <a:spAutoFit/>
          </a:bodyPr>
          <a:lstStyle/>
          <a:p>
            <a:pPr algn="ctr"/>
            <a:r>
              <a:rPr lang="en-US" altLang="zh-CN" sz="2200" dirty="0"/>
              <a:t>x</a:t>
            </a:r>
          </a:p>
        </p:txBody>
      </p:sp>
      <p:sp>
        <p:nvSpPr>
          <p:cNvPr id="21" name="TextBox 20">
            <a:extLst>
              <a:ext uri="{FF2B5EF4-FFF2-40B4-BE49-F238E27FC236}">
                <a16:creationId xmlns:a16="http://schemas.microsoft.com/office/drawing/2014/main" id="{D67F1F41-F134-4284-B82B-33808A91157B}"/>
              </a:ext>
            </a:extLst>
          </p:cNvPr>
          <p:cNvSpPr txBox="1"/>
          <p:nvPr/>
        </p:nvSpPr>
        <p:spPr>
          <a:xfrm>
            <a:off x="5334000" y="3468683"/>
            <a:ext cx="2821403" cy="430887"/>
          </a:xfrm>
          <a:prstGeom prst="rect">
            <a:avLst/>
          </a:prstGeom>
          <a:noFill/>
        </p:spPr>
        <p:txBody>
          <a:bodyPr wrap="square" rtlCol="0">
            <a:spAutoFit/>
          </a:bodyPr>
          <a:lstStyle/>
          <a:p>
            <a:pPr algn="ctr"/>
            <a:r>
              <a:rPr lang="zh-CN" altLang="en-US" sz="2200" dirty="0"/>
              <a:t>负 </a:t>
            </a:r>
            <a:r>
              <a:rPr lang="en-US" altLang="zh-CN" sz="2200" dirty="0"/>
              <a:t>x</a:t>
            </a:r>
            <a:r>
              <a:rPr lang="zh-CN" altLang="en-US" sz="2200" dirty="0"/>
              <a:t> 负 </a:t>
            </a:r>
            <a:r>
              <a:rPr lang="en-US" altLang="zh-CN" sz="2200" dirty="0">
                <a:latin typeface="等线" panose="02010600030101010101" pitchFamily="2" charset="-122"/>
                <a:ea typeface="等线" panose="02010600030101010101" pitchFamily="2" charset="-122"/>
              </a:rPr>
              <a:t>→ </a:t>
            </a:r>
            <a:r>
              <a:rPr lang="zh-CN" altLang="en-US" sz="2200" dirty="0"/>
              <a:t>正</a:t>
            </a:r>
            <a:endParaRPr lang="en-US" altLang="zh-CN" sz="2200" dirty="0"/>
          </a:p>
        </p:txBody>
      </p:sp>
      <p:sp>
        <p:nvSpPr>
          <p:cNvPr id="22" name="TextBox 21">
            <a:extLst>
              <a:ext uri="{FF2B5EF4-FFF2-40B4-BE49-F238E27FC236}">
                <a16:creationId xmlns:a16="http://schemas.microsoft.com/office/drawing/2014/main" id="{316DFBC9-2DB9-45E1-AC90-C980AE894F39}"/>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custDataLst>
      <p:tags r:id="rId1"/>
    </p:custDataLst>
    <p:extLst>
      <p:ext uri="{BB962C8B-B14F-4D97-AF65-F5344CB8AC3E}">
        <p14:creationId xmlns:p14="http://schemas.microsoft.com/office/powerpoint/2010/main" val="410409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32" name="Picture 31">
            <a:extLst>
              <a:ext uri="{FF2B5EF4-FFF2-40B4-BE49-F238E27FC236}">
                <a16:creationId xmlns:a16="http://schemas.microsoft.com/office/drawing/2014/main" id="{12F35437-F876-4422-9630-F6161504B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7158" y="4194515"/>
            <a:ext cx="914480" cy="914480"/>
          </a:xfrm>
          <a:prstGeom prst="rect">
            <a:avLst/>
          </a:prstGeom>
        </p:spPr>
      </p:pic>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419600" y="262128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8" name="TextBox 17">
            <a:extLst>
              <a:ext uri="{FF2B5EF4-FFF2-40B4-BE49-F238E27FC236}">
                <a16:creationId xmlns:a16="http://schemas.microsoft.com/office/drawing/2014/main" id="{F6CDB78B-DB19-431E-9A9B-B0FBE4910013}"/>
              </a:ext>
            </a:extLst>
          </p:cNvPr>
          <p:cNvSpPr txBox="1"/>
          <p:nvPr/>
        </p:nvSpPr>
        <p:spPr>
          <a:xfrm>
            <a:off x="338454" y="3053864"/>
            <a:ext cx="2355002" cy="430887"/>
          </a:xfrm>
          <a:prstGeom prst="rect">
            <a:avLst/>
          </a:prstGeom>
          <a:noFill/>
        </p:spPr>
        <p:txBody>
          <a:bodyPr wrap="square" rtlCol="0">
            <a:spAutoFit/>
          </a:bodyPr>
          <a:lstStyle/>
          <a:p>
            <a:pPr algn="ctr"/>
            <a:r>
              <a:rPr lang="zh-CN" altLang="en-US" sz="2200" dirty="0"/>
              <a:t>对应元素相乘</a:t>
            </a:r>
            <a:r>
              <a:rPr lang="en-US" altLang="zh-CN" sz="2200" dirty="0"/>
              <a:t> </a:t>
            </a:r>
          </a:p>
        </p:txBody>
      </p:sp>
      <p:sp>
        <p:nvSpPr>
          <p:cNvPr id="20" name="TextBox 19">
            <a:extLst>
              <a:ext uri="{FF2B5EF4-FFF2-40B4-BE49-F238E27FC236}">
                <a16:creationId xmlns:a16="http://schemas.microsoft.com/office/drawing/2014/main" id="{F6D5BCD6-DABA-4E3E-A6AA-ABC04AC06200}"/>
              </a:ext>
            </a:extLst>
          </p:cNvPr>
          <p:cNvSpPr txBox="1"/>
          <p:nvPr/>
        </p:nvSpPr>
        <p:spPr>
          <a:xfrm>
            <a:off x="4058342" y="3430932"/>
            <a:ext cx="292677" cy="430887"/>
          </a:xfrm>
          <a:prstGeom prst="rect">
            <a:avLst/>
          </a:prstGeom>
          <a:noFill/>
        </p:spPr>
        <p:txBody>
          <a:bodyPr wrap="square" rtlCol="0">
            <a:spAutoFit/>
          </a:bodyPr>
          <a:lstStyle/>
          <a:p>
            <a:pPr algn="ctr"/>
            <a:r>
              <a:rPr lang="en-US" altLang="zh-CN" sz="2200" dirty="0"/>
              <a:t>x</a:t>
            </a:r>
          </a:p>
        </p:txBody>
      </p:sp>
      <p:sp>
        <p:nvSpPr>
          <p:cNvPr id="13" name="TextBox 12">
            <a:extLst>
              <a:ext uri="{FF2B5EF4-FFF2-40B4-BE49-F238E27FC236}">
                <a16:creationId xmlns:a16="http://schemas.microsoft.com/office/drawing/2014/main" id="{2FCE2B87-643E-4864-B86E-D0EC1BBB8EF9}"/>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
        <p:nvSpPr>
          <p:cNvPr id="3" name="TextBox 2">
            <a:extLst>
              <a:ext uri="{FF2B5EF4-FFF2-40B4-BE49-F238E27FC236}">
                <a16:creationId xmlns:a16="http://schemas.microsoft.com/office/drawing/2014/main" id="{6F5BF790-F19D-F61D-BF90-113A02CE4FDD}"/>
              </a:ext>
            </a:extLst>
          </p:cNvPr>
          <p:cNvSpPr txBox="1"/>
          <p:nvPr/>
        </p:nvSpPr>
        <p:spPr>
          <a:xfrm>
            <a:off x="5334000" y="3468683"/>
            <a:ext cx="2821403" cy="430887"/>
          </a:xfrm>
          <a:prstGeom prst="rect">
            <a:avLst/>
          </a:prstGeom>
          <a:noFill/>
        </p:spPr>
        <p:txBody>
          <a:bodyPr wrap="square" rtlCol="0">
            <a:spAutoFit/>
          </a:bodyPr>
          <a:lstStyle/>
          <a:p>
            <a:pPr algn="ctr"/>
            <a:r>
              <a:rPr lang="zh-CN" altLang="en-US" sz="2200" dirty="0"/>
              <a:t>负 </a:t>
            </a:r>
            <a:r>
              <a:rPr lang="en-US" altLang="zh-CN" sz="2200" dirty="0"/>
              <a:t>x</a:t>
            </a:r>
            <a:r>
              <a:rPr lang="zh-CN" altLang="en-US" sz="2200" dirty="0"/>
              <a:t> 负 </a:t>
            </a:r>
            <a:r>
              <a:rPr lang="en-US" altLang="zh-CN" sz="2200" dirty="0">
                <a:latin typeface="等线" panose="02010600030101010101" pitchFamily="2" charset="-122"/>
                <a:ea typeface="等线" panose="02010600030101010101" pitchFamily="2" charset="-122"/>
              </a:rPr>
              <a:t>→ </a:t>
            </a:r>
            <a:r>
              <a:rPr lang="zh-CN" altLang="en-US" sz="2200" dirty="0"/>
              <a:t>正</a:t>
            </a:r>
            <a:endParaRPr lang="en-US" altLang="zh-CN" sz="2200" dirty="0"/>
          </a:p>
        </p:txBody>
      </p:sp>
    </p:spTree>
    <p:extLst>
      <p:ext uri="{BB962C8B-B14F-4D97-AF65-F5344CB8AC3E}">
        <p14:creationId xmlns:p14="http://schemas.microsoft.com/office/powerpoint/2010/main" val="7759436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32" name="Picture 31">
            <a:extLst>
              <a:ext uri="{FF2B5EF4-FFF2-40B4-BE49-F238E27FC236}">
                <a16:creationId xmlns:a16="http://schemas.microsoft.com/office/drawing/2014/main" id="{12F35437-F876-4422-9630-F6161504B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7158" y="4194515"/>
            <a:ext cx="914480" cy="914480"/>
          </a:xfrm>
          <a:prstGeom prst="rect">
            <a:avLst/>
          </a:prstGeom>
        </p:spPr>
      </p:pic>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709160" y="28803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8" name="TextBox 17">
            <a:extLst>
              <a:ext uri="{FF2B5EF4-FFF2-40B4-BE49-F238E27FC236}">
                <a16:creationId xmlns:a16="http://schemas.microsoft.com/office/drawing/2014/main" id="{F6CDB78B-DB19-431E-9A9B-B0FBE4910013}"/>
              </a:ext>
            </a:extLst>
          </p:cNvPr>
          <p:cNvSpPr txBox="1"/>
          <p:nvPr/>
        </p:nvSpPr>
        <p:spPr>
          <a:xfrm>
            <a:off x="338454" y="3053864"/>
            <a:ext cx="2355002" cy="430887"/>
          </a:xfrm>
          <a:prstGeom prst="rect">
            <a:avLst/>
          </a:prstGeom>
          <a:noFill/>
        </p:spPr>
        <p:txBody>
          <a:bodyPr wrap="square" rtlCol="0">
            <a:spAutoFit/>
          </a:bodyPr>
          <a:lstStyle/>
          <a:p>
            <a:pPr algn="ctr"/>
            <a:r>
              <a:rPr lang="zh-CN" altLang="en-US" sz="2200" dirty="0"/>
              <a:t>对应元素相乘</a:t>
            </a:r>
            <a:r>
              <a:rPr lang="en-US" altLang="zh-CN" sz="2200" dirty="0"/>
              <a:t> </a:t>
            </a:r>
          </a:p>
        </p:txBody>
      </p:sp>
      <p:sp>
        <p:nvSpPr>
          <p:cNvPr id="20" name="TextBox 19">
            <a:extLst>
              <a:ext uri="{FF2B5EF4-FFF2-40B4-BE49-F238E27FC236}">
                <a16:creationId xmlns:a16="http://schemas.microsoft.com/office/drawing/2014/main" id="{F6D5BCD6-DABA-4E3E-A6AA-ABC04AC06200}"/>
              </a:ext>
            </a:extLst>
          </p:cNvPr>
          <p:cNvSpPr txBox="1"/>
          <p:nvPr/>
        </p:nvSpPr>
        <p:spPr>
          <a:xfrm>
            <a:off x="4347902" y="3690012"/>
            <a:ext cx="292677" cy="430887"/>
          </a:xfrm>
          <a:prstGeom prst="rect">
            <a:avLst/>
          </a:prstGeom>
          <a:noFill/>
        </p:spPr>
        <p:txBody>
          <a:bodyPr wrap="square" rtlCol="0">
            <a:spAutoFit/>
          </a:bodyPr>
          <a:lstStyle/>
          <a:p>
            <a:pPr algn="ctr"/>
            <a:r>
              <a:rPr lang="en-US" altLang="zh-CN" sz="2200" dirty="0"/>
              <a:t>x</a:t>
            </a:r>
          </a:p>
        </p:txBody>
      </p:sp>
      <p:sp>
        <p:nvSpPr>
          <p:cNvPr id="21" name="TextBox 20">
            <a:extLst>
              <a:ext uri="{FF2B5EF4-FFF2-40B4-BE49-F238E27FC236}">
                <a16:creationId xmlns:a16="http://schemas.microsoft.com/office/drawing/2014/main" id="{D67F1F41-F134-4284-B82B-33808A91157B}"/>
              </a:ext>
            </a:extLst>
          </p:cNvPr>
          <p:cNvSpPr txBox="1"/>
          <p:nvPr/>
        </p:nvSpPr>
        <p:spPr>
          <a:xfrm>
            <a:off x="5377680" y="3114824"/>
            <a:ext cx="2821403" cy="1107996"/>
          </a:xfrm>
          <a:prstGeom prst="rect">
            <a:avLst/>
          </a:prstGeom>
          <a:noFill/>
        </p:spPr>
        <p:txBody>
          <a:bodyPr wrap="square" rtlCol="0">
            <a:spAutoFit/>
          </a:bodyPr>
          <a:lstStyle/>
          <a:p>
            <a:pPr algn="ctr"/>
            <a:endParaRPr lang="en-US" altLang="zh-CN" sz="2200" dirty="0"/>
          </a:p>
          <a:p>
            <a:pPr algn="ctr"/>
            <a:r>
              <a:rPr lang="zh-CN" altLang="en-US" sz="2200" dirty="0"/>
              <a:t>正 </a:t>
            </a:r>
            <a:r>
              <a:rPr lang="en-US" altLang="zh-CN" sz="2200" dirty="0"/>
              <a:t>x</a:t>
            </a:r>
            <a:r>
              <a:rPr lang="zh-CN" altLang="en-US" sz="2200" dirty="0"/>
              <a:t> 正 </a:t>
            </a:r>
            <a:r>
              <a:rPr lang="en-US" altLang="zh-CN" sz="2200" dirty="0">
                <a:latin typeface="等线" panose="02010600030101010101" pitchFamily="2" charset="-122"/>
                <a:ea typeface="等线" panose="02010600030101010101" pitchFamily="2" charset="-122"/>
              </a:rPr>
              <a:t>→ </a:t>
            </a:r>
            <a:r>
              <a:rPr lang="zh-CN" altLang="en-US" sz="2200" dirty="0"/>
              <a:t>正</a:t>
            </a:r>
            <a:endParaRPr lang="en-US" altLang="zh-CN" sz="2200" dirty="0"/>
          </a:p>
          <a:p>
            <a:pPr algn="ctr"/>
            <a:endParaRPr lang="en-US" altLang="zh-CN" sz="2200" dirty="0"/>
          </a:p>
        </p:txBody>
      </p:sp>
      <p:sp>
        <p:nvSpPr>
          <p:cNvPr id="13" name="TextBox 12">
            <a:extLst>
              <a:ext uri="{FF2B5EF4-FFF2-40B4-BE49-F238E27FC236}">
                <a16:creationId xmlns:a16="http://schemas.microsoft.com/office/drawing/2014/main" id="{1780D550-7B6D-4C95-B87E-556D22B62E47}"/>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extLst>
      <p:ext uri="{BB962C8B-B14F-4D97-AF65-F5344CB8AC3E}">
        <p14:creationId xmlns:p14="http://schemas.microsoft.com/office/powerpoint/2010/main" val="37757709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32" name="Picture 31">
            <a:extLst>
              <a:ext uri="{FF2B5EF4-FFF2-40B4-BE49-F238E27FC236}">
                <a16:creationId xmlns:a16="http://schemas.microsoft.com/office/drawing/2014/main" id="{12F35437-F876-4422-9630-F6161504B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7158" y="4194515"/>
            <a:ext cx="914480" cy="914480"/>
          </a:xfrm>
          <a:prstGeom prst="rect">
            <a:avLst/>
          </a:prstGeom>
        </p:spPr>
      </p:pic>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709160" y="28803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8" name="TextBox 17">
            <a:extLst>
              <a:ext uri="{FF2B5EF4-FFF2-40B4-BE49-F238E27FC236}">
                <a16:creationId xmlns:a16="http://schemas.microsoft.com/office/drawing/2014/main" id="{F6CDB78B-DB19-431E-9A9B-B0FBE4910013}"/>
              </a:ext>
            </a:extLst>
          </p:cNvPr>
          <p:cNvSpPr txBox="1"/>
          <p:nvPr/>
        </p:nvSpPr>
        <p:spPr>
          <a:xfrm>
            <a:off x="338454" y="3053864"/>
            <a:ext cx="2355002" cy="430887"/>
          </a:xfrm>
          <a:prstGeom prst="rect">
            <a:avLst/>
          </a:prstGeom>
          <a:noFill/>
        </p:spPr>
        <p:txBody>
          <a:bodyPr wrap="square" rtlCol="0">
            <a:spAutoFit/>
          </a:bodyPr>
          <a:lstStyle/>
          <a:p>
            <a:pPr algn="ctr"/>
            <a:r>
              <a:rPr lang="zh-CN" altLang="en-US" sz="2200" dirty="0"/>
              <a:t>对应元素相乘</a:t>
            </a:r>
            <a:r>
              <a:rPr lang="en-US" altLang="zh-CN" sz="2200" dirty="0"/>
              <a:t> </a:t>
            </a:r>
          </a:p>
        </p:txBody>
      </p:sp>
      <p:cxnSp>
        <p:nvCxnSpPr>
          <p:cNvPr id="13" name="Straight Arrow Connector 12">
            <a:extLst>
              <a:ext uri="{FF2B5EF4-FFF2-40B4-BE49-F238E27FC236}">
                <a16:creationId xmlns:a16="http://schemas.microsoft.com/office/drawing/2014/main" id="{9B6659F9-418F-4AEC-ADC4-B85F591ACF33}"/>
              </a:ext>
            </a:extLst>
          </p:cNvPr>
          <p:cNvCxnSpPr/>
          <p:nvPr/>
        </p:nvCxnSpPr>
        <p:spPr bwMode="auto">
          <a:xfrm>
            <a:off x="4419600" y="28956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4" name="Straight Arrow Connector 13">
            <a:extLst>
              <a:ext uri="{FF2B5EF4-FFF2-40B4-BE49-F238E27FC236}">
                <a16:creationId xmlns:a16="http://schemas.microsoft.com/office/drawing/2014/main" id="{4089B0C0-AD13-4BE5-AE4F-094C499125D5}"/>
              </a:ext>
            </a:extLst>
          </p:cNvPr>
          <p:cNvCxnSpPr/>
          <p:nvPr/>
        </p:nvCxnSpPr>
        <p:spPr bwMode="auto">
          <a:xfrm>
            <a:off x="4114800" y="28956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5" name="Straight Arrow Connector 14">
            <a:extLst>
              <a:ext uri="{FF2B5EF4-FFF2-40B4-BE49-F238E27FC236}">
                <a16:creationId xmlns:a16="http://schemas.microsoft.com/office/drawing/2014/main" id="{9DF66CFE-120D-4DD1-A339-921B0ABC2668}"/>
              </a:ext>
            </a:extLst>
          </p:cNvPr>
          <p:cNvCxnSpPr/>
          <p:nvPr/>
        </p:nvCxnSpPr>
        <p:spPr bwMode="auto">
          <a:xfrm>
            <a:off x="406146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6" name="Straight Arrow Connector 15">
            <a:extLst>
              <a:ext uri="{FF2B5EF4-FFF2-40B4-BE49-F238E27FC236}">
                <a16:creationId xmlns:a16="http://schemas.microsoft.com/office/drawing/2014/main" id="{07258E63-37BF-4E17-96B5-7A56C6AEAE22}"/>
              </a:ext>
            </a:extLst>
          </p:cNvPr>
          <p:cNvCxnSpPr/>
          <p:nvPr/>
        </p:nvCxnSpPr>
        <p:spPr bwMode="auto">
          <a:xfrm>
            <a:off x="438912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9" name="Straight Arrow Connector 18">
            <a:extLst>
              <a:ext uri="{FF2B5EF4-FFF2-40B4-BE49-F238E27FC236}">
                <a16:creationId xmlns:a16="http://schemas.microsoft.com/office/drawing/2014/main" id="{E4DD73D4-CAB2-402A-A3A4-8963A72BA931}"/>
              </a:ext>
            </a:extLst>
          </p:cNvPr>
          <p:cNvCxnSpPr/>
          <p:nvPr/>
        </p:nvCxnSpPr>
        <p:spPr bwMode="auto">
          <a:xfrm>
            <a:off x="467868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2" name="Straight Arrow Connector 21">
            <a:extLst>
              <a:ext uri="{FF2B5EF4-FFF2-40B4-BE49-F238E27FC236}">
                <a16:creationId xmlns:a16="http://schemas.microsoft.com/office/drawing/2014/main" id="{B15BB6B5-06E6-459F-87E8-110752D76F88}"/>
              </a:ext>
            </a:extLst>
          </p:cNvPr>
          <p:cNvCxnSpPr/>
          <p:nvPr/>
        </p:nvCxnSpPr>
        <p:spPr bwMode="auto">
          <a:xfrm>
            <a:off x="4152900" y="316992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3" name="Straight Arrow Connector 22">
            <a:extLst>
              <a:ext uri="{FF2B5EF4-FFF2-40B4-BE49-F238E27FC236}">
                <a16:creationId xmlns:a16="http://schemas.microsoft.com/office/drawing/2014/main" id="{6D9FA2FC-2ABE-4AA7-8E41-F34995613380}"/>
              </a:ext>
            </a:extLst>
          </p:cNvPr>
          <p:cNvCxnSpPr/>
          <p:nvPr/>
        </p:nvCxnSpPr>
        <p:spPr bwMode="auto">
          <a:xfrm>
            <a:off x="4457700" y="31623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4" name="Straight Arrow Connector 23">
            <a:extLst>
              <a:ext uri="{FF2B5EF4-FFF2-40B4-BE49-F238E27FC236}">
                <a16:creationId xmlns:a16="http://schemas.microsoft.com/office/drawing/2014/main" id="{145D401F-044A-40B9-9CFA-1B5C958FF601}"/>
              </a:ext>
            </a:extLst>
          </p:cNvPr>
          <p:cNvCxnSpPr/>
          <p:nvPr/>
        </p:nvCxnSpPr>
        <p:spPr bwMode="auto">
          <a:xfrm>
            <a:off x="4754880" y="31470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25" name="TextBox 24">
            <a:extLst>
              <a:ext uri="{FF2B5EF4-FFF2-40B4-BE49-F238E27FC236}">
                <a16:creationId xmlns:a16="http://schemas.microsoft.com/office/drawing/2014/main" id="{61EDD0F3-1B50-433B-A538-4B1128FD9077}"/>
              </a:ext>
            </a:extLst>
          </p:cNvPr>
          <p:cNvSpPr txBox="1"/>
          <p:nvPr/>
        </p:nvSpPr>
        <p:spPr>
          <a:xfrm>
            <a:off x="5097779" y="2190839"/>
            <a:ext cx="4046222" cy="430887"/>
          </a:xfrm>
          <a:prstGeom prst="rect">
            <a:avLst/>
          </a:prstGeom>
          <a:noFill/>
        </p:spPr>
        <p:txBody>
          <a:bodyPr wrap="square" rtlCol="0">
            <a:spAutoFit/>
          </a:bodyPr>
          <a:lstStyle/>
          <a:p>
            <a:pPr algn="ctr"/>
            <a:r>
              <a:rPr lang="zh-CN" altLang="en-US" sz="2200" dirty="0"/>
              <a:t>把</a:t>
            </a:r>
            <a:r>
              <a:rPr lang="en-US" altLang="zh-CN" sz="2200" dirty="0"/>
              <a:t>9</a:t>
            </a:r>
            <a:r>
              <a:rPr lang="zh-CN" altLang="en-US" sz="2200" dirty="0"/>
              <a:t>个乘积加起来</a:t>
            </a:r>
            <a:endParaRPr lang="en-US" altLang="zh-CN" sz="2200" dirty="0"/>
          </a:p>
        </p:txBody>
      </p:sp>
      <p:sp>
        <p:nvSpPr>
          <p:cNvPr id="26" name="TextBox 25">
            <a:extLst>
              <a:ext uri="{FF2B5EF4-FFF2-40B4-BE49-F238E27FC236}">
                <a16:creationId xmlns:a16="http://schemas.microsoft.com/office/drawing/2014/main" id="{DF9059DC-A188-4FAC-A898-3FD1A7653612}"/>
              </a:ext>
            </a:extLst>
          </p:cNvPr>
          <p:cNvSpPr txBox="1"/>
          <p:nvPr/>
        </p:nvSpPr>
        <p:spPr>
          <a:xfrm>
            <a:off x="5270343" y="5207913"/>
            <a:ext cx="3630163" cy="430887"/>
          </a:xfrm>
          <a:prstGeom prst="rect">
            <a:avLst/>
          </a:prstGeom>
          <a:noFill/>
        </p:spPr>
        <p:txBody>
          <a:bodyPr wrap="square" rtlCol="0">
            <a:spAutoFit/>
          </a:bodyPr>
          <a:lstStyle/>
          <a:p>
            <a:pPr algn="ctr"/>
            <a:r>
              <a:rPr lang="zh-CN" altLang="en-US" sz="2200" dirty="0"/>
              <a:t>这里和是个很大的正数</a:t>
            </a:r>
            <a:endParaRPr lang="en-US" altLang="zh-CN" sz="2200" dirty="0"/>
          </a:p>
        </p:txBody>
      </p:sp>
      <p:sp>
        <p:nvSpPr>
          <p:cNvPr id="27" name="TextBox 26">
            <a:extLst>
              <a:ext uri="{FF2B5EF4-FFF2-40B4-BE49-F238E27FC236}">
                <a16:creationId xmlns:a16="http://schemas.microsoft.com/office/drawing/2014/main" id="{486CF3BD-EAF4-47CE-8712-FF59941EC97B}"/>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
        <p:nvSpPr>
          <p:cNvPr id="28" name="TextBox 27">
            <a:extLst>
              <a:ext uri="{FF2B5EF4-FFF2-40B4-BE49-F238E27FC236}">
                <a16:creationId xmlns:a16="http://schemas.microsoft.com/office/drawing/2014/main" id="{AECEEA70-3A84-4290-A938-EC647A1258C8}"/>
              </a:ext>
            </a:extLst>
          </p:cNvPr>
          <p:cNvSpPr txBox="1"/>
          <p:nvPr/>
        </p:nvSpPr>
        <p:spPr>
          <a:xfrm>
            <a:off x="5257824" y="2981884"/>
            <a:ext cx="3630163" cy="430887"/>
          </a:xfrm>
          <a:prstGeom prst="rect">
            <a:avLst/>
          </a:prstGeom>
          <a:noFill/>
        </p:spPr>
        <p:txBody>
          <a:bodyPr wrap="square" rtlCol="0">
            <a:spAutoFit/>
          </a:bodyPr>
          <a:lstStyle/>
          <a:p>
            <a:pPr algn="ctr"/>
            <a:r>
              <a:rPr lang="zh-CN" altLang="en-US" sz="2200" dirty="0"/>
              <a:t>然后加上偏向</a:t>
            </a:r>
            <a:endParaRPr lang="en-US" altLang="zh-CN" sz="2200"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CC05A7B-DAEE-4865-B048-0595A2591F21}"/>
                  </a:ext>
                </a:extLst>
              </p:cNvPr>
              <p:cNvSpPr txBox="1"/>
              <p:nvPr/>
            </p:nvSpPr>
            <p:spPr>
              <a:xfrm>
                <a:off x="6157298" y="3793349"/>
                <a:ext cx="1569918" cy="111229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3</m:t>
                          </m:r>
                        </m:sup>
                        <m:e>
                          <m:nary>
                            <m:naryPr>
                              <m:chr m:val="∑"/>
                              <m:ctrlPr>
                                <a:rPr lang="en-US" altLang="zh-CN" sz="2200" i="1" smtClean="0">
                                  <a:latin typeface="Cambria Math" panose="02040503050406030204" pitchFamily="18" charset="0"/>
                                </a:rPr>
                              </m:ctrlPr>
                            </m:naryPr>
                            <m:sub>
                              <m:r>
                                <m:rPr>
                                  <m:brk m:alnAt="23"/>
                                </m:rPr>
                                <a:rPr lang="en-US" altLang="zh-CN" sz="2200" b="0" i="1" smtClean="0">
                                  <a:latin typeface="Cambria Math" panose="02040503050406030204" pitchFamily="18" charset="0"/>
                                </a:rPr>
                                <m:t>𝑗</m:t>
                              </m:r>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3</m:t>
                              </m:r>
                            </m:sup>
                            <m:e>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𝑗</m:t>
                                  </m:r>
                                </m:sub>
                              </m:sSub>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𝑗</m:t>
                                  </m:r>
                                </m:sub>
                              </m:sSub>
                            </m:e>
                          </m:nary>
                        </m:e>
                      </m:nary>
                    </m:oMath>
                  </m:oMathPara>
                </a14:m>
                <a:endParaRPr lang="en-US" altLang="zh-CN" sz="2200" dirty="0"/>
              </a:p>
            </p:txBody>
          </p:sp>
        </mc:Choice>
        <mc:Fallback xmlns="">
          <p:sp>
            <p:nvSpPr>
              <p:cNvPr id="29" name="TextBox 28">
                <a:extLst>
                  <a:ext uri="{FF2B5EF4-FFF2-40B4-BE49-F238E27FC236}">
                    <a16:creationId xmlns:a16="http://schemas.microsoft.com/office/drawing/2014/main" id="{3CC05A7B-DAEE-4865-B048-0595A2591F21}"/>
                  </a:ext>
                </a:extLst>
              </p:cNvPr>
              <p:cNvSpPr txBox="1">
                <a:spLocks noRot="1" noChangeAspect="1" noMove="1" noResize="1" noEditPoints="1" noAdjustHandles="1" noChangeArrowheads="1" noChangeShapeType="1" noTextEdit="1"/>
              </p:cNvSpPr>
              <p:nvPr/>
            </p:nvSpPr>
            <p:spPr>
              <a:xfrm>
                <a:off x="6157298" y="3793349"/>
                <a:ext cx="1569918" cy="1112292"/>
              </a:xfrm>
              <a:prstGeom prst="rect">
                <a:avLst/>
              </a:prstGeom>
              <a:blipFill>
                <a:blip r:embed="rId5"/>
                <a:stretch>
                  <a:fillRect l="-50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0C6D1B9-DAB0-446C-A1B2-126985AFB583}"/>
                  </a:ext>
                </a:extLst>
              </p:cNvPr>
              <p:cNvSpPr txBox="1"/>
              <p:nvPr/>
            </p:nvSpPr>
            <p:spPr>
              <a:xfrm>
                <a:off x="7759873" y="4138356"/>
                <a:ext cx="469727"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rPr>
                        <m:t>+</m:t>
                      </m:r>
                      <m:r>
                        <a:rPr lang="en-US" altLang="zh-CN" sz="2200" b="0" i="1" smtClean="0">
                          <a:latin typeface="Cambria Math" panose="02040503050406030204" pitchFamily="18" charset="0"/>
                        </a:rPr>
                        <m:t>𝑏</m:t>
                      </m:r>
                    </m:oMath>
                  </m:oMathPara>
                </a14:m>
                <a:endParaRPr lang="en-US" altLang="zh-CN" sz="2200" dirty="0"/>
              </a:p>
            </p:txBody>
          </p:sp>
        </mc:Choice>
        <mc:Fallback xmlns="">
          <p:sp>
            <p:nvSpPr>
              <p:cNvPr id="30" name="TextBox 29">
                <a:extLst>
                  <a:ext uri="{FF2B5EF4-FFF2-40B4-BE49-F238E27FC236}">
                    <a16:creationId xmlns:a16="http://schemas.microsoft.com/office/drawing/2014/main" id="{C0C6D1B9-DAB0-446C-A1B2-126985AFB583}"/>
                  </a:ext>
                </a:extLst>
              </p:cNvPr>
              <p:cNvSpPr txBox="1">
                <a:spLocks noRot="1" noChangeAspect="1" noMove="1" noResize="1" noEditPoints="1" noAdjustHandles="1" noChangeArrowheads="1" noChangeShapeType="1" noTextEdit="1"/>
              </p:cNvSpPr>
              <p:nvPr/>
            </p:nvSpPr>
            <p:spPr>
              <a:xfrm>
                <a:off x="7759873" y="4138356"/>
                <a:ext cx="469727" cy="430887"/>
              </a:xfrm>
              <a:prstGeom prst="rect">
                <a:avLst/>
              </a:prstGeom>
              <a:blipFill>
                <a:blip r:embed="rId8"/>
                <a:stretch>
                  <a:fillRect l="-16883"/>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55633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32" name="Picture 31">
            <a:extLst>
              <a:ext uri="{FF2B5EF4-FFF2-40B4-BE49-F238E27FC236}">
                <a16:creationId xmlns:a16="http://schemas.microsoft.com/office/drawing/2014/main" id="{12F35437-F876-4422-9630-F6161504BD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7158" y="4194515"/>
            <a:ext cx="914480" cy="914480"/>
          </a:xfrm>
          <a:prstGeom prst="rect">
            <a:avLst/>
          </a:prstGeom>
        </p:spPr>
      </p:pic>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709160" y="28803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18" name="TextBox 17">
            <a:extLst>
              <a:ext uri="{FF2B5EF4-FFF2-40B4-BE49-F238E27FC236}">
                <a16:creationId xmlns:a16="http://schemas.microsoft.com/office/drawing/2014/main" id="{F6CDB78B-DB19-431E-9A9B-B0FBE4910013}"/>
              </a:ext>
            </a:extLst>
          </p:cNvPr>
          <p:cNvSpPr txBox="1"/>
          <p:nvPr/>
        </p:nvSpPr>
        <p:spPr>
          <a:xfrm>
            <a:off x="338454" y="3053864"/>
            <a:ext cx="2355002" cy="430887"/>
          </a:xfrm>
          <a:prstGeom prst="rect">
            <a:avLst/>
          </a:prstGeom>
          <a:noFill/>
        </p:spPr>
        <p:txBody>
          <a:bodyPr wrap="square" rtlCol="0">
            <a:spAutoFit/>
          </a:bodyPr>
          <a:lstStyle/>
          <a:p>
            <a:pPr algn="ctr"/>
            <a:r>
              <a:rPr lang="zh-CN" altLang="en-US" sz="2200" dirty="0"/>
              <a:t>对应元素相乘</a:t>
            </a:r>
            <a:r>
              <a:rPr lang="en-US" altLang="zh-CN" sz="2200" dirty="0"/>
              <a:t> </a:t>
            </a:r>
          </a:p>
        </p:txBody>
      </p:sp>
      <p:cxnSp>
        <p:nvCxnSpPr>
          <p:cNvPr id="13" name="Straight Arrow Connector 12">
            <a:extLst>
              <a:ext uri="{FF2B5EF4-FFF2-40B4-BE49-F238E27FC236}">
                <a16:creationId xmlns:a16="http://schemas.microsoft.com/office/drawing/2014/main" id="{9B6659F9-418F-4AEC-ADC4-B85F591ACF33}"/>
              </a:ext>
            </a:extLst>
          </p:cNvPr>
          <p:cNvCxnSpPr/>
          <p:nvPr/>
        </p:nvCxnSpPr>
        <p:spPr bwMode="auto">
          <a:xfrm>
            <a:off x="4419600" y="28956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4" name="Straight Arrow Connector 13">
            <a:extLst>
              <a:ext uri="{FF2B5EF4-FFF2-40B4-BE49-F238E27FC236}">
                <a16:creationId xmlns:a16="http://schemas.microsoft.com/office/drawing/2014/main" id="{4089B0C0-AD13-4BE5-AE4F-094C499125D5}"/>
              </a:ext>
            </a:extLst>
          </p:cNvPr>
          <p:cNvCxnSpPr/>
          <p:nvPr/>
        </p:nvCxnSpPr>
        <p:spPr bwMode="auto">
          <a:xfrm>
            <a:off x="4114800" y="28956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5" name="Straight Arrow Connector 14">
            <a:extLst>
              <a:ext uri="{FF2B5EF4-FFF2-40B4-BE49-F238E27FC236}">
                <a16:creationId xmlns:a16="http://schemas.microsoft.com/office/drawing/2014/main" id="{9DF66CFE-120D-4DD1-A339-921B0ABC2668}"/>
              </a:ext>
            </a:extLst>
          </p:cNvPr>
          <p:cNvCxnSpPr/>
          <p:nvPr/>
        </p:nvCxnSpPr>
        <p:spPr bwMode="auto">
          <a:xfrm>
            <a:off x="406146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6" name="Straight Arrow Connector 15">
            <a:extLst>
              <a:ext uri="{FF2B5EF4-FFF2-40B4-BE49-F238E27FC236}">
                <a16:creationId xmlns:a16="http://schemas.microsoft.com/office/drawing/2014/main" id="{07258E63-37BF-4E17-96B5-7A56C6AEAE22}"/>
              </a:ext>
            </a:extLst>
          </p:cNvPr>
          <p:cNvCxnSpPr/>
          <p:nvPr/>
        </p:nvCxnSpPr>
        <p:spPr bwMode="auto">
          <a:xfrm>
            <a:off x="438912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9" name="Straight Arrow Connector 18">
            <a:extLst>
              <a:ext uri="{FF2B5EF4-FFF2-40B4-BE49-F238E27FC236}">
                <a16:creationId xmlns:a16="http://schemas.microsoft.com/office/drawing/2014/main" id="{E4DD73D4-CAB2-402A-A3A4-8963A72BA931}"/>
              </a:ext>
            </a:extLst>
          </p:cNvPr>
          <p:cNvCxnSpPr/>
          <p:nvPr/>
        </p:nvCxnSpPr>
        <p:spPr bwMode="auto">
          <a:xfrm>
            <a:off x="467868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2" name="Straight Arrow Connector 21">
            <a:extLst>
              <a:ext uri="{FF2B5EF4-FFF2-40B4-BE49-F238E27FC236}">
                <a16:creationId xmlns:a16="http://schemas.microsoft.com/office/drawing/2014/main" id="{B15BB6B5-06E6-459F-87E8-110752D76F88}"/>
              </a:ext>
            </a:extLst>
          </p:cNvPr>
          <p:cNvCxnSpPr/>
          <p:nvPr/>
        </p:nvCxnSpPr>
        <p:spPr bwMode="auto">
          <a:xfrm>
            <a:off x="4152900" y="316992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3" name="Straight Arrow Connector 22">
            <a:extLst>
              <a:ext uri="{FF2B5EF4-FFF2-40B4-BE49-F238E27FC236}">
                <a16:creationId xmlns:a16="http://schemas.microsoft.com/office/drawing/2014/main" id="{6D9FA2FC-2ABE-4AA7-8E41-F34995613380}"/>
              </a:ext>
            </a:extLst>
          </p:cNvPr>
          <p:cNvCxnSpPr/>
          <p:nvPr/>
        </p:nvCxnSpPr>
        <p:spPr bwMode="auto">
          <a:xfrm>
            <a:off x="4457700" y="31623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4" name="Straight Arrow Connector 23">
            <a:extLst>
              <a:ext uri="{FF2B5EF4-FFF2-40B4-BE49-F238E27FC236}">
                <a16:creationId xmlns:a16="http://schemas.microsoft.com/office/drawing/2014/main" id="{145D401F-044A-40B9-9CFA-1B5C958FF601}"/>
              </a:ext>
            </a:extLst>
          </p:cNvPr>
          <p:cNvCxnSpPr/>
          <p:nvPr/>
        </p:nvCxnSpPr>
        <p:spPr bwMode="auto">
          <a:xfrm>
            <a:off x="4754880" y="31470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F9059DC-A188-4FAC-A898-3FD1A7653612}"/>
                  </a:ext>
                </a:extLst>
              </p:cNvPr>
              <p:cNvSpPr txBox="1"/>
              <p:nvPr/>
            </p:nvSpPr>
            <p:spPr>
              <a:xfrm>
                <a:off x="5382219" y="2073000"/>
                <a:ext cx="3630163" cy="1759456"/>
              </a:xfrm>
              <a:prstGeom prst="rect">
                <a:avLst/>
              </a:prstGeom>
              <a:noFill/>
            </p:spPr>
            <p:txBody>
              <a:bodyPr wrap="square" rtlCol="0">
                <a:spAutoFit/>
              </a:bodyPr>
              <a:lstStyle/>
              <a:p>
                <a:pPr algn="ctr"/>
                <a:r>
                  <a:rPr lang="zh-CN" altLang="en-US" sz="2200" dirty="0"/>
                  <a:t>但是如果和比</a:t>
                </a:r>
                <a:r>
                  <a:rPr lang="en-US" altLang="zh-CN" sz="2200" dirty="0"/>
                  <a:t>0</a:t>
                </a:r>
                <a:r>
                  <a:rPr lang="zh-CN" altLang="en-US" sz="2200" dirty="0"/>
                  <a:t>小，则设为</a:t>
                </a:r>
                <a:r>
                  <a:rPr lang="en-US" altLang="zh-CN" sz="2200" dirty="0"/>
                  <a:t>0</a:t>
                </a:r>
                <a:r>
                  <a:rPr lang="zh-CN" altLang="en-US" sz="2200" dirty="0"/>
                  <a:t>（线性整流函数）</a:t>
                </a:r>
                <a:endParaRPr lang="en-US" altLang="zh-CN" sz="2200" dirty="0"/>
              </a:p>
              <a:p>
                <a:pPr algn="ctr"/>
                <a14:m>
                  <m:oMathPara xmlns:m="http://schemas.openxmlformats.org/officeDocument/2006/math">
                    <m:oMathParaPr>
                      <m:jc m:val="centerGroup"/>
                    </m:oMathParaPr>
                    <m:oMath xmlns:m="http://schemas.openxmlformats.org/officeDocument/2006/math">
                      <m:r>
                        <m:rPr>
                          <m:sty m:val="p"/>
                        </m:rPr>
                        <a:rPr lang="en-US" altLang="zh-CN" sz="2200" b="0" i="0" smtClean="0">
                          <a:latin typeface="Cambria Math" panose="02040503050406030204" pitchFamily="18" charset="0"/>
                        </a:rPr>
                        <m:t>max</m:t>
                      </m:r>
                      <m:r>
                        <a:rPr lang="en-US" altLang="zh-CN" sz="2200" b="0" i="1" smtClean="0">
                          <a:latin typeface="Cambria Math" panose="02040503050406030204" pitchFamily="18" charset="0"/>
                        </a:rPr>
                        <m:t>⁡(0,</m:t>
                      </m:r>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3</m:t>
                          </m:r>
                        </m:sup>
                        <m:e>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𝑗</m:t>
                              </m:r>
                              <m:r>
                                <a:rPr lang="en-US" altLang="zh-CN" sz="2200" i="1">
                                  <a:latin typeface="Cambria Math" panose="02040503050406030204" pitchFamily="18" charset="0"/>
                                </a:rPr>
                                <m:t>=1</m:t>
                              </m:r>
                            </m:sub>
                            <m:sup>
                              <m:r>
                                <a:rPr lang="en-US" altLang="zh-CN" sz="2200" i="1">
                                  <a:latin typeface="Cambria Math" panose="02040503050406030204" pitchFamily="18" charset="0"/>
                                </a:rPr>
                                <m:t>3</m:t>
                              </m:r>
                            </m:sup>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𝑗</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𝑗</m:t>
                                  </m:r>
                                </m:sub>
                              </m:sSub>
                            </m:e>
                          </m:nary>
                        </m:e>
                      </m:nary>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𝑏</m:t>
                      </m:r>
                      <m:r>
                        <a:rPr lang="en-US" altLang="zh-CN" sz="2200" b="0" i="1" smtClean="0">
                          <a:latin typeface="Cambria Math" panose="02040503050406030204" pitchFamily="18" charset="0"/>
                        </a:rPr>
                        <m:t>)</m:t>
                      </m:r>
                    </m:oMath>
                  </m:oMathPara>
                </a14:m>
                <a:endParaRPr lang="en-US" altLang="zh-CN" sz="2200" dirty="0"/>
              </a:p>
            </p:txBody>
          </p:sp>
        </mc:Choice>
        <mc:Fallback xmlns="">
          <p:sp>
            <p:nvSpPr>
              <p:cNvPr id="26" name="TextBox 25">
                <a:extLst>
                  <a:ext uri="{FF2B5EF4-FFF2-40B4-BE49-F238E27FC236}">
                    <a16:creationId xmlns:a16="http://schemas.microsoft.com/office/drawing/2014/main" id="{DF9059DC-A188-4FAC-A898-3FD1A7653612}"/>
                  </a:ext>
                </a:extLst>
              </p:cNvPr>
              <p:cNvSpPr txBox="1">
                <a:spLocks noRot="1" noChangeAspect="1" noMove="1" noResize="1" noEditPoints="1" noAdjustHandles="1" noChangeArrowheads="1" noChangeShapeType="1" noTextEdit="1"/>
              </p:cNvSpPr>
              <p:nvPr/>
            </p:nvSpPr>
            <p:spPr>
              <a:xfrm>
                <a:off x="5382219" y="2073000"/>
                <a:ext cx="3630163" cy="1759456"/>
              </a:xfrm>
              <a:prstGeom prst="rect">
                <a:avLst/>
              </a:prstGeom>
              <a:blipFill>
                <a:blip r:embed="rId5"/>
                <a:stretch>
                  <a:fillRect l="-2017" t="-3806" r="-1849"/>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486CF3BD-EAF4-47CE-8712-FF59941EC97B}"/>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
        <p:nvSpPr>
          <p:cNvPr id="20" name="TextBox 19">
            <a:extLst>
              <a:ext uri="{FF2B5EF4-FFF2-40B4-BE49-F238E27FC236}">
                <a16:creationId xmlns:a16="http://schemas.microsoft.com/office/drawing/2014/main" id="{05FFCBCB-A81D-414B-9AC3-C48C97C8BC73}"/>
              </a:ext>
            </a:extLst>
          </p:cNvPr>
          <p:cNvSpPr txBox="1"/>
          <p:nvPr/>
        </p:nvSpPr>
        <p:spPr>
          <a:xfrm>
            <a:off x="5481180" y="4914900"/>
            <a:ext cx="3630163" cy="430887"/>
          </a:xfrm>
          <a:prstGeom prst="rect">
            <a:avLst/>
          </a:prstGeom>
          <a:noFill/>
        </p:spPr>
        <p:txBody>
          <a:bodyPr wrap="square" rtlCol="0">
            <a:spAutoFit/>
          </a:bodyPr>
          <a:lstStyle/>
          <a:p>
            <a:pPr algn="ctr"/>
            <a:r>
              <a:rPr lang="zh-CN" altLang="en-US" sz="2200" dirty="0"/>
              <a:t>这里输出是一个很大的正数</a:t>
            </a:r>
            <a:endParaRPr lang="en-US" altLang="zh-CN" sz="2200" dirty="0"/>
          </a:p>
        </p:txBody>
      </p:sp>
    </p:spTree>
    <p:custDataLst>
      <p:tags r:id="rId1"/>
    </p:custDataLst>
    <p:extLst>
      <p:ext uri="{BB962C8B-B14F-4D97-AF65-F5344CB8AC3E}">
        <p14:creationId xmlns:p14="http://schemas.microsoft.com/office/powerpoint/2010/main" val="112200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0C6CA6-D25A-46CD-BE6C-4A40915F24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5600" y="4194000"/>
            <a:ext cx="914480" cy="914480"/>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另一个图像局部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099560" y="262128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20" name="TextBox 19">
            <a:extLst>
              <a:ext uri="{FF2B5EF4-FFF2-40B4-BE49-F238E27FC236}">
                <a16:creationId xmlns:a16="http://schemas.microsoft.com/office/drawing/2014/main" id="{F6D5BCD6-DABA-4E3E-A6AA-ABC04AC06200}"/>
              </a:ext>
            </a:extLst>
          </p:cNvPr>
          <p:cNvSpPr txBox="1"/>
          <p:nvPr/>
        </p:nvSpPr>
        <p:spPr>
          <a:xfrm>
            <a:off x="3738302" y="3430932"/>
            <a:ext cx="292677" cy="430887"/>
          </a:xfrm>
          <a:prstGeom prst="rect">
            <a:avLst/>
          </a:prstGeom>
          <a:noFill/>
        </p:spPr>
        <p:txBody>
          <a:bodyPr wrap="square" rtlCol="0">
            <a:spAutoFit/>
          </a:bodyPr>
          <a:lstStyle/>
          <a:p>
            <a:pPr algn="ctr"/>
            <a:r>
              <a:rPr lang="en-US" altLang="zh-CN" sz="2200" dirty="0"/>
              <a:t>x</a:t>
            </a:r>
          </a:p>
        </p:txBody>
      </p:sp>
      <p:sp>
        <p:nvSpPr>
          <p:cNvPr id="21" name="TextBox 20">
            <a:extLst>
              <a:ext uri="{FF2B5EF4-FFF2-40B4-BE49-F238E27FC236}">
                <a16:creationId xmlns:a16="http://schemas.microsoft.com/office/drawing/2014/main" id="{D67F1F41-F134-4284-B82B-33808A91157B}"/>
              </a:ext>
            </a:extLst>
          </p:cNvPr>
          <p:cNvSpPr txBox="1"/>
          <p:nvPr/>
        </p:nvSpPr>
        <p:spPr>
          <a:xfrm>
            <a:off x="5377680" y="3114824"/>
            <a:ext cx="2821403" cy="769441"/>
          </a:xfrm>
          <a:prstGeom prst="rect">
            <a:avLst/>
          </a:prstGeom>
          <a:noFill/>
        </p:spPr>
        <p:txBody>
          <a:bodyPr wrap="square" rtlCol="0">
            <a:spAutoFit/>
          </a:bodyPr>
          <a:lstStyle/>
          <a:p>
            <a:pPr algn="ctr"/>
            <a:endParaRPr lang="en-US" altLang="zh-CN" sz="2200" dirty="0"/>
          </a:p>
          <a:p>
            <a:pPr algn="ctr"/>
            <a:r>
              <a:rPr lang="zh-CN" altLang="en-US" sz="2200" dirty="0"/>
              <a:t>负 </a:t>
            </a:r>
            <a:r>
              <a:rPr lang="en-US" altLang="zh-CN" sz="2200" dirty="0"/>
              <a:t>x</a:t>
            </a:r>
            <a:r>
              <a:rPr lang="zh-CN" altLang="en-US" sz="2200" dirty="0"/>
              <a:t> 正 </a:t>
            </a:r>
            <a:r>
              <a:rPr lang="en-US" altLang="zh-CN" sz="2200" dirty="0">
                <a:latin typeface="等线" panose="02010600030101010101" pitchFamily="2" charset="-122"/>
                <a:ea typeface="等线" panose="02010600030101010101" pitchFamily="2" charset="-122"/>
              </a:rPr>
              <a:t>→ </a:t>
            </a:r>
            <a:r>
              <a:rPr lang="zh-CN" altLang="en-US" sz="2200" dirty="0"/>
              <a:t>负</a:t>
            </a:r>
            <a:endParaRPr lang="en-US" altLang="zh-CN" sz="2200" dirty="0"/>
          </a:p>
        </p:txBody>
      </p:sp>
      <p:sp>
        <p:nvSpPr>
          <p:cNvPr id="15" name="TextBox 14">
            <a:extLst>
              <a:ext uri="{FF2B5EF4-FFF2-40B4-BE49-F238E27FC236}">
                <a16:creationId xmlns:a16="http://schemas.microsoft.com/office/drawing/2014/main" id="{E1F5B184-3E69-4120-849A-36243191DECB}"/>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 </a:t>
            </a:r>
            <a:r>
              <a:rPr lang="zh-CN" altLang="en-US" sz="2200" dirty="0"/>
              <a:t>权重 </a:t>
            </a:r>
            <a:r>
              <a:rPr lang="en-US" altLang="zh-CN" sz="2200" dirty="0"/>
              <a:t>+ </a:t>
            </a:r>
            <a:r>
              <a:rPr lang="zh-CN" altLang="en-US" sz="2200" dirty="0"/>
              <a:t>偏向</a:t>
            </a:r>
          </a:p>
        </p:txBody>
      </p:sp>
    </p:spTree>
    <p:custDataLst>
      <p:tags r:id="rId1"/>
    </p:custDataLst>
    <p:extLst>
      <p:ext uri="{BB962C8B-B14F-4D97-AF65-F5344CB8AC3E}">
        <p14:creationId xmlns:p14="http://schemas.microsoft.com/office/powerpoint/2010/main" val="402685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0C6CA6-D25A-46CD-BE6C-4A40915F2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5600" y="4194000"/>
            <a:ext cx="914480" cy="914480"/>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另一个图像局部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419600" y="262128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20" name="TextBox 19">
            <a:extLst>
              <a:ext uri="{FF2B5EF4-FFF2-40B4-BE49-F238E27FC236}">
                <a16:creationId xmlns:a16="http://schemas.microsoft.com/office/drawing/2014/main" id="{F6D5BCD6-DABA-4E3E-A6AA-ABC04AC06200}"/>
              </a:ext>
            </a:extLst>
          </p:cNvPr>
          <p:cNvSpPr txBox="1"/>
          <p:nvPr/>
        </p:nvSpPr>
        <p:spPr>
          <a:xfrm>
            <a:off x="4058342" y="3430932"/>
            <a:ext cx="292677" cy="430887"/>
          </a:xfrm>
          <a:prstGeom prst="rect">
            <a:avLst/>
          </a:prstGeom>
          <a:noFill/>
        </p:spPr>
        <p:txBody>
          <a:bodyPr wrap="square" rtlCol="0">
            <a:spAutoFit/>
          </a:bodyPr>
          <a:lstStyle/>
          <a:p>
            <a:pPr algn="ctr"/>
            <a:r>
              <a:rPr lang="en-US" altLang="zh-CN" sz="2200" dirty="0"/>
              <a:t>x</a:t>
            </a:r>
          </a:p>
        </p:txBody>
      </p:sp>
      <p:sp>
        <p:nvSpPr>
          <p:cNvPr id="21" name="TextBox 20">
            <a:extLst>
              <a:ext uri="{FF2B5EF4-FFF2-40B4-BE49-F238E27FC236}">
                <a16:creationId xmlns:a16="http://schemas.microsoft.com/office/drawing/2014/main" id="{D67F1F41-F134-4284-B82B-33808A91157B}"/>
              </a:ext>
            </a:extLst>
          </p:cNvPr>
          <p:cNvSpPr txBox="1"/>
          <p:nvPr/>
        </p:nvSpPr>
        <p:spPr>
          <a:xfrm>
            <a:off x="5377680" y="3114824"/>
            <a:ext cx="2821403" cy="769441"/>
          </a:xfrm>
          <a:prstGeom prst="rect">
            <a:avLst/>
          </a:prstGeom>
          <a:noFill/>
        </p:spPr>
        <p:txBody>
          <a:bodyPr wrap="square" rtlCol="0">
            <a:spAutoFit/>
          </a:bodyPr>
          <a:lstStyle/>
          <a:p>
            <a:pPr algn="ctr"/>
            <a:endParaRPr lang="en-US" altLang="zh-CN" sz="2200" dirty="0"/>
          </a:p>
          <a:p>
            <a:pPr algn="ctr"/>
            <a:r>
              <a:rPr lang="zh-CN" altLang="en-US" sz="2200" dirty="0"/>
              <a:t>负 </a:t>
            </a:r>
            <a:r>
              <a:rPr lang="en-US" altLang="zh-CN" sz="2200" dirty="0"/>
              <a:t>x</a:t>
            </a:r>
            <a:r>
              <a:rPr lang="zh-CN" altLang="en-US" sz="2200" dirty="0"/>
              <a:t> 正 </a:t>
            </a:r>
            <a:r>
              <a:rPr lang="en-US" altLang="zh-CN" sz="2200" dirty="0">
                <a:latin typeface="等线" panose="02010600030101010101" pitchFamily="2" charset="-122"/>
                <a:ea typeface="等线" panose="02010600030101010101" pitchFamily="2" charset="-122"/>
              </a:rPr>
              <a:t>→ </a:t>
            </a:r>
            <a:r>
              <a:rPr lang="zh-CN" altLang="en-US" sz="2200" dirty="0"/>
              <a:t>负</a:t>
            </a:r>
            <a:endParaRPr lang="en-US" altLang="zh-CN" sz="2200" dirty="0"/>
          </a:p>
        </p:txBody>
      </p:sp>
      <p:sp>
        <p:nvSpPr>
          <p:cNvPr id="11" name="TextBox 10">
            <a:extLst>
              <a:ext uri="{FF2B5EF4-FFF2-40B4-BE49-F238E27FC236}">
                <a16:creationId xmlns:a16="http://schemas.microsoft.com/office/drawing/2014/main" id="{17F27909-81CA-4A15-93BB-3DFC485A46A1}"/>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extLst>
      <p:ext uri="{BB962C8B-B14F-4D97-AF65-F5344CB8AC3E}">
        <p14:creationId xmlns:p14="http://schemas.microsoft.com/office/powerpoint/2010/main" val="2150219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0C6CA6-D25A-46CD-BE6C-4A40915F2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5600" y="4194000"/>
            <a:ext cx="914480" cy="914480"/>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另一个图像局部</a:t>
            </a:r>
          </a:p>
        </p:txBody>
      </p:sp>
      <p:cxnSp>
        <p:nvCxnSpPr>
          <p:cNvPr id="5" name="Straight Arrow Connector 4">
            <a:extLst>
              <a:ext uri="{FF2B5EF4-FFF2-40B4-BE49-F238E27FC236}">
                <a16:creationId xmlns:a16="http://schemas.microsoft.com/office/drawing/2014/main" id="{8FF3F709-E4E0-4ED8-BF04-FA979C34B9B3}"/>
              </a:ext>
            </a:extLst>
          </p:cNvPr>
          <p:cNvCxnSpPr/>
          <p:nvPr/>
        </p:nvCxnSpPr>
        <p:spPr bwMode="auto">
          <a:xfrm>
            <a:off x="4724400" y="319278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20" name="TextBox 19">
            <a:extLst>
              <a:ext uri="{FF2B5EF4-FFF2-40B4-BE49-F238E27FC236}">
                <a16:creationId xmlns:a16="http://schemas.microsoft.com/office/drawing/2014/main" id="{F6D5BCD6-DABA-4E3E-A6AA-ABC04AC06200}"/>
              </a:ext>
            </a:extLst>
          </p:cNvPr>
          <p:cNvSpPr txBox="1"/>
          <p:nvPr/>
        </p:nvSpPr>
        <p:spPr>
          <a:xfrm>
            <a:off x="4361585" y="3730809"/>
            <a:ext cx="292677" cy="430887"/>
          </a:xfrm>
          <a:prstGeom prst="rect">
            <a:avLst/>
          </a:prstGeom>
          <a:noFill/>
        </p:spPr>
        <p:txBody>
          <a:bodyPr wrap="square" rtlCol="0">
            <a:spAutoFit/>
          </a:bodyPr>
          <a:lstStyle/>
          <a:p>
            <a:pPr algn="ctr"/>
            <a:r>
              <a:rPr lang="en-US" altLang="zh-CN" sz="2200" dirty="0"/>
              <a:t>x</a:t>
            </a:r>
          </a:p>
        </p:txBody>
      </p:sp>
      <p:sp>
        <p:nvSpPr>
          <p:cNvPr id="21" name="TextBox 20">
            <a:extLst>
              <a:ext uri="{FF2B5EF4-FFF2-40B4-BE49-F238E27FC236}">
                <a16:creationId xmlns:a16="http://schemas.microsoft.com/office/drawing/2014/main" id="{D67F1F41-F134-4284-B82B-33808A91157B}"/>
              </a:ext>
            </a:extLst>
          </p:cNvPr>
          <p:cNvSpPr txBox="1"/>
          <p:nvPr/>
        </p:nvSpPr>
        <p:spPr>
          <a:xfrm>
            <a:off x="5377680" y="3114824"/>
            <a:ext cx="2821403" cy="769441"/>
          </a:xfrm>
          <a:prstGeom prst="rect">
            <a:avLst/>
          </a:prstGeom>
          <a:noFill/>
        </p:spPr>
        <p:txBody>
          <a:bodyPr wrap="square" rtlCol="0">
            <a:spAutoFit/>
          </a:bodyPr>
          <a:lstStyle/>
          <a:p>
            <a:pPr algn="ctr"/>
            <a:endParaRPr lang="en-US" altLang="zh-CN" sz="2200" dirty="0"/>
          </a:p>
          <a:p>
            <a:pPr algn="ctr"/>
            <a:r>
              <a:rPr lang="zh-CN" altLang="en-US" sz="2200" dirty="0"/>
              <a:t>正 </a:t>
            </a:r>
            <a:r>
              <a:rPr lang="en-US" altLang="zh-CN" sz="2200" dirty="0"/>
              <a:t>x </a:t>
            </a:r>
            <a:r>
              <a:rPr lang="zh-CN" altLang="en-US" sz="2200" dirty="0"/>
              <a:t>负 </a:t>
            </a:r>
            <a:r>
              <a:rPr lang="en-US" altLang="zh-CN" sz="2200" dirty="0">
                <a:latin typeface="等线" panose="02010600030101010101" pitchFamily="2" charset="-122"/>
                <a:ea typeface="等线" panose="02010600030101010101" pitchFamily="2" charset="-122"/>
              </a:rPr>
              <a:t>→ </a:t>
            </a:r>
            <a:r>
              <a:rPr lang="zh-CN" altLang="en-US" sz="2200" dirty="0"/>
              <a:t>负</a:t>
            </a:r>
            <a:endParaRPr lang="en-US" altLang="zh-CN" sz="2200" dirty="0"/>
          </a:p>
        </p:txBody>
      </p:sp>
      <p:sp>
        <p:nvSpPr>
          <p:cNvPr id="11" name="TextBox 10">
            <a:extLst>
              <a:ext uri="{FF2B5EF4-FFF2-40B4-BE49-F238E27FC236}">
                <a16:creationId xmlns:a16="http://schemas.microsoft.com/office/drawing/2014/main" id="{A5DB906E-29B2-4EA0-A51A-12A8041EC28A}"/>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extLst>
      <p:ext uri="{BB962C8B-B14F-4D97-AF65-F5344CB8AC3E}">
        <p14:creationId xmlns:p14="http://schemas.microsoft.com/office/powerpoint/2010/main" val="27937615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0C6CA6-D25A-46CD-BE6C-4A40915F24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5600" y="4194000"/>
            <a:ext cx="914480" cy="914480"/>
          </a:xfrm>
          <a:prstGeom prst="rect">
            <a:avLst/>
          </a:prstGeom>
        </p:spPr>
      </p:pic>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sp>
        <p:nvSpPr>
          <p:cNvPr id="33" name="TextBox 32">
            <a:extLst>
              <a:ext uri="{FF2B5EF4-FFF2-40B4-BE49-F238E27FC236}">
                <a16:creationId xmlns:a16="http://schemas.microsoft.com/office/drawing/2014/main" id="{5BC60E7F-02AE-4A1C-BA11-2E9CEB553DBF}"/>
              </a:ext>
            </a:extLst>
          </p:cNvPr>
          <p:cNvSpPr txBox="1"/>
          <p:nvPr/>
        </p:nvSpPr>
        <p:spPr>
          <a:xfrm>
            <a:off x="2873827" y="5320236"/>
            <a:ext cx="3091543" cy="430887"/>
          </a:xfrm>
          <a:prstGeom prst="rect">
            <a:avLst/>
          </a:prstGeom>
          <a:noFill/>
        </p:spPr>
        <p:txBody>
          <a:bodyPr wrap="square" rtlCol="0">
            <a:spAutoFit/>
          </a:bodyPr>
          <a:lstStyle/>
          <a:p>
            <a:pPr algn="ctr"/>
            <a:r>
              <a:rPr lang="zh-CN" altLang="en-US" sz="2200" dirty="0"/>
              <a:t>另一个图像局部</a:t>
            </a:r>
          </a:p>
        </p:txBody>
      </p:sp>
      <p:cxnSp>
        <p:nvCxnSpPr>
          <p:cNvPr id="11" name="Straight Arrow Connector 10">
            <a:extLst>
              <a:ext uri="{FF2B5EF4-FFF2-40B4-BE49-F238E27FC236}">
                <a16:creationId xmlns:a16="http://schemas.microsoft.com/office/drawing/2014/main" id="{5AEA9FF1-E064-403A-8C2D-233927BBAAE5}"/>
              </a:ext>
            </a:extLst>
          </p:cNvPr>
          <p:cNvCxnSpPr/>
          <p:nvPr/>
        </p:nvCxnSpPr>
        <p:spPr bwMode="auto">
          <a:xfrm>
            <a:off x="4709160" y="28803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3" name="Straight Arrow Connector 12">
            <a:extLst>
              <a:ext uri="{FF2B5EF4-FFF2-40B4-BE49-F238E27FC236}">
                <a16:creationId xmlns:a16="http://schemas.microsoft.com/office/drawing/2014/main" id="{62CAD10A-306C-45C6-9954-F3F109024327}"/>
              </a:ext>
            </a:extLst>
          </p:cNvPr>
          <p:cNvCxnSpPr/>
          <p:nvPr/>
        </p:nvCxnSpPr>
        <p:spPr bwMode="auto">
          <a:xfrm>
            <a:off x="4419600" y="28956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4" name="Straight Arrow Connector 13">
            <a:extLst>
              <a:ext uri="{FF2B5EF4-FFF2-40B4-BE49-F238E27FC236}">
                <a16:creationId xmlns:a16="http://schemas.microsoft.com/office/drawing/2014/main" id="{ACD95D25-855D-47B0-A9CD-23CD8B6882A6}"/>
              </a:ext>
            </a:extLst>
          </p:cNvPr>
          <p:cNvCxnSpPr/>
          <p:nvPr/>
        </p:nvCxnSpPr>
        <p:spPr bwMode="auto">
          <a:xfrm>
            <a:off x="4114800" y="28956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5" name="Straight Arrow Connector 14">
            <a:extLst>
              <a:ext uri="{FF2B5EF4-FFF2-40B4-BE49-F238E27FC236}">
                <a16:creationId xmlns:a16="http://schemas.microsoft.com/office/drawing/2014/main" id="{5296C7DF-7769-4A13-BE20-4C576E12D62A}"/>
              </a:ext>
            </a:extLst>
          </p:cNvPr>
          <p:cNvCxnSpPr/>
          <p:nvPr/>
        </p:nvCxnSpPr>
        <p:spPr bwMode="auto">
          <a:xfrm>
            <a:off x="406146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6" name="Straight Arrow Connector 15">
            <a:extLst>
              <a:ext uri="{FF2B5EF4-FFF2-40B4-BE49-F238E27FC236}">
                <a16:creationId xmlns:a16="http://schemas.microsoft.com/office/drawing/2014/main" id="{B6819223-37BB-46B2-B714-0180EBD71A90}"/>
              </a:ext>
            </a:extLst>
          </p:cNvPr>
          <p:cNvCxnSpPr/>
          <p:nvPr/>
        </p:nvCxnSpPr>
        <p:spPr bwMode="auto">
          <a:xfrm>
            <a:off x="438912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8" name="Straight Arrow Connector 17">
            <a:extLst>
              <a:ext uri="{FF2B5EF4-FFF2-40B4-BE49-F238E27FC236}">
                <a16:creationId xmlns:a16="http://schemas.microsoft.com/office/drawing/2014/main" id="{A934D00C-8550-4ED3-81D7-78C876A5B3CC}"/>
              </a:ext>
            </a:extLst>
          </p:cNvPr>
          <p:cNvCxnSpPr/>
          <p:nvPr/>
        </p:nvCxnSpPr>
        <p:spPr bwMode="auto">
          <a:xfrm>
            <a:off x="4678680" y="25755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19" name="Straight Arrow Connector 18">
            <a:extLst>
              <a:ext uri="{FF2B5EF4-FFF2-40B4-BE49-F238E27FC236}">
                <a16:creationId xmlns:a16="http://schemas.microsoft.com/office/drawing/2014/main" id="{796E7714-B04B-4581-85A5-554A8A4B18BD}"/>
              </a:ext>
            </a:extLst>
          </p:cNvPr>
          <p:cNvCxnSpPr/>
          <p:nvPr/>
        </p:nvCxnSpPr>
        <p:spPr bwMode="auto">
          <a:xfrm>
            <a:off x="4152900" y="316992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2" name="Straight Arrow Connector 21">
            <a:extLst>
              <a:ext uri="{FF2B5EF4-FFF2-40B4-BE49-F238E27FC236}">
                <a16:creationId xmlns:a16="http://schemas.microsoft.com/office/drawing/2014/main" id="{FBB402A6-FDA6-485B-BA7D-04CD2152FE57}"/>
              </a:ext>
            </a:extLst>
          </p:cNvPr>
          <p:cNvCxnSpPr/>
          <p:nvPr/>
        </p:nvCxnSpPr>
        <p:spPr bwMode="auto">
          <a:xfrm>
            <a:off x="4457700" y="316230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3" name="Straight Arrow Connector 22">
            <a:extLst>
              <a:ext uri="{FF2B5EF4-FFF2-40B4-BE49-F238E27FC236}">
                <a16:creationId xmlns:a16="http://schemas.microsoft.com/office/drawing/2014/main" id="{F5E6FBC2-C563-4794-A13B-185150A9028B}"/>
              </a:ext>
            </a:extLst>
          </p:cNvPr>
          <p:cNvCxnSpPr/>
          <p:nvPr/>
        </p:nvCxnSpPr>
        <p:spPr bwMode="auto">
          <a:xfrm>
            <a:off x="4754880" y="3147060"/>
            <a:ext cx="0" cy="175260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E20AE13-4F4C-4975-A46A-AB62EB2755D5}"/>
                  </a:ext>
                </a:extLst>
              </p:cNvPr>
              <p:cNvSpPr txBox="1"/>
              <p:nvPr/>
            </p:nvSpPr>
            <p:spPr>
              <a:xfrm>
                <a:off x="5302403" y="2473264"/>
                <a:ext cx="3841597" cy="1759456"/>
              </a:xfrm>
              <a:prstGeom prst="rect">
                <a:avLst/>
              </a:prstGeom>
              <a:noFill/>
            </p:spPr>
            <p:txBody>
              <a:bodyPr wrap="square" rtlCol="0">
                <a:spAutoFit/>
              </a:bodyPr>
              <a:lstStyle/>
              <a:p>
                <a:pPr algn="ctr"/>
                <a:r>
                  <a:rPr lang="zh-CN" altLang="en-US" sz="2200" dirty="0"/>
                  <a:t>这次</a:t>
                </a:r>
                <a:r>
                  <a:rPr lang="en-US" altLang="zh-CN" sz="2200" dirty="0"/>
                  <a:t>9</a:t>
                </a:r>
                <a:r>
                  <a:rPr lang="zh-CN" altLang="en-US" sz="2200" dirty="0"/>
                  <a:t>个乘积之和加上偏向小于</a:t>
                </a:r>
                <a:r>
                  <a:rPr lang="en-US" altLang="zh-CN" sz="2200" dirty="0"/>
                  <a:t>0</a:t>
                </a:r>
                <a:r>
                  <a:rPr lang="zh-CN" altLang="en-US" sz="2200" dirty="0"/>
                  <a:t>，线性整流函数输出</a:t>
                </a:r>
                <a:r>
                  <a:rPr lang="en-US" altLang="zh-CN" sz="2200" dirty="0"/>
                  <a:t>0 </a:t>
                </a:r>
              </a:p>
              <a:p>
                <a:pPr algn="ctr"/>
                <a14:m>
                  <m:oMathPara xmlns:m="http://schemas.openxmlformats.org/officeDocument/2006/math">
                    <m:oMathParaPr>
                      <m:jc m:val="centerGroup"/>
                    </m:oMathParaPr>
                    <m:oMath xmlns:m="http://schemas.openxmlformats.org/officeDocument/2006/math">
                      <m:r>
                        <m:rPr>
                          <m:sty m:val="p"/>
                        </m:rPr>
                        <a:rPr lang="en-US" altLang="zh-CN" sz="2200">
                          <a:latin typeface="Cambria Math" panose="02040503050406030204" pitchFamily="18" charset="0"/>
                        </a:rPr>
                        <m:t>max</m:t>
                      </m:r>
                      <m:r>
                        <a:rPr lang="en-US" altLang="zh-CN" sz="2200" i="1">
                          <a:latin typeface="Cambria Math" panose="02040503050406030204" pitchFamily="18" charset="0"/>
                        </a:rPr>
                        <m:t>⁡</m:t>
                      </m:r>
                      <m:r>
                        <a:rPr lang="en-US" altLang="zh-CN" sz="2200" b="0" i="1" smtClean="0">
                          <a:latin typeface="Cambria Math" panose="02040503050406030204" pitchFamily="18" charset="0"/>
                        </a:rPr>
                        <m:t>(</m:t>
                      </m:r>
                      <m:r>
                        <a:rPr lang="en-US" altLang="zh-CN" sz="2200" i="1">
                          <a:latin typeface="Cambria Math" panose="02040503050406030204" pitchFamily="18" charset="0"/>
                        </a:rPr>
                        <m:t>0,</m:t>
                      </m:r>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𝑖</m:t>
                          </m:r>
                          <m:r>
                            <a:rPr lang="en-US" altLang="zh-CN" sz="2200" i="1">
                              <a:latin typeface="Cambria Math" panose="02040503050406030204" pitchFamily="18" charset="0"/>
                            </a:rPr>
                            <m:t>=1</m:t>
                          </m:r>
                        </m:sub>
                        <m:sup>
                          <m:r>
                            <a:rPr lang="en-US" altLang="zh-CN" sz="2200" i="1">
                              <a:latin typeface="Cambria Math" panose="02040503050406030204" pitchFamily="18" charset="0"/>
                            </a:rPr>
                            <m:t>3</m:t>
                          </m:r>
                        </m:sup>
                        <m:e>
                          <m:nary>
                            <m:naryPr>
                              <m:chr m:val="∑"/>
                              <m:ctrlPr>
                                <a:rPr lang="en-US" altLang="zh-CN" sz="2200" i="1">
                                  <a:latin typeface="Cambria Math" panose="02040503050406030204" pitchFamily="18" charset="0"/>
                                </a:rPr>
                              </m:ctrlPr>
                            </m:naryPr>
                            <m:sub>
                              <m:r>
                                <m:rPr>
                                  <m:brk m:alnAt="23"/>
                                </m:rPr>
                                <a:rPr lang="en-US" altLang="zh-CN" sz="2200" i="1">
                                  <a:latin typeface="Cambria Math" panose="02040503050406030204" pitchFamily="18" charset="0"/>
                                </a:rPr>
                                <m:t>𝑗</m:t>
                              </m:r>
                              <m:r>
                                <a:rPr lang="en-US" altLang="zh-CN" sz="2200" i="1">
                                  <a:latin typeface="Cambria Math" panose="02040503050406030204" pitchFamily="18" charset="0"/>
                                </a:rPr>
                                <m:t>=1</m:t>
                              </m:r>
                            </m:sub>
                            <m:sup>
                              <m:r>
                                <a:rPr lang="en-US" altLang="zh-CN" sz="2200" i="1">
                                  <a:latin typeface="Cambria Math" panose="02040503050406030204" pitchFamily="18" charset="0"/>
                                </a:rPr>
                                <m:t>3</m:t>
                              </m:r>
                            </m:sup>
                            <m:e>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𝑤</m:t>
                                  </m:r>
                                </m:e>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𝑗</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𝑗</m:t>
                                  </m:r>
                                </m:sub>
                              </m:sSub>
                            </m:e>
                          </m:nary>
                        </m:e>
                      </m:nary>
                      <m:r>
                        <a:rPr lang="en-US" altLang="zh-CN" sz="2200" i="1">
                          <a:latin typeface="Cambria Math" panose="02040503050406030204" pitchFamily="18" charset="0"/>
                        </a:rPr>
                        <m:t>+</m:t>
                      </m:r>
                      <m:r>
                        <a:rPr lang="en-US" altLang="zh-CN" sz="2200" i="1">
                          <a:latin typeface="Cambria Math" panose="02040503050406030204" pitchFamily="18" charset="0"/>
                        </a:rPr>
                        <m:t>𝑏</m:t>
                      </m:r>
                      <m:r>
                        <a:rPr lang="en-US" altLang="zh-CN" sz="2200" i="1">
                          <a:latin typeface="Cambria Math" panose="02040503050406030204" pitchFamily="18" charset="0"/>
                        </a:rPr>
                        <m:t>)=0</m:t>
                      </m:r>
                    </m:oMath>
                  </m:oMathPara>
                </a14:m>
                <a:endParaRPr lang="en-US" altLang="zh-CN" sz="2200" dirty="0"/>
              </a:p>
            </p:txBody>
          </p:sp>
        </mc:Choice>
        <mc:Fallback xmlns="">
          <p:sp>
            <p:nvSpPr>
              <p:cNvPr id="24" name="TextBox 23">
                <a:extLst>
                  <a:ext uri="{FF2B5EF4-FFF2-40B4-BE49-F238E27FC236}">
                    <a16:creationId xmlns:a16="http://schemas.microsoft.com/office/drawing/2014/main" id="{2E20AE13-4F4C-4975-A46A-AB62EB2755D5}"/>
                  </a:ext>
                </a:extLst>
              </p:cNvPr>
              <p:cNvSpPr txBox="1">
                <a:spLocks noRot="1" noChangeAspect="1" noMove="1" noResize="1" noEditPoints="1" noAdjustHandles="1" noChangeArrowheads="1" noChangeShapeType="1" noTextEdit="1"/>
              </p:cNvSpPr>
              <p:nvPr/>
            </p:nvSpPr>
            <p:spPr>
              <a:xfrm>
                <a:off x="5302403" y="2473264"/>
                <a:ext cx="3841597" cy="1759456"/>
              </a:xfrm>
              <a:prstGeom prst="rect">
                <a:avLst/>
              </a:prstGeom>
              <a:blipFill>
                <a:blip r:embed="rId5"/>
                <a:stretch>
                  <a:fillRect l="-476" t="-3819" r="-476"/>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A99A6D60-95B8-4B3C-BABA-41E4EA527A17}"/>
              </a:ext>
            </a:extLst>
          </p:cNvPr>
          <p:cNvSpPr txBox="1"/>
          <p:nvPr/>
        </p:nvSpPr>
        <p:spPr>
          <a:xfrm>
            <a:off x="3767695" y="3526970"/>
            <a:ext cx="292677" cy="430887"/>
          </a:xfrm>
          <a:prstGeom prst="rect">
            <a:avLst/>
          </a:prstGeom>
          <a:noFill/>
        </p:spPr>
        <p:txBody>
          <a:bodyPr wrap="square" rtlCol="0">
            <a:spAutoFit/>
          </a:bodyPr>
          <a:lstStyle/>
          <a:p>
            <a:pPr algn="ctr"/>
            <a:r>
              <a:rPr lang="en-US" altLang="zh-CN" sz="2200" dirty="0"/>
              <a:t>x</a:t>
            </a:r>
          </a:p>
        </p:txBody>
      </p:sp>
      <p:sp>
        <p:nvSpPr>
          <p:cNvPr id="26" name="TextBox 25">
            <a:extLst>
              <a:ext uri="{FF2B5EF4-FFF2-40B4-BE49-F238E27FC236}">
                <a16:creationId xmlns:a16="http://schemas.microsoft.com/office/drawing/2014/main" id="{39F344B9-C46D-4DC6-AB77-971BA25B1281}"/>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custDataLst>
      <p:tags r:id="rId1"/>
    </p:custDataLst>
    <p:extLst>
      <p:ext uri="{BB962C8B-B14F-4D97-AF65-F5344CB8AC3E}">
        <p14:creationId xmlns:p14="http://schemas.microsoft.com/office/powerpoint/2010/main" val="139302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7" name="Picture 6">
            <a:extLst>
              <a:ext uri="{FF2B5EF4-FFF2-40B4-BE49-F238E27FC236}">
                <a16:creationId xmlns:a16="http://schemas.microsoft.com/office/drawing/2014/main" id="{88758BB6-820C-42FA-AD0A-7E4EC192C5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6483" y="3792327"/>
            <a:ext cx="2446232" cy="2438611"/>
          </a:xfrm>
          <a:prstGeom prst="rect">
            <a:avLst/>
          </a:prstGeom>
        </p:spPr>
      </p:pic>
      <p:graphicFrame>
        <p:nvGraphicFramePr>
          <p:cNvPr id="13" name="Table 12">
            <a:extLst>
              <a:ext uri="{FF2B5EF4-FFF2-40B4-BE49-F238E27FC236}">
                <a16:creationId xmlns:a16="http://schemas.microsoft.com/office/drawing/2014/main" id="{AE4118CD-6DEE-4A1E-B08E-56C9C8BAAAB1}"/>
              </a:ext>
            </a:extLst>
          </p:cNvPr>
          <p:cNvGraphicFramePr>
            <a:graphicFrameLocks noGrp="1"/>
          </p:cNvGraphicFramePr>
          <p:nvPr/>
        </p:nvGraphicFramePr>
        <p:xfrm>
          <a:off x="3657600" y="3799840"/>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2000"/>
                      </a:schemeClr>
                    </a:solidFill>
                  </a:tcPr>
                </a:tc>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dirty="0"/>
                    </a:p>
                  </a:txBody>
                  <a:tcPr marL="0" marR="0" marT="0" marB="0">
                    <a:solidFill>
                      <a:schemeClr val="accent1">
                        <a:alpha val="42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dirty="0"/>
                    </a:p>
                  </a:txBody>
                  <a:tcPr marL="0" marR="0" marT="0" marB="0">
                    <a:solidFill>
                      <a:schemeClr val="accent1">
                        <a:lumMod val="75000"/>
                        <a:alpha val="42000"/>
                      </a:schemeClr>
                    </a:solidFill>
                  </a:tcPr>
                </a:tc>
                <a:extLst>
                  <a:ext uri="{0D108BD9-81ED-4DB2-BD59-A6C34878D82A}">
                    <a16:rowId xmlns:a16="http://schemas.microsoft.com/office/drawing/2014/main" val="167477589"/>
                  </a:ext>
                </a:extLst>
              </a:tr>
            </a:tbl>
          </a:graphicData>
        </a:graphic>
      </p:graphicFrame>
      <p:sp>
        <p:nvSpPr>
          <p:cNvPr id="14" name="TextBox 13">
            <a:extLst>
              <a:ext uri="{FF2B5EF4-FFF2-40B4-BE49-F238E27FC236}">
                <a16:creationId xmlns:a16="http://schemas.microsoft.com/office/drawing/2014/main" id="{510D6111-7889-4B5D-8978-53A577E4923D}"/>
              </a:ext>
            </a:extLst>
          </p:cNvPr>
          <p:cNvSpPr txBox="1"/>
          <p:nvPr/>
        </p:nvSpPr>
        <p:spPr>
          <a:xfrm>
            <a:off x="457200" y="3196474"/>
            <a:ext cx="2177145" cy="430887"/>
          </a:xfrm>
          <a:prstGeom prst="rect">
            <a:avLst/>
          </a:prstGeom>
          <a:noFill/>
        </p:spPr>
        <p:txBody>
          <a:bodyPr wrap="square" rtlCol="0">
            <a:spAutoFit/>
          </a:bodyPr>
          <a:lstStyle/>
          <a:p>
            <a:pPr algn="ctr"/>
            <a:r>
              <a:rPr lang="zh-CN" altLang="en-US" sz="2200" dirty="0"/>
              <a:t>很好的匹配</a:t>
            </a:r>
            <a:endParaRPr lang="en-US" altLang="zh-CN" sz="2200" dirty="0"/>
          </a:p>
        </p:txBody>
      </p:sp>
      <p:sp>
        <p:nvSpPr>
          <p:cNvPr id="15" name="TextBox 14">
            <a:extLst>
              <a:ext uri="{FF2B5EF4-FFF2-40B4-BE49-F238E27FC236}">
                <a16:creationId xmlns:a16="http://schemas.microsoft.com/office/drawing/2014/main" id="{4EFD9FEA-DBB8-40DA-82CB-BD4EBC034069}"/>
              </a:ext>
            </a:extLst>
          </p:cNvPr>
          <p:cNvSpPr txBox="1"/>
          <p:nvPr/>
        </p:nvSpPr>
        <p:spPr>
          <a:xfrm>
            <a:off x="457199" y="4020820"/>
            <a:ext cx="2177145" cy="430887"/>
          </a:xfrm>
          <a:prstGeom prst="rect">
            <a:avLst/>
          </a:prstGeom>
          <a:noFill/>
        </p:spPr>
        <p:txBody>
          <a:bodyPr wrap="square" rtlCol="0">
            <a:spAutoFit/>
          </a:bodyPr>
          <a:lstStyle/>
          <a:p>
            <a:pPr algn="ctr"/>
            <a:r>
              <a:rPr lang="zh-CN" altLang="en-US" sz="2200" dirty="0"/>
              <a:t>正值输出</a:t>
            </a:r>
            <a:endParaRPr lang="en-US" altLang="zh-CN" sz="2200" dirty="0"/>
          </a:p>
        </p:txBody>
      </p:sp>
      <p:graphicFrame>
        <p:nvGraphicFramePr>
          <p:cNvPr id="16" name="Table 15">
            <a:extLst>
              <a:ext uri="{FF2B5EF4-FFF2-40B4-BE49-F238E27FC236}">
                <a16:creationId xmlns:a16="http://schemas.microsoft.com/office/drawing/2014/main" id="{C5A09A7F-F60A-4C63-8515-04ECD416A823}"/>
              </a:ext>
            </a:extLst>
          </p:cNvPr>
          <p:cNvGraphicFramePr>
            <a:graphicFrameLocks noGrp="1"/>
          </p:cNvGraphicFramePr>
          <p:nvPr/>
        </p:nvGraphicFramePr>
        <p:xfrm>
          <a:off x="4419600" y="4409440"/>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2000"/>
                      </a:schemeClr>
                    </a:solidFill>
                  </a:tcPr>
                </a:tc>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dirty="0"/>
                    </a:p>
                  </a:txBody>
                  <a:tcPr marL="0" marR="0" marT="0" marB="0">
                    <a:solidFill>
                      <a:schemeClr val="accent1">
                        <a:alpha val="42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dirty="0"/>
                    </a:p>
                  </a:txBody>
                  <a:tcPr marL="0" marR="0" marT="0" marB="0">
                    <a:solidFill>
                      <a:schemeClr val="accent1">
                        <a:lumMod val="75000"/>
                        <a:alpha val="42000"/>
                      </a:schemeClr>
                    </a:solidFill>
                  </a:tcPr>
                </a:tc>
                <a:extLst>
                  <a:ext uri="{0D108BD9-81ED-4DB2-BD59-A6C34878D82A}">
                    <a16:rowId xmlns:a16="http://schemas.microsoft.com/office/drawing/2014/main" val="167477589"/>
                  </a:ext>
                </a:extLst>
              </a:tr>
            </a:tbl>
          </a:graphicData>
        </a:graphic>
      </p:graphicFrame>
      <p:sp>
        <p:nvSpPr>
          <p:cNvPr id="18" name="TextBox 17">
            <a:extLst>
              <a:ext uri="{FF2B5EF4-FFF2-40B4-BE49-F238E27FC236}">
                <a16:creationId xmlns:a16="http://schemas.microsoft.com/office/drawing/2014/main" id="{BC7C121B-9F41-4882-9ECB-5F019FC2222D}"/>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custDataLst>
      <p:tags r:id="rId1"/>
    </p:custDataLst>
    <p:extLst>
      <p:ext uri="{BB962C8B-B14F-4D97-AF65-F5344CB8AC3E}">
        <p14:creationId xmlns:p14="http://schemas.microsoft.com/office/powerpoint/2010/main" val="992796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4"/>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2"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2"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4" grpId="2"/>
      <p:bldP spid="15" grpId="0"/>
      <p:bldP spid="15" grpId="1"/>
      <p:bldP spid="15" grpId="2"/>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graphicFrame>
        <p:nvGraphicFramePr>
          <p:cNvPr id="12" name="Table 11">
            <a:extLst>
              <a:ext uri="{FF2B5EF4-FFF2-40B4-BE49-F238E27FC236}">
                <a16:creationId xmlns:a16="http://schemas.microsoft.com/office/drawing/2014/main" id="{31EC29F6-2D2A-4631-9BD4-3C3F6E1A85BC}"/>
              </a:ext>
            </a:extLst>
          </p:cNvPr>
          <p:cNvGraphicFramePr>
            <a:graphicFrameLocks noGrp="1" noChangeAspect="1"/>
          </p:cNvGraphicFramePr>
          <p:nvPr/>
        </p:nvGraphicFramePr>
        <p:xfrm>
          <a:off x="3962399" y="2463724"/>
          <a:ext cx="914400" cy="882282"/>
        </p:xfrm>
        <a:graphic>
          <a:graphicData uri="http://schemas.openxmlformats.org/drawingml/2006/table">
            <a:tbl>
              <a:tblPr firstRow="1" bandRow="1">
                <a:tableStyleId>{5940675A-B579-460E-94D1-54222C63F5DA}</a:tableStyleId>
              </a:tblPr>
              <a:tblGrid>
                <a:gridCol w="304800">
                  <a:extLst>
                    <a:ext uri="{9D8B030D-6E8A-4147-A177-3AD203B41FA5}">
                      <a16:colId xmlns:a16="http://schemas.microsoft.com/office/drawing/2014/main" val="3858150801"/>
                    </a:ext>
                  </a:extLst>
                </a:gridCol>
                <a:gridCol w="304800">
                  <a:extLst>
                    <a:ext uri="{9D8B030D-6E8A-4147-A177-3AD203B41FA5}">
                      <a16:colId xmlns:a16="http://schemas.microsoft.com/office/drawing/2014/main" val="3491865340"/>
                    </a:ext>
                  </a:extLst>
                </a:gridCol>
                <a:gridCol w="304800">
                  <a:extLst>
                    <a:ext uri="{9D8B030D-6E8A-4147-A177-3AD203B41FA5}">
                      <a16:colId xmlns:a16="http://schemas.microsoft.com/office/drawing/2014/main" val="2658115014"/>
                    </a:ext>
                  </a:extLst>
                </a:gridCol>
              </a:tblGrid>
              <a:tr h="294094">
                <a:tc>
                  <a:txBody>
                    <a:bodyPr/>
                    <a:lstStyle/>
                    <a:p>
                      <a:endParaRPr lang="zh-CN" altLang="en-US" sz="100" dirty="0"/>
                    </a:p>
                  </a:txBody>
                  <a:tcPr marL="0" marR="0" marT="0" marB="0">
                    <a:solidFill>
                      <a:schemeClr val="accent2">
                        <a:lumMod val="75000"/>
                        <a:alpha val="25000"/>
                      </a:schemeClr>
                    </a:solidFill>
                  </a:tcPr>
                </a:tc>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dirty="0"/>
                    </a:p>
                  </a:txBody>
                  <a:tcPr marL="0" marR="0" marT="0" marB="0">
                    <a:solidFill>
                      <a:schemeClr val="accent1">
                        <a:alpha val="25000"/>
                      </a:schemeClr>
                    </a:solidFill>
                  </a:tcPr>
                </a:tc>
                <a:extLst>
                  <a:ext uri="{0D108BD9-81ED-4DB2-BD59-A6C34878D82A}">
                    <a16:rowId xmlns:a16="http://schemas.microsoft.com/office/drawing/2014/main" val="1327356210"/>
                  </a:ext>
                </a:extLst>
              </a:tr>
              <a:tr h="294094">
                <a:tc>
                  <a:txBody>
                    <a:bodyPr/>
                    <a:lstStyle/>
                    <a:p>
                      <a:endParaRPr lang="zh-CN" altLang="en-US" sz="100" dirty="0"/>
                    </a:p>
                  </a:txBody>
                  <a:tcPr marL="0" marR="0" marT="0" marB="0">
                    <a:solidFill>
                      <a:schemeClr val="accent2">
                        <a:lumMod val="40000"/>
                        <a:lumOff val="60000"/>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extLst>
                  <a:ext uri="{0D108BD9-81ED-4DB2-BD59-A6C34878D82A}">
                    <a16:rowId xmlns:a16="http://schemas.microsoft.com/office/drawing/2014/main" val="827475921"/>
                  </a:ext>
                </a:extLst>
              </a:tr>
              <a:tr h="294094">
                <a:tc>
                  <a:txBody>
                    <a:bodyPr/>
                    <a:lstStyle/>
                    <a:p>
                      <a:endParaRPr lang="zh-CN" altLang="en-US" sz="100"/>
                    </a:p>
                  </a:txBody>
                  <a:tcPr marL="0" marR="0" marT="0" marB="0">
                    <a:solidFill>
                      <a:schemeClr val="accent1">
                        <a:alpha val="25000"/>
                      </a:schemeClr>
                    </a:solidFill>
                  </a:tcPr>
                </a:tc>
                <a:tc>
                  <a:txBody>
                    <a:bodyPr/>
                    <a:lstStyle/>
                    <a:p>
                      <a:endParaRPr lang="zh-CN" altLang="en-US" sz="100"/>
                    </a:p>
                  </a:txBody>
                  <a:tcPr marL="0" marR="0" marT="0" marB="0">
                    <a:solidFill>
                      <a:schemeClr val="accent1">
                        <a:alpha val="25000"/>
                      </a:schemeClr>
                    </a:solidFill>
                  </a:tcPr>
                </a:tc>
                <a:tc>
                  <a:txBody>
                    <a:bodyPr/>
                    <a:lstStyle/>
                    <a:p>
                      <a:endParaRPr lang="zh-CN" altLang="en-US" sz="100" dirty="0"/>
                    </a:p>
                  </a:txBody>
                  <a:tcPr marL="0" marR="0" marT="0" marB="0">
                    <a:solidFill>
                      <a:schemeClr val="accent1">
                        <a:lumMod val="75000"/>
                        <a:alpha val="25000"/>
                      </a:schemeClr>
                    </a:solidFill>
                  </a:tcPr>
                </a:tc>
                <a:extLst>
                  <a:ext uri="{0D108BD9-81ED-4DB2-BD59-A6C34878D82A}">
                    <a16:rowId xmlns:a16="http://schemas.microsoft.com/office/drawing/2014/main" val="167477589"/>
                  </a:ext>
                </a:extLst>
              </a:tr>
            </a:tbl>
          </a:graphicData>
        </a:graphic>
      </p:graphicFrame>
      <p:pic>
        <p:nvPicPr>
          <p:cNvPr id="7" name="Picture 6">
            <a:extLst>
              <a:ext uri="{FF2B5EF4-FFF2-40B4-BE49-F238E27FC236}">
                <a16:creationId xmlns:a16="http://schemas.microsoft.com/office/drawing/2014/main" id="{88758BB6-820C-42FA-AD0A-7E4EC192C5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6483" y="3792327"/>
            <a:ext cx="2446232" cy="2438611"/>
          </a:xfrm>
          <a:prstGeom prst="rect">
            <a:avLst/>
          </a:prstGeom>
        </p:spPr>
      </p:pic>
      <p:graphicFrame>
        <p:nvGraphicFramePr>
          <p:cNvPr id="13" name="Table 12">
            <a:extLst>
              <a:ext uri="{FF2B5EF4-FFF2-40B4-BE49-F238E27FC236}">
                <a16:creationId xmlns:a16="http://schemas.microsoft.com/office/drawing/2014/main" id="{AE4118CD-6DEE-4A1E-B08E-56C9C8BAAAB1}"/>
              </a:ext>
            </a:extLst>
          </p:cNvPr>
          <p:cNvGraphicFramePr>
            <a:graphicFrameLocks noGrp="1"/>
          </p:cNvGraphicFramePr>
          <p:nvPr/>
        </p:nvGraphicFramePr>
        <p:xfrm>
          <a:off x="3962400" y="4114800"/>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2000"/>
                      </a:schemeClr>
                    </a:solidFill>
                  </a:tcPr>
                </a:tc>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dirty="0"/>
                    </a:p>
                  </a:txBody>
                  <a:tcPr marL="0" marR="0" marT="0" marB="0">
                    <a:solidFill>
                      <a:schemeClr val="accent1">
                        <a:alpha val="42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dirty="0"/>
                    </a:p>
                  </a:txBody>
                  <a:tcPr marL="0" marR="0" marT="0" marB="0">
                    <a:solidFill>
                      <a:schemeClr val="accent1">
                        <a:lumMod val="75000"/>
                        <a:alpha val="42000"/>
                      </a:schemeClr>
                    </a:solidFill>
                  </a:tcPr>
                </a:tc>
                <a:extLst>
                  <a:ext uri="{0D108BD9-81ED-4DB2-BD59-A6C34878D82A}">
                    <a16:rowId xmlns:a16="http://schemas.microsoft.com/office/drawing/2014/main" val="167477589"/>
                  </a:ext>
                </a:extLst>
              </a:tr>
            </a:tbl>
          </a:graphicData>
        </a:graphic>
      </p:graphicFrame>
      <p:sp>
        <p:nvSpPr>
          <p:cNvPr id="14" name="TextBox 13">
            <a:extLst>
              <a:ext uri="{FF2B5EF4-FFF2-40B4-BE49-F238E27FC236}">
                <a16:creationId xmlns:a16="http://schemas.microsoft.com/office/drawing/2014/main" id="{510D6111-7889-4B5D-8978-53A577E4923D}"/>
              </a:ext>
            </a:extLst>
          </p:cNvPr>
          <p:cNvSpPr txBox="1"/>
          <p:nvPr/>
        </p:nvSpPr>
        <p:spPr>
          <a:xfrm>
            <a:off x="6204854" y="3124200"/>
            <a:ext cx="2177145" cy="430887"/>
          </a:xfrm>
          <a:prstGeom prst="rect">
            <a:avLst/>
          </a:prstGeom>
          <a:noFill/>
        </p:spPr>
        <p:txBody>
          <a:bodyPr wrap="square" rtlCol="0">
            <a:spAutoFit/>
          </a:bodyPr>
          <a:lstStyle/>
          <a:p>
            <a:pPr algn="ctr"/>
            <a:r>
              <a:rPr lang="zh-CN" altLang="en-US" sz="2200" dirty="0"/>
              <a:t>不佳的匹配</a:t>
            </a:r>
            <a:endParaRPr lang="en-US" altLang="zh-CN" sz="2200" dirty="0"/>
          </a:p>
        </p:txBody>
      </p:sp>
      <p:sp>
        <p:nvSpPr>
          <p:cNvPr id="15" name="TextBox 14">
            <a:extLst>
              <a:ext uri="{FF2B5EF4-FFF2-40B4-BE49-F238E27FC236}">
                <a16:creationId xmlns:a16="http://schemas.microsoft.com/office/drawing/2014/main" id="{4EFD9FEA-DBB8-40DA-82CB-BD4EBC034069}"/>
              </a:ext>
            </a:extLst>
          </p:cNvPr>
          <p:cNvSpPr txBox="1"/>
          <p:nvPr/>
        </p:nvSpPr>
        <p:spPr>
          <a:xfrm>
            <a:off x="6235122" y="4033341"/>
            <a:ext cx="2177145" cy="430887"/>
          </a:xfrm>
          <a:prstGeom prst="rect">
            <a:avLst/>
          </a:prstGeom>
          <a:noFill/>
        </p:spPr>
        <p:txBody>
          <a:bodyPr wrap="square" rtlCol="0">
            <a:spAutoFit/>
          </a:bodyPr>
          <a:lstStyle/>
          <a:p>
            <a:pPr algn="ctr"/>
            <a:r>
              <a:rPr lang="zh-CN" altLang="en-US" sz="2200" dirty="0"/>
              <a:t>输出</a:t>
            </a:r>
            <a:r>
              <a:rPr lang="en-US" altLang="zh-CN" sz="2200" dirty="0"/>
              <a:t>0</a:t>
            </a:r>
          </a:p>
        </p:txBody>
      </p:sp>
      <p:graphicFrame>
        <p:nvGraphicFramePr>
          <p:cNvPr id="10" name="Table 9">
            <a:extLst>
              <a:ext uri="{FF2B5EF4-FFF2-40B4-BE49-F238E27FC236}">
                <a16:creationId xmlns:a16="http://schemas.microsoft.com/office/drawing/2014/main" id="{22BA80BD-F5CF-41F2-9641-961ACAD54378}"/>
              </a:ext>
            </a:extLst>
          </p:cNvPr>
          <p:cNvGraphicFramePr>
            <a:graphicFrameLocks noGrp="1"/>
          </p:cNvGraphicFramePr>
          <p:nvPr/>
        </p:nvGraphicFramePr>
        <p:xfrm>
          <a:off x="5016500" y="4726940"/>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2000"/>
                      </a:schemeClr>
                    </a:solidFill>
                  </a:tcPr>
                </a:tc>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dirty="0"/>
                    </a:p>
                  </a:txBody>
                  <a:tcPr marL="0" marR="0" marT="0" marB="0">
                    <a:solidFill>
                      <a:schemeClr val="accent1">
                        <a:alpha val="42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dirty="0"/>
                    </a:p>
                  </a:txBody>
                  <a:tcPr marL="0" marR="0" marT="0" marB="0">
                    <a:solidFill>
                      <a:schemeClr val="accent1">
                        <a:lumMod val="75000"/>
                        <a:alpha val="42000"/>
                      </a:schemeClr>
                    </a:solidFill>
                  </a:tcPr>
                </a:tc>
                <a:extLst>
                  <a:ext uri="{0D108BD9-81ED-4DB2-BD59-A6C34878D82A}">
                    <a16:rowId xmlns:a16="http://schemas.microsoft.com/office/drawing/2014/main" val="167477589"/>
                  </a:ext>
                </a:extLst>
              </a:tr>
            </a:tbl>
          </a:graphicData>
        </a:graphic>
      </p:graphicFrame>
      <p:sp>
        <p:nvSpPr>
          <p:cNvPr id="11" name="TextBox 10">
            <a:extLst>
              <a:ext uri="{FF2B5EF4-FFF2-40B4-BE49-F238E27FC236}">
                <a16:creationId xmlns:a16="http://schemas.microsoft.com/office/drawing/2014/main" id="{A85D5EF0-005B-47CC-B1B7-8E74EB744173}"/>
              </a:ext>
            </a:extLst>
          </p:cNvPr>
          <p:cNvSpPr txBox="1"/>
          <p:nvPr/>
        </p:nvSpPr>
        <p:spPr>
          <a:xfrm>
            <a:off x="1546898" y="1674403"/>
            <a:ext cx="5715000" cy="430887"/>
          </a:xfrm>
          <a:prstGeom prst="rect">
            <a:avLst/>
          </a:prstGeom>
          <a:noFill/>
        </p:spPr>
        <p:txBody>
          <a:bodyPr wrap="square" rtlCol="0">
            <a:spAutoFit/>
          </a:bodyPr>
          <a:lstStyle/>
          <a:p>
            <a:pPr algn="ctr"/>
            <a:r>
              <a:rPr lang="en-US" altLang="zh-CN" sz="2200" dirty="0"/>
              <a:t>3x3</a:t>
            </a:r>
            <a:r>
              <a:rPr lang="zh-CN" altLang="en-US" sz="2200" dirty="0"/>
              <a:t>权重 </a:t>
            </a:r>
            <a:r>
              <a:rPr lang="en-US" altLang="zh-CN" sz="2200" dirty="0"/>
              <a:t>+ </a:t>
            </a:r>
            <a:r>
              <a:rPr lang="zh-CN" altLang="en-US" sz="2200" dirty="0"/>
              <a:t>偏向</a:t>
            </a:r>
          </a:p>
        </p:txBody>
      </p:sp>
    </p:spTree>
    <p:custDataLst>
      <p:tags r:id="rId1"/>
    </p:custDataLst>
    <p:extLst>
      <p:ext uri="{BB962C8B-B14F-4D97-AF65-F5344CB8AC3E}">
        <p14:creationId xmlns:p14="http://schemas.microsoft.com/office/powerpoint/2010/main" val="388772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5"/>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2"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2"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4" grpId="2"/>
      <p:bldP spid="15" grpId="0"/>
      <p:bldP spid="15" grpId="1"/>
      <p:bldP spid="15" grpId="2"/>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二维算子</a:t>
            </a:r>
            <a:endParaRPr lang="zh-CN" altLang="en-US" dirty="0"/>
          </a:p>
        </p:txBody>
      </p:sp>
      <p:sp>
        <p:nvSpPr>
          <p:cNvPr id="17" name="TextBox 16">
            <a:extLst>
              <a:ext uri="{FF2B5EF4-FFF2-40B4-BE49-F238E27FC236}">
                <a16:creationId xmlns:a16="http://schemas.microsoft.com/office/drawing/2014/main" id="{474349CC-D92C-4D24-876A-9BA7D75161A7}"/>
              </a:ext>
            </a:extLst>
          </p:cNvPr>
          <p:cNvSpPr txBox="1"/>
          <p:nvPr/>
        </p:nvSpPr>
        <p:spPr>
          <a:xfrm>
            <a:off x="762000" y="1549114"/>
            <a:ext cx="7619999" cy="430887"/>
          </a:xfrm>
          <a:prstGeom prst="rect">
            <a:avLst/>
          </a:prstGeom>
          <a:noFill/>
        </p:spPr>
        <p:txBody>
          <a:bodyPr wrap="square" rtlCol="0">
            <a:spAutoFit/>
          </a:bodyPr>
          <a:lstStyle/>
          <a:p>
            <a:pPr algn="ctr"/>
            <a:r>
              <a:rPr lang="zh-CN" altLang="en-US" sz="2200" dirty="0"/>
              <a:t>我们希望能够</a:t>
            </a:r>
            <a:r>
              <a:rPr lang="zh-CN" altLang="en-US" sz="2200" dirty="0">
                <a:solidFill>
                  <a:srgbClr val="FF0000"/>
                </a:solidFill>
              </a:rPr>
              <a:t>学习</a:t>
            </a:r>
            <a:r>
              <a:rPr lang="zh-CN" altLang="en-US" sz="2200" dirty="0"/>
              <a:t>到不同的算子</a:t>
            </a:r>
          </a:p>
        </p:txBody>
      </p:sp>
      <p:pic>
        <p:nvPicPr>
          <p:cNvPr id="7" name="Picture 6">
            <a:extLst>
              <a:ext uri="{FF2B5EF4-FFF2-40B4-BE49-F238E27FC236}">
                <a16:creationId xmlns:a16="http://schemas.microsoft.com/office/drawing/2014/main" id="{88758BB6-820C-42FA-AD0A-7E4EC192C5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6483" y="3792327"/>
            <a:ext cx="2446232" cy="2438611"/>
          </a:xfrm>
          <a:prstGeom prst="rect">
            <a:avLst/>
          </a:prstGeom>
        </p:spPr>
      </p:pic>
      <p:graphicFrame>
        <p:nvGraphicFramePr>
          <p:cNvPr id="11" name="Table 10">
            <a:extLst>
              <a:ext uri="{FF2B5EF4-FFF2-40B4-BE49-F238E27FC236}">
                <a16:creationId xmlns:a16="http://schemas.microsoft.com/office/drawing/2014/main" id="{F678F5FB-0073-4185-86F9-0706B516787A}"/>
              </a:ext>
            </a:extLst>
          </p:cNvPr>
          <p:cNvGraphicFramePr>
            <a:graphicFrameLocks noGrp="1"/>
          </p:cNvGraphicFramePr>
          <p:nvPr/>
        </p:nvGraphicFramePr>
        <p:xfrm>
          <a:off x="3117980" y="3056313"/>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2000"/>
                      </a:schemeClr>
                    </a:solidFill>
                  </a:tcPr>
                </a:tc>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dirty="0"/>
                    </a:p>
                  </a:txBody>
                  <a:tcPr marL="0" marR="0" marT="0" marB="0">
                    <a:solidFill>
                      <a:schemeClr val="accent1">
                        <a:alpha val="42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dirty="0"/>
                    </a:p>
                  </a:txBody>
                  <a:tcPr marL="0" marR="0" marT="0" marB="0">
                    <a:solidFill>
                      <a:schemeClr val="accent1">
                        <a:lumMod val="75000"/>
                        <a:alpha val="42000"/>
                      </a:schemeClr>
                    </a:solidFill>
                  </a:tcPr>
                </a:tc>
                <a:extLst>
                  <a:ext uri="{0D108BD9-81ED-4DB2-BD59-A6C34878D82A}">
                    <a16:rowId xmlns:a16="http://schemas.microsoft.com/office/drawing/2014/main" val="167477589"/>
                  </a:ext>
                </a:extLst>
              </a:tr>
            </a:tbl>
          </a:graphicData>
        </a:graphic>
      </p:graphicFrame>
      <p:graphicFrame>
        <p:nvGraphicFramePr>
          <p:cNvPr id="16" name="Table 15">
            <a:extLst>
              <a:ext uri="{FF2B5EF4-FFF2-40B4-BE49-F238E27FC236}">
                <a16:creationId xmlns:a16="http://schemas.microsoft.com/office/drawing/2014/main" id="{EFEF058E-9323-4558-B0F3-4C345F3F1D4A}"/>
              </a:ext>
            </a:extLst>
          </p:cNvPr>
          <p:cNvGraphicFramePr>
            <a:graphicFrameLocks noGrp="1"/>
          </p:cNvGraphicFramePr>
          <p:nvPr/>
        </p:nvGraphicFramePr>
        <p:xfrm>
          <a:off x="4779817" y="3063240"/>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20000"/>
                        <a:lumOff val="80000"/>
                      </a:schemeClr>
                    </a:solidFill>
                  </a:tcPr>
                </a:tc>
                <a:tc>
                  <a:txBody>
                    <a:bodyPr/>
                    <a:lstStyle/>
                    <a:p>
                      <a:endParaRPr lang="zh-CN" altLang="en-US" sz="100" dirty="0"/>
                    </a:p>
                  </a:txBody>
                  <a:tcPr marL="0" marR="0" marT="0" marB="0">
                    <a:solidFill>
                      <a:schemeClr val="accent1">
                        <a:lumMod val="60000"/>
                        <a:lumOff val="40000"/>
                      </a:schemeClr>
                    </a:solidFill>
                  </a:tcPr>
                </a:tc>
                <a:tc>
                  <a:txBody>
                    <a:bodyPr/>
                    <a:lstStyle/>
                    <a:p>
                      <a:endParaRPr lang="zh-CN" altLang="en-US" sz="100" dirty="0"/>
                    </a:p>
                  </a:txBody>
                  <a:tcPr marL="0" marR="0" marT="0" marB="0">
                    <a:solidFill>
                      <a:schemeClr val="accent1"/>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20000"/>
                        <a:lumOff val="80000"/>
                      </a:schemeClr>
                    </a:solidFill>
                  </a:tcPr>
                </a:tc>
                <a:tc>
                  <a:txBody>
                    <a:bodyPr/>
                    <a:lstStyle/>
                    <a:p>
                      <a:endParaRPr lang="zh-CN" altLang="en-US" sz="100" dirty="0"/>
                    </a:p>
                  </a:txBody>
                  <a:tcPr marL="0" marR="0" marT="0" marB="0">
                    <a:solidFill>
                      <a:schemeClr val="accent1">
                        <a:lumMod val="60000"/>
                        <a:lumOff val="40000"/>
                      </a:schemeClr>
                    </a:solidFill>
                  </a:tcPr>
                </a:tc>
                <a:tc>
                  <a:txBody>
                    <a:bodyPr/>
                    <a:lstStyle/>
                    <a:p>
                      <a:endParaRPr lang="zh-CN" altLang="en-US" sz="100" dirty="0"/>
                    </a:p>
                  </a:txBody>
                  <a:tcPr marL="0" marR="0" marT="0" marB="0">
                    <a:solidFill>
                      <a:schemeClr val="accent1"/>
                    </a:solidFill>
                  </a:tcPr>
                </a:tc>
                <a:extLst>
                  <a:ext uri="{0D108BD9-81ED-4DB2-BD59-A6C34878D82A}">
                    <a16:rowId xmlns:a16="http://schemas.microsoft.com/office/drawing/2014/main" val="827475921"/>
                  </a:ext>
                </a:extLst>
              </a:tr>
              <a:tr h="147320">
                <a:tc>
                  <a:txBody>
                    <a:bodyPr/>
                    <a:lstStyle/>
                    <a:p>
                      <a:endParaRPr lang="zh-CN" altLang="en-US" sz="100" dirty="0"/>
                    </a:p>
                  </a:txBody>
                  <a:tcPr marL="0" marR="0" marT="0" marB="0">
                    <a:solidFill>
                      <a:schemeClr val="accent2">
                        <a:lumMod val="20000"/>
                        <a:lumOff val="80000"/>
                      </a:schemeClr>
                    </a:solidFill>
                  </a:tcPr>
                </a:tc>
                <a:tc>
                  <a:txBody>
                    <a:bodyPr/>
                    <a:lstStyle/>
                    <a:p>
                      <a:endParaRPr lang="zh-CN" altLang="en-US" sz="100" dirty="0"/>
                    </a:p>
                  </a:txBody>
                  <a:tcPr marL="0" marR="0" marT="0" marB="0">
                    <a:solidFill>
                      <a:schemeClr val="accent1">
                        <a:lumMod val="60000"/>
                        <a:lumOff val="40000"/>
                      </a:schemeClr>
                    </a:solidFill>
                  </a:tcPr>
                </a:tc>
                <a:tc>
                  <a:txBody>
                    <a:bodyPr/>
                    <a:lstStyle/>
                    <a:p>
                      <a:endParaRPr lang="zh-CN" altLang="en-US" sz="100" dirty="0"/>
                    </a:p>
                  </a:txBody>
                  <a:tcPr marL="0" marR="0" marT="0" marB="0">
                    <a:solidFill>
                      <a:schemeClr val="accent1"/>
                    </a:solidFill>
                  </a:tcPr>
                </a:tc>
                <a:extLst>
                  <a:ext uri="{0D108BD9-81ED-4DB2-BD59-A6C34878D82A}">
                    <a16:rowId xmlns:a16="http://schemas.microsoft.com/office/drawing/2014/main" val="167477589"/>
                  </a:ext>
                </a:extLst>
              </a:tr>
            </a:tbl>
          </a:graphicData>
        </a:graphic>
      </p:graphicFrame>
      <p:graphicFrame>
        <p:nvGraphicFramePr>
          <p:cNvPr id="18" name="Table 17">
            <a:extLst>
              <a:ext uri="{FF2B5EF4-FFF2-40B4-BE49-F238E27FC236}">
                <a16:creationId xmlns:a16="http://schemas.microsoft.com/office/drawing/2014/main" id="{D9B65BEC-EA34-4DBB-8190-852E1CFD1E1F}"/>
              </a:ext>
            </a:extLst>
          </p:cNvPr>
          <p:cNvGraphicFramePr>
            <a:graphicFrameLocks noGrp="1"/>
          </p:cNvGraphicFramePr>
          <p:nvPr/>
        </p:nvGraphicFramePr>
        <p:xfrm>
          <a:off x="3957785" y="3059546"/>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20000"/>
                        <a:lumOff val="80000"/>
                      </a:schemeClr>
                    </a:solidFill>
                  </a:tcPr>
                </a:tc>
                <a:tc>
                  <a:txBody>
                    <a:bodyPr/>
                    <a:lstStyle/>
                    <a:p>
                      <a:endParaRPr lang="zh-CN" altLang="en-US" sz="100" dirty="0"/>
                    </a:p>
                  </a:txBody>
                  <a:tcPr marL="0" marR="0" marT="0" marB="0">
                    <a:solidFill>
                      <a:schemeClr val="accent2">
                        <a:lumMod val="20000"/>
                        <a:lumOff val="80000"/>
                      </a:schemeClr>
                    </a:solidFill>
                  </a:tcPr>
                </a:tc>
                <a:tc>
                  <a:txBody>
                    <a:bodyPr/>
                    <a:lstStyle/>
                    <a:p>
                      <a:endParaRPr lang="zh-CN" altLang="en-US" sz="100" dirty="0"/>
                    </a:p>
                  </a:txBody>
                  <a:tcPr marL="0" marR="0" marT="0" marB="0">
                    <a:solidFill>
                      <a:schemeClr val="accent2">
                        <a:lumMod val="20000"/>
                        <a:lumOff val="80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1">
                        <a:lumMod val="40000"/>
                        <a:lumOff val="60000"/>
                      </a:schemeClr>
                    </a:solidFill>
                  </a:tcPr>
                </a:tc>
                <a:tc>
                  <a:txBody>
                    <a:bodyPr/>
                    <a:lstStyle/>
                    <a:p>
                      <a:endParaRPr lang="zh-CN" altLang="en-US" sz="100" dirty="0"/>
                    </a:p>
                  </a:txBody>
                  <a:tcPr marL="0" marR="0" marT="0" marB="0">
                    <a:solidFill>
                      <a:schemeClr val="accent1">
                        <a:lumMod val="40000"/>
                        <a:lumOff val="60000"/>
                      </a:schemeClr>
                    </a:solidFill>
                  </a:tcPr>
                </a:tc>
                <a:tc>
                  <a:txBody>
                    <a:bodyPr/>
                    <a:lstStyle/>
                    <a:p>
                      <a:endParaRPr lang="zh-CN" altLang="en-US" sz="100" dirty="0"/>
                    </a:p>
                  </a:txBody>
                  <a:tcPr marL="0" marR="0" marT="0" marB="0">
                    <a:solidFill>
                      <a:schemeClr val="accent1">
                        <a:lumMod val="40000"/>
                        <a:lumOff val="60000"/>
                      </a:schemeClr>
                    </a:solidFill>
                  </a:tcPr>
                </a:tc>
                <a:extLst>
                  <a:ext uri="{0D108BD9-81ED-4DB2-BD59-A6C34878D82A}">
                    <a16:rowId xmlns:a16="http://schemas.microsoft.com/office/drawing/2014/main" val="827475921"/>
                  </a:ext>
                </a:extLst>
              </a:tr>
              <a:tr h="147320">
                <a:tc>
                  <a:txBody>
                    <a:bodyPr/>
                    <a:lstStyle/>
                    <a:p>
                      <a:endParaRPr lang="zh-CN" altLang="en-US" sz="100" dirty="0"/>
                    </a:p>
                  </a:txBody>
                  <a:tcPr marL="0" marR="0" marT="0" marB="0">
                    <a:solidFill>
                      <a:schemeClr val="accent1"/>
                    </a:solidFill>
                  </a:tcPr>
                </a:tc>
                <a:tc>
                  <a:txBody>
                    <a:bodyPr/>
                    <a:lstStyle/>
                    <a:p>
                      <a:endParaRPr lang="zh-CN" altLang="en-US" sz="100" dirty="0"/>
                    </a:p>
                  </a:txBody>
                  <a:tcPr marL="0" marR="0" marT="0" marB="0">
                    <a:solidFill>
                      <a:schemeClr val="accent1"/>
                    </a:solidFill>
                  </a:tcPr>
                </a:tc>
                <a:tc>
                  <a:txBody>
                    <a:bodyPr/>
                    <a:lstStyle/>
                    <a:p>
                      <a:endParaRPr lang="zh-CN" altLang="en-US" sz="100" dirty="0"/>
                    </a:p>
                  </a:txBody>
                  <a:tcPr marL="0" marR="0" marT="0" marB="0">
                    <a:solidFill>
                      <a:schemeClr val="accent1"/>
                    </a:solidFill>
                  </a:tcPr>
                </a:tc>
                <a:extLst>
                  <a:ext uri="{0D108BD9-81ED-4DB2-BD59-A6C34878D82A}">
                    <a16:rowId xmlns:a16="http://schemas.microsoft.com/office/drawing/2014/main" val="167477589"/>
                  </a:ext>
                </a:extLst>
              </a:tr>
            </a:tbl>
          </a:graphicData>
        </a:graphic>
      </p:graphicFrame>
      <p:sp>
        <p:nvSpPr>
          <p:cNvPr id="19" name="TextBox 18">
            <a:extLst>
              <a:ext uri="{FF2B5EF4-FFF2-40B4-BE49-F238E27FC236}">
                <a16:creationId xmlns:a16="http://schemas.microsoft.com/office/drawing/2014/main" id="{13F30EFE-35F0-45CC-98E0-A2CAB3B5C0F5}"/>
              </a:ext>
            </a:extLst>
          </p:cNvPr>
          <p:cNvSpPr txBox="1"/>
          <p:nvPr/>
        </p:nvSpPr>
        <p:spPr>
          <a:xfrm>
            <a:off x="762000" y="2240588"/>
            <a:ext cx="7619999" cy="430887"/>
          </a:xfrm>
          <a:prstGeom prst="rect">
            <a:avLst/>
          </a:prstGeom>
          <a:noFill/>
        </p:spPr>
        <p:txBody>
          <a:bodyPr wrap="square" rtlCol="0">
            <a:spAutoFit/>
          </a:bodyPr>
          <a:lstStyle/>
          <a:p>
            <a:pPr algn="ctr"/>
            <a:r>
              <a:rPr lang="zh-CN" altLang="en-US" sz="2200" dirty="0"/>
              <a:t>每一个对应于某种局部模式</a:t>
            </a:r>
          </a:p>
        </p:txBody>
      </p:sp>
      <p:sp>
        <p:nvSpPr>
          <p:cNvPr id="20" name="TextBox 19">
            <a:extLst>
              <a:ext uri="{FF2B5EF4-FFF2-40B4-BE49-F238E27FC236}">
                <a16:creationId xmlns:a16="http://schemas.microsoft.com/office/drawing/2014/main" id="{27C329A7-2B03-4F3C-A5D8-B071BDD413B0}"/>
              </a:ext>
            </a:extLst>
          </p:cNvPr>
          <p:cNvSpPr txBox="1"/>
          <p:nvPr/>
        </p:nvSpPr>
        <p:spPr>
          <a:xfrm>
            <a:off x="5154417" y="2862483"/>
            <a:ext cx="990599" cy="584775"/>
          </a:xfrm>
          <a:prstGeom prst="rect">
            <a:avLst/>
          </a:prstGeom>
          <a:noFill/>
        </p:spPr>
        <p:txBody>
          <a:bodyPr wrap="square" rtlCol="0">
            <a:spAutoFit/>
          </a:bodyPr>
          <a:lstStyle/>
          <a:p>
            <a:pPr algn="ctr"/>
            <a:r>
              <a:rPr lang="en-US" altLang="zh-CN" sz="3200" dirty="0"/>
              <a:t>…</a:t>
            </a:r>
            <a:endParaRPr lang="zh-CN" altLang="en-US" sz="3200" dirty="0"/>
          </a:p>
        </p:txBody>
      </p:sp>
      <p:cxnSp>
        <p:nvCxnSpPr>
          <p:cNvPr id="5" name="Straight Arrow Connector 4">
            <a:extLst>
              <a:ext uri="{FF2B5EF4-FFF2-40B4-BE49-F238E27FC236}">
                <a16:creationId xmlns:a16="http://schemas.microsoft.com/office/drawing/2014/main" id="{0F47052A-7543-47D9-BD81-C2E4B2A66856}"/>
              </a:ext>
            </a:extLst>
          </p:cNvPr>
          <p:cNvCxnSpPr>
            <a:cxnSpLocks/>
          </p:cNvCxnSpPr>
          <p:nvPr/>
        </p:nvCxnSpPr>
        <p:spPr bwMode="auto">
          <a:xfrm>
            <a:off x="3346580" y="3271520"/>
            <a:ext cx="544235" cy="788597"/>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1" name="Straight Arrow Connector 20">
            <a:extLst>
              <a:ext uri="{FF2B5EF4-FFF2-40B4-BE49-F238E27FC236}">
                <a16:creationId xmlns:a16="http://schemas.microsoft.com/office/drawing/2014/main" id="{5253DD6B-1260-4FB3-86AE-1DACB9520B71}"/>
              </a:ext>
            </a:extLst>
          </p:cNvPr>
          <p:cNvCxnSpPr>
            <a:cxnSpLocks/>
          </p:cNvCxnSpPr>
          <p:nvPr/>
        </p:nvCxnSpPr>
        <p:spPr bwMode="auto">
          <a:xfrm>
            <a:off x="4181947" y="3280526"/>
            <a:ext cx="18284" cy="1672474"/>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22" name="Straight Arrow Connector 21">
            <a:extLst>
              <a:ext uri="{FF2B5EF4-FFF2-40B4-BE49-F238E27FC236}">
                <a16:creationId xmlns:a16="http://schemas.microsoft.com/office/drawing/2014/main" id="{94836617-FDA7-47AB-A93A-A92D24C5EDAC}"/>
              </a:ext>
            </a:extLst>
          </p:cNvPr>
          <p:cNvCxnSpPr>
            <a:cxnSpLocks/>
          </p:cNvCxnSpPr>
          <p:nvPr/>
        </p:nvCxnSpPr>
        <p:spPr bwMode="auto">
          <a:xfrm flipH="1">
            <a:off x="4322618" y="3271520"/>
            <a:ext cx="696263" cy="2616662"/>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Tree>
    <p:custDataLst>
      <p:tags r:id="rId1"/>
    </p:custDataLst>
    <p:extLst>
      <p:ext uri="{BB962C8B-B14F-4D97-AF65-F5344CB8AC3E}">
        <p14:creationId xmlns:p14="http://schemas.microsoft.com/office/powerpoint/2010/main" val="274763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局部模式抽取</a:t>
            </a:r>
            <a:endParaRPr lang="zh-CN" altLang="en-US" dirty="0"/>
          </a:p>
        </p:txBody>
      </p:sp>
      <p:pic>
        <p:nvPicPr>
          <p:cNvPr id="5" name="Picture 4">
            <a:extLst>
              <a:ext uri="{FF2B5EF4-FFF2-40B4-BE49-F238E27FC236}">
                <a16:creationId xmlns:a16="http://schemas.microsoft.com/office/drawing/2014/main" id="{2D3C7071-2B74-4BAA-AF48-07D9AD22F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2971800"/>
            <a:ext cx="2446232" cy="2438611"/>
          </a:xfrm>
          <a:prstGeom prst="rect">
            <a:avLst/>
          </a:prstGeom>
        </p:spPr>
      </p:pic>
      <p:graphicFrame>
        <p:nvGraphicFramePr>
          <p:cNvPr id="6" name="Table 5">
            <a:extLst>
              <a:ext uri="{FF2B5EF4-FFF2-40B4-BE49-F238E27FC236}">
                <a16:creationId xmlns:a16="http://schemas.microsoft.com/office/drawing/2014/main" id="{11B0D76B-2C40-49AC-B8AA-60DADF24F8E8}"/>
              </a:ext>
            </a:extLst>
          </p:cNvPr>
          <p:cNvGraphicFramePr>
            <a:graphicFrameLocks noGrp="1"/>
          </p:cNvGraphicFramePr>
          <p:nvPr>
            <p:extLst>
              <p:ext uri="{D42A27DB-BD31-4B8C-83A1-F6EECF244321}">
                <p14:modId xmlns:p14="http://schemas.microsoft.com/office/powerpoint/2010/main" val="3242655032"/>
              </p:ext>
            </p:extLst>
          </p:nvPr>
        </p:nvGraphicFramePr>
        <p:xfrm>
          <a:off x="1231445" y="3131928"/>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0000"/>
                      </a:schemeClr>
                    </a:solidFill>
                  </a:tcPr>
                </a:tc>
                <a:tc>
                  <a:txBody>
                    <a:bodyPr/>
                    <a:lstStyle/>
                    <a:p>
                      <a:endParaRPr lang="zh-CN" altLang="en-US" sz="100" dirty="0"/>
                    </a:p>
                  </a:txBody>
                  <a:tcPr marL="0" marR="0" marT="0" marB="0">
                    <a:solidFill>
                      <a:schemeClr val="accent2">
                        <a:lumMod val="40000"/>
                        <a:lumOff val="60000"/>
                        <a:alpha val="40000"/>
                      </a:schemeClr>
                    </a:solidFill>
                  </a:tcPr>
                </a:tc>
                <a:tc>
                  <a:txBody>
                    <a:bodyPr/>
                    <a:lstStyle/>
                    <a:p>
                      <a:endParaRPr lang="zh-CN" altLang="en-US" sz="100" dirty="0"/>
                    </a:p>
                  </a:txBody>
                  <a:tcPr marL="0" marR="0" marT="0" marB="0">
                    <a:solidFill>
                      <a:schemeClr val="accent1">
                        <a:alpha val="40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0000"/>
                      </a:schemeClr>
                    </a:solidFill>
                  </a:tcPr>
                </a:tc>
                <a:tc>
                  <a:txBody>
                    <a:bodyPr/>
                    <a:lstStyle/>
                    <a:p>
                      <a:endParaRPr lang="zh-CN" altLang="en-US" sz="100"/>
                    </a:p>
                  </a:txBody>
                  <a:tcPr marL="0" marR="0" marT="0" marB="0">
                    <a:solidFill>
                      <a:schemeClr val="accent1">
                        <a:alpha val="40000"/>
                      </a:schemeClr>
                    </a:solidFill>
                  </a:tcPr>
                </a:tc>
                <a:tc>
                  <a:txBody>
                    <a:bodyPr/>
                    <a:lstStyle/>
                    <a:p>
                      <a:endParaRPr lang="zh-CN" altLang="en-US" sz="100"/>
                    </a:p>
                  </a:txBody>
                  <a:tcPr marL="0" marR="0" marT="0" marB="0">
                    <a:solidFill>
                      <a:schemeClr val="accent1">
                        <a:alpha val="40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0000"/>
                      </a:schemeClr>
                    </a:solidFill>
                  </a:tcPr>
                </a:tc>
                <a:tc>
                  <a:txBody>
                    <a:bodyPr/>
                    <a:lstStyle/>
                    <a:p>
                      <a:endParaRPr lang="zh-CN" altLang="en-US" sz="100"/>
                    </a:p>
                  </a:txBody>
                  <a:tcPr marL="0" marR="0" marT="0" marB="0">
                    <a:solidFill>
                      <a:schemeClr val="accent1">
                        <a:alpha val="40000"/>
                      </a:schemeClr>
                    </a:solidFill>
                  </a:tcPr>
                </a:tc>
                <a:tc>
                  <a:txBody>
                    <a:bodyPr/>
                    <a:lstStyle/>
                    <a:p>
                      <a:endParaRPr lang="zh-CN" altLang="en-US" sz="100" dirty="0"/>
                    </a:p>
                  </a:txBody>
                  <a:tcPr marL="0" marR="0" marT="0" marB="0">
                    <a:solidFill>
                      <a:schemeClr val="accent1">
                        <a:lumMod val="75000"/>
                        <a:alpha val="40000"/>
                      </a:schemeClr>
                    </a:solidFill>
                  </a:tcPr>
                </a:tc>
                <a:extLst>
                  <a:ext uri="{0D108BD9-81ED-4DB2-BD59-A6C34878D82A}">
                    <a16:rowId xmlns:a16="http://schemas.microsoft.com/office/drawing/2014/main" val="167477589"/>
                  </a:ext>
                </a:extLst>
              </a:tr>
            </a:tbl>
          </a:graphicData>
        </a:graphic>
      </p:graphicFrame>
      <p:sp>
        <p:nvSpPr>
          <p:cNvPr id="18" name="TextBox 17">
            <a:extLst>
              <a:ext uri="{FF2B5EF4-FFF2-40B4-BE49-F238E27FC236}">
                <a16:creationId xmlns:a16="http://schemas.microsoft.com/office/drawing/2014/main" id="{F0978F47-9620-47E1-82FC-86E8D9E23198}"/>
              </a:ext>
            </a:extLst>
          </p:cNvPr>
          <p:cNvSpPr txBox="1"/>
          <p:nvPr/>
        </p:nvSpPr>
        <p:spPr>
          <a:xfrm>
            <a:off x="1514475" y="5486400"/>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extLst>
              <p:ext uri="{D42A27DB-BD31-4B8C-83A1-F6EECF244321}">
                <p14:modId xmlns:p14="http://schemas.microsoft.com/office/powerpoint/2010/main" val="3521284599"/>
              </p:ext>
            </p:extLst>
          </p:nvPr>
        </p:nvGraphicFramePr>
        <p:xfrm>
          <a:off x="4980781" y="3131928"/>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5474293" y="5316072"/>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cxnSp>
        <p:nvCxnSpPr>
          <p:cNvPr id="16" name="Straight Arrow Connector 15">
            <a:extLst>
              <a:ext uri="{FF2B5EF4-FFF2-40B4-BE49-F238E27FC236}">
                <a16:creationId xmlns:a16="http://schemas.microsoft.com/office/drawing/2014/main" id="{883DF8B5-912B-40FD-AF1A-7EA13B100D61}"/>
              </a:ext>
            </a:extLst>
          </p:cNvPr>
          <p:cNvCxnSpPr>
            <a:cxnSpLocks/>
          </p:cNvCxnSpPr>
          <p:nvPr/>
        </p:nvCxnSpPr>
        <p:spPr bwMode="auto">
          <a:xfrm>
            <a:off x="1460045" y="3352908"/>
            <a:ext cx="395015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 name="TextBox 7">
            <a:extLst>
              <a:ext uri="{FF2B5EF4-FFF2-40B4-BE49-F238E27FC236}">
                <a16:creationId xmlns:a16="http://schemas.microsoft.com/office/drawing/2014/main" id="{B2F5DDAD-EBC5-32D3-FCD5-E77F4BBFD453}"/>
              </a:ext>
            </a:extLst>
          </p:cNvPr>
          <p:cNvSpPr txBox="1"/>
          <p:nvPr/>
        </p:nvSpPr>
        <p:spPr>
          <a:xfrm>
            <a:off x="762000" y="2240588"/>
            <a:ext cx="7619999" cy="430887"/>
          </a:xfrm>
          <a:prstGeom prst="rect">
            <a:avLst/>
          </a:prstGeom>
          <a:noFill/>
        </p:spPr>
        <p:txBody>
          <a:bodyPr wrap="square" rtlCol="0">
            <a:spAutoFit/>
          </a:bodyPr>
          <a:lstStyle/>
          <a:p>
            <a:pPr algn="ctr"/>
            <a:r>
              <a:rPr lang="zh-CN" altLang="en-US" sz="2200" dirty="0"/>
              <a:t>算子的计算输出对应到右侧相应位置</a:t>
            </a:r>
          </a:p>
        </p:txBody>
      </p:sp>
    </p:spTree>
    <p:custDataLst>
      <p:tags r:id="rId1"/>
    </p:custDataLst>
    <p:extLst>
      <p:ext uri="{BB962C8B-B14F-4D97-AF65-F5344CB8AC3E}">
        <p14:creationId xmlns:p14="http://schemas.microsoft.com/office/powerpoint/2010/main" val="383176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3C03-F4FA-94F2-FBBC-D8E9188C7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F34D6-F3FA-7821-D118-6E093F566D59}"/>
              </a:ext>
            </a:extLst>
          </p:cNvPr>
          <p:cNvSpPr>
            <a:spLocks noGrp="1"/>
          </p:cNvSpPr>
          <p:nvPr>
            <p:ph type="title"/>
          </p:nvPr>
        </p:nvSpPr>
        <p:spPr/>
        <p:txBody>
          <a:bodyPr/>
          <a:lstStyle/>
          <a:p>
            <a:r>
              <a:rPr lang="zh-CN" altLang="en-US" dirty="0">
                <a:ea typeface="ＭＳ Ｐゴシック" panose="020B0600070205080204" pitchFamily="34" charset="-128"/>
              </a:rPr>
              <a:t>局部模式抽取</a:t>
            </a:r>
            <a:endParaRPr lang="zh-CN" altLang="en-US" dirty="0"/>
          </a:p>
        </p:txBody>
      </p:sp>
      <p:pic>
        <p:nvPicPr>
          <p:cNvPr id="5" name="Picture 4">
            <a:extLst>
              <a:ext uri="{FF2B5EF4-FFF2-40B4-BE49-F238E27FC236}">
                <a16:creationId xmlns:a16="http://schemas.microsoft.com/office/drawing/2014/main" id="{06581BB3-CD37-E4C9-DA22-C33CEAA304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2971800"/>
            <a:ext cx="2446232" cy="2438611"/>
          </a:xfrm>
          <a:prstGeom prst="rect">
            <a:avLst/>
          </a:prstGeom>
        </p:spPr>
      </p:pic>
      <p:graphicFrame>
        <p:nvGraphicFramePr>
          <p:cNvPr id="6" name="Table 5">
            <a:extLst>
              <a:ext uri="{FF2B5EF4-FFF2-40B4-BE49-F238E27FC236}">
                <a16:creationId xmlns:a16="http://schemas.microsoft.com/office/drawing/2014/main" id="{298E3F69-F7CD-BA63-3409-FFD5C00D7FDB}"/>
              </a:ext>
            </a:extLst>
          </p:cNvPr>
          <p:cNvGraphicFramePr>
            <a:graphicFrameLocks noGrp="1"/>
          </p:cNvGraphicFramePr>
          <p:nvPr/>
        </p:nvGraphicFramePr>
        <p:xfrm>
          <a:off x="1231445" y="3131928"/>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0000"/>
                      </a:schemeClr>
                    </a:solidFill>
                  </a:tcPr>
                </a:tc>
                <a:tc>
                  <a:txBody>
                    <a:bodyPr/>
                    <a:lstStyle/>
                    <a:p>
                      <a:endParaRPr lang="zh-CN" altLang="en-US" sz="100" dirty="0"/>
                    </a:p>
                  </a:txBody>
                  <a:tcPr marL="0" marR="0" marT="0" marB="0">
                    <a:solidFill>
                      <a:schemeClr val="accent2">
                        <a:lumMod val="40000"/>
                        <a:lumOff val="60000"/>
                        <a:alpha val="40000"/>
                      </a:schemeClr>
                    </a:solidFill>
                  </a:tcPr>
                </a:tc>
                <a:tc>
                  <a:txBody>
                    <a:bodyPr/>
                    <a:lstStyle/>
                    <a:p>
                      <a:endParaRPr lang="zh-CN" altLang="en-US" sz="100" dirty="0"/>
                    </a:p>
                  </a:txBody>
                  <a:tcPr marL="0" marR="0" marT="0" marB="0">
                    <a:solidFill>
                      <a:schemeClr val="accent1">
                        <a:alpha val="40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0000"/>
                      </a:schemeClr>
                    </a:solidFill>
                  </a:tcPr>
                </a:tc>
                <a:tc>
                  <a:txBody>
                    <a:bodyPr/>
                    <a:lstStyle/>
                    <a:p>
                      <a:endParaRPr lang="zh-CN" altLang="en-US" sz="100"/>
                    </a:p>
                  </a:txBody>
                  <a:tcPr marL="0" marR="0" marT="0" marB="0">
                    <a:solidFill>
                      <a:schemeClr val="accent1">
                        <a:alpha val="40000"/>
                      </a:schemeClr>
                    </a:solidFill>
                  </a:tcPr>
                </a:tc>
                <a:tc>
                  <a:txBody>
                    <a:bodyPr/>
                    <a:lstStyle/>
                    <a:p>
                      <a:endParaRPr lang="zh-CN" altLang="en-US" sz="100"/>
                    </a:p>
                  </a:txBody>
                  <a:tcPr marL="0" marR="0" marT="0" marB="0">
                    <a:solidFill>
                      <a:schemeClr val="accent1">
                        <a:alpha val="40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0000"/>
                      </a:schemeClr>
                    </a:solidFill>
                  </a:tcPr>
                </a:tc>
                <a:tc>
                  <a:txBody>
                    <a:bodyPr/>
                    <a:lstStyle/>
                    <a:p>
                      <a:endParaRPr lang="zh-CN" altLang="en-US" sz="100"/>
                    </a:p>
                  </a:txBody>
                  <a:tcPr marL="0" marR="0" marT="0" marB="0">
                    <a:solidFill>
                      <a:schemeClr val="accent1">
                        <a:alpha val="40000"/>
                      </a:schemeClr>
                    </a:solidFill>
                  </a:tcPr>
                </a:tc>
                <a:tc>
                  <a:txBody>
                    <a:bodyPr/>
                    <a:lstStyle/>
                    <a:p>
                      <a:endParaRPr lang="zh-CN" altLang="en-US" sz="100" dirty="0"/>
                    </a:p>
                  </a:txBody>
                  <a:tcPr marL="0" marR="0" marT="0" marB="0">
                    <a:solidFill>
                      <a:schemeClr val="accent1">
                        <a:lumMod val="75000"/>
                        <a:alpha val="40000"/>
                      </a:schemeClr>
                    </a:solidFill>
                  </a:tcPr>
                </a:tc>
                <a:extLst>
                  <a:ext uri="{0D108BD9-81ED-4DB2-BD59-A6C34878D82A}">
                    <a16:rowId xmlns:a16="http://schemas.microsoft.com/office/drawing/2014/main" val="167477589"/>
                  </a:ext>
                </a:extLst>
              </a:tr>
            </a:tbl>
          </a:graphicData>
        </a:graphic>
      </p:graphicFrame>
      <p:sp>
        <p:nvSpPr>
          <p:cNvPr id="18" name="TextBox 17">
            <a:extLst>
              <a:ext uri="{FF2B5EF4-FFF2-40B4-BE49-F238E27FC236}">
                <a16:creationId xmlns:a16="http://schemas.microsoft.com/office/drawing/2014/main" id="{4921504A-6F75-D258-1744-3D82484613B3}"/>
              </a:ext>
            </a:extLst>
          </p:cNvPr>
          <p:cNvSpPr txBox="1"/>
          <p:nvPr/>
        </p:nvSpPr>
        <p:spPr>
          <a:xfrm>
            <a:off x="1514475" y="5486400"/>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graphicFrame>
        <p:nvGraphicFramePr>
          <p:cNvPr id="22" name="Table 21">
            <a:extLst>
              <a:ext uri="{FF2B5EF4-FFF2-40B4-BE49-F238E27FC236}">
                <a16:creationId xmlns:a16="http://schemas.microsoft.com/office/drawing/2014/main" id="{85E966B1-9C1B-75DE-82E3-0F6CA6CFF36F}"/>
              </a:ext>
            </a:extLst>
          </p:cNvPr>
          <p:cNvGraphicFramePr>
            <a:graphicFrameLocks noGrp="1"/>
          </p:cNvGraphicFramePr>
          <p:nvPr/>
        </p:nvGraphicFramePr>
        <p:xfrm>
          <a:off x="4980781" y="3131928"/>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7157DCE1-35E6-BB12-45B5-4AD74997992B}"/>
              </a:ext>
            </a:extLst>
          </p:cNvPr>
          <p:cNvSpPr txBox="1"/>
          <p:nvPr/>
        </p:nvSpPr>
        <p:spPr>
          <a:xfrm>
            <a:off x="5474293" y="5316072"/>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cxnSp>
        <p:nvCxnSpPr>
          <p:cNvPr id="16" name="Straight Arrow Connector 15">
            <a:extLst>
              <a:ext uri="{FF2B5EF4-FFF2-40B4-BE49-F238E27FC236}">
                <a16:creationId xmlns:a16="http://schemas.microsoft.com/office/drawing/2014/main" id="{A3C394CB-24B5-403D-EC57-5D5BE19F6DED}"/>
              </a:ext>
            </a:extLst>
          </p:cNvPr>
          <p:cNvCxnSpPr>
            <a:cxnSpLocks/>
          </p:cNvCxnSpPr>
          <p:nvPr/>
        </p:nvCxnSpPr>
        <p:spPr bwMode="auto">
          <a:xfrm>
            <a:off x="1460045" y="3352908"/>
            <a:ext cx="395015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a:extLst>
              <a:ext uri="{FF2B5EF4-FFF2-40B4-BE49-F238E27FC236}">
                <a16:creationId xmlns:a16="http://schemas.microsoft.com/office/drawing/2014/main" id="{DBFF95F8-79D1-AE99-303D-D2C84E4CD0DE}"/>
              </a:ext>
            </a:extLst>
          </p:cNvPr>
          <p:cNvSpPr txBox="1"/>
          <p:nvPr/>
        </p:nvSpPr>
        <p:spPr>
          <a:xfrm>
            <a:off x="762000" y="2240588"/>
            <a:ext cx="7619999" cy="430887"/>
          </a:xfrm>
          <a:prstGeom prst="rect">
            <a:avLst/>
          </a:prstGeom>
          <a:noFill/>
        </p:spPr>
        <p:txBody>
          <a:bodyPr wrap="square" rtlCol="0">
            <a:spAutoFit/>
          </a:bodyPr>
          <a:lstStyle/>
          <a:p>
            <a:pPr algn="ctr"/>
            <a:r>
              <a:rPr lang="zh-CN" altLang="en-US" sz="2200" dirty="0"/>
              <a:t>匹配的模式会在右侧形成一个很大的数值</a:t>
            </a:r>
          </a:p>
        </p:txBody>
      </p:sp>
    </p:spTree>
    <p:custDataLst>
      <p:tags r:id="rId1"/>
    </p:custDataLst>
    <p:extLst>
      <p:ext uri="{BB962C8B-B14F-4D97-AF65-F5344CB8AC3E}">
        <p14:creationId xmlns:p14="http://schemas.microsoft.com/office/powerpoint/2010/main" val="23869937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局部模式抽取</a:t>
            </a:r>
            <a:endParaRPr lang="zh-CN" altLang="en-US" dirty="0"/>
          </a:p>
        </p:txBody>
      </p:sp>
      <p:pic>
        <p:nvPicPr>
          <p:cNvPr id="5" name="Picture 4">
            <a:extLst>
              <a:ext uri="{FF2B5EF4-FFF2-40B4-BE49-F238E27FC236}">
                <a16:creationId xmlns:a16="http://schemas.microsoft.com/office/drawing/2014/main" id="{2D3C7071-2B74-4BAA-AF48-07D9AD22F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2971800"/>
            <a:ext cx="2446232" cy="2438611"/>
          </a:xfrm>
          <a:prstGeom prst="rect">
            <a:avLst/>
          </a:prstGeom>
        </p:spPr>
      </p:pic>
      <p:graphicFrame>
        <p:nvGraphicFramePr>
          <p:cNvPr id="6" name="Table 5">
            <a:extLst>
              <a:ext uri="{FF2B5EF4-FFF2-40B4-BE49-F238E27FC236}">
                <a16:creationId xmlns:a16="http://schemas.microsoft.com/office/drawing/2014/main" id="{11B0D76B-2C40-49AC-B8AA-60DADF24F8E8}"/>
              </a:ext>
            </a:extLst>
          </p:cNvPr>
          <p:cNvGraphicFramePr>
            <a:graphicFrameLocks noGrp="1"/>
          </p:cNvGraphicFramePr>
          <p:nvPr/>
        </p:nvGraphicFramePr>
        <p:xfrm>
          <a:off x="2139462" y="3581400"/>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75000"/>
                        <a:alpha val="42000"/>
                      </a:schemeClr>
                    </a:solidFill>
                  </a:tcPr>
                </a:tc>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dirty="0"/>
                    </a:p>
                  </a:txBody>
                  <a:tcPr marL="0" marR="0" marT="0" marB="0">
                    <a:solidFill>
                      <a:schemeClr val="accent1">
                        <a:alpha val="42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40000"/>
                        <a:lumOff val="60000"/>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extLst>
                  <a:ext uri="{0D108BD9-81ED-4DB2-BD59-A6C34878D82A}">
                    <a16:rowId xmlns:a16="http://schemas.microsoft.com/office/drawing/2014/main" val="827475921"/>
                  </a:ext>
                </a:extLst>
              </a:tr>
              <a:tr h="147320">
                <a:tc>
                  <a:txBody>
                    <a:bodyPr/>
                    <a:lstStyle/>
                    <a:p>
                      <a:endParaRPr lang="zh-CN" altLang="en-US" sz="100"/>
                    </a:p>
                  </a:txBody>
                  <a:tcPr marL="0" marR="0" marT="0" marB="0">
                    <a:solidFill>
                      <a:schemeClr val="accent1">
                        <a:alpha val="42000"/>
                      </a:schemeClr>
                    </a:solidFill>
                  </a:tcPr>
                </a:tc>
                <a:tc>
                  <a:txBody>
                    <a:bodyPr/>
                    <a:lstStyle/>
                    <a:p>
                      <a:endParaRPr lang="zh-CN" altLang="en-US" sz="100"/>
                    </a:p>
                  </a:txBody>
                  <a:tcPr marL="0" marR="0" marT="0" marB="0">
                    <a:solidFill>
                      <a:schemeClr val="accent1">
                        <a:alpha val="42000"/>
                      </a:schemeClr>
                    </a:solidFill>
                  </a:tcPr>
                </a:tc>
                <a:tc>
                  <a:txBody>
                    <a:bodyPr/>
                    <a:lstStyle/>
                    <a:p>
                      <a:endParaRPr lang="zh-CN" altLang="en-US" sz="100" dirty="0"/>
                    </a:p>
                  </a:txBody>
                  <a:tcPr marL="0" marR="0" marT="0" marB="0">
                    <a:solidFill>
                      <a:schemeClr val="accent1">
                        <a:lumMod val="75000"/>
                        <a:alpha val="42000"/>
                      </a:schemeClr>
                    </a:solidFill>
                  </a:tcPr>
                </a:tc>
                <a:extLst>
                  <a:ext uri="{0D108BD9-81ED-4DB2-BD59-A6C34878D82A}">
                    <a16:rowId xmlns:a16="http://schemas.microsoft.com/office/drawing/2014/main" val="167477589"/>
                  </a:ext>
                </a:extLst>
              </a:tr>
            </a:tbl>
          </a:graphicData>
        </a:graphic>
      </p:graphicFrame>
      <p:sp>
        <p:nvSpPr>
          <p:cNvPr id="18" name="TextBox 17">
            <a:extLst>
              <a:ext uri="{FF2B5EF4-FFF2-40B4-BE49-F238E27FC236}">
                <a16:creationId xmlns:a16="http://schemas.microsoft.com/office/drawing/2014/main" id="{F0978F47-9620-47E1-82FC-86E8D9E23198}"/>
              </a:ext>
            </a:extLst>
          </p:cNvPr>
          <p:cNvSpPr txBox="1"/>
          <p:nvPr/>
        </p:nvSpPr>
        <p:spPr>
          <a:xfrm>
            <a:off x="1514475" y="5486400"/>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4980781" y="3131928"/>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5474293" y="5316072"/>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cxnSp>
        <p:nvCxnSpPr>
          <p:cNvPr id="16" name="Straight Arrow Connector 15">
            <a:extLst>
              <a:ext uri="{FF2B5EF4-FFF2-40B4-BE49-F238E27FC236}">
                <a16:creationId xmlns:a16="http://schemas.microsoft.com/office/drawing/2014/main" id="{883DF8B5-912B-40FD-AF1A-7EA13B100D61}"/>
              </a:ext>
            </a:extLst>
          </p:cNvPr>
          <p:cNvCxnSpPr/>
          <p:nvPr/>
        </p:nvCxnSpPr>
        <p:spPr bwMode="auto">
          <a:xfrm>
            <a:off x="2368062" y="3802380"/>
            <a:ext cx="395653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 name="TextBox 10">
            <a:extLst>
              <a:ext uri="{FF2B5EF4-FFF2-40B4-BE49-F238E27FC236}">
                <a16:creationId xmlns:a16="http://schemas.microsoft.com/office/drawing/2014/main" id="{1D46912D-2770-407B-B73A-599451C52B9B}"/>
              </a:ext>
            </a:extLst>
          </p:cNvPr>
          <p:cNvSpPr txBox="1"/>
          <p:nvPr/>
        </p:nvSpPr>
        <p:spPr>
          <a:xfrm>
            <a:off x="617432" y="2214562"/>
            <a:ext cx="2743200" cy="430887"/>
          </a:xfrm>
          <a:prstGeom prst="rect">
            <a:avLst/>
          </a:prstGeom>
          <a:noFill/>
        </p:spPr>
        <p:txBody>
          <a:bodyPr wrap="square" rtlCol="0">
            <a:spAutoFit/>
          </a:bodyPr>
          <a:lstStyle/>
          <a:p>
            <a:pPr algn="ctr"/>
            <a:r>
              <a:rPr lang="zh-CN" altLang="en-US" sz="2200" dirty="0"/>
              <a:t>算子扫过两维数组</a:t>
            </a:r>
          </a:p>
        </p:txBody>
      </p:sp>
      <p:sp>
        <p:nvSpPr>
          <p:cNvPr id="14" name="TextBox 13">
            <a:extLst>
              <a:ext uri="{FF2B5EF4-FFF2-40B4-BE49-F238E27FC236}">
                <a16:creationId xmlns:a16="http://schemas.microsoft.com/office/drawing/2014/main" id="{85AB8F9F-2664-492A-92AD-BA794134D6F1}"/>
              </a:ext>
            </a:extLst>
          </p:cNvPr>
          <p:cNvSpPr txBox="1"/>
          <p:nvPr/>
        </p:nvSpPr>
        <p:spPr>
          <a:xfrm>
            <a:off x="2895599" y="5567035"/>
            <a:ext cx="6248401" cy="769441"/>
          </a:xfrm>
          <a:prstGeom prst="rect">
            <a:avLst/>
          </a:prstGeom>
          <a:noFill/>
        </p:spPr>
        <p:txBody>
          <a:bodyPr wrap="square" rtlCol="0">
            <a:spAutoFit/>
          </a:bodyPr>
          <a:lstStyle/>
          <a:p>
            <a:pPr algn="ctr"/>
            <a:endParaRPr lang="en-US" altLang="zh-CN" sz="2200" dirty="0"/>
          </a:p>
          <a:p>
            <a:pPr algn="ctr"/>
            <a:r>
              <a:rPr lang="zh-CN" altLang="en-US" sz="2200" dirty="0"/>
              <a:t>得到局部模式在不同位置的“强度”</a:t>
            </a:r>
          </a:p>
        </p:txBody>
      </p:sp>
    </p:spTree>
    <p:custDataLst>
      <p:tags r:id="rId1"/>
    </p:custDataLst>
    <p:extLst>
      <p:ext uri="{BB962C8B-B14F-4D97-AF65-F5344CB8AC3E}">
        <p14:creationId xmlns:p14="http://schemas.microsoft.com/office/powerpoint/2010/main" val="6774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局部模式抽取</a:t>
            </a:r>
            <a:endParaRPr lang="zh-CN" altLang="en-US" dirty="0"/>
          </a:p>
        </p:txBody>
      </p:sp>
      <p:pic>
        <p:nvPicPr>
          <p:cNvPr id="5" name="Picture 4">
            <a:extLst>
              <a:ext uri="{FF2B5EF4-FFF2-40B4-BE49-F238E27FC236}">
                <a16:creationId xmlns:a16="http://schemas.microsoft.com/office/drawing/2014/main" id="{2D3C7071-2B74-4BAA-AF48-07D9AD22F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2971800"/>
            <a:ext cx="2446232" cy="2438611"/>
          </a:xfrm>
          <a:prstGeom prst="rect">
            <a:avLst/>
          </a:prstGeom>
        </p:spPr>
      </p:pic>
      <p:graphicFrame>
        <p:nvGraphicFramePr>
          <p:cNvPr id="6" name="Table 5">
            <a:extLst>
              <a:ext uri="{FF2B5EF4-FFF2-40B4-BE49-F238E27FC236}">
                <a16:creationId xmlns:a16="http://schemas.microsoft.com/office/drawing/2014/main" id="{11B0D76B-2C40-49AC-B8AA-60DADF24F8E8}"/>
              </a:ext>
            </a:extLst>
          </p:cNvPr>
          <p:cNvGraphicFramePr>
            <a:graphicFrameLocks noGrp="1"/>
          </p:cNvGraphicFramePr>
          <p:nvPr>
            <p:extLst>
              <p:ext uri="{D42A27DB-BD31-4B8C-83A1-F6EECF244321}">
                <p14:modId xmlns:p14="http://schemas.microsoft.com/office/powerpoint/2010/main" val="3264313880"/>
              </p:ext>
            </p:extLst>
          </p:nvPr>
        </p:nvGraphicFramePr>
        <p:xfrm>
          <a:off x="1827726" y="4796101"/>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20000"/>
                        <a:lumOff val="80000"/>
                        <a:alpha val="50000"/>
                      </a:schemeClr>
                    </a:solidFill>
                  </a:tcPr>
                </a:tc>
                <a:tc>
                  <a:txBody>
                    <a:bodyPr/>
                    <a:lstStyle/>
                    <a:p>
                      <a:endParaRPr lang="zh-CN" altLang="en-US" sz="100" dirty="0"/>
                    </a:p>
                  </a:txBody>
                  <a:tcPr marL="0" marR="0" marT="0" marB="0">
                    <a:solidFill>
                      <a:schemeClr val="accent1">
                        <a:lumMod val="60000"/>
                        <a:lumOff val="40000"/>
                        <a:alpha val="40000"/>
                      </a:schemeClr>
                    </a:solidFill>
                  </a:tcPr>
                </a:tc>
                <a:tc>
                  <a:txBody>
                    <a:bodyPr/>
                    <a:lstStyle/>
                    <a:p>
                      <a:endParaRPr lang="zh-CN" altLang="en-US" sz="100" dirty="0"/>
                    </a:p>
                  </a:txBody>
                  <a:tcPr marL="0" marR="0" marT="0" marB="0">
                    <a:solidFill>
                      <a:schemeClr val="accent1">
                        <a:alpha val="50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2">
                        <a:lumMod val="20000"/>
                        <a:lumOff val="80000"/>
                        <a:alpha val="50000"/>
                      </a:schemeClr>
                    </a:solidFill>
                  </a:tcPr>
                </a:tc>
                <a:tc>
                  <a:txBody>
                    <a:bodyPr/>
                    <a:lstStyle/>
                    <a:p>
                      <a:endParaRPr lang="zh-CN" altLang="en-US" sz="100" dirty="0"/>
                    </a:p>
                  </a:txBody>
                  <a:tcPr marL="0" marR="0" marT="0" marB="0">
                    <a:solidFill>
                      <a:schemeClr val="accent1">
                        <a:lumMod val="60000"/>
                        <a:lumOff val="40000"/>
                        <a:alpha val="50000"/>
                      </a:schemeClr>
                    </a:solidFill>
                  </a:tcPr>
                </a:tc>
                <a:tc>
                  <a:txBody>
                    <a:bodyPr/>
                    <a:lstStyle/>
                    <a:p>
                      <a:endParaRPr lang="zh-CN" altLang="en-US" sz="100" dirty="0"/>
                    </a:p>
                  </a:txBody>
                  <a:tcPr marL="0" marR="0" marT="0" marB="0">
                    <a:solidFill>
                      <a:schemeClr val="accent1">
                        <a:alpha val="50000"/>
                      </a:schemeClr>
                    </a:solidFill>
                  </a:tcPr>
                </a:tc>
                <a:extLst>
                  <a:ext uri="{0D108BD9-81ED-4DB2-BD59-A6C34878D82A}">
                    <a16:rowId xmlns:a16="http://schemas.microsoft.com/office/drawing/2014/main" val="827475921"/>
                  </a:ext>
                </a:extLst>
              </a:tr>
              <a:tr h="147320">
                <a:tc>
                  <a:txBody>
                    <a:bodyPr/>
                    <a:lstStyle/>
                    <a:p>
                      <a:endParaRPr lang="zh-CN" altLang="en-US" sz="100" dirty="0"/>
                    </a:p>
                  </a:txBody>
                  <a:tcPr marL="0" marR="0" marT="0" marB="0">
                    <a:solidFill>
                      <a:schemeClr val="accent2">
                        <a:lumMod val="20000"/>
                        <a:lumOff val="80000"/>
                        <a:alpha val="50000"/>
                      </a:schemeClr>
                    </a:solidFill>
                  </a:tcPr>
                </a:tc>
                <a:tc>
                  <a:txBody>
                    <a:bodyPr/>
                    <a:lstStyle/>
                    <a:p>
                      <a:endParaRPr lang="zh-CN" altLang="en-US" sz="100" dirty="0"/>
                    </a:p>
                  </a:txBody>
                  <a:tcPr marL="0" marR="0" marT="0" marB="0">
                    <a:solidFill>
                      <a:schemeClr val="accent1">
                        <a:lumMod val="60000"/>
                        <a:lumOff val="40000"/>
                        <a:alpha val="50000"/>
                      </a:schemeClr>
                    </a:solidFill>
                  </a:tcPr>
                </a:tc>
                <a:tc>
                  <a:txBody>
                    <a:bodyPr/>
                    <a:lstStyle/>
                    <a:p>
                      <a:endParaRPr lang="zh-CN" altLang="en-US" sz="100" dirty="0"/>
                    </a:p>
                  </a:txBody>
                  <a:tcPr marL="0" marR="0" marT="0" marB="0">
                    <a:solidFill>
                      <a:schemeClr val="accent1">
                        <a:alpha val="50000"/>
                      </a:schemeClr>
                    </a:solidFill>
                  </a:tcPr>
                </a:tc>
                <a:extLst>
                  <a:ext uri="{0D108BD9-81ED-4DB2-BD59-A6C34878D82A}">
                    <a16:rowId xmlns:a16="http://schemas.microsoft.com/office/drawing/2014/main" val="167477589"/>
                  </a:ext>
                </a:extLst>
              </a:tr>
            </a:tbl>
          </a:graphicData>
        </a:graphic>
      </p:graphicFrame>
      <p:sp>
        <p:nvSpPr>
          <p:cNvPr id="18" name="TextBox 17">
            <a:extLst>
              <a:ext uri="{FF2B5EF4-FFF2-40B4-BE49-F238E27FC236}">
                <a16:creationId xmlns:a16="http://schemas.microsoft.com/office/drawing/2014/main" id="{F0978F47-9620-47E1-82FC-86E8D9E23198}"/>
              </a:ext>
            </a:extLst>
          </p:cNvPr>
          <p:cNvSpPr txBox="1"/>
          <p:nvPr/>
        </p:nvSpPr>
        <p:spPr>
          <a:xfrm>
            <a:off x="1514475" y="5486400"/>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23" name="TextBox 22">
            <a:extLst>
              <a:ext uri="{FF2B5EF4-FFF2-40B4-BE49-F238E27FC236}">
                <a16:creationId xmlns:a16="http://schemas.microsoft.com/office/drawing/2014/main" id="{BC03817F-70F4-430E-A0DC-8C5D378BA449}"/>
              </a:ext>
            </a:extLst>
          </p:cNvPr>
          <p:cNvSpPr txBox="1"/>
          <p:nvPr/>
        </p:nvSpPr>
        <p:spPr>
          <a:xfrm>
            <a:off x="5474293" y="5316072"/>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graphicFrame>
        <p:nvGraphicFramePr>
          <p:cNvPr id="10" name="Table 9">
            <a:extLst>
              <a:ext uri="{FF2B5EF4-FFF2-40B4-BE49-F238E27FC236}">
                <a16:creationId xmlns:a16="http://schemas.microsoft.com/office/drawing/2014/main" id="{D9997614-B9EF-4325-8908-F6ED4A416B9F}"/>
              </a:ext>
            </a:extLst>
          </p:cNvPr>
          <p:cNvGraphicFramePr>
            <a:graphicFrameLocks noGrp="1"/>
          </p:cNvGraphicFramePr>
          <p:nvPr/>
        </p:nvGraphicFramePr>
        <p:xfrm>
          <a:off x="4883150" y="3041650"/>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195407205"/>
                  </a:ext>
                </a:extLst>
              </a:tr>
            </a:tbl>
          </a:graphicData>
        </a:graphic>
      </p:graphicFrame>
      <p:sp>
        <p:nvSpPr>
          <p:cNvPr id="12" name="TextBox 11">
            <a:extLst>
              <a:ext uri="{FF2B5EF4-FFF2-40B4-BE49-F238E27FC236}">
                <a16:creationId xmlns:a16="http://schemas.microsoft.com/office/drawing/2014/main" id="{9052D5B0-CB95-4E1B-9E24-4C611ED975A7}"/>
              </a:ext>
            </a:extLst>
          </p:cNvPr>
          <p:cNvSpPr txBox="1"/>
          <p:nvPr/>
        </p:nvSpPr>
        <p:spPr>
          <a:xfrm>
            <a:off x="304800" y="2060503"/>
            <a:ext cx="3218657" cy="430887"/>
          </a:xfrm>
          <a:prstGeom prst="rect">
            <a:avLst/>
          </a:prstGeom>
          <a:noFill/>
        </p:spPr>
        <p:txBody>
          <a:bodyPr wrap="square" rtlCol="0">
            <a:spAutoFit/>
          </a:bodyPr>
          <a:lstStyle/>
          <a:p>
            <a:pPr algn="ctr"/>
            <a:r>
              <a:rPr lang="zh-CN" altLang="en-US" sz="2200" dirty="0"/>
              <a:t>第二个算子</a:t>
            </a:r>
          </a:p>
        </p:txBody>
      </p:sp>
      <p:cxnSp>
        <p:nvCxnSpPr>
          <p:cNvPr id="16" name="Straight Arrow Connector 15">
            <a:extLst>
              <a:ext uri="{FF2B5EF4-FFF2-40B4-BE49-F238E27FC236}">
                <a16:creationId xmlns:a16="http://schemas.microsoft.com/office/drawing/2014/main" id="{883DF8B5-912B-40FD-AF1A-7EA13B100D61}"/>
              </a:ext>
            </a:extLst>
          </p:cNvPr>
          <p:cNvCxnSpPr>
            <a:cxnSpLocks/>
          </p:cNvCxnSpPr>
          <p:nvPr/>
        </p:nvCxnSpPr>
        <p:spPr bwMode="auto">
          <a:xfrm flipV="1">
            <a:off x="2023669" y="4953000"/>
            <a:ext cx="3615131" cy="6408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4980781" y="3131928"/>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Tree>
    <p:custDataLst>
      <p:tags r:id="rId1"/>
    </p:custDataLst>
    <p:extLst>
      <p:ext uri="{BB962C8B-B14F-4D97-AF65-F5344CB8AC3E}">
        <p14:creationId xmlns:p14="http://schemas.microsoft.com/office/powerpoint/2010/main" val="239382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EE418393-BDAE-42CC-BCBE-3E952AEED37C}"/>
              </a:ext>
            </a:extLst>
          </p:cNvPr>
          <p:cNvGraphicFramePr>
            <a:graphicFrameLocks noGrp="1"/>
          </p:cNvGraphicFramePr>
          <p:nvPr/>
        </p:nvGraphicFramePr>
        <p:xfrm>
          <a:off x="4785519" y="2951372"/>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tc>
                  <a:txBody>
                    <a:bodyPr/>
                    <a:lstStyle/>
                    <a:p>
                      <a:endParaRPr lang="zh-CN" altLang="en-US" sz="100" dirty="0"/>
                    </a:p>
                  </a:txBody>
                  <a:tcPr marL="0" marR="0" marT="0" marB="0">
                    <a:solidFill>
                      <a:schemeClr val="bg1"/>
                    </a:solidFill>
                  </a:tcPr>
                </a:tc>
                <a:extLst>
                  <a:ext uri="{0D108BD9-81ED-4DB2-BD59-A6C34878D82A}">
                    <a16:rowId xmlns:a16="http://schemas.microsoft.com/office/drawing/2014/main" val="3195407205"/>
                  </a:ext>
                </a:extLst>
              </a:tr>
            </a:tbl>
          </a:graphicData>
        </a:graphic>
      </p:graphicFrame>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局部模式抽取</a:t>
            </a:r>
            <a:endParaRPr lang="zh-CN" altLang="en-US" dirty="0"/>
          </a:p>
        </p:txBody>
      </p:sp>
      <p:pic>
        <p:nvPicPr>
          <p:cNvPr id="5" name="Picture 4">
            <a:extLst>
              <a:ext uri="{FF2B5EF4-FFF2-40B4-BE49-F238E27FC236}">
                <a16:creationId xmlns:a16="http://schemas.microsoft.com/office/drawing/2014/main" id="{2D3C7071-2B74-4BAA-AF48-07D9AD22F4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2971800"/>
            <a:ext cx="2446232" cy="2438611"/>
          </a:xfrm>
          <a:prstGeom prst="rect">
            <a:avLst/>
          </a:prstGeom>
        </p:spPr>
      </p:pic>
      <p:graphicFrame>
        <p:nvGraphicFramePr>
          <p:cNvPr id="6" name="Table 5">
            <a:extLst>
              <a:ext uri="{FF2B5EF4-FFF2-40B4-BE49-F238E27FC236}">
                <a16:creationId xmlns:a16="http://schemas.microsoft.com/office/drawing/2014/main" id="{11B0D76B-2C40-49AC-B8AA-60DADF24F8E8}"/>
              </a:ext>
            </a:extLst>
          </p:cNvPr>
          <p:cNvGraphicFramePr>
            <a:graphicFrameLocks noGrp="1"/>
          </p:cNvGraphicFramePr>
          <p:nvPr>
            <p:extLst>
              <p:ext uri="{D42A27DB-BD31-4B8C-83A1-F6EECF244321}">
                <p14:modId xmlns:p14="http://schemas.microsoft.com/office/powerpoint/2010/main" val="2795059009"/>
              </p:ext>
            </p:extLst>
          </p:nvPr>
        </p:nvGraphicFramePr>
        <p:xfrm>
          <a:off x="1673912" y="3906508"/>
          <a:ext cx="457200" cy="441960"/>
        </p:xfrm>
        <a:graphic>
          <a:graphicData uri="http://schemas.openxmlformats.org/drawingml/2006/table">
            <a:tbl>
              <a:tblPr firstRow="1" bandRow="1">
                <a:tableStyleId>{5940675A-B579-460E-94D1-54222C63F5DA}</a:tableStyleId>
              </a:tblPr>
              <a:tblGrid>
                <a:gridCol w="152400">
                  <a:extLst>
                    <a:ext uri="{9D8B030D-6E8A-4147-A177-3AD203B41FA5}">
                      <a16:colId xmlns:a16="http://schemas.microsoft.com/office/drawing/2014/main" val="3858150801"/>
                    </a:ext>
                  </a:extLst>
                </a:gridCol>
                <a:gridCol w="152400">
                  <a:extLst>
                    <a:ext uri="{9D8B030D-6E8A-4147-A177-3AD203B41FA5}">
                      <a16:colId xmlns:a16="http://schemas.microsoft.com/office/drawing/2014/main" val="3491865340"/>
                    </a:ext>
                  </a:extLst>
                </a:gridCol>
                <a:gridCol w="152400">
                  <a:extLst>
                    <a:ext uri="{9D8B030D-6E8A-4147-A177-3AD203B41FA5}">
                      <a16:colId xmlns:a16="http://schemas.microsoft.com/office/drawing/2014/main" val="2658115014"/>
                    </a:ext>
                  </a:extLst>
                </a:gridCol>
              </a:tblGrid>
              <a:tr h="147320">
                <a:tc>
                  <a:txBody>
                    <a:bodyPr/>
                    <a:lstStyle/>
                    <a:p>
                      <a:endParaRPr lang="zh-CN" altLang="en-US" sz="100" dirty="0"/>
                    </a:p>
                  </a:txBody>
                  <a:tcPr marL="0" marR="0" marT="0" marB="0">
                    <a:solidFill>
                      <a:schemeClr val="accent2">
                        <a:lumMod val="20000"/>
                        <a:lumOff val="80000"/>
                        <a:alpha val="40000"/>
                      </a:schemeClr>
                    </a:solidFill>
                  </a:tcPr>
                </a:tc>
                <a:tc>
                  <a:txBody>
                    <a:bodyPr/>
                    <a:lstStyle/>
                    <a:p>
                      <a:endParaRPr lang="zh-CN" altLang="en-US" sz="100" dirty="0"/>
                    </a:p>
                  </a:txBody>
                  <a:tcPr marL="0" marR="0" marT="0" marB="0">
                    <a:solidFill>
                      <a:schemeClr val="accent2">
                        <a:lumMod val="20000"/>
                        <a:lumOff val="80000"/>
                        <a:alpha val="40000"/>
                      </a:schemeClr>
                    </a:solidFill>
                  </a:tcPr>
                </a:tc>
                <a:tc>
                  <a:txBody>
                    <a:bodyPr/>
                    <a:lstStyle/>
                    <a:p>
                      <a:endParaRPr lang="zh-CN" altLang="en-US" sz="100" dirty="0"/>
                    </a:p>
                  </a:txBody>
                  <a:tcPr marL="0" marR="0" marT="0" marB="0">
                    <a:solidFill>
                      <a:schemeClr val="accent2">
                        <a:lumMod val="20000"/>
                        <a:lumOff val="80000"/>
                        <a:alpha val="40000"/>
                      </a:schemeClr>
                    </a:solidFill>
                  </a:tcPr>
                </a:tc>
                <a:extLst>
                  <a:ext uri="{0D108BD9-81ED-4DB2-BD59-A6C34878D82A}">
                    <a16:rowId xmlns:a16="http://schemas.microsoft.com/office/drawing/2014/main" val="1327356210"/>
                  </a:ext>
                </a:extLst>
              </a:tr>
              <a:tr h="147320">
                <a:tc>
                  <a:txBody>
                    <a:bodyPr/>
                    <a:lstStyle/>
                    <a:p>
                      <a:endParaRPr lang="zh-CN" altLang="en-US" sz="100" dirty="0"/>
                    </a:p>
                  </a:txBody>
                  <a:tcPr marL="0" marR="0" marT="0" marB="0">
                    <a:solidFill>
                      <a:schemeClr val="accent1">
                        <a:lumMod val="40000"/>
                        <a:lumOff val="60000"/>
                        <a:alpha val="40000"/>
                      </a:schemeClr>
                    </a:solidFill>
                  </a:tcPr>
                </a:tc>
                <a:tc>
                  <a:txBody>
                    <a:bodyPr/>
                    <a:lstStyle/>
                    <a:p>
                      <a:endParaRPr lang="zh-CN" altLang="en-US" sz="100" dirty="0"/>
                    </a:p>
                  </a:txBody>
                  <a:tcPr marL="0" marR="0" marT="0" marB="0">
                    <a:solidFill>
                      <a:schemeClr val="accent1">
                        <a:lumMod val="40000"/>
                        <a:lumOff val="60000"/>
                        <a:alpha val="40000"/>
                      </a:schemeClr>
                    </a:solidFill>
                  </a:tcPr>
                </a:tc>
                <a:tc>
                  <a:txBody>
                    <a:bodyPr/>
                    <a:lstStyle/>
                    <a:p>
                      <a:endParaRPr lang="zh-CN" altLang="en-US" sz="100" dirty="0"/>
                    </a:p>
                  </a:txBody>
                  <a:tcPr marL="0" marR="0" marT="0" marB="0">
                    <a:solidFill>
                      <a:schemeClr val="accent1">
                        <a:lumMod val="40000"/>
                        <a:lumOff val="60000"/>
                        <a:alpha val="40000"/>
                      </a:schemeClr>
                    </a:solidFill>
                  </a:tcPr>
                </a:tc>
                <a:extLst>
                  <a:ext uri="{0D108BD9-81ED-4DB2-BD59-A6C34878D82A}">
                    <a16:rowId xmlns:a16="http://schemas.microsoft.com/office/drawing/2014/main" val="827475921"/>
                  </a:ext>
                </a:extLst>
              </a:tr>
              <a:tr h="147320">
                <a:tc>
                  <a:txBody>
                    <a:bodyPr/>
                    <a:lstStyle/>
                    <a:p>
                      <a:endParaRPr lang="zh-CN" altLang="en-US" sz="100" dirty="0"/>
                    </a:p>
                  </a:txBody>
                  <a:tcPr marL="0" marR="0" marT="0" marB="0">
                    <a:solidFill>
                      <a:schemeClr val="accent1">
                        <a:alpha val="40000"/>
                      </a:schemeClr>
                    </a:solidFill>
                  </a:tcPr>
                </a:tc>
                <a:tc>
                  <a:txBody>
                    <a:bodyPr/>
                    <a:lstStyle/>
                    <a:p>
                      <a:endParaRPr lang="zh-CN" altLang="en-US" sz="100" dirty="0"/>
                    </a:p>
                  </a:txBody>
                  <a:tcPr marL="0" marR="0" marT="0" marB="0">
                    <a:solidFill>
                      <a:schemeClr val="accent1">
                        <a:alpha val="40000"/>
                      </a:schemeClr>
                    </a:solidFill>
                  </a:tcPr>
                </a:tc>
                <a:tc>
                  <a:txBody>
                    <a:bodyPr/>
                    <a:lstStyle/>
                    <a:p>
                      <a:endParaRPr lang="zh-CN" altLang="en-US" sz="100" dirty="0"/>
                    </a:p>
                  </a:txBody>
                  <a:tcPr marL="0" marR="0" marT="0" marB="0">
                    <a:solidFill>
                      <a:schemeClr val="accent1">
                        <a:alpha val="40000"/>
                      </a:schemeClr>
                    </a:solidFill>
                  </a:tcPr>
                </a:tc>
                <a:extLst>
                  <a:ext uri="{0D108BD9-81ED-4DB2-BD59-A6C34878D82A}">
                    <a16:rowId xmlns:a16="http://schemas.microsoft.com/office/drawing/2014/main" val="167477589"/>
                  </a:ext>
                </a:extLst>
              </a:tr>
            </a:tbl>
          </a:graphicData>
        </a:graphic>
      </p:graphicFrame>
      <p:sp>
        <p:nvSpPr>
          <p:cNvPr id="18" name="TextBox 17">
            <a:extLst>
              <a:ext uri="{FF2B5EF4-FFF2-40B4-BE49-F238E27FC236}">
                <a16:creationId xmlns:a16="http://schemas.microsoft.com/office/drawing/2014/main" id="{F0978F47-9620-47E1-82FC-86E8D9E23198}"/>
              </a:ext>
            </a:extLst>
          </p:cNvPr>
          <p:cNvSpPr txBox="1"/>
          <p:nvPr/>
        </p:nvSpPr>
        <p:spPr>
          <a:xfrm>
            <a:off x="1514475" y="5486400"/>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graphicFrame>
        <p:nvGraphicFramePr>
          <p:cNvPr id="10" name="Table 9">
            <a:extLst>
              <a:ext uri="{FF2B5EF4-FFF2-40B4-BE49-F238E27FC236}">
                <a16:creationId xmlns:a16="http://schemas.microsoft.com/office/drawing/2014/main" id="{D9997614-B9EF-4325-8908-F6ED4A416B9F}"/>
              </a:ext>
            </a:extLst>
          </p:cNvPr>
          <p:cNvGraphicFramePr>
            <a:graphicFrameLocks noGrp="1"/>
          </p:cNvGraphicFramePr>
          <p:nvPr/>
        </p:nvGraphicFramePr>
        <p:xfrm>
          <a:off x="4883150" y="3041650"/>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5474293" y="5316072"/>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cxnSp>
        <p:nvCxnSpPr>
          <p:cNvPr id="16" name="Straight Arrow Connector 15">
            <a:extLst>
              <a:ext uri="{FF2B5EF4-FFF2-40B4-BE49-F238E27FC236}">
                <a16:creationId xmlns:a16="http://schemas.microsoft.com/office/drawing/2014/main" id="{883DF8B5-912B-40FD-AF1A-7EA13B100D61}"/>
              </a:ext>
            </a:extLst>
          </p:cNvPr>
          <p:cNvCxnSpPr>
            <a:cxnSpLocks/>
          </p:cNvCxnSpPr>
          <p:nvPr/>
        </p:nvCxnSpPr>
        <p:spPr bwMode="auto">
          <a:xfrm flipV="1">
            <a:off x="1905000" y="3906508"/>
            <a:ext cx="3733800" cy="2082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9052D5B0-CB95-4E1B-9E24-4C611ED975A7}"/>
              </a:ext>
            </a:extLst>
          </p:cNvPr>
          <p:cNvSpPr txBox="1"/>
          <p:nvPr/>
        </p:nvSpPr>
        <p:spPr>
          <a:xfrm>
            <a:off x="304800" y="2060503"/>
            <a:ext cx="3218657" cy="430887"/>
          </a:xfrm>
          <a:prstGeom prst="rect">
            <a:avLst/>
          </a:prstGeom>
          <a:noFill/>
        </p:spPr>
        <p:txBody>
          <a:bodyPr wrap="square" rtlCol="0">
            <a:spAutoFit/>
          </a:bodyPr>
          <a:lstStyle/>
          <a:p>
            <a:pPr algn="ctr"/>
            <a:r>
              <a:rPr lang="zh-CN" altLang="en-US" sz="2200" dirty="0"/>
              <a:t>第三个算子</a:t>
            </a:r>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4980781" y="3131928"/>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Tree>
    <p:custDataLst>
      <p:tags r:id="rId1"/>
    </p:custDataLst>
    <p:extLst>
      <p:ext uri="{BB962C8B-B14F-4D97-AF65-F5344CB8AC3E}">
        <p14:creationId xmlns:p14="http://schemas.microsoft.com/office/powerpoint/2010/main" val="295484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C591268E-F43B-41C4-B4D5-848EDA6D7765}"/>
              </a:ext>
            </a:extLst>
          </p:cNvPr>
          <p:cNvGraphicFramePr>
            <a:graphicFrameLocks noGrp="1"/>
          </p:cNvGraphicFramePr>
          <p:nvPr/>
        </p:nvGraphicFramePr>
        <p:xfrm>
          <a:off x="3956450" y="2286000"/>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graphicFrame>
        <p:nvGraphicFramePr>
          <p:cNvPr id="13" name="Table 12">
            <a:extLst>
              <a:ext uri="{FF2B5EF4-FFF2-40B4-BE49-F238E27FC236}">
                <a16:creationId xmlns:a16="http://schemas.microsoft.com/office/drawing/2014/main" id="{EE418393-BDAE-42CC-BCBE-3E952AEED37C}"/>
              </a:ext>
            </a:extLst>
          </p:cNvPr>
          <p:cNvGraphicFramePr>
            <a:graphicFrameLocks noGrp="1"/>
          </p:cNvGraphicFramePr>
          <p:nvPr/>
        </p:nvGraphicFramePr>
        <p:xfrm>
          <a:off x="4785519" y="2951372"/>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局部模式抽取</a:t>
            </a:r>
            <a:endParaRPr lang="zh-CN" altLang="en-US" dirty="0"/>
          </a:p>
        </p:txBody>
      </p:sp>
      <p:pic>
        <p:nvPicPr>
          <p:cNvPr id="5" name="Picture 4">
            <a:extLst>
              <a:ext uri="{FF2B5EF4-FFF2-40B4-BE49-F238E27FC236}">
                <a16:creationId xmlns:a16="http://schemas.microsoft.com/office/drawing/2014/main" id="{2D3C7071-2B74-4BAA-AF48-07D9AD22F4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2971800"/>
            <a:ext cx="2446232" cy="2438611"/>
          </a:xfrm>
          <a:prstGeom prst="rect">
            <a:avLst/>
          </a:prstGeom>
        </p:spPr>
      </p:pic>
      <p:sp>
        <p:nvSpPr>
          <p:cNvPr id="18" name="TextBox 17">
            <a:extLst>
              <a:ext uri="{FF2B5EF4-FFF2-40B4-BE49-F238E27FC236}">
                <a16:creationId xmlns:a16="http://schemas.microsoft.com/office/drawing/2014/main" id="{F0978F47-9620-47E1-82FC-86E8D9E23198}"/>
              </a:ext>
            </a:extLst>
          </p:cNvPr>
          <p:cNvSpPr txBox="1"/>
          <p:nvPr/>
        </p:nvSpPr>
        <p:spPr>
          <a:xfrm>
            <a:off x="1514475" y="5486400"/>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graphicFrame>
        <p:nvGraphicFramePr>
          <p:cNvPr id="10" name="Table 9">
            <a:extLst>
              <a:ext uri="{FF2B5EF4-FFF2-40B4-BE49-F238E27FC236}">
                <a16:creationId xmlns:a16="http://schemas.microsoft.com/office/drawing/2014/main" id="{D9997614-B9EF-4325-8908-F6ED4A416B9F}"/>
              </a:ext>
            </a:extLst>
          </p:cNvPr>
          <p:cNvGraphicFramePr>
            <a:graphicFrameLocks noGrp="1"/>
          </p:cNvGraphicFramePr>
          <p:nvPr/>
        </p:nvGraphicFramePr>
        <p:xfrm>
          <a:off x="4883150" y="3041650"/>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5474293" y="5316072"/>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4980781" y="3131928"/>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3" name="TextBox 2">
            <a:extLst>
              <a:ext uri="{FF2B5EF4-FFF2-40B4-BE49-F238E27FC236}">
                <a16:creationId xmlns:a16="http://schemas.microsoft.com/office/drawing/2014/main" id="{2144F80C-0299-4585-AB99-7FA6A74BE807}"/>
              </a:ext>
            </a:extLst>
          </p:cNvPr>
          <p:cNvSpPr txBox="1"/>
          <p:nvPr/>
        </p:nvSpPr>
        <p:spPr>
          <a:xfrm rot="2481968">
            <a:off x="6208975" y="2362385"/>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14" name="TextBox 13">
            <a:extLst>
              <a:ext uri="{FF2B5EF4-FFF2-40B4-BE49-F238E27FC236}">
                <a16:creationId xmlns:a16="http://schemas.microsoft.com/office/drawing/2014/main" id="{6AD24306-8B03-4514-8E09-8D78436440D8}"/>
              </a:ext>
            </a:extLst>
          </p:cNvPr>
          <p:cNvSpPr txBox="1"/>
          <p:nvPr/>
        </p:nvSpPr>
        <p:spPr>
          <a:xfrm rot="2481968">
            <a:off x="4326535" y="4329630"/>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15" name="TextBox 14">
            <a:extLst>
              <a:ext uri="{FF2B5EF4-FFF2-40B4-BE49-F238E27FC236}">
                <a16:creationId xmlns:a16="http://schemas.microsoft.com/office/drawing/2014/main" id="{0439DD51-3045-4359-BD2E-6EB798E0EDA7}"/>
              </a:ext>
            </a:extLst>
          </p:cNvPr>
          <p:cNvSpPr txBox="1"/>
          <p:nvPr/>
        </p:nvSpPr>
        <p:spPr>
          <a:xfrm>
            <a:off x="2667000" y="1658762"/>
            <a:ext cx="6248401" cy="430887"/>
          </a:xfrm>
          <a:prstGeom prst="rect">
            <a:avLst/>
          </a:prstGeom>
          <a:noFill/>
        </p:spPr>
        <p:txBody>
          <a:bodyPr wrap="square" rtlCol="0">
            <a:spAutoFit/>
          </a:bodyPr>
          <a:lstStyle/>
          <a:p>
            <a:pPr algn="ctr"/>
            <a:r>
              <a:rPr lang="zh-CN" altLang="en-US" sz="2200" dirty="0"/>
              <a:t>不同局部模式的“强度”</a:t>
            </a:r>
          </a:p>
        </p:txBody>
      </p:sp>
    </p:spTree>
    <p:extLst>
      <p:ext uri="{BB962C8B-B14F-4D97-AF65-F5344CB8AC3E}">
        <p14:creationId xmlns:p14="http://schemas.microsoft.com/office/powerpoint/2010/main" val="542757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C591268E-F43B-41C4-B4D5-848EDA6D7765}"/>
              </a:ext>
            </a:extLst>
          </p:cNvPr>
          <p:cNvGraphicFramePr>
            <a:graphicFrameLocks noGrp="1"/>
          </p:cNvGraphicFramePr>
          <p:nvPr/>
        </p:nvGraphicFramePr>
        <p:xfrm>
          <a:off x="798519" y="2635041"/>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graphicFrame>
        <p:nvGraphicFramePr>
          <p:cNvPr id="13" name="Table 12">
            <a:extLst>
              <a:ext uri="{FF2B5EF4-FFF2-40B4-BE49-F238E27FC236}">
                <a16:creationId xmlns:a16="http://schemas.microsoft.com/office/drawing/2014/main" id="{EE418393-BDAE-42CC-BCBE-3E952AEED37C}"/>
              </a:ext>
            </a:extLst>
          </p:cNvPr>
          <p:cNvGraphicFramePr>
            <a:graphicFrameLocks noGrp="1"/>
          </p:cNvGraphicFramePr>
          <p:nvPr/>
        </p:nvGraphicFramePr>
        <p:xfrm>
          <a:off x="1627588" y="3300413"/>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张量</a:t>
            </a:r>
            <a:r>
              <a:rPr lang="zh-CN" altLang="en-US" dirty="0">
                <a:ea typeface="ＭＳ Ｐゴシック" panose="020B0600070205080204" pitchFamily="34" charset="-128"/>
              </a:rPr>
              <a:t>（</a:t>
            </a:r>
            <a:r>
              <a:rPr lang="en-US" altLang="zh-CN" dirty="0">
                <a:solidFill>
                  <a:srgbClr val="C00000"/>
                </a:solidFill>
                <a:ea typeface="ＭＳ Ｐゴシック" panose="020B0600070205080204" pitchFamily="34" charset="-128"/>
              </a:rPr>
              <a:t>Tensor</a:t>
            </a:r>
            <a:r>
              <a:rPr lang="zh-CN" altLang="en-US" dirty="0">
                <a:ea typeface="ＭＳ Ｐゴシック" panose="020B0600070205080204" pitchFamily="34" charset="-128"/>
              </a:rPr>
              <a:t>）算子</a:t>
            </a:r>
            <a:endParaRPr lang="zh-CN" altLang="en-US" dirty="0"/>
          </a:p>
        </p:txBody>
      </p:sp>
      <p:graphicFrame>
        <p:nvGraphicFramePr>
          <p:cNvPr id="10" name="Table 9">
            <a:extLst>
              <a:ext uri="{FF2B5EF4-FFF2-40B4-BE49-F238E27FC236}">
                <a16:creationId xmlns:a16="http://schemas.microsoft.com/office/drawing/2014/main" id="{D9997614-B9EF-4325-8908-F6ED4A416B9F}"/>
              </a:ext>
            </a:extLst>
          </p:cNvPr>
          <p:cNvGraphicFramePr>
            <a:graphicFrameLocks noGrp="1"/>
          </p:cNvGraphicFramePr>
          <p:nvPr/>
        </p:nvGraphicFramePr>
        <p:xfrm>
          <a:off x="1725219" y="3390691"/>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2316362" y="5665113"/>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1822850" y="3480969"/>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3" name="TextBox 2">
            <a:extLst>
              <a:ext uri="{FF2B5EF4-FFF2-40B4-BE49-F238E27FC236}">
                <a16:creationId xmlns:a16="http://schemas.microsoft.com/office/drawing/2014/main" id="{2144F80C-0299-4585-AB99-7FA6A74BE807}"/>
              </a:ext>
            </a:extLst>
          </p:cNvPr>
          <p:cNvSpPr txBox="1"/>
          <p:nvPr/>
        </p:nvSpPr>
        <p:spPr>
          <a:xfrm rot="2481968">
            <a:off x="3051044" y="2711426"/>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14" name="TextBox 13">
            <a:extLst>
              <a:ext uri="{FF2B5EF4-FFF2-40B4-BE49-F238E27FC236}">
                <a16:creationId xmlns:a16="http://schemas.microsoft.com/office/drawing/2014/main" id="{6AD24306-8B03-4514-8E09-8D78436440D8}"/>
              </a:ext>
            </a:extLst>
          </p:cNvPr>
          <p:cNvSpPr txBox="1"/>
          <p:nvPr/>
        </p:nvSpPr>
        <p:spPr>
          <a:xfrm rot="2481968">
            <a:off x="1168604" y="4678671"/>
            <a:ext cx="643331" cy="584775"/>
          </a:xfrm>
          <a:prstGeom prst="rect">
            <a:avLst/>
          </a:prstGeom>
          <a:noFill/>
        </p:spPr>
        <p:txBody>
          <a:bodyPr wrap="square" rtlCol="0">
            <a:spAutoFit/>
          </a:bodyPr>
          <a:lstStyle/>
          <a:p>
            <a:r>
              <a:rPr lang="en-US" altLang="zh-CN" sz="3200" dirty="0"/>
              <a:t>…</a:t>
            </a:r>
            <a:endParaRPr lang="zh-CN" altLang="en-US" sz="3200" dirty="0"/>
          </a:p>
        </p:txBody>
      </p:sp>
      <p:graphicFrame>
        <p:nvGraphicFramePr>
          <p:cNvPr id="16" name="Table 15">
            <a:extLst>
              <a:ext uri="{FF2B5EF4-FFF2-40B4-BE49-F238E27FC236}">
                <a16:creationId xmlns:a16="http://schemas.microsoft.com/office/drawing/2014/main" id="{3644D36B-65CC-4BA4-B104-573434F55E50}"/>
              </a:ext>
            </a:extLst>
          </p:cNvPr>
          <p:cNvGraphicFramePr>
            <a:graphicFrameLocks noGrp="1"/>
          </p:cNvGraphicFramePr>
          <p:nvPr/>
        </p:nvGraphicFramePr>
        <p:xfrm>
          <a:off x="4175033" y="2137210"/>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graphicFrame>
        <p:nvGraphicFramePr>
          <p:cNvPr id="17" name="Table 16">
            <a:extLst>
              <a:ext uri="{FF2B5EF4-FFF2-40B4-BE49-F238E27FC236}">
                <a16:creationId xmlns:a16="http://schemas.microsoft.com/office/drawing/2014/main" id="{E84AB42C-F907-470D-A37E-39D8C005857F}"/>
              </a:ext>
            </a:extLst>
          </p:cNvPr>
          <p:cNvGraphicFramePr>
            <a:graphicFrameLocks noGrp="1"/>
          </p:cNvGraphicFramePr>
          <p:nvPr/>
        </p:nvGraphicFramePr>
        <p:xfrm>
          <a:off x="4707304" y="2751229"/>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graphicFrame>
        <p:nvGraphicFramePr>
          <p:cNvPr id="19" name="Table 18">
            <a:extLst>
              <a:ext uri="{FF2B5EF4-FFF2-40B4-BE49-F238E27FC236}">
                <a16:creationId xmlns:a16="http://schemas.microsoft.com/office/drawing/2014/main" id="{474A69D4-8AC2-4BC4-AFF5-D1CF451AFE13}"/>
              </a:ext>
            </a:extLst>
          </p:cNvPr>
          <p:cNvGraphicFramePr>
            <a:graphicFrameLocks noGrp="1"/>
          </p:cNvGraphicFramePr>
          <p:nvPr/>
        </p:nvGraphicFramePr>
        <p:xfrm>
          <a:off x="4778829" y="2820448"/>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graphicFrame>
        <p:nvGraphicFramePr>
          <p:cNvPr id="20" name="Table 19">
            <a:extLst>
              <a:ext uri="{FF2B5EF4-FFF2-40B4-BE49-F238E27FC236}">
                <a16:creationId xmlns:a16="http://schemas.microsoft.com/office/drawing/2014/main" id="{0726B9DC-B303-404C-B9E7-371793AA0B65}"/>
              </a:ext>
            </a:extLst>
          </p:cNvPr>
          <p:cNvGraphicFramePr>
            <a:graphicFrameLocks noGrp="1"/>
          </p:cNvGraphicFramePr>
          <p:nvPr/>
        </p:nvGraphicFramePr>
        <p:xfrm>
          <a:off x="4839336" y="2898867"/>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sp>
        <p:nvSpPr>
          <p:cNvPr id="21" name="TextBox 20">
            <a:extLst>
              <a:ext uri="{FF2B5EF4-FFF2-40B4-BE49-F238E27FC236}">
                <a16:creationId xmlns:a16="http://schemas.microsoft.com/office/drawing/2014/main" id="{D9A4CFEE-D3F5-49FF-B2C8-53425F1F94BE}"/>
              </a:ext>
            </a:extLst>
          </p:cNvPr>
          <p:cNvSpPr txBox="1"/>
          <p:nvPr/>
        </p:nvSpPr>
        <p:spPr>
          <a:xfrm rot="2481968">
            <a:off x="4793340" y="2205903"/>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24" name="TextBox 23">
            <a:extLst>
              <a:ext uri="{FF2B5EF4-FFF2-40B4-BE49-F238E27FC236}">
                <a16:creationId xmlns:a16="http://schemas.microsoft.com/office/drawing/2014/main" id="{546E26FD-B4C5-4F10-A608-95A1F3CF5C76}"/>
              </a:ext>
            </a:extLst>
          </p:cNvPr>
          <p:cNvSpPr txBox="1"/>
          <p:nvPr/>
        </p:nvSpPr>
        <p:spPr>
          <a:xfrm rot="2481968">
            <a:off x="4345427" y="2577624"/>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25" name="TextBox 24">
            <a:extLst>
              <a:ext uri="{FF2B5EF4-FFF2-40B4-BE49-F238E27FC236}">
                <a16:creationId xmlns:a16="http://schemas.microsoft.com/office/drawing/2014/main" id="{C266098F-C302-4078-8754-D4A3F101879A}"/>
              </a:ext>
            </a:extLst>
          </p:cNvPr>
          <p:cNvSpPr txBox="1"/>
          <p:nvPr/>
        </p:nvSpPr>
        <p:spPr>
          <a:xfrm>
            <a:off x="3233057" y="1501485"/>
            <a:ext cx="3091543" cy="430887"/>
          </a:xfrm>
          <a:prstGeom prst="rect">
            <a:avLst/>
          </a:prstGeom>
          <a:noFill/>
        </p:spPr>
        <p:txBody>
          <a:bodyPr wrap="square" rtlCol="0">
            <a:spAutoFit/>
          </a:bodyPr>
          <a:lstStyle/>
          <a:p>
            <a:pPr algn="ctr"/>
            <a:r>
              <a:rPr lang="en-US" altLang="zh-CN" sz="2200" dirty="0"/>
              <a:t>3x3xk</a:t>
            </a:r>
            <a:r>
              <a:rPr lang="zh-CN" altLang="en-US" sz="2200" dirty="0"/>
              <a:t>权重</a:t>
            </a:r>
          </a:p>
        </p:txBody>
      </p:sp>
      <p:graphicFrame>
        <p:nvGraphicFramePr>
          <p:cNvPr id="26" name="Table 25">
            <a:extLst>
              <a:ext uri="{FF2B5EF4-FFF2-40B4-BE49-F238E27FC236}">
                <a16:creationId xmlns:a16="http://schemas.microsoft.com/office/drawing/2014/main" id="{460602D4-58B7-49D3-B367-C89380EF0765}"/>
              </a:ext>
            </a:extLst>
          </p:cNvPr>
          <p:cNvGraphicFramePr>
            <a:graphicFrameLocks noGrp="1"/>
          </p:cNvGraphicFramePr>
          <p:nvPr/>
        </p:nvGraphicFramePr>
        <p:xfrm>
          <a:off x="6672791" y="3648149"/>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sp>
        <p:nvSpPr>
          <p:cNvPr id="27" name="TextBox 26">
            <a:extLst>
              <a:ext uri="{FF2B5EF4-FFF2-40B4-BE49-F238E27FC236}">
                <a16:creationId xmlns:a16="http://schemas.microsoft.com/office/drawing/2014/main" id="{6E8795EF-0D09-4377-8E50-5FE5F54B9612}"/>
              </a:ext>
            </a:extLst>
          </p:cNvPr>
          <p:cNvSpPr txBox="1"/>
          <p:nvPr/>
        </p:nvSpPr>
        <p:spPr>
          <a:xfrm>
            <a:off x="7041187" y="5615759"/>
            <a:ext cx="1152525" cy="430887"/>
          </a:xfrm>
          <a:prstGeom prst="rect">
            <a:avLst/>
          </a:prstGeom>
          <a:noFill/>
        </p:spPr>
        <p:txBody>
          <a:bodyPr wrap="square" rtlCol="0">
            <a:spAutoFit/>
          </a:bodyPr>
          <a:lstStyle/>
          <a:p>
            <a:pPr algn="ctr"/>
            <a:r>
              <a:rPr lang="en-US" altLang="zh-CN" sz="2200" dirty="0"/>
              <a:t>12x12</a:t>
            </a:r>
            <a:endParaRPr lang="zh-CN" altLang="en-US" sz="2200" dirty="0"/>
          </a:p>
        </p:txBody>
      </p:sp>
      <p:cxnSp>
        <p:nvCxnSpPr>
          <p:cNvPr id="7" name="Straight Arrow Connector 6">
            <a:extLst>
              <a:ext uri="{FF2B5EF4-FFF2-40B4-BE49-F238E27FC236}">
                <a16:creationId xmlns:a16="http://schemas.microsoft.com/office/drawing/2014/main" id="{A720063C-72BB-443C-8E0A-29FDCF5ED7C4}"/>
              </a:ext>
            </a:extLst>
          </p:cNvPr>
          <p:cNvCxnSpPr>
            <a:cxnSpLocks/>
          </p:cNvCxnSpPr>
          <p:nvPr/>
        </p:nvCxnSpPr>
        <p:spPr bwMode="auto">
          <a:xfrm>
            <a:off x="2072485" y="3723751"/>
            <a:ext cx="47093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2584B7FC-F10A-4E31-B1CD-976381A48FD1}"/>
              </a:ext>
            </a:extLst>
          </p:cNvPr>
          <p:cNvCxnSpPr>
            <a:cxnSpLocks/>
          </p:cNvCxnSpPr>
          <p:nvPr/>
        </p:nvCxnSpPr>
        <p:spPr bwMode="auto">
          <a:xfrm flipH="1">
            <a:off x="838200" y="2196471"/>
            <a:ext cx="3429000" cy="519326"/>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31" name="Straight Arrow Connector 30">
            <a:extLst>
              <a:ext uri="{FF2B5EF4-FFF2-40B4-BE49-F238E27FC236}">
                <a16:creationId xmlns:a16="http://schemas.microsoft.com/office/drawing/2014/main" id="{77A481C1-0FE7-4DD5-B95A-12FC6480809D}"/>
              </a:ext>
            </a:extLst>
          </p:cNvPr>
          <p:cNvCxnSpPr>
            <a:cxnSpLocks/>
          </p:cNvCxnSpPr>
          <p:nvPr/>
        </p:nvCxnSpPr>
        <p:spPr bwMode="auto">
          <a:xfrm flipH="1">
            <a:off x="2133600" y="3266037"/>
            <a:ext cx="3103704" cy="608363"/>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38" name="TextBox 37">
            <a:extLst>
              <a:ext uri="{FF2B5EF4-FFF2-40B4-BE49-F238E27FC236}">
                <a16:creationId xmlns:a16="http://schemas.microsoft.com/office/drawing/2014/main" id="{F13BBECB-289D-49F3-98EF-A25A971BC4FA}"/>
              </a:ext>
            </a:extLst>
          </p:cNvPr>
          <p:cNvSpPr txBox="1"/>
          <p:nvPr/>
        </p:nvSpPr>
        <p:spPr>
          <a:xfrm>
            <a:off x="1392297" y="1984869"/>
            <a:ext cx="3091543" cy="430887"/>
          </a:xfrm>
          <a:prstGeom prst="rect">
            <a:avLst/>
          </a:prstGeom>
          <a:noFill/>
        </p:spPr>
        <p:txBody>
          <a:bodyPr wrap="square" rtlCol="0">
            <a:spAutoFit/>
          </a:bodyPr>
          <a:lstStyle/>
          <a:p>
            <a:pPr algn="ctr"/>
            <a:r>
              <a:rPr lang="en-US" altLang="zh-CN" sz="2200" dirty="0"/>
              <a:t>x</a:t>
            </a:r>
            <a:endParaRPr lang="zh-CN" altLang="en-US" sz="2200" dirty="0"/>
          </a:p>
        </p:txBody>
      </p:sp>
      <p:sp>
        <p:nvSpPr>
          <p:cNvPr id="39" name="TextBox 38">
            <a:extLst>
              <a:ext uri="{FF2B5EF4-FFF2-40B4-BE49-F238E27FC236}">
                <a16:creationId xmlns:a16="http://schemas.microsoft.com/office/drawing/2014/main" id="{086DEC2B-435E-4532-966A-8A3909EBC91F}"/>
              </a:ext>
            </a:extLst>
          </p:cNvPr>
          <p:cNvSpPr txBox="1"/>
          <p:nvPr/>
        </p:nvSpPr>
        <p:spPr>
          <a:xfrm rot="2481968">
            <a:off x="3558103" y="2534437"/>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40" name="TextBox 39">
            <a:extLst>
              <a:ext uri="{FF2B5EF4-FFF2-40B4-BE49-F238E27FC236}">
                <a16:creationId xmlns:a16="http://schemas.microsoft.com/office/drawing/2014/main" id="{73A2D821-F779-4A0E-B00E-7CF5FCBE529D}"/>
              </a:ext>
            </a:extLst>
          </p:cNvPr>
          <p:cNvSpPr txBox="1"/>
          <p:nvPr/>
        </p:nvSpPr>
        <p:spPr>
          <a:xfrm>
            <a:off x="5577496" y="2541858"/>
            <a:ext cx="3420772" cy="769441"/>
          </a:xfrm>
          <a:prstGeom prst="rect">
            <a:avLst/>
          </a:prstGeom>
          <a:noFill/>
        </p:spPr>
        <p:txBody>
          <a:bodyPr wrap="square" rtlCol="0">
            <a:spAutoFit/>
          </a:bodyPr>
          <a:lstStyle/>
          <a:p>
            <a:pPr algn="ctr"/>
            <a:r>
              <a:rPr lang="zh-CN" altLang="en-US" sz="2200" dirty="0"/>
              <a:t>对应位置相乘，把积加起来，进行线性整流</a:t>
            </a:r>
          </a:p>
        </p:txBody>
      </p:sp>
      <p:cxnSp>
        <p:nvCxnSpPr>
          <p:cNvPr id="41" name="Straight Arrow Connector 40">
            <a:extLst>
              <a:ext uri="{FF2B5EF4-FFF2-40B4-BE49-F238E27FC236}">
                <a16:creationId xmlns:a16="http://schemas.microsoft.com/office/drawing/2014/main" id="{D87FBBDB-AFE5-48CC-A8C4-CF54B9C3004C}"/>
              </a:ext>
            </a:extLst>
          </p:cNvPr>
          <p:cNvCxnSpPr>
            <a:cxnSpLocks/>
          </p:cNvCxnSpPr>
          <p:nvPr/>
        </p:nvCxnSpPr>
        <p:spPr bwMode="auto">
          <a:xfrm flipH="1">
            <a:off x="1829807" y="2961855"/>
            <a:ext cx="3103704" cy="608363"/>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42" name="Straight Arrow Connector 41">
            <a:extLst>
              <a:ext uri="{FF2B5EF4-FFF2-40B4-BE49-F238E27FC236}">
                <a16:creationId xmlns:a16="http://schemas.microsoft.com/office/drawing/2014/main" id="{8CEE96EF-AE87-427F-A949-A9A22FE84A34}"/>
              </a:ext>
            </a:extLst>
          </p:cNvPr>
          <p:cNvCxnSpPr>
            <a:cxnSpLocks/>
          </p:cNvCxnSpPr>
          <p:nvPr/>
        </p:nvCxnSpPr>
        <p:spPr bwMode="auto">
          <a:xfrm flipH="1">
            <a:off x="2153167" y="2976582"/>
            <a:ext cx="3103704" cy="608363"/>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43" name="Straight Arrow Connector 42">
            <a:extLst>
              <a:ext uri="{FF2B5EF4-FFF2-40B4-BE49-F238E27FC236}">
                <a16:creationId xmlns:a16="http://schemas.microsoft.com/office/drawing/2014/main" id="{E2339A40-268E-4090-95D9-5374432E90B9}"/>
              </a:ext>
            </a:extLst>
          </p:cNvPr>
          <p:cNvCxnSpPr>
            <a:cxnSpLocks/>
          </p:cNvCxnSpPr>
          <p:nvPr/>
        </p:nvCxnSpPr>
        <p:spPr bwMode="auto">
          <a:xfrm flipH="1">
            <a:off x="1844196" y="3250345"/>
            <a:ext cx="3103704" cy="608363"/>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44" name="TextBox 43">
            <a:extLst>
              <a:ext uri="{FF2B5EF4-FFF2-40B4-BE49-F238E27FC236}">
                <a16:creationId xmlns:a16="http://schemas.microsoft.com/office/drawing/2014/main" id="{D7E813A9-0EBC-4291-95D5-87825325C75F}"/>
              </a:ext>
            </a:extLst>
          </p:cNvPr>
          <p:cNvSpPr txBox="1"/>
          <p:nvPr/>
        </p:nvSpPr>
        <p:spPr>
          <a:xfrm>
            <a:off x="4050185" y="3981498"/>
            <a:ext cx="2550199" cy="769441"/>
          </a:xfrm>
          <a:prstGeom prst="rect">
            <a:avLst/>
          </a:prstGeom>
          <a:noFill/>
        </p:spPr>
        <p:txBody>
          <a:bodyPr wrap="square" rtlCol="0">
            <a:spAutoFit/>
          </a:bodyPr>
          <a:lstStyle/>
          <a:p>
            <a:pPr algn="ctr"/>
            <a:r>
              <a:rPr lang="zh-CN" altLang="en-US" sz="2200" dirty="0"/>
              <a:t>从局部模式强度图中抽取高层次模式</a:t>
            </a:r>
          </a:p>
        </p:txBody>
      </p:sp>
    </p:spTree>
    <p:custDataLst>
      <p:tags r:id="rId1"/>
    </p:custDataLst>
    <p:extLst>
      <p:ext uri="{BB962C8B-B14F-4D97-AF65-F5344CB8AC3E}">
        <p14:creationId xmlns:p14="http://schemas.microsoft.com/office/powerpoint/2010/main" val="2040317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 grpId="0"/>
      <p:bldP spid="14" grpId="0"/>
      <p:bldP spid="21" grpId="0"/>
      <p:bldP spid="24" grpId="0"/>
      <p:bldP spid="25" grpId="0"/>
      <p:bldP spid="27" grpId="0"/>
      <p:bldP spid="38" grpId="0"/>
      <p:bldP spid="39" grpId="0"/>
      <p:bldP spid="40" grpId="0"/>
      <p:bldP spid="4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C591268E-F43B-41C4-B4D5-848EDA6D7765}"/>
              </a:ext>
            </a:extLst>
          </p:cNvPr>
          <p:cNvGraphicFramePr>
            <a:graphicFrameLocks noGrp="1"/>
          </p:cNvGraphicFramePr>
          <p:nvPr/>
        </p:nvGraphicFramePr>
        <p:xfrm>
          <a:off x="798519" y="2635041"/>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graphicFrame>
        <p:nvGraphicFramePr>
          <p:cNvPr id="13" name="Table 12">
            <a:extLst>
              <a:ext uri="{FF2B5EF4-FFF2-40B4-BE49-F238E27FC236}">
                <a16:creationId xmlns:a16="http://schemas.microsoft.com/office/drawing/2014/main" id="{EE418393-BDAE-42CC-BCBE-3E952AEED37C}"/>
              </a:ext>
            </a:extLst>
          </p:cNvPr>
          <p:cNvGraphicFramePr>
            <a:graphicFrameLocks noGrp="1"/>
          </p:cNvGraphicFramePr>
          <p:nvPr/>
        </p:nvGraphicFramePr>
        <p:xfrm>
          <a:off x="1627588" y="3300413"/>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张量</a:t>
            </a:r>
            <a:r>
              <a:rPr lang="zh-CN" altLang="en-US" dirty="0">
                <a:ea typeface="ＭＳ Ｐゴシック" panose="020B0600070205080204" pitchFamily="34" charset="-128"/>
              </a:rPr>
              <a:t>（</a:t>
            </a:r>
            <a:r>
              <a:rPr lang="en-US" altLang="zh-CN" dirty="0">
                <a:solidFill>
                  <a:srgbClr val="C00000"/>
                </a:solidFill>
                <a:ea typeface="ＭＳ Ｐゴシック" panose="020B0600070205080204" pitchFamily="34" charset="-128"/>
              </a:rPr>
              <a:t>Tensor</a:t>
            </a:r>
            <a:r>
              <a:rPr lang="zh-CN" altLang="en-US" dirty="0">
                <a:ea typeface="ＭＳ Ｐゴシック" panose="020B0600070205080204" pitchFamily="34" charset="-128"/>
              </a:rPr>
              <a:t>）算子</a:t>
            </a:r>
            <a:endParaRPr lang="zh-CN" altLang="en-US" dirty="0"/>
          </a:p>
        </p:txBody>
      </p:sp>
      <p:graphicFrame>
        <p:nvGraphicFramePr>
          <p:cNvPr id="10" name="Table 9">
            <a:extLst>
              <a:ext uri="{FF2B5EF4-FFF2-40B4-BE49-F238E27FC236}">
                <a16:creationId xmlns:a16="http://schemas.microsoft.com/office/drawing/2014/main" id="{D9997614-B9EF-4325-8908-F6ED4A416B9F}"/>
              </a:ext>
            </a:extLst>
          </p:cNvPr>
          <p:cNvGraphicFramePr>
            <a:graphicFrameLocks noGrp="1"/>
          </p:cNvGraphicFramePr>
          <p:nvPr/>
        </p:nvGraphicFramePr>
        <p:xfrm>
          <a:off x="1725219" y="3390691"/>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2316362" y="5665113"/>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1822850" y="3480969"/>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3" name="TextBox 2">
            <a:extLst>
              <a:ext uri="{FF2B5EF4-FFF2-40B4-BE49-F238E27FC236}">
                <a16:creationId xmlns:a16="http://schemas.microsoft.com/office/drawing/2014/main" id="{2144F80C-0299-4585-AB99-7FA6A74BE807}"/>
              </a:ext>
            </a:extLst>
          </p:cNvPr>
          <p:cNvSpPr txBox="1"/>
          <p:nvPr/>
        </p:nvSpPr>
        <p:spPr>
          <a:xfrm rot="2481968">
            <a:off x="3051044" y="2711426"/>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14" name="TextBox 13">
            <a:extLst>
              <a:ext uri="{FF2B5EF4-FFF2-40B4-BE49-F238E27FC236}">
                <a16:creationId xmlns:a16="http://schemas.microsoft.com/office/drawing/2014/main" id="{6AD24306-8B03-4514-8E09-8D78436440D8}"/>
              </a:ext>
            </a:extLst>
          </p:cNvPr>
          <p:cNvSpPr txBox="1"/>
          <p:nvPr/>
        </p:nvSpPr>
        <p:spPr>
          <a:xfrm rot="2481968">
            <a:off x="1168604" y="4678671"/>
            <a:ext cx="643331" cy="584775"/>
          </a:xfrm>
          <a:prstGeom prst="rect">
            <a:avLst/>
          </a:prstGeom>
          <a:noFill/>
        </p:spPr>
        <p:txBody>
          <a:bodyPr wrap="square" rtlCol="0">
            <a:spAutoFit/>
          </a:bodyPr>
          <a:lstStyle/>
          <a:p>
            <a:r>
              <a:rPr lang="en-US" altLang="zh-CN" sz="3200" dirty="0"/>
              <a:t>…</a:t>
            </a:r>
            <a:endParaRPr lang="zh-CN" altLang="en-US" sz="3200" dirty="0"/>
          </a:p>
        </p:txBody>
      </p:sp>
      <p:graphicFrame>
        <p:nvGraphicFramePr>
          <p:cNvPr id="16" name="Table 15">
            <a:extLst>
              <a:ext uri="{FF2B5EF4-FFF2-40B4-BE49-F238E27FC236}">
                <a16:creationId xmlns:a16="http://schemas.microsoft.com/office/drawing/2014/main" id="{3644D36B-65CC-4BA4-B104-573434F55E50}"/>
              </a:ext>
            </a:extLst>
          </p:cNvPr>
          <p:cNvGraphicFramePr>
            <a:graphicFrameLocks noGrp="1"/>
          </p:cNvGraphicFramePr>
          <p:nvPr/>
        </p:nvGraphicFramePr>
        <p:xfrm>
          <a:off x="4175033" y="2137210"/>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graphicFrame>
        <p:nvGraphicFramePr>
          <p:cNvPr id="17" name="Table 16">
            <a:extLst>
              <a:ext uri="{FF2B5EF4-FFF2-40B4-BE49-F238E27FC236}">
                <a16:creationId xmlns:a16="http://schemas.microsoft.com/office/drawing/2014/main" id="{E84AB42C-F907-470D-A37E-39D8C005857F}"/>
              </a:ext>
            </a:extLst>
          </p:cNvPr>
          <p:cNvGraphicFramePr>
            <a:graphicFrameLocks noGrp="1"/>
          </p:cNvGraphicFramePr>
          <p:nvPr/>
        </p:nvGraphicFramePr>
        <p:xfrm>
          <a:off x="4707304" y="2751229"/>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graphicFrame>
        <p:nvGraphicFramePr>
          <p:cNvPr id="19" name="Table 18">
            <a:extLst>
              <a:ext uri="{FF2B5EF4-FFF2-40B4-BE49-F238E27FC236}">
                <a16:creationId xmlns:a16="http://schemas.microsoft.com/office/drawing/2014/main" id="{474A69D4-8AC2-4BC4-AFF5-D1CF451AFE13}"/>
              </a:ext>
            </a:extLst>
          </p:cNvPr>
          <p:cNvGraphicFramePr>
            <a:graphicFrameLocks noGrp="1"/>
          </p:cNvGraphicFramePr>
          <p:nvPr/>
        </p:nvGraphicFramePr>
        <p:xfrm>
          <a:off x="4778829" y="2820448"/>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graphicFrame>
        <p:nvGraphicFramePr>
          <p:cNvPr id="20" name="Table 19">
            <a:extLst>
              <a:ext uri="{FF2B5EF4-FFF2-40B4-BE49-F238E27FC236}">
                <a16:creationId xmlns:a16="http://schemas.microsoft.com/office/drawing/2014/main" id="{0726B9DC-B303-404C-B9E7-371793AA0B65}"/>
              </a:ext>
            </a:extLst>
          </p:cNvPr>
          <p:cNvGraphicFramePr>
            <a:graphicFrameLocks noGrp="1"/>
          </p:cNvGraphicFramePr>
          <p:nvPr/>
        </p:nvGraphicFramePr>
        <p:xfrm>
          <a:off x="4839336" y="2898867"/>
          <a:ext cx="458475" cy="453933"/>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bl>
          </a:graphicData>
        </a:graphic>
      </p:graphicFrame>
      <p:sp>
        <p:nvSpPr>
          <p:cNvPr id="21" name="TextBox 20">
            <a:extLst>
              <a:ext uri="{FF2B5EF4-FFF2-40B4-BE49-F238E27FC236}">
                <a16:creationId xmlns:a16="http://schemas.microsoft.com/office/drawing/2014/main" id="{D9A4CFEE-D3F5-49FF-B2C8-53425F1F94BE}"/>
              </a:ext>
            </a:extLst>
          </p:cNvPr>
          <p:cNvSpPr txBox="1"/>
          <p:nvPr/>
        </p:nvSpPr>
        <p:spPr>
          <a:xfrm rot="2481968">
            <a:off x="4793340" y="2205903"/>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24" name="TextBox 23">
            <a:extLst>
              <a:ext uri="{FF2B5EF4-FFF2-40B4-BE49-F238E27FC236}">
                <a16:creationId xmlns:a16="http://schemas.microsoft.com/office/drawing/2014/main" id="{546E26FD-B4C5-4F10-A608-95A1F3CF5C76}"/>
              </a:ext>
            </a:extLst>
          </p:cNvPr>
          <p:cNvSpPr txBox="1"/>
          <p:nvPr/>
        </p:nvSpPr>
        <p:spPr>
          <a:xfrm rot="2481968">
            <a:off x="4345427" y="2577624"/>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25" name="TextBox 24">
            <a:extLst>
              <a:ext uri="{FF2B5EF4-FFF2-40B4-BE49-F238E27FC236}">
                <a16:creationId xmlns:a16="http://schemas.microsoft.com/office/drawing/2014/main" id="{C266098F-C302-4078-8754-D4A3F101879A}"/>
              </a:ext>
            </a:extLst>
          </p:cNvPr>
          <p:cNvSpPr txBox="1"/>
          <p:nvPr/>
        </p:nvSpPr>
        <p:spPr>
          <a:xfrm>
            <a:off x="3233057" y="1501485"/>
            <a:ext cx="3091543" cy="430887"/>
          </a:xfrm>
          <a:prstGeom prst="rect">
            <a:avLst/>
          </a:prstGeom>
          <a:noFill/>
        </p:spPr>
        <p:txBody>
          <a:bodyPr wrap="square" rtlCol="0">
            <a:spAutoFit/>
          </a:bodyPr>
          <a:lstStyle/>
          <a:p>
            <a:pPr algn="ctr"/>
            <a:r>
              <a:rPr lang="en-US" altLang="zh-CN" sz="2200" dirty="0"/>
              <a:t>3x3xk </a:t>
            </a:r>
            <a:r>
              <a:rPr lang="zh-CN" altLang="en-US" sz="2200" dirty="0"/>
              <a:t>权重</a:t>
            </a:r>
          </a:p>
        </p:txBody>
      </p:sp>
      <p:graphicFrame>
        <p:nvGraphicFramePr>
          <p:cNvPr id="26" name="Table 25">
            <a:extLst>
              <a:ext uri="{FF2B5EF4-FFF2-40B4-BE49-F238E27FC236}">
                <a16:creationId xmlns:a16="http://schemas.microsoft.com/office/drawing/2014/main" id="{460602D4-58B7-49D3-B367-C89380EF0765}"/>
              </a:ext>
            </a:extLst>
          </p:cNvPr>
          <p:cNvGraphicFramePr>
            <a:graphicFrameLocks noGrp="1"/>
          </p:cNvGraphicFramePr>
          <p:nvPr/>
        </p:nvGraphicFramePr>
        <p:xfrm>
          <a:off x="6672791" y="3648149"/>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sp>
        <p:nvSpPr>
          <p:cNvPr id="27" name="TextBox 26">
            <a:extLst>
              <a:ext uri="{FF2B5EF4-FFF2-40B4-BE49-F238E27FC236}">
                <a16:creationId xmlns:a16="http://schemas.microsoft.com/office/drawing/2014/main" id="{6E8795EF-0D09-4377-8E50-5FE5F54B9612}"/>
              </a:ext>
            </a:extLst>
          </p:cNvPr>
          <p:cNvSpPr txBox="1"/>
          <p:nvPr/>
        </p:nvSpPr>
        <p:spPr>
          <a:xfrm>
            <a:off x="7041187" y="5615759"/>
            <a:ext cx="1152525" cy="430887"/>
          </a:xfrm>
          <a:prstGeom prst="rect">
            <a:avLst/>
          </a:prstGeom>
          <a:noFill/>
        </p:spPr>
        <p:txBody>
          <a:bodyPr wrap="square" rtlCol="0">
            <a:spAutoFit/>
          </a:bodyPr>
          <a:lstStyle/>
          <a:p>
            <a:pPr algn="ctr"/>
            <a:r>
              <a:rPr lang="en-US" altLang="zh-CN" sz="2200" dirty="0"/>
              <a:t>12x12</a:t>
            </a:r>
            <a:endParaRPr lang="zh-CN" altLang="en-US" sz="2200" dirty="0"/>
          </a:p>
        </p:txBody>
      </p:sp>
      <p:cxnSp>
        <p:nvCxnSpPr>
          <p:cNvPr id="7" name="Straight Arrow Connector 6">
            <a:extLst>
              <a:ext uri="{FF2B5EF4-FFF2-40B4-BE49-F238E27FC236}">
                <a16:creationId xmlns:a16="http://schemas.microsoft.com/office/drawing/2014/main" id="{A720063C-72BB-443C-8E0A-29FDCF5ED7C4}"/>
              </a:ext>
            </a:extLst>
          </p:cNvPr>
          <p:cNvCxnSpPr>
            <a:cxnSpLocks/>
          </p:cNvCxnSpPr>
          <p:nvPr/>
        </p:nvCxnSpPr>
        <p:spPr bwMode="auto">
          <a:xfrm>
            <a:off x="2357782" y="4038600"/>
            <a:ext cx="4709315"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2584B7FC-F10A-4E31-B1CD-976381A48FD1}"/>
              </a:ext>
            </a:extLst>
          </p:cNvPr>
          <p:cNvCxnSpPr>
            <a:cxnSpLocks/>
          </p:cNvCxnSpPr>
          <p:nvPr/>
        </p:nvCxnSpPr>
        <p:spPr bwMode="auto">
          <a:xfrm flipH="1">
            <a:off x="1143000" y="2204078"/>
            <a:ext cx="3089452" cy="821062"/>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31" name="Straight Arrow Connector 30">
            <a:extLst>
              <a:ext uri="{FF2B5EF4-FFF2-40B4-BE49-F238E27FC236}">
                <a16:creationId xmlns:a16="http://schemas.microsoft.com/office/drawing/2014/main" id="{77A481C1-0FE7-4DD5-B95A-12FC6480809D}"/>
              </a:ext>
            </a:extLst>
          </p:cNvPr>
          <p:cNvCxnSpPr>
            <a:cxnSpLocks/>
          </p:cNvCxnSpPr>
          <p:nvPr/>
        </p:nvCxnSpPr>
        <p:spPr bwMode="auto">
          <a:xfrm flipH="1">
            <a:off x="2471210" y="3266037"/>
            <a:ext cx="2766094" cy="924963"/>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
        <p:nvSpPr>
          <p:cNvPr id="38" name="TextBox 37">
            <a:extLst>
              <a:ext uri="{FF2B5EF4-FFF2-40B4-BE49-F238E27FC236}">
                <a16:creationId xmlns:a16="http://schemas.microsoft.com/office/drawing/2014/main" id="{F13BBECB-289D-49F3-98EF-A25A971BC4FA}"/>
              </a:ext>
            </a:extLst>
          </p:cNvPr>
          <p:cNvSpPr txBox="1"/>
          <p:nvPr/>
        </p:nvSpPr>
        <p:spPr>
          <a:xfrm>
            <a:off x="1457597" y="2137210"/>
            <a:ext cx="3091543" cy="430887"/>
          </a:xfrm>
          <a:prstGeom prst="rect">
            <a:avLst/>
          </a:prstGeom>
          <a:noFill/>
        </p:spPr>
        <p:txBody>
          <a:bodyPr wrap="square" rtlCol="0">
            <a:spAutoFit/>
          </a:bodyPr>
          <a:lstStyle/>
          <a:p>
            <a:pPr algn="ctr"/>
            <a:r>
              <a:rPr lang="en-US" altLang="zh-CN" sz="2200" dirty="0"/>
              <a:t>x</a:t>
            </a:r>
            <a:endParaRPr lang="zh-CN" altLang="en-US" sz="2200" dirty="0"/>
          </a:p>
        </p:txBody>
      </p:sp>
      <p:sp>
        <p:nvSpPr>
          <p:cNvPr id="39" name="TextBox 38">
            <a:extLst>
              <a:ext uri="{FF2B5EF4-FFF2-40B4-BE49-F238E27FC236}">
                <a16:creationId xmlns:a16="http://schemas.microsoft.com/office/drawing/2014/main" id="{086DEC2B-435E-4532-966A-8A3909EBC91F}"/>
              </a:ext>
            </a:extLst>
          </p:cNvPr>
          <p:cNvSpPr txBox="1"/>
          <p:nvPr/>
        </p:nvSpPr>
        <p:spPr>
          <a:xfrm rot="2481968">
            <a:off x="3558103" y="2534437"/>
            <a:ext cx="643331" cy="584775"/>
          </a:xfrm>
          <a:prstGeom prst="rect">
            <a:avLst/>
          </a:prstGeom>
          <a:noFill/>
        </p:spPr>
        <p:txBody>
          <a:bodyPr wrap="square" rtlCol="0">
            <a:spAutoFit/>
          </a:bodyPr>
          <a:lstStyle/>
          <a:p>
            <a:r>
              <a:rPr lang="en-US" altLang="zh-CN" sz="3200" dirty="0"/>
              <a:t>…</a:t>
            </a:r>
            <a:endParaRPr lang="zh-CN" altLang="en-US" sz="3200" dirty="0"/>
          </a:p>
        </p:txBody>
      </p:sp>
      <p:cxnSp>
        <p:nvCxnSpPr>
          <p:cNvPr id="32" name="Straight Arrow Connector 31">
            <a:extLst>
              <a:ext uri="{FF2B5EF4-FFF2-40B4-BE49-F238E27FC236}">
                <a16:creationId xmlns:a16="http://schemas.microsoft.com/office/drawing/2014/main" id="{305FBBC8-28B0-4ECC-869C-6997FAE00FC6}"/>
              </a:ext>
            </a:extLst>
          </p:cNvPr>
          <p:cNvCxnSpPr>
            <a:cxnSpLocks/>
          </p:cNvCxnSpPr>
          <p:nvPr/>
        </p:nvCxnSpPr>
        <p:spPr bwMode="auto">
          <a:xfrm flipH="1">
            <a:off x="2179320" y="2943236"/>
            <a:ext cx="2757221" cy="942964"/>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33" name="Straight Arrow Connector 32">
            <a:extLst>
              <a:ext uri="{FF2B5EF4-FFF2-40B4-BE49-F238E27FC236}">
                <a16:creationId xmlns:a16="http://schemas.microsoft.com/office/drawing/2014/main" id="{3BD6B711-44C1-414D-8B81-BCFCB3C1AD3B}"/>
              </a:ext>
            </a:extLst>
          </p:cNvPr>
          <p:cNvCxnSpPr>
            <a:cxnSpLocks/>
          </p:cNvCxnSpPr>
          <p:nvPr/>
        </p:nvCxnSpPr>
        <p:spPr bwMode="auto">
          <a:xfrm flipH="1">
            <a:off x="2471210" y="2952358"/>
            <a:ext cx="2766094" cy="933842"/>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cxnSp>
        <p:nvCxnSpPr>
          <p:cNvPr id="34" name="Straight Arrow Connector 33">
            <a:extLst>
              <a:ext uri="{FF2B5EF4-FFF2-40B4-BE49-F238E27FC236}">
                <a16:creationId xmlns:a16="http://schemas.microsoft.com/office/drawing/2014/main" id="{757C9A17-3541-4467-B049-29D76990D6D4}"/>
              </a:ext>
            </a:extLst>
          </p:cNvPr>
          <p:cNvCxnSpPr>
            <a:cxnSpLocks/>
          </p:cNvCxnSpPr>
          <p:nvPr/>
        </p:nvCxnSpPr>
        <p:spPr bwMode="auto">
          <a:xfrm flipH="1">
            <a:off x="2179320" y="3246630"/>
            <a:ext cx="2765300" cy="951990"/>
          </a:xfrm>
          <a:prstGeom prst="straightConnector1">
            <a:avLst/>
          </a:prstGeom>
          <a:solidFill>
            <a:schemeClr val="accent1"/>
          </a:solidFill>
          <a:ln w="9525" cap="flat" cmpd="sng" algn="ctr">
            <a:solidFill>
              <a:schemeClr val="tx1"/>
            </a:solidFill>
            <a:prstDash val="solid"/>
            <a:round/>
            <a:headEnd type="triangle" w="med" len="med"/>
            <a:tailEnd type="triangle"/>
          </a:ln>
          <a:effectLst/>
        </p:spPr>
      </p:cxnSp>
    </p:spTree>
    <p:custDataLst>
      <p:tags r:id="rId1"/>
    </p:custDataLst>
    <p:extLst>
      <p:ext uri="{BB962C8B-B14F-4D97-AF65-F5344CB8AC3E}">
        <p14:creationId xmlns:p14="http://schemas.microsoft.com/office/powerpoint/2010/main" val="3510548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29">
            <a:extLst>
              <a:ext uri="{FF2B5EF4-FFF2-40B4-BE49-F238E27FC236}">
                <a16:creationId xmlns:a16="http://schemas.microsoft.com/office/drawing/2014/main" id="{A982F5F2-06D2-419A-A9CD-3FB243DD25BC}"/>
              </a:ext>
            </a:extLst>
          </p:cNvPr>
          <p:cNvGraphicFramePr>
            <a:graphicFrameLocks noGrp="1"/>
          </p:cNvGraphicFramePr>
          <p:nvPr/>
        </p:nvGraphicFramePr>
        <p:xfrm>
          <a:off x="5946900" y="3035110"/>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graphicFrame>
        <p:nvGraphicFramePr>
          <p:cNvPr id="29" name="Table 28">
            <a:extLst>
              <a:ext uri="{FF2B5EF4-FFF2-40B4-BE49-F238E27FC236}">
                <a16:creationId xmlns:a16="http://schemas.microsoft.com/office/drawing/2014/main" id="{E4E4DD18-24DE-4595-B666-4160476A0F2A}"/>
              </a:ext>
            </a:extLst>
          </p:cNvPr>
          <p:cNvGraphicFramePr>
            <a:graphicFrameLocks noGrp="1"/>
          </p:cNvGraphicFramePr>
          <p:nvPr/>
        </p:nvGraphicFramePr>
        <p:xfrm>
          <a:off x="6601440" y="3558540"/>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graphicFrame>
        <p:nvGraphicFramePr>
          <p:cNvPr id="12" name="Table 11">
            <a:extLst>
              <a:ext uri="{FF2B5EF4-FFF2-40B4-BE49-F238E27FC236}">
                <a16:creationId xmlns:a16="http://schemas.microsoft.com/office/drawing/2014/main" id="{C591268E-F43B-41C4-B4D5-848EDA6D7765}"/>
              </a:ext>
            </a:extLst>
          </p:cNvPr>
          <p:cNvGraphicFramePr>
            <a:graphicFrameLocks noGrp="1"/>
          </p:cNvGraphicFramePr>
          <p:nvPr/>
        </p:nvGraphicFramePr>
        <p:xfrm>
          <a:off x="798519" y="2635041"/>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graphicFrame>
        <p:nvGraphicFramePr>
          <p:cNvPr id="13" name="Table 12">
            <a:extLst>
              <a:ext uri="{FF2B5EF4-FFF2-40B4-BE49-F238E27FC236}">
                <a16:creationId xmlns:a16="http://schemas.microsoft.com/office/drawing/2014/main" id="{EE418393-BDAE-42CC-BCBE-3E952AEED37C}"/>
              </a:ext>
            </a:extLst>
          </p:cNvPr>
          <p:cNvGraphicFramePr>
            <a:graphicFrameLocks noGrp="1"/>
          </p:cNvGraphicFramePr>
          <p:nvPr/>
        </p:nvGraphicFramePr>
        <p:xfrm>
          <a:off x="1627588" y="3300413"/>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solidFill>
                  <a:srgbClr val="C00000"/>
                </a:solidFill>
                <a:ea typeface="ＭＳ Ｐゴシック" panose="020B0600070205080204" pitchFamily="34" charset="-128"/>
              </a:rPr>
              <a:t>张量</a:t>
            </a:r>
            <a:r>
              <a:rPr lang="zh-CN" altLang="en-US" dirty="0">
                <a:ea typeface="ＭＳ Ｐゴシック" panose="020B0600070205080204" pitchFamily="34" charset="-128"/>
              </a:rPr>
              <a:t>（</a:t>
            </a:r>
            <a:r>
              <a:rPr lang="en-US" altLang="zh-CN" dirty="0">
                <a:solidFill>
                  <a:srgbClr val="C00000"/>
                </a:solidFill>
                <a:ea typeface="ＭＳ Ｐゴシック" panose="020B0600070205080204" pitchFamily="34" charset="-128"/>
              </a:rPr>
              <a:t>Tensor</a:t>
            </a:r>
            <a:r>
              <a:rPr lang="zh-CN" altLang="en-US" dirty="0">
                <a:ea typeface="ＭＳ Ｐゴシック" panose="020B0600070205080204" pitchFamily="34" charset="-128"/>
              </a:rPr>
              <a:t>）算子</a:t>
            </a:r>
            <a:endParaRPr lang="zh-CN" altLang="en-US" dirty="0"/>
          </a:p>
        </p:txBody>
      </p:sp>
      <p:graphicFrame>
        <p:nvGraphicFramePr>
          <p:cNvPr id="10" name="Table 9">
            <a:extLst>
              <a:ext uri="{FF2B5EF4-FFF2-40B4-BE49-F238E27FC236}">
                <a16:creationId xmlns:a16="http://schemas.microsoft.com/office/drawing/2014/main" id="{D9997614-B9EF-4325-8908-F6ED4A416B9F}"/>
              </a:ext>
            </a:extLst>
          </p:cNvPr>
          <p:cNvGraphicFramePr>
            <a:graphicFrameLocks noGrp="1"/>
          </p:cNvGraphicFramePr>
          <p:nvPr/>
        </p:nvGraphicFramePr>
        <p:xfrm>
          <a:off x="1725219" y="3390691"/>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23" name="TextBox 22">
            <a:extLst>
              <a:ext uri="{FF2B5EF4-FFF2-40B4-BE49-F238E27FC236}">
                <a16:creationId xmlns:a16="http://schemas.microsoft.com/office/drawing/2014/main" id="{BC03817F-70F4-430E-A0DC-8C5D378BA449}"/>
              </a:ext>
            </a:extLst>
          </p:cNvPr>
          <p:cNvSpPr txBox="1"/>
          <p:nvPr/>
        </p:nvSpPr>
        <p:spPr>
          <a:xfrm>
            <a:off x="2316362" y="5665113"/>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graphicFrame>
        <p:nvGraphicFramePr>
          <p:cNvPr id="22" name="Table 21">
            <a:extLst>
              <a:ext uri="{FF2B5EF4-FFF2-40B4-BE49-F238E27FC236}">
                <a16:creationId xmlns:a16="http://schemas.microsoft.com/office/drawing/2014/main" id="{F34F18CC-4CAD-478F-B964-ADEABF7E8948}"/>
              </a:ext>
            </a:extLst>
          </p:cNvPr>
          <p:cNvGraphicFramePr>
            <a:graphicFrameLocks noGrp="1"/>
          </p:cNvGraphicFramePr>
          <p:nvPr/>
        </p:nvGraphicFramePr>
        <p:xfrm>
          <a:off x="1822850" y="3480969"/>
          <a:ext cx="2139550" cy="2118354"/>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gridCol w="152825">
                  <a:extLst>
                    <a:ext uri="{9D8B030D-6E8A-4147-A177-3AD203B41FA5}">
                      <a16:colId xmlns:a16="http://schemas.microsoft.com/office/drawing/2014/main" val="3740628980"/>
                    </a:ext>
                  </a:extLst>
                </a:gridCol>
                <a:gridCol w="152825">
                  <a:extLst>
                    <a:ext uri="{9D8B030D-6E8A-4147-A177-3AD203B41FA5}">
                      <a16:colId xmlns:a16="http://schemas.microsoft.com/office/drawing/2014/main" val="3358480158"/>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50029561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195407205"/>
                  </a:ext>
                </a:extLst>
              </a:tr>
            </a:tbl>
          </a:graphicData>
        </a:graphic>
      </p:graphicFrame>
      <p:sp>
        <p:nvSpPr>
          <p:cNvPr id="3" name="TextBox 2">
            <a:extLst>
              <a:ext uri="{FF2B5EF4-FFF2-40B4-BE49-F238E27FC236}">
                <a16:creationId xmlns:a16="http://schemas.microsoft.com/office/drawing/2014/main" id="{2144F80C-0299-4585-AB99-7FA6A74BE807}"/>
              </a:ext>
            </a:extLst>
          </p:cNvPr>
          <p:cNvSpPr txBox="1"/>
          <p:nvPr/>
        </p:nvSpPr>
        <p:spPr>
          <a:xfrm rot="2481968">
            <a:off x="3051044" y="2711426"/>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14" name="TextBox 13">
            <a:extLst>
              <a:ext uri="{FF2B5EF4-FFF2-40B4-BE49-F238E27FC236}">
                <a16:creationId xmlns:a16="http://schemas.microsoft.com/office/drawing/2014/main" id="{6AD24306-8B03-4514-8E09-8D78436440D8}"/>
              </a:ext>
            </a:extLst>
          </p:cNvPr>
          <p:cNvSpPr txBox="1"/>
          <p:nvPr/>
        </p:nvSpPr>
        <p:spPr>
          <a:xfrm rot="2481968">
            <a:off x="1168604" y="4678671"/>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25" name="TextBox 24">
            <a:extLst>
              <a:ext uri="{FF2B5EF4-FFF2-40B4-BE49-F238E27FC236}">
                <a16:creationId xmlns:a16="http://schemas.microsoft.com/office/drawing/2014/main" id="{C266098F-C302-4078-8754-D4A3F101879A}"/>
              </a:ext>
            </a:extLst>
          </p:cNvPr>
          <p:cNvSpPr txBox="1"/>
          <p:nvPr/>
        </p:nvSpPr>
        <p:spPr>
          <a:xfrm>
            <a:off x="1600200" y="1617215"/>
            <a:ext cx="5943600" cy="430887"/>
          </a:xfrm>
          <a:prstGeom prst="rect">
            <a:avLst/>
          </a:prstGeom>
          <a:noFill/>
        </p:spPr>
        <p:txBody>
          <a:bodyPr wrap="square" rtlCol="0">
            <a:spAutoFit/>
          </a:bodyPr>
          <a:lstStyle/>
          <a:p>
            <a:pPr algn="ctr"/>
            <a:r>
              <a:rPr lang="zh-CN" altLang="en-US" sz="2200" dirty="0"/>
              <a:t>多个张量算子进行高层次模式抽取</a:t>
            </a:r>
          </a:p>
        </p:txBody>
      </p:sp>
      <p:graphicFrame>
        <p:nvGraphicFramePr>
          <p:cNvPr id="26" name="Table 25">
            <a:extLst>
              <a:ext uri="{FF2B5EF4-FFF2-40B4-BE49-F238E27FC236}">
                <a16:creationId xmlns:a16="http://schemas.microsoft.com/office/drawing/2014/main" id="{460602D4-58B7-49D3-B367-C89380EF0765}"/>
              </a:ext>
            </a:extLst>
          </p:cNvPr>
          <p:cNvGraphicFramePr>
            <a:graphicFrameLocks noGrp="1"/>
          </p:cNvGraphicFramePr>
          <p:nvPr/>
        </p:nvGraphicFramePr>
        <p:xfrm>
          <a:off x="6672791" y="3648149"/>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sp>
        <p:nvSpPr>
          <p:cNvPr id="27" name="TextBox 26">
            <a:extLst>
              <a:ext uri="{FF2B5EF4-FFF2-40B4-BE49-F238E27FC236}">
                <a16:creationId xmlns:a16="http://schemas.microsoft.com/office/drawing/2014/main" id="{6E8795EF-0D09-4377-8E50-5FE5F54B9612}"/>
              </a:ext>
            </a:extLst>
          </p:cNvPr>
          <p:cNvSpPr txBox="1"/>
          <p:nvPr/>
        </p:nvSpPr>
        <p:spPr>
          <a:xfrm>
            <a:off x="7041187" y="5615759"/>
            <a:ext cx="1152525"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39" name="TextBox 38">
            <a:extLst>
              <a:ext uri="{FF2B5EF4-FFF2-40B4-BE49-F238E27FC236}">
                <a16:creationId xmlns:a16="http://schemas.microsoft.com/office/drawing/2014/main" id="{086DEC2B-435E-4532-966A-8A3909EBC91F}"/>
              </a:ext>
            </a:extLst>
          </p:cNvPr>
          <p:cNvSpPr txBox="1"/>
          <p:nvPr/>
        </p:nvSpPr>
        <p:spPr>
          <a:xfrm rot="2481968">
            <a:off x="6155863" y="4725807"/>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36" name="TextBox 35">
            <a:extLst>
              <a:ext uri="{FF2B5EF4-FFF2-40B4-BE49-F238E27FC236}">
                <a16:creationId xmlns:a16="http://schemas.microsoft.com/office/drawing/2014/main" id="{46469A6C-A36F-4783-BD55-48A7386DDECB}"/>
              </a:ext>
            </a:extLst>
          </p:cNvPr>
          <p:cNvSpPr txBox="1"/>
          <p:nvPr/>
        </p:nvSpPr>
        <p:spPr>
          <a:xfrm rot="2481968">
            <a:off x="7872004" y="2989579"/>
            <a:ext cx="643331" cy="584775"/>
          </a:xfrm>
          <a:prstGeom prst="rect">
            <a:avLst/>
          </a:prstGeom>
          <a:noFill/>
        </p:spPr>
        <p:txBody>
          <a:bodyPr wrap="square" rtlCol="0">
            <a:spAutoFit/>
          </a:bodyPr>
          <a:lstStyle/>
          <a:p>
            <a:r>
              <a:rPr lang="en-US" altLang="zh-CN" sz="3200" dirty="0"/>
              <a:t>…</a:t>
            </a:r>
            <a:endParaRPr lang="zh-CN" altLang="en-US" sz="3200" dirty="0"/>
          </a:p>
        </p:txBody>
      </p:sp>
      <p:sp>
        <p:nvSpPr>
          <p:cNvPr id="5" name="Arrow: Right 4">
            <a:extLst>
              <a:ext uri="{FF2B5EF4-FFF2-40B4-BE49-F238E27FC236}">
                <a16:creationId xmlns:a16="http://schemas.microsoft.com/office/drawing/2014/main" id="{D722DD60-7BDF-4801-B890-61E926903488}"/>
              </a:ext>
            </a:extLst>
          </p:cNvPr>
          <p:cNvSpPr/>
          <p:nvPr/>
        </p:nvSpPr>
        <p:spPr bwMode="auto">
          <a:xfrm>
            <a:off x="4459350" y="3958951"/>
            <a:ext cx="990600" cy="50044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Tree>
    <p:extLst>
      <p:ext uri="{BB962C8B-B14F-4D97-AF65-F5344CB8AC3E}">
        <p14:creationId xmlns:p14="http://schemas.microsoft.com/office/powerpoint/2010/main" val="32738195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t>模式图降维采样</a:t>
            </a:r>
          </a:p>
        </p:txBody>
      </p:sp>
      <p:graphicFrame>
        <p:nvGraphicFramePr>
          <p:cNvPr id="26" name="Table 25">
            <a:extLst>
              <a:ext uri="{FF2B5EF4-FFF2-40B4-BE49-F238E27FC236}">
                <a16:creationId xmlns:a16="http://schemas.microsoft.com/office/drawing/2014/main" id="{460602D4-58B7-49D3-B367-C89380EF0765}"/>
              </a:ext>
            </a:extLst>
          </p:cNvPr>
          <p:cNvGraphicFramePr>
            <a:graphicFrameLocks noGrp="1"/>
          </p:cNvGraphicFramePr>
          <p:nvPr/>
        </p:nvGraphicFramePr>
        <p:xfrm>
          <a:off x="1752600" y="2766635"/>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sp>
        <p:nvSpPr>
          <p:cNvPr id="27" name="TextBox 26">
            <a:extLst>
              <a:ext uri="{FF2B5EF4-FFF2-40B4-BE49-F238E27FC236}">
                <a16:creationId xmlns:a16="http://schemas.microsoft.com/office/drawing/2014/main" id="{6E8795EF-0D09-4377-8E50-5FE5F54B9612}"/>
              </a:ext>
            </a:extLst>
          </p:cNvPr>
          <p:cNvSpPr txBox="1"/>
          <p:nvPr/>
        </p:nvSpPr>
        <p:spPr>
          <a:xfrm>
            <a:off x="2093287" y="4750713"/>
            <a:ext cx="1152525" cy="430887"/>
          </a:xfrm>
          <a:prstGeom prst="rect">
            <a:avLst/>
          </a:prstGeom>
          <a:noFill/>
        </p:spPr>
        <p:txBody>
          <a:bodyPr wrap="square" rtlCol="0">
            <a:spAutoFit/>
          </a:bodyPr>
          <a:lstStyle/>
          <a:p>
            <a:pPr algn="ctr"/>
            <a:r>
              <a:rPr lang="en-US" altLang="zh-CN" sz="2200" dirty="0"/>
              <a:t>12x12</a:t>
            </a:r>
            <a:endParaRPr lang="zh-CN" altLang="en-US" sz="2200" dirty="0"/>
          </a:p>
        </p:txBody>
      </p:sp>
      <p:graphicFrame>
        <p:nvGraphicFramePr>
          <p:cNvPr id="19" name="Table 18">
            <a:extLst>
              <a:ext uri="{FF2B5EF4-FFF2-40B4-BE49-F238E27FC236}">
                <a16:creationId xmlns:a16="http://schemas.microsoft.com/office/drawing/2014/main" id="{2B5E1FE3-5B22-4114-883B-F8CA62B71D8D}"/>
              </a:ext>
            </a:extLst>
          </p:cNvPr>
          <p:cNvGraphicFramePr>
            <a:graphicFrameLocks noGrp="1"/>
          </p:cNvGraphicFramePr>
          <p:nvPr/>
        </p:nvGraphicFramePr>
        <p:xfrm>
          <a:off x="1752600" y="2766635"/>
          <a:ext cx="305650" cy="30262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tblGrid>
              <a:tr h="151311">
                <a:tc>
                  <a:txBody>
                    <a:bodyPr/>
                    <a:lstStyle/>
                    <a:p>
                      <a:endParaRPr lang="zh-CN" altLang="en-US" sz="100" dirty="0"/>
                    </a:p>
                  </a:txBody>
                  <a:tcPr marL="0" marR="0" marT="0" marB="0">
                    <a:solidFill>
                      <a:schemeClr val="tx2">
                        <a:lumMod val="40000"/>
                        <a:lumOff val="60000"/>
                        <a:alpha val="60000"/>
                      </a:schemeClr>
                    </a:solidFill>
                  </a:tcPr>
                </a:tc>
                <a:tc>
                  <a:txBody>
                    <a:bodyPr/>
                    <a:lstStyle/>
                    <a:p>
                      <a:endParaRPr lang="zh-CN" altLang="en-US" sz="100" dirty="0"/>
                    </a:p>
                  </a:txBody>
                  <a:tcPr marL="0" marR="0" marT="0" marB="0">
                    <a:solidFill>
                      <a:schemeClr val="tx2">
                        <a:lumMod val="40000"/>
                        <a:lumOff val="60000"/>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tx2">
                        <a:lumMod val="40000"/>
                        <a:lumOff val="60000"/>
                        <a:alpha val="60000"/>
                      </a:schemeClr>
                    </a:solidFill>
                  </a:tcPr>
                </a:tc>
                <a:tc>
                  <a:txBody>
                    <a:bodyPr/>
                    <a:lstStyle/>
                    <a:p>
                      <a:endParaRPr lang="zh-CN" altLang="en-US" sz="100" dirty="0"/>
                    </a:p>
                  </a:txBody>
                  <a:tcPr marL="0" marR="0" marT="0" marB="0">
                    <a:solidFill>
                      <a:schemeClr val="tx2">
                        <a:lumMod val="40000"/>
                        <a:lumOff val="60000"/>
                        <a:alpha val="60000"/>
                      </a:schemeClr>
                    </a:solidFill>
                  </a:tcPr>
                </a:tc>
                <a:extLst>
                  <a:ext uri="{0D108BD9-81ED-4DB2-BD59-A6C34878D82A}">
                    <a16:rowId xmlns:a16="http://schemas.microsoft.com/office/drawing/2014/main" val="827475921"/>
                  </a:ext>
                </a:extLst>
              </a:tr>
            </a:tbl>
          </a:graphicData>
        </a:graphic>
      </p:graphicFrame>
      <p:graphicFrame>
        <p:nvGraphicFramePr>
          <p:cNvPr id="20" name="Table 19">
            <a:extLst>
              <a:ext uri="{FF2B5EF4-FFF2-40B4-BE49-F238E27FC236}">
                <a16:creationId xmlns:a16="http://schemas.microsoft.com/office/drawing/2014/main" id="{F028A125-3AAA-4E9B-9040-F2C777760EBD}"/>
              </a:ext>
            </a:extLst>
          </p:cNvPr>
          <p:cNvGraphicFramePr>
            <a:graphicFrameLocks noGrp="1"/>
          </p:cNvGraphicFramePr>
          <p:nvPr/>
        </p:nvGraphicFramePr>
        <p:xfrm>
          <a:off x="5867400" y="3238004"/>
          <a:ext cx="916950" cy="907866"/>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bl>
          </a:graphicData>
        </a:graphic>
      </p:graphicFrame>
      <p:cxnSp>
        <p:nvCxnSpPr>
          <p:cNvPr id="21" name="Straight Arrow Connector 20">
            <a:extLst>
              <a:ext uri="{FF2B5EF4-FFF2-40B4-BE49-F238E27FC236}">
                <a16:creationId xmlns:a16="http://schemas.microsoft.com/office/drawing/2014/main" id="{4E6F958A-3D7A-43C5-BF47-28839F122433}"/>
              </a:ext>
            </a:extLst>
          </p:cNvPr>
          <p:cNvCxnSpPr>
            <a:cxnSpLocks/>
          </p:cNvCxnSpPr>
          <p:nvPr/>
        </p:nvCxnSpPr>
        <p:spPr bwMode="auto">
          <a:xfrm>
            <a:off x="1897380" y="2926080"/>
            <a:ext cx="4061460" cy="3733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870F9DBB-9921-4009-9C3B-EB1ED934BD29}"/>
              </a:ext>
            </a:extLst>
          </p:cNvPr>
          <p:cNvSpPr txBox="1"/>
          <p:nvPr/>
        </p:nvSpPr>
        <p:spPr>
          <a:xfrm>
            <a:off x="1600200" y="2038031"/>
            <a:ext cx="5943600" cy="430887"/>
          </a:xfrm>
          <a:prstGeom prst="rect">
            <a:avLst/>
          </a:prstGeom>
          <a:noFill/>
        </p:spPr>
        <p:txBody>
          <a:bodyPr wrap="square" rtlCol="0">
            <a:spAutoFit/>
          </a:bodyPr>
          <a:lstStyle/>
          <a:p>
            <a:pPr algn="ctr"/>
            <a:r>
              <a:rPr lang="zh-CN" altLang="en-US" sz="2200" dirty="0"/>
              <a:t>取</a:t>
            </a:r>
            <a:r>
              <a:rPr lang="en-US" altLang="zh-CN" sz="2200" dirty="0"/>
              <a:t>2x2</a:t>
            </a:r>
            <a:r>
              <a:rPr lang="zh-CN" altLang="en-US" sz="2200" dirty="0"/>
              <a:t>个中的最大值</a:t>
            </a:r>
          </a:p>
        </p:txBody>
      </p:sp>
      <p:sp>
        <p:nvSpPr>
          <p:cNvPr id="28" name="TextBox 27">
            <a:extLst>
              <a:ext uri="{FF2B5EF4-FFF2-40B4-BE49-F238E27FC236}">
                <a16:creationId xmlns:a16="http://schemas.microsoft.com/office/drawing/2014/main" id="{8928D406-68C1-4F3A-8189-A079BB5659BC}"/>
              </a:ext>
            </a:extLst>
          </p:cNvPr>
          <p:cNvSpPr txBox="1"/>
          <p:nvPr/>
        </p:nvSpPr>
        <p:spPr>
          <a:xfrm>
            <a:off x="5749612" y="4191000"/>
            <a:ext cx="1152525" cy="430887"/>
          </a:xfrm>
          <a:prstGeom prst="rect">
            <a:avLst/>
          </a:prstGeom>
          <a:noFill/>
        </p:spPr>
        <p:txBody>
          <a:bodyPr wrap="square" rtlCol="0">
            <a:spAutoFit/>
          </a:bodyPr>
          <a:lstStyle/>
          <a:p>
            <a:pPr algn="ctr"/>
            <a:r>
              <a:rPr lang="en-US" altLang="zh-CN" sz="2200" dirty="0"/>
              <a:t>6x6</a:t>
            </a:r>
            <a:endParaRPr lang="zh-CN" altLang="en-US" sz="2200" dirty="0"/>
          </a:p>
        </p:txBody>
      </p:sp>
      <p:sp>
        <p:nvSpPr>
          <p:cNvPr id="31" name="TextBox 30">
            <a:extLst>
              <a:ext uri="{FF2B5EF4-FFF2-40B4-BE49-F238E27FC236}">
                <a16:creationId xmlns:a16="http://schemas.microsoft.com/office/drawing/2014/main" id="{94D461F1-74A3-40F8-9F40-0DCAAD4D0CB1}"/>
              </a:ext>
            </a:extLst>
          </p:cNvPr>
          <p:cNvSpPr txBox="1"/>
          <p:nvPr/>
        </p:nvSpPr>
        <p:spPr>
          <a:xfrm>
            <a:off x="1857928" y="5360832"/>
            <a:ext cx="5428144" cy="800219"/>
          </a:xfrm>
          <a:prstGeom prst="rect">
            <a:avLst/>
          </a:prstGeom>
          <a:noFill/>
        </p:spPr>
        <p:txBody>
          <a:bodyPr wrap="square" rtlCol="0">
            <a:spAutoFit/>
          </a:bodyPr>
          <a:lstStyle/>
          <a:p>
            <a:pPr algn="ctr"/>
            <a:r>
              <a:rPr lang="zh-CN" altLang="en-US" sz="2200" dirty="0"/>
              <a:t>模式图降</a:t>
            </a:r>
            <a:r>
              <a:rPr lang="zh-CN" altLang="en-US" sz="2400" dirty="0"/>
              <a:t>维</a:t>
            </a:r>
            <a:r>
              <a:rPr lang="zh-CN" altLang="en-US" sz="2200" dirty="0"/>
              <a:t>采样：高层次模式只需要粗略位置，不需要所有的和冗余的细节信息</a:t>
            </a:r>
          </a:p>
        </p:txBody>
      </p:sp>
    </p:spTree>
    <p:custDataLst>
      <p:tags r:id="rId1"/>
    </p:custDataLst>
    <p:extLst>
      <p:ext uri="{BB962C8B-B14F-4D97-AF65-F5344CB8AC3E}">
        <p14:creationId xmlns:p14="http://schemas.microsoft.com/office/powerpoint/2010/main" val="93337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4" grpId="0"/>
      <p:bldP spid="28" grpId="0"/>
      <p:bldP spid="31"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t>模式图降维采样</a:t>
            </a:r>
          </a:p>
        </p:txBody>
      </p:sp>
      <p:graphicFrame>
        <p:nvGraphicFramePr>
          <p:cNvPr id="26" name="Table 25">
            <a:extLst>
              <a:ext uri="{FF2B5EF4-FFF2-40B4-BE49-F238E27FC236}">
                <a16:creationId xmlns:a16="http://schemas.microsoft.com/office/drawing/2014/main" id="{460602D4-58B7-49D3-B367-C89380EF0765}"/>
              </a:ext>
            </a:extLst>
          </p:cNvPr>
          <p:cNvGraphicFramePr>
            <a:graphicFrameLocks noGrp="1"/>
          </p:cNvGraphicFramePr>
          <p:nvPr/>
        </p:nvGraphicFramePr>
        <p:xfrm>
          <a:off x="1752600" y="2766635"/>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sp>
        <p:nvSpPr>
          <p:cNvPr id="27" name="TextBox 26">
            <a:extLst>
              <a:ext uri="{FF2B5EF4-FFF2-40B4-BE49-F238E27FC236}">
                <a16:creationId xmlns:a16="http://schemas.microsoft.com/office/drawing/2014/main" id="{6E8795EF-0D09-4377-8E50-5FE5F54B9612}"/>
              </a:ext>
            </a:extLst>
          </p:cNvPr>
          <p:cNvSpPr txBox="1"/>
          <p:nvPr/>
        </p:nvSpPr>
        <p:spPr>
          <a:xfrm>
            <a:off x="2093287" y="4750713"/>
            <a:ext cx="1152525" cy="430887"/>
          </a:xfrm>
          <a:prstGeom prst="rect">
            <a:avLst/>
          </a:prstGeom>
          <a:noFill/>
        </p:spPr>
        <p:txBody>
          <a:bodyPr wrap="square" rtlCol="0">
            <a:spAutoFit/>
          </a:bodyPr>
          <a:lstStyle/>
          <a:p>
            <a:pPr algn="ctr"/>
            <a:r>
              <a:rPr lang="en-US" altLang="zh-CN" sz="2200" dirty="0"/>
              <a:t>12x12</a:t>
            </a:r>
            <a:endParaRPr lang="zh-CN" altLang="en-US" sz="2200" dirty="0"/>
          </a:p>
        </p:txBody>
      </p:sp>
      <p:graphicFrame>
        <p:nvGraphicFramePr>
          <p:cNvPr id="19" name="Table 18">
            <a:extLst>
              <a:ext uri="{FF2B5EF4-FFF2-40B4-BE49-F238E27FC236}">
                <a16:creationId xmlns:a16="http://schemas.microsoft.com/office/drawing/2014/main" id="{2B5E1FE3-5B22-4114-883B-F8CA62B71D8D}"/>
              </a:ext>
            </a:extLst>
          </p:cNvPr>
          <p:cNvGraphicFramePr>
            <a:graphicFrameLocks noGrp="1"/>
          </p:cNvGraphicFramePr>
          <p:nvPr/>
        </p:nvGraphicFramePr>
        <p:xfrm>
          <a:off x="2056550" y="2766635"/>
          <a:ext cx="305650" cy="30262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tblGrid>
              <a:tr h="151311">
                <a:tc>
                  <a:txBody>
                    <a:bodyPr/>
                    <a:lstStyle/>
                    <a:p>
                      <a:endParaRPr lang="zh-CN" altLang="en-US" sz="100" dirty="0"/>
                    </a:p>
                  </a:txBody>
                  <a:tcPr marL="0" marR="0" marT="0" marB="0">
                    <a:solidFill>
                      <a:schemeClr val="tx2">
                        <a:lumMod val="40000"/>
                        <a:lumOff val="60000"/>
                        <a:alpha val="60000"/>
                      </a:schemeClr>
                    </a:solidFill>
                  </a:tcPr>
                </a:tc>
                <a:tc>
                  <a:txBody>
                    <a:bodyPr/>
                    <a:lstStyle/>
                    <a:p>
                      <a:endParaRPr lang="zh-CN" altLang="en-US" sz="100" dirty="0"/>
                    </a:p>
                  </a:txBody>
                  <a:tcPr marL="0" marR="0" marT="0" marB="0">
                    <a:solidFill>
                      <a:schemeClr val="tx2">
                        <a:lumMod val="40000"/>
                        <a:lumOff val="60000"/>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tx2">
                        <a:lumMod val="40000"/>
                        <a:lumOff val="60000"/>
                        <a:alpha val="60000"/>
                      </a:schemeClr>
                    </a:solidFill>
                  </a:tcPr>
                </a:tc>
                <a:tc>
                  <a:txBody>
                    <a:bodyPr/>
                    <a:lstStyle/>
                    <a:p>
                      <a:endParaRPr lang="zh-CN" altLang="en-US" sz="100" dirty="0"/>
                    </a:p>
                  </a:txBody>
                  <a:tcPr marL="0" marR="0" marT="0" marB="0">
                    <a:solidFill>
                      <a:schemeClr val="tx2">
                        <a:lumMod val="40000"/>
                        <a:lumOff val="60000"/>
                        <a:alpha val="60000"/>
                      </a:schemeClr>
                    </a:solidFill>
                  </a:tcPr>
                </a:tc>
                <a:extLst>
                  <a:ext uri="{0D108BD9-81ED-4DB2-BD59-A6C34878D82A}">
                    <a16:rowId xmlns:a16="http://schemas.microsoft.com/office/drawing/2014/main" val="827475921"/>
                  </a:ext>
                </a:extLst>
              </a:tr>
            </a:tbl>
          </a:graphicData>
        </a:graphic>
      </p:graphicFrame>
      <p:graphicFrame>
        <p:nvGraphicFramePr>
          <p:cNvPr id="20" name="Table 19">
            <a:extLst>
              <a:ext uri="{FF2B5EF4-FFF2-40B4-BE49-F238E27FC236}">
                <a16:creationId xmlns:a16="http://schemas.microsoft.com/office/drawing/2014/main" id="{F028A125-3AAA-4E9B-9040-F2C777760EBD}"/>
              </a:ext>
            </a:extLst>
          </p:cNvPr>
          <p:cNvGraphicFramePr>
            <a:graphicFrameLocks noGrp="1"/>
          </p:cNvGraphicFramePr>
          <p:nvPr/>
        </p:nvGraphicFramePr>
        <p:xfrm>
          <a:off x="5867400" y="3238004"/>
          <a:ext cx="916950" cy="907866"/>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bl>
          </a:graphicData>
        </a:graphic>
      </p:graphicFrame>
      <p:cxnSp>
        <p:nvCxnSpPr>
          <p:cNvPr id="21" name="Straight Arrow Connector 20">
            <a:extLst>
              <a:ext uri="{FF2B5EF4-FFF2-40B4-BE49-F238E27FC236}">
                <a16:creationId xmlns:a16="http://schemas.microsoft.com/office/drawing/2014/main" id="{4E6F958A-3D7A-43C5-BF47-28839F122433}"/>
              </a:ext>
            </a:extLst>
          </p:cNvPr>
          <p:cNvCxnSpPr>
            <a:cxnSpLocks/>
          </p:cNvCxnSpPr>
          <p:nvPr/>
        </p:nvCxnSpPr>
        <p:spPr bwMode="auto">
          <a:xfrm>
            <a:off x="2217420" y="2926080"/>
            <a:ext cx="3916680"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870F9DBB-9921-4009-9C3B-EB1ED934BD29}"/>
              </a:ext>
            </a:extLst>
          </p:cNvPr>
          <p:cNvSpPr txBox="1"/>
          <p:nvPr/>
        </p:nvSpPr>
        <p:spPr>
          <a:xfrm>
            <a:off x="1600200" y="2038031"/>
            <a:ext cx="5943600" cy="430887"/>
          </a:xfrm>
          <a:prstGeom prst="rect">
            <a:avLst/>
          </a:prstGeom>
          <a:noFill/>
        </p:spPr>
        <p:txBody>
          <a:bodyPr wrap="square" rtlCol="0">
            <a:spAutoFit/>
          </a:bodyPr>
          <a:lstStyle/>
          <a:p>
            <a:pPr algn="ctr"/>
            <a:r>
              <a:rPr lang="zh-CN" altLang="en-US" sz="2200" dirty="0"/>
              <a:t>不重叠地横向移动</a:t>
            </a:r>
          </a:p>
        </p:txBody>
      </p:sp>
      <p:sp>
        <p:nvSpPr>
          <p:cNvPr id="28" name="TextBox 27">
            <a:extLst>
              <a:ext uri="{FF2B5EF4-FFF2-40B4-BE49-F238E27FC236}">
                <a16:creationId xmlns:a16="http://schemas.microsoft.com/office/drawing/2014/main" id="{8928D406-68C1-4F3A-8189-A079BB5659BC}"/>
              </a:ext>
            </a:extLst>
          </p:cNvPr>
          <p:cNvSpPr txBox="1"/>
          <p:nvPr/>
        </p:nvSpPr>
        <p:spPr>
          <a:xfrm>
            <a:off x="5749612" y="4191000"/>
            <a:ext cx="1152525" cy="430887"/>
          </a:xfrm>
          <a:prstGeom prst="rect">
            <a:avLst/>
          </a:prstGeom>
          <a:noFill/>
        </p:spPr>
        <p:txBody>
          <a:bodyPr wrap="square" rtlCol="0">
            <a:spAutoFit/>
          </a:bodyPr>
          <a:lstStyle/>
          <a:p>
            <a:pPr algn="ctr"/>
            <a:r>
              <a:rPr lang="en-US" altLang="zh-CN" sz="2200" dirty="0"/>
              <a:t>6x6</a:t>
            </a:r>
            <a:endParaRPr lang="zh-CN" altLang="en-US" sz="2200" dirty="0"/>
          </a:p>
        </p:txBody>
      </p:sp>
    </p:spTree>
    <p:custDataLst>
      <p:tags r:id="rId1"/>
    </p:custDataLst>
    <p:extLst>
      <p:ext uri="{BB962C8B-B14F-4D97-AF65-F5344CB8AC3E}">
        <p14:creationId xmlns:p14="http://schemas.microsoft.com/office/powerpoint/2010/main" val="374975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t>模式图降维采样</a:t>
            </a:r>
          </a:p>
        </p:txBody>
      </p:sp>
      <p:graphicFrame>
        <p:nvGraphicFramePr>
          <p:cNvPr id="26" name="Table 25">
            <a:extLst>
              <a:ext uri="{FF2B5EF4-FFF2-40B4-BE49-F238E27FC236}">
                <a16:creationId xmlns:a16="http://schemas.microsoft.com/office/drawing/2014/main" id="{460602D4-58B7-49D3-B367-C89380EF0765}"/>
              </a:ext>
            </a:extLst>
          </p:cNvPr>
          <p:cNvGraphicFramePr>
            <a:graphicFrameLocks noGrp="1"/>
          </p:cNvGraphicFramePr>
          <p:nvPr/>
        </p:nvGraphicFramePr>
        <p:xfrm>
          <a:off x="1752600" y="2766635"/>
          <a:ext cx="1833900" cy="181573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gridCol w="152825">
                  <a:extLst>
                    <a:ext uri="{9D8B030D-6E8A-4147-A177-3AD203B41FA5}">
                      <a16:colId xmlns:a16="http://schemas.microsoft.com/office/drawing/2014/main" val="3775116843"/>
                    </a:ext>
                  </a:extLst>
                </a:gridCol>
                <a:gridCol w="152825">
                  <a:extLst>
                    <a:ext uri="{9D8B030D-6E8A-4147-A177-3AD203B41FA5}">
                      <a16:colId xmlns:a16="http://schemas.microsoft.com/office/drawing/2014/main" val="2605836819"/>
                    </a:ext>
                  </a:extLst>
                </a:gridCol>
                <a:gridCol w="152825">
                  <a:extLst>
                    <a:ext uri="{9D8B030D-6E8A-4147-A177-3AD203B41FA5}">
                      <a16:colId xmlns:a16="http://schemas.microsoft.com/office/drawing/2014/main" val="1195476669"/>
                    </a:ext>
                  </a:extLst>
                </a:gridCol>
                <a:gridCol w="152825">
                  <a:extLst>
                    <a:ext uri="{9D8B030D-6E8A-4147-A177-3AD203B41FA5}">
                      <a16:colId xmlns:a16="http://schemas.microsoft.com/office/drawing/2014/main" val="2771102414"/>
                    </a:ext>
                  </a:extLst>
                </a:gridCol>
                <a:gridCol w="152825">
                  <a:extLst>
                    <a:ext uri="{9D8B030D-6E8A-4147-A177-3AD203B41FA5}">
                      <a16:colId xmlns:a16="http://schemas.microsoft.com/office/drawing/2014/main" val="3427316661"/>
                    </a:ext>
                  </a:extLst>
                </a:gridCol>
                <a:gridCol w="152825">
                  <a:extLst>
                    <a:ext uri="{9D8B030D-6E8A-4147-A177-3AD203B41FA5}">
                      <a16:colId xmlns:a16="http://schemas.microsoft.com/office/drawing/2014/main" val="263566507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928421036"/>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30568668"/>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186820093"/>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6637931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716347687"/>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143856363"/>
                  </a:ext>
                </a:extLst>
              </a:tr>
            </a:tbl>
          </a:graphicData>
        </a:graphic>
      </p:graphicFrame>
      <p:sp>
        <p:nvSpPr>
          <p:cNvPr id="27" name="TextBox 26">
            <a:extLst>
              <a:ext uri="{FF2B5EF4-FFF2-40B4-BE49-F238E27FC236}">
                <a16:creationId xmlns:a16="http://schemas.microsoft.com/office/drawing/2014/main" id="{6E8795EF-0D09-4377-8E50-5FE5F54B9612}"/>
              </a:ext>
            </a:extLst>
          </p:cNvPr>
          <p:cNvSpPr txBox="1"/>
          <p:nvPr/>
        </p:nvSpPr>
        <p:spPr>
          <a:xfrm>
            <a:off x="2093287" y="4750713"/>
            <a:ext cx="1152525" cy="430887"/>
          </a:xfrm>
          <a:prstGeom prst="rect">
            <a:avLst/>
          </a:prstGeom>
          <a:noFill/>
        </p:spPr>
        <p:txBody>
          <a:bodyPr wrap="square" rtlCol="0">
            <a:spAutoFit/>
          </a:bodyPr>
          <a:lstStyle/>
          <a:p>
            <a:pPr algn="ctr"/>
            <a:r>
              <a:rPr lang="en-US" altLang="zh-CN" sz="2200" dirty="0"/>
              <a:t>12x12</a:t>
            </a:r>
            <a:endParaRPr lang="zh-CN" altLang="en-US" sz="2200" dirty="0"/>
          </a:p>
        </p:txBody>
      </p:sp>
      <p:graphicFrame>
        <p:nvGraphicFramePr>
          <p:cNvPr id="19" name="Table 18">
            <a:extLst>
              <a:ext uri="{FF2B5EF4-FFF2-40B4-BE49-F238E27FC236}">
                <a16:creationId xmlns:a16="http://schemas.microsoft.com/office/drawing/2014/main" id="{2B5E1FE3-5B22-4114-883B-F8CA62B71D8D}"/>
              </a:ext>
            </a:extLst>
          </p:cNvPr>
          <p:cNvGraphicFramePr>
            <a:graphicFrameLocks noGrp="1"/>
          </p:cNvGraphicFramePr>
          <p:nvPr/>
        </p:nvGraphicFramePr>
        <p:xfrm>
          <a:off x="1751750" y="3063815"/>
          <a:ext cx="305650" cy="302622"/>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tblGrid>
              <a:tr h="151311">
                <a:tc>
                  <a:txBody>
                    <a:bodyPr/>
                    <a:lstStyle/>
                    <a:p>
                      <a:endParaRPr lang="zh-CN" altLang="en-US" sz="100" dirty="0"/>
                    </a:p>
                  </a:txBody>
                  <a:tcPr marL="0" marR="0" marT="0" marB="0">
                    <a:solidFill>
                      <a:schemeClr val="tx2">
                        <a:lumMod val="40000"/>
                        <a:lumOff val="60000"/>
                        <a:alpha val="60000"/>
                      </a:schemeClr>
                    </a:solidFill>
                  </a:tcPr>
                </a:tc>
                <a:tc>
                  <a:txBody>
                    <a:bodyPr/>
                    <a:lstStyle/>
                    <a:p>
                      <a:endParaRPr lang="zh-CN" altLang="en-US" sz="100" dirty="0"/>
                    </a:p>
                  </a:txBody>
                  <a:tcPr marL="0" marR="0" marT="0" marB="0">
                    <a:solidFill>
                      <a:schemeClr val="tx2">
                        <a:lumMod val="40000"/>
                        <a:lumOff val="60000"/>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tx2">
                        <a:lumMod val="40000"/>
                        <a:lumOff val="60000"/>
                        <a:alpha val="60000"/>
                      </a:schemeClr>
                    </a:solidFill>
                  </a:tcPr>
                </a:tc>
                <a:tc>
                  <a:txBody>
                    <a:bodyPr/>
                    <a:lstStyle/>
                    <a:p>
                      <a:endParaRPr lang="zh-CN" altLang="en-US" sz="100" dirty="0"/>
                    </a:p>
                  </a:txBody>
                  <a:tcPr marL="0" marR="0" marT="0" marB="0">
                    <a:solidFill>
                      <a:schemeClr val="tx2">
                        <a:lumMod val="40000"/>
                        <a:lumOff val="60000"/>
                        <a:alpha val="60000"/>
                      </a:schemeClr>
                    </a:solidFill>
                  </a:tcPr>
                </a:tc>
                <a:extLst>
                  <a:ext uri="{0D108BD9-81ED-4DB2-BD59-A6C34878D82A}">
                    <a16:rowId xmlns:a16="http://schemas.microsoft.com/office/drawing/2014/main" val="827475921"/>
                  </a:ext>
                </a:extLst>
              </a:tr>
            </a:tbl>
          </a:graphicData>
        </a:graphic>
      </p:graphicFrame>
      <p:graphicFrame>
        <p:nvGraphicFramePr>
          <p:cNvPr id="20" name="Table 19">
            <a:extLst>
              <a:ext uri="{FF2B5EF4-FFF2-40B4-BE49-F238E27FC236}">
                <a16:creationId xmlns:a16="http://schemas.microsoft.com/office/drawing/2014/main" id="{F028A125-3AAA-4E9B-9040-F2C777760EBD}"/>
              </a:ext>
            </a:extLst>
          </p:cNvPr>
          <p:cNvGraphicFramePr>
            <a:graphicFrameLocks noGrp="1"/>
          </p:cNvGraphicFramePr>
          <p:nvPr/>
        </p:nvGraphicFramePr>
        <p:xfrm>
          <a:off x="5867400" y="3238004"/>
          <a:ext cx="916950" cy="907866"/>
        </p:xfrm>
        <a:graphic>
          <a:graphicData uri="http://schemas.openxmlformats.org/drawingml/2006/table">
            <a:tbl>
              <a:tblPr firstRow="1" bandRow="1">
                <a:tableStyleId>{5940675A-B579-460E-94D1-54222C63F5DA}</a:tableStyleId>
              </a:tblPr>
              <a:tblGrid>
                <a:gridCol w="152825">
                  <a:extLst>
                    <a:ext uri="{9D8B030D-6E8A-4147-A177-3AD203B41FA5}">
                      <a16:colId xmlns:a16="http://schemas.microsoft.com/office/drawing/2014/main" val="3858150801"/>
                    </a:ext>
                  </a:extLst>
                </a:gridCol>
                <a:gridCol w="152825">
                  <a:extLst>
                    <a:ext uri="{9D8B030D-6E8A-4147-A177-3AD203B41FA5}">
                      <a16:colId xmlns:a16="http://schemas.microsoft.com/office/drawing/2014/main" val="3491865340"/>
                    </a:ext>
                  </a:extLst>
                </a:gridCol>
                <a:gridCol w="152825">
                  <a:extLst>
                    <a:ext uri="{9D8B030D-6E8A-4147-A177-3AD203B41FA5}">
                      <a16:colId xmlns:a16="http://schemas.microsoft.com/office/drawing/2014/main" val="2658115014"/>
                    </a:ext>
                  </a:extLst>
                </a:gridCol>
                <a:gridCol w="152825">
                  <a:extLst>
                    <a:ext uri="{9D8B030D-6E8A-4147-A177-3AD203B41FA5}">
                      <a16:colId xmlns:a16="http://schemas.microsoft.com/office/drawing/2014/main" val="721263813"/>
                    </a:ext>
                  </a:extLst>
                </a:gridCol>
                <a:gridCol w="152825">
                  <a:extLst>
                    <a:ext uri="{9D8B030D-6E8A-4147-A177-3AD203B41FA5}">
                      <a16:colId xmlns:a16="http://schemas.microsoft.com/office/drawing/2014/main" val="1567186318"/>
                    </a:ext>
                  </a:extLst>
                </a:gridCol>
                <a:gridCol w="152825">
                  <a:extLst>
                    <a:ext uri="{9D8B030D-6E8A-4147-A177-3AD203B41FA5}">
                      <a16:colId xmlns:a16="http://schemas.microsoft.com/office/drawing/2014/main" val="2011908235"/>
                    </a:ext>
                  </a:extLst>
                </a:gridCol>
              </a:tblGrid>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27356210"/>
                  </a:ext>
                </a:extLst>
              </a:tr>
              <a:tr h="151311">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827475921"/>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67477589"/>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320012915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1346837064"/>
                  </a:ext>
                </a:extLst>
              </a:tr>
              <a:tr h="151311">
                <a:tc>
                  <a:txBody>
                    <a:bodyPr/>
                    <a:lstStyle/>
                    <a:p>
                      <a:endParaRPr lang="zh-CN" altLang="en-US" sz="10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tc>
                  <a:txBody>
                    <a:bodyPr/>
                    <a:lstStyle/>
                    <a:p>
                      <a:endParaRPr lang="zh-CN" altLang="en-US" sz="100" dirty="0"/>
                    </a:p>
                  </a:txBody>
                  <a:tcPr marL="0" marR="0" marT="0" marB="0">
                    <a:solidFill>
                      <a:schemeClr val="bg1">
                        <a:alpha val="60000"/>
                      </a:schemeClr>
                    </a:solidFill>
                  </a:tcPr>
                </a:tc>
                <a:extLst>
                  <a:ext uri="{0D108BD9-81ED-4DB2-BD59-A6C34878D82A}">
                    <a16:rowId xmlns:a16="http://schemas.microsoft.com/office/drawing/2014/main" val="4275015155"/>
                  </a:ext>
                </a:extLst>
              </a:tr>
            </a:tbl>
          </a:graphicData>
        </a:graphic>
      </p:graphicFrame>
      <p:cxnSp>
        <p:nvCxnSpPr>
          <p:cNvPr id="21" name="Straight Arrow Connector 20">
            <a:extLst>
              <a:ext uri="{FF2B5EF4-FFF2-40B4-BE49-F238E27FC236}">
                <a16:creationId xmlns:a16="http://schemas.microsoft.com/office/drawing/2014/main" id="{4E6F958A-3D7A-43C5-BF47-28839F122433}"/>
              </a:ext>
            </a:extLst>
          </p:cNvPr>
          <p:cNvCxnSpPr>
            <a:cxnSpLocks/>
          </p:cNvCxnSpPr>
          <p:nvPr/>
        </p:nvCxnSpPr>
        <p:spPr bwMode="auto">
          <a:xfrm>
            <a:off x="1904575" y="3215126"/>
            <a:ext cx="4054265" cy="2367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870F9DBB-9921-4009-9C3B-EB1ED934BD29}"/>
              </a:ext>
            </a:extLst>
          </p:cNvPr>
          <p:cNvSpPr txBox="1"/>
          <p:nvPr/>
        </p:nvSpPr>
        <p:spPr>
          <a:xfrm>
            <a:off x="1600200" y="2038031"/>
            <a:ext cx="5943600" cy="430887"/>
          </a:xfrm>
          <a:prstGeom prst="rect">
            <a:avLst/>
          </a:prstGeom>
          <a:noFill/>
        </p:spPr>
        <p:txBody>
          <a:bodyPr wrap="square" rtlCol="0">
            <a:spAutoFit/>
          </a:bodyPr>
          <a:lstStyle/>
          <a:p>
            <a:pPr algn="ctr"/>
            <a:r>
              <a:rPr lang="zh-CN" altLang="en-US" sz="2200" dirty="0"/>
              <a:t>不重叠地纵向移动</a:t>
            </a:r>
          </a:p>
        </p:txBody>
      </p:sp>
      <p:sp>
        <p:nvSpPr>
          <p:cNvPr id="28" name="TextBox 27">
            <a:extLst>
              <a:ext uri="{FF2B5EF4-FFF2-40B4-BE49-F238E27FC236}">
                <a16:creationId xmlns:a16="http://schemas.microsoft.com/office/drawing/2014/main" id="{8928D406-68C1-4F3A-8189-A079BB5659BC}"/>
              </a:ext>
            </a:extLst>
          </p:cNvPr>
          <p:cNvSpPr txBox="1"/>
          <p:nvPr/>
        </p:nvSpPr>
        <p:spPr>
          <a:xfrm>
            <a:off x="5749612" y="4191000"/>
            <a:ext cx="1152525" cy="430887"/>
          </a:xfrm>
          <a:prstGeom prst="rect">
            <a:avLst/>
          </a:prstGeom>
          <a:noFill/>
        </p:spPr>
        <p:txBody>
          <a:bodyPr wrap="square" rtlCol="0">
            <a:spAutoFit/>
          </a:bodyPr>
          <a:lstStyle/>
          <a:p>
            <a:pPr algn="ctr"/>
            <a:r>
              <a:rPr lang="en-US" altLang="zh-CN" sz="2200" dirty="0"/>
              <a:t>6x6</a:t>
            </a:r>
            <a:endParaRPr lang="zh-CN" altLang="en-US" sz="2200" dirty="0"/>
          </a:p>
        </p:txBody>
      </p:sp>
      <p:sp>
        <p:nvSpPr>
          <p:cNvPr id="14" name="TextBox 13">
            <a:extLst>
              <a:ext uri="{FF2B5EF4-FFF2-40B4-BE49-F238E27FC236}">
                <a16:creationId xmlns:a16="http://schemas.microsoft.com/office/drawing/2014/main" id="{CA588C28-4E4B-4322-8D80-9EC5943E9F5E}"/>
              </a:ext>
            </a:extLst>
          </p:cNvPr>
          <p:cNvSpPr txBox="1"/>
          <p:nvPr/>
        </p:nvSpPr>
        <p:spPr>
          <a:xfrm>
            <a:off x="972656" y="5363256"/>
            <a:ext cx="7198687" cy="430887"/>
          </a:xfrm>
          <a:prstGeom prst="rect">
            <a:avLst/>
          </a:prstGeom>
          <a:noFill/>
        </p:spPr>
        <p:txBody>
          <a:bodyPr wrap="square" rtlCol="0">
            <a:spAutoFit/>
          </a:bodyPr>
          <a:lstStyle/>
          <a:p>
            <a:pPr algn="ctr"/>
            <a:r>
              <a:rPr lang="zh-CN" altLang="en-US" sz="2200" dirty="0"/>
              <a:t>没有权重：不需要进行学习</a:t>
            </a:r>
          </a:p>
        </p:txBody>
      </p:sp>
    </p:spTree>
    <p:custDataLst>
      <p:tags r:id="rId1"/>
    </p:custDataLst>
    <p:extLst>
      <p:ext uri="{BB962C8B-B14F-4D97-AF65-F5344CB8AC3E}">
        <p14:creationId xmlns:p14="http://schemas.microsoft.com/office/powerpoint/2010/main" val="134358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16" name="TextBox 15">
            <a:extLst>
              <a:ext uri="{FF2B5EF4-FFF2-40B4-BE49-F238E27FC236}">
                <a16:creationId xmlns:a16="http://schemas.microsoft.com/office/drawing/2014/main" id="{237124BF-D66D-491A-8E5A-14D385B8C0F3}"/>
              </a:ext>
            </a:extLst>
          </p:cNvPr>
          <p:cNvSpPr txBox="1"/>
          <p:nvPr/>
        </p:nvSpPr>
        <p:spPr>
          <a:xfrm>
            <a:off x="-76200" y="2171795"/>
            <a:ext cx="1866901" cy="769441"/>
          </a:xfrm>
          <a:prstGeom prst="rect">
            <a:avLst/>
          </a:prstGeom>
          <a:noFill/>
        </p:spPr>
        <p:txBody>
          <a:bodyPr wrap="square" rtlCol="0">
            <a:spAutoFit/>
          </a:bodyPr>
          <a:lstStyle/>
          <a:p>
            <a:pPr algn="ctr"/>
            <a:r>
              <a:rPr lang="en-US" altLang="zh-CN" sz="2200" dirty="0"/>
              <a:t>3x3</a:t>
            </a:r>
          </a:p>
          <a:p>
            <a:pPr algn="ctr"/>
            <a:r>
              <a:rPr lang="zh-CN" altLang="en-US" sz="2200" dirty="0"/>
              <a:t>二维算子</a:t>
            </a:r>
          </a:p>
        </p:txBody>
      </p:sp>
      <p:sp>
        <p:nvSpPr>
          <p:cNvPr id="19" name="Rectangle 18">
            <a:extLst>
              <a:ext uri="{FF2B5EF4-FFF2-40B4-BE49-F238E27FC236}">
                <a16:creationId xmlns:a16="http://schemas.microsoft.com/office/drawing/2014/main" id="{2D146384-6AFE-44EA-B3CF-70D045504D01}"/>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0" name="TextBox 19">
            <a:extLst>
              <a:ext uri="{FF2B5EF4-FFF2-40B4-BE49-F238E27FC236}">
                <a16:creationId xmlns:a16="http://schemas.microsoft.com/office/drawing/2014/main" id="{7C33AF50-70BD-4AD1-89AA-A5FDC14C0613}"/>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21" name="Rectangle 20">
            <a:extLst>
              <a:ext uri="{FF2B5EF4-FFF2-40B4-BE49-F238E27FC236}">
                <a16:creationId xmlns:a16="http://schemas.microsoft.com/office/drawing/2014/main" id="{181500ED-4016-444A-ADA3-205A4DC549DD}"/>
              </a:ext>
            </a:extLst>
          </p:cNvPr>
          <p:cNvSpPr/>
          <p:nvPr/>
        </p:nvSpPr>
        <p:spPr bwMode="auto">
          <a:xfrm>
            <a:off x="381000" y="3387328"/>
            <a:ext cx="228600" cy="2286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3" name="Rectangle 22">
            <a:extLst>
              <a:ext uri="{FF2B5EF4-FFF2-40B4-BE49-F238E27FC236}">
                <a16:creationId xmlns:a16="http://schemas.microsoft.com/office/drawing/2014/main" id="{43037579-63C1-4BD8-A31E-B2AF160F7172}"/>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24" name="Straight Arrow Connector 23">
            <a:extLst>
              <a:ext uri="{FF2B5EF4-FFF2-40B4-BE49-F238E27FC236}">
                <a16:creationId xmlns:a16="http://schemas.microsoft.com/office/drawing/2014/main" id="{CB96C705-A70F-497C-B103-BED97E0600E7}"/>
              </a:ext>
            </a:extLst>
          </p:cNvPr>
          <p:cNvCxnSpPr/>
          <p:nvPr/>
        </p:nvCxnSpPr>
        <p:spPr bwMode="auto">
          <a:xfrm>
            <a:off x="495300" y="3501628"/>
            <a:ext cx="18669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TextBox 24">
            <a:extLst>
              <a:ext uri="{FF2B5EF4-FFF2-40B4-BE49-F238E27FC236}">
                <a16:creationId xmlns:a16="http://schemas.microsoft.com/office/drawing/2014/main" id="{549200E0-E7C5-4BB5-BF75-8C83375803D3}"/>
              </a:ext>
            </a:extLst>
          </p:cNvPr>
          <p:cNvSpPr txBox="1"/>
          <p:nvPr/>
        </p:nvSpPr>
        <p:spPr>
          <a:xfrm>
            <a:off x="1981200"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Tree>
    <p:custDataLst>
      <p:tags r:id="rId1"/>
    </p:custDataLst>
    <p:extLst>
      <p:ext uri="{BB962C8B-B14F-4D97-AF65-F5344CB8AC3E}">
        <p14:creationId xmlns:p14="http://schemas.microsoft.com/office/powerpoint/2010/main" val="193418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animBg="1"/>
      <p:bldP spid="20" grpId="0"/>
      <p:bldP spid="21" grpId="0" animBg="1"/>
      <p:bldP spid="23" grpId="0" animBg="1"/>
      <p:bldP spid="2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910267B0-F01C-4347-95CE-720DDB2F3B14}"/>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00D65888-FD5B-425E-A1AB-BE376F7D983E}"/>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9" name="Rectangle 8">
            <a:extLst>
              <a:ext uri="{FF2B5EF4-FFF2-40B4-BE49-F238E27FC236}">
                <a16:creationId xmlns:a16="http://schemas.microsoft.com/office/drawing/2014/main" id="{3010832D-4835-4541-B164-073AE581890B}"/>
              </a:ext>
            </a:extLst>
          </p:cNvPr>
          <p:cNvSpPr/>
          <p:nvPr/>
        </p:nvSpPr>
        <p:spPr bwMode="auto">
          <a:xfrm>
            <a:off x="381000" y="3387328"/>
            <a:ext cx="228600" cy="228600"/>
          </a:xfrm>
          <a:prstGeom prst="rect">
            <a:avLst/>
          </a:prstGeom>
          <a:solidFill>
            <a:schemeClr val="accent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3" name="Rectangle 12">
            <a:extLst>
              <a:ext uri="{FF2B5EF4-FFF2-40B4-BE49-F238E27FC236}">
                <a16:creationId xmlns:a16="http://schemas.microsoft.com/office/drawing/2014/main" id="{71A50ED8-29A3-4189-9ADE-A37597C7707B}"/>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TextBox 15">
            <a:extLst>
              <a:ext uri="{FF2B5EF4-FFF2-40B4-BE49-F238E27FC236}">
                <a16:creationId xmlns:a16="http://schemas.microsoft.com/office/drawing/2014/main" id="{237124BF-D66D-491A-8E5A-14D385B8C0F3}"/>
              </a:ext>
            </a:extLst>
          </p:cNvPr>
          <p:cNvSpPr txBox="1"/>
          <p:nvPr/>
        </p:nvSpPr>
        <p:spPr>
          <a:xfrm>
            <a:off x="0" y="1789529"/>
            <a:ext cx="1943101" cy="1107996"/>
          </a:xfrm>
          <a:prstGeom prst="rect">
            <a:avLst/>
          </a:prstGeom>
          <a:noFill/>
        </p:spPr>
        <p:txBody>
          <a:bodyPr wrap="square" rtlCol="0">
            <a:spAutoFit/>
          </a:bodyPr>
          <a:lstStyle/>
          <a:p>
            <a:pPr algn="ctr"/>
            <a:endParaRPr lang="en-US" altLang="zh-CN" sz="2200" dirty="0"/>
          </a:p>
          <a:p>
            <a:pPr algn="ctr"/>
            <a:r>
              <a:rPr lang="en-US" altLang="zh-CN" sz="2200" dirty="0"/>
              <a:t>32</a:t>
            </a:r>
            <a:r>
              <a:rPr lang="zh-CN" altLang="en-US" sz="2200" dirty="0"/>
              <a:t>个二</a:t>
            </a:r>
            <a:endParaRPr lang="en-US" altLang="zh-CN" sz="2200" dirty="0"/>
          </a:p>
          <a:p>
            <a:pPr algn="ctr"/>
            <a:r>
              <a:rPr lang="zh-CN" altLang="en-US" sz="2200" dirty="0"/>
              <a:t>维算子</a:t>
            </a:r>
          </a:p>
        </p:txBody>
      </p:sp>
      <p:sp>
        <p:nvSpPr>
          <p:cNvPr id="17" name="TextBox 16">
            <a:extLst>
              <a:ext uri="{FF2B5EF4-FFF2-40B4-BE49-F238E27FC236}">
                <a16:creationId xmlns:a16="http://schemas.microsoft.com/office/drawing/2014/main" id="{9345D9B7-E78F-4CC7-87F0-457EF14D6FC0}"/>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B4CE4BED-8CE3-443C-B542-5B25E0092C59}"/>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B71EAAA4-6F0E-4DE5-93ED-7A8E134ED35C}"/>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18" name="Cube 17">
            <a:extLst>
              <a:ext uri="{FF2B5EF4-FFF2-40B4-BE49-F238E27FC236}">
                <a16:creationId xmlns:a16="http://schemas.microsoft.com/office/drawing/2014/main" id="{71237663-495A-4B2B-96D6-8511BD6FB0C5}"/>
              </a:ext>
            </a:extLst>
          </p:cNvPr>
          <p:cNvSpPr/>
          <p:nvPr/>
        </p:nvSpPr>
        <p:spPr bwMode="auto">
          <a:xfrm flipH="1">
            <a:off x="1981200" y="3133243"/>
            <a:ext cx="495300" cy="482685"/>
          </a:xfrm>
          <a:prstGeom prst="cube">
            <a:avLst>
              <a:gd name="adj" fmla="val 63651"/>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9" name="TextBox 18">
            <a:extLst>
              <a:ext uri="{FF2B5EF4-FFF2-40B4-BE49-F238E27FC236}">
                <a16:creationId xmlns:a16="http://schemas.microsoft.com/office/drawing/2014/main" id="{953FDE57-D0AE-4327-B8B0-FF06CD2A4184}"/>
              </a:ext>
            </a:extLst>
          </p:cNvPr>
          <p:cNvSpPr txBox="1"/>
          <p:nvPr/>
        </p:nvSpPr>
        <p:spPr>
          <a:xfrm>
            <a:off x="1700211" y="2002369"/>
            <a:ext cx="1866901" cy="769441"/>
          </a:xfrm>
          <a:prstGeom prst="rect">
            <a:avLst/>
          </a:prstGeom>
          <a:noFill/>
        </p:spPr>
        <p:txBody>
          <a:bodyPr wrap="square" rtlCol="0">
            <a:spAutoFit/>
          </a:bodyPr>
          <a:lstStyle/>
          <a:p>
            <a:pPr algn="ctr"/>
            <a:r>
              <a:rPr lang="en-US" altLang="zh-CN" sz="2200" dirty="0"/>
              <a:t>3x3x32</a:t>
            </a:r>
          </a:p>
          <a:p>
            <a:pPr algn="ctr"/>
            <a:r>
              <a:rPr lang="zh-CN" altLang="en-US" sz="2200" dirty="0"/>
              <a:t>三维算子</a:t>
            </a:r>
          </a:p>
        </p:txBody>
      </p:sp>
      <p:cxnSp>
        <p:nvCxnSpPr>
          <p:cNvPr id="12" name="Straight Arrow Connector 11">
            <a:extLst>
              <a:ext uri="{FF2B5EF4-FFF2-40B4-BE49-F238E27FC236}">
                <a16:creationId xmlns:a16="http://schemas.microsoft.com/office/drawing/2014/main" id="{B11C8748-E46D-416F-99CF-608A1986910B}"/>
              </a:ext>
            </a:extLst>
          </p:cNvPr>
          <p:cNvCxnSpPr/>
          <p:nvPr/>
        </p:nvCxnSpPr>
        <p:spPr bwMode="auto">
          <a:xfrm>
            <a:off x="495300" y="3501628"/>
            <a:ext cx="18669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Rectangle 19">
            <a:extLst>
              <a:ext uri="{FF2B5EF4-FFF2-40B4-BE49-F238E27FC236}">
                <a16:creationId xmlns:a16="http://schemas.microsoft.com/office/drawing/2014/main" id="{530E13A0-348E-4912-94E1-9F13EE7A445A}"/>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21" name="Straight Arrow Connector 20">
            <a:extLst>
              <a:ext uri="{FF2B5EF4-FFF2-40B4-BE49-F238E27FC236}">
                <a16:creationId xmlns:a16="http://schemas.microsoft.com/office/drawing/2014/main" id="{A535E2B0-A46B-4D35-BE83-8E828FA37D62}"/>
              </a:ext>
            </a:extLst>
          </p:cNvPr>
          <p:cNvCxnSpPr>
            <a:cxnSpLocks/>
          </p:cNvCxnSpPr>
          <p:nvPr/>
        </p:nvCxnSpPr>
        <p:spPr bwMode="auto">
          <a:xfrm>
            <a:off x="2416751" y="3511911"/>
            <a:ext cx="177424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id="{E7202E10-679E-444D-9573-2E6C240A0664}"/>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Tree>
    <p:custDataLst>
      <p:tags r:id="rId1"/>
    </p:custDataLst>
    <p:extLst>
      <p:ext uri="{BB962C8B-B14F-4D97-AF65-F5344CB8AC3E}">
        <p14:creationId xmlns:p14="http://schemas.microsoft.com/office/powerpoint/2010/main" val="6764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p:bldP spid="17" grpId="0"/>
      <p:bldP spid="14" grpId="0" animBg="1"/>
      <p:bldP spid="15" grpId="0"/>
      <p:bldP spid="18" grpId="0" animBg="1"/>
      <p:bldP spid="19" grpId="0"/>
      <p:bldP spid="20" grpId="0" animBg="1"/>
      <p:bldP spid="2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910267B0-F01C-4347-95CE-720DDB2F3B14}"/>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00D65888-FD5B-425E-A1AB-BE376F7D983E}"/>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13" name="Rectangle 12">
            <a:extLst>
              <a:ext uri="{FF2B5EF4-FFF2-40B4-BE49-F238E27FC236}">
                <a16:creationId xmlns:a16="http://schemas.microsoft.com/office/drawing/2014/main" id="{71A50ED8-29A3-4189-9ADE-A37597C7707B}"/>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6" name="TextBox 15">
            <a:extLst>
              <a:ext uri="{FF2B5EF4-FFF2-40B4-BE49-F238E27FC236}">
                <a16:creationId xmlns:a16="http://schemas.microsoft.com/office/drawing/2014/main" id="{237124BF-D66D-491A-8E5A-14D385B8C0F3}"/>
              </a:ext>
            </a:extLst>
          </p:cNvPr>
          <p:cNvSpPr txBox="1"/>
          <p:nvPr/>
        </p:nvSpPr>
        <p:spPr>
          <a:xfrm>
            <a:off x="1593532" y="1674334"/>
            <a:ext cx="1943101" cy="1107996"/>
          </a:xfrm>
          <a:prstGeom prst="rect">
            <a:avLst/>
          </a:prstGeom>
          <a:noFill/>
        </p:spPr>
        <p:txBody>
          <a:bodyPr wrap="square" rtlCol="0">
            <a:spAutoFit/>
          </a:bodyPr>
          <a:lstStyle/>
          <a:p>
            <a:pPr algn="ctr"/>
            <a:endParaRPr lang="en-US" altLang="zh-CN" sz="2200" dirty="0"/>
          </a:p>
          <a:p>
            <a:pPr algn="ctr"/>
            <a:r>
              <a:rPr lang="en-US" altLang="zh-CN" sz="2200" dirty="0"/>
              <a:t>64</a:t>
            </a:r>
            <a:r>
              <a:rPr lang="zh-CN" altLang="en-US" sz="2200" dirty="0"/>
              <a:t>个三</a:t>
            </a:r>
            <a:endParaRPr lang="en-US" altLang="zh-CN" sz="2200" dirty="0"/>
          </a:p>
          <a:p>
            <a:pPr algn="ctr"/>
            <a:r>
              <a:rPr lang="zh-CN" altLang="en-US" sz="2200" dirty="0"/>
              <a:t>维算子</a:t>
            </a:r>
          </a:p>
        </p:txBody>
      </p:sp>
      <p:sp>
        <p:nvSpPr>
          <p:cNvPr id="17" name="TextBox 16">
            <a:extLst>
              <a:ext uri="{FF2B5EF4-FFF2-40B4-BE49-F238E27FC236}">
                <a16:creationId xmlns:a16="http://schemas.microsoft.com/office/drawing/2014/main" id="{9345D9B7-E78F-4CC7-87F0-457EF14D6FC0}"/>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B4CE4BED-8CE3-443C-B542-5B25E0092C59}"/>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B71EAAA4-6F0E-4DE5-93ED-7A8E134ED35C}"/>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18" name="Cube 17">
            <a:extLst>
              <a:ext uri="{FF2B5EF4-FFF2-40B4-BE49-F238E27FC236}">
                <a16:creationId xmlns:a16="http://schemas.microsoft.com/office/drawing/2014/main" id="{71237663-495A-4B2B-96D6-8511BD6FB0C5}"/>
              </a:ext>
            </a:extLst>
          </p:cNvPr>
          <p:cNvSpPr/>
          <p:nvPr/>
        </p:nvSpPr>
        <p:spPr bwMode="auto">
          <a:xfrm flipH="1">
            <a:off x="1981200" y="3133243"/>
            <a:ext cx="495300" cy="482685"/>
          </a:xfrm>
          <a:prstGeom prst="cube">
            <a:avLst>
              <a:gd name="adj" fmla="val 63651"/>
            </a:avLst>
          </a:prstGeom>
          <a:solidFill>
            <a:schemeClr val="accent1">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0" name="Rectangle 19">
            <a:extLst>
              <a:ext uri="{FF2B5EF4-FFF2-40B4-BE49-F238E27FC236}">
                <a16:creationId xmlns:a16="http://schemas.microsoft.com/office/drawing/2014/main" id="{530E13A0-348E-4912-94E1-9F13EE7A445A}"/>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TextBox 21">
            <a:extLst>
              <a:ext uri="{FF2B5EF4-FFF2-40B4-BE49-F238E27FC236}">
                <a16:creationId xmlns:a16="http://schemas.microsoft.com/office/drawing/2014/main" id="{E7202E10-679E-444D-9573-2E6C240A0664}"/>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23" name="Cube 22">
            <a:extLst>
              <a:ext uri="{FF2B5EF4-FFF2-40B4-BE49-F238E27FC236}">
                <a16:creationId xmlns:a16="http://schemas.microsoft.com/office/drawing/2014/main" id="{FAB7361A-4276-4E02-B8B2-DABE86C069A4}"/>
              </a:ext>
            </a:extLst>
          </p:cNvPr>
          <p:cNvSpPr/>
          <p:nvPr/>
        </p:nvSpPr>
        <p:spPr bwMode="auto">
          <a:xfrm flipH="1">
            <a:off x="3744686" y="3096986"/>
            <a:ext cx="1186543" cy="1181101"/>
          </a:xfrm>
          <a:prstGeom prst="cube">
            <a:avLst>
              <a:gd name="adj" fmla="val 277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3734A376-85B3-4F9B-AB9D-101443F798CF}"/>
              </a:ext>
            </a:extLst>
          </p:cNvPr>
          <p:cNvSpPr txBox="1"/>
          <p:nvPr/>
        </p:nvSpPr>
        <p:spPr>
          <a:xfrm>
            <a:off x="3974783" y="4364270"/>
            <a:ext cx="1559574" cy="430887"/>
          </a:xfrm>
          <a:prstGeom prst="rect">
            <a:avLst/>
          </a:prstGeom>
          <a:noFill/>
        </p:spPr>
        <p:txBody>
          <a:bodyPr wrap="square" rtlCol="0">
            <a:spAutoFit/>
          </a:bodyPr>
          <a:lstStyle/>
          <a:p>
            <a:pPr algn="ctr"/>
            <a:r>
              <a:rPr lang="en-US" altLang="zh-CN" sz="2200" dirty="0"/>
              <a:t>12x12x64</a:t>
            </a:r>
            <a:endParaRPr lang="zh-CN" altLang="en-US" sz="2200" dirty="0"/>
          </a:p>
        </p:txBody>
      </p:sp>
      <p:sp>
        <p:nvSpPr>
          <p:cNvPr id="25" name="Rectangle 24">
            <a:extLst>
              <a:ext uri="{FF2B5EF4-FFF2-40B4-BE49-F238E27FC236}">
                <a16:creationId xmlns:a16="http://schemas.microsoft.com/office/drawing/2014/main" id="{488E2E38-D2CC-437C-BA61-6BDF598B09EF}"/>
              </a:ext>
            </a:extLst>
          </p:cNvPr>
          <p:cNvSpPr/>
          <p:nvPr/>
        </p:nvSpPr>
        <p:spPr bwMode="auto">
          <a:xfrm>
            <a:off x="4077744" y="3429699"/>
            <a:ext cx="132306" cy="151701"/>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6" name="TextBox 25">
            <a:extLst>
              <a:ext uri="{FF2B5EF4-FFF2-40B4-BE49-F238E27FC236}">
                <a16:creationId xmlns:a16="http://schemas.microsoft.com/office/drawing/2014/main" id="{05BAA639-9C2B-4BB7-B3E1-27C2CFC841B6}"/>
              </a:ext>
            </a:extLst>
          </p:cNvPr>
          <p:cNvSpPr txBox="1"/>
          <p:nvPr/>
        </p:nvSpPr>
        <p:spPr>
          <a:xfrm>
            <a:off x="3496656" y="1859441"/>
            <a:ext cx="1643533" cy="1107996"/>
          </a:xfrm>
          <a:prstGeom prst="rect">
            <a:avLst/>
          </a:prstGeom>
          <a:noFill/>
        </p:spPr>
        <p:txBody>
          <a:bodyPr wrap="square" rtlCol="0">
            <a:spAutoFit/>
          </a:bodyPr>
          <a:lstStyle/>
          <a:p>
            <a:pPr algn="ctr"/>
            <a:r>
              <a:rPr lang="en-US" altLang="zh-CN" sz="2200" dirty="0"/>
              <a:t>2x2</a:t>
            </a:r>
          </a:p>
          <a:p>
            <a:pPr algn="ctr"/>
            <a:r>
              <a:rPr lang="zh-CN" altLang="en-US" sz="2200" dirty="0"/>
              <a:t>模式图</a:t>
            </a:r>
            <a:endParaRPr lang="en-US" altLang="zh-CN" sz="2200" dirty="0"/>
          </a:p>
          <a:p>
            <a:pPr algn="ctr"/>
            <a:r>
              <a:rPr lang="zh-CN" altLang="en-US" sz="2200" dirty="0"/>
              <a:t>降维采样</a:t>
            </a:r>
            <a:endParaRPr lang="en-US" altLang="zh-CN" sz="2200" dirty="0"/>
          </a:p>
        </p:txBody>
      </p:sp>
      <p:sp>
        <p:nvSpPr>
          <p:cNvPr id="6" name="Rectangle 5">
            <a:extLst>
              <a:ext uri="{FF2B5EF4-FFF2-40B4-BE49-F238E27FC236}">
                <a16:creationId xmlns:a16="http://schemas.microsoft.com/office/drawing/2014/main" id="{96132B2D-102B-4F44-9B9F-4F4424530DBA}"/>
              </a:ext>
            </a:extLst>
          </p:cNvPr>
          <p:cNvSpPr/>
          <p:nvPr/>
        </p:nvSpPr>
        <p:spPr bwMode="auto">
          <a:xfrm>
            <a:off x="5751140" y="2626256"/>
            <a:ext cx="72581" cy="22429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TextBox 26">
            <a:extLst>
              <a:ext uri="{FF2B5EF4-FFF2-40B4-BE49-F238E27FC236}">
                <a16:creationId xmlns:a16="http://schemas.microsoft.com/office/drawing/2014/main" id="{4D099FD8-322A-42EE-8B7D-1E0F377F45D6}"/>
              </a:ext>
            </a:extLst>
          </p:cNvPr>
          <p:cNvSpPr txBox="1"/>
          <p:nvPr/>
        </p:nvSpPr>
        <p:spPr>
          <a:xfrm>
            <a:off x="4100604" y="4945058"/>
            <a:ext cx="2079171" cy="430887"/>
          </a:xfrm>
          <a:prstGeom prst="rect">
            <a:avLst/>
          </a:prstGeom>
          <a:noFill/>
        </p:spPr>
        <p:txBody>
          <a:bodyPr wrap="square" rtlCol="0">
            <a:spAutoFit/>
          </a:bodyPr>
          <a:lstStyle/>
          <a:p>
            <a:pPr algn="r"/>
            <a:r>
              <a:rPr lang="en-US" altLang="zh-CN" sz="2200" dirty="0"/>
              <a:t>6x6x64=2304</a:t>
            </a:r>
            <a:endParaRPr lang="zh-CN" altLang="en-US" sz="2200" dirty="0"/>
          </a:p>
        </p:txBody>
      </p:sp>
      <p:cxnSp>
        <p:nvCxnSpPr>
          <p:cNvPr id="28" name="Straight Arrow Connector 27">
            <a:extLst>
              <a:ext uri="{FF2B5EF4-FFF2-40B4-BE49-F238E27FC236}">
                <a16:creationId xmlns:a16="http://schemas.microsoft.com/office/drawing/2014/main" id="{6C5F78E9-0EE4-4C29-98EC-718DEC3F0385}"/>
              </a:ext>
            </a:extLst>
          </p:cNvPr>
          <p:cNvCxnSpPr>
            <a:cxnSpLocks/>
          </p:cNvCxnSpPr>
          <p:nvPr/>
        </p:nvCxnSpPr>
        <p:spPr bwMode="auto">
          <a:xfrm>
            <a:off x="4143897" y="3505549"/>
            <a:ext cx="1643532" cy="63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A535E2B0-A46B-4D35-BE83-8E828FA37D62}"/>
              </a:ext>
            </a:extLst>
          </p:cNvPr>
          <p:cNvCxnSpPr>
            <a:cxnSpLocks/>
          </p:cNvCxnSpPr>
          <p:nvPr/>
        </p:nvCxnSpPr>
        <p:spPr bwMode="auto">
          <a:xfrm>
            <a:off x="2416751" y="3511911"/>
            <a:ext cx="1774249"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12777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1"/>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animBg="1"/>
      <p:bldP spid="22" grpId="0"/>
      <p:bldP spid="23" grpId="0" animBg="1"/>
      <p:bldP spid="24" grpId="0"/>
      <p:bldP spid="25" grpId="0" animBg="1"/>
      <p:bldP spid="26" grpId="0"/>
      <p:bldP spid="6" grpId="0" animBg="1"/>
      <p:bldP spid="2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910267B0-F01C-4347-95CE-720DDB2F3B14}"/>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00D65888-FD5B-425E-A1AB-BE376F7D983E}"/>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13" name="Rectangle 12">
            <a:extLst>
              <a:ext uri="{FF2B5EF4-FFF2-40B4-BE49-F238E27FC236}">
                <a16:creationId xmlns:a16="http://schemas.microsoft.com/office/drawing/2014/main" id="{71A50ED8-29A3-4189-9ADE-A37597C7707B}"/>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7" name="TextBox 16">
            <a:extLst>
              <a:ext uri="{FF2B5EF4-FFF2-40B4-BE49-F238E27FC236}">
                <a16:creationId xmlns:a16="http://schemas.microsoft.com/office/drawing/2014/main" id="{9345D9B7-E78F-4CC7-87F0-457EF14D6FC0}"/>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B4CE4BED-8CE3-443C-B542-5B25E0092C59}"/>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B71EAAA4-6F0E-4DE5-93ED-7A8E134ED35C}"/>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20" name="Rectangle 19">
            <a:extLst>
              <a:ext uri="{FF2B5EF4-FFF2-40B4-BE49-F238E27FC236}">
                <a16:creationId xmlns:a16="http://schemas.microsoft.com/office/drawing/2014/main" id="{530E13A0-348E-4912-94E1-9F13EE7A445A}"/>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TextBox 21">
            <a:extLst>
              <a:ext uri="{FF2B5EF4-FFF2-40B4-BE49-F238E27FC236}">
                <a16:creationId xmlns:a16="http://schemas.microsoft.com/office/drawing/2014/main" id="{E7202E10-679E-444D-9573-2E6C240A0664}"/>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23" name="Cube 22">
            <a:extLst>
              <a:ext uri="{FF2B5EF4-FFF2-40B4-BE49-F238E27FC236}">
                <a16:creationId xmlns:a16="http://schemas.microsoft.com/office/drawing/2014/main" id="{FAB7361A-4276-4E02-B8B2-DABE86C069A4}"/>
              </a:ext>
            </a:extLst>
          </p:cNvPr>
          <p:cNvSpPr/>
          <p:nvPr/>
        </p:nvSpPr>
        <p:spPr bwMode="auto">
          <a:xfrm flipH="1">
            <a:off x="3744686" y="3096986"/>
            <a:ext cx="1186543" cy="1181101"/>
          </a:xfrm>
          <a:prstGeom prst="cube">
            <a:avLst>
              <a:gd name="adj" fmla="val 277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3734A376-85B3-4F9B-AB9D-101443F798CF}"/>
              </a:ext>
            </a:extLst>
          </p:cNvPr>
          <p:cNvSpPr txBox="1"/>
          <p:nvPr/>
        </p:nvSpPr>
        <p:spPr>
          <a:xfrm>
            <a:off x="3974783" y="4364270"/>
            <a:ext cx="1559574" cy="430887"/>
          </a:xfrm>
          <a:prstGeom prst="rect">
            <a:avLst/>
          </a:prstGeom>
          <a:noFill/>
        </p:spPr>
        <p:txBody>
          <a:bodyPr wrap="square" rtlCol="0">
            <a:spAutoFit/>
          </a:bodyPr>
          <a:lstStyle/>
          <a:p>
            <a:pPr algn="ctr"/>
            <a:r>
              <a:rPr lang="en-US" altLang="zh-CN" sz="2200" dirty="0"/>
              <a:t>12x12x64</a:t>
            </a:r>
            <a:endParaRPr lang="zh-CN" altLang="en-US" sz="2200" dirty="0"/>
          </a:p>
        </p:txBody>
      </p:sp>
      <p:sp>
        <p:nvSpPr>
          <p:cNvPr id="6" name="Rectangle 5">
            <a:extLst>
              <a:ext uri="{FF2B5EF4-FFF2-40B4-BE49-F238E27FC236}">
                <a16:creationId xmlns:a16="http://schemas.microsoft.com/office/drawing/2014/main" id="{96132B2D-102B-4F44-9B9F-4F4424530DBA}"/>
              </a:ext>
            </a:extLst>
          </p:cNvPr>
          <p:cNvSpPr/>
          <p:nvPr/>
        </p:nvSpPr>
        <p:spPr bwMode="auto">
          <a:xfrm>
            <a:off x="5751140" y="2626256"/>
            <a:ext cx="72581" cy="22429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TextBox 26">
            <a:extLst>
              <a:ext uri="{FF2B5EF4-FFF2-40B4-BE49-F238E27FC236}">
                <a16:creationId xmlns:a16="http://schemas.microsoft.com/office/drawing/2014/main" id="{4D099FD8-322A-42EE-8B7D-1E0F377F45D6}"/>
              </a:ext>
            </a:extLst>
          </p:cNvPr>
          <p:cNvSpPr txBox="1"/>
          <p:nvPr/>
        </p:nvSpPr>
        <p:spPr>
          <a:xfrm>
            <a:off x="4100604" y="4945058"/>
            <a:ext cx="2079171" cy="430887"/>
          </a:xfrm>
          <a:prstGeom prst="rect">
            <a:avLst/>
          </a:prstGeom>
          <a:noFill/>
        </p:spPr>
        <p:txBody>
          <a:bodyPr wrap="square" rtlCol="0">
            <a:spAutoFit/>
          </a:bodyPr>
          <a:lstStyle/>
          <a:p>
            <a:pPr algn="r"/>
            <a:r>
              <a:rPr lang="en-US" altLang="zh-CN" sz="2200" dirty="0"/>
              <a:t>2304</a:t>
            </a:r>
            <a:endParaRPr lang="zh-CN" altLang="en-US" sz="2200" dirty="0"/>
          </a:p>
        </p:txBody>
      </p:sp>
      <p:sp>
        <p:nvSpPr>
          <p:cNvPr id="30" name="Rectangle 29">
            <a:extLst>
              <a:ext uri="{FF2B5EF4-FFF2-40B4-BE49-F238E27FC236}">
                <a16:creationId xmlns:a16="http://schemas.microsoft.com/office/drawing/2014/main" id="{5AA39882-6767-4A68-BE38-9C2A922BDB98}"/>
              </a:ext>
            </a:extLst>
          </p:cNvPr>
          <p:cNvSpPr/>
          <p:nvPr/>
        </p:nvSpPr>
        <p:spPr bwMode="auto">
          <a:xfrm>
            <a:off x="7118888" y="3040200"/>
            <a:ext cx="72581" cy="144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1" name="TextBox 30">
            <a:extLst>
              <a:ext uri="{FF2B5EF4-FFF2-40B4-BE49-F238E27FC236}">
                <a16:creationId xmlns:a16="http://schemas.microsoft.com/office/drawing/2014/main" id="{92FE73EB-AE69-4B11-B0B1-6E9EF69A0C1C}"/>
              </a:ext>
            </a:extLst>
          </p:cNvPr>
          <p:cNvSpPr txBox="1"/>
          <p:nvPr/>
        </p:nvSpPr>
        <p:spPr>
          <a:xfrm>
            <a:off x="7796438" y="4255425"/>
            <a:ext cx="763029" cy="430887"/>
          </a:xfrm>
          <a:prstGeom prst="rect">
            <a:avLst/>
          </a:prstGeom>
          <a:noFill/>
        </p:spPr>
        <p:txBody>
          <a:bodyPr wrap="square" rtlCol="0">
            <a:spAutoFit/>
          </a:bodyPr>
          <a:lstStyle/>
          <a:p>
            <a:pPr algn="r"/>
            <a:r>
              <a:rPr lang="en-US" altLang="zh-CN" sz="2200" dirty="0"/>
              <a:t>0~9</a:t>
            </a:r>
            <a:endParaRPr lang="zh-CN" altLang="en-US" sz="2200" dirty="0"/>
          </a:p>
        </p:txBody>
      </p:sp>
      <p:cxnSp>
        <p:nvCxnSpPr>
          <p:cNvPr id="7" name="Straight Arrow Connector 6">
            <a:extLst>
              <a:ext uri="{FF2B5EF4-FFF2-40B4-BE49-F238E27FC236}">
                <a16:creationId xmlns:a16="http://schemas.microsoft.com/office/drawing/2014/main" id="{E3D74FA3-156F-4037-B682-3468A581BD02}"/>
              </a:ext>
            </a:extLst>
          </p:cNvPr>
          <p:cNvCxnSpPr>
            <a:stCxn id="6" idx="0"/>
            <a:endCxn id="30" idx="0"/>
          </p:cNvCxnSpPr>
          <p:nvPr/>
        </p:nvCxnSpPr>
        <p:spPr bwMode="auto">
          <a:xfrm>
            <a:off x="5787431" y="2626256"/>
            <a:ext cx="1367748" cy="4139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a:extLst>
              <a:ext uri="{FF2B5EF4-FFF2-40B4-BE49-F238E27FC236}">
                <a16:creationId xmlns:a16="http://schemas.microsoft.com/office/drawing/2014/main" id="{A726751F-AC8E-4A5C-B4FC-E77F818ED0F4}"/>
              </a:ext>
            </a:extLst>
          </p:cNvPr>
          <p:cNvCxnSpPr>
            <a:cxnSpLocks/>
            <a:stCxn id="6" idx="2"/>
            <a:endCxn id="30" idx="2"/>
          </p:cNvCxnSpPr>
          <p:nvPr/>
        </p:nvCxnSpPr>
        <p:spPr bwMode="auto">
          <a:xfrm flipV="1">
            <a:off x="5787431" y="4480200"/>
            <a:ext cx="1367748" cy="389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3" name="TextBox 32">
            <a:extLst>
              <a:ext uri="{FF2B5EF4-FFF2-40B4-BE49-F238E27FC236}">
                <a16:creationId xmlns:a16="http://schemas.microsoft.com/office/drawing/2014/main" id="{3D9F34C1-8DD4-4ED1-BAD6-6A175A469602}"/>
              </a:ext>
            </a:extLst>
          </p:cNvPr>
          <p:cNvSpPr txBox="1"/>
          <p:nvPr/>
        </p:nvSpPr>
        <p:spPr>
          <a:xfrm>
            <a:off x="6195480" y="2147595"/>
            <a:ext cx="1846816" cy="430887"/>
          </a:xfrm>
          <a:prstGeom prst="rect">
            <a:avLst/>
          </a:prstGeom>
          <a:noFill/>
        </p:spPr>
        <p:txBody>
          <a:bodyPr wrap="square" rtlCol="0">
            <a:spAutoFit/>
          </a:bodyPr>
          <a:lstStyle/>
          <a:p>
            <a:pPr algn="ctr"/>
            <a:r>
              <a:rPr lang="zh-CN" altLang="en-US" sz="2200" dirty="0"/>
              <a:t>多层感知器</a:t>
            </a:r>
            <a:endParaRPr lang="en-US" altLang="zh-CN" sz="2200" dirty="0"/>
          </a:p>
        </p:txBody>
      </p:sp>
      <p:sp>
        <p:nvSpPr>
          <p:cNvPr id="34" name="Rectangle 33">
            <a:extLst>
              <a:ext uri="{FF2B5EF4-FFF2-40B4-BE49-F238E27FC236}">
                <a16:creationId xmlns:a16="http://schemas.microsoft.com/office/drawing/2014/main" id="{0201FC8A-9840-46A0-B44B-5F52FBDC2469}"/>
              </a:ext>
            </a:extLst>
          </p:cNvPr>
          <p:cNvSpPr/>
          <p:nvPr/>
        </p:nvSpPr>
        <p:spPr bwMode="auto">
          <a:xfrm>
            <a:off x="8216155" y="3387732"/>
            <a:ext cx="72581" cy="72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cxnSp>
        <p:nvCxnSpPr>
          <p:cNvPr id="35" name="Straight Arrow Connector 34">
            <a:extLst>
              <a:ext uri="{FF2B5EF4-FFF2-40B4-BE49-F238E27FC236}">
                <a16:creationId xmlns:a16="http://schemas.microsoft.com/office/drawing/2014/main" id="{15B39F9A-88BC-4606-8735-C7FBB94ADED9}"/>
              </a:ext>
            </a:extLst>
          </p:cNvPr>
          <p:cNvCxnSpPr>
            <a:cxnSpLocks/>
            <a:stCxn id="30" idx="0"/>
            <a:endCxn id="34" idx="0"/>
          </p:cNvCxnSpPr>
          <p:nvPr/>
        </p:nvCxnSpPr>
        <p:spPr bwMode="auto">
          <a:xfrm>
            <a:off x="7155179" y="3040200"/>
            <a:ext cx="1097267" cy="3475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7" name="Straight Arrow Connector 36">
            <a:extLst>
              <a:ext uri="{FF2B5EF4-FFF2-40B4-BE49-F238E27FC236}">
                <a16:creationId xmlns:a16="http://schemas.microsoft.com/office/drawing/2014/main" id="{F42F3C4E-D89E-47CD-A8E9-B91617932FD9}"/>
              </a:ext>
            </a:extLst>
          </p:cNvPr>
          <p:cNvCxnSpPr>
            <a:cxnSpLocks/>
            <a:stCxn id="30" idx="2"/>
            <a:endCxn id="34" idx="2"/>
          </p:cNvCxnSpPr>
          <p:nvPr/>
        </p:nvCxnSpPr>
        <p:spPr bwMode="auto">
          <a:xfrm flipV="1">
            <a:off x="7155179" y="4107732"/>
            <a:ext cx="1097267" cy="37246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30A5309A-0E4E-4262-8F1C-0EBDF72C0BA4}"/>
              </a:ext>
            </a:extLst>
          </p:cNvPr>
          <p:cNvSpPr txBox="1"/>
          <p:nvPr/>
        </p:nvSpPr>
        <p:spPr>
          <a:xfrm>
            <a:off x="7143939" y="2594407"/>
            <a:ext cx="2253304" cy="430887"/>
          </a:xfrm>
          <a:prstGeom prst="rect">
            <a:avLst/>
          </a:prstGeom>
          <a:noFill/>
        </p:spPr>
        <p:txBody>
          <a:bodyPr wrap="square" rtlCol="0">
            <a:spAutoFit/>
          </a:bodyPr>
          <a:lstStyle/>
          <a:p>
            <a:pPr algn="ctr"/>
            <a:r>
              <a:rPr lang="en-US" altLang="zh-CN" sz="2200" dirty="0" err="1"/>
              <a:t>Softmax</a:t>
            </a:r>
            <a:endParaRPr lang="en-US" altLang="zh-CN" sz="2200" dirty="0"/>
          </a:p>
        </p:txBody>
      </p:sp>
      <p:sp>
        <p:nvSpPr>
          <p:cNvPr id="41" name="TextBox 40">
            <a:extLst>
              <a:ext uri="{FF2B5EF4-FFF2-40B4-BE49-F238E27FC236}">
                <a16:creationId xmlns:a16="http://schemas.microsoft.com/office/drawing/2014/main" id="{3D9ECC93-B867-4E1A-9D16-1ABF90EB49AD}"/>
              </a:ext>
            </a:extLst>
          </p:cNvPr>
          <p:cNvSpPr txBox="1"/>
          <p:nvPr/>
        </p:nvSpPr>
        <p:spPr>
          <a:xfrm>
            <a:off x="6792807" y="4774189"/>
            <a:ext cx="763029" cy="430887"/>
          </a:xfrm>
          <a:prstGeom prst="rect">
            <a:avLst/>
          </a:prstGeom>
          <a:noFill/>
        </p:spPr>
        <p:txBody>
          <a:bodyPr wrap="square" rtlCol="0">
            <a:spAutoFit/>
          </a:bodyPr>
          <a:lstStyle/>
          <a:p>
            <a:pPr algn="r"/>
            <a:r>
              <a:rPr lang="en-US" altLang="zh-CN" sz="2200" dirty="0"/>
              <a:t>128</a:t>
            </a:r>
            <a:endParaRPr lang="zh-CN" altLang="en-US" sz="2200" dirty="0"/>
          </a:p>
        </p:txBody>
      </p:sp>
    </p:spTree>
    <p:custDataLst>
      <p:tags r:id="rId1"/>
    </p:custDataLst>
    <p:extLst>
      <p:ext uri="{BB962C8B-B14F-4D97-AF65-F5344CB8AC3E}">
        <p14:creationId xmlns:p14="http://schemas.microsoft.com/office/powerpoint/2010/main" val="21080977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12C0337-2372-4874-832E-C65462CFB34A}"/>
              </a:ext>
            </a:extLst>
          </p:cNvPr>
          <p:cNvSpPr txBox="1"/>
          <p:nvPr/>
        </p:nvSpPr>
        <p:spPr>
          <a:xfrm>
            <a:off x="381000" y="1828800"/>
            <a:ext cx="5695300" cy="4338638"/>
          </a:xfrm>
          <a:prstGeom prst="rect">
            <a:avLst/>
          </a:prstGeom>
          <a:noFill/>
          <a:ln>
            <a:solidFill>
              <a:schemeClr val="tx1"/>
            </a:solidFill>
            <a:prstDash val="dash"/>
          </a:ln>
        </p:spPr>
        <p:txBody>
          <a:bodyPr wrap="square" rtlCol="0" anchor="b">
            <a:noAutofit/>
          </a:bodyPr>
          <a:lstStyle/>
          <a:p>
            <a:r>
              <a:rPr lang="zh-CN" altLang="en-US" sz="2200" dirty="0"/>
              <a:t>特定应用：考虑了手写邮政编码图像特性</a:t>
            </a:r>
          </a:p>
        </p:txBody>
      </p:sp>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910267B0-F01C-4347-95CE-720DDB2F3B14}"/>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00D65888-FD5B-425E-A1AB-BE376F7D983E}"/>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13" name="Rectangle 12">
            <a:extLst>
              <a:ext uri="{FF2B5EF4-FFF2-40B4-BE49-F238E27FC236}">
                <a16:creationId xmlns:a16="http://schemas.microsoft.com/office/drawing/2014/main" id="{71A50ED8-29A3-4189-9ADE-A37597C7707B}"/>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7" name="TextBox 16">
            <a:extLst>
              <a:ext uri="{FF2B5EF4-FFF2-40B4-BE49-F238E27FC236}">
                <a16:creationId xmlns:a16="http://schemas.microsoft.com/office/drawing/2014/main" id="{9345D9B7-E78F-4CC7-87F0-457EF14D6FC0}"/>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B4CE4BED-8CE3-443C-B542-5B25E0092C59}"/>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B71EAAA4-6F0E-4DE5-93ED-7A8E134ED35C}"/>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20" name="Rectangle 19">
            <a:extLst>
              <a:ext uri="{FF2B5EF4-FFF2-40B4-BE49-F238E27FC236}">
                <a16:creationId xmlns:a16="http://schemas.microsoft.com/office/drawing/2014/main" id="{530E13A0-348E-4912-94E1-9F13EE7A445A}"/>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TextBox 21">
            <a:extLst>
              <a:ext uri="{FF2B5EF4-FFF2-40B4-BE49-F238E27FC236}">
                <a16:creationId xmlns:a16="http://schemas.microsoft.com/office/drawing/2014/main" id="{E7202E10-679E-444D-9573-2E6C240A0664}"/>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23" name="Cube 22">
            <a:extLst>
              <a:ext uri="{FF2B5EF4-FFF2-40B4-BE49-F238E27FC236}">
                <a16:creationId xmlns:a16="http://schemas.microsoft.com/office/drawing/2014/main" id="{FAB7361A-4276-4E02-B8B2-DABE86C069A4}"/>
              </a:ext>
            </a:extLst>
          </p:cNvPr>
          <p:cNvSpPr/>
          <p:nvPr/>
        </p:nvSpPr>
        <p:spPr bwMode="auto">
          <a:xfrm flipH="1">
            <a:off x="3744686" y="3096986"/>
            <a:ext cx="1186543" cy="1181101"/>
          </a:xfrm>
          <a:prstGeom prst="cube">
            <a:avLst>
              <a:gd name="adj" fmla="val 277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3734A376-85B3-4F9B-AB9D-101443F798CF}"/>
              </a:ext>
            </a:extLst>
          </p:cNvPr>
          <p:cNvSpPr txBox="1"/>
          <p:nvPr/>
        </p:nvSpPr>
        <p:spPr>
          <a:xfrm>
            <a:off x="3974783" y="4364270"/>
            <a:ext cx="1559574" cy="430887"/>
          </a:xfrm>
          <a:prstGeom prst="rect">
            <a:avLst/>
          </a:prstGeom>
          <a:noFill/>
        </p:spPr>
        <p:txBody>
          <a:bodyPr wrap="square" rtlCol="0">
            <a:spAutoFit/>
          </a:bodyPr>
          <a:lstStyle/>
          <a:p>
            <a:pPr algn="ctr"/>
            <a:r>
              <a:rPr lang="en-US" altLang="zh-CN" sz="2200" dirty="0"/>
              <a:t>12x12x64</a:t>
            </a:r>
            <a:endParaRPr lang="zh-CN" altLang="en-US" sz="2200" dirty="0"/>
          </a:p>
        </p:txBody>
      </p:sp>
      <p:sp>
        <p:nvSpPr>
          <p:cNvPr id="6" name="Rectangle 5">
            <a:extLst>
              <a:ext uri="{FF2B5EF4-FFF2-40B4-BE49-F238E27FC236}">
                <a16:creationId xmlns:a16="http://schemas.microsoft.com/office/drawing/2014/main" id="{96132B2D-102B-4F44-9B9F-4F4424530DBA}"/>
              </a:ext>
            </a:extLst>
          </p:cNvPr>
          <p:cNvSpPr/>
          <p:nvPr/>
        </p:nvSpPr>
        <p:spPr bwMode="auto">
          <a:xfrm>
            <a:off x="5751140" y="2626256"/>
            <a:ext cx="72581" cy="22429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TextBox 26">
            <a:extLst>
              <a:ext uri="{FF2B5EF4-FFF2-40B4-BE49-F238E27FC236}">
                <a16:creationId xmlns:a16="http://schemas.microsoft.com/office/drawing/2014/main" id="{4D099FD8-322A-42EE-8B7D-1E0F377F45D6}"/>
              </a:ext>
            </a:extLst>
          </p:cNvPr>
          <p:cNvSpPr txBox="1"/>
          <p:nvPr/>
        </p:nvSpPr>
        <p:spPr>
          <a:xfrm>
            <a:off x="4100604" y="4945058"/>
            <a:ext cx="2079171" cy="430887"/>
          </a:xfrm>
          <a:prstGeom prst="rect">
            <a:avLst/>
          </a:prstGeom>
          <a:noFill/>
        </p:spPr>
        <p:txBody>
          <a:bodyPr wrap="square" rtlCol="0">
            <a:spAutoFit/>
          </a:bodyPr>
          <a:lstStyle/>
          <a:p>
            <a:pPr algn="r"/>
            <a:r>
              <a:rPr lang="en-US" altLang="zh-CN" sz="2200" dirty="0"/>
              <a:t>2304</a:t>
            </a:r>
            <a:endParaRPr lang="zh-CN" altLang="en-US" sz="2200" dirty="0"/>
          </a:p>
        </p:txBody>
      </p:sp>
      <p:sp>
        <p:nvSpPr>
          <p:cNvPr id="30" name="Rectangle 29">
            <a:extLst>
              <a:ext uri="{FF2B5EF4-FFF2-40B4-BE49-F238E27FC236}">
                <a16:creationId xmlns:a16="http://schemas.microsoft.com/office/drawing/2014/main" id="{5AA39882-6767-4A68-BE38-9C2A922BDB98}"/>
              </a:ext>
            </a:extLst>
          </p:cNvPr>
          <p:cNvSpPr/>
          <p:nvPr/>
        </p:nvSpPr>
        <p:spPr bwMode="auto">
          <a:xfrm>
            <a:off x="7118888" y="3040200"/>
            <a:ext cx="72581" cy="144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1" name="TextBox 30">
            <a:extLst>
              <a:ext uri="{FF2B5EF4-FFF2-40B4-BE49-F238E27FC236}">
                <a16:creationId xmlns:a16="http://schemas.microsoft.com/office/drawing/2014/main" id="{92FE73EB-AE69-4B11-B0B1-6E9EF69A0C1C}"/>
              </a:ext>
            </a:extLst>
          </p:cNvPr>
          <p:cNvSpPr txBox="1"/>
          <p:nvPr/>
        </p:nvSpPr>
        <p:spPr>
          <a:xfrm>
            <a:off x="7796438" y="4255425"/>
            <a:ext cx="763029" cy="430887"/>
          </a:xfrm>
          <a:prstGeom prst="rect">
            <a:avLst/>
          </a:prstGeom>
          <a:noFill/>
        </p:spPr>
        <p:txBody>
          <a:bodyPr wrap="square" rtlCol="0">
            <a:spAutoFit/>
          </a:bodyPr>
          <a:lstStyle/>
          <a:p>
            <a:pPr algn="r"/>
            <a:r>
              <a:rPr lang="en-US" altLang="zh-CN" sz="2200" dirty="0"/>
              <a:t>0~9</a:t>
            </a:r>
            <a:endParaRPr lang="zh-CN" altLang="en-US" sz="2200" dirty="0"/>
          </a:p>
        </p:txBody>
      </p:sp>
      <p:sp>
        <p:nvSpPr>
          <p:cNvPr id="34" name="Rectangle 33">
            <a:extLst>
              <a:ext uri="{FF2B5EF4-FFF2-40B4-BE49-F238E27FC236}">
                <a16:creationId xmlns:a16="http://schemas.microsoft.com/office/drawing/2014/main" id="{0201FC8A-9840-46A0-B44B-5F52FBDC2469}"/>
              </a:ext>
            </a:extLst>
          </p:cNvPr>
          <p:cNvSpPr/>
          <p:nvPr/>
        </p:nvSpPr>
        <p:spPr bwMode="auto">
          <a:xfrm>
            <a:off x="8216155" y="3387732"/>
            <a:ext cx="72581" cy="72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1" name="TextBox 40">
            <a:extLst>
              <a:ext uri="{FF2B5EF4-FFF2-40B4-BE49-F238E27FC236}">
                <a16:creationId xmlns:a16="http://schemas.microsoft.com/office/drawing/2014/main" id="{3D9ECC93-B867-4E1A-9D16-1ABF90EB49AD}"/>
              </a:ext>
            </a:extLst>
          </p:cNvPr>
          <p:cNvSpPr txBox="1"/>
          <p:nvPr/>
        </p:nvSpPr>
        <p:spPr>
          <a:xfrm>
            <a:off x="6792807" y="4774189"/>
            <a:ext cx="763029" cy="430887"/>
          </a:xfrm>
          <a:prstGeom prst="rect">
            <a:avLst/>
          </a:prstGeom>
          <a:noFill/>
        </p:spPr>
        <p:txBody>
          <a:bodyPr wrap="square" rtlCol="0">
            <a:spAutoFit/>
          </a:bodyPr>
          <a:lstStyle/>
          <a:p>
            <a:pPr algn="r"/>
            <a:r>
              <a:rPr lang="en-US" altLang="zh-CN" sz="2200" dirty="0"/>
              <a:t>128</a:t>
            </a:r>
            <a:endParaRPr lang="zh-CN" altLang="en-US" sz="2200" dirty="0"/>
          </a:p>
        </p:txBody>
      </p:sp>
      <p:sp>
        <p:nvSpPr>
          <p:cNvPr id="5" name="TextBox 4">
            <a:extLst>
              <a:ext uri="{FF2B5EF4-FFF2-40B4-BE49-F238E27FC236}">
                <a16:creationId xmlns:a16="http://schemas.microsoft.com/office/drawing/2014/main" id="{17C62F9B-1B7E-F54F-F7BF-64C987F0306E}"/>
              </a:ext>
            </a:extLst>
          </p:cNvPr>
          <p:cNvSpPr txBox="1"/>
          <p:nvPr/>
        </p:nvSpPr>
        <p:spPr>
          <a:xfrm>
            <a:off x="6195480" y="2147595"/>
            <a:ext cx="1846816" cy="430887"/>
          </a:xfrm>
          <a:prstGeom prst="rect">
            <a:avLst/>
          </a:prstGeom>
          <a:noFill/>
        </p:spPr>
        <p:txBody>
          <a:bodyPr wrap="square" rtlCol="0">
            <a:spAutoFit/>
          </a:bodyPr>
          <a:lstStyle/>
          <a:p>
            <a:pPr algn="ctr"/>
            <a:r>
              <a:rPr lang="zh-CN" altLang="en-US" sz="2200" dirty="0"/>
              <a:t>多层感知器</a:t>
            </a:r>
            <a:endParaRPr lang="en-US" altLang="zh-CN" sz="2200" dirty="0"/>
          </a:p>
        </p:txBody>
      </p:sp>
      <p:sp>
        <p:nvSpPr>
          <p:cNvPr id="7" name="TextBox 6">
            <a:extLst>
              <a:ext uri="{FF2B5EF4-FFF2-40B4-BE49-F238E27FC236}">
                <a16:creationId xmlns:a16="http://schemas.microsoft.com/office/drawing/2014/main" id="{F8C48BB3-5AEF-9B8C-4B82-F24FC2A9AD44}"/>
              </a:ext>
            </a:extLst>
          </p:cNvPr>
          <p:cNvSpPr txBox="1"/>
          <p:nvPr/>
        </p:nvSpPr>
        <p:spPr>
          <a:xfrm>
            <a:off x="7143939" y="2594407"/>
            <a:ext cx="2253304" cy="430887"/>
          </a:xfrm>
          <a:prstGeom prst="rect">
            <a:avLst/>
          </a:prstGeom>
          <a:noFill/>
        </p:spPr>
        <p:txBody>
          <a:bodyPr wrap="square" rtlCol="0">
            <a:spAutoFit/>
          </a:bodyPr>
          <a:lstStyle/>
          <a:p>
            <a:pPr algn="ctr"/>
            <a:r>
              <a:rPr lang="en-US" altLang="zh-CN" sz="2200" dirty="0" err="1"/>
              <a:t>Softmax</a:t>
            </a:r>
            <a:endParaRPr lang="en-US" altLang="zh-CN" sz="2200" dirty="0"/>
          </a:p>
        </p:txBody>
      </p:sp>
      <p:sp>
        <p:nvSpPr>
          <p:cNvPr id="9" name="TextBox 8">
            <a:extLst>
              <a:ext uri="{FF2B5EF4-FFF2-40B4-BE49-F238E27FC236}">
                <a16:creationId xmlns:a16="http://schemas.microsoft.com/office/drawing/2014/main" id="{E730FD24-183E-29D0-A138-9B5CA3300B73}"/>
              </a:ext>
            </a:extLst>
          </p:cNvPr>
          <p:cNvSpPr txBox="1"/>
          <p:nvPr/>
        </p:nvSpPr>
        <p:spPr>
          <a:xfrm>
            <a:off x="0" y="1789529"/>
            <a:ext cx="1943101" cy="1107996"/>
          </a:xfrm>
          <a:prstGeom prst="rect">
            <a:avLst/>
          </a:prstGeom>
          <a:noFill/>
        </p:spPr>
        <p:txBody>
          <a:bodyPr wrap="square" rtlCol="0">
            <a:spAutoFit/>
          </a:bodyPr>
          <a:lstStyle/>
          <a:p>
            <a:pPr algn="ctr"/>
            <a:endParaRPr lang="en-US" altLang="zh-CN" sz="2200" dirty="0"/>
          </a:p>
          <a:p>
            <a:pPr algn="ctr"/>
            <a:r>
              <a:rPr lang="en-US" altLang="zh-CN" sz="2200" dirty="0"/>
              <a:t>32</a:t>
            </a:r>
            <a:r>
              <a:rPr lang="zh-CN" altLang="en-US" sz="2200" dirty="0"/>
              <a:t>个二</a:t>
            </a:r>
            <a:endParaRPr lang="en-US" altLang="zh-CN" sz="2200" dirty="0"/>
          </a:p>
          <a:p>
            <a:pPr algn="ctr"/>
            <a:r>
              <a:rPr lang="zh-CN" altLang="en-US" sz="2200" dirty="0"/>
              <a:t>维算子</a:t>
            </a:r>
          </a:p>
        </p:txBody>
      </p:sp>
      <p:sp>
        <p:nvSpPr>
          <p:cNvPr id="10" name="TextBox 9">
            <a:extLst>
              <a:ext uri="{FF2B5EF4-FFF2-40B4-BE49-F238E27FC236}">
                <a16:creationId xmlns:a16="http://schemas.microsoft.com/office/drawing/2014/main" id="{E696A99D-972B-D1F2-5D72-C8797783F8A5}"/>
              </a:ext>
            </a:extLst>
          </p:cNvPr>
          <p:cNvSpPr txBox="1"/>
          <p:nvPr/>
        </p:nvSpPr>
        <p:spPr>
          <a:xfrm>
            <a:off x="1593532" y="1674334"/>
            <a:ext cx="1943101" cy="1107996"/>
          </a:xfrm>
          <a:prstGeom prst="rect">
            <a:avLst/>
          </a:prstGeom>
          <a:noFill/>
        </p:spPr>
        <p:txBody>
          <a:bodyPr wrap="square" rtlCol="0">
            <a:spAutoFit/>
          </a:bodyPr>
          <a:lstStyle/>
          <a:p>
            <a:pPr algn="ctr"/>
            <a:endParaRPr lang="en-US" altLang="zh-CN" sz="2200" dirty="0"/>
          </a:p>
          <a:p>
            <a:pPr algn="ctr"/>
            <a:r>
              <a:rPr lang="en-US" altLang="zh-CN" sz="2200" dirty="0"/>
              <a:t>64</a:t>
            </a:r>
            <a:r>
              <a:rPr lang="zh-CN" altLang="en-US" sz="2200" dirty="0"/>
              <a:t>个三</a:t>
            </a:r>
            <a:endParaRPr lang="en-US" altLang="zh-CN" sz="2200" dirty="0"/>
          </a:p>
          <a:p>
            <a:pPr algn="ctr"/>
            <a:r>
              <a:rPr lang="zh-CN" altLang="en-US" sz="2200" dirty="0"/>
              <a:t>维算子</a:t>
            </a:r>
          </a:p>
        </p:txBody>
      </p:sp>
      <p:sp>
        <p:nvSpPr>
          <p:cNvPr id="12" name="TextBox 11">
            <a:extLst>
              <a:ext uri="{FF2B5EF4-FFF2-40B4-BE49-F238E27FC236}">
                <a16:creationId xmlns:a16="http://schemas.microsoft.com/office/drawing/2014/main" id="{66CE5661-3F5A-7CCB-25F4-8807A088D48C}"/>
              </a:ext>
            </a:extLst>
          </p:cNvPr>
          <p:cNvSpPr txBox="1"/>
          <p:nvPr/>
        </p:nvSpPr>
        <p:spPr>
          <a:xfrm>
            <a:off x="3496656" y="1859441"/>
            <a:ext cx="1643533" cy="1107996"/>
          </a:xfrm>
          <a:prstGeom prst="rect">
            <a:avLst/>
          </a:prstGeom>
          <a:noFill/>
        </p:spPr>
        <p:txBody>
          <a:bodyPr wrap="square" rtlCol="0">
            <a:spAutoFit/>
          </a:bodyPr>
          <a:lstStyle/>
          <a:p>
            <a:pPr algn="ctr"/>
            <a:r>
              <a:rPr lang="en-US" altLang="zh-CN" sz="2200" dirty="0"/>
              <a:t>2x2</a:t>
            </a:r>
          </a:p>
          <a:p>
            <a:pPr algn="ctr"/>
            <a:r>
              <a:rPr lang="zh-CN" altLang="en-US" sz="2200" dirty="0"/>
              <a:t>模式图</a:t>
            </a:r>
            <a:endParaRPr lang="en-US" altLang="zh-CN" sz="2200" dirty="0"/>
          </a:p>
          <a:p>
            <a:pPr algn="ctr"/>
            <a:r>
              <a:rPr lang="zh-CN" altLang="en-US" sz="2200" dirty="0"/>
              <a:t>降维采样</a:t>
            </a:r>
            <a:endParaRPr lang="en-US" altLang="zh-CN" sz="2200" dirty="0"/>
          </a:p>
        </p:txBody>
      </p:sp>
    </p:spTree>
    <p:custDataLst>
      <p:tags r:id="rId1"/>
    </p:custDataLst>
    <p:extLst>
      <p:ext uri="{BB962C8B-B14F-4D97-AF65-F5344CB8AC3E}">
        <p14:creationId xmlns:p14="http://schemas.microsoft.com/office/powerpoint/2010/main" val="60661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12C0337-2372-4874-832E-C65462CFB34A}"/>
              </a:ext>
            </a:extLst>
          </p:cNvPr>
          <p:cNvSpPr txBox="1"/>
          <p:nvPr/>
        </p:nvSpPr>
        <p:spPr>
          <a:xfrm>
            <a:off x="5430259" y="1532780"/>
            <a:ext cx="3170639" cy="4253167"/>
          </a:xfrm>
          <a:prstGeom prst="rect">
            <a:avLst/>
          </a:prstGeom>
          <a:noFill/>
          <a:ln>
            <a:solidFill>
              <a:schemeClr val="tx1"/>
            </a:solidFill>
            <a:prstDash val="dash"/>
          </a:ln>
        </p:spPr>
        <p:txBody>
          <a:bodyPr wrap="square" rtlCol="0" anchor="b">
            <a:noAutofit/>
          </a:bodyPr>
          <a:lstStyle/>
          <a:p>
            <a:r>
              <a:rPr lang="zh-CN" altLang="en-US" sz="2200" dirty="0"/>
              <a:t>通用</a:t>
            </a:r>
          </a:p>
        </p:txBody>
      </p:sp>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910267B0-F01C-4347-95CE-720DDB2F3B14}"/>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00D65888-FD5B-425E-A1AB-BE376F7D983E}"/>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13" name="Rectangle 12">
            <a:extLst>
              <a:ext uri="{FF2B5EF4-FFF2-40B4-BE49-F238E27FC236}">
                <a16:creationId xmlns:a16="http://schemas.microsoft.com/office/drawing/2014/main" id="{71A50ED8-29A3-4189-9ADE-A37597C7707B}"/>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7" name="TextBox 16">
            <a:extLst>
              <a:ext uri="{FF2B5EF4-FFF2-40B4-BE49-F238E27FC236}">
                <a16:creationId xmlns:a16="http://schemas.microsoft.com/office/drawing/2014/main" id="{9345D9B7-E78F-4CC7-87F0-457EF14D6FC0}"/>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B4CE4BED-8CE3-443C-B542-5B25E0092C59}"/>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B71EAAA4-6F0E-4DE5-93ED-7A8E134ED35C}"/>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20" name="Rectangle 19">
            <a:extLst>
              <a:ext uri="{FF2B5EF4-FFF2-40B4-BE49-F238E27FC236}">
                <a16:creationId xmlns:a16="http://schemas.microsoft.com/office/drawing/2014/main" id="{530E13A0-348E-4912-94E1-9F13EE7A445A}"/>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TextBox 21">
            <a:extLst>
              <a:ext uri="{FF2B5EF4-FFF2-40B4-BE49-F238E27FC236}">
                <a16:creationId xmlns:a16="http://schemas.microsoft.com/office/drawing/2014/main" id="{E7202E10-679E-444D-9573-2E6C240A0664}"/>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23" name="Cube 22">
            <a:extLst>
              <a:ext uri="{FF2B5EF4-FFF2-40B4-BE49-F238E27FC236}">
                <a16:creationId xmlns:a16="http://schemas.microsoft.com/office/drawing/2014/main" id="{FAB7361A-4276-4E02-B8B2-DABE86C069A4}"/>
              </a:ext>
            </a:extLst>
          </p:cNvPr>
          <p:cNvSpPr/>
          <p:nvPr/>
        </p:nvSpPr>
        <p:spPr bwMode="auto">
          <a:xfrm flipH="1">
            <a:off x="3744686" y="3096986"/>
            <a:ext cx="1186543" cy="1181101"/>
          </a:xfrm>
          <a:prstGeom prst="cube">
            <a:avLst>
              <a:gd name="adj" fmla="val 277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3734A376-85B3-4F9B-AB9D-101443F798CF}"/>
              </a:ext>
            </a:extLst>
          </p:cNvPr>
          <p:cNvSpPr txBox="1"/>
          <p:nvPr/>
        </p:nvSpPr>
        <p:spPr>
          <a:xfrm>
            <a:off x="3974783" y="4364270"/>
            <a:ext cx="1559574" cy="430887"/>
          </a:xfrm>
          <a:prstGeom prst="rect">
            <a:avLst/>
          </a:prstGeom>
          <a:noFill/>
        </p:spPr>
        <p:txBody>
          <a:bodyPr wrap="square" rtlCol="0">
            <a:spAutoFit/>
          </a:bodyPr>
          <a:lstStyle/>
          <a:p>
            <a:pPr algn="ctr"/>
            <a:r>
              <a:rPr lang="en-US" altLang="zh-CN" sz="2200" dirty="0"/>
              <a:t>12x12x64</a:t>
            </a:r>
            <a:endParaRPr lang="zh-CN" altLang="en-US" sz="2200" dirty="0"/>
          </a:p>
        </p:txBody>
      </p:sp>
      <p:sp>
        <p:nvSpPr>
          <p:cNvPr id="6" name="Rectangle 5">
            <a:extLst>
              <a:ext uri="{FF2B5EF4-FFF2-40B4-BE49-F238E27FC236}">
                <a16:creationId xmlns:a16="http://schemas.microsoft.com/office/drawing/2014/main" id="{96132B2D-102B-4F44-9B9F-4F4424530DBA}"/>
              </a:ext>
            </a:extLst>
          </p:cNvPr>
          <p:cNvSpPr/>
          <p:nvPr/>
        </p:nvSpPr>
        <p:spPr bwMode="auto">
          <a:xfrm>
            <a:off x="5751140" y="2626256"/>
            <a:ext cx="72581" cy="22429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TextBox 26">
            <a:extLst>
              <a:ext uri="{FF2B5EF4-FFF2-40B4-BE49-F238E27FC236}">
                <a16:creationId xmlns:a16="http://schemas.microsoft.com/office/drawing/2014/main" id="{4D099FD8-322A-42EE-8B7D-1E0F377F45D6}"/>
              </a:ext>
            </a:extLst>
          </p:cNvPr>
          <p:cNvSpPr txBox="1"/>
          <p:nvPr/>
        </p:nvSpPr>
        <p:spPr>
          <a:xfrm>
            <a:off x="4100604" y="4945058"/>
            <a:ext cx="2079171" cy="430887"/>
          </a:xfrm>
          <a:prstGeom prst="rect">
            <a:avLst/>
          </a:prstGeom>
          <a:noFill/>
        </p:spPr>
        <p:txBody>
          <a:bodyPr wrap="square" rtlCol="0">
            <a:spAutoFit/>
          </a:bodyPr>
          <a:lstStyle/>
          <a:p>
            <a:pPr algn="r"/>
            <a:r>
              <a:rPr lang="en-US" altLang="zh-CN" sz="2200" dirty="0"/>
              <a:t>2304</a:t>
            </a:r>
            <a:endParaRPr lang="zh-CN" altLang="en-US" sz="2200" dirty="0"/>
          </a:p>
        </p:txBody>
      </p:sp>
      <p:sp>
        <p:nvSpPr>
          <p:cNvPr id="30" name="Rectangle 29">
            <a:extLst>
              <a:ext uri="{FF2B5EF4-FFF2-40B4-BE49-F238E27FC236}">
                <a16:creationId xmlns:a16="http://schemas.microsoft.com/office/drawing/2014/main" id="{5AA39882-6767-4A68-BE38-9C2A922BDB98}"/>
              </a:ext>
            </a:extLst>
          </p:cNvPr>
          <p:cNvSpPr/>
          <p:nvPr/>
        </p:nvSpPr>
        <p:spPr bwMode="auto">
          <a:xfrm>
            <a:off x="7118888" y="3040200"/>
            <a:ext cx="72581" cy="144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1" name="TextBox 30">
            <a:extLst>
              <a:ext uri="{FF2B5EF4-FFF2-40B4-BE49-F238E27FC236}">
                <a16:creationId xmlns:a16="http://schemas.microsoft.com/office/drawing/2014/main" id="{92FE73EB-AE69-4B11-B0B1-6E9EF69A0C1C}"/>
              </a:ext>
            </a:extLst>
          </p:cNvPr>
          <p:cNvSpPr txBox="1"/>
          <p:nvPr/>
        </p:nvSpPr>
        <p:spPr>
          <a:xfrm>
            <a:off x="7796438" y="4255425"/>
            <a:ext cx="763029" cy="430887"/>
          </a:xfrm>
          <a:prstGeom prst="rect">
            <a:avLst/>
          </a:prstGeom>
          <a:noFill/>
        </p:spPr>
        <p:txBody>
          <a:bodyPr wrap="square" rtlCol="0">
            <a:spAutoFit/>
          </a:bodyPr>
          <a:lstStyle/>
          <a:p>
            <a:pPr algn="r"/>
            <a:r>
              <a:rPr lang="en-US" altLang="zh-CN" sz="2200" dirty="0"/>
              <a:t>0~9</a:t>
            </a:r>
            <a:endParaRPr lang="zh-CN" altLang="en-US" sz="2200" dirty="0"/>
          </a:p>
        </p:txBody>
      </p:sp>
      <p:sp>
        <p:nvSpPr>
          <p:cNvPr id="34" name="Rectangle 33">
            <a:extLst>
              <a:ext uri="{FF2B5EF4-FFF2-40B4-BE49-F238E27FC236}">
                <a16:creationId xmlns:a16="http://schemas.microsoft.com/office/drawing/2014/main" id="{0201FC8A-9840-46A0-B44B-5F52FBDC2469}"/>
              </a:ext>
            </a:extLst>
          </p:cNvPr>
          <p:cNvSpPr/>
          <p:nvPr/>
        </p:nvSpPr>
        <p:spPr bwMode="auto">
          <a:xfrm>
            <a:off x="8216155" y="3387732"/>
            <a:ext cx="72581" cy="72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1" name="TextBox 40">
            <a:extLst>
              <a:ext uri="{FF2B5EF4-FFF2-40B4-BE49-F238E27FC236}">
                <a16:creationId xmlns:a16="http://schemas.microsoft.com/office/drawing/2014/main" id="{3D9ECC93-B867-4E1A-9D16-1ABF90EB49AD}"/>
              </a:ext>
            </a:extLst>
          </p:cNvPr>
          <p:cNvSpPr txBox="1"/>
          <p:nvPr/>
        </p:nvSpPr>
        <p:spPr>
          <a:xfrm>
            <a:off x="6792807" y="4774189"/>
            <a:ext cx="763029" cy="430887"/>
          </a:xfrm>
          <a:prstGeom prst="rect">
            <a:avLst/>
          </a:prstGeom>
          <a:noFill/>
        </p:spPr>
        <p:txBody>
          <a:bodyPr wrap="square" rtlCol="0">
            <a:spAutoFit/>
          </a:bodyPr>
          <a:lstStyle/>
          <a:p>
            <a:pPr algn="r"/>
            <a:r>
              <a:rPr lang="en-US" altLang="zh-CN" sz="2200" dirty="0"/>
              <a:t>128</a:t>
            </a:r>
            <a:endParaRPr lang="zh-CN" altLang="en-US" sz="2200" dirty="0"/>
          </a:p>
        </p:txBody>
      </p:sp>
      <p:sp>
        <p:nvSpPr>
          <p:cNvPr id="5" name="TextBox 4">
            <a:extLst>
              <a:ext uri="{FF2B5EF4-FFF2-40B4-BE49-F238E27FC236}">
                <a16:creationId xmlns:a16="http://schemas.microsoft.com/office/drawing/2014/main" id="{143AADBE-AC8A-AA18-B92E-B15218B7283C}"/>
              </a:ext>
            </a:extLst>
          </p:cNvPr>
          <p:cNvSpPr txBox="1"/>
          <p:nvPr/>
        </p:nvSpPr>
        <p:spPr>
          <a:xfrm>
            <a:off x="6195480" y="2147595"/>
            <a:ext cx="1846816" cy="430887"/>
          </a:xfrm>
          <a:prstGeom prst="rect">
            <a:avLst/>
          </a:prstGeom>
          <a:noFill/>
        </p:spPr>
        <p:txBody>
          <a:bodyPr wrap="square" rtlCol="0">
            <a:spAutoFit/>
          </a:bodyPr>
          <a:lstStyle/>
          <a:p>
            <a:pPr algn="ctr"/>
            <a:r>
              <a:rPr lang="zh-CN" altLang="en-US" sz="2200" dirty="0"/>
              <a:t>多层感知器</a:t>
            </a:r>
            <a:endParaRPr lang="en-US" altLang="zh-CN" sz="2200" dirty="0"/>
          </a:p>
        </p:txBody>
      </p:sp>
      <p:sp>
        <p:nvSpPr>
          <p:cNvPr id="7" name="TextBox 6">
            <a:extLst>
              <a:ext uri="{FF2B5EF4-FFF2-40B4-BE49-F238E27FC236}">
                <a16:creationId xmlns:a16="http://schemas.microsoft.com/office/drawing/2014/main" id="{765393E8-8A2C-5995-5061-231754158C87}"/>
              </a:ext>
            </a:extLst>
          </p:cNvPr>
          <p:cNvSpPr txBox="1"/>
          <p:nvPr/>
        </p:nvSpPr>
        <p:spPr>
          <a:xfrm>
            <a:off x="7143939" y="2594407"/>
            <a:ext cx="2253304" cy="430887"/>
          </a:xfrm>
          <a:prstGeom prst="rect">
            <a:avLst/>
          </a:prstGeom>
          <a:noFill/>
        </p:spPr>
        <p:txBody>
          <a:bodyPr wrap="square" rtlCol="0">
            <a:spAutoFit/>
          </a:bodyPr>
          <a:lstStyle/>
          <a:p>
            <a:pPr algn="ctr"/>
            <a:r>
              <a:rPr lang="en-US" altLang="zh-CN" sz="2200" dirty="0" err="1"/>
              <a:t>Softmax</a:t>
            </a:r>
            <a:endParaRPr lang="en-US" altLang="zh-CN" sz="2200" dirty="0"/>
          </a:p>
        </p:txBody>
      </p:sp>
      <p:sp>
        <p:nvSpPr>
          <p:cNvPr id="9" name="TextBox 8">
            <a:extLst>
              <a:ext uri="{FF2B5EF4-FFF2-40B4-BE49-F238E27FC236}">
                <a16:creationId xmlns:a16="http://schemas.microsoft.com/office/drawing/2014/main" id="{736FD711-4C62-2D41-DF9F-A87694439DAA}"/>
              </a:ext>
            </a:extLst>
          </p:cNvPr>
          <p:cNvSpPr txBox="1"/>
          <p:nvPr/>
        </p:nvSpPr>
        <p:spPr>
          <a:xfrm>
            <a:off x="0" y="1789529"/>
            <a:ext cx="1943101" cy="1107996"/>
          </a:xfrm>
          <a:prstGeom prst="rect">
            <a:avLst/>
          </a:prstGeom>
          <a:noFill/>
        </p:spPr>
        <p:txBody>
          <a:bodyPr wrap="square" rtlCol="0">
            <a:spAutoFit/>
          </a:bodyPr>
          <a:lstStyle/>
          <a:p>
            <a:pPr algn="ctr"/>
            <a:endParaRPr lang="en-US" altLang="zh-CN" sz="2200" dirty="0"/>
          </a:p>
          <a:p>
            <a:pPr algn="ctr"/>
            <a:r>
              <a:rPr lang="en-US" altLang="zh-CN" sz="2200" dirty="0"/>
              <a:t>32</a:t>
            </a:r>
            <a:r>
              <a:rPr lang="zh-CN" altLang="en-US" sz="2200" dirty="0"/>
              <a:t>个二</a:t>
            </a:r>
            <a:endParaRPr lang="en-US" altLang="zh-CN" sz="2200" dirty="0"/>
          </a:p>
          <a:p>
            <a:pPr algn="ctr"/>
            <a:r>
              <a:rPr lang="zh-CN" altLang="en-US" sz="2200" dirty="0"/>
              <a:t>维算子</a:t>
            </a:r>
          </a:p>
        </p:txBody>
      </p:sp>
      <p:sp>
        <p:nvSpPr>
          <p:cNvPr id="10" name="TextBox 9">
            <a:extLst>
              <a:ext uri="{FF2B5EF4-FFF2-40B4-BE49-F238E27FC236}">
                <a16:creationId xmlns:a16="http://schemas.microsoft.com/office/drawing/2014/main" id="{0F0D8EFE-BF08-5D6C-8F0D-3C12534B53DA}"/>
              </a:ext>
            </a:extLst>
          </p:cNvPr>
          <p:cNvSpPr txBox="1"/>
          <p:nvPr/>
        </p:nvSpPr>
        <p:spPr>
          <a:xfrm>
            <a:off x="1593532" y="1674334"/>
            <a:ext cx="1943101" cy="1107996"/>
          </a:xfrm>
          <a:prstGeom prst="rect">
            <a:avLst/>
          </a:prstGeom>
          <a:noFill/>
        </p:spPr>
        <p:txBody>
          <a:bodyPr wrap="square" rtlCol="0">
            <a:spAutoFit/>
          </a:bodyPr>
          <a:lstStyle/>
          <a:p>
            <a:pPr algn="ctr"/>
            <a:endParaRPr lang="en-US" altLang="zh-CN" sz="2200" dirty="0"/>
          </a:p>
          <a:p>
            <a:pPr algn="ctr"/>
            <a:r>
              <a:rPr lang="en-US" altLang="zh-CN" sz="2200" dirty="0"/>
              <a:t>64</a:t>
            </a:r>
            <a:r>
              <a:rPr lang="zh-CN" altLang="en-US" sz="2200" dirty="0"/>
              <a:t>个三</a:t>
            </a:r>
            <a:endParaRPr lang="en-US" altLang="zh-CN" sz="2200" dirty="0"/>
          </a:p>
          <a:p>
            <a:pPr algn="ctr"/>
            <a:r>
              <a:rPr lang="zh-CN" altLang="en-US" sz="2200" dirty="0"/>
              <a:t>维算子</a:t>
            </a:r>
          </a:p>
        </p:txBody>
      </p:sp>
      <p:sp>
        <p:nvSpPr>
          <p:cNvPr id="12" name="TextBox 11">
            <a:extLst>
              <a:ext uri="{FF2B5EF4-FFF2-40B4-BE49-F238E27FC236}">
                <a16:creationId xmlns:a16="http://schemas.microsoft.com/office/drawing/2014/main" id="{1338C008-3293-4DAA-F61D-F529A550AC84}"/>
              </a:ext>
            </a:extLst>
          </p:cNvPr>
          <p:cNvSpPr txBox="1"/>
          <p:nvPr/>
        </p:nvSpPr>
        <p:spPr>
          <a:xfrm>
            <a:off x="3496656" y="1859441"/>
            <a:ext cx="1643533" cy="1107996"/>
          </a:xfrm>
          <a:prstGeom prst="rect">
            <a:avLst/>
          </a:prstGeom>
          <a:noFill/>
        </p:spPr>
        <p:txBody>
          <a:bodyPr wrap="square" rtlCol="0">
            <a:spAutoFit/>
          </a:bodyPr>
          <a:lstStyle/>
          <a:p>
            <a:pPr algn="ctr"/>
            <a:r>
              <a:rPr lang="en-US" altLang="zh-CN" sz="2200" dirty="0"/>
              <a:t>2x2</a:t>
            </a:r>
          </a:p>
          <a:p>
            <a:pPr algn="ctr"/>
            <a:r>
              <a:rPr lang="zh-CN" altLang="en-US" sz="2200" dirty="0"/>
              <a:t>模式图</a:t>
            </a:r>
            <a:endParaRPr lang="en-US" altLang="zh-CN" sz="2200" dirty="0"/>
          </a:p>
          <a:p>
            <a:pPr algn="ctr"/>
            <a:r>
              <a:rPr lang="zh-CN" altLang="en-US" sz="2200" dirty="0"/>
              <a:t>降维采样</a:t>
            </a:r>
            <a:endParaRPr lang="en-US" altLang="zh-CN" sz="2200" dirty="0"/>
          </a:p>
        </p:txBody>
      </p:sp>
    </p:spTree>
    <p:extLst>
      <p:ext uri="{BB962C8B-B14F-4D97-AF65-F5344CB8AC3E}">
        <p14:creationId xmlns:p14="http://schemas.microsoft.com/office/powerpoint/2010/main" val="10699964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77F89-4C35-F954-68EA-10D34F1A9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412F9-5866-9F8A-5742-5BD9FD761DA5}"/>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6C974C2E-6CA9-3269-5B08-2F60F04EFFCB}"/>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9E177C54-8A6B-F78F-4F3C-99BC38EA7705}"/>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13" name="Rectangle 12">
            <a:extLst>
              <a:ext uri="{FF2B5EF4-FFF2-40B4-BE49-F238E27FC236}">
                <a16:creationId xmlns:a16="http://schemas.microsoft.com/office/drawing/2014/main" id="{52446EF6-9AE2-D302-CDDF-83A8C3D6D5DB}"/>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7" name="TextBox 16">
            <a:extLst>
              <a:ext uri="{FF2B5EF4-FFF2-40B4-BE49-F238E27FC236}">
                <a16:creationId xmlns:a16="http://schemas.microsoft.com/office/drawing/2014/main" id="{EC6A43C9-36D7-18F4-C2C0-573388E45A1F}"/>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90709AD3-7C4E-4FF0-43B2-C453D9C01842}"/>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A07AE6A1-A138-D6C6-73B4-E97245F54DA1}"/>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20" name="Rectangle 19">
            <a:extLst>
              <a:ext uri="{FF2B5EF4-FFF2-40B4-BE49-F238E27FC236}">
                <a16:creationId xmlns:a16="http://schemas.microsoft.com/office/drawing/2014/main" id="{88754113-2C36-D219-A5C6-79FC3426B5E3}"/>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TextBox 21">
            <a:extLst>
              <a:ext uri="{FF2B5EF4-FFF2-40B4-BE49-F238E27FC236}">
                <a16:creationId xmlns:a16="http://schemas.microsoft.com/office/drawing/2014/main" id="{C7B1D48E-B08B-6B37-7717-6AAFDA8B2AF7}"/>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23" name="Cube 22">
            <a:extLst>
              <a:ext uri="{FF2B5EF4-FFF2-40B4-BE49-F238E27FC236}">
                <a16:creationId xmlns:a16="http://schemas.microsoft.com/office/drawing/2014/main" id="{217E2075-397E-DDC9-91EF-4A92DCFD4B30}"/>
              </a:ext>
            </a:extLst>
          </p:cNvPr>
          <p:cNvSpPr/>
          <p:nvPr/>
        </p:nvSpPr>
        <p:spPr bwMode="auto">
          <a:xfrm flipH="1">
            <a:off x="3744686" y="3096986"/>
            <a:ext cx="1186543" cy="1181101"/>
          </a:xfrm>
          <a:prstGeom prst="cube">
            <a:avLst>
              <a:gd name="adj" fmla="val 277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6BBAE4B0-6489-257B-C633-59E9EFF6B36F}"/>
              </a:ext>
            </a:extLst>
          </p:cNvPr>
          <p:cNvSpPr txBox="1"/>
          <p:nvPr/>
        </p:nvSpPr>
        <p:spPr>
          <a:xfrm>
            <a:off x="3974783" y="4364270"/>
            <a:ext cx="1559574" cy="430887"/>
          </a:xfrm>
          <a:prstGeom prst="rect">
            <a:avLst/>
          </a:prstGeom>
          <a:noFill/>
        </p:spPr>
        <p:txBody>
          <a:bodyPr wrap="square" rtlCol="0">
            <a:spAutoFit/>
          </a:bodyPr>
          <a:lstStyle/>
          <a:p>
            <a:pPr algn="ctr"/>
            <a:r>
              <a:rPr lang="en-US" altLang="zh-CN" sz="2200" dirty="0"/>
              <a:t>12x12x64</a:t>
            </a:r>
            <a:endParaRPr lang="zh-CN" altLang="en-US" sz="2200" dirty="0"/>
          </a:p>
        </p:txBody>
      </p:sp>
      <p:sp>
        <p:nvSpPr>
          <p:cNvPr id="6" name="Rectangle 5">
            <a:extLst>
              <a:ext uri="{FF2B5EF4-FFF2-40B4-BE49-F238E27FC236}">
                <a16:creationId xmlns:a16="http://schemas.microsoft.com/office/drawing/2014/main" id="{42B311AB-C775-00B9-EE18-EC5D1F303EA7}"/>
              </a:ext>
            </a:extLst>
          </p:cNvPr>
          <p:cNvSpPr/>
          <p:nvPr/>
        </p:nvSpPr>
        <p:spPr bwMode="auto">
          <a:xfrm>
            <a:off x="5751140" y="2626256"/>
            <a:ext cx="72581" cy="22429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TextBox 26">
            <a:extLst>
              <a:ext uri="{FF2B5EF4-FFF2-40B4-BE49-F238E27FC236}">
                <a16:creationId xmlns:a16="http://schemas.microsoft.com/office/drawing/2014/main" id="{F349B173-2A03-5BB1-9677-B296CB87FEC1}"/>
              </a:ext>
            </a:extLst>
          </p:cNvPr>
          <p:cNvSpPr txBox="1"/>
          <p:nvPr/>
        </p:nvSpPr>
        <p:spPr>
          <a:xfrm>
            <a:off x="4100604" y="4945058"/>
            <a:ext cx="2079171" cy="430887"/>
          </a:xfrm>
          <a:prstGeom prst="rect">
            <a:avLst/>
          </a:prstGeom>
          <a:noFill/>
        </p:spPr>
        <p:txBody>
          <a:bodyPr wrap="square" rtlCol="0">
            <a:spAutoFit/>
          </a:bodyPr>
          <a:lstStyle/>
          <a:p>
            <a:pPr algn="r"/>
            <a:r>
              <a:rPr lang="en-US" altLang="zh-CN" sz="2200" dirty="0"/>
              <a:t>2304</a:t>
            </a:r>
            <a:endParaRPr lang="zh-CN" altLang="en-US" sz="2200" dirty="0"/>
          </a:p>
        </p:txBody>
      </p:sp>
      <p:sp>
        <p:nvSpPr>
          <p:cNvPr id="30" name="Rectangle 29">
            <a:extLst>
              <a:ext uri="{FF2B5EF4-FFF2-40B4-BE49-F238E27FC236}">
                <a16:creationId xmlns:a16="http://schemas.microsoft.com/office/drawing/2014/main" id="{938959C7-9DB0-65F6-A746-043D3C02C291}"/>
              </a:ext>
            </a:extLst>
          </p:cNvPr>
          <p:cNvSpPr/>
          <p:nvPr/>
        </p:nvSpPr>
        <p:spPr bwMode="auto">
          <a:xfrm>
            <a:off x="7118888" y="3040200"/>
            <a:ext cx="72581" cy="144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1" name="TextBox 30">
            <a:extLst>
              <a:ext uri="{FF2B5EF4-FFF2-40B4-BE49-F238E27FC236}">
                <a16:creationId xmlns:a16="http://schemas.microsoft.com/office/drawing/2014/main" id="{9B256EC0-6234-8DAD-7C97-1F175DC7CEAA}"/>
              </a:ext>
            </a:extLst>
          </p:cNvPr>
          <p:cNvSpPr txBox="1"/>
          <p:nvPr/>
        </p:nvSpPr>
        <p:spPr>
          <a:xfrm>
            <a:off x="7796438" y="4255425"/>
            <a:ext cx="763029" cy="430887"/>
          </a:xfrm>
          <a:prstGeom prst="rect">
            <a:avLst/>
          </a:prstGeom>
          <a:noFill/>
        </p:spPr>
        <p:txBody>
          <a:bodyPr wrap="square" rtlCol="0">
            <a:spAutoFit/>
          </a:bodyPr>
          <a:lstStyle/>
          <a:p>
            <a:pPr algn="r"/>
            <a:r>
              <a:rPr lang="en-US" altLang="zh-CN" sz="2200" dirty="0"/>
              <a:t>0~9</a:t>
            </a:r>
            <a:endParaRPr lang="zh-CN" altLang="en-US" sz="2200" dirty="0"/>
          </a:p>
        </p:txBody>
      </p:sp>
      <p:sp>
        <p:nvSpPr>
          <p:cNvPr id="34" name="Rectangle 33">
            <a:extLst>
              <a:ext uri="{FF2B5EF4-FFF2-40B4-BE49-F238E27FC236}">
                <a16:creationId xmlns:a16="http://schemas.microsoft.com/office/drawing/2014/main" id="{FA5733C9-2B53-62FC-AB41-2F7EB6D6CCE9}"/>
              </a:ext>
            </a:extLst>
          </p:cNvPr>
          <p:cNvSpPr/>
          <p:nvPr/>
        </p:nvSpPr>
        <p:spPr bwMode="auto">
          <a:xfrm>
            <a:off x="8216155" y="3387732"/>
            <a:ext cx="72581" cy="72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1" name="TextBox 40">
            <a:extLst>
              <a:ext uri="{FF2B5EF4-FFF2-40B4-BE49-F238E27FC236}">
                <a16:creationId xmlns:a16="http://schemas.microsoft.com/office/drawing/2014/main" id="{906BDB0C-78FB-1681-6072-E7B947888E29}"/>
              </a:ext>
            </a:extLst>
          </p:cNvPr>
          <p:cNvSpPr txBox="1"/>
          <p:nvPr/>
        </p:nvSpPr>
        <p:spPr>
          <a:xfrm>
            <a:off x="6792807" y="4774189"/>
            <a:ext cx="763029" cy="430887"/>
          </a:xfrm>
          <a:prstGeom prst="rect">
            <a:avLst/>
          </a:prstGeom>
          <a:noFill/>
        </p:spPr>
        <p:txBody>
          <a:bodyPr wrap="square" rtlCol="0">
            <a:spAutoFit/>
          </a:bodyPr>
          <a:lstStyle/>
          <a:p>
            <a:pPr algn="r"/>
            <a:r>
              <a:rPr lang="en-US" altLang="zh-CN" sz="2200" dirty="0"/>
              <a:t>128</a:t>
            </a:r>
            <a:endParaRPr lang="zh-CN" altLang="en-US" sz="2200" dirty="0"/>
          </a:p>
        </p:txBody>
      </p:sp>
      <p:sp>
        <p:nvSpPr>
          <p:cNvPr id="5" name="TextBox 4">
            <a:extLst>
              <a:ext uri="{FF2B5EF4-FFF2-40B4-BE49-F238E27FC236}">
                <a16:creationId xmlns:a16="http://schemas.microsoft.com/office/drawing/2014/main" id="{DF0D2958-C6ED-0F3A-63FA-F1259503FEAA}"/>
              </a:ext>
            </a:extLst>
          </p:cNvPr>
          <p:cNvSpPr txBox="1"/>
          <p:nvPr/>
        </p:nvSpPr>
        <p:spPr>
          <a:xfrm>
            <a:off x="6195480" y="2147595"/>
            <a:ext cx="1846816" cy="430887"/>
          </a:xfrm>
          <a:prstGeom prst="rect">
            <a:avLst/>
          </a:prstGeom>
          <a:noFill/>
        </p:spPr>
        <p:txBody>
          <a:bodyPr wrap="square" rtlCol="0">
            <a:spAutoFit/>
          </a:bodyPr>
          <a:lstStyle/>
          <a:p>
            <a:pPr algn="ctr"/>
            <a:r>
              <a:rPr lang="zh-CN" altLang="en-US" sz="2200" dirty="0"/>
              <a:t>多层感知器</a:t>
            </a:r>
            <a:endParaRPr lang="en-US" altLang="zh-CN" sz="2200" dirty="0"/>
          </a:p>
        </p:txBody>
      </p:sp>
      <p:sp>
        <p:nvSpPr>
          <p:cNvPr id="7" name="TextBox 6">
            <a:extLst>
              <a:ext uri="{FF2B5EF4-FFF2-40B4-BE49-F238E27FC236}">
                <a16:creationId xmlns:a16="http://schemas.microsoft.com/office/drawing/2014/main" id="{EC5D48C8-24F7-14E7-0249-77043B3ADC04}"/>
              </a:ext>
            </a:extLst>
          </p:cNvPr>
          <p:cNvSpPr txBox="1"/>
          <p:nvPr/>
        </p:nvSpPr>
        <p:spPr>
          <a:xfrm>
            <a:off x="7143939" y="2594407"/>
            <a:ext cx="2253304" cy="430887"/>
          </a:xfrm>
          <a:prstGeom prst="rect">
            <a:avLst/>
          </a:prstGeom>
          <a:noFill/>
        </p:spPr>
        <p:txBody>
          <a:bodyPr wrap="square" rtlCol="0">
            <a:spAutoFit/>
          </a:bodyPr>
          <a:lstStyle/>
          <a:p>
            <a:pPr algn="ctr"/>
            <a:r>
              <a:rPr lang="en-US" altLang="zh-CN" sz="2200" dirty="0" err="1"/>
              <a:t>Softmax</a:t>
            </a:r>
            <a:endParaRPr lang="en-US" altLang="zh-CN" sz="2200" dirty="0"/>
          </a:p>
        </p:txBody>
      </p:sp>
      <p:sp>
        <p:nvSpPr>
          <p:cNvPr id="9" name="TextBox 8">
            <a:extLst>
              <a:ext uri="{FF2B5EF4-FFF2-40B4-BE49-F238E27FC236}">
                <a16:creationId xmlns:a16="http://schemas.microsoft.com/office/drawing/2014/main" id="{45BE1184-E791-92EB-0D6D-FE5B82ED276D}"/>
              </a:ext>
            </a:extLst>
          </p:cNvPr>
          <p:cNvSpPr txBox="1"/>
          <p:nvPr/>
        </p:nvSpPr>
        <p:spPr>
          <a:xfrm>
            <a:off x="0" y="1789529"/>
            <a:ext cx="1943101" cy="1107996"/>
          </a:xfrm>
          <a:prstGeom prst="rect">
            <a:avLst/>
          </a:prstGeom>
          <a:noFill/>
        </p:spPr>
        <p:txBody>
          <a:bodyPr wrap="square" rtlCol="0">
            <a:spAutoFit/>
          </a:bodyPr>
          <a:lstStyle/>
          <a:p>
            <a:pPr algn="ctr"/>
            <a:endParaRPr lang="en-US" altLang="zh-CN" sz="2200" dirty="0"/>
          </a:p>
          <a:p>
            <a:pPr algn="ctr"/>
            <a:r>
              <a:rPr lang="en-US" altLang="zh-CN" sz="2200" dirty="0"/>
              <a:t>32</a:t>
            </a:r>
            <a:r>
              <a:rPr lang="zh-CN" altLang="en-US" sz="2200" dirty="0"/>
              <a:t>个二</a:t>
            </a:r>
            <a:endParaRPr lang="en-US" altLang="zh-CN" sz="2200" dirty="0"/>
          </a:p>
          <a:p>
            <a:pPr algn="ctr"/>
            <a:r>
              <a:rPr lang="zh-CN" altLang="en-US" sz="2200" dirty="0"/>
              <a:t>维算子</a:t>
            </a:r>
          </a:p>
        </p:txBody>
      </p:sp>
      <p:sp>
        <p:nvSpPr>
          <p:cNvPr id="10" name="TextBox 9">
            <a:extLst>
              <a:ext uri="{FF2B5EF4-FFF2-40B4-BE49-F238E27FC236}">
                <a16:creationId xmlns:a16="http://schemas.microsoft.com/office/drawing/2014/main" id="{E58F769C-295E-AF7B-2064-402CEDEA4F11}"/>
              </a:ext>
            </a:extLst>
          </p:cNvPr>
          <p:cNvSpPr txBox="1"/>
          <p:nvPr/>
        </p:nvSpPr>
        <p:spPr>
          <a:xfrm>
            <a:off x="1593532" y="1674334"/>
            <a:ext cx="1943101" cy="1107996"/>
          </a:xfrm>
          <a:prstGeom prst="rect">
            <a:avLst/>
          </a:prstGeom>
          <a:noFill/>
        </p:spPr>
        <p:txBody>
          <a:bodyPr wrap="square" rtlCol="0">
            <a:spAutoFit/>
          </a:bodyPr>
          <a:lstStyle/>
          <a:p>
            <a:pPr algn="ctr"/>
            <a:endParaRPr lang="en-US" altLang="zh-CN" sz="2200" dirty="0"/>
          </a:p>
          <a:p>
            <a:pPr algn="ctr"/>
            <a:r>
              <a:rPr lang="en-US" altLang="zh-CN" sz="2200" dirty="0"/>
              <a:t>64</a:t>
            </a:r>
            <a:r>
              <a:rPr lang="zh-CN" altLang="en-US" sz="2200" dirty="0"/>
              <a:t>个三</a:t>
            </a:r>
            <a:endParaRPr lang="en-US" altLang="zh-CN" sz="2200" dirty="0"/>
          </a:p>
          <a:p>
            <a:pPr algn="ctr"/>
            <a:r>
              <a:rPr lang="zh-CN" altLang="en-US" sz="2200" dirty="0"/>
              <a:t>维算子</a:t>
            </a:r>
          </a:p>
        </p:txBody>
      </p:sp>
      <p:sp>
        <p:nvSpPr>
          <p:cNvPr id="12" name="TextBox 11">
            <a:extLst>
              <a:ext uri="{FF2B5EF4-FFF2-40B4-BE49-F238E27FC236}">
                <a16:creationId xmlns:a16="http://schemas.microsoft.com/office/drawing/2014/main" id="{1A3F44FD-C13C-F71E-D2B2-FF5D2082CFBF}"/>
              </a:ext>
            </a:extLst>
          </p:cNvPr>
          <p:cNvSpPr txBox="1"/>
          <p:nvPr/>
        </p:nvSpPr>
        <p:spPr>
          <a:xfrm>
            <a:off x="3496656" y="1859441"/>
            <a:ext cx="1643533" cy="1107996"/>
          </a:xfrm>
          <a:prstGeom prst="rect">
            <a:avLst/>
          </a:prstGeom>
          <a:noFill/>
        </p:spPr>
        <p:txBody>
          <a:bodyPr wrap="square" rtlCol="0">
            <a:spAutoFit/>
          </a:bodyPr>
          <a:lstStyle/>
          <a:p>
            <a:pPr algn="ctr"/>
            <a:r>
              <a:rPr lang="en-US" altLang="zh-CN" sz="2200" dirty="0"/>
              <a:t>2x2</a:t>
            </a:r>
          </a:p>
          <a:p>
            <a:pPr algn="ctr"/>
            <a:r>
              <a:rPr lang="zh-CN" altLang="en-US" sz="2200" dirty="0"/>
              <a:t>模式图</a:t>
            </a:r>
            <a:endParaRPr lang="en-US" altLang="zh-CN" sz="2200" dirty="0"/>
          </a:p>
          <a:p>
            <a:pPr algn="ctr"/>
            <a:r>
              <a:rPr lang="zh-CN" altLang="en-US" sz="2200" dirty="0"/>
              <a:t>降维采样</a:t>
            </a:r>
            <a:endParaRPr lang="en-US" altLang="zh-CN" sz="2200" dirty="0"/>
          </a:p>
        </p:txBody>
      </p:sp>
      <p:sp>
        <p:nvSpPr>
          <p:cNvPr id="4" name="TextBox 3">
            <a:extLst>
              <a:ext uri="{FF2B5EF4-FFF2-40B4-BE49-F238E27FC236}">
                <a16:creationId xmlns:a16="http://schemas.microsoft.com/office/drawing/2014/main" id="{5B7A3BA1-BDDD-A8F9-33BF-D3E849FA148C}"/>
              </a:ext>
            </a:extLst>
          </p:cNvPr>
          <p:cNvSpPr txBox="1"/>
          <p:nvPr/>
        </p:nvSpPr>
        <p:spPr>
          <a:xfrm>
            <a:off x="0" y="5555159"/>
            <a:ext cx="8915400" cy="430887"/>
          </a:xfrm>
          <a:prstGeom prst="rect">
            <a:avLst/>
          </a:prstGeom>
          <a:noFill/>
        </p:spPr>
        <p:txBody>
          <a:bodyPr wrap="square" rtlCol="0">
            <a:spAutoFit/>
          </a:bodyPr>
          <a:lstStyle/>
          <a:p>
            <a:pPr algn="ctr"/>
            <a:r>
              <a:rPr lang="zh-CN" altLang="en-US" sz="2200" dirty="0"/>
              <a:t>前向计算损失</a:t>
            </a:r>
          </a:p>
        </p:txBody>
      </p:sp>
      <p:cxnSp>
        <p:nvCxnSpPr>
          <p:cNvPr id="16" name="Straight Arrow Connector 15">
            <a:extLst>
              <a:ext uri="{FF2B5EF4-FFF2-40B4-BE49-F238E27FC236}">
                <a16:creationId xmlns:a16="http://schemas.microsoft.com/office/drawing/2014/main" id="{8490A310-D37E-4381-E482-23D2BAF304D5}"/>
              </a:ext>
            </a:extLst>
          </p:cNvPr>
          <p:cNvCxnSpPr>
            <a:cxnSpLocks/>
          </p:cNvCxnSpPr>
          <p:nvPr/>
        </p:nvCxnSpPr>
        <p:spPr bwMode="auto">
          <a:xfrm>
            <a:off x="3194155" y="5410631"/>
            <a:ext cx="29337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B16C69-8F6B-F3FD-F28A-367EA5D459EF}"/>
                  </a:ext>
                </a:extLst>
              </p:cNvPr>
              <p:cNvSpPr txBox="1"/>
              <p:nvPr/>
            </p:nvSpPr>
            <p:spPr>
              <a:xfrm>
                <a:off x="1096963" y="5205076"/>
                <a:ext cx="1846816" cy="45986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sz="2200" i="1" smtClean="0">
                              <a:latin typeface="Cambria Math" panose="02040503050406030204" pitchFamily="18" charset="0"/>
                            </a:rPr>
                          </m:ctrlPr>
                        </m:sSupPr>
                        <m:e>
                          <m:r>
                            <a:rPr lang="en-US" altLang="zh-CN" sz="2200" b="1" i="0" smtClean="0">
                              <a:latin typeface="Cambria Math" panose="02040503050406030204" pitchFamily="18" charset="0"/>
                            </a:rPr>
                            <m:t>𝐱</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m:t>
                      </m:r>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𝑦</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𝑖</m:t>
                          </m:r>
                          <m:r>
                            <a:rPr lang="en-US" altLang="zh-CN" sz="2200" b="0" i="1" smtClean="0">
                              <a:latin typeface="Cambria Math" panose="02040503050406030204" pitchFamily="18" charset="0"/>
                            </a:rPr>
                            <m:t>)</m:t>
                          </m:r>
                        </m:sup>
                      </m:sSup>
                    </m:oMath>
                  </m:oMathPara>
                </a14:m>
                <a:endParaRPr lang="zh-CN" altLang="en-US" sz="2200" dirty="0"/>
              </a:p>
            </p:txBody>
          </p:sp>
        </mc:Choice>
        <mc:Fallback xmlns="">
          <p:sp>
            <p:nvSpPr>
              <p:cNvPr id="18" name="TextBox 17">
                <a:extLst>
                  <a:ext uri="{FF2B5EF4-FFF2-40B4-BE49-F238E27FC236}">
                    <a16:creationId xmlns:a16="http://schemas.microsoft.com/office/drawing/2014/main" id="{43B16C69-8F6B-F3FD-F28A-367EA5D459EF}"/>
                  </a:ext>
                </a:extLst>
              </p:cNvPr>
              <p:cNvSpPr txBox="1">
                <a:spLocks noRot="1" noChangeAspect="1" noMove="1" noResize="1" noEditPoints="1" noAdjustHandles="1" noChangeArrowheads="1" noChangeShapeType="1" noTextEdit="1"/>
              </p:cNvSpPr>
              <p:nvPr/>
            </p:nvSpPr>
            <p:spPr>
              <a:xfrm>
                <a:off x="1096963" y="5205076"/>
                <a:ext cx="1846816" cy="459869"/>
              </a:xfrm>
              <a:prstGeom prst="rect">
                <a:avLst/>
              </a:prstGeom>
              <a:blipFill>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34F3654-55D4-A609-E31C-8E1F8511D03B}"/>
                  </a:ext>
                </a:extLst>
              </p:cNvPr>
              <p:cNvSpPr txBox="1"/>
              <p:nvPr/>
            </p:nvSpPr>
            <p:spPr>
              <a:xfrm>
                <a:off x="6632428" y="5180696"/>
                <a:ext cx="1846816" cy="45986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rPr>
                        <m:t>−</m:t>
                      </m:r>
                      <m:r>
                        <m:rPr>
                          <m:sty m:val="p"/>
                        </m:rPr>
                        <a:rPr lang="en-US" altLang="zh-CN" sz="2200" b="0" i="0" smtClean="0">
                          <a:latin typeface="Cambria Math" panose="02040503050406030204" pitchFamily="18" charset="0"/>
                        </a:rPr>
                        <m:t>log</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𝑃</m:t>
                      </m:r>
                      <m:sSup>
                        <m:sSupPr>
                          <m:ctrlPr>
                            <a:rPr lang="en-US" altLang="zh-CN" sz="2200" i="1">
                              <a:latin typeface="Cambria Math" panose="02040503050406030204" pitchFamily="18" charset="0"/>
                            </a:rPr>
                          </m:ctrlPr>
                        </m:sSupPr>
                        <m:e>
                          <m:r>
                            <a:rPr lang="en-US" altLang="zh-CN" sz="2200" b="0" i="1" smtClean="0">
                              <a:latin typeface="Cambria Math" panose="02040503050406030204" pitchFamily="18" charset="0"/>
                            </a:rPr>
                            <m:t>(</m:t>
                          </m:r>
                          <m:r>
                            <a:rPr lang="en-US" altLang="zh-CN" sz="2200" i="1">
                              <a:latin typeface="Cambria Math" panose="02040503050406030204" pitchFamily="18" charset="0"/>
                            </a:rPr>
                            <m:t>𝑦</m:t>
                          </m:r>
                        </m:e>
                        <m:sup>
                          <m:d>
                            <m:dPr>
                              <m:ctrlPr>
                                <a:rPr lang="en-US" altLang="zh-CN" sz="2200" i="1">
                                  <a:latin typeface="Cambria Math" panose="02040503050406030204" pitchFamily="18" charset="0"/>
                                </a:rPr>
                              </m:ctrlPr>
                            </m:dPr>
                            <m:e>
                              <m:r>
                                <a:rPr lang="en-US" altLang="zh-CN" sz="2200" i="1">
                                  <a:latin typeface="Cambria Math" panose="02040503050406030204" pitchFamily="18" charset="0"/>
                                </a:rPr>
                                <m:t>𝑖</m:t>
                              </m:r>
                            </m:e>
                          </m:d>
                        </m:sup>
                      </m:sSup>
                      <m:r>
                        <a:rPr lang="en-US" altLang="zh-CN" sz="2200" b="0" i="1" smtClean="0">
                          <a:latin typeface="Cambria Math" panose="02040503050406030204" pitchFamily="18" charset="0"/>
                        </a:rPr>
                        <m:t>|</m:t>
                      </m:r>
                      <m:sSup>
                        <m:sSupPr>
                          <m:ctrlPr>
                            <a:rPr lang="en-US" altLang="zh-CN" sz="2200" i="1" smtClean="0">
                              <a:latin typeface="Cambria Math" panose="02040503050406030204" pitchFamily="18" charset="0"/>
                            </a:rPr>
                          </m:ctrlPr>
                        </m:sSupPr>
                        <m:e>
                          <m:r>
                            <a:rPr lang="en-US" altLang="zh-CN" sz="2200" b="1" i="0" smtClean="0">
                              <a:latin typeface="Cambria Math" panose="02040503050406030204" pitchFamily="18" charset="0"/>
                            </a:rPr>
                            <m:t>𝐱</m:t>
                          </m:r>
                        </m:e>
                        <m:sup>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𝑖</m:t>
                              </m:r>
                            </m:e>
                          </m:d>
                        </m:sup>
                      </m:sSup>
                      <m:r>
                        <a:rPr lang="en-US" altLang="zh-CN" sz="2200" b="0" i="1" smtClean="0">
                          <a:latin typeface="Cambria Math" panose="02040503050406030204" pitchFamily="18" charset="0"/>
                        </a:rPr>
                        <m:t>)</m:t>
                      </m:r>
                    </m:oMath>
                  </m:oMathPara>
                </a14:m>
                <a:endParaRPr lang="zh-CN" altLang="en-US" sz="2200" dirty="0"/>
              </a:p>
            </p:txBody>
          </p:sp>
        </mc:Choice>
        <mc:Fallback xmlns="">
          <p:sp>
            <p:nvSpPr>
              <p:cNvPr id="19" name="TextBox 18">
                <a:extLst>
                  <a:ext uri="{FF2B5EF4-FFF2-40B4-BE49-F238E27FC236}">
                    <a16:creationId xmlns:a16="http://schemas.microsoft.com/office/drawing/2014/main" id="{234F3654-55D4-A609-E31C-8E1F8511D03B}"/>
                  </a:ext>
                </a:extLst>
              </p:cNvPr>
              <p:cNvSpPr txBox="1">
                <a:spLocks noRot="1" noChangeAspect="1" noMove="1" noResize="1" noEditPoints="1" noAdjustHandles="1" noChangeArrowheads="1" noChangeShapeType="1" noTextEdit="1"/>
              </p:cNvSpPr>
              <p:nvPr/>
            </p:nvSpPr>
            <p:spPr>
              <a:xfrm>
                <a:off x="6632428" y="5180696"/>
                <a:ext cx="1846816" cy="459869"/>
              </a:xfrm>
              <a:prstGeom prst="rect">
                <a:avLst/>
              </a:prstGeom>
              <a:blipFill>
                <a:blip r:embed="rId4"/>
                <a:stretch>
                  <a:fillRect l="-7921" r="-8251" b="-14667"/>
                </a:stretch>
              </a:blipFill>
            </p:spPr>
            <p:txBody>
              <a:bodyPr/>
              <a:lstStyle/>
              <a:p>
                <a:r>
                  <a:rPr lang="en-US">
                    <a:noFill/>
                  </a:rPr>
                  <a:t> </a:t>
                </a:r>
              </a:p>
            </p:txBody>
          </p:sp>
        </mc:Fallback>
      </mc:AlternateContent>
    </p:spTree>
    <p:extLst>
      <p:ext uri="{BB962C8B-B14F-4D97-AF65-F5344CB8AC3E}">
        <p14:creationId xmlns:p14="http://schemas.microsoft.com/office/powerpoint/2010/main" val="324172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D1ED1-B3D3-90DB-6366-9CF70D77E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4CB87-7324-BCE1-25E4-B247FC1AE3BD}"/>
              </a:ext>
            </a:extLst>
          </p:cNvPr>
          <p:cNvSpPr>
            <a:spLocks noGrp="1"/>
          </p:cNvSpPr>
          <p:nvPr>
            <p:ph type="title"/>
          </p:nvPr>
        </p:nvSpPr>
        <p:spPr/>
        <p:txBody>
          <a:bodyPr/>
          <a:lstStyle/>
          <a:p>
            <a:r>
              <a:rPr lang="zh-CN" altLang="en-US" dirty="0">
                <a:ea typeface="ＭＳ Ｐゴシック" panose="020B0600070205080204" pitchFamily="34" charset="-128"/>
              </a:rPr>
              <a:t>用于</a:t>
            </a:r>
            <a:r>
              <a:rPr lang="en-US" altLang="zh-CN" dirty="0">
                <a:ea typeface="ＭＳ Ｐゴシック" panose="020B0600070205080204" pitchFamily="34" charset="-128"/>
              </a:rPr>
              <a:t>USPS</a:t>
            </a:r>
            <a:r>
              <a:rPr lang="zh-CN" altLang="en-US" dirty="0">
                <a:ea typeface="ＭＳ Ｐゴシック" panose="020B0600070205080204" pitchFamily="34" charset="-128"/>
              </a:rPr>
              <a:t>的复杂神经网络</a:t>
            </a:r>
            <a:endParaRPr lang="zh-CN" altLang="en-US" dirty="0"/>
          </a:p>
        </p:txBody>
      </p:sp>
      <p:sp>
        <p:nvSpPr>
          <p:cNvPr id="3" name="Rectangle 2">
            <a:extLst>
              <a:ext uri="{FF2B5EF4-FFF2-40B4-BE49-F238E27FC236}">
                <a16:creationId xmlns:a16="http://schemas.microsoft.com/office/drawing/2014/main" id="{296336F5-45B5-B99F-3906-57202FC7A6E0}"/>
              </a:ext>
            </a:extLst>
          </p:cNvPr>
          <p:cNvSpPr/>
          <p:nvPr/>
        </p:nvSpPr>
        <p:spPr bwMode="auto">
          <a:xfrm>
            <a:off x="381000" y="3387328"/>
            <a:ext cx="1163637" cy="1069181"/>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1" name="TextBox 10">
            <a:extLst>
              <a:ext uri="{FF2B5EF4-FFF2-40B4-BE49-F238E27FC236}">
                <a16:creationId xmlns:a16="http://schemas.microsoft.com/office/drawing/2014/main" id="{53D1DAE0-889E-7E66-1A14-C2C26FCEB5E9}"/>
              </a:ext>
            </a:extLst>
          </p:cNvPr>
          <p:cNvSpPr txBox="1"/>
          <p:nvPr/>
        </p:nvSpPr>
        <p:spPr>
          <a:xfrm>
            <a:off x="381000" y="4621789"/>
            <a:ext cx="1152525" cy="430887"/>
          </a:xfrm>
          <a:prstGeom prst="rect">
            <a:avLst/>
          </a:prstGeom>
          <a:noFill/>
        </p:spPr>
        <p:txBody>
          <a:bodyPr wrap="square" rtlCol="0">
            <a:spAutoFit/>
          </a:bodyPr>
          <a:lstStyle/>
          <a:p>
            <a:pPr algn="ctr"/>
            <a:r>
              <a:rPr lang="en-US" altLang="zh-CN" sz="2200" dirty="0"/>
              <a:t>16x16</a:t>
            </a:r>
            <a:endParaRPr lang="zh-CN" altLang="en-US" sz="2200" dirty="0"/>
          </a:p>
        </p:txBody>
      </p:sp>
      <p:sp>
        <p:nvSpPr>
          <p:cNvPr id="13" name="Rectangle 12">
            <a:extLst>
              <a:ext uri="{FF2B5EF4-FFF2-40B4-BE49-F238E27FC236}">
                <a16:creationId xmlns:a16="http://schemas.microsoft.com/office/drawing/2014/main" id="{2F2B9B1B-548E-1EC5-28B2-FF02CF5336E4}"/>
              </a:ext>
            </a:extLst>
          </p:cNvPr>
          <p:cNvSpPr/>
          <p:nvPr/>
        </p:nvSpPr>
        <p:spPr bwMode="auto">
          <a:xfrm>
            <a:off x="2295525" y="3435977"/>
            <a:ext cx="990600" cy="956073"/>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7" name="TextBox 16">
            <a:extLst>
              <a:ext uri="{FF2B5EF4-FFF2-40B4-BE49-F238E27FC236}">
                <a16:creationId xmlns:a16="http://schemas.microsoft.com/office/drawing/2014/main" id="{BB89311D-42B4-7329-AE75-E8238FE63A9C}"/>
              </a:ext>
            </a:extLst>
          </p:cNvPr>
          <p:cNvSpPr txBox="1"/>
          <p:nvPr/>
        </p:nvSpPr>
        <p:spPr>
          <a:xfrm>
            <a:off x="1988821" y="4458558"/>
            <a:ext cx="1152525" cy="430887"/>
          </a:xfrm>
          <a:prstGeom prst="rect">
            <a:avLst/>
          </a:prstGeom>
          <a:noFill/>
        </p:spPr>
        <p:txBody>
          <a:bodyPr wrap="square" rtlCol="0">
            <a:spAutoFit/>
          </a:bodyPr>
          <a:lstStyle/>
          <a:p>
            <a:pPr algn="ctr"/>
            <a:r>
              <a:rPr lang="en-US" altLang="zh-CN" sz="2200" dirty="0"/>
              <a:t>14x14</a:t>
            </a:r>
            <a:endParaRPr lang="zh-CN" altLang="en-US" sz="2200" dirty="0"/>
          </a:p>
        </p:txBody>
      </p:sp>
      <p:sp>
        <p:nvSpPr>
          <p:cNvPr id="14" name="Cube 13">
            <a:extLst>
              <a:ext uri="{FF2B5EF4-FFF2-40B4-BE49-F238E27FC236}">
                <a16:creationId xmlns:a16="http://schemas.microsoft.com/office/drawing/2014/main" id="{0882FF04-3473-F416-04C5-2C9E4F2CD3D3}"/>
              </a:ext>
            </a:extLst>
          </p:cNvPr>
          <p:cNvSpPr/>
          <p:nvPr/>
        </p:nvSpPr>
        <p:spPr bwMode="auto">
          <a:xfrm flipH="1">
            <a:off x="1981201" y="3121880"/>
            <a:ext cx="1304923" cy="1270169"/>
          </a:xfrm>
          <a:prstGeom prst="cube">
            <a:avLst>
              <a:gd name="adj" fmla="val 24902"/>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15" name="TextBox 14">
            <a:extLst>
              <a:ext uri="{FF2B5EF4-FFF2-40B4-BE49-F238E27FC236}">
                <a16:creationId xmlns:a16="http://schemas.microsoft.com/office/drawing/2014/main" id="{76B74CD7-FB6C-3DD3-404C-654B9A2FEDB4}"/>
              </a:ext>
            </a:extLst>
          </p:cNvPr>
          <p:cNvSpPr txBox="1"/>
          <p:nvPr/>
        </p:nvSpPr>
        <p:spPr>
          <a:xfrm>
            <a:off x="1981200" y="4458558"/>
            <a:ext cx="1671639" cy="430887"/>
          </a:xfrm>
          <a:prstGeom prst="rect">
            <a:avLst/>
          </a:prstGeom>
          <a:noFill/>
        </p:spPr>
        <p:txBody>
          <a:bodyPr wrap="square" rtlCol="0">
            <a:spAutoFit/>
          </a:bodyPr>
          <a:lstStyle/>
          <a:p>
            <a:pPr algn="ctr"/>
            <a:r>
              <a:rPr lang="en-US" altLang="zh-CN" sz="2200" dirty="0"/>
              <a:t>14x14x32</a:t>
            </a:r>
            <a:endParaRPr lang="zh-CN" altLang="en-US" sz="2200" dirty="0"/>
          </a:p>
        </p:txBody>
      </p:sp>
      <p:sp>
        <p:nvSpPr>
          <p:cNvPr id="20" name="Rectangle 19">
            <a:extLst>
              <a:ext uri="{FF2B5EF4-FFF2-40B4-BE49-F238E27FC236}">
                <a16:creationId xmlns:a16="http://schemas.microsoft.com/office/drawing/2014/main" id="{F30029C3-7D59-B131-B824-3945DF79D57D}"/>
              </a:ext>
            </a:extLst>
          </p:cNvPr>
          <p:cNvSpPr/>
          <p:nvPr/>
        </p:nvSpPr>
        <p:spPr bwMode="auto">
          <a:xfrm>
            <a:off x="4071143" y="3429000"/>
            <a:ext cx="863311" cy="85898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2" name="TextBox 21">
            <a:extLst>
              <a:ext uri="{FF2B5EF4-FFF2-40B4-BE49-F238E27FC236}">
                <a16:creationId xmlns:a16="http://schemas.microsoft.com/office/drawing/2014/main" id="{E8B06CED-785D-24FC-58C6-9D339C2FCD51}"/>
              </a:ext>
            </a:extLst>
          </p:cNvPr>
          <p:cNvSpPr txBox="1"/>
          <p:nvPr/>
        </p:nvSpPr>
        <p:spPr>
          <a:xfrm>
            <a:off x="4007499" y="4364788"/>
            <a:ext cx="990600" cy="430887"/>
          </a:xfrm>
          <a:prstGeom prst="rect">
            <a:avLst/>
          </a:prstGeom>
          <a:noFill/>
        </p:spPr>
        <p:txBody>
          <a:bodyPr wrap="square" rtlCol="0">
            <a:spAutoFit/>
          </a:bodyPr>
          <a:lstStyle/>
          <a:p>
            <a:pPr algn="ctr"/>
            <a:r>
              <a:rPr lang="en-US" altLang="zh-CN" sz="2200" dirty="0"/>
              <a:t>12x12</a:t>
            </a:r>
            <a:endParaRPr lang="zh-CN" altLang="en-US" sz="2200" dirty="0"/>
          </a:p>
        </p:txBody>
      </p:sp>
      <p:sp>
        <p:nvSpPr>
          <p:cNvPr id="23" name="Cube 22">
            <a:extLst>
              <a:ext uri="{FF2B5EF4-FFF2-40B4-BE49-F238E27FC236}">
                <a16:creationId xmlns:a16="http://schemas.microsoft.com/office/drawing/2014/main" id="{1264F158-6848-29F1-3712-5F2B3BDE87A3}"/>
              </a:ext>
            </a:extLst>
          </p:cNvPr>
          <p:cNvSpPr/>
          <p:nvPr/>
        </p:nvSpPr>
        <p:spPr bwMode="auto">
          <a:xfrm flipH="1">
            <a:off x="3744686" y="3096986"/>
            <a:ext cx="1186543" cy="1181101"/>
          </a:xfrm>
          <a:prstGeom prst="cube">
            <a:avLst>
              <a:gd name="adj" fmla="val 277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4" name="TextBox 23">
            <a:extLst>
              <a:ext uri="{FF2B5EF4-FFF2-40B4-BE49-F238E27FC236}">
                <a16:creationId xmlns:a16="http://schemas.microsoft.com/office/drawing/2014/main" id="{88CF729A-64DF-B2BD-45FD-387D72569497}"/>
              </a:ext>
            </a:extLst>
          </p:cNvPr>
          <p:cNvSpPr txBox="1"/>
          <p:nvPr/>
        </p:nvSpPr>
        <p:spPr>
          <a:xfrm>
            <a:off x="3974783" y="4364270"/>
            <a:ext cx="1559574" cy="430887"/>
          </a:xfrm>
          <a:prstGeom prst="rect">
            <a:avLst/>
          </a:prstGeom>
          <a:noFill/>
        </p:spPr>
        <p:txBody>
          <a:bodyPr wrap="square" rtlCol="0">
            <a:spAutoFit/>
          </a:bodyPr>
          <a:lstStyle/>
          <a:p>
            <a:pPr algn="ctr"/>
            <a:r>
              <a:rPr lang="en-US" altLang="zh-CN" sz="2200" dirty="0"/>
              <a:t>12x12x64</a:t>
            </a:r>
            <a:endParaRPr lang="zh-CN" altLang="en-US" sz="2200" dirty="0"/>
          </a:p>
        </p:txBody>
      </p:sp>
      <p:sp>
        <p:nvSpPr>
          <p:cNvPr id="6" name="Rectangle 5">
            <a:extLst>
              <a:ext uri="{FF2B5EF4-FFF2-40B4-BE49-F238E27FC236}">
                <a16:creationId xmlns:a16="http://schemas.microsoft.com/office/drawing/2014/main" id="{487D6D7E-704D-C48E-68ED-825B27707458}"/>
              </a:ext>
            </a:extLst>
          </p:cNvPr>
          <p:cNvSpPr/>
          <p:nvPr/>
        </p:nvSpPr>
        <p:spPr bwMode="auto">
          <a:xfrm>
            <a:off x="5751140" y="2626256"/>
            <a:ext cx="72581" cy="22429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27" name="TextBox 26">
            <a:extLst>
              <a:ext uri="{FF2B5EF4-FFF2-40B4-BE49-F238E27FC236}">
                <a16:creationId xmlns:a16="http://schemas.microsoft.com/office/drawing/2014/main" id="{589B3A88-4640-1B2A-1832-05CE593A6021}"/>
              </a:ext>
            </a:extLst>
          </p:cNvPr>
          <p:cNvSpPr txBox="1"/>
          <p:nvPr/>
        </p:nvSpPr>
        <p:spPr>
          <a:xfrm>
            <a:off x="4100604" y="4945058"/>
            <a:ext cx="2079171" cy="430887"/>
          </a:xfrm>
          <a:prstGeom prst="rect">
            <a:avLst/>
          </a:prstGeom>
          <a:noFill/>
        </p:spPr>
        <p:txBody>
          <a:bodyPr wrap="square" rtlCol="0">
            <a:spAutoFit/>
          </a:bodyPr>
          <a:lstStyle/>
          <a:p>
            <a:pPr algn="r"/>
            <a:r>
              <a:rPr lang="en-US" altLang="zh-CN" sz="2200" dirty="0"/>
              <a:t>2304</a:t>
            </a:r>
            <a:endParaRPr lang="zh-CN" altLang="en-US" sz="2200" dirty="0"/>
          </a:p>
        </p:txBody>
      </p:sp>
      <p:sp>
        <p:nvSpPr>
          <p:cNvPr id="30" name="Rectangle 29">
            <a:extLst>
              <a:ext uri="{FF2B5EF4-FFF2-40B4-BE49-F238E27FC236}">
                <a16:creationId xmlns:a16="http://schemas.microsoft.com/office/drawing/2014/main" id="{DEB15F92-3D3F-D746-803D-0B2849236EDE}"/>
              </a:ext>
            </a:extLst>
          </p:cNvPr>
          <p:cNvSpPr/>
          <p:nvPr/>
        </p:nvSpPr>
        <p:spPr bwMode="auto">
          <a:xfrm>
            <a:off x="7118888" y="3040200"/>
            <a:ext cx="72581" cy="144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31" name="TextBox 30">
            <a:extLst>
              <a:ext uri="{FF2B5EF4-FFF2-40B4-BE49-F238E27FC236}">
                <a16:creationId xmlns:a16="http://schemas.microsoft.com/office/drawing/2014/main" id="{257DD7AD-6450-2994-93EB-19103258397C}"/>
              </a:ext>
            </a:extLst>
          </p:cNvPr>
          <p:cNvSpPr txBox="1"/>
          <p:nvPr/>
        </p:nvSpPr>
        <p:spPr>
          <a:xfrm>
            <a:off x="7796438" y="4255425"/>
            <a:ext cx="763029" cy="430887"/>
          </a:xfrm>
          <a:prstGeom prst="rect">
            <a:avLst/>
          </a:prstGeom>
          <a:noFill/>
        </p:spPr>
        <p:txBody>
          <a:bodyPr wrap="square" rtlCol="0">
            <a:spAutoFit/>
          </a:bodyPr>
          <a:lstStyle/>
          <a:p>
            <a:pPr algn="r"/>
            <a:r>
              <a:rPr lang="en-US" altLang="zh-CN" sz="2200" dirty="0"/>
              <a:t>0~9</a:t>
            </a:r>
            <a:endParaRPr lang="zh-CN" altLang="en-US" sz="2200" dirty="0"/>
          </a:p>
        </p:txBody>
      </p:sp>
      <p:sp>
        <p:nvSpPr>
          <p:cNvPr id="34" name="Rectangle 33">
            <a:extLst>
              <a:ext uri="{FF2B5EF4-FFF2-40B4-BE49-F238E27FC236}">
                <a16:creationId xmlns:a16="http://schemas.microsoft.com/office/drawing/2014/main" id="{442B3911-3722-CD21-EFDD-D0AB798FDCD7}"/>
              </a:ext>
            </a:extLst>
          </p:cNvPr>
          <p:cNvSpPr/>
          <p:nvPr/>
        </p:nvSpPr>
        <p:spPr bwMode="auto">
          <a:xfrm>
            <a:off x="8216155" y="3387732"/>
            <a:ext cx="72581" cy="72000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omic Sans MS" pitchFamily="66" charset="0"/>
              <a:ea typeface="SimSun" pitchFamily="2" charset="-122"/>
            </a:endParaRPr>
          </a:p>
        </p:txBody>
      </p:sp>
      <p:sp>
        <p:nvSpPr>
          <p:cNvPr id="41" name="TextBox 40">
            <a:extLst>
              <a:ext uri="{FF2B5EF4-FFF2-40B4-BE49-F238E27FC236}">
                <a16:creationId xmlns:a16="http://schemas.microsoft.com/office/drawing/2014/main" id="{7AF2E571-1CBF-A26C-FA00-E1B4BAEA9ADB}"/>
              </a:ext>
            </a:extLst>
          </p:cNvPr>
          <p:cNvSpPr txBox="1"/>
          <p:nvPr/>
        </p:nvSpPr>
        <p:spPr>
          <a:xfrm>
            <a:off x="6792807" y="4774189"/>
            <a:ext cx="763029" cy="430887"/>
          </a:xfrm>
          <a:prstGeom prst="rect">
            <a:avLst/>
          </a:prstGeom>
          <a:noFill/>
        </p:spPr>
        <p:txBody>
          <a:bodyPr wrap="square" rtlCol="0">
            <a:spAutoFit/>
          </a:bodyPr>
          <a:lstStyle/>
          <a:p>
            <a:pPr algn="r"/>
            <a:r>
              <a:rPr lang="en-US" altLang="zh-CN" sz="2200" dirty="0"/>
              <a:t>128</a:t>
            </a:r>
            <a:endParaRPr lang="zh-CN" altLang="en-US" sz="2200" dirty="0"/>
          </a:p>
        </p:txBody>
      </p:sp>
      <p:sp>
        <p:nvSpPr>
          <p:cNvPr id="5" name="TextBox 4">
            <a:extLst>
              <a:ext uri="{FF2B5EF4-FFF2-40B4-BE49-F238E27FC236}">
                <a16:creationId xmlns:a16="http://schemas.microsoft.com/office/drawing/2014/main" id="{6FDD07C6-D959-7943-4E84-42C733C7CED3}"/>
              </a:ext>
            </a:extLst>
          </p:cNvPr>
          <p:cNvSpPr txBox="1"/>
          <p:nvPr/>
        </p:nvSpPr>
        <p:spPr>
          <a:xfrm>
            <a:off x="6195480" y="2147595"/>
            <a:ext cx="1846816" cy="430887"/>
          </a:xfrm>
          <a:prstGeom prst="rect">
            <a:avLst/>
          </a:prstGeom>
          <a:noFill/>
        </p:spPr>
        <p:txBody>
          <a:bodyPr wrap="square" rtlCol="0">
            <a:spAutoFit/>
          </a:bodyPr>
          <a:lstStyle/>
          <a:p>
            <a:pPr algn="ctr"/>
            <a:r>
              <a:rPr lang="zh-CN" altLang="en-US" sz="2200" dirty="0"/>
              <a:t>多层感知器</a:t>
            </a:r>
            <a:endParaRPr lang="en-US" altLang="zh-CN" sz="2200" dirty="0"/>
          </a:p>
        </p:txBody>
      </p:sp>
      <p:sp>
        <p:nvSpPr>
          <p:cNvPr id="7" name="TextBox 6">
            <a:extLst>
              <a:ext uri="{FF2B5EF4-FFF2-40B4-BE49-F238E27FC236}">
                <a16:creationId xmlns:a16="http://schemas.microsoft.com/office/drawing/2014/main" id="{7B80F7CC-6738-B9E1-3738-20C6B6FE134B}"/>
              </a:ext>
            </a:extLst>
          </p:cNvPr>
          <p:cNvSpPr txBox="1"/>
          <p:nvPr/>
        </p:nvSpPr>
        <p:spPr>
          <a:xfrm>
            <a:off x="7143939" y="2594407"/>
            <a:ext cx="2253304" cy="430887"/>
          </a:xfrm>
          <a:prstGeom prst="rect">
            <a:avLst/>
          </a:prstGeom>
          <a:noFill/>
        </p:spPr>
        <p:txBody>
          <a:bodyPr wrap="square" rtlCol="0">
            <a:spAutoFit/>
          </a:bodyPr>
          <a:lstStyle/>
          <a:p>
            <a:pPr algn="ctr"/>
            <a:r>
              <a:rPr lang="en-US" altLang="zh-CN" sz="2200" dirty="0" err="1"/>
              <a:t>Softmax</a:t>
            </a:r>
            <a:endParaRPr lang="en-US" altLang="zh-CN" sz="2200" dirty="0"/>
          </a:p>
        </p:txBody>
      </p:sp>
      <p:sp>
        <p:nvSpPr>
          <p:cNvPr id="9" name="TextBox 8">
            <a:extLst>
              <a:ext uri="{FF2B5EF4-FFF2-40B4-BE49-F238E27FC236}">
                <a16:creationId xmlns:a16="http://schemas.microsoft.com/office/drawing/2014/main" id="{4D2C91B6-3A6A-A5EF-DED7-F6385BB8F879}"/>
              </a:ext>
            </a:extLst>
          </p:cNvPr>
          <p:cNvSpPr txBox="1"/>
          <p:nvPr/>
        </p:nvSpPr>
        <p:spPr>
          <a:xfrm>
            <a:off x="0" y="1789529"/>
            <a:ext cx="1943101" cy="1107996"/>
          </a:xfrm>
          <a:prstGeom prst="rect">
            <a:avLst/>
          </a:prstGeom>
          <a:noFill/>
        </p:spPr>
        <p:txBody>
          <a:bodyPr wrap="square" rtlCol="0">
            <a:spAutoFit/>
          </a:bodyPr>
          <a:lstStyle/>
          <a:p>
            <a:pPr algn="ctr"/>
            <a:endParaRPr lang="en-US" altLang="zh-CN" sz="2200" dirty="0"/>
          </a:p>
          <a:p>
            <a:pPr algn="ctr"/>
            <a:r>
              <a:rPr lang="en-US" altLang="zh-CN" sz="2200" dirty="0"/>
              <a:t>32</a:t>
            </a:r>
            <a:r>
              <a:rPr lang="zh-CN" altLang="en-US" sz="2200" dirty="0"/>
              <a:t>个二</a:t>
            </a:r>
            <a:endParaRPr lang="en-US" altLang="zh-CN" sz="2200" dirty="0"/>
          </a:p>
          <a:p>
            <a:pPr algn="ctr"/>
            <a:r>
              <a:rPr lang="zh-CN" altLang="en-US" sz="2200" dirty="0"/>
              <a:t>维算子</a:t>
            </a:r>
          </a:p>
        </p:txBody>
      </p:sp>
      <p:sp>
        <p:nvSpPr>
          <p:cNvPr id="10" name="TextBox 9">
            <a:extLst>
              <a:ext uri="{FF2B5EF4-FFF2-40B4-BE49-F238E27FC236}">
                <a16:creationId xmlns:a16="http://schemas.microsoft.com/office/drawing/2014/main" id="{705450BC-D078-ED3F-C5FE-490181028070}"/>
              </a:ext>
            </a:extLst>
          </p:cNvPr>
          <p:cNvSpPr txBox="1"/>
          <p:nvPr/>
        </p:nvSpPr>
        <p:spPr>
          <a:xfrm>
            <a:off x="1593532" y="1674334"/>
            <a:ext cx="1943101" cy="1107996"/>
          </a:xfrm>
          <a:prstGeom prst="rect">
            <a:avLst/>
          </a:prstGeom>
          <a:noFill/>
        </p:spPr>
        <p:txBody>
          <a:bodyPr wrap="square" rtlCol="0">
            <a:spAutoFit/>
          </a:bodyPr>
          <a:lstStyle/>
          <a:p>
            <a:pPr algn="ctr"/>
            <a:endParaRPr lang="en-US" altLang="zh-CN" sz="2200" dirty="0"/>
          </a:p>
          <a:p>
            <a:pPr algn="ctr"/>
            <a:r>
              <a:rPr lang="en-US" altLang="zh-CN" sz="2200" dirty="0"/>
              <a:t>64</a:t>
            </a:r>
            <a:r>
              <a:rPr lang="zh-CN" altLang="en-US" sz="2200" dirty="0"/>
              <a:t>个三</a:t>
            </a:r>
            <a:endParaRPr lang="en-US" altLang="zh-CN" sz="2200" dirty="0"/>
          </a:p>
          <a:p>
            <a:pPr algn="ctr"/>
            <a:r>
              <a:rPr lang="zh-CN" altLang="en-US" sz="2200" dirty="0"/>
              <a:t>维算子</a:t>
            </a:r>
          </a:p>
        </p:txBody>
      </p:sp>
      <p:sp>
        <p:nvSpPr>
          <p:cNvPr id="12" name="TextBox 11">
            <a:extLst>
              <a:ext uri="{FF2B5EF4-FFF2-40B4-BE49-F238E27FC236}">
                <a16:creationId xmlns:a16="http://schemas.microsoft.com/office/drawing/2014/main" id="{4D8C00DA-21CB-B88A-149C-149E069F3B33}"/>
              </a:ext>
            </a:extLst>
          </p:cNvPr>
          <p:cNvSpPr txBox="1"/>
          <p:nvPr/>
        </p:nvSpPr>
        <p:spPr>
          <a:xfrm>
            <a:off x="3496656" y="1859441"/>
            <a:ext cx="1643533" cy="1107996"/>
          </a:xfrm>
          <a:prstGeom prst="rect">
            <a:avLst/>
          </a:prstGeom>
          <a:noFill/>
        </p:spPr>
        <p:txBody>
          <a:bodyPr wrap="square" rtlCol="0">
            <a:spAutoFit/>
          </a:bodyPr>
          <a:lstStyle/>
          <a:p>
            <a:pPr algn="ctr"/>
            <a:r>
              <a:rPr lang="en-US" altLang="zh-CN" sz="2200" dirty="0"/>
              <a:t>2x2</a:t>
            </a:r>
          </a:p>
          <a:p>
            <a:pPr algn="ctr"/>
            <a:r>
              <a:rPr lang="zh-CN" altLang="en-US" sz="2200" dirty="0"/>
              <a:t>模式图</a:t>
            </a:r>
            <a:endParaRPr lang="en-US" altLang="zh-CN" sz="2200" dirty="0"/>
          </a:p>
          <a:p>
            <a:pPr algn="ctr"/>
            <a:r>
              <a:rPr lang="zh-CN" altLang="en-US" sz="2200" dirty="0"/>
              <a:t>降维采样</a:t>
            </a:r>
            <a:endParaRPr lang="en-US" altLang="zh-CN" sz="2200" dirty="0"/>
          </a:p>
        </p:txBody>
      </p:sp>
      <p:sp>
        <p:nvSpPr>
          <p:cNvPr id="8" name="TextBox 7">
            <a:extLst>
              <a:ext uri="{FF2B5EF4-FFF2-40B4-BE49-F238E27FC236}">
                <a16:creationId xmlns:a16="http://schemas.microsoft.com/office/drawing/2014/main" id="{715948A6-CC1E-D05D-FAE2-23E49DD43AEA}"/>
              </a:ext>
            </a:extLst>
          </p:cNvPr>
          <p:cNvSpPr txBox="1"/>
          <p:nvPr/>
        </p:nvSpPr>
        <p:spPr>
          <a:xfrm>
            <a:off x="0" y="5555159"/>
            <a:ext cx="8915400" cy="430887"/>
          </a:xfrm>
          <a:prstGeom prst="rect">
            <a:avLst/>
          </a:prstGeom>
          <a:noFill/>
        </p:spPr>
        <p:txBody>
          <a:bodyPr wrap="square" rtlCol="0">
            <a:spAutoFit/>
          </a:bodyPr>
          <a:lstStyle/>
          <a:p>
            <a:pPr algn="ctr"/>
            <a:r>
              <a:rPr lang="zh-CN" altLang="en-US" sz="2200" dirty="0"/>
              <a:t>梯度方向传播</a:t>
            </a:r>
          </a:p>
        </p:txBody>
      </p:sp>
      <p:cxnSp>
        <p:nvCxnSpPr>
          <p:cNvPr id="21" name="Straight Arrow Connector 20">
            <a:extLst>
              <a:ext uri="{FF2B5EF4-FFF2-40B4-BE49-F238E27FC236}">
                <a16:creationId xmlns:a16="http://schemas.microsoft.com/office/drawing/2014/main" id="{6914FDAC-B297-AF4A-F009-051F27AFE459}"/>
              </a:ext>
            </a:extLst>
          </p:cNvPr>
          <p:cNvCxnSpPr>
            <a:cxnSpLocks/>
          </p:cNvCxnSpPr>
          <p:nvPr/>
        </p:nvCxnSpPr>
        <p:spPr bwMode="auto">
          <a:xfrm>
            <a:off x="3194155" y="5410631"/>
            <a:ext cx="2933700" cy="0"/>
          </a:xfrm>
          <a:prstGeom prst="straightConnector1">
            <a:avLst/>
          </a:prstGeom>
          <a:solidFill>
            <a:schemeClr val="accent1"/>
          </a:solidFill>
          <a:ln w="9525" cap="flat" cmpd="sng" algn="ctr">
            <a:solidFill>
              <a:schemeClr val="tx1"/>
            </a:solidFill>
            <a:prstDash val="solid"/>
            <a:round/>
            <a:headEnd type="triangle" w="med" len="med"/>
            <a:tailEnd type="none"/>
          </a:ln>
          <a:effectLst/>
        </p:spPr>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B32EDE3-319F-96AE-FDD9-2B0A6D748BC8}"/>
                  </a:ext>
                </a:extLst>
              </p:cNvPr>
              <p:cNvSpPr txBox="1"/>
              <p:nvPr/>
            </p:nvSpPr>
            <p:spPr>
              <a:xfrm>
                <a:off x="6922715" y="3551669"/>
                <a:ext cx="1846816"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rPr>
                        <m:t>𝐰</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oMath>
                  </m:oMathPara>
                </a14:m>
                <a:endParaRPr lang="zh-CN" altLang="en-US" sz="2200" dirty="0"/>
              </a:p>
            </p:txBody>
          </p:sp>
        </mc:Choice>
        <mc:Fallback xmlns="">
          <p:sp>
            <p:nvSpPr>
              <p:cNvPr id="25" name="TextBox 24">
                <a:extLst>
                  <a:ext uri="{FF2B5EF4-FFF2-40B4-BE49-F238E27FC236}">
                    <a16:creationId xmlns:a16="http://schemas.microsoft.com/office/drawing/2014/main" id="{DB32EDE3-319F-96AE-FDD9-2B0A6D748BC8}"/>
                  </a:ext>
                </a:extLst>
              </p:cNvPr>
              <p:cNvSpPr txBox="1">
                <a:spLocks noRot="1" noChangeAspect="1" noMove="1" noResize="1" noEditPoints="1" noAdjustHandles="1" noChangeArrowheads="1" noChangeShapeType="1" noTextEdit="1"/>
              </p:cNvSpPr>
              <p:nvPr/>
            </p:nvSpPr>
            <p:spPr>
              <a:xfrm>
                <a:off x="6922715" y="3551669"/>
                <a:ext cx="1846816"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983A265-9865-D58D-C0B4-3A4DB404F8E8}"/>
                  </a:ext>
                </a:extLst>
              </p:cNvPr>
              <p:cNvSpPr txBox="1"/>
              <p:nvPr/>
            </p:nvSpPr>
            <p:spPr>
              <a:xfrm>
                <a:off x="5556191" y="3541158"/>
                <a:ext cx="1846816"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rPr>
                        <m:t>𝐰</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oMath>
                  </m:oMathPara>
                </a14:m>
                <a:endParaRPr lang="zh-CN" altLang="en-US" sz="2200" dirty="0"/>
              </a:p>
            </p:txBody>
          </p:sp>
        </mc:Choice>
        <mc:Fallback xmlns="">
          <p:sp>
            <p:nvSpPr>
              <p:cNvPr id="26" name="TextBox 25">
                <a:extLst>
                  <a:ext uri="{FF2B5EF4-FFF2-40B4-BE49-F238E27FC236}">
                    <a16:creationId xmlns:a16="http://schemas.microsoft.com/office/drawing/2014/main" id="{2983A265-9865-D58D-C0B4-3A4DB404F8E8}"/>
                  </a:ext>
                </a:extLst>
              </p:cNvPr>
              <p:cNvSpPr txBox="1">
                <a:spLocks noRot="1" noChangeAspect="1" noMove="1" noResize="1" noEditPoints="1" noAdjustHandles="1" noChangeArrowheads="1" noChangeShapeType="1" noTextEdit="1"/>
              </p:cNvSpPr>
              <p:nvPr/>
            </p:nvSpPr>
            <p:spPr>
              <a:xfrm>
                <a:off x="5556191" y="3541158"/>
                <a:ext cx="1846816" cy="430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BFCDDA2-71F2-364C-E194-C86A568FF2A8}"/>
                  </a:ext>
                </a:extLst>
              </p:cNvPr>
              <p:cNvSpPr txBox="1"/>
              <p:nvPr/>
            </p:nvSpPr>
            <p:spPr>
              <a:xfrm>
                <a:off x="2610884" y="3541158"/>
                <a:ext cx="1846816"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rPr>
                        <m:t>𝐰</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oMath>
                  </m:oMathPara>
                </a14:m>
                <a:endParaRPr lang="zh-CN" altLang="en-US" sz="2200" dirty="0"/>
              </a:p>
            </p:txBody>
          </p:sp>
        </mc:Choice>
        <mc:Fallback xmlns="">
          <p:sp>
            <p:nvSpPr>
              <p:cNvPr id="28" name="TextBox 27">
                <a:extLst>
                  <a:ext uri="{FF2B5EF4-FFF2-40B4-BE49-F238E27FC236}">
                    <a16:creationId xmlns:a16="http://schemas.microsoft.com/office/drawing/2014/main" id="{FBFCDDA2-71F2-364C-E194-C86A568FF2A8}"/>
                  </a:ext>
                </a:extLst>
              </p:cNvPr>
              <p:cNvSpPr txBox="1">
                <a:spLocks noRot="1" noChangeAspect="1" noMove="1" noResize="1" noEditPoints="1" noAdjustHandles="1" noChangeArrowheads="1" noChangeShapeType="1" noTextEdit="1"/>
              </p:cNvSpPr>
              <p:nvPr/>
            </p:nvSpPr>
            <p:spPr>
              <a:xfrm>
                <a:off x="2610884" y="3541158"/>
                <a:ext cx="1846816"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E1069C5-D5EF-B8B6-39C7-29E14CF61100}"/>
                  </a:ext>
                </a:extLst>
              </p:cNvPr>
              <p:cNvSpPr txBox="1"/>
              <p:nvPr/>
            </p:nvSpPr>
            <p:spPr>
              <a:xfrm>
                <a:off x="758044" y="3551668"/>
                <a:ext cx="1846816"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200" i="1" smtClean="0">
                          <a:latin typeface="Cambria Math" panose="02040503050406030204" pitchFamily="18" charset="0"/>
                          <a:ea typeface="Cambria Math" panose="02040503050406030204" pitchFamily="18" charset="0"/>
                        </a:rPr>
                        <m:t>∆</m:t>
                      </m:r>
                      <m:r>
                        <a:rPr lang="en-US" altLang="zh-CN" sz="2200" b="1" i="0" smtClean="0">
                          <a:latin typeface="Cambria Math" panose="02040503050406030204" pitchFamily="18" charset="0"/>
                        </a:rPr>
                        <m:t>𝐰</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𝑏</m:t>
                      </m:r>
                    </m:oMath>
                  </m:oMathPara>
                </a14:m>
                <a:endParaRPr lang="zh-CN" altLang="en-US" sz="2200" dirty="0"/>
              </a:p>
            </p:txBody>
          </p:sp>
        </mc:Choice>
        <mc:Fallback xmlns="">
          <p:sp>
            <p:nvSpPr>
              <p:cNvPr id="29" name="TextBox 28">
                <a:extLst>
                  <a:ext uri="{FF2B5EF4-FFF2-40B4-BE49-F238E27FC236}">
                    <a16:creationId xmlns:a16="http://schemas.microsoft.com/office/drawing/2014/main" id="{FE1069C5-D5EF-B8B6-39C7-29E14CF61100}"/>
                  </a:ext>
                </a:extLst>
              </p:cNvPr>
              <p:cNvSpPr txBox="1">
                <a:spLocks noRot="1" noChangeAspect="1" noMove="1" noResize="1" noEditPoints="1" noAdjustHandles="1" noChangeArrowheads="1" noChangeShapeType="1" noTextEdit="1"/>
              </p:cNvSpPr>
              <p:nvPr/>
            </p:nvSpPr>
            <p:spPr>
              <a:xfrm>
                <a:off x="758044" y="3551668"/>
                <a:ext cx="1846816" cy="43088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5497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8" grpId="0"/>
      <p:bldP spid="2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8C7DD-8ECC-535D-219E-09ABA204D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1B88E-CE97-DFC8-F8E8-00AC3580B646}"/>
              </a:ext>
            </a:extLst>
          </p:cNvPr>
          <p:cNvSpPr>
            <a:spLocks noGrp="1"/>
          </p:cNvSpPr>
          <p:nvPr>
            <p:ph type="title"/>
          </p:nvPr>
        </p:nvSpPr>
        <p:spPr/>
        <p:txBody>
          <a:bodyPr/>
          <a:lstStyle/>
          <a:p>
            <a:r>
              <a:rPr lang="zh-CN" altLang="en-US" dirty="0">
                <a:ea typeface="ＭＳ Ｐゴシック" panose="020B0600070205080204" pitchFamily="34" charset="-128"/>
              </a:rPr>
              <a:t>用于手写邮政编码识别</a:t>
            </a:r>
            <a:endParaRPr lang="zh-CN" altLang="en-US" dirty="0"/>
          </a:p>
        </p:txBody>
      </p:sp>
      <p:graphicFrame>
        <p:nvGraphicFramePr>
          <p:cNvPr id="7" name="Table 6">
            <a:extLst>
              <a:ext uri="{FF2B5EF4-FFF2-40B4-BE49-F238E27FC236}">
                <a16:creationId xmlns:a16="http://schemas.microsoft.com/office/drawing/2014/main" id="{54921A26-010D-1332-7765-BF52984210F4}"/>
              </a:ext>
            </a:extLst>
          </p:cNvPr>
          <p:cNvGraphicFramePr>
            <a:graphicFrameLocks noGrp="1"/>
          </p:cNvGraphicFramePr>
          <p:nvPr>
            <p:extLst>
              <p:ext uri="{D42A27DB-BD31-4B8C-83A1-F6EECF244321}">
                <p14:modId xmlns:p14="http://schemas.microsoft.com/office/powerpoint/2010/main" val="3831204771"/>
              </p:ext>
            </p:extLst>
          </p:nvPr>
        </p:nvGraphicFramePr>
        <p:xfrm>
          <a:off x="1752600" y="2286000"/>
          <a:ext cx="5638800" cy="1854200"/>
        </p:xfrm>
        <a:graphic>
          <a:graphicData uri="http://schemas.openxmlformats.org/drawingml/2006/table">
            <a:tbl>
              <a:tblPr firstRow="1" bandRow="1">
                <a:tableStyleId>{D27102A9-8310-4765-A935-A1911B00CA55}</a:tableStyleId>
              </a:tblPr>
              <a:tblGrid>
                <a:gridCol w="3200400">
                  <a:extLst>
                    <a:ext uri="{9D8B030D-6E8A-4147-A177-3AD203B41FA5}">
                      <a16:colId xmlns:a16="http://schemas.microsoft.com/office/drawing/2014/main" val="1065155212"/>
                    </a:ext>
                  </a:extLst>
                </a:gridCol>
                <a:gridCol w="2438400">
                  <a:extLst>
                    <a:ext uri="{9D8B030D-6E8A-4147-A177-3AD203B41FA5}">
                      <a16:colId xmlns:a16="http://schemas.microsoft.com/office/drawing/2014/main" val="3861532805"/>
                    </a:ext>
                  </a:extLst>
                </a:gridCol>
              </a:tblGrid>
              <a:tr h="370840">
                <a:tc>
                  <a:txBody>
                    <a:bodyPr/>
                    <a:lstStyle/>
                    <a:p>
                      <a:r>
                        <a:rPr lang="zh-CN" altLang="en-US" dirty="0"/>
                        <a:t>方法</a:t>
                      </a:r>
                    </a:p>
                  </a:txBody>
                  <a:tcPr anchor="ctr"/>
                </a:tc>
                <a:tc>
                  <a:txBody>
                    <a:bodyPr/>
                    <a:lstStyle/>
                    <a:p>
                      <a:pPr algn="ctr"/>
                      <a:r>
                        <a:rPr lang="zh-CN" altLang="en-US" dirty="0"/>
                        <a:t>准确率</a:t>
                      </a:r>
                    </a:p>
                  </a:txBody>
                  <a:tcPr anchor="ctr"/>
                </a:tc>
                <a:extLst>
                  <a:ext uri="{0D108BD9-81ED-4DB2-BD59-A6C34878D82A}">
                    <a16:rowId xmlns:a16="http://schemas.microsoft.com/office/drawing/2014/main" val="1689843995"/>
                  </a:ext>
                </a:extLst>
              </a:tr>
              <a:tr h="370840">
                <a:tc>
                  <a:txBody>
                    <a:bodyPr/>
                    <a:lstStyle/>
                    <a:p>
                      <a:r>
                        <a:rPr lang="en-US" altLang="zh-CN" dirty="0"/>
                        <a:t>Logistic regression</a:t>
                      </a:r>
                      <a:endParaRPr lang="zh-CN" altLang="en-US" dirty="0"/>
                    </a:p>
                  </a:txBody>
                  <a:tcPr anchor="ctr"/>
                </a:tc>
                <a:tc>
                  <a:txBody>
                    <a:bodyPr/>
                    <a:lstStyle/>
                    <a:p>
                      <a:pPr algn="ctr"/>
                      <a:r>
                        <a:rPr lang="en-US" altLang="zh-CN" dirty="0">
                          <a:solidFill>
                            <a:srgbClr val="C00000"/>
                          </a:solidFill>
                        </a:rPr>
                        <a:t>91.6%</a:t>
                      </a:r>
                      <a:endParaRPr lang="zh-CN" altLang="en-US" dirty="0">
                        <a:solidFill>
                          <a:srgbClr val="C00000"/>
                        </a:solidFill>
                      </a:endParaRPr>
                    </a:p>
                  </a:txBody>
                  <a:tcPr anchor="ctr"/>
                </a:tc>
                <a:extLst>
                  <a:ext uri="{0D108BD9-81ED-4DB2-BD59-A6C34878D82A}">
                    <a16:rowId xmlns:a16="http://schemas.microsoft.com/office/drawing/2014/main" val="3970347712"/>
                  </a:ext>
                </a:extLst>
              </a:tr>
              <a:tr h="370840">
                <a:tc>
                  <a:txBody>
                    <a:bodyPr/>
                    <a:lstStyle/>
                    <a:p>
                      <a:r>
                        <a:rPr lang="zh-CN" altLang="en-US" sz="1800" dirty="0"/>
                        <a:t>多</a:t>
                      </a:r>
                      <a:r>
                        <a:rPr lang="zh-CN" altLang="en-US" dirty="0"/>
                        <a:t>层感知器</a:t>
                      </a:r>
                    </a:p>
                  </a:txBody>
                  <a:tcPr anchor="ctr"/>
                </a:tc>
                <a:tc>
                  <a:txBody>
                    <a:bodyPr/>
                    <a:lstStyle/>
                    <a:p>
                      <a:pPr algn="ctr"/>
                      <a:r>
                        <a:rPr lang="en-US" altLang="zh-CN" dirty="0">
                          <a:solidFill>
                            <a:schemeClr val="tx1"/>
                          </a:solidFill>
                        </a:rPr>
                        <a:t>94.6%</a:t>
                      </a:r>
                      <a:endParaRPr lang="zh-CN" altLang="en-US" dirty="0">
                        <a:solidFill>
                          <a:schemeClr val="tx1"/>
                        </a:solidFill>
                      </a:endParaRPr>
                    </a:p>
                  </a:txBody>
                  <a:tcPr anchor="ctr"/>
                </a:tc>
                <a:extLst>
                  <a:ext uri="{0D108BD9-81ED-4DB2-BD59-A6C34878D82A}">
                    <a16:rowId xmlns:a16="http://schemas.microsoft.com/office/drawing/2014/main" val="1455740654"/>
                  </a:ext>
                </a:extLst>
              </a:tr>
              <a:tr h="370840">
                <a:tc>
                  <a:txBody>
                    <a:bodyPr/>
                    <a:lstStyle/>
                    <a:p>
                      <a:r>
                        <a:rPr lang="zh-CN" altLang="en-US" sz="1800" dirty="0"/>
                        <a:t>多</a:t>
                      </a:r>
                      <a:r>
                        <a:rPr lang="zh-CN" altLang="en-US" dirty="0"/>
                        <a:t>层感知器 </a:t>
                      </a:r>
                      <a:r>
                        <a:rPr lang="en-US" altLang="zh-CN" dirty="0"/>
                        <a:t>+ dropout </a:t>
                      </a:r>
                      <a:endParaRPr lang="zh-CN" altLang="en-US" dirty="0"/>
                    </a:p>
                  </a:txBody>
                  <a:tcPr anchor="ctr"/>
                </a:tc>
                <a:tc>
                  <a:txBody>
                    <a:bodyPr/>
                    <a:lstStyle/>
                    <a:p>
                      <a:pPr algn="ctr"/>
                      <a:r>
                        <a:rPr lang="en-US" altLang="zh-CN" b="0" dirty="0">
                          <a:solidFill>
                            <a:schemeClr val="tx1"/>
                          </a:solidFill>
                        </a:rPr>
                        <a:t>95.2%</a:t>
                      </a:r>
                      <a:endParaRPr lang="zh-CN" altLang="en-US" b="0" dirty="0">
                        <a:solidFill>
                          <a:schemeClr val="tx1"/>
                        </a:solidFill>
                      </a:endParaRPr>
                    </a:p>
                  </a:txBody>
                  <a:tcPr anchor="ctr"/>
                </a:tc>
                <a:extLst>
                  <a:ext uri="{0D108BD9-81ED-4DB2-BD59-A6C34878D82A}">
                    <a16:rowId xmlns:a16="http://schemas.microsoft.com/office/drawing/2014/main" val="4214058769"/>
                  </a:ext>
                </a:extLst>
              </a:tr>
              <a:tr h="370840">
                <a:tc>
                  <a:txBody>
                    <a:bodyPr/>
                    <a:lstStyle/>
                    <a:p>
                      <a:r>
                        <a:rPr lang="zh-CN" altLang="en-US" dirty="0"/>
                        <a:t>复杂神经网络</a:t>
                      </a:r>
                    </a:p>
                  </a:txBody>
                  <a:tcPr anchor="ctr"/>
                </a:tc>
                <a:tc>
                  <a:txBody>
                    <a:bodyPr/>
                    <a:lstStyle/>
                    <a:p>
                      <a:pPr algn="ctr"/>
                      <a:r>
                        <a:rPr lang="en-US" altLang="zh-CN" b="0" dirty="0">
                          <a:solidFill>
                            <a:srgbClr val="339933"/>
                          </a:solidFill>
                        </a:rPr>
                        <a:t>96.7%</a:t>
                      </a:r>
                      <a:endParaRPr lang="zh-CN" altLang="en-US" b="0" dirty="0">
                        <a:solidFill>
                          <a:srgbClr val="339933"/>
                        </a:solidFill>
                      </a:endParaRPr>
                    </a:p>
                  </a:txBody>
                  <a:tcPr anchor="ctr"/>
                </a:tc>
                <a:extLst>
                  <a:ext uri="{0D108BD9-81ED-4DB2-BD59-A6C34878D82A}">
                    <a16:rowId xmlns:a16="http://schemas.microsoft.com/office/drawing/2014/main" val="2084487154"/>
                  </a:ext>
                </a:extLst>
              </a:tr>
            </a:tbl>
          </a:graphicData>
        </a:graphic>
      </p:graphicFrame>
    </p:spTree>
    <p:extLst>
      <p:ext uri="{BB962C8B-B14F-4D97-AF65-F5344CB8AC3E}">
        <p14:creationId xmlns:p14="http://schemas.microsoft.com/office/powerpoint/2010/main" val="170227979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7DC74-367E-D617-C663-915457B68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A376F-D6B9-336E-A136-B1DB4A768185}"/>
              </a:ext>
            </a:extLst>
          </p:cNvPr>
          <p:cNvSpPr>
            <a:spLocks noGrp="1"/>
          </p:cNvSpPr>
          <p:nvPr>
            <p:ph type="title"/>
          </p:nvPr>
        </p:nvSpPr>
        <p:spPr/>
        <p:txBody>
          <a:bodyPr/>
          <a:lstStyle/>
          <a:p>
            <a:r>
              <a:rPr lang="zh-CN" altLang="en-US" dirty="0">
                <a:latin typeface="MS PGothic" panose="020B0600070205080204" pitchFamily="34" charset="-128"/>
                <a:ea typeface="MS PGothic" panose="020B0600070205080204" pitchFamily="34" charset="-128"/>
              </a:rPr>
              <a:t>今天的总结</a:t>
            </a:r>
          </a:p>
        </p:txBody>
      </p:sp>
      <p:sp>
        <p:nvSpPr>
          <p:cNvPr id="3" name="Content Placeholder 2">
            <a:extLst>
              <a:ext uri="{FF2B5EF4-FFF2-40B4-BE49-F238E27FC236}">
                <a16:creationId xmlns:a16="http://schemas.microsoft.com/office/drawing/2014/main" id="{B8F16F10-AC6F-5F84-1A11-E64CD8EE8BD2}"/>
              </a:ext>
            </a:extLst>
          </p:cNvPr>
          <p:cNvSpPr>
            <a:spLocks noGrp="1"/>
          </p:cNvSpPr>
          <p:nvPr>
            <p:ph idx="1"/>
          </p:nvPr>
        </p:nvSpPr>
        <p:spPr>
          <a:xfrm>
            <a:off x="762000" y="1600200"/>
            <a:ext cx="7772400" cy="5257800"/>
          </a:xfrm>
        </p:spPr>
        <p:txBody>
          <a:bodyPr>
            <a:normAutofit/>
          </a:bodyPr>
          <a:lstStyle/>
          <a:p>
            <a:r>
              <a:rPr lang="zh-CN" altLang="en-US" dirty="0"/>
              <a:t>深度学习</a:t>
            </a:r>
            <a:endParaRPr lang="en-US" altLang="zh-CN" dirty="0"/>
          </a:p>
          <a:p>
            <a:pPr lvl="1"/>
            <a:r>
              <a:rPr lang="zh-CN" altLang="en-US" dirty="0"/>
              <a:t>每一层产生新的特征解决复杂问题</a:t>
            </a:r>
            <a:endParaRPr lang="en-US" altLang="zh-CN" dirty="0"/>
          </a:p>
          <a:p>
            <a:r>
              <a:rPr lang="zh-CN" altLang="en-US" dirty="0"/>
              <a:t>多层感知器：深度学习中的常用组件</a:t>
            </a:r>
            <a:endParaRPr lang="en-US" altLang="zh-CN" dirty="0"/>
          </a:p>
          <a:p>
            <a:pPr lvl="1"/>
            <a:r>
              <a:rPr lang="zh-CN" altLang="en-US" dirty="0"/>
              <a:t>前向计算和反向梯度传播</a:t>
            </a:r>
            <a:endParaRPr lang="en-US" altLang="zh-CN" dirty="0"/>
          </a:p>
          <a:p>
            <a:pPr lvl="1"/>
            <a:r>
              <a:rPr lang="en-US" altLang="zh-CN" dirty="0"/>
              <a:t>Dropout</a:t>
            </a:r>
            <a:r>
              <a:rPr lang="zh-CN" altLang="en-US" dirty="0"/>
              <a:t>对抗训练中对噪声的过度拟合</a:t>
            </a:r>
            <a:endParaRPr lang="en-US" altLang="zh-CN" dirty="0"/>
          </a:p>
          <a:p>
            <a:r>
              <a:rPr lang="zh-CN" altLang="en-US" dirty="0"/>
              <a:t>搭建适应于任务的复杂网络能获得好的效果</a:t>
            </a:r>
            <a:endParaRPr lang="en-US" altLang="zh-CN" dirty="0"/>
          </a:p>
        </p:txBody>
      </p:sp>
    </p:spTree>
    <p:extLst>
      <p:ext uri="{BB962C8B-B14F-4D97-AF65-F5344CB8AC3E}">
        <p14:creationId xmlns:p14="http://schemas.microsoft.com/office/powerpoint/2010/main" val="26464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685800" y="2057400"/>
            <a:ext cx="7772400" cy="914400"/>
          </a:xfrm>
        </p:spPr>
        <p:txBody>
          <a:bodyPr anchor="t"/>
          <a:lstStyle/>
          <a:p>
            <a:pPr algn="ctr" eaLnBrk="1" hangingPunct="1">
              <a:spcBef>
                <a:spcPts val="600"/>
              </a:spcBef>
            </a:pPr>
            <a:r>
              <a:rPr lang="en-US" altLang="ja-JP" b="1" dirty="0">
                <a:ea typeface="ＭＳ Ｐゴシック" panose="020B0600070205080204" pitchFamily="34" charset="-128"/>
              </a:rPr>
              <a:t>The End</a:t>
            </a:r>
            <a:endParaRPr lang="en-US" altLang="zh-CN" b="1" dirty="0">
              <a:ea typeface="SimSun" panose="02010600030101010101" pitchFamily="2" charset="-122"/>
            </a:endParaRPr>
          </a:p>
        </p:txBody>
      </p:sp>
      <p:sp>
        <p:nvSpPr>
          <p:cNvPr id="5" name="TextBox 4">
            <a:extLst>
              <a:ext uri="{FF2B5EF4-FFF2-40B4-BE49-F238E27FC236}">
                <a16:creationId xmlns:a16="http://schemas.microsoft.com/office/drawing/2014/main" id="{82F3BC4D-1554-A405-8A94-8DB7765461DD}"/>
              </a:ext>
            </a:extLst>
          </p:cNvPr>
          <p:cNvSpPr txBox="1"/>
          <p:nvPr/>
        </p:nvSpPr>
        <p:spPr>
          <a:xfrm>
            <a:off x="1181100" y="2738735"/>
            <a:ext cx="6781800" cy="461665"/>
          </a:xfrm>
          <a:prstGeom prst="rect">
            <a:avLst/>
          </a:prstGeom>
          <a:noFill/>
        </p:spPr>
        <p:txBody>
          <a:bodyPr wrap="square">
            <a:spAutoFit/>
          </a:bodyPr>
          <a:lstStyle/>
          <a:p>
            <a:pPr algn="ctr"/>
            <a:r>
              <a:rPr lang="zh-CN" altLang="en-US" sz="2400" b="1" dirty="0">
                <a:solidFill>
                  <a:schemeClr val="tx1"/>
                </a:solidFill>
                <a:latin typeface="Microsoft YaHei Light" panose="020B0502040204020203" pitchFamily="34" charset="-122"/>
                <a:ea typeface="Microsoft YaHei Light" panose="020B0502040204020203" pitchFamily="34" charset="-122"/>
              </a:rPr>
              <a:t>如需第</a:t>
            </a:r>
            <a:r>
              <a:rPr lang="zh-CN" altLang="en-US" sz="2400" b="1" dirty="0">
                <a:latin typeface="Microsoft YaHei Light" panose="020B0502040204020203" pitchFamily="34" charset="-122"/>
                <a:ea typeface="Microsoft YaHei Light" panose="020B0502040204020203" pitchFamily="34" charset="-122"/>
              </a:rPr>
              <a:t>三</a:t>
            </a:r>
            <a:r>
              <a:rPr lang="zh-CN" altLang="en-US" sz="2400" b="1" dirty="0">
                <a:solidFill>
                  <a:schemeClr val="tx1"/>
                </a:solidFill>
                <a:latin typeface="Microsoft YaHei Light" panose="020B0502040204020203" pitchFamily="34" charset="-122"/>
                <a:ea typeface="Microsoft YaHei Light" panose="020B0502040204020203" pitchFamily="34" charset="-122"/>
              </a:rPr>
              <a:t>讲的课件，可扫描以下二维码下载</a:t>
            </a:r>
            <a:endParaRPr lang="en-US" sz="2400" dirty="0"/>
          </a:p>
        </p:txBody>
      </p:sp>
      <p:pic>
        <p:nvPicPr>
          <p:cNvPr id="4" name="Picture 3">
            <a:extLst>
              <a:ext uri="{FF2B5EF4-FFF2-40B4-BE49-F238E27FC236}">
                <a16:creationId xmlns:a16="http://schemas.microsoft.com/office/drawing/2014/main" id="{2DE7260B-9B44-BED4-6514-94D2848F52AE}"/>
              </a:ext>
            </a:extLst>
          </p:cNvPr>
          <p:cNvPicPr>
            <a:picLocks noChangeAspect="1"/>
          </p:cNvPicPr>
          <p:nvPr/>
        </p:nvPicPr>
        <p:blipFill>
          <a:blip r:embed="rId3"/>
          <a:stretch>
            <a:fillRect/>
          </a:stretch>
        </p:blipFill>
        <p:spPr>
          <a:xfrm>
            <a:off x="3103040" y="3429000"/>
            <a:ext cx="2937920" cy="293792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1.8|0.1|0.1|0.1"/>
</p:tagLst>
</file>

<file path=ppt/tags/tag2.xml><?xml version="1.0" encoding="utf-8"?>
<p:tagLst xmlns:a="http://schemas.openxmlformats.org/drawingml/2006/main" xmlns:r="http://schemas.openxmlformats.org/officeDocument/2006/relationships" xmlns:p="http://schemas.openxmlformats.org/presentationml/2006/main">
  <p:tag name="TIMING" val="|0|0.5"/>
</p:tagLst>
</file>

<file path=ppt/tags/tag3.xml><?xml version="1.0" encoding="utf-8"?>
<p:tagLst xmlns:a="http://schemas.openxmlformats.org/drawingml/2006/main" xmlns:r="http://schemas.openxmlformats.org/officeDocument/2006/relationships" xmlns:p="http://schemas.openxmlformats.org/presentationml/2006/main">
  <p:tag name="TIMING" val="|0.1"/>
</p:tagLst>
</file>

<file path=ppt/tags/tag4.xml><?xml version="1.0" encoding="utf-8"?>
<p:tagLst xmlns:a="http://schemas.openxmlformats.org/drawingml/2006/main" xmlns:r="http://schemas.openxmlformats.org/officeDocument/2006/relationships" xmlns:p="http://schemas.openxmlformats.org/presentationml/2006/main">
  <p:tag name="TIMING" val="|0.4|2.6|0.3|0.3"/>
</p:tagLst>
</file>

<file path=ppt/tags/tag5.xml><?xml version="1.0" encoding="utf-8"?>
<p:tagLst xmlns:a="http://schemas.openxmlformats.org/drawingml/2006/main" xmlns:r="http://schemas.openxmlformats.org/officeDocument/2006/relationships" xmlns:p="http://schemas.openxmlformats.org/presentationml/2006/main">
  <p:tag name="TIMING" val="|0.8|0.4"/>
</p:tagLst>
</file>

<file path=ppt/tags/tag6.xml><?xml version="1.0" encoding="utf-8"?>
<p:tagLst xmlns:a="http://schemas.openxmlformats.org/drawingml/2006/main" xmlns:r="http://schemas.openxmlformats.org/officeDocument/2006/relationships" xmlns:p="http://schemas.openxmlformats.org/presentationml/2006/main">
  <p:tag name="TIMING" val="|0.4"/>
</p:tagLst>
</file>

<file path=ppt/tags/tag7.xml><?xml version="1.0" encoding="utf-8"?>
<p:tagLst xmlns:a="http://schemas.openxmlformats.org/drawingml/2006/main" xmlns:r="http://schemas.openxmlformats.org/officeDocument/2006/relationships" xmlns:p="http://schemas.openxmlformats.org/presentationml/2006/main">
  <p:tag name="TIMING" val="|0.4|0.3|0.3|0.3|0.4"/>
</p:tagLst>
</file>

<file path=ppt/tags/tag8.xml><?xml version="1.0" encoding="utf-8"?>
<p:tagLst xmlns:a="http://schemas.openxmlformats.org/drawingml/2006/main" xmlns:r="http://schemas.openxmlformats.org/officeDocument/2006/relationships" xmlns:p="http://schemas.openxmlformats.org/presentationml/2006/main">
  <p:tag name="TIMING" val="|0.2|0.2|0.3|0.3"/>
</p:tagLst>
</file>

<file path=ppt/tags/tag9.xml><?xml version="1.0" encoding="utf-8"?>
<p:tagLst xmlns:a="http://schemas.openxmlformats.org/drawingml/2006/main" xmlns:r="http://schemas.openxmlformats.org/officeDocument/2006/relationships" xmlns:p="http://schemas.openxmlformats.org/presentationml/2006/main">
  <p:tag name="TIMING" val="|0.3|1|0.3"/>
</p:tagLst>
</file>

<file path=ppt/tags/tag10.xml><?xml version="1.0" encoding="utf-8"?>
<p:tagLst xmlns:a="http://schemas.openxmlformats.org/drawingml/2006/main" xmlns:r="http://schemas.openxmlformats.org/officeDocument/2006/relationships" xmlns:p="http://schemas.openxmlformats.org/presentationml/2006/main">
  <p:tag name="TIMING" val="|0.8|17.7|3.2"/>
</p:tagLst>
</file>

<file path=ppt/tags/tag11.xml><?xml version="1.0" encoding="utf-8"?>
<p:tagLst xmlns:a="http://schemas.openxmlformats.org/drawingml/2006/main" xmlns:r="http://schemas.openxmlformats.org/officeDocument/2006/relationships" xmlns:p="http://schemas.openxmlformats.org/presentationml/2006/main">
  <p:tag name="TIMING" val="|0.5|1.2|0.3|0.2"/>
</p:tagLst>
</file>

<file path=ppt/tags/tag12.xml><?xml version="1.0" encoding="utf-8"?>
<p:tagLst xmlns:a="http://schemas.openxmlformats.org/drawingml/2006/main" xmlns:r="http://schemas.openxmlformats.org/officeDocument/2006/relationships" xmlns:p="http://schemas.openxmlformats.org/presentationml/2006/main">
  <p:tag name="TIMING" val="|0|0.2|0.2|0.3"/>
</p:tagLst>
</file>

<file path=ppt/tags/tag13.xml><?xml version="1.0" encoding="utf-8"?>
<p:tagLst xmlns:a="http://schemas.openxmlformats.org/drawingml/2006/main" xmlns:r="http://schemas.openxmlformats.org/officeDocument/2006/relationships" xmlns:p="http://schemas.openxmlformats.org/presentationml/2006/main">
  <p:tag name="TIMING" val="|0|0.2|0.2|0.3"/>
</p:tagLst>
</file>

<file path=ppt/tags/tag14.xml><?xml version="1.0" encoding="utf-8"?>
<p:tagLst xmlns:a="http://schemas.openxmlformats.org/drawingml/2006/main" xmlns:r="http://schemas.openxmlformats.org/officeDocument/2006/relationships" xmlns:p="http://schemas.openxmlformats.org/presentationml/2006/main">
  <p:tag name="TIMING" val="|0.4|0.6|0.2|0.4|10.8"/>
</p:tagLst>
</file>

<file path=ppt/tags/tag15.xml><?xml version="1.0" encoding="utf-8"?>
<p:tagLst xmlns:a="http://schemas.openxmlformats.org/drawingml/2006/main" xmlns:r="http://schemas.openxmlformats.org/officeDocument/2006/relationships" xmlns:p="http://schemas.openxmlformats.org/presentationml/2006/main">
  <p:tag name="TIMING" val="|0.1|0.2"/>
</p:tagLst>
</file>

<file path=ppt/tags/tag16.xml><?xml version="1.0" encoding="utf-8"?>
<p:tagLst xmlns:a="http://schemas.openxmlformats.org/drawingml/2006/main" xmlns:r="http://schemas.openxmlformats.org/officeDocument/2006/relationships" xmlns:p="http://schemas.openxmlformats.org/presentationml/2006/main">
  <p:tag name="TIMING" val="|0.4|4.2"/>
</p:tagLst>
</file>

<file path=ppt/tags/tag17.xml><?xml version="1.0" encoding="utf-8"?>
<p:tagLst xmlns:a="http://schemas.openxmlformats.org/drawingml/2006/main" xmlns:r="http://schemas.openxmlformats.org/officeDocument/2006/relationships" xmlns:p="http://schemas.openxmlformats.org/presentationml/2006/main">
  <p:tag name="TIMING" val="|0.4|4.2"/>
</p:tagLst>
</file>

<file path=ppt/tags/tag18.xml><?xml version="1.0" encoding="utf-8"?>
<p:tagLst xmlns:a="http://schemas.openxmlformats.org/drawingml/2006/main" xmlns:r="http://schemas.openxmlformats.org/officeDocument/2006/relationships" xmlns:p="http://schemas.openxmlformats.org/presentationml/2006/main">
  <p:tag name="TIMING" val="|0.4|4.2"/>
</p:tagLst>
</file>

<file path=ppt/tags/tag19.xml><?xml version="1.0" encoding="utf-8"?>
<p:tagLst xmlns:a="http://schemas.openxmlformats.org/drawingml/2006/main" xmlns:r="http://schemas.openxmlformats.org/officeDocument/2006/relationships" xmlns:p="http://schemas.openxmlformats.org/presentationml/2006/main">
  <p:tag name="TIMING" val="|0.4|4.2"/>
</p:tagLst>
</file>

<file path=ppt/tags/tag20.xml><?xml version="1.0" encoding="utf-8"?>
<p:tagLst xmlns:a="http://schemas.openxmlformats.org/drawingml/2006/main" xmlns:r="http://schemas.openxmlformats.org/officeDocument/2006/relationships" xmlns:p="http://schemas.openxmlformats.org/presentationml/2006/main">
  <p:tag name="TIMING" val="|0.4|4.2"/>
</p:tagLst>
</file>

<file path=ppt/tags/tag21.xml><?xml version="1.0" encoding="utf-8"?>
<p:tagLst xmlns:a="http://schemas.openxmlformats.org/drawingml/2006/main" xmlns:r="http://schemas.openxmlformats.org/officeDocument/2006/relationships" xmlns:p="http://schemas.openxmlformats.org/presentationml/2006/main">
  <p:tag name="TIMING" val="|0.4|4.2"/>
</p:tagLst>
</file>

<file path=ppt/tags/tag22.xml><?xml version="1.0" encoding="utf-8"?>
<p:tagLst xmlns:a="http://schemas.openxmlformats.org/drawingml/2006/main" xmlns:r="http://schemas.openxmlformats.org/officeDocument/2006/relationships" xmlns:p="http://schemas.openxmlformats.org/presentationml/2006/main">
  <p:tag name="TIMING" val="|0.4|4.2"/>
</p:tagLst>
</file>

<file path=ppt/tags/tag23.xml><?xml version="1.0" encoding="utf-8"?>
<p:tagLst xmlns:a="http://schemas.openxmlformats.org/drawingml/2006/main" xmlns:r="http://schemas.openxmlformats.org/officeDocument/2006/relationships" xmlns:p="http://schemas.openxmlformats.org/presentationml/2006/main">
  <p:tag name="TIMING" val="|0.4|4.2"/>
</p:tagLst>
</file>

<file path=ppt/tags/tag24.xml><?xml version="1.0" encoding="utf-8"?>
<p:tagLst xmlns:a="http://schemas.openxmlformats.org/drawingml/2006/main" xmlns:r="http://schemas.openxmlformats.org/officeDocument/2006/relationships" xmlns:p="http://schemas.openxmlformats.org/presentationml/2006/main">
  <p:tag name="TIMING" val="|0.4|4.2"/>
</p:tagLst>
</file>

<file path=ppt/tags/tag25.xml><?xml version="1.0" encoding="utf-8"?>
<p:tagLst xmlns:a="http://schemas.openxmlformats.org/drawingml/2006/main" xmlns:r="http://schemas.openxmlformats.org/officeDocument/2006/relationships" xmlns:p="http://schemas.openxmlformats.org/presentationml/2006/main">
  <p:tag name="TIMING" val="|0.4|4.2"/>
</p:tagLst>
</file>

<file path=ppt/tags/tag26.xml><?xml version="1.0" encoding="utf-8"?>
<p:tagLst xmlns:a="http://schemas.openxmlformats.org/drawingml/2006/main" xmlns:r="http://schemas.openxmlformats.org/officeDocument/2006/relationships" xmlns:p="http://schemas.openxmlformats.org/presentationml/2006/main">
  <p:tag name="TIMING" val="|0.4|4.2"/>
</p:tagLst>
</file>

<file path=ppt/tags/tag27.xml><?xml version="1.0" encoding="utf-8"?>
<p:tagLst xmlns:a="http://schemas.openxmlformats.org/drawingml/2006/main" xmlns:r="http://schemas.openxmlformats.org/officeDocument/2006/relationships" xmlns:p="http://schemas.openxmlformats.org/presentationml/2006/main">
  <p:tag name="TIMING" val="|0.4|4.2"/>
</p:tagLst>
</file>

<file path=ppt/tags/tag28.xml><?xml version="1.0" encoding="utf-8"?>
<p:tagLst xmlns:a="http://schemas.openxmlformats.org/drawingml/2006/main" xmlns:r="http://schemas.openxmlformats.org/officeDocument/2006/relationships" xmlns:p="http://schemas.openxmlformats.org/presentationml/2006/main">
  <p:tag name="TIMING" val="|0.4|4.2"/>
</p:tagLst>
</file>

<file path=ppt/tags/tag29.xml><?xml version="1.0" encoding="utf-8"?>
<p:tagLst xmlns:a="http://schemas.openxmlformats.org/drawingml/2006/main" xmlns:r="http://schemas.openxmlformats.org/officeDocument/2006/relationships" xmlns:p="http://schemas.openxmlformats.org/presentationml/2006/main">
  <p:tag name="TIMING" val="|0.4|4.2"/>
</p:tagLst>
</file>

<file path=ppt/tags/tag30.xml><?xml version="1.0" encoding="utf-8"?>
<p:tagLst xmlns:a="http://schemas.openxmlformats.org/drawingml/2006/main" xmlns:r="http://schemas.openxmlformats.org/officeDocument/2006/relationships" xmlns:p="http://schemas.openxmlformats.org/presentationml/2006/main">
  <p:tag name="TIMING" val="|0.4|4.2"/>
</p:tagLst>
</file>

<file path=ppt/tags/tag31.xml><?xml version="1.0" encoding="utf-8"?>
<p:tagLst xmlns:a="http://schemas.openxmlformats.org/drawingml/2006/main" xmlns:r="http://schemas.openxmlformats.org/officeDocument/2006/relationships" xmlns:p="http://schemas.openxmlformats.org/presentationml/2006/main">
  <p:tag name="TIMING" val="|0.4|4.2"/>
</p:tagLst>
</file>

<file path=ppt/tags/tag32.xml><?xml version="1.0" encoding="utf-8"?>
<p:tagLst xmlns:a="http://schemas.openxmlformats.org/drawingml/2006/main" xmlns:r="http://schemas.openxmlformats.org/officeDocument/2006/relationships" xmlns:p="http://schemas.openxmlformats.org/presentationml/2006/main">
  <p:tag name="TIMING" val="|0.4|4.2"/>
</p:tagLst>
</file>

<file path=ppt/tags/tag33.xml><?xml version="1.0" encoding="utf-8"?>
<p:tagLst xmlns:a="http://schemas.openxmlformats.org/drawingml/2006/main" xmlns:r="http://schemas.openxmlformats.org/officeDocument/2006/relationships" xmlns:p="http://schemas.openxmlformats.org/presentationml/2006/main">
  <p:tag name="TIMING" val="|0.4|4.2"/>
</p:tagLst>
</file>

<file path=ppt/tags/tag34.xml><?xml version="1.0" encoding="utf-8"?>
<p:tagLst xmlns:a="http://schemas.openxmlformats.org/drawingml/2006/main" xmlns:r="http://schemas.openxmlformats.org/officeDocument/2006/relationships" xmlns:p="http://schemas.openxmlformats.org/presentationml/2006/main">
  <p:tag name="TIMING" val="|0.4|4.2"/>
</p:tagLst>
</file>

<file path=ppt/tags/tag35.xml><?xml version="1.0" encoding="utf-8"?>
<p:tagLst xmlns:a="http://schemas.openxmlformats.org/drawingml/2006/main" xmlns:r="http://schemas.openxmlformats.org/officeDocument/2006/relationships" xmlns:p="http://schemas.openxmlformats.org/presentationml/2006/main">
  <p:tag name="TIMING" val="|0.4|4.2"/>
</p:tagLst>
</file>

<file path=ppt/tags/tag36.xml><?xml version="1.0" encoding="utf-8"?>
<p:tagLst xmlns:a="http://schemas.openxmlformats.org/drawingml/2006/main" xmlns:r="http://schemas.openxmlformats.org/officeDocument/2006/relationships" xmlns:p="http://schemas.openxmlformats.org/presentationml/2006/main">
  <p:tag name="TIMING" val="|0.4|4.2"/>
</p:tagLst>
</file>

<file path=ppt/tags/tag37.xml><?xml version="1.0" encoding="utf-8"?>
<p:tagLst xmlns:a="http://schemas.openxmlformats.org/drawingml/2006/main" xmlns:r="http://schemas.openxmlformats.org/officeDocument/2006/relationships" xmlns:p="http://schemas.openxmlformats.org/presentationml/2006/main">
  <p:tag name="TIMING" val="|0.4|0.6"/>
</p:tagLst>
</file>

<file path=ppt/tags/tag38.xml><?xml version="1.0" encoding="utf-8"?>
<p:tagLst xmlns:a="http://schemas.openxmlformats.org/drawingml/2006/main" xmlns:r="http://schemas.openxmlformats.org/officeDocument/2006/relationships" xmlns:p="http://schemas.openxmlformats.org/presentationml/2006/main">
  <p:tag name="TIMING" val="|1.2|3.7|1|13.8|1"/>
</p:tagLst>
</file>

<file path=ppt/tags/tag39.xml><?xml version="1.0" encoding="utf-8"?>
<p:tagLst xmlns:a="http://schemas.openxmlformats.org/drawingml/2006/main" xmlns:r="http://schemas.openxmlformats.org/officeDocument/2006/relationships" xmlns:p="http://schemas.openxmlformats.org/presentationml/2006/main">
  <p:tag name="TIMING" val="|29.2|12.6"/>
</p:tagLst>
</file>

<file path=ppt/tags/tag40.xml><?xml version="1.0" encoding="utf-8"?>
<p:tagLst xmlns:a="http://schemas.openxmlformats.org/drawingml/2006/main" xmlns:r="http://schemas.openxmlformats.org/officeDocument/2006/relationships" xmlns:p="http://schemas.openxmlformats.org/presentationml/2006/main">
  <p:tag name="TIMING" val="|21.6|26.9|32.8|44.8"/>
</p:tagLst>
</file>

<file path=ppt/tags/tag41.xml><?xml version="1.0" encoding="utf-8"?>
<p:tagLst xmlns:a="http://schemas.openxmlformats.org/drawingml/2006/main" xmlns:r="http://schemas.openxmlformats.org/officeDocument/2006/relationships" xmlns:p="http://schemas.openxmlformats.org/presentationml/2006/main">
  <p:tag name="TIMING" val="|2.7|1.4|3.5|1|4.8|4.9|5.1"/>
</p:tagLst>
</file>

<file path=ppt/tags/tag42.xml><?xml version="1.0" encoding="utf-8"?>
<p:tagLst xmlns:a="http://schemas.openxmlformats.org/drawingml/2006/main" xmlns:r="http://schemas.openxmlformats.org/officeDocument/2006/relationships" xmlns:p="http://schemas.openxmlformats.org/presentationml/2006/main">
  <p:tag name="TIMING" val="|0.5|0.5|4.8|0.3|0.4"/>
</p:tagLst>
</file>

<file path=ppt/tags/tag43.xml><?xml version="1.0" encoding="utf-8"?>
<p:tagLst xmlns:a="http://schemas.openxmlformats.org/drawingml/2006/main" xmlns:r="http://schemas.openxmlformats.org/officeDocument/2006/relationships" xmlns:p="http://schemas.openxmlformats.org/presentationml/2006/main">
  <p:tag name="TIMING" val="|4.5|0.4|3.6|0.3|0.2|0.2|0.3"/>
</p:tagLst>
</file>

<file path=ppt/tags/tag44.xml><?xml version="1.0" encoding="utf-8"?>
<p:tagLst xmlns:a="http://schemas.openxmlformats.org/drawingml/2006/main" xmlns:r="http://schemas.openxmlformats.org/officeDocument/2006/relationships" xmlns:p="http://schemas.openxmlformats.org/presentationml/2006/main">
  <p:tag name="TIMING" val="|0.3"/>
</p:tagLst>
</file>

<file path=ppt/tags/tag45.xml><?xml version="1.0" encoding="utf-8"?>
<p:tagLst xmlns:a="http://schemas.openxmlformats.org/drawingml/2006/main" xmlns:r="http://schemas.openxmlformats.org/officeDocument/2006/relationships" xmlns:p="http://schemas.openxmlformats.org/presentationml/2006/main">
  <p:tag name="TIMING" val="|0.1|0.1"/>
</p:tagLst>
</file>

<file path=ppt/tags/tag46.xml><?xml version="1.0" encoding="utf-8"?>
<p:tagLst xmlns:a="http://schemas.openxmlformats.org/drawingml/2006/main" xmlns:r="http://schemas.openxmlformats.org/officeDocument/2006/relationships" xmlns:p="http://schemas.openxmlformats.org/presentationml/2006/main">
  <p:tag name="TIMING" val="|0.3"/>
</p:tagLst>
</file>

<file path=ppt/tags/tag47.xml><?xml version="1.0" encoding="utf-8"?>
<p:tagLst xmlns:a="http://schemas.openxmlformats.org/drawingml/2006/main" xmlns:r="http://schemas.openxmlformats.org/officeDocument/2006/relationships" xmlns:p="http://schemas.openxmlformats.org/presentationml/2006/main">
  <p:tag name="TIMING" val="|0.3"/>
</p:tagLst>
</file>

<file path=ppt/tags/tag48.xml><?xml version="1.0" encoding="utf-8"?>
<p:tagLst xmlns:a="http://schemas.openxmlformats.org/drawingml/2006/main" xmlns:r="http://schemas.openxmlformats.org/officeDocument/2006/relationships" xmlns:p="http://schemas.openxmlformats.org/presentationml/2006/main">
  <p:tag name="TIMING" val="|0.4"/>
</p:tagLst>
</file>

<file path=ppt/tags/tag49.xml><?xml version="1.0" encoding="utf-8"?>
<p:tagLst xmlns:a="http://schemas.openxmlformats.org/drawingml/2006/main" xmlns:r="http://schemas.openxmlformats.org/officeDocument/2006/relationships" xmlns:p="http://schemas.openxmlformats.org/presentationml/2006/main">
  <p:tag name="TIMING" val="|0.1|8.6|0.4|0.4|0.5"/>
</p:tagLst>
</file>

<file path=ppt/tags/tag50.xml><?xml version="1.0" encoding="utf-8"?>
<p:tagLst xmlns:a="http://schemas.openxmlformats.org/drawingml/2006/main" xmlns:r="http://schemas.openxmlformats.org/officeDocument/2006/relationships" xmlns:p="http://schemas.openxmlformats.org/presentationml/2006/main">
  <p:tag name="TIMING" val="|0.6|0.3|0.3|0.4"/>
</p:tagLst>
</file>

<file path=ppt/tags/tag51.xml><?xml version="1.0" encoding="utf-8"?>
<p:tagLst xmlns:a="http://schemas.openxmlformats.org/drawingml/2006/main" xmlns:r="http://schemas.openxmlformats.org/officeDocument/2006/relationships" xmlns:p="http://schemas.openxmlformats.org/presentationml/2006/main">
  <p:tag name="TIMING" val="|0.2|0.2|0.4|0.3|0.2|5.9|0.4"/>
</p:tagLst>
</file>

<file path=ppt/tags/tag52.xml><?xml version="1.0" encoding="utf-8"?>
<p:tagLst xmlns:a="http://schemas.openxmlformats.org/drawingml/2006/main" xmlns:r="http://schemas.openxmlformats.org/officeDocument/2006/relationships" xmlns:p="http://schemas.openxmlformats.org/presentationml/2006/main">
  <p:tag name="TIMING" val="|0.3|0.2|0.2"/>
</p:tagLst>
</file>

<file path=ppt/tags/tag53.xml><?xml version="1.0" encoding="utf-8"?>
<p:tagLst xmlns:a="http://schemas.openxmlformats.org/drawingml/2006/main" xmlns:r="http://schemas.openxmlformats.org/officeDocument/2006/relationships" xmlns:p="http://schemas.openxmlformats.org/presentationml/2006/main">
  <p:tag name="TIMING" val="|0.3|0.2|0.2"/>
</p:tagLst>
</file>

<file path=ppt/tags/tag54.xml><?xml version="1.0" encoding="utf-8"?>
<p:tagLst xmlns:a="http://schemas.openxmlformats.org/drawingml/2006/main" xmlns:r="http://schemas.openxmlformats.org/officeDocument/2006/relationships" xmlns:p="http://schemas.openxmlformats.org/presentationml/2006/main">
  <p:tag name="TIMING" val="|0|4.9|0.4|0.5"/>
</p:tagLst>
</file>

<file path=ppt/tags/tag55.xml><?xml version="1.0" encoding="utf-8"?>
<p:tagLst xmlns:a="http://schemas.openxmlformats.org/drawingml/2006/main" xmlns:r="http://schemas.openxmlformats.org/officeDocument/2006/relationships" xmlns:p="http://schemas.openxmlformats.org/presentationml/2006/main">
  <p:tag name="TIMING" val="|0"/>
</p:tagLst>
</file>

<file path=ppt/tags/tag56.xml><?xml version="1.0" encoding="utf-8"?>
<p:tagLst xmlns:a="http://schemas.openxmlformats.org/drawingml/2006/main" xmlns:r="http://schemas.openxmlformats.org/officeDocument/2006/relationships" xmlns:p="http://schemas.openxmlformats.org/presentationml/2006/main">
  <p:tag name="TIMING" val="|0"/>
</p:tagLst>
</file>

<file path=ppt/tags/tag57.xml><?xml version="1.0" encoding="utf-8"?>
<p:tagLst xmlns:a="http://schemas.openxmlformats.org/drawingml/2006/main" xmlns:r="http://schemas.openxmlformats.org/officeDocument/2006/relationships" xmlns:p="http://schemas.openxmlformats.org/presentationml/2006/main">
  <p:tag name="TIMING" val="|2.6|6.8|4.2|3.5|0.4"/>
</p:tagLst>
</file>

<file path=ppt/tags/tag58.xml><?xml version="1.0" encoding="utf-8"?>
<p:tagLst xmlns:a="http://schemas.openxmlformats.org/drawingml/2006/main" xmlns:r="http://schemas.openxmlformats.org/officeDocument/2006/relationships" xmlns:p="http://schemas.openxmlformats.org/presentationml/2006/main">
  <p:tag name="TIMING" val="|0|0"/>
</p:tagLst>
</file>

<file path=ppt/tags/tag59.xml><?xml version="1.0" encoding="utf-8"?>
<p:tagLst xmlns:a="http://schemas.openxmlformats.org/drawingml/2006/main" xmlns:r="http://schemas.openxmlformats.org/officeDocument/2006/relationships" xmlns:p="http://schemas.openxmlformats.org/presentationml/2006/main">
  <p:tag name="TIMING" val="|0|0|8.1|0.5|0.4"/>
</p:tagLst>
</file>

<file path=ppt/tags/tag60.xml><?xml version="1.0" encoding="utf-8"?>
<p:tagLst xmlns:a="http://schemas.openxmlformats.org/drawingml/2006/main" xmlns:r="http://schemas.openxmlformats.org/officeDocument/2006/relationships" xmlns:p="http://schemas.openxmlformats.org/presentationml/2006/main">
  <p:tag name="TIMING" val="|0.4"/>
</p:tagLst>
</file>

<file path=ppt/tags/tag61.xml><?xml version="1.0" encoding="utf-8"?>
<p:tagLst xmlns:a="http://schemas.openxmlformats.org/drawingml/2006/main" xmlns:r="http://schemas.openxmlformats.org/officeDocument/2006/relationships" xmlns:p="http://schemas.openxmlformats.org/presentationml/2006/main">
  <p:tag name="TIMING" val="|0.1|0.2"/>
</p:tagLst>
</file>

<file path=ppt/tags/tag62.xml><?xml version="1.0" encoding="utf-8"?>
<p:tagLst xmlns:a="http://schemas.openxmlformats.org/drawingml/2006/main" xmlns:r="http://schemas.openxmlformats.org/officeDocument/2006/relationships" xmlns:p="http://schemas.openxmlformats.org/presentationml/2006/main">
  <p:tag name="TIMING" val="|1.9|5.5|1.8"/>
</p:tagLst>
</file>

<file path=ppt/tags/tag63.xml><?xml version="1.0" encoding="utf-8"?>
<p:tagLst xmlns:a="http://schemas.openxmlformats.org/drawingml/2006/main" xmlns:r="http://schemas.openxmlformats.org/officeDocument/2006/relationships" xmlns:p="http://schemas.openxmlformats.org/presentationml/2006/main">
  <p:tag name="TIMING" val="|4.3|8.4|9.4"/>
</p:tagLst>
</file>

<file path=ppt/tags/tag64.xml><?xml version="1.0" encoding="utf-8"?>
<p:tagLst xmlns:a="http://schemas.openxmlformats.org/drawingml/2006/main" xmlns:r="http://schemas.openxmlformats.org/officeDocument/2006/relationships" xmlns:p="http://schemas.openxmlformats.org/presentationml/2006/main">
  <p:tag name="TIMING" val="|5.2|30.7|0.6"/>
</p:tagLst>
</file>

<file path=ppt/tags/tag65.xml><?xml version="1.0" encoding="utf-8"?>
<p:tagLst xmlns:a="http://schemas.openxmlformats.org/drawingml/2006/main" xmlns:r="http://schemas.openxmlformats.org/officeDocument/2006/relationships" xmlns:p="http://schemas.openxmlformats.org/presentationml/2006/main">
  <p:tag name="TIMING" val="|2"/>
</p:tagLst>
</file>

<file path=ppt/tags/tag66.xml><?xml version="1.0" encoding="utf-8"?>
<p:tagLst xmlns:a="http://schemas.openxmlformats.org/drawingml/2006/main" xmlns:r="http://schemas.openxmlformats.org/officeDocument/2006/relationships" xmlns:p="http://schemas.openxmlformats.org/presentationml/2006/main">
  <p:tag name="TIMING" val="|0.6"/>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14772</TotalTime>
  <Words>4638</Words>
  <Application>Microsoft Office PowerPoint</Application>
  <PresentationFormat>On-screen Show (4:3)</PresentationFormat>
  <Paragraphs>1114</Paragraphs>
  <Slides>101</Slides>
  <Notes>77</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14" baseType="lpstr">
      <vt:lpstr>Microsoft YaHei Light</vt:lpstr>
      <vt:lpstr>MS PGothic</vt:lpstr>
      <vt:lpstr>MS PGothic</vt:lpstr>
      <vt:lpstr>SimSun</vt:lpstr>
      <vt:lpstr>等线</vt:lpstr>
      <vt:lpstr>Arial</vt:lpstr>
      <vt:lpstr>Cambria Math</vt:lpstr>
      <vt:lpstr>Comic Sans MS</vt:lpstr>
      <vt:lpstr>Tahoma</vt:lpstr>
      <vt:lpstr>Times New Roman</vt:lpstr>
      <vt:lpstr>Wingdings</vt:lpstr>
      <vt:lpstr>Blends</vt:lpstr>
      <vt:lpstr>Equation</vt:lpstr>
      <vt:lpstr>机器学习课程第三讲 深度学习基础：多层感知器</vt:lpstr>
      <vt:lpstr>课程大纲</vt:lpstr>
      <vt:lpstr>课程大纲：稍作调整</vt:lpstr>
      <vt:lpstr>课程大纲：稍作调整</vt:lpstr>
      <vt:lpstr>课程大纲：稍作调整</vt:lpstr>
      <vt:lpstr>线性与非线性</vt:lpstr>
      <vt:lpstr>人造问题1</vt:lpstr>
      <vt:lpstr>非线性问题</vt:lpstr>
      <vt:lpstr>非线性问题</vt:lpstr>
      <vt:lpstr>线性近似</vt:lpstr>
      <vt:lpstr>人造问题2</vt:lpstr>
      <vt:lpstr> 另一个非线性问题</vt:lpstr>
      <vt:lpstr> 另一个非线性问题</vt:lpstr>
      <vt:lpstr>本质非线性问题</vt:lpstr>
      <vt:lpstr>变换</vt:lpstr>
      <vt:lpstr>非线性 → 线性</vt:lpstr>
      <vt:lpstr>从已有的属性中创造新属性</vt:lpstr>
      <vt:lpstr> 作为神经细胞的感知器</vt:lpstr>
      <vt:lpstr>  Logistic Regression神经细胞</vt:lpstr>
      <vt:lpstr> 线性整流（Rectifier）神经细胞</vt:lpstr>
      <vt:lpstr> 通常的神经细胞</vt:lpstr>
      <vt:lpstr> 复杂神经网络</vt:lpstr>
      <vt:lpstr> 复杂神经网络</vt:lpstr>
      <vt:lpstr> 复杂神经网络</vt:lpstr>
      <vt:lpstr>三层感知器</vt:lpstr>
      <vt:lpstr>三层感知器</vt:lpstr>
      <vt:lpstr>三层感知器</vt:lpstr>
      <vt:lpstr>三层感知器</vt:lpstr>
      <vt:lpstr>三层感知器</vt:lpstr>
      <vt:lpstr>三层感知器</vt:lpstr>
      <vt:lpstr>三层感知器</vt:lpstr>
      <vt:lpstr>三层感知器</vt:lpstr>
      <vt:lpstr>三层感知器</vt:lpstr>
      <vt:lpstr>三层感知器</vt:lpstr>
      <vt:lpstr>多层感知器的训练：极大似然估计</vt:lpstr>
      <vt:lpstr>前向计算</vt:lpstr>
      <vt:lpstr>计算偏导数：反向传播</vt:lpstr>
      <vt:lpstr>计算偏导数：反向传播</vt:lpstr>
      <vt:lpstr>计算偏导数：反向传播</vt:lpstr>
      <vt:lpstr>计算偏导数：反向传播</vt:lpstr>
      <vt:lpstr>计算偏导数：反向传播</vt:lpstr>
      <vt:lpstr>计算偏导数：反向传播</vt:lpstr>
      <vt:lpstr>计算偏导数：反向传播</vt:lpstr>
      <vt:lpstr>计算偏导数：反向传播</vt:lpstr>
      <vt:lpstr>计算偏导数：反向传播</vt:lpstr>
      <vt:lpstr>计算偏导数：反向传播</vt:lpstr>
      <vt:lpstr> 如果你还记得</vt:lpstr>
      <vt:lpstr>陷阱</vt:lpstr>
      <vt:lpstr>很多改善的技巧</vt:lpstr>
      <vt:lpstr>用于手写邮政编码识别</vt:lpstr>
      <vt:lpstr>Dropout</vt:lpstr>
      <vt:lpstr>Dropout</vt:lpstr>
      <vt:lpstr>Dropout</vt:lpstr>
      <vt:lpstr>Dropout</vt:lpstr>
      <vt:lpstr>Dropout</vt:lpstr>
      <vt:lpstr>Dropout</vt:lpstr>
      <vt:lpstr>Dropout</vt:lpstr>
      <vt:lpstr>Dropout</vt:lpstr>
      <vt:lpstr>Dropout</vt:lpstr>
      <vt:lpstr>Dropout</vt:lpstr>
      <vt:lpstr>为什么要用Dropout</vt:lpstr>
      <vt:lpstr>用于手写邮政编码识别</vt:lpstr>
      <vt:lpstr>深度学习中的常客 (1)</vt:lpstr>
      <vt:lpstr>深度学习中的常客 (2)</vt:lpstr>
      <vt:lpstr>回到手写邮政编码识别</vt:lpstr>
      <vt:lpstr>二维算子</vt:lpstr>
      <vt:lpstr>二维算子</vt:lpstr>
      <vt:lpstr>二维算子</vt:lpstr>
      <vt:lpstr>二维算子</vt:lpstr>
      <vt:lpstr>二维算子</vt:lpstr>
      <vt:lpstr>二维算子</vt:lpstr>
      <vt:lpstr>二维算子</vt:lpstr>
      <vt:lpstr>二维算子</vt:lpstr>
      <vt:lpstr>二维算子</vt:lpstr>
      <vt:lpstr>二维算子</vt:lpstr>
      <vt:lpstr>二维算子</vt:lpstr>
      <vt:lpstr>二维算子</vt:lpstr>
      <vt:lpstr>二维算子</vt:lpstr>
      <vt:lpstr>局部模式抽取</vt:lpstr>
      <vt:lpstr>局部模式抽取</vt:lpstr>
      <vt:lpstr>局部模式抽取</vt:lpstr>
      <vt:lpstr>局部模式抽取</vt:lpstr>
      <vt:lpstr>局部模式抽取</vt:lpstr>
      <vt:lpstr>局部模式抽取</vt:lpstr>
      <vt:lpstr>张量（Tensor）算子</vt:lpstr>
      <vt:lpstr>张量（Tensor）算子</vt:lpstr>
      <vt:lpstr>张量（Tensor）算子</vt:lpstr>
      <vt:lpstr>模式图降维采样</vt:lpstr>
      <vt:lpstr>模式图降维采样</vt:lpstr>
      <vt:lpstr>模式图降维采样</vt:lpstr>
      <vt:lpstr>用于USPS的复杂神经网络</vt:lpstr>
      <vt:lpstr>用于USPS的复杂神经网络</vt:lpstr>
      <vt:lpstr>用于USPS的复杂神经网络</vt:lpstr>
      <vt:lpstr>于USPS的复杂神经网络</vt:lpstr>
      <vt:lpstr>用于USPS的复杂神经网络</vt:lpstr>
      <vt:lpstr>用于USPS的复杂神经网络</vt:lpstr>
      <vt:lpstr>用于USPS的复杂神经网络</vt:lpstr>
      <vt:lpstr>用于USPS的复杂神经网络</vt:lpstr>
      <vt:lpstr>用于手写邮政编码识别</vt:lpstr>
      <vt:lpstr>今天的总结</vt:lpstr>
      <vt:lpstr>The End</vt:lpstr>
    </vt:vector>
  </TitlesOfParts>
  <Company>Children's Computer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1. General Introduction</dc:title>
  <dc:creator>Cong Li</dc:creator>
  <cp:keywords>CTPClassification=CTP_NT</cp:keywords>
  <cp:lastModifiedBy>Li, Cong</cp:lastModifiedBy>
  <cp:revision>1230</cp:revision>
  <dcterms:created xsi:type="dcterms:W3CDTF">2003-03-13T01:36:43Z</dcterms:created>
  <dcterms:modified xsi:type="dcterms:W3CDTF">2025-03-22T09:35:39Z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c0c0107d-b9fb-42c2-8cad-18a954c0a4de</vt:lpwstr>
  </property>
  <property fmtid="{D5CDD505-2E9C-101B-9397-08002B2CF9AE}" pid="3" name="CTP_TimeStamp">
    <vt:lpwstr>2020-08-17 11:43:15Z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