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notesSlides/notesSlide8.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notesSlides/notesSlide11.xml" ContentType="application/vnd.openxmlformats-officedocument.presentationml.notesSlide+xml"/>
  <Override PartName="/ppt/tags/tag19.xml" ContentType="application/vnd.openxmlformats-officedocument.presentationml.tags+xml"/>
  <Override PartName="/ppt/notesSlides/notesSlide12.xml" ContentType="application/vnd.openxmlformats-officedocument.presentationml.notesSlide+xml"/>
  <Override PartName="/ppt/tags/tag20.xml" ContentType="application/vnd.openxmlformats-officedocument.presentationml.tags+xml"/>
  <Override PartName="/ppt/notesSlides/notesSlide13.xml" ContentType="application/vnd.openxmlformats-officedocument.presentationml.notesSlide+xml"/>
  <Override PartName="/ppt/tags/tag21.xml" ContentType="application/vnd.openxmlformats-officedocument.presentationml.tags+xml"/>
  <Override PartName="/ppt/notesSlides/notesSlide14.xml" ContentType="application/vnd.openxmlformats-officedocument.presentationml.notesSlide+xml"/>
  <Override PartName="/ppt/tags/tag22.xml" ContentType="application/vnd.openxmlformats-officedocument.presentationml.tags+xml"/>
  <Override PartName="/ppt/notesSlides/notesSlide15.xml" ContentType="application/vnd.openxmlformats-officedocument.presentationml.notesSlide+xml"/>
  <Override PartName="/ppt/tags/tag23.xml" ContentType="application/vnd.openxmlformats-officedocument.presentationml.tags+xml"/>
  <Override PartName="/ppt/notesSlides/notesSlide16.xml" ContentType="application/vnd.openxmlformats-officedocument.presentationml.notesSlide+xml"/>
  <Override PartName="/ppt/tags/tag24.xml" ContentType="application/vnd.openxmlformats-officedocument.presentationml.tags+xml"/>
  <Override PartName="/ppt/notesSlides/notesSlide17.xml" ContentType="application/vnd.openxmlformats-officedocument.presentationml.notesSlide+xml"/>
  <Override PartName="/ppt/tags/tag25.xml" ContentType="application/vnd.openxmlformats-officedocument.presentationml.tags+xml"/>
  <Override PartName="/ppt/notesSlides/notesSlide18.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9.xml" ContentType="application/vnd.openxmlformats-officedocument.presentationml.notesSlide+xml"/>
  <Override PartName="/ppt/tags/tag29.xml" ContentType="application/vnd.openxmlformats-officedocument.presentationml.tags+xml"/>
  <Override PartName="/ppt/notesSlides/notesSlide20.xml" ContentType="application/vnd.openxmlformats-officedocument.presentationml.notesSlide+xml"/>
  <Override PartName="/ppt/tags/tag30.xml" ContentType="application/vnd.openxmlformats-officedocument.presentationml.tags+xml"/>
  <Override PartName="/ppt/notesSlides/notesSlide2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22.xml" ContentType="application/vnd.openxmlformats-officedocument.presentationml.notesSlide+xml"/>
  <Override PartName="/ppt/tags/tag33.xml" ContentType="application/vnd.openxmlformats-officedocument.presentationml.tags+xml"/>
  <Override PartName="/ppt/notesSlides/notesSlide2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4.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25.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26.xml" ContentType="application/vnd.openxmlformats-officedocument.presentationml.notesSlide+xml"/>
  <Override PartName="/ppt/tags/tag68.xml" ContentType="application/vnd.openxmlformats-officedocument.presentationml.tags+xml"/>
  <Override PartName="/ppt/notesSlides/notesSlide27.xml" ContentType="application/vnd.openxmlformats-officedocument.presentationml.notesSlide+xml"/>
  <Override PartName="/ppt/tags/tag69.xml" ContentType="application/vnd.openxmlformats-officedocument.presentationml.tags+xml"/>
  <Override PartName="/ppt/notesSlides/notesSlide28.xml" ContentType="application/vnd.openxmlformats-officedocument.presentationml.notesSlide+xml"/>
  <Override PartName="/ppt/tags/tag70.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notesSlides/notesSlide33.xml" ContentType="application/vnd.openxmlformats-officedocument.presentationml.notesSlide+xml"/>
  <Override PartName="/ppt/tags/tag73.xml" ContentType="application/vnd.openxmlformats-officedocument.presentationml.tags+xml"/>
  <Override PartName="/ppt/notesSlides/notesSlide3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35.xml" ContentType="application/vnd.openxmlformats-officedocument.presentationml.notesSlide+xml"/>
  <Override PartName="/ppt/tags/tag77.xml" ContentType="application/vnd.openxmlformats-officedocument.presentationml.tags+xml"/>
  <Override PartName="/ppt/notesSlides/notesSlide36.xml" ContentType="application/vnd.openxmlformats-officedocument.presentationml.notesSlide+xml"/>
  <Override PartName="/ppt/tags/tag78.xml" ContentType="application/vnd.openxmlformats-officedocument.presentationml.tags+xml"/>
  <Override PartName="/ppt/notesSlides/notesSlide37.xml" ContentType="application/vnd.openxmlformats-officedocument.presentationml.notesSlide+xml"/>
  <Override PartName="/ppt/tags/tag79.xml" ContentType="application/vnd.openxmlformats-officedocument.presentationml.tags+xml"/>
  <Override PartName="/ppt/notesSlides/notesSlide38.xml" ContentType="application/vnd.openxmlformats-officedocument.presentationml.notesSlide+xml"/>
  <Override PartName="/ppt/tags/tag80.xml" ContentType="application/vnd.openxmlformats-officedocument.presentationml.tags+xml"/>
  <Override PartName="/ppt/notesSlides/notesSlide39.xml" ContentType="application/vnd.openxmlformats-officedocument.presentationml.notesSlide+xml"/>
  <Override PartName="/ppt/tags/tag81.xml" ContentType="application/vnd.openxmlformats-officedocument.presentationml.tags+xml"/>
  <Override PartName="/ppt/notesSlides/notesSlide40.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100"/>
  </p:notesMasterIdLst>
  <p:handoutMasterIdLst>
    <p:handoutMasterId r:id="rId101"/>
  </p:handoutMasterIdLst>
  <p:sldIdLst>
    <p:sldId id="680" r:id="rId2"/>
    <p:sldId id="286" r:id="rId3"/>
    <p:sldId id="370" r:id="rId4"/>
    <p:sldId id="452" r:id="rId5"/>
    <p:sldId id="398" r:id="rId6"/>
    <p:sldId id="454" r:id="rId7"/>
    <p:sldId id="455" r:id="rId8"/>
    <p:sldId id="456" r:id="rId9"/>
    <p:sldId id="457" r:id="rId10"/>
    <p:sldId id="394" r:id="rId11"/>
    <p:sldId id="458" r:id="rId12"/>
    <p:sldId id="459" r:id="rId13"/>
    <p:sldId id="460" r:id="rId14"/>
    <p:sldId id="461" r:id="rId15"/>
    <p:sldId id="462" r:id="rId16"/>
    <p:sldId id="397" r:id="rId17"/>
    <p:sldId id="463" r:id="rId18"/>
    <p:sldId id="399" r:id="rId19"/>
    <p:sldId id="402" r:id="rId20"/>
    <p:sldId id="464" r:id="rId21"/>
    <p:sldId id="405" r:id="rId22"/>
    <p:sldId id="373" r:id="rId23"/>
    <p:sldId id="407" r:id="rId24"/>
    <p:sldId id="414" r:id="rId25"/>
    <p:sldId id="372" r:id="rId26"/>
    <p:sldId id="408" r:id="rId27"/>
    <p:sldId id="410" r:id="rId28"/>
    <p:sldId id="409" r:id="rId29"/>
    <p:sldId id="411" r:id="rId30"/>
    <p:sldId id="412" r:id="rId31"/>
    <p:sldId id="465" r:id="rId32"/>
    <p:sldId id="470" r:id="rId33"/>
    <p:sldId id="426" r:id="rId34"/>
    <p:sldId id="471" r:id="rId35"/>
    <p:sldId id="472" r:id="rId36"/>
    <p:sldId id="473" r:id="rId37"/>
    <p:sldId id="474" r:id="rId38"/>
    <p:sldId id="385" r:id="rId39"/>
    <p:sldId id="475" r:id="rId40"/>
    <p:sldId id="476" r:id="rId41"/>
    <p:sldId id="477" r:id="rId42"/>
    <p:sldId id="539" r:id="rId43"/>
    <p:sldId id="540" r:id="rId44"/>
    <p:sldId id="541" r:id="rId45"/>
    <p:sldId id="542" r:id="rId46"/>
    <p:sldId id="543" r:id="rId47"/>
    <p:sldId id="677" r:id="rId48"/>
    <p:sldId id="678" r:id="rId49"/>
    <p:sldId id="544" r:id="rId50"/>
    <p:sldId id="545" r:id="rId51"/>
    <p:sldId id="546" r:id="rId52"/>
    <p:sldId id="548" r:id="rId53"/>
    <p:sldId id="547" r:id="rId54"/>
    <p:sldId id="549" r:id="rId55"/>
    <p:sldId id="550" r:id="rId56"/>
    <p:sldId id="552" r:id="rId57"/>
    <p:sldId id="553" r:id="rId58"/>
    <p:sldId id="554" r:id="rId59"/>
    <p:sldId id="555" r:id="rId60"/>
    <p:sldId id="556" r:id="rId61"/>
    <p:sldId id="557" r:id="rId62"/>
    <p:sldId id="558" r:id="rId63"/>
    <p:sldId id="671" r:id="rId64"/>
    <p:sldId id="559" r:id="rId65"/>
    <p:sldId id="560" r:id="rId66"/>
    <p:sldId id="561" r:id="rId67"/>
    <p:sldId id="681" r:id="rId68"/>
    <p:sldId id="563" r:id="rId69"/>
    <p:sldId id="564" r:id="rId70"/>
    <p:sldId id="565" r:id="rId71"/>
    <p:sldId id="529" r:id="rId72"/>
    <p:sldId id="530" r:id="rId73"/>
    <p:sldId id="668" r:id="rId74"/>
    <p:sldId id="669" r:id="rId75"/>
    <p:sldId id="670" r:id="rId76"/>
    <p:sldId id="663" r:id="rId77"/>
    <p:sldId id="664" r:id="rId78"/>
    <p:sldId id="665" r:id="rId79"/>
    <p:sldId id="666" r:id="rId80"/>
    <p:sldId id="667" r:id="rId81"/>
    <p:sldId id="672" r:id="rId82"/>
    <p:sldId id="440" r:id="rId83"/>
    <p:sldId id="441" r:id="rId84"/>
    <p:sldId id="673" r:id="rId85"/>
    <p:sldId id="444" r:id="rId86"/>
    <p:sldId id="445" r:id="rId87"/>
    <p:sldId id="446" r:id="rId88"/>
    <p:sldId id="447" r:id="rId89"/>
    <p:sldId id="448" r:id="rId90"/>
    <p:sldId id="449" r:id="rId91"/>
    <p:sldId id="450" r:id="rId92"/>
    <p:sldId id="675" r:id="rId93"/>
    <p:sldId id="612" r:id="rId94"/>
    <p:sldId id="613" r:id="rId95"/>
    <p:sldId id="614" r:id="rId96"/>
    <p:sldId id="615" r:id="rId97"/>
    <p:sldId id="676" r:id="rId98"/>
    <p:sldId id="353" r:id="rId99"/>
  </p:sldIdLst>
  <p:sldSz cx="9144000" cy="6858000" type="screen4x3"/>
  <p:notesSz cx="7010400" cy="92964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3D1"/>
    <a:srgbClr val="339933"/>
    <a:srgbClr val="333399"/>
    <a:srgbClr val="B2B2B2"/>
    <a:srgbClr val="993366"/>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46" autoAdjust="0"/>
    <p:restoredTop sz="87955" autoAdjust="0"/>
  </p:normalViewPr>
  <p:slideViewPr>
    <p:cSldViewPr>
      <p:cViewPr varScale="1">
        <p:scale>
          <a:sx n="64" d="100"/>
          <a:sy n="64" d="100"/>
        </p:scale>
        <p:origin x="10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275" y="6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bwMode="auto">
          <a:xfrm>
            <a:off x="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68963" name="Rectangle 3"/>
          <p:cNvSpPr>
            <a:spLocks noGrp="1" noChangeArrowheads="1"/>
          </p:cNvSpPr>
          <p:nvPr>
            <p:ph type="dt" sz="quarter" idx="1"/>
          </p:nvPr>
        </p:nvSpPr>
        <p:spPr bwMode="auto">
          <a:xfrm>
            <a:off x="396240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68964" name="Rectangle 4"/>
          <p:cNvSpPr>
            <a:spLocks noGrp="1" noChangeArrowheads="1"/>
          </p:cNvSpPr>
          <p:nvPr>
            <p:ph type="ftr" sz="quarter" idx="2"/>
          </p:nvPr>
        </p:nvSpPr>
        <p:spPr bwMode="auto">
          <a:xfrm>
            <a:off x="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68965" name="Rectangle 5"/>
          <p:cNvSpPr>
            <a:spLocks noGrp="1" noChangeArrowheads="1"/>
          </p:cNvSpPr>
          <p:nvPr>
            <p:ph type="sldNum" sz="quarter" idx="3"/>
          </p:nvPr>
        </p:nvSpPr>
        <p:spPr bwMode="auto">
          <a:xfrm>
            <a:off x="396240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1FF96B3-5193-4D4F-ADAC-C41F873FC327}" type="slidenum">
              <a:rPr lang="en-US" altLang="zh-CN"/>
              <a:pPr>
                <a:defRPr/>
              </a:pPr>
              <a:t>‹#›</a:t>
            </a:fld>
            <a:endParaRPr lang="en-US" altLang="zh-CN"/>
          </a:p>
        </p:txBody>
      </p:sp>
    </p:spTree>
    <p:extLst>
      <p:ext uri="{BB962C8B-B14F-4D97-AF65-F5344CB8AC3E}">
        <p14:creationId xmlns:p14="http://schemas.microsoft.com/office/powerpoint/2010/main" val="11295822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3" name="Rectangle 3"/>
          <p:cNvSpPr>
            <a:spLocks noGrp="1" noChangeArrowheads="1"/>
          </p:cNvSpPr>
          <p:nvPr>
            <p:ph type="dt" idx="1"/>
          </p:nvPr>
        </p:nvSpPr>
        <p:spPr bwMode="auto">
          <a:xfrm>
            <a:off x="3971925"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7" name="Rectangle 7"/>
          <p:cNvSpPr>
            <a:spLocks noGrp="1" noChangeArrowheads="1"/>
          </p:cNvSpPr>
          <p:nvPr>
            <p:ph type="sldNum" sz="quarter" idx="5"/>
          </p:nvPr>
        </p:nvSpPr>
        <p:spPr bwMode="auto">
          <a:xfrm>
            <a:off x="3971925"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C806C1B-B03E-46DA-85CD-D90BC0B37545}" type="slidenum">
              <a:rPr lang="en-US" altLang="zh-CN"/>
              <a:pPr>
                <a:defRPr/>
              </a:pPr>
              <a:t>‹#›</a:t>
            </a:fld>
            <a:endParaRPr lang="en-US" altLang="zh-CN"/>
          </a:p>
        </p:txBody>
      </p:sp>
    </p:spTree>
    <p:extLst>
      <p:ext uri="{BB962C8B-B14F-4D97-AF65-F5344CB8AC3E}">
        <p14:creationId xmlns:p14="http://schemas.microsoft.com/office/powerpoint/2010/main" val="108636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SimSun"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SimSun"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SimSun"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SimSun"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SimSun"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D2CF438-6F28-4EDA-8826-7EA47CD870C5}" type="slidenum">
              <a:rPr lang="en-US" altLang="zh-CN" smtClean="0">
                <a:latin typeface="Arial" panose="020B0604020202020204" pitchFamily="34" charset="0"/>
              </a:rPr>
              <a:pPr/>
              <a:t>2</a:t>
            </a:fld>
            <a:endParaRPr lang="en-US" altLang="zh-CN">
              <a:latin typeface="Arial"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893111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11</a:t>
            </a:fld>
            <a:endParaRPr lang="en-US" altLang="zh-CN"/>
          </a:p>
        </p:txBody>
      </p:sp>
    </p:spTree>
    <p:extLst>
      <p:ext uri="{BB962C8B-B14F-4D97-AF65-F5344CB8AC3E}">
        <p14:creationId xmlns:p14="http://schemas.microsoft.com/office/powerpoint/2010/main" val="3843440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12</a:t>
            </a:fld>
            <a:endParaRPr lang="en-US" altLang="zh-CN"/>
          </a:p>
        </p:txBody>
      </p:sp>
    </p:spTree>
    <p:extLst>
      <p:ext uri="{BB962C8B-B14F-4D97-AF65-F5344CB8AC3E}">
        <p14:creationId xmlns:p14="http://schemas.microsoft.com/office/powerpoint/2010/main" val="1881824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13</a:t>
            </a:fld>
            <a:endParaRPr lang="en-US" altLang="zh-CN"/>
          </a:p>
        </p:txBody>
      </p:sp>
    </p:spTree>
    <p:extLst>
      <p:ext uri="{BB962C8B-B14F-4D97-AF65-F5344CB8AC3E}">
        <p14:creationId xmlns:p14="http://schemas.microsoft.com/office/powerpoint/2010/main" val="3925282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14</a:t>
            </a:fld>
            <a:endParaRPr lang="en-US" altLang="zh-CN"/>
          </a:p>
        </p:txBody>
      </p:sp>
    </p:spTree>
    <p:extLst>
      <p:ext uri="{BB962C8B-B14F-4D97-AF65-F5344CB8AC3E}">
        <p14:creationId xmlns:p14="http://schemas.microsoft.com/office/powerpoint/2010/main" val="212533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15</a:t>
            </a:fld>
            <a:endParaRPr lang="en-US" altLang="zh-CN"/>
          </a:p>
        </p:txBody>
      </p:sp>
    </p:spTree>
    <p:extLst>
      <p:ext uri="{BB962C8B-B14F-4D97-AF65-F5344CB8AC3E}">
        <p14:creationId xmlns:p14="http://schemas.microsoft.com/office/powerpoint/2010/main" val="3658239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17</a:t>
            </a:fld>
            <a:endParaRPr lang="en-US" altLang="zh-CN"/>
          </a:p>
        </p:txBody>
      </p:sp>
    </p:spTree>
    <p:extLst>
      <p:ext uri="{BB962C8B-B14F-4D97-AF65-F5344CB8AC3E}">
        <p14:creationId xmlns:p14="http://schemas.microsoft.com/office/powerpoint/2010/main" val="1683163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18</a:t>
            </a:fld>
            <a:endParaRPr lang="en-US" altLang="zh-CN"/>
          </a:p>
        </p:txBody>
      </p:sp>
    </p:spTree>
    <p:extLst>
      <p:ext uri="{BB962C8B-B14F-4D97-AF65-F5344CB8AC3E}">
        <p14:creationId xmlns:p14="http://schemas.microsoft.com/office/powerpoint/2010/main" val="258362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21</a:t>
            </a:fld>
            <a:endParaRPr lang="en-US" altLang="zh-CN"/>
          </a:p>
        </p:txBody>
      </p:sp>
    </p:spTree>
    <p:extLst>
      <p:ext uri="{BB962C8B-B14F-4D97-AF65-F5344CB8AC3E}">
        <p14:creationId xmlns:p14="http://schemas.microsoft.com/office/powerpoint/2010/main" val="2411876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90D3538-6648-43D2-9CA0-7580FCA6962A}" type="slidenum">
              <a:rPr lang="en-US" altLang="zh-CN" smtClean="0">
                <a:latin typeface="Arial" panose="020B0604020202020204" pitchFamily="34" charset="0"/>
              </a:rPr>
              <a:pPr/>
              <a:t>22</a:t>
            </a:fld>
            <a:endParaRPr lang="en-US" altLang="zh-CN">
              <a:latin typeface="Arial"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3773514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90D3538-6648-43D2-9CA0-7580FCA6962A}" type="slidenum">
              <a:rPr lang="en-US" altLang="zh-CN" smtClean="0">
                <a:latin typeface="Arial" panose="020B0604020202020204" pitchFamily="34" charset="0"/>
              </a:rPr>
              <a:pPr/>
              <a:t>23</a:t>
            </a:fld>
            <a:endParaRPr lang="en-US" altLang="zh-CN">
              <a:latin typeface="Arial"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3773514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90D3538-6648-43D2-9CA0-7580FCA6962A}" type="slidenum">
              <a:rPr lang="en-US" altLang="zh-CN" smtClean="0">
                <a:latin typeface="Arial" panose="020B0604020202020204" pitchFamily="34" charset="0"/>
              </a:rPr>
              <a:pPr/>
              <a:t>24</a:t>
            </a:fld>
            <a:endParaRPr lang="en-US" altLang="zh-CN">
              <a:latin typeface="Arial"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1854957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C23059A5-020F-435D-ABEE-8DBD3FD25613}" type="slidenum">
              <a:rPr lang="en-US" altLang="zh-CN" smtClean="0">
                <a:latin typeface="Arial" panose="020B0604020202020204" pitchFamily="34" charset="0"/>
              </a:rPr>
              <a:pPr/>
              <a:t>25</a:t>
            </a:fld>
            <a:endParaRPr lang="en-US" altLang="zh-CN">
              <a:latin typeface="Arial" panose="020B0604020202020204" pitchFamily="34" charset="0"/>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882686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C23059A5-020F-435D-ABEE-8DBD3FD25613}" type="slidenum">
              <a:rPr lang="en-US" altLang="zh-CN" smtClean="0">
                <a:latin typeface="Arial" panose="020B0604020202020204" pitchFamily="34" charset="0"/>
              </a:rPr>
              <a:pPr/>
              <a:t>26</a:t>
            </a:fld>
            <a:endParaRPr lang="en-US" altLang="zh-CN">
              <a:latin typeface="Arial" panose="020B0604020202020204" pitchFamily="34" charset="0"/>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763658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90D3538-6648-43D2-9CA0-7580FCA6962A}" type="slidenum">
              <a:rPr lang="en-US" altLang="zh-CN" smtClean="0">
                <a:latin typeface="Arial" panose="020B0604020202020204" pitchFamily="34" charset="0"/>
              </a:rPr>
              <a:pPr/>
              <a:t>27</a:t>
            </a:fld>
            <a:endParaRPr lang="en-US" altLang="zh-CN">
              <a:latin typeface="Arial"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1011767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90D3538-6648-43D2-9CA0-7580FCA6962A}" type="slidenum">
              <a:rPr lang="en-US" altLang="zh-CN" smtClean="0">
                <a:latin typeface="Arial" panose="020B0604020202020204" pitchFamily="34" charset="0"/>
              </a:rPr>
              <a:pPr/>
              <a:t>28</a:t>
            </a:fld>
            <a:endParaRPr lang="en-US" altLang="zh-CN">
              <a:latin typeface="Arial"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1179301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90D3538-6648-43D2-9CA0-7580FCA6962A}" type="slidenum">
              <a:rPr lang="en-US" altLang="zh-CN" smtClean="0">
                <a:latin typeface="Arial" panose="020B0604020202020204" pitchFamily="34" charset="0"/>
              </a:rPr>
              <a:pPr/>
              <a:t>29</a:t>
            </a:fld>
            <a:endParaRPr lang="en-US" altLang="zh-CN">
              <a:latin typeface="Arial"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47681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90D3538-6648-43D2-9CA0-7580FCA6962A}" type="slidenum">
              <a:rPr lang="en-US" altLang="zh-CN" smtClean="0">
                <a:latin typeface="Arial" panose="020B0604020202020204" pitchFamily="34" charset="0"/>
              </a:rPr>
              <a:pPr/>
              <a:t>30</a:t>
            </a:fld>
            <a:endParaRPr lang="en-US" altLang="zh-CN">
              <a:latin typeface="Arial" panose="020B0604020202020204" pitchFamily="34"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933450" y="4416425"/>
            <a:ext cx="514350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Times New Roman" panose="02020603050405020304" pitchFamily="18" charset="0"/>
            </a:endParaRPr>
          </a:p>
        </p:txBody>
      </p:sp>
    </p:spTree>
    <p:extLst>
      <p:ext uri="{BB962C8B-B14F-4D97-AF65-F5344CB8AC3E}">
        <p14:creationId xmlns:p14="http://schemas.microsoft.com/office/powerpoint/2010/main" val="3121882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33</a:t>
            </a:fld>
            <a:endParaRPr lang="en-US" altLang="zh-CN"/>
          </a:p>
        </p:txBody>
      </p:sp>
    </p:spTree>
    <p:extLst>
      <p:ext uri="{BB962C8B-B14F-4D97-AF65-F5344CB8AC3E}">
        <p14:creationId xmlns:p14="http://schemas.microsoft.com/office/powerpoint/2010/main" val="31240605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34</a:t>
            </a:fld>
            <a:endParaRPr lang="en-US" altLang="zh-CN"/>
          </a:p>
        </p:txBody>
      </p:sp>
    </p:spTree>
    <p:extLst>
      <p:ext uri="{BB962C8B-B14F-4D97-AF65-F5344CB8AC3E}">
        <p14:creationId xmlns:p14="http://schemas.microsoft.com/office/powerpoint/2010/main" val="1285163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C0615-FAB7-2BF5-6483-1358734EA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E8324-0885-13F6-9912-416647E4C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C13C8-C148-61B7-15C5-7B4BC4E13E60}"/>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03504E47-16DF-52FE-C835-2E39F68CDE66}"/>
              </a:ext>
            </a:extLst>
          </p:cNvPr>
          <p:cNvSpPr>
            <a:spLocks noGrp="1"/>
          </p:cNvSpPr>
          <p:nvPr>
            <p:ph type="sldNum" sz="quarter" idx="5"/>
          </p:nvPr>
        </p:nvSpPr>
        <p:spPr/>
        <p:txBody>
          <a:bodyPr/>
          <a:lstStyle/>
          <a:p>
            <a:pPr>
              <a:defRPr/>
            </a:pPr>
            <a:fld id="{5C806C1B-B03E-46DA-85CD-D90BC0B37545}" type="slidenum">
              <a:rPr lang="en-US" altLang="zh-CN" smtClean="0"/>
              <a:pPr>
                <a:defRPr/>
              </a:pPr>
              <a:t>35</a:t>
            </a:fld>
            <a:endParaRPr lang="en-US" altLang="zh-CN"/>
          </a:p>
        </p:txBody>
      </p:sp>
    </p:spTree>
    <p:extLst>
      <p:ext uri="{BB962C8B-B14F-4D97-AF65-F5344CB8AC3E}">
        <p14:creationId xmlns:p14="http://schemas.microsoft.com/office/powerpoint/2010/main" val="15006541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37</a:t>
            </a:fld>
            <a:endParaRPr lang="en-US" altLang="zh-CN"/>
          </a:p>
        </p:txBody>
      </p:sp>
    </p:spTree>
    <p:extLst>
      <p:ext uri="{BB962C8B-B14F-4D97-AF65-F5344CB8AC3E}">
        <p14:creationId xmlns:p14="http://schemas.microsoft.com/office/powerpoint/2010/main" val="29675031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B3AE77F9-D4F3-451E-A1F3-D746A2741768}" type="slidenum">
              <a:rPr lang="en-US" altLang="zh-CN" smtClean="0">
                <a:latin typeface="Arial" panose="020B0604020202020204" pitchFamily="34" charset="0"/>
              </a:rPr>
              <a:pPr/>
              <a:t>38</a:t>
            </a:fld>
            <a:endParaRPr lang="en-US" altLang="zh-CN">
              <a:latin typeface="Arial" panose="020B0604020202020204" pitchFamily="34" charset="0"/>
            </a:endParaRPr>
          </a:p>
        </p:txBody>
      </p:sp>
      <p:sp>
        <p:nvSpPr>
          <p:cNvPr id="188419" name="Rectangle 2"/>
          <p:cNvSpPr>
            <a:spLocks noGrp="1" noRot="1" noChangeAspect="1" noChangeArrowheads="1" noTextEdit="1"/>
          </p:cNvSpPr>
          <p:nvPr>
            <p:ph type="sldImg"/>
          </p:nvPr>
        </p:nvSpPr>
        <p:spPr>
          <a:solidFill>
            <a:srgbClr val="FFFFFF"/>
          </a:solidFill>
          <a:ln/>
        </p:spPr>
      </p:sp>
      <p:sp>
        <p:nvSpPr>
          <p:cNvPr id="188420"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1280122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48</a:t>
            </a:fld>
            <a:endParaRPr lang="en-US" altLang="zh-CN"/>
          </a:p>
        </p:txBody>
      </p:sp>
    </p:spTree>
    <p:extLst>
      <p:ext uri="{BB962C8B-B14F-4D97-AF65-F5344CB8AC3E}">
        <p14:creationId xmlns:p14="http://schemas.microsoft.com/office/powerpoint/2010/main" val="28007353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70</a:t>
            </a:fld>
            <a:endParaRPr lang="en-US" altLang="zh-CN"/>
          </a:p>
        </p:txBody>
      </p:sp>
    </p:spTree>
    <p:extLst>
      <p:ext uri="{BB962C8B-B14F-4D97-AF65-F5344CB8AC3E}">
        <p14:creationId xmlns:p14="http://schemas.microsoft.com/office/powerpoint/2010/main" val="3016039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531-794F-692A-9138-AB7BA1B23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81422-5973-ADF1-69F2-7E9AD0AFA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776A5-244E-0359-3781-553C98524071}"/>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385B3C10-5511-82BD-8C5B-C8D72D8361EC}"/>
              </a:ext>
            </a:extLst>
          </p:cNvPr>
          <p:cNvSpPr>
            <a:spLocks noGrp="1"/>
          </p:cNvSpPr>
          <p:nvPr>
            <p:ph type="sldNum" sz="quarter" idx="5"/>
          </p:nvPr>
        </p:nvSpPr>
        <p:spPr/>
        <p:txBody>
          <a:bodyPr/>
          <a:lstStyle/>
          <a:p>
            <a:pPr>
              <a:defRPr/>
            </a:pPr>
            <a:fld id="{5C806C1B-B03E-46DA-85CD-D90BC0B37545}" type="slidenum">
              <a:rPr lang="en-US" altLang="zh-CN" smtClean="0"/>
              <a:pPr>
                <a:defRPr/>
              </a:pPr>
              <a:t>74</a:t>
            </a:fld>
            <a:endParaRPr lang="en-US" altLang="zh-CN"/>
          </a:p>
        </p:txBody>
      </p:sp>
    </p:spTree>
    <p:extLst>
      <p:ext uri="{BB962C8B-B14F-4D97-AF65-F5344CB8AC3E}">
        <p14:creationId xmlns:p14="http://schemas.microsoft.com/office/powerpoint/2010/main" val="11736787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9FDA1-A04E-4C94-A525-04961A14E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C09CA-4069-3E28-1658-50A5F0021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C0036-92F9-D747-676C-839F4E759212}"/>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6FBA764E-E16A-B2CF-798A-E86B5A7E2810}"/>
              </a:ext>
            </a:extLst>
          </p:cNvPr>
          <p:cNvSpPr>
            <a:spLocks noGrp="1"/>
          </p:cNvSpPr>
          <p:nvPr>
            <p:ph type="sldNum" sz="quarter" idx="5"/>
          </p:nvPr>
        </p:nvSpPr>
        <p:spPr/>
        <p:txBody>
          <a:bodyPr/>
          <a:lstStyle/>
          <a:p>
            <a:pPr>
              <a:defRPr/>
            </a:pPr>
            <a:fld id="{5C806C1B-B03E-46DA-85CD-D90BC0B37545}" type="slidenum">
              <a:rPr lang="en-US" altLang="zh-CN" smtClean="0"/>
              <a:pPr>
                <a:defRPr/>
              </a:pPr>
              <a:t>75</a:t>
            </a:fld>
            <a:endParaRPr lang="en-US" altLang="zh-CN"/>
          </a:p>
        </p:txBody>
      </p:sp>
    </p:spTree>
    <p:extLst>
      <p:ext uri="{BB962C8B-B14F-4D97-AF65-F5344CB8AC3E}">
        <p14:creationId xmlns:p14="http://schemas.microsoft.com/office/powerpoint/2010/main" val="33912730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76</a:t>
            </a:fld>
            <a:endParaRPr lang="en-US" altLang="zh-CN"/>
          </a:p>
        </p:txBody>
      </p:sp>
    </p:spTree>
    <p:extLst>
      <p:ext uri="{BB962C8B-B14F-4D97-AF65-F5344CB8AC3E}">
        <p14:creationId xmlns:p14="http://schemas.microsoft.com/office/powerpoint/2010/main" val="10867800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77</a:t>
            </a:fld>
            <a:endParaRPr lang="en-US" altLang="zh-CN"/>
          </a:p>
        </p:txBody>
      </p:sp>
    </p:spTree>
    <p:extLst>
      <p:ext uri="{BB962C8B-B14F-4D97-AF65-F5344CB8AC3E}">
        <p14:creationId xmlns:p14="http://schemas.microsoft.com/office/powerpoint/2010/main" val="27511291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78</a:t>
            </a:fld>
            <a:endParaRPr lang="en-US" altLang="zh-CN"/>
          </a:p>
        </p:txBody>
      </p:sp>
    </p:spTree>
    <p:extLst>
      <p:ext uri="{BB962C8B-B14F-4D97-AF65-F5344CB8AC3E}">
        <p14:creationId xmlns:p14="http://schemas.microsoft.com/office/powerpoint/2010/main" val="8423206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79</a:t>
            </a:fld>
            <a:endParaRPr lang="en-US" altLang="zh-CN"/>
          </a:p>
        </p:txBody>
      </p:sp>
    </p:spTree>
    <p:extLst>
      <p:ext uri="{BB962C8B-B14F-4D97-AF65-F5344CB8AC3E}">
        <p14:creationId xmlns:p14="http://schemas.microsoft.com/office/powerpoint/2010/main" val="27574431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80</a:t>
            </a:fld>
            <a:endParaRPr lang="en-US" altLang="zh-CN"/>
          </a:p>
        </p:txBody>
      </p:sp>
    </p:spTree>
    <p:extLst>
      <p:ext uri="{BB962C8B-B14F-4D97-AF65-F5344CB8AC3E}">
        <p14:creationId xmlns:p14="http://schemas.microsoft.com/office/powerpoint/2010/main" val="37677324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82</a:t>
            </a:fld>
            <a:endParaRPr lang="en-US" altLang="zh-CN"/>
          </a:p>
        </p:txBody>
      </p:sp>
    </p:spTree>
    <p:extLst>
      <p:ext uri="{BB962C8B-B14F-4D97-AF65-F5344CB8AC3E}">
        <p14:creationId xmlns:p14="http://schemas.microsoft.com/office/powerpoint/2010/main" val="27989992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83</a:t>
            </a:fld>
            <a:endParaRPr lang="en-US" altLang="zh-CN"/>
          </a:p>
        </p:txBody>
      </p:sp>
    </p:spTree>
    <p:extLst>
      <p:ext uri="{BB962C8B-B14F-4D97-AF65-F5344CB8AC3E}">
        <p14:creationId xmlns:p14="http://schemas.microsoft.com/office/powerpoint/2010/main" val="39090503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86</a:t>
            </a:fld>
            <a:endParaRPr lang="en-US" altLang="zh-CN"/>
          </a:p>
        </p:txBody>
      </p:sp>
    </p:spTree>
    <p:extLst>
      <p:ext uri="{BB962C8B-B14F-4D97-AF65-F5344CB8AC3E}">
        <p14:creationId xmlns:p14="http://schemas.microsoft.com/office/powerpoint/2010/main" val="42730927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87</a:t>
            </a:fld>
            <a:endParaRPr lang="en-US" altLang="zh-CN"/>
          </a:p>
        </p:txBody>
      </p:sp>
    </p:spTree>
    <p:extLst>
      <p:ext uri="{BB962C8B-B14F-4D97-AF65-F5344CB8AC3E}">
        <p14:creationId xmlns:p14="http://schemas.microsoft.com/office/powerpoint/2010/main" val="33261723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88</a:t>
            </a:fld>
            <a:endParaRPr lang="en-US" altLang="zh-CN"/>
          </a:p>
        </p:txBody>
      </p:sp>
    </p:spTree>
    <p:extLst>
      <p:ext uri="{BB962C8B-B14F-4D97-AF65-F5344CB8AC3E}">
        <p14:creationId xmlns:p14="http://schemas.microsoft.com/office/powerpoint/2010/main" val="21497460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89</a:t>
            </a:fld>
            <a:endParaRPr lang="en-US" altLang="zh-CN"/>
          </a:p>
        </p:txBody>
      </p:sp>
    </p:spTree>
    <p:extLst>
      <p:ext uri="{BB962C8B-B14F-4D97-AF65-F5344CB8AC3E}">
        <p14:creationId xmlns:p14="http://schemas.microsoft.com/office/powerpoint/2010/main" val="29513532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90</a:t>
            </a:fld>
            <a:endParaRPr lang="en-US" altLang="zh-CN"/>
          </a:p>
        </p:txBody>
      </p:sp>
    </p:spTree>
    <p:extLst>
      <p:ext uri="{BB962C8B-B14F-4D97-AF65-F5344CB8AC3E}">
        <p14:creationId xmlns:p14="http://schemas.microsoft.com/office/powerpoint/2010/main" val="4148779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91</a:t>
            </a:fld>
            <a:endParaRPr lang="en-US" altLang="zh-CN"/>
          </a:p>
        </p:txBody>
      </p:sp>
    </p:spTree>
    <p:extLst>
      <p:ext uri="{BB962C8B-B14F-4D97-AF65-F5344CB8AC3E}">
        <p14:creationId xmlns:p14="http://schemas.microsoft.com/office/powerpoint/2010/main" val="32622801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96</a:t>
            </a:fld>
            <a:endParaRPr lang="en-US" altLang="zh-CN"/>
          </a:p>
        </p:txBody>
      </p:sp>
    </p:spTree>
    <p:extLst>
      <p:ext uri="{BB962C8B-B14F-4D97-AF65-F5344CB8AC3E}">
        <p14:creationId xmlns:p14="http://schemas.microsoft.com/office/powerpoint/2010/main" val="2275195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57F7688E-3E4A-461B-8D10-9B016CF52F5C}" type="slidenum">
              <a:rPr lang="en-US" altLang="zh-CN" smtClean="0">
                <a:latin typeface="Arial" panose="020B0604020202020204" pitchFamily="34" charset="0"/>
              </a:rPr>
              <a:pPr/>
              <a:t>98</a:t>
            </a:fld>
            <a:endParaRPr lang="en-US" altLang="zh-CN">
              <a:latin typeface="Arial" panose="020B0604020202020204" pitchFamily="34" charset="0"/>
            </a:endParaRPr>
          </a:p>
        </p:txBody>
      </p:sp>
      <p:sp>
        <p:nvSpPr>
          <p:cNvPr id="99331" name="Rectangle 2"/>
          <p:cNvSpPr>
            <a:spLocks noGrp="1" noRot="1" noChangeAspect="1" noChangeArrowheads="1" noTextEdit="1"/>
          </p:cNvSpPr>
          <p:nvPr>
            <p:ph type="sldImg"/>
          </p:nvPr>
        </p:nvSpPr>
        <p:spPr>
          <a:solidFill>
            <a:srgbClr val="FFFFFF"/>
          </a:solidFill>
          <a:ln/>
        </p:spPr>
      </p:sp>
      <p:sp>
        <p:nvSpPr>
          <p:cNvPr id="99332"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680143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24588"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2458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a:solidFill>
                  <a:schemeClr val="bg2"/>
                </a:solidFill>
                <a:latin typeface="Tahoma" pitchFamily="34" charset="0"/>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Machine Learning Basics: 1. General Introduction</a:t>
            </a:r>
          </a:p>
        </p:txBody>
      </p:sp>
      <p:sp>
        <p:nvSpPr>
          <p:cNvPr id="16" name="Rectangle 16"/>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400">
                <a:solidFill>
                  <a:schemeClr val="bg2"/>
                </a:solidFill>
                <a:latin typeface="Tahoma" panose="020B0604030504040204" pitchFamily="34" charset="0"/>
              </a:defRPr>
            </a:lvl1pPr>
          </a:lstStyle>
          <a:p>
            <a:pPr>
              <a:defRPr/>
            </a:pPr>
            <a:fld id="{EF41B76D-9336-435E-89FD-3D5A1B77420D}" type="slidenum">
              <a:rPr lang="en-US" altLang="zh-CN"/>
              <a:pPr>
                <a:defRPr/>
              </a:pPr>
              <a:t>‹#›</a:t>
            </a:fld>
            <a:endParaRPr lang="en-US" altLang="zh-CN"/>
          </a:p>
        </p:txBody>
      </p:sp>
    </p:spTree>
    <p:extLst>
      <p:ext uri="{BB962C8B-B14F-4D97-AF65-F5344CB8AC3E}">
        <p14:creationId xmlns:p14="http://schemas.microsoft.com/office/powerpoint/2010/main" val="189983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ltLang="zh-CN" dirty="0"/>
              <a:t>Machine Learning – Basic Principles &amp; Practice: 1. Prologue</a:t>
            </a:r>
          </a:p>
          <a:p>
            <a:pPr>
              <a:defRPr/>
            </a:pPr>
            <a:r>
              <a:rPr lang="zh-CN" altLang="en-US" dirty="0"/>
              <a:t>机器学习 </a:t>
            </a:r>
            <a:r>
              <a:rPr lang="en-US" altLang="zh-CN" dirty="0"/>
              <a:t>– </a:t>
            </a:r>
            <a:r>
              <a:rPr lang="zh-CN" altLang="en-US" dirty="0"/>
              <a:t>基础原理与实践：</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3483801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98536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5094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108442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53766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1622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294439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79284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4694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7050" y="457200"/>
            <a:ext cx="20383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457200"/>
            <a:ext cx="59626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703662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717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7" name="Rectangle 3"/>
          <p:cNvSpPr>
            <a:spLocks noChangeArrowheads="1"/>
          </p:cNvSpPr>
          <p:nvPr/>
        </p:nvSpPr>
        <p:spPr bwMode="ltGray">
          <a:xfrm>
            <a:off x="800100" y="717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8" name="Rectangle 4"/>
          <p:cNvSpPr>
            <a:spLocks noChangeArrowheads="1"/>
          </p:cNvSpPr>
          <p:nvPr/>
        </p:nvSpPr>
        <p:spPr bwMode="ltGray">
          <a:xfrm>
            <a:off x="541338" y="1139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9" name="Rectangle 5"/>
          <p:cNvSpPr>
            <a:spLocks noChangeArrowheads="1"/>
          </p:cNvSpPr>
          <p:nvPr/>
        </p:nvSpPr>
        <p:spPr bwMode="ltGray">
          <a:xfrm>
            <a:off x="911225" y="1139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0" name="Rectangle 6"/>
          <p:cNvSpPr>
            <a:spLocks noChangeArrowheads="1"/>
          </p:cNvSpPr>
          <p:nvPr/>
        </p:nvSpPr>
        <p:spPr bwMode="ltGray">
          <a:xfrm>
            <a:off x="127000" y="1066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1" name="Rectangle 7"/>
          <p:cNvSpPr>
            <a:spLocks noChangeArrowheads="1"/>
          </p:cNvSpPr>
          <p:nvPr/>
        </p:nvSpPr>
        <p:spPr bwMode="gray">
          <a:xfrm>
            <a:off x="762000" y="609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2" name="Rectangle 8"/>
          <p:cNvSpPr>
            <a:spLocks noChangeArrowheads="1"/>
          </p:cNvSpPr>
          <p:nvPr/>
        </p:nvSpPr>
        <p:spPr bwMode="gray">
          <a:xfrm>
            <a:off x="442913" y="1400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3" name="Rectangle 9"/>
          <p:cNvSpPr>
            <a:spLocks noGrp="1" noChangeArrowheads="1"/>
          </p:cNvSpPr>
          <p:nvPr>
            <p:ph type="title"/>
          </p:nvPr>
        </p:nvSpPr>
        <p:spPr bwMode="auto">
          <a:xfrm>
            <a:off x="1122363" y="457200"/>
            <a:ext cx="77930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34" name="Rectangle 10"/>
          <p:cNvSpPr>
            <a:spLocks noGrp="1" noChangeArrowheads="1"/>
          </p:cNvSpPr>
          <p:nvPr>
            <p:ph type="body" idx="1"/>
          </p:nvPr>
        </p:nvSpPr>
        <p:spPr bwMode="auto">
          <a:xfrm>
            <a:off x="762000" y="16002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3564" name="Rectangle 12"/>
          <p:cNvSpPr>
            <a:spLocks noGrp="1" noChangeArrowheads="1"/>
          </p:cNvSpPr>
          <p:nvPr>
            <p:ph type="ftr" sz="quarter" idx="3"/>
          </p:nvPr>
        </p:nvSpPr>
        <p:spPr bwMode="auto">
          <a:xfrm>
            <a:off x="762000" y="6243638"/>
            <a:ext cx="7772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Tahoma" pitchFamily="34" charset="0"/>
              </a:defRPr>
            </a:lvl1pPr>
          </a:lstStyle>
          <a:p>
            <a:pPr>
              <a:defRPr/>
            </a:pPr>
            <a:r>
              <a:rPr lang="en-US" dirty="0"/>
              <a:t>Machine Learning </a:t>
            </a:r>
            <a:r>
              <a:rPr lang="en-US" altLang="zh-CN" dirty="0"/>
              <a:t>–</a:t>
            </a:r>
            <a:r>
              <a:rPr lang="en-US" dirty="0"/>
              <a:t> Basic Principles &amp; Practice: 1. Prologue</a:t>
            </a:r>
          </a:p>
          <a:p>
            <a:pPr>
              <a:defRPr/>
            </a:pPr>
            <a:r>
              <a:rPr lang="zh-CN" altLang="en-US" dirty="0"/>
              <a:t>机器学习 </a:t>
            </a:r>
            <a:r>
              <a:rPr lang="en-US" altLang="zh-CN" dirty="0"/>
              <a:t>– </a:t>
            </a:r>
            <a:r>
              <a:rPr lang="zh-CN" altLang="en-US" dirty="0"/>
              <a:t>基础原理与实践：</a:t>
            </a:r>
            <a:r>
              <a:rPr lang="en-US" altLang="zh-CN" dirty="0"/>
              <a:t>1. </a:t>
            </a:r>
            <a:r>
              <a:rPr lang="zh-CN" altLang="en-US" dirty="0"/>
              <a:t>序言</a:t>
            </a:r>
            <a:endParaRPr lang="en-US" dirty="0"/>
          </a:p>
        </p:txBody>
      </p:sp>
    </p:spTree>
  </p:cSld>
  <p:clrMap bg1="lt1" tx1="dk1" bg2="lt2" tx2="dk2" accent1="accent1" accent2="accent2" accent3="accent3" accent4="accent4" accent5="accent5" accent6="accent6" hlink="hlink" folHlink="folHlink"/>
  <p:sldLayoutIdLst>
    <p:sldLayoutId id="2147483770"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9.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410.png"/><Relationship Id="rId2" Type="http://schemas.openxmlformats.org/officeDocument/2006/relationships/slideLayout" Target="../slideLayouts/slideLayout2.xml"/><Relationship Id="rId1" Type="http://schemas.openxmlformats.org/officeDocument/2006/relationships/tags" Target="../tags/tag29.xml"/><Relationship Id="rId6"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3" Type="http://schemas.openxmlformats.org/officeDocument/2006/relationships/image" Target="../media/image120.png"/><Relationship Id="rId3" Type="http://schemas.openxmlformats.org/officeDocument/2006/relationships/notesSlide" Target="../notesSlides/notesSlide23.xml"/><Relationship Id="rId12" Type="http://schemas.openxmlformats.org/officeDocument/2006/relationships/image" Target="../media/image111.png"/><Relationship Id="rId2" Type="http://schemas.openxmlformats.org/officeDocument/2006/relationships/slideLayout" Target="../slideLayouts/slideLayout2.xml"/><Relationship Id="rId1" Type="http://schemas.openxmlformats.org/officeDocument/2006/relationships/tags" Target="../tags/tag33.xml"/><Relationship Id="rId11" Type="http://schemas.openxmlformats.org/officeDocument/2006/relationships/image" Target="../media/image100.png"/><Relationship Id="rId5" Type="http://schemas.openxmlformats.org/officeDocument/2006/relationships/image" Target="../media/image15.emf"/><Relationship Id="rId10" Type="http://schemas.openxmlformats.org/officeDocument/2006/relationships/image" Target="../media/image91.png"/><Relationship Id="rId4" Type="http://schemas.openxmlformats.org/officeDocument/2006/relationships/oleObject" Target="../embeddings/oleObject1.bin"/><Relationship Id="rId9" Type="http://schemas.openxmlformats.org/officeDocument/2006/relationships/image" Target="../media/image80.png"/><Relationship Id="rId14" Type="http://schemas.openxmlformats.org/officeDocument/2006/relationships/image" Target="../media/image13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3.xml.rels><?xml version="1.0" encoding="UTF-8" standalone="yes"?>
<Relationships xmlns="http://schemas.openxmlformats.org/package/2006/relationships"><Relationship Id="rId8" Type="http://schemas.openxmlformats.org/officeDocument/2006/relationships/image" Target="../media/image220.png"/><Relationship Id="rId7" Type="http://schemas.openxmlformats.org/officeDocument/2006/relationships/image" Target="../media/image310.png"/><Relationship Id="rId2" Type="http://schemas.openxmlformats.org/officeDocument/2006/relationships/slideLayout" Target="../slideLayouts/slideLayout2.xml"/><Relationship Id="rId1" Type="http://schemas.openxmlformats.org/officeDocument/2006/relationships/tags" Target="../tags/tag38.xml"/><Relationship Id="rId6" Type="http://schemas.openxmlformats.org/officeDocument/2006/relationships/image" Target="../media/image17.png"/><Relationship Id="rId5" Type="http://schemas.openxmlformats.org/officeDocument/2006/relationships/image" Target="../media/image110.png"/><Relationship Id="rId10" Type="http://schemas.openxmlformats.org/officeDocument/2006/relationships/image" Target="../media/image240.png"/><Relationship Id="rId9" Type="http://schemas.openxmlformats.org/officeDocument/2006/relationships/image" Target="../media/image18.png"/></Relationships>
</file>

<file path=ppt/slides/_rels/slide44.xml.rels><?xml version="1.0" encoding="UTF-8" standalone="yes"?>
<Relationships xmlns="http://schemas.openxmlformats.org/package/2006/relationships"><Relationship Id="rId8" Type="http://schemas.openxmlformats.org/officeDocument/2006/relationships/image" Target="../media/image18.png"/><Relationship Id="rId7" Type="http://schemas.openxmlformats.org/officeDocument/2006/relationships/image" Target="../media/image220.png"/><Relationship Id="rId2" Type="http://schemas.openxmlformats.org/officeDocument/2006/relationships/slideLayout" Target="../slideLayouts/slideLayout2.xml"/><Relationship Id="rId1" Type="http://schemas.openxmlformats.org/officeDocument/2006/relationships/tags" Target="../tags/tag39.xml"/><Relationship Id="rId6" Type="http://schemas.openxmlformats.org/officeDocument/2006/relationships/image" Target="../media/image65.png"/><Relationship Id="rId5" Type="http://schemas.openxmlformats.org/officeDocument/2006/relationships/image" Target="../media/image510.png"/><Relationship Id="rId10" Type="http://schemas.openxmlformats.org/officeDocument/2006/relationships/image" Target="../media/image70.png"/><Relationship Id="rId9" Type="http://schemas.openxmlformats.org/officeDocument/2006/relationships/image" Target="../media/image240.png"/></Relationships>
</file>

<file path=ppt/slides/_rels/slide45.xml.rels><?xml version="1.0" encoding="UTF-8" standalone="yes"?>
<Relationships xmlns="http://schemas.openxmlformats.org/package/2006/relationships"><Relationship Id="rId8" Type="http://schemas.openxmlformats.org/officeDocument/2006/relationships/image" Target="../media/image18.png"/><Relationship Id="rId7" Type="http://schemas.openxmlformats.org/officeDocument/2006/relationships/image" Target="../media/image220.png"/><Relationship Id="rId2" Type="http://schemas.openxmlformats.org/officeDocument/2006/relationships/slideLayout" Target="../slideLayouts/slideLayout2.xml"/><Relationship Id="rId1" Type="http://schemas.openxmlformats.org/officeDocument/2006/relationships/tags" Target="../tags/tag40.xml"/><Relationship Id="rId6" Type="http://schemas.openxmlformats.org/officeDocument/2006/relationships/image" Target="../media/image90.png"/><Relationship Id="rId5" Type="http://schemas.openxmlformats.org/officeDocument/2006/relationships/image" Target="../media/image81.png"/><Relationship Id="rId10" Type="http://schemas.openxmlformats.org/officeDocument/2006/relationships/image" Target="../media/image70.png"/><Relationship Id="rId9" Type="http://schemas.openxmlformats.org/officeDocument/2006/relationships/image" Target="../media/image240.png"/></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41.xml"/><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4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slideLayout" Target="../slideLayouts/slideLayout2.xml"/><Relationship Id="rId1" Type="http://schemas.openxmlformats.org/officeDocument/2006/relationships/tags" Target="../tags/tag44.xml"/><Relationship Id="rId5" Type="http://schemas.openxmlformats.org/officeDocument/2006/relationships/image" Target="../media/image231.png"/><Relationship Id="rId4" Type="http://schemas.openxmlformats.org/officeDocument/2006/relationships/image" Target="../media/image221.png"/></Relationships>
</file>

<file path=ppt/slides/_rels/slide50.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slideLayout" Target="../slideLayouts/slideLayout2.xml"/><Relationship Id="rId1" Type="http://schemas.openxmlformats.org/officeDocument/2006/relationships/tags" Target="../tags/tag45.xml"/><Relationship Id="rId5" Type="http://schemas.openxmlformats.org/officeDocument/2006/relationships/image" Target="../media/image250.png"/><Relationship Id="rId4" Type="http://schemas.openxmlformats.org/officeDocument/2006/relationships/image" Target="../media/image221.png"/></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190.png"/><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8" Type="http://schemas.openxmlformats.org/officeDocument/2006/relationships/image" Target="../media/image230.png"/><Relationship Id="rId3" Type="http://schemas.openxmlformats.org/officeDocument/2006/relationships/image" Target="../media/image28.png"/><Relationship Id="rId7" Type="http://schemas.openxmlformats.org/officeDocument/2006/relationships/image" Target="../media/image19.jpg"/><Relationship Id="rId2" Type="http://schemas.openxmlformats.org/officeDocument/2006/relationships/slideLayout" Target="../slideLayouts/slideLayout2.xml"/><Relationship Id="rId1" Type="http://schemas.openxmlformats.org/officeDocument/2006/relationships/tags" Target="../tags/tag47.xml"/><Relationship Id="rId6" Type="http://schemas.openxmlformats.org/officeDocument/2006/relationships/image" Target="../media/image210.png"/><Relationship Id="rId9" Type="http://schemas.openxmlformats.org/officeDocument/2006/relationships/image" Target="../media/image241.png"/></Relationships>
</file>

<file path=ppt/slides/_rels/slide5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210.png"/><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210.png"/><Relationship Id="rId2" Type="http://schemas.openxmlformats.org/officeDocument/2006/relationships/slideLayout" Target="../slideLayouts/slideLayout2.xml"/><Relationship Id="rId1" Type="http://schemas.openxmlformats.org/officeDocument/2006/relationships/tags" Target="../tags/tag49.xml"/><Relationship Id="rId4" Type="http://schemas.openxmlformats.org/officeDocument/2006/relationships/image" Target="../media/image30.png"/></Relationships>
</file>

<file path=ppt/slides/_rels/slide55.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50.xml"/><Relationship Id="rId5" Type="http://schemas.openxmlformats.org/officeDocument/2006/relationships/image" Target="../media/image35.png"/><Relationship Id="rId10" Type="http://schemas.openxmlformats.org/officeDocument/2006/relationships/image" Target="../media/image240.png"/><Relationship Id="rId4" Type="http://schemas.openxmlformats.org/officeDocument/2006/relationships/image" Target="../media/image34.png"/><Relationship Id="rId9" Type="http://schemas.openxmlformats.org/officeDocument/2006/relationships/image" Target="../media/image18.png"/></Relationships>
</file>

<file path=ppt/slides/_rels/slide56.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image" Target="../media/image36.png"/><Relationship Id="rId7" Type="http://schemas.openxmlformats.org/officeDocument/2006/relationships/image" Target="../media/image371.png"/><Relationship Id="rId2" Type="http://schemas.openxmlformats.org/officeDocument/2006/relationships/slideLayout" Target="../slideLayouts/slideLayout2.xml"/><Relationship Id="rId1" Type="http://schemas.openxmlformats.org/officeDocument/2006/relationships/tags" Target="../tags/tag51.xml"/><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52.xml"/><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360.png"/><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55.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6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6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0.png"/><Relationship Id="rId7"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tags" Target="../tags/tag5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62.png"/></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2.xml"/><Relationship Id="rId1" Type="http://schemas.openxmlformats.org/officeDocument/2006/relationships/tags" Target="../tags/tag59.xml"/><Relationship Id="rId4" Type="http://schemas.openxmlformats.org/officeDocument/2006/relationships/image" Target="../media/image64.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tags" Target="../tags/tag61.xml"/><Relationship Id="rId6" Type="http://schemas.openxmlformats.org/officeDocument/2006/relationships/image" Target="../media/image650.png"/></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69.png"/><Relationship Id="rId2" Type="http://schemas.openxmlformats.org/officeDocument/2006/relationships/slideLayout" Target="../slideLayouts/slideLayout2.xml"/><Relationship Id="rId1" Type="http://schemas.openxmlformats.org/officeDocument/2006/relationships/tags" Target="../tags/tag62.xml"/><Relationship Id="rId6" Type="http://schemas.openxmlformats.org/officeDocument/2006/relationships/image" Target="../media/image680.png"/></Relationships>
</file>

<file path=ppt/slides/_rels/slide70.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notesSlide" Target="../notesSlides/notesSlide25.xml"/><Relationship Id="rId7" Type="http://schemas.openxmlformats.org/officeDocument/2006/relationships/image" Target="../media/image710.png"/><Relationship Id="rId12"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tags" Target="../tags/tag63.xml"/><Relationship Id="rId11" Type="http://schemas.openxmlformats.org/officeDocument/2006/relationships/image" Target="../media/image75.png"/><Relationship Id="rId10" Type="http://schemas.openxmlformats.org/officeDocument/2006/relationships/image" Target="../media/image74.png"/><Relationship Id="rId4" Type="http://schemas.openxmlformats.org/officeDocument/2006/relationships/image" Target="../media/image71.png"/><Relationship Id="rId9" Type="http://schemas.openxmlformats.org/officeDocument/2006/relationships/image" Target="../media/image73.png"/></Relationships>
</file>

<file path=ppt/slides/_rels/slide71.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4.png"/><Relationship Id="rId2" Type="http://schemas.openxmlformats.org/officeDocument/2006/relationships/slideLayout" Target="../slideLayouts/slideLayout2.xml"/><Relationship Id="rId1" Type="http://schemas.openxmlformats.org/officeDocument/2006/relationships/tags" Target="../tags/tag64.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79.png"/></Relationships>
</file>

<file path=ppt/slides/_rels/slide72.xml.rels><?xml version="1.0" encoding="UTF-8" standalone="yes"?>
<Relationships xmlns="http://schemas.openxmlformats.org/package/2006/relationships"><Relationship Id="rId8" Type="http://schemas.openxmlformats.org/officeDocument/2006/relationships/image" Target="../media/image87.png"/><Relationship Id="rId7" Type="http://schemas.openxmlformats.org/officeDocument/2006/relationships/image" Target="../media/image86.png"/><Relationship Id="rId2" Type="http://schemas.openxmlformats.org/officeDocument/2006/relationships/slideLayout" Target="../slideLayouts/slideLayout2.xml"/><Relationship Id="rId1" Type="http://schemas.openxmlformats.org/officeDocument/2006/relationships/tags" Target="../tags/tag65.xml"/><Relationship Id="rId6" Type="http://schemas.openxmlformats.org/officeDocument/2006/relationships/image" Target="../media/image85.png"/><Relationship Id="rId5" Type="http://schemas.openxmlformats.org/officeDocument/2006/relationships/image" Target="../media/image83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74.xml.rels><?xml version="1.0" encoding="UTF-8" standalone="yes"?>
<Relationships xmlns="http://schemas.openxmlformats.org/package/2006/relationships"><Relationship Id="rId8" Type="http://schemas.openxmlformats.org/officeDocument/2006/relationships/image" Target="../media/image711.png"/><Relationship Id="rId3" Type="http://schemas.openxmlformats.org/officeDocument/2006/relationships/notesSlide" Target="../notesSlides/notesSlide26.xml"/><Relationship Id="rId7" Type="http://schemas.openxmlformats.org/officeDocument/2006/relationships/image" Target="../media/image690.png"/><Relationship Id="rId2" Type="http://schemas.openxmlformats.org/officeDocument/2006/relationships/slideLayout" Target="../slideLayouts/slideLayout2.xml"/><Relationship Id="rId1" Type="http://schemas.openxmlformats.org/officeDocument/2006/relationships/tags" Target="../tags/tag67.xml"/><Relationship Id="rId6" Type="http://schemas.openxmlformats.org/officeDocument/2006/relationships/image" Target="../media/image681.png"/><Relationship Id="rId5" Type="http://schemas.openxmlformats.org/officeDocument/2006/relationships/image" Target="../media/image670.png"/><Relationship Id="rId10" Type="http://schemas.openxmlformats.org/officeDocument/2006/relationships/image" Target="../media/image730.png"/><Relationship Id="rId4" Type="http://schemas.openxmlformats.org/officeDocument/2006/relationships/image" Target="../media/image660.png"/><Relationship Id="rId9" Type="http://schemas.openxmlformats.org/officeDocument/2006/relationships/image" Target="../media/image720.png"/></Relationships>
</file>

<file path=ppt/slides/_rels/slide75.xml.rels><?xml version="1.0" encoding="UTF-8" standalone="yes"?>
<Relationships xmlns="http://schemas.openxmlformats.org/package/2006/relationships"><Relationship Id="rId8" Type="http://schemas.openxmlformats.org/officeDocument/2006/relationships/image" Target="../media/image750.png"/><Relationship Id="rId3" Type="http://schemas.openxmlformats.org/officeDocument/2006/relationships/notesSlide" Target="../notesSlides/notesSlide27.xml"/><Relationship Id="rId7" Type="http://schemas.openxmlformats.org/officeDocument/2006/relationships/image" Target="../media/image740.png"/><Relationship Id="rId2" Type="http://schemas.openxmlformats.org/officeDocument/2006/relationships/slideLayout" Target="../slideLayouts/slideLayout2.xml"/><Relationship Id="rId1" Type="http://schemas.openxmlformats.org/officeDocument/2006/relationships/tags" Target="../tags/tag68.xml"/><Relationship Id="rId6" Type="http://schemas.openxmlformats.org/officeDocument/2006/relationships/image" Target="../media/image681.png"/><Relationship Id="rId5" Type="http://schemas.openxmlformats.org/officeDocument/2006/relationships/image" Target="../media/image670.png"/><Relationship Id="rId10" Type="http://schemas.openxmlformats.org/officeDocument/2006/relationships/image" Target="../media/image770.png"/><Relationship Id="rId4" Type="http://schemas.openxmlformats.org/officeDocument/2006/relationships/image" Target="../media/image660.png"/><Relationship Id="rId9" Type="http://schemas.openxmlformats.org/officeDocument/2006/relationships/image" Target="../media/image760.png"/></Relationships>
</file>

<file path=ppt/slides/_rels/slide76.xml.rels><?xml version="1.0" encoding="UTF-8" standalone="yes"?>
<Relationships xmlns="http://schemas.openxmlformats.org/package/2006/relationships"><Relationship Id="rId8" Type="http://schemas.openxmlformats.org/officeDocument/2006/relationships/image" Target="../media/image790.png"/><Relationship Id="rId3" Type="http://schemas.openxmlformats.org/officeDocument/2006/relationships/notesSlide" Target="../notesSlides/notesSlide28.xml"/><Relationship Id="rId7" Type="http://schemas.openxmlformats.org/officeDocument/2006/relationships/image" Target="../media/image780.png"/><Relationship Id="rId2" Type="http://schemas.openxmlformats.org/officeDocument/2006/relationships/slideLayout" Target="../slideLayouts/slideLayout2.xml"/><Relationship Id="rId1" Type="http://schemas.openxmlformats.org/officeDocument/2006/relationships/tags" Target="../tags/tag69.xml"/><Relationship Id="rId6" Type="http://schemas.openxmlformats.org/officeDocument/2006/relationships/image" Target="../media/image681.png"/><Relationship Id="rId5" Type="http://schemas.openxmlformats.org/officeDocument/2006/relationships/image" Target="../media/image670.png"/><Relationship Id="rId10" Type="http://schemas.openxmlformats.org/officeDocument/2006/relationships/image" Target="../media/image831.png"/><Relationship Id="rId4" Type="http://schemas.openxmlformats.org/officeDocument/2006/relationships/image" Target="../media/image660.png"/><Relationship Id="rId9" Type="http://schemas.openxmlformats.org/officeDocument/2006/relationships/image" Target="../media/image820.png"/></Relationships>
</file>

<file path=ppt/slides/_rels/slide77.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notesSlide" Target="../notesSlides/notesSlide29.xml"/><Relationship Id="rId7" Type="http://schemas.openxmlformats.org/officeDocument/2006/relationships/image" Target="../media/image331.png"/><Relationship Id="rId2" Type="http://schemas.openxmlformats.org/officeDocument/2006/relationships/slideLayout" Target="../slideLayouts/slideLayout2.xml"/><Relationship Id="rId1" Type="http://schemas.openxmlformats.org/officeDocument/2006/relationships/tags" Target="../tags/tag70.xml"/><Relationship Id="rId6" Type="http://schemas.openxmlformats.org/officeDocument/2006/relationships/image" Target="../media/image320.png"/><Relationship Id="rId11" Type="http://schemas.openxmlformats.org/officeDocument/2006/relationships/image" Target="../media/image681.png"/><Relationship Id="rId10" Type="http://schemas.openxmlformats.org/officeDocument/2006/relationships/image" Target="../media/image670.png"/><Relationship Id="rId9" Type="http://schemas.openxmlformats.org/officeDocument/2006/relationships/image" Target="../media/image660.png"/></Relationships>
</file>

<file path=ppt/slides/_rels/slide78.xml.rels><?xml version="1.0" encoding="UTF-8" standalone="yes"?>
<Relationships xmlns="http://schemas.openxmlformats.org/package/2006/relationships"><Relationship Id="rId8" Type="http://schemas.openxmlformats.org/officeDocument/2006/relationships/image" Target="../media/image350.png"/><Relationship Id="rId7" Type="http://schemas.openxmlformats.org/officeDocument/2006/relationships/image" Target="../media/image34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31.png"/><Relationship Id="rId11" Type="http://schemas.openxmlformats.org/officeDocument/2006/relationships/image" Target="../media/image681.png"/><Relationship Id="rId5" Type="http://schemas.openxmlformats.org/officeDocument/2006/relationships/image" Target="../media/image320.png"/><Relationship Id="rId10" Type="http://schemas.openxmlformats.org/officeDocument/2006/relationships/image" Target="../media/image670.png"/><Relationship Id="rId9" Type="http://schemas.openxmlformats.org/officeDocument/2006/relationships/image" Target="../media/image660.png"/></Relationships>
</file>

<file path=ppt/slides/_rels/slide79.xml.rels><?xml version="1.0" encoding="UTF-8" standalone="yes"?>
<Relationships xmlns="http://schemas.openxmlformats.org/package/2006/relationships"><Relationship Id="rId8" Type="http://schemas.openxmlformats.org/officeDocument/2006/relationships/image" Target="../media/image350.png"/><Relationship Id="rId7" Type="http://schemas.openxmlformats.org/officeDocument/2006/relationships/image" Target="../media/image340.png"/><Relationship Id="rId12" Type="http://schemas.openxmlformats.org/officeDocument/2006/relationships/image" Target="../media/image68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31.png"/><Relationship Id="rId11" Type="http://schemas.openxmlformats.org/officeDocument/2006/relationships/image" Target="../media/image670.png"/><Relationship Id="rId5" Type="http://schemas.openxmlformats.org/officeDocument/2006/relationships/image" Target="../media/image320.png"/><Relationship Id="rId10" Type="http://schemas.openxmlformats.org/officeDocument/2006/relationships/image" Target="../media/image660.png"/><Relationship Id="rId9" Type="http://schemas.openxmlformats.org/officeDocument/2006/relationships/image" Target="../media/image361.png"/></Relationships>
</file>

<file path=ppt/slides/_rels/slide80.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681.png"/><Relationship Id="rId7" Type="http://schemas.openxmlformats.org/officeDocument/2006/relationships/image" Target="../media/image340.png"/><Relationship Id="rId12" Type="http://schemas.openxmlformats.org/officeDocument/2006/relationships/image" Target="../media/image67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31.png"/><Relationship Id="rId11" Type="http://schemas.openxmlformats.org/officeDocument/2006/relationships/image" Target="../media/image660.png"/><Relationship Id="rId5" Type="http://schemas.openxmlformats.org/officeDocument/2006/relationships/image" Target="../media/image320.png"/><Relationship Id="rId10" Type="http://schemas.openxmlformats.org/officeDocument/2006/relationships/image" Target="../media/image370.png"/><Relationship Id="rId9" Type="http://schemas.openxmlformats.org/officeDocument/2006/relationships/image" Target="../media/image361.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93.xml.rels><?xml version="1.0" encoding="UTF-8" standalone="yes"?>
<Relationships xmlns="http://schemas.openxmlformats.org/package/2006/relationships"><Relationship Id="rId3" Type="http://schemas.openxmlformats.org/officeDocument/2006/relationships/image" Target="../media/image840.png"/><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95.xml.rels><?xml version="1.0" encoding="UTF-8" standalone="yes"?>
<Relationships xmlns="http://schemas.openxmlformats.org/package/2006/relationships"><Relationship Id="rId3" Type="http://schemas.openxmlformats.org/officeDocument/2006/relationships/image" Target="../media/image850.png"/><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F850E-F7AF-B2DD-E681-03EEDEDBB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8A7E92-7F41-3CC1-1453-5A03FEA8F5AD}"/>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第一讲的课件</a:t>
            </a:r>
          </a:p>
        </p:txBody>
      </p:sp>
      <p:sp>
        <p:nvSpPr>
          <p:cNvPr id="7" name="TextBox 6">
            <a:extLst>
              <a:ext uri="{FF2B5EF4-FFF2-40B4-BE49-F238E27FC236}">
                <a16:creationId xmlns:a16="http://schemas.microsoft.com/office/drawing/2014/main" id="{F5C8D776-F7C8-3D69-D45D-111A006ADBD2}"/>
              </a:ext>
            </a:extLst>
          </p:cNvPr>
          <p:cNvSpPr txBox="1"/>
          <p:nvPr/>
        </p:nvSpPr>
        <p:spPr>
          <a:xfrm>
            <a:off x="1475580" y="1826976"/>
            <a:ext cx="6192836" cy="461665"/>
          </a:xfrm>
          <a:prstGeom prst="rect">
            <a:avLst/>
          </a:prstGeom>
          <a:noFill/>
        </p:spPr>
        <p:txBody>
          <a:bodyPr wrap="square" rtlCol="0">
            <a:spAutoFit/>
          </a:bodyPr>
          <a:lstStyle/>
          <a:p>
            <a:pPr algn="ctr"/>
            <a:r>
              <a:rPr lang="zh-CN" altLang="en-US" sz="2400" b="1" dirty="0">
                <a:solidFill>
                  <a:schemeClr val="tx1"/>
                </a:solidFill>
                <a:latin typeface="Microsoft YaHei Light" panose="020B0502040204020203" pitchFamily="34" charset="-122"/>
                <a:ea typeface="Microsoft YaHei Light" panose="020B0502040204020203" pitchFamily="34" charset="-122"/>
              </a:rPr>
              <a:t>如需第一讲的课件，可扫描以下二维码下载</a:t>
            </a:r>
            <a:endParaRPr lang="en-US" sz="2400" dirty="0"/>
          </a:p>
        </p:txBody>
      </p:sp>
      <p:pic>
        <p:nvPicPr>
          <p:cNvPr id="4" name="Picture 3">
            <a:extLst>
              <a:ext uri="{FF2B5EF4-FFF2-40B4-BE49-F238E27FC236}">
                <a16:creationId xmlns:a16="http://schemas.microsoft.com/office/drawing/2014/main" id="{3F9CD53A-FD59-29EC-93A4-388B1CEA1C40}"/>
              </a:ext>
            </a:extLst>
          </p:cNvPr>
          <p:cNvPicPr>
            <a:picLocks noChangeAspect="1"/>
          </p:cNvPicPr>
          <p:nvPr/>
        </p:nvPicPr>
        <p:blipFill>
          <a:blip r:embed="rId3"/>
          <a:stretch>
            <a:fillRect/>
          </a:stretch>
        </p:blipFill>
        <p:spPr>
          <a:xfrm>
            <a:off x="3103038" y="2514600"/>
            <a:ext cx="2937920" cy="2949352"/>
          </a:xfrm>
          <a:prstGeom prst="rect">
            <a:avLst/>
          </a:prstGeom>
        </p:spPr>
      </p:pic>
    </p:spTree>
    <p:custDataLst>
      <p:tags r:id="rId1"/>
    </p:custDataLst>
    <p:extLst>
      <p:ext uri="{BB962C8B-B14F-4D97-AF65-F5344CB8AC3E}">
        <p14:creationId xmlns:p14="http://schemas.microsoft.com/office/powerpoint/2010/main" val="3898669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676400"/>
            <a:ext cx="7772400" cy="1462088"/>
          </a:xfrm>
        </p:spPr>
        <p:txBody>
          <a:bodyPr/>
          <a:lstStyle/>
          <a:p>
            <a:pPr algn="ctr" eaLnBrk="1" hangingPunct="1"/>
            <a:r>
              <a:rPr lang="zh-CN" altLang="en-US" sz="3600" b="1" kern="0" dirty="0">
                <a:ea typeface="SimSun" panose="02010600030101010101" pitchFamily="2" charset="-122"/>
              </a:rPr>
              <a:t>机器学习课程第</a:t>
            </a:r>
            <a:r>
              <a:rPr lang="zh-CN" altLang="en-US" sz="3600" b="1" dirty="0">
                <a:ea typeface="SimSun" panose="02010600030101010101" pitchFamily="2" charset="-122"/>
              </a:rPr>
              <a:t>二</a:t>
            </a:r>
            <a:r>
              <a:rPr lang="zh-CN" altLang="en-US" sz="3600" b="1" kern="0" dirty="0">
                <a:ea typeface="SimSun" panose="02010600030101010101" pitchFamily="2" charset="-122"/>
              </a:rPr>
              <a:t>讲</a:t>
            </a:r>
            <a:br>
              <a:rPr lang="en-US" altLang="zh-CN" sz="3600" b="1" kern="0" dirty="0">
                <a:ea typeface="SimSun" panose="02010600030101010101" pitchFamily="2" charset="-122"/>
              </a:rPr>
            </a:br>
            <a:r>
              <a:rPr lang="zh-CN" altLang="en-US" sz="3600" b="1" kern="0" dirty="0">
                <a:ea typeface="SimSun" panose="02010600030101010101" pitchFamily="2" charset="-122"/>
              </a:rPr>
              <a:t>基础分类模型</a:t>
            </a:r>
            <a:r>
              <a:rPr lang="zh-CN" altLang="en-US" sz="3600" b="1" dirty="0">
                <a:ea typeface="SimSun" panose="02010600030101010101" pitchFamily="2" charset="-122"/>
              </a:rPr>
              <a:t>：</a:t>
            </a:r>
            <a:br>
              <a:rPr lang="en-US" altLang="zh-CN" sz="3600" b="1" dirty="0">
                <a:ea typeface="SimSun" panose="02010600030101010101" pitchFamily="2" charset="-122"/>
              </a:rPr>
            </a:br>
            <a:r>
              <a:rPr lang="en-US" altLang="zh-CN" sz="3600" b="1" dirty="0">
                <a:ea typeface="SimSun" panose="02010600030101010101" pitchFamily="2" charset="-122"/>
              </a:rPr>
              <a:t>Logistic Regression</a:t>
            </a:r>
          </a:p>
        </p:txBody>
      </p:sp>
      <p:sp>
        <p:nvSpPr>
          <p:cNvPr id="5123" name="Rectangle 3"/>
          <p:cNvSpPr>
            <a:spLocks noGrp="1" noChangeArrowheads="1"/>
          </p:cNvSpPr>
          <p:nvPr>
            <p:ph type="subTitle" idx="1"/>
          </p:nvPr>
        </p:nvSpPr>
        <p:spPr>
          <a:xfrm>
            <a:off x="1295400" y="3810000"/>
            <a:ext cx="6553200" cy="762000"/>
          </a:xfrm>
        </p:spPr>
        <p:txBody>
          <a:bodyPr/>
          <a:lstStyle/>
          <a:p>
            <a:pPr eaLnBrk="1" hangingPunct="1"/>
            <a:r>
              <a:rPr lang="zh-CN" altLang="en-US" sz="2800" dirty="0">
                <a:ea typeface="SimSun" panose="02010600030101010101" pitchFamily="2" charset="-122"/>
              </a:rPr>
              <a:t>李聪</a:t>
            </a:r>
            <a:endParaRPr lang="en-US" altLang="zh-CN" sz="2400" dirty="0">
              <a:ea typeface="SimSun" panose="02010600030101010101" pitchFamily="2" charset="-122"/>
            </a:endParaRPr>
          </a:p>
        </p:txBody>
      </p:sp>
      <p:sp>
        <p:nvSpPr>
          <p:cNvPr id="4" name="Rectangle 2">
            <a:extLst>
              <a:ext uri="{FF2B5EF4-FFF2-40B4-BE49-F238E27FC236}">
                <a16:creationId xmlns:a16="http://schemas.microsoft.com/office/drawing/2014/main" id="{D050F980-1D76-4E39-94EB-A1B939407DEF}"/>
              </a:ext>
            </a:extLst>
          </p:cNvPr>
          <p:cNvSpPr txBox="1">
            <a:spLocks noChangeArrowheads="1"/>
          </p:cNvSpPr>
          <p:nvPr/>
        </p:nvSpPr>
        <p:spPr bwMode="auto">
          <a:xfrm>
            <a:off x="609600" y="3192739"/>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a:lstStyle>
          <a:p>
            <a:pPr algn="ctr" eaLnBrk="1" hangingPunct="1"/>
            <a:endParaRPr lang="en-US" altLang="zh-CN" sz="3600" b="1" kern="0" dirty="0">
              <a:ea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6C584-6457-41A4-BA5F-69E8F2C23F5C}"/>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从名称开始</a:t>
            </a:r>
          </a:p>
        </p:txBody>
      </p:sp>
      <p:sp>
        <p:nvSpPr>
          <p:cNvPr id="5" name="TextBox 4">
            <a:extLst>
              <a:ext uri="{FF2B5EF4-FFF2-40B4-BE49-F238E27FC236}">
                <a16:creationId xmlns:a16="http://schemas.microsoft.com/office/drawing/2014/main" id="{352E82BF-51C0-454A-9345-49341D89CE22}"/>
              </a:ext>
            </a:extLst>
          </p:cNvPr>
          <p:cNvSpPr txBox="1"/>
          <p:nvPr/>
        </p:nvSpPr>
        <p:spPr>
          <a:xfrm>
            <a:off x="533400" y="1828800"/>
            <a:ext cx="8077200" cy="584775"/>
          </a:xfrm>
          <a:prstGeom prst="rect">
            <a:avLst/>
          </a:prstGeom>
          <a:noFill/>
        </p:spPr>
        <p:txBody>
          <a:bodyPr wrap="square" rtlCol="0">
            <a:spAutoFit/>
          </a:bodyPr>
          <a:lstStyle/>
          <a:p>
            <a:pPr algn="ctr"/>
            <a:r>
              <a:rPr lang="en-US" altLang="zh-CN" sz="3200" dirty="0"/>
              <a:t>Logistic Regression</a:t>
            </a:r>
            <a:r>
              <a:rPr lang="zh-CN" altLang="en-US" sz="3200" dirty="0"/>
              <a:t>怎么翻译？</a:t>
            </a:r>
          </a:p>
        </p:txBody>
      </p:sp>
      <p:sp>
        <p:nvSpPr>
          <p:cNvPr id="4" name="Speech Bubble: Rectangle with Corners Rounded 3">
            <a:extLst>
              <a:ext uri="{FF2B5EF4-FFF2-40B4-BE49-F238E27FC236}">
                <a16:creationId xmlns:a16="http://schemas.microsoft.com/office/drawing/2014/main" id="{07A459AF-A544-FF39-51CF-D12D05762B2F}"/>
              </a:ext>
            </a:extLst>
          </p:cNvPr>
          <p:cNvSpPr/>
          <p:nvPr/>
        </p:nvSpPr>
        <p:spPr bwMode="auto">
          <a:xfrm>
            <a:off x="1524000" y="3192136"/>
            <a:ext cx="1219200" cy="473727"/>
          </a:xfrm>
          <a:prstGeom prst="wedgeRoundRectCallout">
            <a:avLst>
              <a:gd name="adj1" fmla="val 22399"/>
              <a:gd name="adj2" fmla="val -202574"/>
              <a:gd name="adj3" fmla="val 16667"/>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2200" dirty="0"/>
              <a:t>后勤？</a:t>
            </a:r>
            <a:endParaRPr kumimoji="0" lang="zh-CN" altLang="en-US" sz="2200" b="0" i="0" u="none" strike="noStrike" cap="none" normalizeH="0" baseline="0" dirty="0">
              <a:ln>
                <a:noFill/>
              </a:ln>
              <a:solidFill>
                <a:schemeClr val="tx1"/>
              </a:solidFill>
              <a:effectLst/>
            </a:endParaRPr>
          </a:p>
        </p:txBody>
      </p:sp>
      <p:sp>
        <p:nvSpPr>
          <p:cNvPr id="6" name="Speech Bubble: Rectangle with Corners Rounded 5">
            <a:extLst>
              <a:ext uri="{FF2B5EF4-FFF2-40B4-BE49-F238E27FC236}">
                <a16:creationId xmlns:a16="http://schemas.microsoft.com/office/drawing/2014/main" id="{24D58557-76F2-5370-F5B5-86A9940F3D38}"/>
              </a:ext>
            </a:extLst>
          </p:cNvPr>
          <p:cNvSpPr/>
          <p:nvPr/>
        </p:nvSpPr>
        <p:spPr bwMode="auto">
          <a:xfrm>
            <a:off x="798095" y="4800600"/>
            <a:ext cx="2671010" cy="1143000"/>
          </a:xfrm>
          <a:prstGeom prst="wedgeRoundRectCallout">
            <a:avLst>
              <a:gd name="adj1" fmla="val -2113"/>
              <a:gd name="adj2" fmla="val -154187"/>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2200" dirty="0"/>
              <a:t>好像不太对。查查字典，还有个“计算术”的翻译</a:t>
            </a:r>
          </a:p>
        </p:txBody>
      </p:sp>
    </p:spTree>
    <p:custDataLst>
      <p:tags r:id="rId1"/>
    </p:custDataLst>
    <p:extLst>
      <p:ext uri="{BB962C8B-B14F-4D97-AF65-F5344CB8AC3E}">
        <p14:creationId xmlns:p14="http://schemas.microsoft.com/office/powerpoint/2010/main" val="410089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1D164-B441-B568-F16D-F3D99457B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91FBE-A204-1AEF-7FD7-7EF6A9FC016A}"/>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从名称开始</a:t>
            </a:r>
          </a:p>
        </p:txBody>
      </p:sp>
      <p:sp>
        <p:nvSpPr>
          <p:cNvPr id="5" name="TextBox 4">
            <a:extLst>
              <a:ext uri="{FF2B5EF4-FFF2-40B4-BE49-F238E27FC236}">
                <a16:creationId xmlns:a16="http://schemas.microsoft.com/office/drawing/2014/main" id="{8A0ED95F-1AE2-1E3F-9CB6-2CA5DB2E064B}"/>
              </a:ext>
            </a:extLst>
          </p:cNvPr>
          <p:cNvSpPr txBox="1"/>
          <p:nvPr/>
        </p:nvSpPr>
        <p:spPr>
          <a:xfrm>
            <a:off x="533400" y="1828800"/>
            <a:ext cx="8077200" cy="584775"/>
          </a:xfrm>
          <a:prstGeom prst="rect">
            <a:avLst/>
          </a:prstGeom>
          <a:noFill/>
        </p:spPr>
        <p:txBody>
          <a:bodyPr wrap="square" rtlCol="0">
            <a:spAutoFit/>
          </a:bodyPr>
          <a:lstStyle/>
          <a:p>
            <a:pPr algn="ctr"/>
            <a:r>
              <a:rPr lang="en-US" altLang="zh-CN" sz="3200" dirty="0"/>
              <a:t>Logistic Regression</a:t>
            </a:r>
            <a:r>
              <a:rPr lang="zh-CN" altLang="en-US" sz="3200" dirty="0"/>
              <a:t>怎么翻译？</a:t>
            </a:r>
          </a:p>
        </p:txBody>
      </p:sp>
      <p:sp>
        <p:nvSpPr>
          <p:cNvPr id="4" name="Speech Bubble: Rectangle with Corners Rounded 3">
            <a:extLst>
              <a:ext uri="{FF2B5EF4-FFF2-40B4-BE49-F238E27FC236}">
                <a16:creationId xmlns:a16="http://schemas.microsoft.com/office/drawing/2014/main" id="{252ED327-1129-1BD3-83A5-F142ED1AF00B}"/>
              </a:ext>
            </a:extLst>
          </p:cNvPr>
          <p:cNvSpPr/>
          <p:nvPr/>
        </p:nvSpPr>
        <p:spPr bwMode="auto">
          <a:xfrm>
            <a:off x="4267200" y="3133360"/>
            <a:ext cx="1219200" cy="473727"/>
          </a:xfrm>
          <a:prstGeom prst="wedgeRoundRectCallout">
            <a:avLst>
              <a:gd name="adj1" fmla="val -39772"/>
              <a:gd name="adj2" fmla="val -217813"/>
              <a:gd name="adj3" fmla="val 16667"/>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2200" dirty="0"/>
              <a:t>回归</a:t>
            </a:r>
            <a:endParaRPr kumimoji="0" lang="zh-CN" altLang="en-US" sz="2200" b="0" i="0" u="none" strike="noStrike" cap="none" normalizeH="0" baseline="0" dirty="0">
              <a:ln>
                <a:noFill/>
              </a:ln>
              <a:solidFill>
                <a:schemeClr val="tx1"/>
              </a:solidFill>
              <a:effectLst/>
            </a:endParaRPr>
          </a:p>
        </p:txBody>
      </p:sp>
      <p:sp>
        <p:nvSpPr>
          <p:cNvPr id="6" name="Speech Bubble: Rectangle with Corners Rounded 5">
            <a:extLst>
              <a:ext uri="{FF2B5EF4-FFF2-40B4-BE49-F238E27FC236}">
                <a16:creationId xmlns:a16="http://schemas.microsoft.com/office/drawing/2014/main" id="{7BEBCBC1-04C9-F205-9525-9254539718B2}"/>
              </a:ext>
            </a:extLst>
          </p:cNvPr>
          <p:cNvSpPr/>
          <p:nvPr/>
        </p:nvSpPr>
        <p:spPr bwMode="auto">
          <a:xfrm>
            <a:off x="3962400" y="4800600"/>
            <a:ext cx="2819400" cy="1143000"/>
          </a:xfrm>
          <a:prstGeom prst="wedgeRoundRectCallout">
            <a:avLst>
              <a:gd name="adj1" fmla="val -19894"/>
              <a:gd name="adj2" fmla="val -156292"/>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2200" dirty="0"/>
              <a:t>回归是上一讲里的。这一讲是分类啊！是不是错乱了？</a:t>
            </a:r>
          </a:p>
        </p:txBody>
      </p:sp>
    </p:spTree>
    <p:custDataLst>
      <p:tags r:id="rId1"/>
    </p:custDataLst>
    <p:extLst>
      <p:ext uri="{BB962C8B-B14F-4D97-AF65-F5344CB8AC3E}">
        <p14:creationId xmlns:p14="http://schemas.microsoft.com/office/powerpoint/2010/main" val="2819283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A3F54-FDDB-3F28-8C3D-F1E6BC9E8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35589-BD66-218A-BEEA-931D3955CD02}"/>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并非错乱：来自课程大纲</a:t>
            </a:r>
          </a:p>
        </p:txBody>
      </p:sp>
      <p:sp>
        <p:nvSpPr>
          <p:cNvPr id="3" name="Content Placeholder 2">
            <a:extLst>
              <a:ext uri="{FF2B5EF4-FFF2-40B4-BE49-F238E27FC236}">
                <a16:creationId xmlns:a16="http://schemas.microsoft.com/office/drawing/2014/main" id="{E6627493-18BF-7C0F-0070-5FB50AEC5949}"/>
              </a:ext>
            </a:extLst>
          </p:cNvPr>
          <p:cNvSpPr>
            <a:spLocks noGrp="1"/>
          </p:cNvSpPr>
          <p:nvPr>
            <p:ph idx="1"/>
          </p:nvPr>
        </p:nvSpPr>
        <p:spPr>
          <a:xfrm>
            <a:off x="762000" y="1600200"/>
            <a:ext cx="7772400" cy="5257800"/>
          </a:xfrm>
        </p:spPr>
        <p:txBody>
          <a:bodyPr>
            <a:normAutofit/>
          </a:bodyPr>
          <a:lstStyle/>
          <a:p>
            <a:r>
              <a:rPr lang="zh-CN" altLang="en-US" dirty="0"/>
              <a:t>定义：分类问题、二分类和多分类</a:t>
            </a:r>
            <a:endParaRPr lang="en-US" altLang="zh-CN" dirty="0"/>
          </a:p>
          <a:p>
            <a:r>
              <a:rPr lang="en-US" altLang="zh-CN" dirty="0"/>
              <a:t>Logistic Regression</a:t>
            </a:r>
            <a:r>
              <a:rPr lang="zh-CN" altLang="en-US" dirty="0"/>
              <a:t>过程</a:t>
            </a:r>
            <a:endParaRPr lang="en-US" altLang="zh-CN" dirty="0"/>
          </a:p>
          <a:p>
            <a:r>
              <a:rPr lang="zh-CN" altLang="en-US" dirty="0"/>
              <a:t>从二分类问题到多分类问题：</a:t>
            </a:r>
            <a:r>
              <a:rPr lang="en-US" altLang="zh-CN" dirty="0" err="1"/>
              <a:t>Softmax</a:t>
            </a:r>
            <a:endParaRPr lang="en-US" altLang="zh-CN" dirty="0"/>
          </a:p>
          <a:p>
            <a:r>
              <a:rPr lang="zh-CN" altLang="en-US" dirty="0"/>
              <a:t>分类问题的评价指标</a:t>
            </a:r>
            <a:endParaRPr lang="en-US" altLang="zh-CN" dirty="0"/>
          </a:p>
          <a:p>
            <a:r>
              <a:rPr lang="en-US" altLang="zh-CN" dirty="0"/>
              <a:t>Logistic Regression</a:t>
            </a:r>
            <a:r>
              <a:rPr lang="zh-CN" altLang="en-US" dirty="0"/>
              <a:t>的具体使用方式</a:t>
            </a:r>
            <a:endParaRPr lang="en-US" altLang="zh-CN" dirty="0"/>
          </a:p>
        </p:txBody>
      </p:sp>
    </p:spTree>
    <p:extLst>
      <p:ext uri="{BB962C8B-B14F-4D97-AF65-F5344CB8AC3E}">
        <p14:creationId xmlns:p14="http://schemas.microsoft.com/office/powerpoint/2010/main" val="1185262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6D1D9-4E87-43AB-0C97-198FDECD7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9DF7A-5330-4786-4CFE-65BEC8879FE5}"/>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稍作调整</a:t>
            </a:r>
          </a:p>
        </p:txBody>
      </p:sp>
      <p:sp>
        <p:nvSpPr>
          <p:cNvPr id="3" name="Content Placeholder 2">
            <a:extLst>
              <a:ext uri="{FF2B5EF4-FFF2-40B4-BE49-F238E27FC236}">
                <a16:creationId xmlns:a16="http://schemas.microsoft.com/office/drawing/2014/main" id="{231C90B8-866F-486E-E6F2-2A3D23F2DD34}"/>
              </a:ext>
            </a:extLst>
          </p:cNvPr>
          <p:cNvSpPr>
            <a:spLocks noGrp="1"/>
          </p:cNvSpPr>
          <p:nvPr>
            <p:ph idx="1"/>
          </p:nvPr>
        </p:nvSpPr>
        <p:spPr>
          <a:xfrm>
            <a:off x="762000" y="1600200"/>
            <a:ext cx="7772400" cy="5257800"/>
          </a:xfrm>
        </p:spPr>
        <p:txBody>
          <a:bodyPr>
            <a:normAutofit/>
          </a:bodyPr>
          <a:lstStyle/>
          <a:p>
            <a:r>
              <a:rPr lang="zh-CN" altLang="en-US" dirty="0"/>
              <a:t>定义：分类问题、二分类和多分类</a:t>
            </a:r>
            <a:endParaRPr lang="en-US" altLang="zh-CN" dirty="0"/>
          </a:p>
          <a:p>
            <a:r>
              <a:rPr lang="zh-CN" altLang="en-US" dirty="0">
                <a:solidFill>
                  <a:srgbClr val="C00000"/>
                </a:solidFill>
              </a:rPr>
              <a:t>感知器分类</a:t>
            </a:r>
            <a:endParaRPr lang="en-US" altLang="zh-CN" dirty="0">
              <a:solidFill>
                <a:srgbClr val="C00000"/>
              </a:solidFill>
            </a:endParaRPr>
          </a:p>
          <a:p>
            <a:r>
              <a:rPr lang="en-US" altLang="zh-CN" dirty="0"/>
              <a:t>Logistic Regression</a:t>
            </a:r>
            <a:r>
              <a:rPr lang="zh-CN" altLang="en-US" dirty="0"/>
              <a:t>过程</a:t>
            </a:r>
            <a:endParaRPr lang="en-US" altLang="zh-CN" dirty="0"/>
          </a:p>
          <a:p>
            <a:r>
              <a:rPr lang="zh-CN" altLang="en-US" dirty="0"/>
              <a:t>从二分类问题到多分类问题：</a:t>
            </a:r>
            <a:r>
              <a:rPr lang="en-US" altLang="zh-CN" dirty="0" err="1"/>
              <a:t>Softmax</a:t>
            </a:r>
            <a:endParaRPr lang="en-US" altLang="zh-CN" dirty="0"/>
          </a:p>
          <a:p>
            <a:r>
              <a:rPr lang="zh-CN" altLang="en-US" dirty="0"/>
              <a:t>分类问题的评价指标</a:t>
            </a:r>
            <a:endParaRPr lang="en-US" altLang="zh-CN" dirty="0"/>
          </a:p>
          <a:p>
            <a:r>
              <a:rPr lang="en-US" altLang="zh-CN" dirty="0"/>
              <a:t>Logistic Regression</a:t>
            </a:r>
            <a:r>
              <a:rPr lang="zh-CN" altLang="en-US" dirty="0"/>
              <a:t>的具体使用方式</a:t>
            </a:r>
            <a:endParaRPr lang="en-US" altLang="zh-CN" dirty="0"/>
          </a:p>
        </p:txBody>
      </p:sp>
      <p:sp>
        <p:nvSpPr>
          <p:cNvPr id="4" name="TextBox 3">
            <a:extLst>
              <a:ext uri="{FF2B5EF4-FFF2-40B4-BE49-F238E27FC236}">
                <a16:creationId xmlns:a16="http://schemas.microsoft.com/office/drawing/2014/main" id="{439037FA-7CD9-8D88-C34E-44795345FACA}"/>
              </a:ext>
            </a:extLst>
          </p:cNvPr>
          <p:cNvSpPr txBox="1"/>
          <p:nvPr/>
        </p:nvSpPr>
        <p:spPr>
          <a:xfrm>
            <a:off x="4267200" y="2238708"/>
            <a:ext cx="4495799" cy="430887"/>
          </a:xfrm>
          <a:prstGeom prst="rect">
            <a:avLst/>
          </a:prstGeom>
          <a:noFill/>
        </p:spPr>
        <p:txBody>
          <a:bodyPr wrap="square" rtlCol="0">
            <a:spAutoFit/>
          </a:bodyPr>
          <a:lstStyle/>
          <a:p>
            <a:pPr algn="ctr"/>
            <a:r>
              <a:rPr lang="zh-CN" altLang="en-US" sz="2200" dirty="0"/>
              <a:t>从感知器到</a:t>
            </a:r>
            <a:r>
              <a:rPr lang="en-US" altLang="zh-CN" sz="2200" dirty="0"/>
              <a:t>Logistic regression</a:t>
            </a:r>
            <a:endParaRPr lang="zh-CN" altLang="en-US" sz="2200" dirty="0"/>
          </a:p>
        </p:txBody>
      </p:sp>
      <p:cxnSp>
        <p:nvCxnSpPr>
          <p:cNvPr id="5" name="Straight Arrow Connector 4">
            <a:extLst>
              <a:ext uri="{FF2B5EF4-FFF2-40B4-BE49-F238E27FC236}">
                <a16:creationId xmlns:a16="http://schemas.microsoft.com/office/drawing/2014/main" id="{93E294BB-0ED8-8512-B355-3527E6B484BD}"/>
              </a:ext>
            </a:extLst>
          </p:cNvPr>
          <p:cNvCxnSpPr>
            <a:cxnSpLocks/>
          </p:cNvCxnSpPr>
          <p:nvPr/>
        </p:nvCxnSpPr>
        <p:spPr bwMode="auto">
          <a:xfrm>
            <a:off x="4419600" y="2447255"/>
            <a:ext cx="0" cy="3795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 name="Straight Connector 5">
            <a:extLst>
              <a:ext uri="{FF2B5EF4-FFF2-40B4-BE49-F238E27FC236}">
                <a16:creationId xmlns:a16="http://schemas.microsoft.com/office/drawing/2014/main" id="{918077B5-3DDC-6BB4-696D-D53042E2D2AA}"/>
              </a:ext>
            </a:extLst>
          </p:cNvPr>
          <p:cNvCxnSpPr>
            <a:cxnSpLocks/>
          </p:cNvCxnSpPr>
          <p:nvPr/>
        </p:nvCxnSpPr>
        <p:spPr bwMode="auto">
          <a:xfrm>
            <a:off x="3352800" y="2447255"/>
            <a:ext cx="10668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10971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ABAB8-A61B-B68E-FD8F-6F1C02671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76E06-B431-F53D-D3A0-06BD0F1E5991}"/>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稍作调整</a:t>
            </a:r>
          </a:p>
        </p:txBody>
      </p:sp>
      <p:sp>
        <p:nvSpPr>
          <p:cNvPr id="3" name="Content Placeholder 2">
            <a:extLst>
              <a:ext uri="{FF2B5EF4-FFF2-40B4-BE49-F238E27FC236}">
                <a16:creationId xmlns:a16="http://schemas.microsoft.com/office/drawing/2014/main" id="{F309D20A-3354-A3E7-87FC-9F11F9679F95}"/>
              </a:ext>
            </a:extLst>
          </p:cNvPr>
          <p:cNvSpPr>
            <a:spLocks noGrp="1"/>
          </p:cNvSpPr>
          <p:nvPr>
            <p:ph idx="1"/>
          </p:nvPr>
        </p:nvSpPr>
        <p:spPr>
          <a:xfrm>
            <a:off x="762000" y="1600200"/>
            <a:ext cx="7772400" cy="5257800"/>
          </a:xfrm>
        </p:spPr>
        <p:txBody>
          <a:bodyPr>
            <a:normAutofit/>
          </a:bodyPr>
          <a:lstStyle/>
          <a:p>
            <a:r>
              <a:rPr lang="zh-CN" altLang="en-US" dirty="0"/>
              <a:t>定义：分类问题、二分类和多分类</a:t>
            </a:r>
            <a:endParaRPr lang="en-US" altLang="zh-CN" dirty="0"/>
          </a:p>
          <a:p>
            <a:r>
              <a:rPr lang="zh-CN" altLang="en-US" dirty="0"/>
              <a:t>感知器分类</a:t>
            </a:r>
            <a:endParaRPr lang="en-US" altLang="zh-CN" dirty="0"/>
          </a:p>
          <a:p>
            <a:r>
              <a:rPr lang="en-US" altLang="zh-CN" dirty="0"/>
              <a:t>Logistic Regression</a:t>
            </a:r>
            <a:r>
              <a:rPr lang="zh-CN" altLang="en-US" dirty="0"/>
              <a:t>过程</a:t>
            </a:r>
            <a:endParaRPr lang="en-US" altLang="zh-CN" dirty="0"/>
          </a:p>
          <a:p>
            <a:r>
              <a:rPr lang="zh-CN" altLang="en-US" dirty="0"/>
              <a:t>从二分类问题到多分类问题：</a:t>
            </a:r>
            <a:r>
              <a:rPr lang="en-US" altLang="zh-CN" dirty="0" err="1"/>
              <a:t>Softmax</a:t>
            </a:r>
            <a:endParaRPr lang="en-US" altLang="zh-CN" dirty="0"/>
          </a:p>
          <a:p>
            <a:r>
              <a:rPr lang="zh-CN" altLang="en-US" dirty="0"/>
              <a:t>分类问题的评价指标</a:t>
            </a:r>
            <a:endParaRPr lang="en-US" altLang="zh-CN" dirty="0"/>
          </a:p>
          <a:p>
            <a:r>
              <a:rPr lang="en-US" altLang="zh-CN" dirty="0"/>
              <a:t>Logistic Regression</a:t>
            </a:r>
            <a:r>
              <a:rPr lang="zh-CN" altLang="en-US" dirty="0"/>
              <a:t>的具体使用方式</a:t>
            </a:r>
            <a:endParaRPr lang="en-US" altLang="zh-CN" dirty="0"/>
          </a:p>
        </p:txBody>
      </p:sp>
      <p:sp>
        <p:nvSpPr>
          <p:cNvPr id="7" name="TextBox 6">
            <a:extLst>
              <a:ext uri="{FF2B5EF4-FFF2-40B4-BE49-F238E27FC236}">
                <a16:creationId xmlns:a16="http://schemas.microsoft.com/office/drawing/2014/main" id="{4F485C08-4BD5-79A6-A641-C55E8ACDD69F}"/>
              </a:ext>
            </a:extLst>
          </p:cNvPr>
          <p:cNvSpPr txBox="1"/>
          <p:nvPr/>
        </p:nvSpPr>
        <p:spPr>
          <a:xfrm>
            <a:off x="5867400" y="2430959"/>
            <a:ext cx="2362200" cy="769441"/>
          </a:xfrm>
          <a:prstGeom prst="rect">
            <a:avLst/>
          </a:prstGeom>
          <a:noFill/>
        </p:spPr>
        <p:txBody>
          <a:bodyPr wrap="square" rtlCol="0">
            <a:spAutoFit/>
          </a:bodyPr>
          <a:lstStyle/>
          <a:p>
            <a:pPr algn="ctr"/>
            <a:r>
              <a:rPr lang="zh-CN" altLang="en-US" sz="2200" dirty="0"/>
              <a:t>定义问题的同时明确如何评价</a:t>
            </a:r>
          </a:p>
        </p:txBody>
      </p:sp>
      <p:cxnSp>
        <p:nvCxnSpPr>
          <p:cNvPr id="8" name="Straight Arrow Connector 7">
            <a:extLst>
              <a:ext uri="{FF2B5EF4-FFF2-40B4-BE49-F238E27FC236}">
                <a16:creationId xmlns:a16="http://schemas.microsoft.com/office/drawing/2014/main" id="{B41B9562-F575-D1B5-87B3-3EED312A2E31}"/>
              </a:ext>
            </a:extLst>
          </p:cNvPr>
          <p:cNvCxnSpPr>
            <a:cxnSpLocks/>
          </p:cNvCxnSpPr>
          <p:nvPr/>
        </p:nvCxnSpPr>
        <p:spPr bwMode="auto">
          <a:xfrm flipV="1">
            <a:off x="5943600" y="2209800"/>
            <a:ext cx="0" cy="2057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Straight Connector 11">
            <a:extLst>
              <a:ext uri="{FF2B5EF4-FFF2-40B4-BE49-F238E27FC236}">
                <a16:creationId xmlns:a16="http://schemas.microsoft.com/office/drawing/2014/main" id="{C11CDEC2-6FAF-EC45-21BD-712CA6D82177}"/>
              </a:ext>
            </a:extLst>
          </p:cNvPr>
          <p:cNvCxnSpPr/>
          <p:nvPr/>
        </p:nvCxnSpPr>
        <p:spPr bwMode="auto">
          <a:xfrm>
            <a:off x="4963319" y="4267200"/>
            <a:ext cx="98028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729655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D9BBE-8B69-0E41-0E9A-C1B2822A2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9BDDEB-D19A-9634-F241-23FDBDE236BF}"/>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稍作调整</a:t>
            </a:r>
          </a:p>
        </p:txBody>
      </p:sp>
      <p:sp>
        <p:nvSpPr>
          <p:cNvPr id="3" name="Content Placeholder 2">
            <a:extLst>
              <a:ext uri="{FF2B5EF4-FFF2-40B4-BE49-F238E27FC236}">
                <a16:creationId xmlns:a16="http://schemas.microsoft.com/office/drawing/2014/main" id="{276BD840-AAE7-814F-ED0E-DD9EBAEC6AB8}"/>
              </a:ext>
            </a:extLst>
          </p:cNvPr>
          <p:cNvSpPr>
            <a:spLocks noGrp="1"/>
          </p:cNvSpPr>
          <p:nvPr>
            <p:ph idx="1"/>
          </p:nvPr>
        </p:nvSpPr>
        <p:spPr>
          <a:xfrm>
            <a:off x="762000" y="1600200"/>
            <a:ext cx="7772400" cy="5257800"/>
          </a:xfrm>
        </p:spPr>
        <p:txBody>
          <a:bodyPr>
            <a:normAutofit/>
          </a:bodyPr>
          <a:lstStyle/>
          <a:p>
            <a:r>
              <a:rPr lang="zh-CN" altLang="en-US" dirty="0"/>
              <a:t>定义：分类问题、二分类和多分类、评价指标</a:t>
            </a:r>
            <a:endParaRPr lang="en-US" altLang="zh-CN" dirty="0"/>
          </a:p>
          <a:p>
            <a:r>
              <a:rPr lang="zh-CN" altLang="en-US" dirty="0"/>
              <a:t>感知器分类</a:t>
            </a:r>
            <a:endParaRPr lang="en-US" altLang="zh-CN" dirty="0"/>
          </a:p>
          <a:p>
            <a:r>
              <a:rPr lang="en-US" altLang="zh-CN" dirty="0"/>
              <a:t>Logistic Regression</a:t>
            </a:r>
            <a:r>
              <a:rPr lang="zh-CN" altLang="en-US" dirty="0"/>
              <a:t>过程</a:t>
            </a:r>
            <a:endParaRPr lang="en-US" altLang="zh-CN" dirty="0"/>
          </a:p>
          <a:p>
            <a:r>
              <a:rPr lang="zh-CN" altLang="en-US" dirty="0"/>
              <a:t>从二分类问题到多分类问题：</a:t>
            </a:r>
            <a:r>
              <a:rPr lang="en-US" altLang="zh-CN" dirty="0" err="1"/>
              <a:t>Softmax</a:t>
            </a:r>
            <a:endParaRPr lang="en-US" altLang="zh-CN" dirty="0"/>
          </a:p>
          <a:p>
            <a:r>
              <a:rPr lang="en-US" altLang="zh-CN" dirty="0"/>
              <a:t>Logistic Regression</a:t>
            </a:r>
            <a:r>
              <a:rPr lang="zh-CN" altLang="en-US" dirty="0"/>
              <a:t>的具体使用方式</a:t>
            </a:r>
            <a:endParaRPr lang="en-US" altLang="zh-CN" dirty="0"/>
          </a:p>
        </p:txBody>
      </p:sp>
      <p:sp>
        <p:nvSpPr>
          <p:cNvPr id="4" name="Speech Bubble: Rectangle with Corners Rounded 3">
            <a:extLst>
              <a:ext uri="{FF2B5EF4-FFF2-40B4-BE49-F238E27FC236}">
                <a16:creationId xmlns:a16="http://schemas.microsoft.com/office/drawing/2014/main" id="{4C18DF71-7FF3-D996-8053-6122DF693B72}"/>
              </a:ext>
            </a:extLst>
          </p:cNvPr>
          <p:cNvSpPr/>
          <p:nvPr/>
        </p:nvSpPr>
        <p:spPr bwMode="auto">
          <a:xfrm>
            <a:off x="2971800" y="5572125"/>
            <a:ext cx="3276600" cy="838200"/>
          </a:xfrm>
          <a:prstGeom prst="wedgeRoundRectCallout">
            <a:avLst>
              <a:gd name="adj1" fmla="val -20239"/>
              <a:gd name="adj2" fmla="val -108733"/>
              <a:gd name="adj3" fmla="val 16667"/>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2200" dirty="0"/>
              <a:t>讲解依然从具体使用的实例开始，以实例结束</a:t>
            </a:r>
          </a:p>
        </p:txBody>
      </p:sp>
    </p:spTree>
    <p:extLst>
      <p:ext uri="{BB962C8B-B14F-4D97-AF65-F5344CB8AC3E}">
        <p14:creationId xmlns:p14="http://schemas.microsoft.com/office/powerpoint/2010/main" val="3428339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6C584-6457-41A4-BA5F-69E8F2C23F5C}"/>
              </a:ext>
            </a:extLst>
          </p:cNvPr>
          <p:cNvSpPr>
            <a:spLocks noGrp="1"/>
          </p:cNvSpPr>
          <p:nvPr>
            <p:ph type="title"/>
          </p:nvPr>
        </p:nvSpPr>
        <p:spPr/>
        <p:txBody>
          <a:bodyPr/>
          <a:lstStyle/>
          <a:p>
            <a:r>
              <a:rPr lang="zh-CN" altLang="en-US" dirty="0"/>
              <a:t>从实例开始</a:t>
            </a:r>
            <a:endParaRPr lang="zh-CN" altLang="en-US" b="1" dirty="0"/>
          </a:p>
        </p:txBody>
      </p:sp>
      <p:sp>
        <p:nvSpPr>
          <p:cNvPr id="8" name="TextBox 7">
            <a:extLst>
              <a:ext uri="{FF2B5EF4-FFF2-40B4-BE49-F238E27FC236}">
                <a16:creationId xmlns:a16="http://schemas.microsoft.com/office/drawing/2014/main" id="{05CC01F3-2ED9-4B4E-8C3E-260F0927D24A}"/>
              </a:ext>
            </a:extLst>
          </p:cNvPr>
          <p:cNvSpPr txBox="1"/>
          <p:nvPr/>
        </p:nvSpPr>
        <p:spPr>
          <a:xfrm>
            <a:off x="1676400" y="1600200"/>
            <a:ext cx="5791200" cy="430887"/>
          </a:xfrm>
          <a:prstGeom prst="rect">
            <a:avLst/>
          </a:prstGeom>
          <a:noFill/>
        </p:spPr>
        <p:txBody>
          <a:bodyPr wrap="square" rtlCol="0">
            <a:spAutoFit/>
          </a:bodyPr>
          <a:lstStyle/>
          <a:p>
            <a:pPr algn="ctr"/>
            <a:r>
              <a:rPr lang="zh-CN" altLang="en-US" sz="2200" dirty="0"/>
              <a:t>手写邮政编码识别</a:t>
            </a:r>
            <a:r>
              <a:rPr lang="en-US" altLang="zh-CN" sz="2200" dirty="0"/>
              <a:t> </a:t>
            </a:r>
            <a:endParaRPr lang="zh-CN" altLang="en-US" sz="2200" dirty="0"/>
          </a:p>
        </p:txBody>
      </p:sp>
      <p:pic>
        <p:nvPicPr>
          <p:cNvPr id="9" name="Picture 8">
            <a:extLst>
              <a:ext uri="{FF2B5EF4-FFF2-40B4-BE49-F238E27FC236}">
                <a16:creationId xmlns:a16="http://schemas.microsoft.com/office/drawing/2014/main" id="{9BA35C97-D792-4471-BBC5-C0389943E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6600" y="3040203"/>
            <a:ext cx="297206" cy="320068"/>
          </a:xfrm>
          <a:prstGeom prst="rect">
            <a:avLst/>
          </a:prstGeom>
        </p:spPr>
      </p:pic>
      <p:pic>
        <p:nvPicPr>
          <p:cNvPr id="11" name="Picture 10">
            <a:extLst>
              <a:ext uri="{FF2B5EF4-FFF2-40B4-BE49-F238E27FC236}">
                <a16:creationId xmlns:a16="http://schemas.microsoft.com/office/drawing/2014/main" id="{B010A567-A3BA-4890-A74B-87ADEA698D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0876" y="2476843"/>
            <a:ext cx="388654" cy="358171"/>
          </a:xfrm>
          <a:prstGeom prst="rect">
            <a:avLst/>
          </a:prstGeom>
        </p:spPr>
      </p:pic>
      <p:pic>
        <p:nvPicPr>
          <p:cNvPr id="13" name="Picture 12">
            <a:extLst>
              <a:ext uri="{FF2B5EF4-FFF2-40B4-BE49-F238E27FC236}">
                <a16:creationId xmlns:a16="http://schemas.microsoft.com/office/drawing/2014/main" id="{C1637A44-F40C-469C-BFEC-9F64E7E16D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76600" y="3591760"/>
            <a:ext cx="373412" cy="350550"/>
          </a:xfrm>
          <a:prstGeom prst="rect">
            <a:avLst/>
          </a:prstGeom>
        </p:spPr>
      </p:pic>
      <p:pic>
        <p:nvPicPr>
          <p:cNvPr id="15" name="Picture 14">
            <a:extLst>
              <a:ext uri="{FF2B5EF4-FFF2-40B4-BE49-F238E27FC236}">
                <a16:creationId xmlns:a16="http://schemas.microsoft.com/office/drawing/2014/main" id="{DB2BB9ED-2EBA-4B12-B4FF-A92ED29A04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8031" y="4087554"/>
            <a:ext cx="350550" cy="373412"/>
          </a:xfrm>
          <a:prstGeom prst="rect">
            <a:avLst/>
          </a:prstGeom>
        </p:spPr>
      </p:pic>
      <p:sp>
        <p:nvSpPr>
          <p:cNvPr id="16" name="Arrow: Right 15">
            <a:extLst>
              <a:ext uri="{FF2B5EF4-FFF2-40B4-BE49-F238E27FC236}">
                <a16:creationId xmlns:a16="http://schemas.microsoft.com/office/drawing/2014/main" id="{0C7E3ED2-0F30-4F70-9078-9F3BF022DCD8}"/>
              </a:ext>
            </a:extLst>
          </p:cNvPr>
          <p:cNvSpPr/>
          <p:nvPr/>
        </p:nvSpPr>
        <p:spPr bwMode="auto">
          <a:xfrm>
            <a:off x="4229100" y="2566385"/>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7" name="Arrow: Right 16">
            <a:extLst>
              <a:ext uri="{FF2B5EF4-FFF2-40B4-BE49-F238E27FC236}">
                <a16:creationId xmlns:a16="http://schemas.microsoft.com/office/drawing/2014/main" id="{20949F74-08A9-4A53-A6BB-BA5E3325CE36}"/>
              </a:ext>
            </a:extLst>
          </p:cNvPr>
          <p:cNvSpPr/>
          <p:nvPr/>
        </p:nvSpPr>
        <p:spPr bwMode="auto">
          <a:xfrm>
            <a:off x="4229100" y="3129512"/>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8" name="Arrow: Right 17">
            <a:extLst>
              <a:ext uri="{FF2B5EF4-FFF2-40B4-BE49-F238E27FC236}">
                <a16:creationId xmlns:a16="http://schemas.microsoft.com/office/drawing/2014/main" id="{73CCCD8E-1439-48C9-9FBF-AD8FB2702A5B}"/>
              </a:ext>
            </a:extLst>
          </p:cNvPr>
          <p:cNvSpPr/>
          <p:nvPr/>
        </p:nvSpPr>
        <p:spPr bwMode="auto">
          <a:xfrm>
            <a:off x="4229100" y="3677492"/>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9" name="Arrow: Right 18">
            <a:extLst>
              <a:ext uri="{FF2B5EF4-FFF2-40B4-BE49-F238E27FC236}">
                <a16:creationId xmlns:a16="http://schemas.microsoft.com/office/drawing/2014/main" id="{E59EC5A8-BE3A-4A09-91F3-6D944AD5BECA}"/>
              </a:ext>
            </a:extLst>
          </p:cNvPr>
          <p:cNvSpPr/>
          <p:nvPr/>
        </p:nvSpPr>
        <p:spPr bwMode="auto">
          <a:xfrm>
            <a:off x="4229100" y="4184717"/>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0" name="TextBox 19">
            <a:extLst>
              <a:ext uri="{FF2B5EF4-FFF2-40B4-BE49-F238E27FC236}">
                <a16:creationId xmlns:a16="http://schemas.microsoft.com/office/drawing/2014/main" id="{3995DE03-81EC-4EB0-B753-48775FE6FCC7}"/>
              </a:ext>
            </a:extLst>
          </p:cNvPr>
          <p:cNvSpPr txBox="1"/>
          <p:nvPr/>
        </p:nvSpPr>
        <p:spPr>
          <a:xfrm>
            <a:off x="5317633" y="2440484"/>
            <a:ext cx="413673" cy="430887"/>
          </a:xfrm>
          <a:prstGeom prst="rect">
            <a:avLst/>
          </a:prstGeom>
          <a:noFill/>
        </p:spPr>
        <p:txBody>
          <a:bodyPr wrap="square" rtlCol="0">
            <a:spAutoFit/>
          </a:bodyPr>
          <a:lstStyle/>
          <a:p>
            <a:pPr algn="ctr"/>
            <a:r>
              <a:rPr lang="en-US" altLang="zh-CN" sz="2200" dirty="0"/>
              <a:t>2</a:t>
            </a:r>
            <a:endParaRPr lang="zh-CN" altLang="en-US" sz="2200" dirty="0"/>
          </a:p>
        </p:txBody>
      </p:sp>
      <p:sp>
        <p:nvSpPr>
          <p:cNvPr id="21" name="TextBox 20">
            <a:extLst>
              <a:ext uri="{FF2B5EF4-FFF2-40B4-BE49-F238E27FC236}">
                <a16:creationId xmlns:a16="http://schemas.microsoft.com/office/drawing/2014/main" id="{F38C1606-BA30-40BD-A185-62B4E38F8BFC}"/>
              </a:ext>
            </a:extLst>
          </p:cNvPr>
          <p:cNvSpPr txBox="1"/>
          <p:nvPr/>
        </p:nvSpPr>
        <p:spPr>
          <a:xfrm>
            <a:off x="5317633" y="3003611"/>
            <a:ext cx="413673" cy="430887"/>
          </a:xfrm>
          <a:prstGeom prst="rect">
            <a:avLst/>
          </a:prstGeom>
          <a:noFill/>
        </p:spPr>
        <p:txBody>
          <a:bodyPr wrap="square" rtlCol="0">
            <a:spAutoFit/>
          </a:bodyPr>
          <a:lstStyle/>
          <a:p>
            <a:pPr algn="ctr"/>
            <a:r>
              <a:rPr lang="en-US" altLang="zh-CN" sz="2200" dirty="0"/>
              <a:t>1</a:t>
            </a:r>
            <a:endParaRPr lang="zh-CN" altLang="en-US" sz="2200" dirty="0"/>
          </a:p>
        </p:txBody>
      </p:sp>
      <p:sp>
        <p:nvSpPr>
          <p:cNvPr id="22" name="TextBox 21">
            <a:extLst>
              <a:ext uri="{FF2B5EF4-FFF2-40B4-BE49-F238E27FC236}">
                <a16:creationId xmlns:a16="http://schemas.microsoft.com/office/drawing/2014/main" id="{D2CF1658-E64E-418C-A994-09302EDA3C1D}"/>
              </a:ext>
            </a:extLst>
          </p:cNvPr>
          <p:cNvSpPr txBox="1"/>
          <p:nvPr/>
        </p:nvSpPr>
        <p:spPr>
          <a:xfrm>
            <a:off x="5317633" y="3566738"/>
            <a:ext cx="413673" cy="430887"/>
          </a:xfrm>
          <a:prstGeom prst="rect">
            <a:avLst/>
          </a:prstGeom>
          <a:noFill/>
        </p:spPr>
        <p:txBody>
          <a:bodyPr wrap="square" rtlCol="0">
            <a:spAutoFit/>
          </a:bodyPr>
          <a:lstStyle/>
          <a:p>
            <a:pPr algn="ctr"/>
            <a:r>
              <a:rPr lang="en-US" altLang="zh-CN" sz="2200" dirty="0"/>
              <a:t>4</a:t>
            </a:r>
            <a:endParaRPr lang="zh-CN" altLang="en-US" sz="2200" dirty="0"/>
          </a:p>
        </p:txBody>
      </p:sp>
      <p:sp>
        <p:nvSpPr>
          <p:cNvPr id="23" name="TextBox 22">
            <a:extLst>
              <a:ext uri="{FF2B5EF4-FFF2-40B4-BE49-F238E27FC236}">
                <a16:creationId xmlns:a16="http://schemas.microsoft.com/office/drawing/2014/main" id="{EF3E5EDB-779A-4AA1-B6C3-C480796281C4}"/>
              </a:ext>
            </a:extLst>
          </p:cNvPr>
          <p:cNvSpPr txBox="1"/>
          <p:nvPr/>
        </p:nvSpPr>
        <p:spPr>
          <a:xfrm>
            <a:off x="5318699" y="4074553"/>
            <a:ext cx="413673" cy="430887"/>
          </a:xfrm>
          <a:prstGeom prst="rect">
            <a:avLst/>
          </a:prstGeom>
          <a:noFill/>
        </p:spPr>
        <p:txBody>
          <a:bodyPr wrap="square" rtlCol="0">
            <a:spAutoFit/>
          </a:bodyPr>
          <a:lstStyle/>
          <a:p>
            <a:pPr algn="ctr"/>
            <a:r>
              <a:rPr lang="en-US" altLang="zh-CN" sz="2200" dirty="0"/>
              <a:t>6</a:t>
            </a:r>
            <a:endParaRPr lang="zh-CN" altLang="en-US" sz="2200" dirty="0"/>
          </a:p>
        </p:txBody>
      </p:sp>
      <p:sp>
        <p:nvSpPr>
          <p:cNvPr id="24" name="TextBox 23">
            <a:extLst>
              <a:ext uri="{FF2B5EF4-FFF2-40B4-BE49-F238E27FC236}">
                <a16:creationId xmlns:a16="http://schemas.microsoft.com/office/drawing/2014/main" id="{7DB7D7BF-35C7-4434-A11A-D7A4C8D2251A}"/>
              </a:ext>
            </a:extLst>
          </p:cNvPr>
          <p:cNvSpPr txBox="1"/>
          <p:nvPr/>
        </p:nvSpPr>
        <p:spPr>
          <a:xfrm>
            <a:off x="3315560" y="4769140"/>
            <a:ext cx="461665" cy="465373"/>
          </a:xfrm>
          <a:prstGeom prst="rect">
            <a:avLst/>
          </a:prstGeom>
          <a:noFill/>
        </p:spPr>
        <p:txBody>
          <a:bodyPr vert="eaVert" wrap="square" rtlCol="0">
            <a:spAutoFit/>
          </a:bodyPr>
          <a:lstStyle/>
          <a:p>
            <a:r>
              <a:rPr lang="en-US" altLang="zh-CN" dirty="0"/>
              <a:t>…</a:t>
            </a:r>
            <a:endParaRPr lang="zh-CN" altLang="en-US" dirty="0"/>
          </a:p>
        </p:txBody>
      </p:sp>
      <p:sp>
        <p:nvSpPr>
          <p:cNvPr id="25" name="TextBox 24">
            <a:extLst>
              <a:ext uri="{FF2B5EF4-FFF2-40B4-BE49-F238E27FC236}">
                <a16:creationId xmlns:a16="http://schemas.microsoft.com/office/drawing/2014/main" id="{55BB1154-2345-4406-9F9E-C14AE79F0402}"/>
              </a:ext>
            </a:extLst>
          </p:cNvPr>
          <p:cNvSpPr txBox="1"/>
          <p:nvPr/>
        </p:nvSpPr>
        <p:spPr>
          <a:xfrm>
            <a:off x="4417367" y="4769140"/>
            <a:ext cx="461665" cy="606689"/>
          </a:xfrm>
          <a:prstGeom prst="rect">
            <a:avLst/>
          </a:prstGeom>
          <a:noFill/>
        </p:spPr>
        <p:txBody>
          <a:bodyPr vert="eaVert" wrap="square" rtlCol="0">
            <a:spAutoFit/>
          </a:bodyPr>
          <a:lstStyle/>
          <a:p>
            <a:r>
              <a:rPr lang="en-US" altLang="zh-CN" dirty="0"/>
              <a:t>…</a:t>
            </a:r>
            <a:endParaRPr lang="zh-CN" altLang="en-US" dirty="0"/>
          </a:p>
        </p:txBody>
      </p:sp>
      <p:sp>
        <p:nvSpPr>
          <p:cNvPr id="26" name="TextBox 25">
            <a:extLst>
              <a:ext uri="{FF2B5EF4-FFF2-40B4-BE49-F238E27FC236}">
                <a16:creationId xmlns:a16="http://schemas.microsoft.com/office/drawing/2014/main" id="{5B89480B-C90D-4371-B154-4AB340F0C54A}"/>
              </a:ext>
            </a:extLst>
          </p:cNvPr>
          <p:cNvSpPr txBox="1"/>
          <p:nvPr/>
        </p:nvSpPr>
        <p:spPr>
          <a:xfrm>
            <a:off x="5366658" y="4792427"/>
            <a:ext cx="461665" cy="465373"/>
          </a:xfrm>
          <a:prstGeom prst="rect">
            <a:avLst/>
          </a:prstGeom>
          <a:noFill/>
        </p:spPr>
        <p:txBody>
          <a:bodyPr vert="eaVert" wrap="square" rtlCol="0">
            <a:spAutoFit/>
          </a:bodyPr>
          <a:lstStyle/>
          <a:p>
            <a:r>
              <a:rPr lang="en-US" altLang="zh-CN" dirty="0"/>
              <a:t>…</a:t>
            </a:r>
            <a:endParaRPr lang="zh-CN" altLang="en-US" dirty="0"/>
          </a:p>
        </p:txBody>
      </p:sp>
    </p:spTree>
    <p:custDataLst>
      <p:tags r:id="rId1"/>
    </p:custDataLst>
    <p:extLst>
      <p:ext uri="{BB962C8B-B14F-4D97-AF65-F5344CB8AC3E}">
        <p14:creationId xmlns:p14="http://schemas.microsoft.com/office/powerpoint/2010/main" val="94327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animBg="1"/>
      <p:bldP spid="17" grpId="0" animBg="1"/>
      <p:bldP spid="18" grpId="0" animBg="1"/>
      <p:bldP spid="19" grpId="0" animBg="1"/>
      <p:bldP spid="20" grpId="0"/>
      <p:bldP spid="21" grpId="0"/>
      <p:bldP spid="22" grpId="0"/>
      <p:bldP spid="23" grpId="0"/>
      <p:bldP spid="24" grpId="0"/>
      <p:bldP spid="25"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分类</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p:txBody>
          <a:bodyPr/>
          <a:lstStyle/>
          <a:p>
            <a:r>
              <a:rPr lang="zh-CN" altLang="en-US" dirty="0"/>
              <a:t>分类</a:t>
            </a:r>
            <a:endParaRPr lang="en-US" altLang="zh-CN" dirty="0"/>
          </a:p>
          <a:p>
            <a:pPr lvl="1"/>
            <a:r>
              <a:rPr lang="zh-CN" altLang="en-US" dirty="0"/>
              <a:t>把数据分到预先定义好的类别中去</a:t>
            </a:r>
            <a:endParaRPr lang="en-US" altLang="zh-CN" dirty="0"/>
          </a:p>
          <a:p>
            <a:r>
              <a:rPr lang="zh-CN" altLang="en-US" dirty="0"/>
              <a:t>手写邮政编码识别</a:t>
            </a:r>
            <a:endParaRPr lang="en-US" altLang="zh-CN" dirty="0"/>
          </a:p>
          <a:p>
            <a:pPr lvl="1"/>
            <a:r>
              <a:rPr lang="zh-CN" altLang="en-US" dirty="0"/>
              <a:t>数据：邮政编码图像</a:t>
            </a:r>
            <a:endParaRPr lang="en-US" altLang="zh-CN" dirty="0"/>
          </a:p>
          <a:p>
            <a:pPr lvl="1"/>
            <a:r>
              <a:rPr lang="zh-CN" altLang="en-US" dirty="0"/>
              <a:t>十个预先定义好的类别：</a:t>
            </a:r>
            <a:r>
              <a:rPr lang="en-US" altLang="zh-CN" dirty="0"/>
              <a:t>0-9</a:t>
            </a:r>
          </a:p>
        </p:txBody>
      </p:sp>
    </p:spTree>
    <p:custDataLst>
      <p:tags r:id="rId1"/>
    </p:custDataLst>
    <p:extLst>
      <p:ext uri="{BB962C8B-B14F-4D97-AF65-F5344CB8AC3E}">
        <p14:creationId xmlns:p14="http://schemas.microsoft.com/office/powerpoint/2010/main" val="181558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机器学习中的常见问题 </a:t>
            </a:r>
            <a:r>
              <a:rPr lang="en-US" altLang="zh-CN" dirty="0">
                <a:ea typeface="ＭＳ Ｐゴシック" panose="020B0600070205080204" pitchFamily="34" charset="-128"/>
              </a:rPr>
              <a:t>(1)</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p:txBody>
          <a:bodyPr/>
          <a:lstStyle/>
          <a:p>
            <a:r>
              <a:rPr lang="zh-CN" altLang="en-US" dirty="0"/>
              <a:t>垃圾邮件过滤</a:t>
            </a:r>
            <a:endParaRPr lang="en-US" altLang="zh-CN" dirty="0"/>
          </a:p>
          <a:p>
            <a:pPr lvl="1"/>
            <a:r>
              <a:rPr lang="zh-CN" altLang="en-US" dirty="0"/>
              <a:t>数据：邮件</a:t>
            </a:r>
            <a:endParaRPr lang="en-US" altLang="zh-CN" dirty="0"/>
          </a:p>
          <a:p>
            <a:pPr lvl="1"/>
            <a:r>
              <a:rPr lang="en-US" altLang="zh-CN" dirty="0"/>
              <a:t>2</a:t>
            </a:r>
            <a:r>
              <a:rPr lang="zh-CN" altLang="en-US" dirty="0"/>
              <a:t>个类别：垃圾邮件，正常邮件</a:t>
            </a:r>
            <a:endParaRPr lang="en-US" altLang="zh-CN" dirty="0"/>
          </a:p>
          <a:p>
            <a:r>
              <a:rPr lang="zh-CN" altLang="en-US" dirty="0"/>
              <a:t>某种疾病的诊断</a:t>
            </a:r>
            <a:endParaRPr lang="en-US" altLang="zh-CN" dirty="0"/>
          </a:p>
          <a:p>
            <a:pPr lvl="1"/>
            <a:r>
              <a:rPr lang="zh-CN" altLang="en-US" dirty="0"/>
              <a:t>数据：病人状况</a:t>
            </a:r>
            <a:endParaRPr lang="en-US" altLang="zh-CN" dirty="0"/>
          </a:p>
          <a:p>
            <a:pPr lvl="1"/>
            <a:r>
              <a:rPr lang="en-US" altLang="zh-CN" dirty="0"/>
              <a:t>2</a:t>
            </a:r>
            <a:r>
              <a:rPr lang="zh-CN" altLang="en-US" dirty="0"/>
              <a:t>个类别：有病，没有病</a:t>
            </a:r>
            <a:endParaRPr lang="en-US" altLang="zh-CN" dirty="0"/>
          </a:p>
          <a:p>
            <a:pPr lvl="1"/>
            <a:endParaRPr lang="en-US" altLang="zh-CN" dirty="0"/>
          </a:p>
        </p:txBody>
      </p:sp>
    </p:spTree>
    <p:custDataLst>
      <p:tags r:id="rId1"/>
    </p:custDataLst>
    <p:extLst>
      <p:ext uri="{BB962C8B-B14F-4D97-AF65-F5344CB8AC3E}">
        <p14:creationId xmlns:p14="http://schemas.microsoft.com/office/powerpoint/2010/main" val="207469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机器学习中的常见问题 </a:t>
            </a:r>
            <a:r>
              <a:rPr lang="en-US" altLang="zh-CN" dirty="0">
                <a:ea typeface="ＭＳ Ｐゴシック" panose="020B0600070205080204" pitchFamily="34" charset="-128"/>
              </a:rPr>
              <a:t>(2)</a:t>
            </a:r>
            <a:endParaRPr lang="zh-CN" altLang="en-US" dirty="0"/>
          </a:p>
        </p:txBody>
      </p:sp>
      <p:sp>
        <p:nvSpPr>
          <p:cNvPr id="7" name="TextBox 6">
            <a:extLst>
              <a:ext uri="{FF2B5EF4-FFF2-40B4-BE49-F238E27FC236}">
                <a16:creationId xmlns:a16="http://schemas.microsoft.com/office/drawing/2014/main" id="{324A4F85-939E-4C75-94BD-FFB247A9EF48}"/>
              </a:ext>
            </a:extLst>
          </p:cNvPr>
          <p:cNvSpPr txBox="1"/>
          <p:nvPr/>
        </p:nvSpPr>
        <p:spPr>
          <a:xfrm>
            <a:off x="675481" y="1600200"/>
            <a:ext cx="7793037" cy="430887"/>
          </a:xfrm>
          <a:prstGeom prst="rect">
            <a:avLst/>
          </a:prstGeom>
          <a:noFill/>
        </p:spPr>
        <p:txBody>
          <a:bodyPr wrap="square" rtlCol="0">
            <a:spAutoFit/>
          </a:bodyPr>
          <a:lstStyle/>
          <a:p>
            <a:pPr algn="ctr"/>
            <a:r>
              <a:rPr lang="zh-CN" altLang="en-US" sz="2200" dirty="0"/>
              <a:t>有时作为一个相对复杂的系统中的一个组件</a:t>
            </a:r>
            <a:r>
              <a:rPr lang="en-US" altLang="zh-CN" sz="2200" dirty="0"/>
              <a:t> </a:t>
            </a:r>
            <a:endParaRPr lang="zh-CN" altLang="en-US" sz="2200" dirty="0"/>
          </a:p>
        </p:txBody>
      </p:sp>
      <p:sp>
        <p:nvSpPr>
          <p:cNvPr id="8" name="TextBox 7">
            <a:extLst>
              <a:ext uri="{FF2B5EF4-FFF2-40B4-BE49-F238E27FC236}">
                <a16:creationId xmlns:a16="http://schemas.microsoft.com/office/drawing/2014/main" id="{840DAEF8-398B-4E2E-A782-D36A34108828}"/>
              </a:ext>
            </a:extLst>
          </p:cNvPr>
          <p:cNvSpPr txBox="1"/>
          <p:nvPr/>
        </p:nvSpPr>
        <p:spPr>
          <a:xfrm>
            <a:off x="2735341" y="2377440"/>
            <a:ext cx="3667919" cy="430887"/>
          </a:xfrm>
          <a:prstGeom prst="rect">
            <a:avLst/>
          </a:prstGeom>
          <a:noFill/>
        </p:spPr>
        <p:txBody>
          <a:bodyPr wrap="square" rtlCol="0">
            <a:spAutoFit/>
          </a:bodyPr>
          <a:lstStyle/>
          <a:p>
            <a:pPr algn="ctr"/>
            <a:r>
              <a:rPr lang="zh-CN" altLang="en-US" sz="2200" dirty="0"/>
              <a:t>例如人脸检测</a:t>
            </a:r>
          </a:p>
        </p:txBody>
      </p:sp>
      <p:pic>
        <p:nvPicPr>
          <p:cNvPr id="10" name="Picture 9">
            <a:extLst>
              <a:ext uri="{FF2B5EF4-FFF2-40B4-BE49-F238E27FC236}">
                <a16:creationId xmlns:a16="http://schemas.microsoft.com/office/drawing/2014/main" id="{4FA4EF5A-1E22-4F71-9939-F48DFF4707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3198" y="3169726"/>
            <a:ext cx="3025402" cy="2240474"/>
          </a:xfrm>
          <a:prstGeom prst="rect">
            <a:avLst/>
          </a:prstGeom>
        </p:spPr>
      </p:pic>
      <p:sp>
        <p:nvSpPr>
          <p:cNvPr id="11" name="TextBox 10">
            <a:extLst>
              <a:ext uri="{FF2B5EF4-FFF2-40B4-BE49-F238E27FC236}">
                <a16:creationId xmlns:a16="http://schemas.microsoft.com/office/drawing/2014/main" id="{124FD0EF-B035-404F-A722-63BAA7022E22}"/>
              </a:ext>
            </a:extLst>
          </p:cNvPr>
          <p:cNvSpPr txBox="1"/>
          <p:nvPr/>
        </p:nvSpPr>
        <p:spPr>
          <a:xfrm>
            <a:off x="4866482" y="3347756"/>
            <a:ext cx="3667918" cy="430887"/>
          </a:xfrm>
          <a:prstGeom prst="rect">
            <a:avLst/>
          </a:prstGeom>
          <a:noFill/>
        </p:spPr>
        <p:txBody>
          <a:bodyPr wrap="square" rtlCol="0">
            <a:spAutoFit/>
          </a:bodyPr>
          <a:lstStyle/>
          <a:p>
            <a:pPr algn="ctr"/>
            <a:r>
              <a:rPr lang="zh-CN" altLang="en-US" sz="2200" dirty="0"/>
              <a:t>数据：候选图像区域</a:t>
            </a:r>
          </a:p>
        </p:txBody>
      </p:sp>
      <p:sp>
        <p:nvSpPr>
          <p:cNvPr id="12" name="TextBox 11">
            <a:extLst>
              <a:ext uri="{FF2B5EF4-FFF2-40B4-BE49-F238E27FC236}">
                <a16:creationId xmlns:a16="http://schemas.microsoft.com/office/drawing/2014/main" id="{BED9F29A-3447-46E1-9CC4-4098BA52151B}"/>
              </a:ext>
            </a:extLst>
          </p:cNvPr>
          <p:cNvSpPr txBox="1"/>
          <p:nvPr/>
        </p:nvSpPr>
        <p:spPr>
          <a:xfrm>
            <a:off x="4569302" y="4259759"/>
            <a:ext cx="4262278" cy="430887"/>
          </a:xfrm>
          <a:prstGeom prst="rect">
            <a:avLst/>
          </a:prstGeom>
          <a:noFill/>
        </p:spPr>
        <p:txBody>
          <a:bodyPr wrap="square" rtlCol="0">
            <a:spAutoFit/>
          </a:bodyPr>
          <a:lstStyle/>
          <a:p>
            <a:pPr algn="ctr"/>
            <a:r>
              <a:rPr lang="en-US" altLang="zh-CN" sz="2200" dirty="0"/>
              <a:t>2</a:t>
            </a:r>
            <a:r>
              <a:rPr lang="zh-CN" altLang="en-US" sz="2200" dirty="0"/>
              <a:t>个类别：人脸，非人脸</a:t>
            </a:r>
          </a:p>
        </p:txBody>
      </p:sp>
      <p:sp>
        <p:nvSpPr>
          <p:cNvPr id="13" name="Rectangle 12">
            <a:extLst>
              <a:ext uri="{FF2B5EF4-FFF2-40B4-BE49-F238E27FC236}">
                <a16:creationId xmlns:a16="http://schemas.microsoft.com/office/drawing/2014/main" id="{BDADE263-DFE8-4417-8219-514D18862C98}"/>
              </a:ext>
            </a:extLst>
          </p:cNvPr>
          <p:cNvSpPr/>
          <p:nvPr/>
        </p:nvSpPr>
        <p:spPr bwMode="auto">
          <a:xfrm>
            <a:off x="2209800" y="3204968"/>
            <a:ext cx="1219200" cy="1524000"/>
          </a:xfrm>
          <a:prstGeom prst="rect">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4" name="Rectangle 13">
            <a:extLst>
              <a:ext uri="{FF2B5EF4-FFF2-40B4-BE49-F238E27FC236}">
                <a16:creationId xmlns:a16="http://schemas.microsoft.com/office/drawing/2014/main" id="{FC073B63-C0B3-4027-A015-BFC48FAE57EF}"/>
              </a:ext>
            </a:extLst>
          </p:cNvPr>
          <p:cNvSpPr/>
          <p:nvPr/>
        </p:nvSpPr>
        <p:spPr bwMode="auto">
          <a:xfrm>
            <a:off x="1290478" y="3703126"/>
            <a:ext cx="843122" cy="1524000"/>
          </a:xfrm>
          <a:prstGeom prst="rect">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Callout: Line with No Border 15">
            <a:extLst>
              <a:ext uri="{FF2B5EF4-FFF2-40B4-BE49-F238E27FC236}">
                <a16:creationId xmlns:a16="http://schemas.microsoft.com/office/drawing/2014/main" id="{D2799A04-2719-4908-A510-3C8AB8A0B84F}"/>
              </a:ext>
            </a:extLst>
          </p:cNvPr>
          <p:cNvSpPr/>
          <p:nvPr/>
        </p:nvSpPr>
        <p:spPr bwMode="auto">
          <a:xfrm>
            <a:off x="490378" y="2414356"/>
            <a:ext cx="1600200" cy="430887"/>
          </a:xfrm>
          <a:prstGeom prst="callout1">
            <a:avLst>
              <a:gd name="adj1" fmla="val 61192"/>
              <a:gd name="adj2" fmla="val 86947"/>
              <a:gd name="adj3" fmla="val 172627"/>
              <a:gd name="adj4" fmla="val 14513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200" b="0" i="0" u="none" strike="noStrike" cap="none" normalizeH="0" baseline="0" dirty="0">
                <a:ln>
                  <a:noFill/>
                </a:ln>
                <a:solidFill>
                  <a:schemeClr val="tx1"/>
                </a:solidFill>
                <a:effectLst/>
                <a:latin typeface="Comic Sans MS" pitchFamily="66" charset="0"/>
                <a:ea typeface="SimSun" pitchFamily="2" charset="-122"/>
              </a:rPr>
              <a:t>人脸</a:t>
            </a:r>
          </a:p>
        </p:txBody>
      </p:sp>
      <p:sp>
        <p:nvSpPr>
          <p:cNvPr id="17" name="Callout: Line with No Border 16">
            <a:extLst>
              <a:ext uri="{FF2B5EF4-FFF2-40B4-BE49-F238E27FC236}">
                <a16:creationId xmlns:a16="http://schemas.microsoft.com/office/drawing/2014/main" id="{E7867A71-7C69-472E-B0B7-B19EF8BAC82F}"/>
              </a:ext>
            </a:extLst>
          </p:cNvPr>
          <p:cNvSpPr/>
          <p:nvPr/>
        </p:nvSpPr>
        <p:spPr bwMode="auto">
          <a:xfrm>
            <a:off x="213098" y="5814045"/>
            <a:ext cx="1600200" cy="771123"/>
          </a:xfrm>
          <a:prstGeom prst="callout1">
            <a:avLst>
              <a:gd name="adj1" fmla="val 2312"/>
              <a:gd name="adj2" fmla="val 48852"/>
              <a:gd name="adj3" fmla="val -65387"/>
              <a:gd name="adj4" fmla="val 6894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200" b="0" i="0" u="none" strike="noStrike" cap="none" normalizeH="0" baseline="0" dirty="0">
                <a:ln>
                  <a:noFill/>
                </a:ln>
                <a:solidFill>
                  <a:schemeClr val="tx1"/>
                </a:solidFill>
                <a:effectLst/>
                <a:latin typeface="Comic Sans MS" pitchFamily="66" charset="0"/>
                <a:ea typeface="SimSun" pitchFamily="2" charset="-122"/>
              </a:rPr>
              <a:t>非人脸</a:t>
            </a:r>
          </a:p>
        </p:txBody>
      </p:sp>
      <p:sp>
        <p:nvSpPr>
          <p:cNvPr id="18" name="TextBox 17">
            <a:extLst>
              <a:ext uri="{FF2B5EF4-FFF2-40B4-BE49-F238E27FC236}">
                <a16:creationId xmlns:a16="http://schemas.microsoft.com/office/drawing/2014/main" id="{81A05F9C-E274-424C-92EA-0D5782339D1A}"/>
              </a:ext>
            </a:extLst>
          </p:cNvPr>
          <p:cNvSpPr txBox="1"/>
          <p:nvPr/>
        </p:nvSpPr>
        <p:spPr>
          <a:xfrm>
            <a:off x="672783" y="5943600"/>
            <a:ext cx="7793037" cy="430887"/>
          </a:xfrm>
          <a:prstGeom prst="rect">
            <a:avLst/>
          </a:prstGeom>
          <a:noFill/>
        </p:spPr>
        <p:txBody>
          <a:bodyPr wrap="square" rtlCol="0">
            <a:spAutoFit/>
          </a:bodyPr>
          <a:lstStyle/>
          <a:p>
            <a:pPr algn="ctr"/>
            <a:r>
              <a:rPr lang="zh-CN" altLang="en-US" sz="2200" dirty="0"/>
              <a:t>如何产生候选图像区域则是另一个问题</a:t>
            </a:r>
          </a:p>
        </p:txBody>
      </p:sp>
    </p:spTree>
    <p:custDataLst>
      <p:tags r:id="rId1"/>
    </p:custDataLst>
    <p:extLst>
      <p:ext uri="{BB962C8B-B14F-4D97-AF65-F5344CB8AC3E}">
        <p14:creationId xmlns:p14="http://schemas.microsoft.com/office/powerpoint/2010/main" val="405896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6"/>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7"/>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P spid="13" grpId="0" animBg="1"/>
      <p:bldP spid="14" grpId="0" animBg="1"/>
      <p:bldP spid="16" grpId="0" animBg="1"/>
      <p:bldP spid="16" grpId="1" animBg="1"/>
      <p:bldP spid="17" grpId="0" animBg="1"/>
      <p:bldP spid="17" grpId="1" animBg="1"/>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机器学习中的常见问题 </a:t>
            </a:r>
            <a:r>
              <a:rPr lang="en-US" altLang="zh-CN" dirty="0">
                <a:ea typeface="ＭＳ Ｐゴシック" panose="020B0600070205080204" pitchFamily="34" charset="-128"/>
              </a:rPr>
              <a:t>(3)</a:t>
            </a:r>
            <a:endParaRPr lang="zh-CN" altLang="en-US" dirty="0"/>
          </a:p>
        </p:txBody>
      </p:sp>
      <p:sp>
        <p:nvSpPr>
          <p:cNvPr id="7" name="TextBox 6">
            <a:extLst>
              <a:ext uri="{FF2B5EF4-FFF2-40B4-BE49-F238E27FC236}">
                <a16:creationId xmlns:a16="http://schemas.microsoft.com/office/drawing/2014/main" id="{324A4F85-939E-4C75-94BD-FFB247A9EF48}"/>
              </a:ext>
            </a:extLst>
          </p:cNvPr>
          <p:cNvSpPr txBox="1"/>
          <p:nvPr/>
        </p:nvSpPr>
        <p:spPr>
          <a:xfrm>
            <a:off x="675481" y="1600200"/>
            <a:ext cx="7793037" cy="430887"/>
          </a:xfrm>
          <a:prstGeom prst="rect">
            <a:avLst/>
          </a:prstGeom>
          <a:noFill/>
        </p:spPr>
        <p:txBody>
          <a:bodyPr wrap="square" rtlCol="0">
            <a:spAutoFit/>
          </a:bodyPr>
          <a:lstStyle/>
          <a:p>
            <a:pPr algn="ctr"/>
            <a:r>
              <a:rPr lang="zh-CN" altLang="en-US" sz="2200" dirty="0"/>
              <a:t>对话系统</a:t>
            </a:r>
          </a:p>
        </p:txBody>
      </p:sp>
      <p:sp>
        <p:nvSpPr>
          <p:cNvPr id="8" name="TextBox 7">
            <a:extLst>
              <a:ext uri="{FF2B5EF4-FFF2-40B4-BE49-F238E27FC236}">
                <a16:creationId xmlns:a16="http://schemas.microsoft.com/office/drawing/2014/main" id="{840DAEF8-398B-4E2E-A782-D36A34108828}"/>
              </a:ext>
            </a:extLst>
          </p:cNvPr>
          <p:cNvSpPr txBox="1"/>
          <p:nvPr/>
        </p:nvSpPr>
        <p:spPr>
          <a:xfrm>
            <a:off x="1598008" y="2223766"/>
            <a:ext cx="4429919" cy="430887"/>
          </a:xfrm>
          <a:prstGeom prst="rect">
            <a:avLst/>
          </a:prstGeom>
          <a:noFill/>
        </p:spPr>
        <p:txBody>
          <a:bodyPr wrap="square" rtlCol="0">
            <a:spAutoFit/>
          </a:bodyPr>
          <a:lstStyle/>
          <a:p>
            <a:pPr algn="ctr"/>
            <a:r>
              <a:rPr lang="zh-CN" altLang="en-US" sz="2200" dirty="0"/>
              <a:t>非常多的类别：词典里的词</a:t>
            </a:r>
          </a:p>
        </p:txBody>
      </p:sp>
      <p:grpSp>
        <p:nvGrpSpPr>
          <p:cNvPr id="31" name="Group 30">
            <a:extLst>
              <a:ext uri="{FF2B5EF4-FFF2-40B4-BE49-F238E27FC236}">
                <a16:creationId xmlns:a16="http://schemas.microsoft.com/office/drawing/2014/main" id="{58CB76CC-09B5-C787-8349-08E09872C0FB}"/>
              </a:ext>
            </a:extLst>
          </p:cNvPr>
          <p:cNvGrpSpPr/>
          <p:nvPr/>
        </p:nvGrpSpPr>
        <p:grpSpPr>
          <a:xfrm>
            <a:off x="6642568" y="2273800"/>
            <a:ext cx="915950" cy="2831600"/>
            <a:chOff x="6642568" y="3058044"/>
            <a:chExt cx="915950" cy="2831600"/>
          </a:xfrm>
        </p:grpSpPr>
        <p:sp>
          <p:nvSpPr>
            <p:cNvPr id="5" name="TextBox 4">
              <a:extLst>
                <a:ext uri="{FF2B5EF4-FFF2-40B4-BE49-F238E27FC236}">
                  <a16:creationId xmlns:a16="http://schemas.microsoft.com/office/drawing/2014/main" id="{2E2600F6-CE31-0C72-D04D-20507DF47749}"/>
                </a:ext>
              </a:extLst>
            </p:cNvPr>
            <p:cNvSpPr txBox="1"/>
            <p:nvPr/>
          </p:nvSpPr>
          <p:spPr>
            <a:xfrm>
              <a:off x="6652902" y="3271251"/>
              <a:ext cx="893090" cy="430887"/>
            </a:xfrm>
            <a:prstGeom prst="rect">
              <a:avLst/>
            </a:prstGeom>
            <a:noFill/>
          </p:spPr>
          <p:txBody>
            <a:bodyPr wrap="square" rtlCol="0">
              <a:spAutoFit/>
            </a:bodyPr>
            <a:lstStyle/>
            <a:p>
              <a:pPr algn="ctr"/>
              <a:r>
                <a:rPr lang="zh-CN" altLang="en-US" sz="2200" dirty="0"/>
                <a:t>幸运</a:t>
              </a:r>
            </a:p>
          </p:txBody>
        </p:sp>
        <p:sp>
          <p:nvSpPr>
            <p:cNvPr id="6" name="TextBox 5">
              <a:extLst>
                <a:ext uri="{FF2B5EF4-FFF2-40B4-BE49-F238E27FC236}">
                  <a16:creationId xmlns:a16="http://schemas.microsoft.com/office/drawing/2014/main" id="{F99EBE4F-EFD3-4074-5415-0DE4941BBE60}"/>
                </a:ext>
              </a:extLst>
            </p:cNvPr>
            <p:cNvSpPr txBox="1"/>
            <p:nvPr/>
          </p:nvSpPr>
          <p:spPr>
            <a:xfrm>
              <a:off x="6934200" y="3058044"/>
              <a:ext cx="461665" cy="384007"/>
            </a:xfrm>
            <a:prstGeom prst="rect">
              <a:avLst/>
            </a:prstGeom>
            <a:noFill/>
          </p:spPr>
          <p:txBody>
            <a:bodyPr vert="eaVert" wrap="square" rtlCol="0">
              <a:spAutoFit/>
            </a:bodyPr>
            <a:lstStyle/>
            <a:p>
              <a:r>
                <a:rPr lang="en-US" dirty="0"/>
                <a:t>…</a:t>
              </a:r>
            </a:p>
          </p:txBody>
        </p:sp>
        <p:sp>
          <p:nvSpPr>
            <p:cNvPr id="9" name="TextBox 8">
              <a:extLst>
                <a:ext uri="{FF2B5EF4-FFF2-40B4-BE49-F238E27FC236}">
                  <a16:creationId xmlns:a16="http://schemas.microsoft.com/office/drawing/2014/main" id="{77C7B24B-5E16-C7A2-E86F-F0A9062873F4}"/>
                </a:ext>
              </a:extLst>
            </p:cNvPr>
            <p:cNvSpPr txBox="1"/>
            <p:nvPr/>
          </p:nvSpPr>
          <p:spPr>
            <a:xfrm>
              <a:off x="6934200" y="3679531"/>
              <a:ext cx="461665" cy="384007"/>
            </a:xfrm>
            <a:prstGeom prst="rect">
              <a:avLst/>
            </a:prstGeom>
            <a:noFill/>
          </p:spPr>
          <p:txBody>
            <a:bodyPr vert="eaVert" wrap="square" rtlCol="0">
              <a:spAutoFit/>
            </a:bodyPr>
            <a:lstStyle/>
            <a:p>
              <a:r>
                <a:rPr lang="en-US" dirty="0"/>
                <a:t>…</a:t>
              </a:r>
            </a:p>
          </p:txBody>
        </p:sp>
        <p:sp>
          <p:nvSpPr>
            <p:cNvPr id="15" name="TextBox 14">
              <a:extLst>
                <a:ext uri="{FF2B5EF4-FFF2-40B4-BE49-F238E27FC236}">
                  <a16:creationId xmlns:a16="http://schemas.microsoft.com/office/drawing/2014/main" id="{1D2995AC-4E98-1AB6-54D2-49F1EFFCB6D1}"/>
                </a:ext>
              </a:extLst>
            </p:cNvPr>
            <p:cNvSpPr txBox="1"/>
            <p:nvPr/>
          </p:nvSpPr>
          <p:spPr>
            <a:xfrm>
              <a:off x="6652902" y="3907115"/>
              <a:ext cx="893090" cy="430887"/>
            </a:xfrm>
            <a:prstGeom prst="rect">
              <a:avLst/>
            </a:prstGeom>
            <a:noFill/>
          </p:spPr>
          <p:txBody>
            <a:bodyPr wrap="square" rtlCol="0">
              <a:spAutoFit/>
            </a:bodyPr>
            <a:lstStyle/>
            <a:p>
              <a:pPr algn="ctr"/>
              <a:r>
                <a:rPr lang="zh-CN" altLang="en-US" sz="2200" dirty="0"/>
                <a:t>挑战</a:t>
              </a:r>
            </a:p>
          </p:txBody>
        </p:sp>
        <p:sp>
          <p:nvSpPr>
            <p:cNvPr id="19" name="TextBox 18">
              <a:extLst>
                <a:ext uri="{FF2B5EF4-FFF2-40B4-BE49-F238E27FC236}">
                  <a16:creationId xmlns:a16="http://schemas.microsoft.com/office/drawing/2014/main" id="{E0A2B04E-78E9-2AA4-4BEA-C816B7280D66}"/>
                </a:ext>
              </a:extLst>
            </p:cNvPr>
            <p:cNvSpPr txBox="1"/>
            <p:nvPr/>
          </p:nvSpPr>
          <p:spPr>
            <a:xfrm>
              <a:off x="6937355" y="4338204"/>
              <a:ext cx="461665" cy="384007"/>
            </a:xfrm>
            <a:prstGeom prst="rect">
              <a:avLst/>
            </a:prstGeom>
            <a:noFill/>
          </p:spPr>
          <p:txBody>
            <a:bodyPr vert="eaVert" wrap="square" rtlCol="0">
              <a:spAutoFit/>
            </a:bodyPr>
            <a:lstStyle/>
            <a:p>
              <a:r>
                <a:rPr lang="en-US" dirty="0"/>
                <a:t>…</a:t>
              </a:r>
            </a:p>
          </p:txBody>
        </p:sp>
        <p:sp>
          <p:nvSpPr>
            <p:cNvPr id="20" name="TextBox 19">
              <a:extLst>
                <a:ext uri="{FF2B5EF4-FFF2-40B4-BE49-F238E27FC236}">
                  <a16:creationId xmlns:a16="http://schemas.microsoft.com/office/drawing/2014/main" id="{4FBEDDFF-0EC9-A3C1-BF4A-1ADB2BEAF679}"/>
                </a:ext>
              </a:extLst>
            </p:cNvPr>
            <p:cNvSpPr txBox="1"/>
            <p:nvPr/>
          </p:nvSpPr>
          <p:spPr>
            <a:xfrm>
              <a:off x="6665428" y="4521475"/>
              <a:ext cx="893090" cy="430887"/>
            </a:xfrm>
            <a:prstGeom prst="rect">
              <a:avLst/>
            </a:prstGeom>
            <a:noFill/>
          </p:spPr>
          <p:txBody>
            <a:bodyPr wrap="square" rtlCol="0">
              <a:spAutoFit/>
            </a:bodyPr>
            <a:lstStyle/>
            <a:p>
              <a:pPr algn="ctr"/>
              <a:r>
                <a:rPr lang="zh-CN" altLang="en-US" sz="2200" dirty="0"/>
                <a:t>机遇</a:t>
              </a:r>
            </a:p>
          </p:txBody>
        </p:sp>
        <p:sp>
          <p:nvSpPr>
            <p:cNvPr id="21" name="TextBox 20">
              <a:extLst>
                <a:ext uri="{FF2B5EF4-FFF2-40B4-BE49-F238E27FC236}">
                  <a16:creationId xmlns:a16="http://schemas.microsoft.com/office/drawing/2014/main" id="{017B42DB-2FA8-CC79-20C4-C9EA839193A8}"/>
                </a:ext>
              </a:extLst>
            </p:cNvPr>
            <p:cNvSpPr txBox="1"/>
            <p:nvPr/>
          </p:nvSpPr>
          <p:spPr>
            <a:xfrm>
              <a:off x="6929734" y="4939130"/>
              <a:ext cx="461665" cy="384007"/>
            </a:xfrm>
            <a:prstGeom prst="rect">
              <a:avLst/>
            </a:prstGeom>
            <a:noFill/>
          </p:spPr>
          <p:txBody>
            <a:bodyPr vert="eaVert" wrap="square" rtlCol="0">
              <a:spAutoFit/>
            </a:bodyPr>
            <a:lstStyle/>
            <a:p>
              <a:r>
                <a:rPr lang="en-US" dirty="0"/>
                <a:t>…</a:t>
              </a:r>
            </a:p>
          </p:txBody>
        </p:sp>
        <p:sp>
          <p:nvSpPr>
            <p:cNvPr id="22" name="TextBox 21">
              <a:extLst>
                <a:ext uri="{FF2B5EF4-FFF2-40B4-BE49-F238E27FC236}">
                  <a16:creationId xmlns:a16="http://schemas.microsoft.com/office/drawing/2014/main" id="{3303DC53-CDE3-1FE1-ACB1-CE69CF3456B1}"/>
                </a:ext>
              </a:extLst>
            </p:cNvPr>
            <p:cNvSpPr txBox="1"/>
            <p:nvPr/>
          </p:nvSpPr>
          <p:spPr>
            <a:xfrm>
              <a:off x="6642568" y="5131713"/>
              <a:ext cx="893090" cy="430887"/>
            </a:xfrm>
            <a:prstGeom prst="rect">
              <a:avLst/>
            </a:prstGeom>
            <a:noFill/>
          </p:spPr>
          <p:txBody>
            <a:bodyPr wrap="square" rtlCol="0">
              <a:spAutoFit/>
            </a:bodyPr>
            <a:lstStyle/>
            <a:p>
              <a:pPr algn="ctr"/>
              <a:r>
                <a:rPr lang="zh-CN" altLang="en-US" sz="2200" dirty="0"/>
                <a:t>问题</a:t>
              </a:r>
            </a:p>
          </p:txBody>
        </p:sp>
        <p:sp>
          <p:nvSpPr>
            <p:cNvPr id="23" name="TextBox 22">
              <a:extLst>
                <a:ext uri="{FF2B5EF4-FFF2-40B4-BE49-F238E27FC236}">
                  <a16:creationId xmlns:a16="http://schemas.microsoft.com/office/drawing/2014/main" id="{13501707-3F6B-6F63-29C2-6BE04259EA22}"/>
                </a:ext>
              </a:extLst>
            </p:cNvPr>
            <p:cNvSpPr txBox="1"/>
            <p:nvPr/>
          </p:nvSpPr>
          <p:spPr>
            <a:xfrm>
              <a:off x="6929735" y="5505637"/>
              <a:ext cx="461665" cy="384007"/>
            </a:xfrm>
            <a:prstGeom prst="rect">
              <a:avLst/>
            </a:prstGeom>
            <a:noFill/>
          </p:spPr>
          <p:txBody>
            <a:bodyPr vert="eaVert" wrap="square" rtlCol="0">
              <a:spAutoFit/>
            </a:bodyPr>
            <a:lstStyle/>
            <a:p>
              <a:r>
                <a:rPr lang="en-US" dirty="0"/>
                <a:t>…</a:t>
              </a:r>
            </a:p>
          </p:txBody>
        </p:sp>
      </p:grpSp>
    </p:spTree>
    <p:custDataLst>
      <p:tags r:id="rId1"/>
    </p:custDataLst>
    <p:extLst>
      <p:ext uri="{BB962C8B-B14F-4D97-AF65-F5344CB8AC3E}">
        <p14:creationId xmlns:p14="http://schemas.microsoft.com/office/powerpoint/2010/main" val="67262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机器学习中的常见问题 </a:t>
            </a:r>
            <a:r>
              <a:rPr lang="en-US" altLang="zh-CN" dirty="0">
                <a:ea typeface="ＭＳ Ｐゴシック" panose="020B0600070205080204" pitchFamily="34" charset="-128"/>
              </a:rPr>
              <a:t>(3)</a:t>
            </a:r>
            <a:endParaRPr lang="zh-CN" altLang="en-US" dirty="0"/>
          </a:p>
        </p:txBody>
      </p:sp>
      <p:sp>
        <p:nvSpPr>
          <p:cNvPr id="7" name="TextBox 6">
            <a:extLst>
              <a:ext uri="{FF2B5EF4-FFF2-40B4-BE49-F238E27FC236}">
                <a16:creationId xmlns:a16="http://schemas.microsoft.com/office/drawing/2014/main" id="{324A4F85-939E-4C75-94BD-FFB247A9EF48}"/>
              </a:ext>
            </a:extLst>
          </p:cNvPr>
          <p:cNvSpPr txBox="1"/>
          <p:nvPr/>
        </p:nvSpPr>
        <p:spPr>
          <a:xfrm>
            <a:off x="675481" y="1600200"/>
            <a:ext cx="7793037" cy="430887"/>
          </a:xfrm>
          <a:prstGeom prst="rect">
            <a:avLst/>
          </a:prstGeom>
          <a:noFill/>
        </p:spPr>
        <p:txBody>
          <a:bodyPr wrap="square" rtlCol="0">
            <a:spAutoFit/>
          </a:bodyPr>
          <a:lstStyle/>
          <a:p>
            <a:pPr algn="ctr"/>
            <a:r>
              <a:rPr lang="zh-CN" altLang="en-US" sz="2200" dirty="0"/>
              <a:t>对话系统</a:t>
            </a:r>
          </a:p>
        </p:txBody>
      </p:sp>
      <p:grpSp>
        <p:nvGrpSpPr>
          <p:cNvPr id="31" name="Group 30">
            <a:extLst>
              <a:ext uri="{FF2B5EF4-FFF2-40B4-BE49-F238E27FC236}">
                <a16:creationId xmlns:a16="http://schemas.microsoft.com/office/drawing/2014/main" id="{58CB76CC-09B5-C787-8349-08E09872C0FB}"/>
              </a:ext>
            </a:extLst>
          </p:cNvPr>
          <p:cNvGrpSpPr/>
          <p:nvPr/>
        </p:nvGrpSpPr>
        <p:grpSpPr>
          <a:xfrm>
            <a:off x="6642568" y="2273800"/>
            <a:ext cx="915950" cy="2831600"/>
            <a:chOff x="6642568" y="3058044"/>
            <a:chExt cx="915950" cy="2831600"/>
          </a:xfrm>
        </p:grpSpPr>
        <p:sp>
          <p:nvSpPr>
            <p:cNvPr id="5" name="TextBox 4">
              <a:extLst>
                <a:ext uri="{FF2B5EF4-FFF2-40B4-BE49-F238E27FC236}">
                  <a16:creationId xmlns:a16="http://schemas.microsoft.com/office/drawing/2014/main" id="{2E2600F6-CE31-0C72-D04D-20507DF47749}"/>
                </a:ext>
              </a:extLst>
            </p:cNvPr>
            <p:cNvSpPr txBox="1"/>
            <p:nvPr/>
          </p:nvSpPr>
          <p:spPr>
            <a:xfrm>
              <a:off x="6652902" y="3271251"/>
              <a:ext cx="893090" cy="430887"/>
            </a:xfrm>
            <a:prstGeom prst="rect">
              <a:avLst/>
            </a:prstGeom>
            <a:noFill/>
          </p:spPr>
          <p:txBody>
            <a:bodyPr wrap="square" rtlCol="0">
              <a:spAutoFit/>
            </a:bodyPr>
            <a:lstStyle/>
            <a:p>
              <a:pPr algn="ctr"/>
              <a:r>
                <a:rPr lang="zh-CN" altLang="en-US" sz="2200" dirty="0"/>
                <a:t>幸运</a:t>
              </a:r>
            </a:p>
          </p:txBody>
        </p:sp>
        <p:sp>
          <p:nvSpPr>
            <p:cNvPr id="6" name="TextBox 5">
              <a:extLst>
                <a:ext uri="{FF2B5EF4-FFF2-40B4-BE49-F238E27FC236}">
                  <a16:creationId xmlns:a16="http://schemas.microsoft.com/office/drawing/2014/main" id="{F99EBE4F-EFD3-4074-5415-0DE4941BBE60}"/>
                </a:ext>
              </a:extLst>
            </p:cNvPr>
            <p:cNvSpPr txBox="1"/>
            <p:nvPr/>
          </p:nvSpPr>
          <p:spPr>
            <a:xfrm>
              <a:off x="6934200" y="3058044"/>
              <a:ext cx="461665" cy="384007"/>
            </a:xfrm>
            <a:prstGeom prst="rect">
              <a:avLst/>
            </a:prstGeom>
            <a:noFill/>
          </p:spPr>
          <p:txBody>
            <a:bodyPr vert="eaVert" wrap="square" rtlCol="0">
              <a:spAutoFit/>
            </a:bodyPr>
            <a:lstStyle/>
            <a:p>
              <a:r>
                <a:rPr lang="en-US" dirty="0"/>
                <a:t>…</a:t>
              </a:r>
            </a:p>
          </p:txBody>
        </p:sp>
        <p:sp>
          <p:nvSpPr>
            <p:cNvPr id="9" name="TextBox 8">
              <a:extLst>
                <a:ext uri="{FF2B5EF4-FFF2-40B4-BE49-F238E27FC236}">
                  <a16:creationId xmlns:a16="http://schemas.microsoft.com/office/drawing/2014/main" id="{77C7B24B-5E16-C7A2-E86F-F0A9062873F4}"/>
                </a:ext>
              </a:extLst>
            </p:cNvPr>
            <p:cNvSpPr txBox="1"/>
            <p:nvPr/>
          </p:nvSpPr>
          <p:spPr>
            <a:xfrm>
              <a:off x="6934200" y="3679531"/>
              <a:ext cx="461665" cy="384007"/>
            </a:xfrm>
            <a:prstGeom prst="rect">
              <a:avLst/>
            </a:prstGeom>
            <a:noFill/>
          </p:spPr>
          <p:txBody>
            <a:bodyPr vert="eaVert" wrap="square" rtlCol="0">
              <a:spAutoFit/>
            </a:bodyPr>
            <a:lstStyle/>
            <a:p>
              <a:r>
                <a:rPr lang="en-US" dirty="0"/>
                <a:t>…</a:t>
              </a:r>
            </a:p>
          </p:txBody>
        </p:sp>
        <p:sp>
          <p:nvSpPr>
            <p:cNvPr id="15" name="TextBox 14">
              <a:extLst>
                <a:ext uri="{FF2B5EF4-FFF2-40B4-BE49-F238E27FC236}">
                  <a16:creationId xmlns:a16="http://schemas.microsoft.com/office/drawing/2014/main" id="{1D2995AC-4E98-1AB6-54D2-49F1EFFCB6D1}"/>
                </a:ext>
              </a:extLst>
            </p:cNvPr>
            <p:cNvSpPr txBox="1"/>
            <p:nvPr/>
          </p:nvSpPr>
          <p:spPr>
            <a:xfrm>
              <a:off x="6652902" y="3907115"/>
              <a:ext cx="893090" cy="430887"/>
            </a:xfrm>
            <a:prstGeom prst="rect">
              <a:avLst/>
            </a:prstGeom>
            <a:noFill/>
          </p:spPr>
          <p:txBody>
            <a:bodyPr wrap="square" rtlCol="0">
              <a:spAutoFit/>
            </a:bodyPr>
            <a:lstStyle/>
            <a:p>
              <a:pPr algn="ctr"/>
              <a:r>
                <a:rPr lang="zh-CN" altLang="en-US" sz="2200" dirty="0"/>
                <a:t>挑战</a:t>
              </a:r>
            </a:p>
          </p:txBody>
        </p:sp>
        <p:sp>
          <p:nvSpPr>
            <p:cNvPr id="19" name="TextBox 18">
              <a:extLst>
                <a:ext uri="{FF2B5EF4-FFF2-40B4-BE49-F238E27FC236}">
                  <a16:creationId xmlns:a16="http://schemas.microsoft.com/office/drawing/2014/main" id="{E0A2B04E-78E9-2AA4-4BEA-C816B7280D66}"/>
                </a:ext>
              </a:extLst>
            </p:cNvPr>
            <p:cNvSpPr txBox="1"/>
            <p:nvPr/>
          </p:nvSpPr>
          <p:spPr>
            <a:xfrm>
              <a:off x="6937355" y="4338204"/>
              <a:ext cx="461665" cy="384007"/>
            </a:xfrm>
            <a:prstGeom prst="rect">
              <a:avLst/>
            </a:prstGeom>
            <a:noFill/>
          </p:spPr>
          <p:txBody>
            <a:bodyPr vert="eaVert" wrap="square" rtlCol="0">
              <a:spAutoFit/>
            </a:bodyPr>
            <a:lstStyle/>
            <a:p>
              <a:r>
                <a:rPr lang="en-US" dirty="0"/>
                <a:t>…</a:t>
              </a:r>
            </a:p>
          </p:txBody>
        </p:sp>
        <p:sp>
          <p:nvSpPr>
            <p:cNvPr id="20" name="TextBox 19">
              <a:extLst>
                <a:ext uri="{FF2B5EF4-FFF2-40B4-BE49-F238E27FC236}">
                  <a16:creationId xmlns:a16="http://schemas.microsoft.com/office/drawing/2014/main" id="{4FBEDDFF-0EC9-A3C1-BF4A-1ADB2BEAF679}"/>
                </a:ext>
              </a:extLst>
            </p:cNvPr>
            <p:cNvSpPr txBox="1"/>
            <p:nvPr/>
          </p:nvSpPr>
          <p:spPr>
            <a:xfrm>
              <a:off x="6665428" y="4521475"/>
              <a:ext cx="893090" cy="430887"/>
            </a:xfrm>
            <a:prstGeom prst="rect">
              <a:avLst/>
            </a:prstGeom>
            <a:noFill/>
          </p:spPr>
          <p:txBody>
            <a:bodyPr wrap="square" rtlCol="0">
              <a:spAutoFit/>
            </a:bodyPr>
            <a:lstStyle/>
            <a:p>
              <a:pPr algn="ctr"/>
              <a:r>
                <a:rPr lang="zh-CN" altLang="en-US" sz="2200" dirty="0"/>
                <a:t>机遇</a:t>
              </a:r>
            </a:p>
          </p:txBody>
        </p:sp>
        <p:sp>
          <p:nvSpPr>
            <p:cNvPr id="21" name="TextBox 20">
              <a:extLst>
                <a:ext uri="{FF2B5EF4-FFF2-40B4-BE49-F238E27FC236}">
                  <a16:creationId xmlns:a16="http://schemas.microsoft.com/office/drawing/2014/main" id="{017B42DB-2FA8-CC79-20C4-C9EA839193A8}"/>
                </a:ext>
              </a:extLst>
            </p:cNvPr>
            <p:cNvSpPr txBox="1"/>
            <p:nvPr/>
          </p:nvSpPr>
          <p:spPr>
            <a:xfrm>
              <a:off x="6929734" y="4939130"/>
              <a:ext cx="461665" cy="384007"/>
            </a:xfrm>
            <a:prstGeom prst="rect">
              <a:avLst/>
            </a:prstGeom>
            <a:noFill/>
          </p:spPr>
          <p:txBody>
            <a:bodyPr vert="eaVert" wrap="square" rtlCol="0">
              <a:spAutoFit/>
            </a:bodyPr>
            <a:lstStyle/>
            <a:p>
              <a:r>
                <a:rPr lang="en-US" dirty="0"/>
                <a:t>…</a:t>
              </a:r>
            </a:p>
          </p:txBody>
        </p:sp>
        <p:sp>
          <p:nvSpPr>
            <p:cNvPr id="22" name="TextBox 21">
              <a:extLst>
                <a:ext uri="{FF2B5EF4-FFF2-40B4-BE49-F238E27FC236}">
                  <a16:creationId xmlns:a16="http://schemas.microsoft.com/office/drawing/2014/main" id="{3303DC53-CDE3-1FE1-ACB1-CE69CF3456B1}"/>
                </a:ext>
              </a:extLst>
            </p:cNvPr>
            <p:cNvSpPr txBox="1"/>
            <p:nvPr/>
          </p:nvSpPr>
          <p:spPr>
            <a:xfrm>
              <a:off x="6642568" y="5131713"/>
              <a:ext cx="893090" cy="430887"/>
            </a:xfrm>
            <a:prstGeom prst="rect">
              <a:avLst/>
            </a:prstGeom>
            <a:noFill/>
          </p:spPr>
          <p:txBody>
            <a:bodyPr wrap="square" rtlCol="0">
              <a:spAutoFit/>
            </a:bodyPr>
            <a:lstStyle/>
            <a:p>
              <a:pPr algn="ctr"/>
              <a:r>
                <a:rPr lang="zh-CN" altLang="en-US" sz="2200" dirty="0"/>
                <a:t>问题</a:t>
              </a:r>
            </a:p>
          </p:txBody>
        </p:sp>
        <p:sp>
          <p:nvSpPr>
            <p:cNvPr id="23" name="TextBox 22">
              <a:extLst>
                <a:ext uri="{FF2B5EF4-FFF2-40B4-BE49-F238E27FC236}">
                  <a16:creationId xmlns:a16="http://schemas.microsoft.com/office/drawing/2014/main" id="{13501707-3F6B-6F63-29C2-6BE04259EA22}"/>
                </a:ext>
              </a:extLst>
            </p:cNvPr>
            <p:cNvSpPr txBox="1"/>
            <p:nvPr/>
          </p:nvSpPr>
          <p:spPr>
            <a:xfrm>
              <a:off x="6929735" y="5505637"/>
              <a:ext cx="461665" cy="384007"/>
            </a:xfrm>
            <a:prstGeom prst="rect">
              <a:avLst/>
            </a:prstGeom>
            <a:noFill/>
          </p:spPr>
          <p:txBody>
            <a:bodyPr vert="eaVert" wrap="square" rtlCol="0">
              <a:spAutoFit/>
            </a:bodyPr>
            <a:lstStyle/>
            <a:p>
              <a:r>
                <a:rPr lang="en-US" dirty="0"/>
                <a:t>…</a:t>
              </a:r>
            </a:p>
          </p:txBody>
        </p:sp>
      </p:grpSp>
      <p:sp>
        <p:nvSpPr>
          <p:cNvPr id="24" name="TextBox 23">
            <a:extLst>
              <a:ext uri="{FF2B5EF4-FFF2-40B4-BE49-F238E27FC236}">
                <a16:creationId xmlns:a16="http://schemas.microsoft.com/office/drawing/2014/main" id="{E583A932-C9F0-9492-8566-89379930439D}"/>
              </a:ext>
            </a:extLst>
          </p:cNvPr>
          <p:cNvSpPr txBox="1"/>
          <p:nvPr/>
        </p:nvSpPr>
        <p:spPr>
          <a:xfrm>
            <a:off x="976177" y="2317729"/>
            <a:ext cx="4429919" cy="430887"/>
          </a:xfrm>
          <a:prstGeom prst="rect">
            <a:avLst/>
          </a:prstGeom>
          <a:noFill/>
        </p:spPr>
        <p:txBody>
          <a:bodyPr wrap="square" rtlCol="0">
            <a:spAutoFit/>
          </a:bodyPr>
          <a:lstStyle/>
          <a:p>
            <a:pPr algn="ctr"/>
            <a:r>
              <a:rPr lang="zh-CN" altLang="en-US" sz="2200" dirty="0"/>
              <a:t>前序文字段落</a:t>
            </a:r>
          </a:p>
        </p:txBody>
      </p:sp>
      <p:sp>
        <p:nvSpPr>
          <p:cNvPr id="25" name="TextBox 24">
            <a:extLst>
              <a:ext uri="{FF2B5EF4-FFF2-40B4-BE49-F238E27FC236}">
                <a16:creationId xmlns:a16="http://schemas.microsoft.com/office/drawing/2014/main" id="{E0C5BB64-F4E7-AD53-38BE-CA7C740F16E1}"/>
              </a:ext>
            </a:extLst>
          </p:cNvPr>
          <p:cNvSpPr txBox="1"/>
          <p:nvPr/>
        </p:nvSpPr>
        <p:spPr>
          <a:xfrm>
            <a:off x="1295400" y="3373812"/>
            <a:ext cx="3878460" cy="430887"/>
          </a:xfrm>
          <a:prstGeom prst="rect">
            <a:avLst/>
          </a:prstGeom>
          <a:noFill/>
        </p:spPr>
        <p:txBody>
          <a:bodyPr wrap="square" rtlCol="0">
            <a:spAutoFit/>
          </a:bodyPr>
          <a:lstStyle/>
          <a:p>
            <a:pPr algn="ctr"/>
            <a:r>
              <a:rPr lang="zh-CN" altLang="en-US" sz="2200" dirty="0"/>
              <a:t>气候变化是全世界面临的</a:t>
            </a:r>
          </a:p>
        </p:txBody>
      </p:sp>
      <p:sp>
        <p:nvSpPr>
          <p:cNvPr id="28" name="Text Box 184">
            <a:extLst>
              <a:ext uri="{FF2B5EF4-FFF2-40B4-BE49-F238E27FC236}">
                <a16:creationId xmlns:a16="http://schemas.microsoft.com/office/drawing/2014/main" id="{56E6535C-9CA3-94A1-6F0C-571A78344C8C}"/>
              </a:ext>
            </a:extLst>
          </p:cNvPr>
          <p:cNvSpPr txBox="1">
            <a:spLocks noChangeArrowheads="1"/>
          </p:cNvSpPr>
          <p:nvPr/>
        </p:nvSpPr>
        <p:spPr bwMode="auto">
          <a:xfrm>
            <a:off x="7614371" y="31685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l" eaLnBrk="1" hangingPunct="1">
              <a:lnSpc>
                <a:spcPct val="90000"/>
              </a:lnSpc>
            </a:pPr>
            <a:r>
              <a:rPr lang="en-US" altLang="zh-CN" sz="2400" b="1" dirty="0">
                <a:solidFill>
                  <a:srgbClr val="00B050"/>
                </a:solidFill>
                <a:latin typeface="Cambria Math" panose="02040503050406030204" pitchFamily="18" charset="0"/>
                <a:ea typeface="Cambria Math" panose="02040503050406030204" pitchFamily="18" charset="0"/>
                <a:sym typeface="Wingdings" panose="05000000000000000000" pitchFamily="2" charset="2"/>
              </a:rPr>
              <a:t>√</a:t>
            </a:r>
            <a:endParaRPr lang="en-US" altLang="zh-CN" sz="2400" b="1" dirty="0">
              <a:solidFill>
                <a:srgbClr val="00B050"/>
              </a:solidFill>
              <a:latin typeface="Trebuchet MS" panose="020B0603020202020204" pitchFamily="34" charset="0"/>
            </a:endParaRPr>
          </a:p>
        </p:txBody>
      </p:sp>
      <p:sp>
        <p:nvSpPr>
          <p:cNvPr id="29" name="Text Box 184">
            <a:extLst>
              <a:ext uri="{FF2B5EF4-FFF2-40B4-BE49-F238E27FC236}">
                <a16:creationId xmlns:a16="http://schemas.microsoft.com/office/drawing/2014/main" id="{FDAC7332-C4FB-6726-20C0-4298CD5BDB05}"/>
              </a:ext>
            </a:extLst>
          </p:cNvPr>
          <p:cNvSpPr txBox="1">
            <a:spLocks noChangeArrowheads="1"/>
          </p:cNvSpPr>
          <p:nvPr/>
        </p:nvSpPr>
        <p:spPr bwMode="auto">
          <a:xfrm>
            <a:off x="7652656" y="3749447"/>
            <a:ext cx="4572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l" eaLnBrk="1" hangingPunct="1">
              <a:lnSpc>
                <a:spcPct val="90000"/>
              </a:lnSpc>
            </a:pPr>
            <a:r>
              <a:rPr lang="en-US" altLang="zh-CN" sz="2400" b="1" dirty="0">
                <a:solidFill>
                  <a:srgbClr val="FF0000"/>
                </a:solidFill>
                <a:latin typeface="Trebuchet MS" panose="020B0603020202020204" pitchFamily="34" charset="0"/>
              </a:rPr>
              <a:t>X</a:t>
            </a:r>
          </a:p>
        </p:txBody>
      </p:sp>
      <p:sp>
        <p:nvSpPr>
          <p:cNvPr id="30" name="Text Box 184">
            <a:extLst>
              <a:ext uri="{FF2B5EF4-FFF2-40B4-BE49-F238E27FC236}">
                <a16:creationId xmlns:a16="http://schemas.microsoft.com/office/drawing/2014/main" id="{26E24080-5C1C-514D-EF14-D426655EABE7}"/>
              </a:ext>
            </a:extLst>
          </p:cNvPr>
          <p:cNvSpPr txBox="1">
            <a:spLocks noChangeArrowheads="1"/>
          </p:cNvSpPr>
          <p:nvPr/>
        </p:nvSpPr>
        <p:spPr bwMode="auto">
          <a:xfrm>
            <a:off x="7636142" y="438204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l" eaLnBrk="1" hangingPunct="1">
              <a:lnSpc>
                <a:spcPct val="90000"/>
              </a:lnSpc>
            </a:pPr>
            <a:r>
              <a:rPr lang="en-US" altLang="zh-CN" sz="2400" b="1" dirty="0">
                <a:solidFill>
                  <a:srgbClr val="00B050"/>
                </a:solidFill>
                <a:latin typeface="Cambria Math" panose="02040503050406030204" pitchFamily="18" charset="0"/>
                <a:ea typeface="Cambria Math" panose="02040503050406030204" pitchFamily="18" charset="0"/>
                <a:sym typeface="Wingdings" panose="05000000000000000000" pitchFamily="2" charset="2"/>
              </a:rPr>
              <a:t>√</a:t>
            </a:r>
            <a:endParaRPr lang="en-US" altLang="zh-CN" sz="2400" b="1" dirty="0">
              <a:solidFill>
                <a:srgbClr val="00B050"/>
              </a:solidFill>
              <a:latin typeface="Trebuchet MS" panose="020B0603020202020204" pitchFamily="34" charset="0"/>
            </a:endParaRPr>
          </a:p>
        </p:txBody>
      </p:sp>
      <p:sp>
        <p:nvSpPr>
          <p:cNvPr id="32" name="TextBox 31">
            <a:extLst>
              <a:ext uri="{FF2B5EF4-FFF2-40B4-BE49-F238E27FC236}">
                <a16:creationId xmlns:a16="http://schemas.microsoft.com/office/drawing/2014/main" id="{13359D67-D1FA-7170-3564-722A463D5668}"/>
              </a:ext>
            </a:extLst>
          </p:cNvPr>
          <p:cNvSpPr txBox="1"/>
          <p:nvPr/>
        </p:nvSpPr>
        <p:spPr>
          <a:xfrm>
            <a:off x="446420" y="5360313"/>
            <a:ext cx="8403560" cy="430887"/>
          </a:xfrm>
          <a:prstGeom prst="rect">
            <a:avLst/>
          </a:prstGeom>
          <a:noFill/>
        </p:spPr>
        <p:txBody>
          <a:bodyPr wrap="square" rtlCol="0">
            <a:spAutoFit/>
          </a:bodyPr>
          <a:lstStyle/>
          <a:p>
            <a:pPr algn="ctr"/>
            <a:r>
              <a:rPr lang="zh-CN" altLang="en-US" sz="2200" dirty="0"/>
              <a:t>哪个词（类别）能成为下一个词（前序文字段落的类别）？</a:t>
            </a:r>
          </a:p>
        </p:txBody>
      </p:sp>
      <p:sp>
        <p:nvSpPr>
          <p:cNvPr id="3" name="Text Box 184">
            <a:extLst>
              <a:ext uri="{FF2B5EF4-FFF2-40B4-BE49-F238E27FC236}">
                <a16:creationId xmlns:a16="http://schemas.microsoft.com/office/drawing/2014/main" id="{38678E6D-FA73-8A7B-2EC0-BD49876710E2}"/>
              </a:ext>
            </a:extLst>
          </p:cNvPr>
          <p:cNvSpPr txBox="1">
            <a:spLocks noChangeArrowheads="1"/>
          </p:cNvSpPr>
          <p:nvPr/>
        </p:nvSpPr>
        <p:spPr bwMode="auto">
          <a:xfrm>
            <a:off x="7636142" y="2499813"/>
            <a:ext cx="4572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l" eaLnBrk="1" hangingPunct="1">
              <a:lnSpc>
                <a:spcPct val="90000"/>
              </a:lnSpc>
            </a:pPr>
            <a:r>
              <a:rPr lang="en-US" altLang="zh-CN" sz="2400" b="1" dirty="0">
                <a:solidFill>
                  <a:srgbClr val="FF0000"/>
                </a:solidFill>
                <a:latin typeface="Trebuchet MS" panose="020B0603020202020204" pitchFamily="34" charset="0"/>
              </a:rPr>
              <a:t>X</a:t>
            </a:r>
          </a:p>
        </p:txBody>
      </p:sp>
    </p:spTree>
    <p:custDataLst>
      <p:tags r:id="rId1"/>
    </p:custDataLst>
    <p:extLst>
      <p:ext uri="{BB962C8B-B14F-4D97-AF65-F5344CB8AC3E}">
        <p14:creationId xmlns:p14="http://schemas.microsoft.com/office/powerpoint/2010/main" val="290000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8" grpId="0"/>
      <p:bldP spid="29" grpId="0"/>
      <p:bldP spid="30" grpId="0"/>
      <p:bldP spid="3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机器学习中的常见问题 </a:t>
            </a:r>
            <a:r>
              <a:rPr lang="en-US" altLang="zh-CN" dirty="0">
                <a:ea typeface="ＭＳ Ｐゴシック" panose="020B0600070205080204" pitchFamily="34" charset="-128"/>
              </a:rPr>
              <a:t>(3)</a:t>
            </a:r>
            <a:endParaRPr lang="zh-CN" altLang="en-US" dirty="0"/>
          </a:p>
        </p:txBody>
      </p:sp>
      <p:sp>
        <p:nvSpPr>
          <p:cNvPr id="7" name="TextBox 6">
            <a:extLst>
              <a:ext uri="{FF2B5EF4-FFF2-40B4-BE49-F238E27FC236}">
                <a16:creationId xmlns:a16="http://schemas.microsoft.com/office/drawing/2014/main" id="{324A4F85-939E-4C75-94BD-FFB247A9EF48}"/>
              </a:ext>
            </a:extLst>
          </p:cNvPr>
          <p:cNvSpPr txBox="1"/>
          <p:nvPr/>
        </p:nvSpPr>
        <p:spPr>
          <a:xfrm>
            <a:off x="675481" y="1600200"/>
            <a:ext cx="7793037" cy="430887"/>
          </a:xfrm>
          <a:prstGeom prst="rect">
            <a:avLst/>
          </a:prstGeom>
          <a:noFill/>
        </p:spPr>
        <p:txBody>
          <a:bodyPr wrap="square" rtlCol="0">
            <a:spAutoFit/>
          </a:bodyPr>
          <a:lstStyle/>
          <a:p>
            <a:pPr algn="ctr"/>
            <a:r>
              <a:rPr lang="zh-CN" altLang="en-US" sz="2200" dirty="0"/>
              <a:t>对话系统</a:t>
            </a:r>
          </a:p>
        </p:txBody>
      </p:sp>
      <p:grpSp>
        <p:nvGrpSpPr>
          <p:cNvPr id="31" name="Group 30">
            <a:extLst>
              <a:ext uri="{FF2B5EF4-FFF2-40B4-BE49-F238E27FC236}">
                <a16:creationId xmlns:a16="http://schemas.microsoft.com/office/drawing/2014/main" id="{58CB76CC-09B5-C787-8349-08E09872C0FB}"/>
              </a:ext>
            </a:extLst>
          </p:cNvPr>
          <p:cNvGrpSpPr/>
          <p:nvPr/>
        </p:nvGrpSpPr>
        <p:grpSpPr>
          <a:xfrm>
            <a:off x="6642568" y="2273800"/>
            <a:ext cx="915950" cy="2831600"/>
            <a:chOff x="6642568" y="3058044"/>
            <a:chExt cx="915950" cy="2831600"/>
          </a:xfrm>
        </p:grpSpPr>
        <p:sp>
          <p:nvSpPr>
            <p:cNvPr id="5" name="TextBox 4">
              <a:extLst>
                <a:ext uri="{FF2B5EF4-FFF2-40B4-BE49-F238E27FC236}">
                  <a16:creationId xmlns:a16="http://schemas.microsoft.com/office/drawing/2014/main" id="{2E2600F6-CE31-0C72-D04D-20507DF47749}"/>
                </a:ext>
              </a:extLst>
            </p:cNvPr>
            <p:cNvSpPr txBox="1"/>
            <p:nvPr/>
          </p:nvSpPr>
          <p:spPr>
            <a:xfrm>
              <a:off x="6652902" y="3271251"/>
              <a:ext cx="893090" cy="430887"/>
            </a:xfrm>
            <a:prstGeom prst="rect">
              <a:avLst/>
            </a:prstGeom>
            <a:noFill/>
          </p:spPr>
          <p:txBody>
            <a:bodyPr wrap="square" rtlCol="0">
              <a:spAutoFit/>
            </a:bodyPr>
            <a:lstStyle/>
            <a:p>
              <a:pPr algn="ctr"/>
              <a:r>
                <a:rPr lang="zh-CN" altLang="en-US" sz="2200" dirty="0"/>
                <a:t>幸运</a:t>
              </a:r>
            </a:p>
          </p:txBody>
        </p:sp>
        <p:sp>
          <p:nvSpPr>
            <p:cNvPr id="6" name="TextBox 5">
              <a:extLst>
                <a:ext uri="{FF2B5EF4-FFF2-40B4-BE49-F238E27FC236}">
                  <a16:creationId xmlns:a16="http://schemas.microsoft.com/office/drawing/2014/main" id="{F99EBE4F-EFD3-4074-5415-0DE4941BBE60}"/>
                </a:ext>
              </a:extLst>
            </p:cNvPr>
            <p:cNvSpPr txBox="1"/>
            <p:nvPr/>
          </p:nvSpPr>
          <p:spPr>
            <a:xfrm>
              <a:off x="6934200" y="3058044"/>
              <a:ext cx="461665" cy="384007"/>
            </a:xfrm>
            <a:prstGeom prst="rect">
              <a:avLst/>
            </a:prstGeom>
            <a:noFill/>
          </p:spPr>
          <p:txBody>
            <a:bodyPr vert="eaVert" wrap="square" rtlCol="0">
              <a:spAutoFit/>
            </a:bodyPr>
            <a:lstStyle/>
            <a:p>
              <a:r>
                <a:rPr lang="en-US" dirty="0"/>
                <a:t>…</a:t>
              </a:r>
            </a:p>
          </p:txBody>
        </p:sp>
        <p:sp>
          <p:nvSpPr>
            <p:cNvPr id="9" name="TextBox 8">
              <a:extLst>
                <a:ext uri="{FF2B5EF4-FFF2-40B4-BE49-F238E27FC236}">
                  <a16:creationId xmlns:a16="http://schemas.microsoft.com/office/drawing/2014/main" id="{77C7B24B-5E16-C7A2-E86F-F0A9062873F4}"/>
                </a:ext>
              </a:extLst>
            </p:cNvPr>
            <p:cNvSpPr txBox="1"/>
            <p:nvPr/>
          </p:nvSpPr>
          <p:spPr>
            <a:xfrm>
              <a:off x="6934200" y="3679531"/>
              <a:ext cx="461665" cy="384007"/>
            </a:xfrm>
            <a:prstGeom prst="rect">
              <a:avLst/>
            </a:prstGeom>
            <a:noFill/>
          </p:spPr>
          <p:txBody>
            <a:bodyPr vert="eaVert" wrap="square" rtlCol="0">
              <a:spAutoFit/>
            </a:bodyPr>
            <a:lstStyle/>
            <a:p>
              <a:r>
                <a:rPr lang="en-US" dirty="0"/>
                <a:t>…</a:t>
              </a:r>
            </a:p>
          </p:txBody>
        </p:sp>
        <p:sp>
          <p:nvSpPr>
            <p:cNvPr id="15" name="TextBox 14">
              <a:extLst>
                <a:ext uri="{FF2B5EF4-FFF2-40B4-BE49-F238E27FC236}">
                  <a16:creationId xmlns:a16="http://schemas.microsoft.com/office/drawing/2014/main" id="{1D2995AC-4E98-1AB6-54D2-49F1EFFCB6D1}"/>
                </a:ext>
              </a:extLst>
            </p:cNvPr>
            <p:cNvSpPr txBox="1"/>
            <p:nvPr/>
          </p:nvSpPr>
          <p:spPr>
            <a:xfrm>
              <a:off x="6652902" y="3907115"/>
              <a:ext cx="893090" cy="430887"/>
            </a:xfrm>
            <a:prstGeom prst="rect">
              <a:avLst/>
            </a:prstGeom>
            <a:noFill/>
          </p:spPr>
          <p:txBody>
            <a:bodyPr wrap="square" rtlCol="0">
              <a:spAutoFit/>
            </a:bodyPr>
            <a:lstStyle/>
            <a:p>
              <a:pPr algn="ctr"/>
              <a:r>
                <a:rPr lang="zh-CN" altLang="en-US" sz="2200" dirty="0"/>
                <a:t>挑战</a:t>
              </a:r>
            </a:p>
          </p:txBody>
        </p:sp>
        <p:sp>
          <p:nvSpPr>
            <p:cNvPr id="19" name="TextBox 18">
              <a:extLst>
                <a:ext uri="{FF2B5EF4-FFF2-40B4-BE49-F238E27FC236}">
                  <a16:creationId xmlns:a16="http://schemas.microsoft.com/office/drawing/2014/main" id="{E0A2B04E-78E9-2AA4-4BEA-C816B7280D66}"/>
                </a:ext>
              </a:extLst>
            </p:cNvPr>
            <p:cNvSpPr txBox="1"/>
            <p:nvPr/>
          </p:nvSpPr>
          <p:spPr>
            <a:xfrm>
              <a:off x="6937355" y="4338204"/>
              <a:ext cx="461665" cy="384007"/>
            </a:xfrm>
            <a:prstGeom prst="rect">
              <a:avLst/>
            </a:prstGeom>
            <a:noFill/>
          </p:spPr>
          <p:txBody>
            <a:bodyPr vert="eaVert" wrap="square" rtlCol="0">
              <a:spAutoFit/>
            </a:bodyPr>
            <a:lstStyle/>
            <a:p>
              <a:r>
                <a:rPr lang="en-US" dirty="0"/>
                <a:t>…</a:t>
              </a:r>
            </a:p>
          </p:txBody>
        </p:sp>
        <p:sp>
          <p:nvSpPr>
            <p:cNvPr id="20" name="TextBox 19">
              <a:extLst>
                <a:ext uri="{FF2B5EF4-FFF2-40B4-BE49-F238E27FC236}">
                  <a16:creationId xmlns:a16="http://schemas.microsoft.com/office/drawing/2014/main" id="{4FBEDDFF-0EC9-A3C1-BF4A-1ADB2BEAF679}"/>
                </a:ext>
              </a:extLst>
            </p:cNvPr>
            <p:cNvSpPr txBox="1"/>
            <p:nvPr/>
          </p:nvSpPr>
          <p:spPr>
            <a:xfrm>
              <a:off x="6665428" y="4521475"/>
              <a:ext cx="893090" cy="430887"/>
            </a:xfrm>
            <a:prstGeom prst="rect">
              <a:avLst/>
            </a:prstGeom>
            <a:noFill/>
          </p:spPr>
          <p:txBody>
            <a:bodyPr wrap="square" rtlCol="0">
              <a:spAutoFit/>
            </a:bodyPr>
            <a:lstStyle/>
            <a:p>
              <a:pPr algn="ctr"/>
              <a:r>
                <a:rPr lang="zh-CN" altLang="en-US" sz="2200" dirty="0"/>
                <a:t>机遇</a:t>
              </a:r>
            </a:p>
          </p:txBody>
        </p:sp>
        <p:sp>
          <p:nvSpPr>
            <p:cNvPr id="21" name="TextBox 20">
              <a:extLst>
                <a:ext uri="{FF2B5EF4-FFF2-40B4-BE49-F238E27FC236}">
                  <a16:creationId xmlns:a16="http://schemas.microsoft.com/office/drawing/2014/main" id="{017B42DB-2FA8-CC79-20C4-C9EA839193A8}"/>
                </a:ext>
              </a:extLst>
            </p:cNvPr>
            <p:cNvSpPr txBox="1"/>
            <p:nvPr/>
          </p:nvSpPr>
          <p:spPr>
            <a:xfrm>
              <a:off x="6929734" y="4939130"/>
              <a:ext cx="461665" cy="384007"/>
            </a:xfrm>
            <a:prstGeom prst="rect">
              <a:avLst/>
            </a:prstGeom>
            <a:noFill/>
          </p:spPr>
          <p:txBody>
            <a:bodyPr vert="eaVert" wrap="square" rtlCol="0">
              <a:spAutoFit/>
            </a:bodyPr>
            <a:lstStyle/>
            <a:p>
              <a:r>
                <a:rPr lang="en-US" dirty="0"/>
                <a:t>…</a:t>
              </a:r>
            </a:p>
          </p:txBody>
        </p:sp>
        <p:sp>
          <p:nvSpPr>
            <p:cNvPr id="22" name="TextBox 21">
              <a:extLst>
                <a:ext uri="{FF2B5EF4-FFF2-40B4-BE49-F238E27FC236}">
                  <a16:creationId xmlns:a16="http://schemas.microsoft.com/office/drawing/2014/main" id="{3303DC53-CDE3-1FE1-ACB1-CE69CF3456B1}"/>
                </a:ext>
              </a:extLst>
            </p:cNvPr>
            <p:cNvSpPr txBox="1"/>
            <p:nvPr/>
          </p:nvSpPr>
          <p:spPr>
            <a:xfrm>
              <a:off x="6642568" y="5131713"/>
              <a:ext cx="893090" cy="430887"/>
            </a:xfrm>
            <a:prstGeom prst="rect">
              <a:avLst/>
            </a:prstGeom>
            <a:noFill/>
          </p:spPr>
          <p:txBody>
            <a:bodyPr wrap="square" rtlCol="0">
              <a:spAutoFit/>
            </a:bodyPr>
            <a:lstStyle/>
            <a:p>
              <a:pPr algn="ctr"/>
              <a:r>
                <a:rPr lang="zh-CN" altLang="en-US" sz="2200" dirty="0"/>
                <a:t>问题</a:t>
              </a:r>
            </a:p>
          </p:txBody>
        </p:sp>
        <p:sp>
          <p:nvSpPr>
            <p:cNvPr id="23" name="TextBox 22">
              <a:extLst>
                <a:ext uri="{FF2B5EF4-FFF2-40B4-BE49-F238E27FC236}">
                  <a16:creationId xmlns:a16="http://schemas.microsoft.com/office/drawing/2014/main" id="{13501707-3F6B-6F63-29C2-6BE04259EA22}"/>
                </a:ext>
              </a:extLst>
            </p:cNvPr>
            <p:cNvSpPr txBox="1"/>
            <p:nvPr/>
          </p:nvSpPr>
          <p:spPr>
            <a:xfrm>
              <a:off x="6929735" y="5505637"/>
              <a:ext cx="461665" cy="384007"/>
            </a:xfrm>
            <a:prstGeom prst="rect">
              <a:avLst/>
            </a:prstGeom>
            <a:noFill/>
          </p:spPr>
          <p:txBody>
            <a:bodyPr vert="eaVert" wrap="square" rtlCol="0">
              <a:spAutoFit/>
            </a:bodyPr>
            <a:lstStyle/>
            <a:p>
              <a:r>
                <a:rPr lang="en-US" dirty="0"/>
                <a:t>…</a:t>
              </a:r>
            </a:p>
          </p:txBody>
        </p:sp>
      </p:grpSp>
      <p:sp>
        <p:nvSpPr>
          <p:cNvPr id="25" name="TextBox 24">
            <a:extLst>
              <a:ext uri="{FF2B5EF4-FFF2-40B4-BE49-F238E27FC236}">
                <a16:creationId xmlns:a16="http://schemas.microsoft.com/office/drawing/2014/main" id="{E0C5BB64-F4E7-AD53-38BE-CA7C740F16E1}"/>
              </a:ext>
            </a:extLst>
          </p:cNvPr>
          <p:cNvSpPr txBox="1"/>
          <p:nvPr/>
        </p:nvSpPr>
        <p:spPr>
          <a:xfrm>
            <a:off x="1295400" y="3373812"/>
            <a:ext cx="3878460" cy="430887"/>
          </a:xfrm>
          <a:prstGeom prst="rect">
            <a:avLst/>
          </a:prstGeom>
          <a:noFill/>
        </p:spPr>
        <p:txBody>
          <a:bodyPr wrap="square" rtlCol="0">
            <a:spAutoFit/>
          </a:bodyPr>
          <a:lstStyle/>
          <a:p>
            <a:pPr algn="ctr"/>
            <a:r>
              <a:rPr lang="zh-CN" altLang="en-US" sz="2200" dirty="0"/>
              <a:t>气候变化是全世界面临的</a:t>
            </a:r>
          </a:p>
        </p:txBody>
      </p:sp>
      <p:sp>
        <p:nvSpPr>
          <p:cNvPr id="28" name="Text Box 184">
            <a:extLst>
              <a:ext uri="{FF2B5EF4-FFF2-40B4-BE49-F238E27FC236}">
                <a16:creationId xmlns:a16="http://schemas.microsoft.com/office/drawing/2014/main" id="{56E6535C-9CA3-94A1-6F0C-571A78344C8C}"/>
              </a:ext>
            </a:extLst>
          </p:cNvPr>
          <p:cNvSpPr txBox="1">
            <a:spLocks noChangeArrowheads="1"/>
          </p:cNvSpPr>
          <p:nvPr/>
        </p:nvSpPr>
        <p:spPr bwMode="auto">
          <a:xfrm>
            <a:off x="7614371" y="316855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l" eaLnBrk="1" hangingPunct="1">
              <a:lnSpc>
                <a:spcPct val="90000"/>
              </a:lnSpc>
            </a:pPr>
            <a:r>
              <a:rPr lang="en-US" altLang="zh-CN" sz="2400" b="1" dirty="0">
                <a:solidFill>
                  <a:srgbClr val="00B050"/>
                </a:solidFill>
                <a:latin typeface="Cambria Math" panose="02040503050406030204" pitchFamily="18" charset="0"/>
                <a:ea typeface="Cambria Math" panose="02040503050406030204" pitchFamily="18" charset="0"/>
                <a:sym typeface="Wingdings" panose="05000000000000000000" pitchFamily="2" charset="2"/>
              </a:rPr>
              <a:t>√</a:t>
            </a:r>
            <a:endParaRPr lang="en-US" altLang="zh-CN" sz="2400" b="1" dirty="0">
              <a:solidFill>
                <a:srgbClr val="00B050"/>
              </a:solidFill>
              <a:latin typeface="Trebuchet MS" panose="020B0603020202020204" pitchFamily="34" charset="0"/>
            </a:endParaRPr>
          </a:p>
        </p:txBody>
      </p:sp>
      <p:sp>
        <p:nvSpPr>
          <p:cNvPr id="29" name="Text Box 184">
            <a:extLst>
              <a:ext uri="{FF2B5EF4-FFF2-40B4-BE49-F238E27FC236}">
                <a16:creationId xmlns:a16="http://schemas.microsoft.com/office/drawing/2014/main" id="{FDAC7332-C4FB-6726-20C0-4298CD5BDB05}"/>
              </a:ext>
            </a:extLst>
          </p:cNvPr>
          <p:cNvSpPr txBox="1">
            <a:spLocks noChangeArrowheads="1"/>
          </p:cNvSpPr>
          <p:nvPr/>
        </p:nvSpPr>
        <p:spPr bwMode="auto">
          <a:xfrm>
            <a:off x="7652656" y="3749447"/>
            <a:ext cx="4572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l" eaLnBrk="1" hangingPunct="1">
              <a:lnSpc>
                <a:spcPct val="90000"/>
              </a:lnSpc>
            </a:pPr>
            <a:r>
              <a:rPr lang="en-US" altLang="zh-CN" sz="2400" b="1" dirty="0">
                <a:solidFill>
                  <a:srgbClr val="FF0000"/>
                </a:solidFill>
                <a:latin typeface="Trebuchet MS" panose="020B0603020202020204" pitchFamily="34" charset="0"/>
              </a:rPr>
              <a:t>X</a:t>
            </a:r>
          </a:p>
        </p:txBody>
      </p:sp>
      <p:sp>
        <p:nvSpPr>
          <p:cNvPr id="30" name="Text Box 184">
            <a:extLst>
              <a:ext uri="{FF2B5EF4-FFF2-40B4-BE49-F238E27FC236}">
                <a16:creationId xmlns:a16="http://schemas.microsoft.com/office/drawing/2014/main" id="{26E24080-5C1C-514D-EF14-D426655EABE7}"/>
              </a:ext>
            </a:extLst>
          </p:cNvPr>
          <p:cNvSpPr txBox="1">
            <a:spLocks noChangeArrowheads="1"/>
          </p:cNvSpPr>
          <p:nvPr/>
        </p:nvSpPr>
        <p:spPr bwMode="auto">
          <a:xfrm>
            <a:off x="7636142" y="438204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l" eaLnBrk="1" hangingPunct="1">
              <a:lnSpc>
                <a:spcPct val="90000"/>
              </a:lnSpc>
            </a:pPr>
            <a:r>
              <a:rPr lang="en-US" altLang="zh-CN" sz="2400" b="1" dirty="0">
                <a:solidFill>
                  <a:srgbClr val="00B050"/>
                </a:solidFill>
                <a:latin typeface="Cambria Math" panose="02040503050406030204" pitchFamily="18" charset="0"/>
                <a:ea typeface="Cambria Math" panose="02040503050406030204" pitchFamily="18" charset="0"/>
                <a:sym typeface="Wingdings" panose="05000000000000000000" pitchFamily="2" charset="2"/>
              </a:rPr>
              <a:t>√</a:t>
            </a:r>
            <a:endParaRPr lang="en-US" altLang="zh-CN" sz="2400" b="1" dirty="0">
              <a:solidFill>
                <a:srgbClr val="00B050"/>
              </a:solidFill>
              <a:latin typeface="Trebuchet MS" panose="020B0603020202020204" pitchFamily="34" charset="0"/>
            </a:endParaRPr>
          </a:p>
        </p:txBody>
      </p:sp>
      <p:sp>
        <p:nvSpPr>
          <p:cNvPr id="32" name="TextBox 31">
            <a:extLst>
              <a:ext uri="{FF2B5EF4-FFF2-40B4-BE49-F238E27FC236}">
                <a16:creationId xmlns:a16="http://schemas.microsoft.com/office/drawing/2014/main" id="{13359D67-D1FA-7170-3564-722A463D5668}"/>
              </a:ext>
            </a:extLst>
          </p:cNvPr>
          <p:cNvSpPr txBox="1"/>
          <p:nvPr/>
        </p:nvSpPr>
        <p:spPr>
          <a:xfrm>
            <a:off x="446420" y="5284113"/>
            <a:ext cx="8403560" cy="430887"/>
          </a:xfrm>
          <a:prstGeom prst="rect">
            <a:avLst/>
          </a:prstGeom>
          <a:noFill/>
        </p:spPr>
        <p:txBody>
          <a:bodyPr wrap="square" rtlCol="0">
            <a:spAutoFit/>
          </a:bodyPr>
          <a:lstStyle/>
          <a:p>
            <a:pPr algn="ctr"/>
            <a:r>
              <a:rPr lang="zh-CN" altLang="en-US" sz="2200" dirty="0"/>
              <a:t>复杂的对话来自于持续的词生成</a:t>
            </a:r>
          </a:p>
        </p:txBody>
      </p:sp>
      <p:sp>
        <p:nvSpPr>
          <p:cNvPr id="3" name="Text Box 184">
            <a:extLst>
              <a:ext uri="{FF2B5EF4-FFF2-40B4-BE49-F238E27FC236}">
                <a16:creationId xmlns:a16="http://schemas.microsoft.com/office/drawing/2014/main" id="{38678E6D-FA73-8A7B-2EC0-BD49876710E2}"/>
              </a:ext>
            </a:extLst>
          </p:cNvPr>
          <p:cNvSpPr txBox="1">
            <a:spLocks noChangeArrowheads="1"/>
          </p:cNvSpPr>
          <p:nvPr/>
        </p:nvSpPr>
        <p:spPr bwMode="auto">
          <a:xfrm>
            <a:off x="7636142" y="2499813"/>
            <a:ext cx="45720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algn="ctr"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l" eaLnBrk="1" hangingPunct="1">
              <a:lnSpc>
                <a:spcPct val="90000"/>
              </a:lnSpc>
            </a:pPr>
            <a:r>
              <a:rPr lang="en-US" altLang="zh-CN" sz="2400" b="1" dirty="0">
                <a:solidFill>
                  <a:srgbClr val="FF0000"/>
                </a:solidFill>
                <a:latin typeface="Trebuchet MS" panose="020B0603020202020204" pitchFamily="34" charset="0"/>
              </a:rPr>
              <a:t>X</a:t>
            </a:r>
          </a:p>
        </p:txBody>
      </p:sp>
    </p:spTree>
    <p:custDataLst>
      <p:tags r:id="rId1"/>
    </p:custDataLst>
    <p:extLst>
      <p:ext uri="{BB962C8B-B14F-4D97-AF65-F5344CB8AC3E}">
        <p14:creationId xmlns:p14="http://schemas.microsoft.com/office/powerpoint/2010/main" val="25099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分类器</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5257800"/>
          </a:xfrm>
        </p:spPr>
        <p:txBody>
          <a:bodyPr/>
          <a:lstStyle/>
          <a:p>
            <a:r>
              <a:rPr lang="zh-CN" altLang="en-US" dirty="0"/>
              <a:t>分类器</a:t>
            </a:r>
            <a:endParaRPr lang="en-US" altLang="zh-CN" dirty="0"/>
          </a:p>
          <a:p>
            <a:pPr lvl="1"/>
            <a:r>
              <a:rPr lang="zh-CN" altLang="en-US" dirty="0"/>
              <a:t>完成特定分类任务的程序</a:t>
            </a:r>
            <a:endParaRPr lang="en-US" altLang="zh-CN" dirty="0"/>
          </a:p>
          <a:p>
            <a:r>
              <a:rPr lang="zh-CN" altLang="en-US" dirty="0"/>
              <a:t>和回归程序一样</a:t>
            </a:r>
            <a:endParaRPr lang="en-US" altLang="zh-CN" dirty="0"/>
          </a:p>
          <a:p>
            <a:pPr lvl="1"/>
            <a:r>
              <a:rPr lang="zh-CN" altLang="en-US" dirty="0"/>
              <a:t>接受明确的输入</a:t>
            </a:r>
            <a:endParaRPr lang="en-US" altLang="zh-CN" dirty="0"/>
          </a:p>
          <a:p>
            <a:pPr lvl="1"/>
            <a:r>
              <a:rPr lang="zh-CN" altLang="en-US" dirty="0"/>
              <a:t>通过一些计算的步骤产生输出</a:t>
            </a:r>
            <a:endParaRPr lang="en-US" altLang="zh-CN" dirty="0"/>
          </a:p>
          <a:p>
            <a:r>
              <a:rPr lang="zh-CN" altLang="en-US" dirty="0"/>
              <a:t>通过机器学习构建分类器</a:t>
            </a:r>
            <a:endParaRPr lang="en-US" altLang="zh-CN" dirty="0"/>
          </a:p>
          <a:p>
            <a:pPr lvl="1"/>
            <a:r>
              <a:rPr lang="zh-CN" altLang="en-US" dirty="0"/>
              <a:t>并非在程序描述完整的根据输入得到分类结果的算法</a:t>
            </a:r>
            <a:endParaRPr lang="en-US" altLang="zh-CN" dirty="0"/>
          </a:p>
          <a:p>
            <a:pPr lvl="1"/>
            <a:r>
              <a:rPr lang="zh-CN" altLang="en-US" dirty="0"/>
              <a:t>通过对训练数据的学习与</a:t>
            </a:r>
            <a:r>
              <a:rPr lang="zh-CN" altLang="en-US" dirty="0">
                <a:solidFill>
                  <a:srgbClr val="C00000"/>
                </a:solidFill>
              </a:rPr>
              <a:t>归纳</a:t>
            </a:r>
            <a:r>
              <a:rPr lang="zh-CN" altLang="en-US" dirty="0"/>
              <a:t>，掌握到（部分）分类的规律</a:t>
            </a:r>
            <a:endParaRPr lang="en-US" altLang="zh-CN" dirty="0"/>
          </a:p>
        </p:txBody>
      </p:sp>
    </p:spTree>
    <p:custDataLst>
      <p:tags r:id="rId1"/>
    </p:custDataLst>
    <p:extLst>
      <p:ext uri="{BB962C8B-B14F-4D97-AF65-F5344CB8AC3E}">
        <p14:creationId xmlns:p14="http://schemas.microsoft.com/office/powerpoint/2010/main" val="120944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0061FEF-B574-4CD3-AEDA-FFA0609BF3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777" y="2786360"/>
            <a:ext cx="2895055" cy="27178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定义输入（</a:t>
            </a:r>
            <a:r>
              <a:rPr lang="en-US" altLang="zh-CN" dirty="0">
                <a:ea typeface="ＭＳ Ｐゴシック" panose="020B0600070205080204" pitchFamily="34" charset="-128"/>
              </a:rPr>
              <a:t>USPS</a:t>
            </a:r>
            <a:r>
              <a:rPr lang="zh-CN" altLang="en-US" dirty="0">
                <a:ea typeface="ＭＳ Ｐゴシック" panose="020B0600070205080204" pitchFamily="34" charset="-128"/>
              </a:rPr>
              <a:t>数据集） </a:t>
            </a:r>
            <a:r>
              <a:rPr lang="en-US" altLang="zh-CN" dirty="0">
                <a:ea typeface="ＭＳ Ｐゴシック" panose="020B0600070205080204" pitchFamily="34" charset="-128"/>
              </a:rPr>
              <a:t>(1)</a:t>
            </a:r>
            <a:endParaRPr lang="zh-CN" altLang="en-US" dirty="0"/>
          </a:p>
        </p:txBody>
      </p:sp>
      <p:graphicFrame>
        <p:nvGraphicFramePr>
          <p:cNvPr id="7" name="Table 6">
            <a:extLst>
              <a:ext uri="{FF2B5EF4-FFF2-40B4-BE49-F238E27FC236}">
                <a16:creationId xmlns:a16="http://schemas.microsoft.com/office/drawing/2014/main" id="{4BAA9C06-E645-4BA2-B65C-AA2C364DEF19}"/>
              </a:ext>
            </a:extLst>
          </p:cNvPr>
          <p:cNvGraphicFramePr>
            <a:graphicFrameLocks noGrp="1"/>
          </p:cNvGraphicFramePr>
          <p:nvPr/>
        </p:nvGraphicFramePr>
        <p:xfrm>
          <a:off x="406577" y="2773664"/>
          <a:ext cx="2895600" cy="2717808"/>
        </p:xfrm>
        <a:graphic>
          <a:graphicData uri="http://schemas.openxmlformats.org/drawingml/2006/table">
            <a:tbl>
              <a:tblPr firstRow="1" bandRow="1">
                <a:tableStyleId>{5940675A-B579-460E-94D1-54222C63F5DA}</a:tableStyleId>
              </a:tblPr>
              <a:tblGrid>
                <a:gridCol w="180975">
                  <a:extLst>
                    <a:ext uri="{9D8B030D-6E8A-4147-A177-3AD203B41FA5}">
                      <a16:colId xmlns:a16="http://schemas.microsoft.com/office/drawing/2014/main" val="109971764"/>
                    </a:ext>
                  </a:extLst>
                </a:gridCol>
                <a:gridCol w="180975">
                  <a:extLst>
                    <a:ext uri="{9D8B030D-6E8A-4147-A177-3AD203B41FA5}">
                      <a16:colId xmlns:a16="http://schemas.microsoft.com/office/drawing/2014/main" val="2013258804"/>
                    </a:ext>
                  </a:extLst>
                </a:gridCol>
                <a:gridCol w="180975">
                  <a:extLst>
                    <a:ext uri="{9D8B030D-6E8A-4147-A177-3AD203B41FA5}">
                      <a16:colId xmlns:a16="http://schemas.microsoft.com/office/drawing/2014/main" val="327979967"/>
                    </a:ext>
                  </a:extLst>
                </a:gridCol>
                <a:gridCol w="180975">
                  <a:extLst>
                    <a:ext uri="{9D8B030D-6E8A-4147-A177-3AD203B41FA5}">
                      <a16:colId xmlns:a16="http://schemas.microsoft.com/office/drawing/2014/main" val="3507967464"/>
                    </a:ext>
                  </a:extLst>
                </a:gridCol>
                <a:gridCol w="180975">
                  <a:extLst>
                    <a:ext uri="{9D8B030D-6E8A-4147-A177-3AD203B41FA5}">
                      <a16:colId xmlns:a16="http://schemas.microsoft.com/office/drawing/2014/main" val="1378731859"/>
                    </a:ext>
                  </a:extLst>
                </a:gridCol>
                <a:gridCol w="180975">
                  <a:extLst>
                    <a:ext uri="{9D8B030D-6E8A-4147-A177-3AD203B41FA5}">
                      <a16:colId xmlns:a16="http://schemas.microsoft.com/office/drawing/2014/main" val="3098164330"/>
                    </a:ext>
                  </a:extLst>
                </a:gridCol>
                <a:gridCol w="180975">
                  <a:extLst>
                    <a:ext uri="{9D8B030D-6E8A-4147-A177-3AD203B41FA5}">
                      <a16:colId xmlns:a16="http://schemas.microsoft.com/office/drawing/2014/main" val="1954079805"/>
                    </a:ext>
                  </a:extLst>
                </a:gridCol>
                <a:gridCol w="180975">
                  <a:extLst>
                    <a:ext uri="{9D8B030D-6E8A-4147-A177-3AD203B41FA5}">
                      <a16:colId xmlns:a16="http://schemas.microsoft.com/office/drawing/2014/main" val="4245547373"/>
                    </a:ext>
                  </a:extLst>
                </a:gridCol>
                <a:gridCol w="180975">
                  <a:extLst>
                    <a:ext uri="{9D8B030D-6E8A-4147-A177-3AD203B41FA5}">
                      <a16:colId xmlns:a16="http://schemas.microsoft.com/office/drawing/2014/main" val="932003077"/>
                    </a:ext>
                  </a:extLst>
                </a:gridCol>
                <a:gridCol w="200025">
                  <a:extLst>
                    <a:ext uri="{9D8B030D-6E8A-4147-A177-3AD203B41FA5}">
                      <a16:colId xmlns:a16="http://schemas.microsoft.com/office/drawing/2014/main" val="2595031180"/>
                    </a:ext>
                  </a:extLst>
                </a:gridCol>
                <a:gridCol w="161925">
                  <a:extLst>
                    <a:ext uri="{9D8B030D-6E8A-4147-A177-3AD203B41FA5}">
                      <a16:colId xmlns:a16="http://schemas.microsoft.com/office/drawing/2014/main" val="2164807927"/>
                    </a:ext>
                  </a:extLst>
                </a:gridCol>
                <a:gridCol w="180975">
                  <a:extLst>
                    <a:ext uri="{9D8B030D-6E8A-4147-A177-3AD203B41FA5}">
                      <a16:colId xmlns:a16="http://schemas.microsoft.com/office/drawing/2014/main" val="2288839292"/>
                    </a:ext>
                  </a:extLst>
                </a:gridCol>
                <a:gridCol w="180975">
                  <a:extLst>
                    <a:ext uri="{9D8B030D-6E8A-4147-A177-3AD203B41FA5}">
                      <a16:colId xmlns:a16="http://schemas.microsoft.com/office/drawing/2014/main" val="818702767"/>
                    </a:ext>
                  </a:extLst>
                </a:gridCol>
                <a:gridCol w="180975">
                  <a:extLst>
                    <a:ext uri="{9D8B030D-6E8A-4147-A177-3AD203B41FA5}">
                      <a16:colId xmlns:a16="http://schemas.microsoft.com/office/drawing/2014/main" val="2882119613"/>
                    </a:ext>
                  </a:extLst>
                </a:gridCol>
                <a:gridCol w="180975">
                  <a:extLst>
                    <a:ext uri="{9D8B030D-6E8A-4147-A177-3AD203B41FA5}">
                      <a16:colId xmlns:a16="http://schemas.microsoft.com/office/drawing/2014/main" val="3599328147"/>
                    </a:ext>
                  </a:extLst>
                </a:gridCol>
                <a:gridCol w="180975">
                  <a:extLst>
                    <a:ext uri="{9D8B030D-6E8A-4147-A177-3AD203B41FA5}">
                      <a16:colId xmlns:a16="http://schemas.microsoft.com/office/drawing/2014/main" val="1466328639"/>
                    </a:ext>
                  </a:extLst>
                </a:gridCol>
              </a:tblGrid>
              <a:tr h="169863">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2787450361"/>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1201684170"/>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3716988036"/>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928818270"/>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2494005904"/>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1596091016"/>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797322008"/>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2497412237"/>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1358038100"/>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696313340"/>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3305868132"/>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3601728032"/>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2080546328"/>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3316442680"/>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extLst>
                  <a:ext uri="{0D108BD9-81ED-4DB2-BD59-A6C34878D82A}">
                    <a16:rowId xmlns:a16="http://schemas.microsoft.com/office/drawing/2014/main" val="444804331"/>
                  </a:ext>
                </a:extLst>
              </a:tr>
              <a:tr h="169863">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a:p>
                  </a:txBody>
                  <a:tcPr marL="0" marR="0" marT="0" marB="0"/>
                </a:tc>
                <a:tc>
                  <a:txBody>
                    <a:bodyPr/>
                    <a:lstStyle/>
                    <a:p>
                      <a:endParaRPr lang="zh-CN" altLang="en-US" sz="100" dirty="0"/>
                    </a:p>
                  </a:txBody>
                  <a:tcPr marL="0" marR="0" marT="0" marB="0"/>
                </a:tc>
                <a:extLst>
                  <a:ext uri="{0D108BD9-81ED-4DB2-BD59-A6C34878D82A}">
                    <a16:rowId xmlns:a16="http://schemas.microsoft.com/office/drawing/2014/main" val="1832254841"/>
                  </a:ext>
                </a:extLst>
              </a:tr>
            </a:tbl>
          </a:graphicData>
        </a:graphic>
      </p:graphicFrame>
      <p:sp>
        <p:nvSpPr>
          <p:cNvPr id="10" name="TextBox 9">
            <a:extLst>
              <a:ext uri="{FF2B5EF4-FFF2-40B4-BE49-F238E27FC236}">
                <a16:creationId xmlns:a16="http://schemas.microsoft.com/office/drawing/2014/main" id="{96E89B8A-A9D5-4438-9E60-6A4D8E0392B7}"/>
              </a:ext>
            </a:extLst>
          </p:cNvPr>
          <p:cNvSpPr txBox="1"/>
          <p:nvPr/>
        </p:nvSpPr>
        <p:spPr>
          <a:xfrm>
            <a:off x="289560" y="5560298"/>
            <a:ext cx="3281487" cy="430887"/>
          </a:xfrm>
          <a:prstGeom prst="rect">
            <a:avLst/>
          </a:prstGeom>
          <a:noFill/>
        </p:spPr>
        <p:txBody>
          <a:bodyPr wrap="square" rtlCol="0">
            <a:spAutoFit/>
          </a:bodyPr>
          <a:lstStyle/>
          <a:p>
            <a:pPr algn="ctr"/>
            <a:r>
              <a:rPr lang="zh-CN" altLang="en-US" sz="2200" dirty="0"/>
              <a:t>加上一个</a:t>
            </a:r>
            <a:r>
              <a:rPr lang="en-US" altLang="zh-CN" sz="2200" dirty="0"/>
              <a:t>16x16</a:t>
            </a:r>
            <a:r>
              <a:rPr lang="zh-CN" altLang="en-US" sz="2200" dirty="0"/>
              <a:t>的网格</a:t>
            </a:r>
          </a:p>
        </p:txBody>
      </p:sp>
      <p:sp>
        <p:nvSpPr>
          <p:cNvPr id="11" name="TextBox 10">
            <a:extLst>
              <a:ext uri="{FF2B5EF4-FFF2-40B4-BE49-F238E27FC236}">
                <a16:creationId xmlns:a16="http://schemas.microsoft.com/office/drawing/2014/main" id="{689FCFE8-C228-47D7-AE15-63B36890B105}"/>
              </a:ext>
            </a:extLst>
          </p:cNvPr>
          <p:cNvSpPr txBox="1"/>
          <p:nvPr/>
        </p:nvSpPr>
        <p:spPr>
          <a:xfrm>
            <a:off x="1005261" y="2312313"/>
            <a:ext cx="1524000" cy="430887"/>
          </a:xfrm>
          <a:prstGeom prst="rect">
            <a:avLst/>
          </a:prstGeom>
          <a:noFill/>
        </p:spPr>
        <p:txBody>
          <a:bodyPr wrap="square" rtlCol="0">
            <a:spAutoFit/>
          </a:bodyPr>
          <a:lstStyle/>
          <a:p>
            <a:pPr algn="ctr"/>
            <a:r>
              <a:rPr lang="zh-CN" altLang="en-US" sz="2200" dirty="0"/>
              <a:t>图像</a:t>
            </a:r>
          </a:p>
        </p:txBody>
      </p:sp>
      <p:sp>
        <p:nvSpPr>
          <p:cNvPr id="12" name="Arrow: Right 11">
            <a:extLst>
              <a:ext uri="{FF2B5EF4-FFF2-40B4-BE49-F238E27FC236}">
                <a16:creationId xmlns:a16="http://schemas.microsoft.com/office/drawing/2014/main" id="{67E34996-0D04-4C1A-B13E-AE031FC08D4D}"/>
              </a:ext>
            </a:extLst>
          </p:cNvPr>
          <p:cNvSpPr/>
          <p:nvPr/>
        </p:nvSpPr>
        <p:spPr bwMode="auto">
          <a:xfrm>
            <a:off x="3302177" y="3687197"/>
            <a:ext cx="3976110" cy="769441"/>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3" name="TextBox 12">
            <a:extLst>
              <a:ext uri="{FF2B5EF4-FFF2-40B4-BE49-F238E27FC236}">
                <a16:creationId xmlns:a16="http://schemas.microsoft.com/office/drawing/2014/main" id="{6F36961B-E840-4265-A873-12BCEDC28099}"/>
              </a:ext>
            </a:extLst>
          </p:cNvPr>
          <p:cNvSpPr txBox="1"/>
          <p:nvPr/>
        </p:nvSpPr>
        <p:spPr>
          <a:xfrm>
            <a:off x="3370274" y="3379113"/>
            <a:ext cx="3281487" cy="430887"/>
          </a:xfrm>
          <a:prstGeom prst="rect">
            <a:avLst/>
          </a:prstGeom>
          <a:noFill/>
        </p:spPr>
        <p:txBody>
          <a:bodyPr wrap="square" rtlCol="0">
            <a:spAutoFit/>
          </a:bodyPr>
          <a:lstStyle/>
          <a:p>
            <a:pPr algn="ctr"/>
            <a:r>
              <a:rPr lang="zh-CN" altLang="en-US" sz="2200" dirty="0"/>
              <a:t>计算每个格子的“重量”</a:t>
            </a:r>
          </a:p>
        </p:txBody>
      </p:sp>
      <p:sp>
        <p:nvSpPr>
          <p:cNvPr id="14" name="TextBox 13">
            <a:extLst>
              <a:ext uri="{FF2B5EF4-FFF2-40B4-BE49-F238E27FC236}">
                <a16:creationId xmlns:a16="http://schemas.microsoft.com/office/drawing/2014/main" id="{9181A6B6-1D70-495E-8FAC-9C87229B2436}"/>
              </a:ext>
            </a:extLst>
          </p:cNvPr>
          <p:cNvSpPr txBox="1"/>
          <p:nvPr/>
        </p:nvSpPr>
        <p:spPr>
          <a:xfrm>
            <a:off x="3302177" y="4329531"/>
            <a:ext cx="3281487" cy="430887"/>
          </a:xfrm>
          <a:prstGeom prst="rect">
            <a:avLst/>
          </a:prstGeom>
          <a:noFill/>
        </p:spPr>
        <p:txBody>
          <a:bodyPr wrap="square" rtlCol="0">
            <a:spAutoFit/>
          </a:bodyPr>
          <a:lstStyle/>
          <a:p>
            <a:pPr algn="ctr"/>
            <a:r>
              <a:rPr lang="zh-CN" altLang="en-US" sz="2200" dirty="0"/>
              <a:t>归一化至</a:t>
            </a:r>
            <a:r>
              <a:rPr lang="en-US" altLang="zh-CN" sz="2200" dirty="0"/>
              <a:t>[-1,1]</a:t>
            </a:r>
            <a:r>
              <a:rPr lang="zh-CN" altLang="en-US" sz="2200" dirty="0"/>
              <a:t>区间</a:t>
            </a:r>
          </a:p>
        </p:txBody>
      </p:sp>
      <p:grpSp>
        <p:nvGrpSpPr>
          <p:cNvPr id="23" name="Group 22">
            <a:extLst>
              <a:ext uri="{FF2B5EF4-FFF2-40B4-BE49-F238E27FC236}">
                <a16:creationId xmlns:a16="http://schemas.microsoft.com/office/drawing/2014/main" id="{D1BCBA50-5B1B-431E-B6D9-62ED25E522FF}"/>
              </a:ext>
            </a:extLst>
          </p:cNvPr>
          <p:cNvGrpSpPr/>
          <p:nvPr/>
        </p:nvGrpSpPr>
        <p:grpSpPr>
          <a:xfrm>
            <a:off x="6583664" y="1973759"/>
            <a:ext cx="2560336" cy="3900099"/>
            <a:chOff x="6583664" y="2119701"/>
            <a:chExt cx="2560336" cy="3900099"/>
          </a:xfrm>
        </p:grpSpPr>
        <p:sp>
          <p:nvSpPr>
            <p:cNvPr id="16" name="TextBox 15">
              <a:extLst>
                <a:ext uri="{FF2B5EF4-FFF2-40B4-BE49-F238E27FC236}">
                  <a16:creationId xmlns:a16="http://schemas.microsoft.com/office/drawing/2014/main" id="{7D1C50E1-B2D9-454C-B504-DE6CFCDCB689}"/>
                </a:ext>
              </a:extLst>
            </p:cNvPr>
            <p:cNvSpPr txBox="1"/>
            <p:nvPr/>
          </p:nvSpPr>
          <p:spPr>
            <a:xfrm>
              <a:off x="7467600" y="3142910"/>
              <a:ext cx="727178" cy="769441"/>
            </a:xfrm>
            <a:prstGeom prst="rect">
              <a:avLst/>
            </a:prstGeom>
            <a:noFill/>
          </p:spPr>
          <p:txBody>
            <a:bodyPr wrap="square" rtlCol="0">
              <a:spAutoFit/>
            </a:bodyPr>
            <a:lstStyle/>
            <a:p>
              <a:pPr algn="ctr"/>
              <a:r>
                <a:rPr lang="en-US" altLang="zh-CN" sz="2200" dirty="0"/>
                <a:t>-1,</a:t>
              </a:r>
            </a:p>
            <a:p>
              <a:pPr algn="ctr"/>
              <a:r>
                <a:rPr lang="en-US" altLang="zh-CN" sz="2200" dirty="0"/>
                <a:t>-1,</a:t>
              </a:r>
            </a:p>
          </p:txBody>
        </p:sp>
        <p:sp>
          <p:nvSpPr>
            <p:cNvPr id="17" name="TextBox 16">
              <a:extLst>
                <a:ext uri="{FF2B5EF4-FFF2-40B4-BE49-F238E27FC236}">
                  <a16:creationId xmlns:a16="http://schemas.microsoft.com/office/drawing/2014/main" id="{68C5CE68-7A46-4D06-A972-F94D1F0BA169}"/>
                </a:ext>
              </a:extLst>
            </p:cNvPr>
            <p:cNvSpPr txBox="1"/>
            <p:nvPr/>
          </p:nvSpPr>
          <p:spPr>
            <a:xfrm>
              <a:off x="7696200" y="3920893"/>
              <a:ext cx="461665" cy="606689"/>
            </a:xfrm>
            <a:prstGeom prst="rect">
              <a:avLst/>
            </a:prstGeom>
            <a:noFill/>
          </p:spPr>
          <p:txBody>
            <a:bodyPr vert="eaVert" wrap="square" rtlCol="0">
              <a:spAutoFit/>
            </a:bodyPr>
            <a:lstStyle/>
            <a:p>
              <a:r>
                <a:rPr lang="en-US" altLang="zh-CN" dirty="0"/>
                <a:t>…</a:t>
              </a:r>
              <a:endParaRPr lang="zh-CN" altLang="en-US" dirty="0"/>
            </a:p>
          </p:txBody>
        </p:sp>
        <p:sp>
          <p:nvSpPr>
            <p:cNvPr id="18" name="TextBox 17">
              <a:extLst>
                <a:ext uri="{FF2B5EF4-FFF2-40B4-BE49-F238E27FC236}">
                  <a16:creationId xmlns:a16="http://schemas.microsoft.com/office/drawing/2014/main" id="{493BFAE2-8B20-4566-933B-836DA1CED2A8}"/>
                </a:ext>
              </a:extLst>
            </p:cNvPr>
            <p:cNvSpPr txBox="1"/>
            <p:nvPr/>
          </p:nvSpPr>
          <p:spPr>
            <a:xfrm>
              <a:off x="7432778" y="4196634"/>
              <a:ext cx="914400" cy="1107996"/>
            </a:xfrm>
            <a:prstGeom prst="rect">
              <a:avLst/>
            </a:prstGeom>
            <a:noFill/>
          </p:spPr>
          <p:txBody>
            <a:bodyPr wrap="square" rtlCol="0">
              <a:spAutoFit/>
            </a:bodyPr>
            <a:lstStyle/>
            <a:p>
              <a:pPr algn="ctr"/>
              <a:r>
                <a:rPr lang="en-US" altLang="zh-CN" sz="2200" dirty="0"/>
                <a:t>0.85,</a:t>
              </a:r>
            </a:p>
            <a:p>
              <a:pPr algn="ctr"/>
              <a:r>
                <a:rPr lang="en-US" altLang="zh-CN" sz="2200" dirty="0"/>
                <a:t>0.93, 1,</a:t>
              </a:r>
            </a:p>
          </p:txBody>
        </p:sp>
        <p:sp>
          <p:nvSpPr>
            <p:cNvPr id="20" name="TextBox 19">
              <a:extLst>
                <a:ext uri="{FF2B5EF4-FFF2-40B4-BE49-F238E27FC236}">
                  <a16:creationId xmlns:a16="http://schemas.microsoft.com/office/drawing/2014/main" id="{A678B69A-4A82-46AC-863A-E0C494B10DD6}"/>
                </a:ext>
              </a:extLst>
            </p:cNvPr>
            <p:cNvSpPr txBox="1"/>
            <p:nvPr/>
          </p:nvSpPr>
          <p:spPr>
            <a:xfrm>
              <a:off x="7685425" y="5366771"/>
              <a:ext cx="461665" cy="606689"/>
            </a:xfrm>
            <a:prstGeom prst="rect">
              <a:avLst/>
            </a:prstGeom>
            <a:noFill/>
          </p:spPr>
          <p:txBody>
            <a:bodyPr vert="eaVert" wrap="square" rtlCol="0">
              <a:spAutoFit/>
            </a:bodyPr>
            <a:lstStyle/>
            <a:p>
              <a:r>
                <a:rPr lang="en-US" altLang="zh-CN" dirty="0"/>
                <a:t>…</a:t>
              </a:r>
              <a:endParaRPr lang="zh-CN" altLang="en-US" dirty="0"/>
            </a:p>
          </p:txBody>
        </p:sp>
        <p:sp>
          <p:nvSpPr>
            <p:cNvPr id="21" name="TextBox 20">
              <a:extLst>
                <a:ext uri="{FF2B5EF4-FFF2-40B4-BE49-F238E27FC236}">
                  <a16:creationId xmlns:a16="http://schemas.microsoft.com/office/drawing/2014/main" id="{73A36248-D64D-44A6-8F1F-666B47587929}"/>
                </a:ext>
              </a:extLst>
            </p:cNvPr>
            <p:cNvSpPr txBox="1"/>
            <p:nvPr/>
          </p:nvSpPr>
          <p:spPr>
            <a:xfrm>
              <a:off x="7467600" y="5588913"/>
              <a:ext cx="727178" cy="430887"/>
            </a:xfrm>
            <a:prstGeom prst="rect">
              <a:avLst/>
            </a:prstGeom>
            <a:noFill/>
          </p:spPr>
          <p:txBody>
            <a:bodyPr wrap="square" rtlCol="0">
              <a:spAutoFit/>
            </a:bodyPr>
            <a:lstStyle/>
            <a:p>
              <a:pPr algn="ctr"/>
              <a:r>
                <a:rPr lang="en-US" altLang="zh-CN" sz="2200" dirty="0"/>
                <a:t>-1</a:t>
              </a:r>
            </a:p>
          </p:txBody>
        </p:sp>
        <p:sp>
          <p:nvSpPr>
            <p:cNvPr id="22" name="TextBox 21">
              <a:extLst>
                <a:ext uri="{FF2B5EF4-FFF2-40B4-BE49-F238E27FC236}">
                  <a16:creationId xmlns:a16="http://schemas.microsoft.com/office/drawing/2014/main" id="{883C685E-6081-436F-9C50-A5D69A92CE92}"/>
                </a:ext>
              </a:extLst>
            </p:cNvPr>
            <p:cNvSpPr txBox="1"/>
            <p:nvPr/>
          </p:nvSpPr>
          <p:spPr>
            <a:xfrm>
              <a:off x="6583664" y="2119701"/>
              <a:ext cx="2560336" cy="769441"/>
            </a:xfrm>
            <a:prstGeom prst="rect">
              <a:avLst/>
            </a:prstGeom>
            <a:noFill/>
          </p:spPr>
          <p:txBody>
            <a:bodyPr wrap="square" rtlCol="0">
              <a:spAutoFit/>
            </a:bodyPr>
            <a:lstStyle/>
            <a:p>
              <a:pPr algn="ctr"/>
              <a:r>
                <a:rPr lang="zh-CN" altLang="en-US" sz="2200" dirty="0"/>
                <a:t>大小为</a:t>
              </a:r>
              <a:r>
                <a:rPr lang="en-US" altLang="zh-CN" sz="2200" dirty="0"/>
                <a:t>256</a:t>
              </a:r>
              <a:r>
                <a:rPr lang="zh-CN" altLang="en-US" sz="2200" dirty="0"/>
                <a:t>的向量（一维数组）</a:t>
              </a:r>
            </a:p>
          </p:txBody>
        </p:sp>
      </p:grpSp>
    </p:spTree>
    <p:custDataLst>
      <p:tags r:id="rId1"/>
    </p:custDataLst>
    <p:extLst>
      <p:ext uri="{BB962C8B-B14F-4D97-AF65-F5344CB8AC3E}">
        <p14:creationId xmlns:p14="http://schemas.microsoft.com/office/powerpoint/2010/main" val="1297742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定义输入（</a:t>
            </a:r>
            <a:r>
              <a:rPr lang="en-US" altLang="zh-CN" dirty="0">
                <a:ea typeface="ＭＳ Ｐゴシック" panose="020B0600070205080204" pitchFamily="34" charset="-128"/>
              </a:rPr>
              <a:t>USPS</a:t>
            </a:r>
            <a:r>
              <a:rPr lang="zh-CN" altLang="en-US" dirty="0">
                <a:ea typeface="ＭＳ Ｐゴシック" panose="020B0600070205080204" pitchFamily="34" charset="-128"/>
              </a:rPr>
              <a:t>数据集） </a:t>
            </a:r>
            <a:r>
              <a:rPr lang="en-US" altLang="zh-CN" dirty="0">
                <a:ea typeface="ＭＳ Ｐゴシック" panose="020B0600070205080204" pitchFamily="34" charset="-128"/>
              </a:rPr>
              <a:t>(2)</a:t>
            </a:r>
            <a:endParaRPr lang="zh-CN" altLang="en-US" dirty="0"/>
          </a:p>
        </p:txBody>
      </p:sp>
      <p:sp>
        <p:nvSpPr>
          <p:cNvPr id="19" name="TextBox 18">
            <a:extLst>
              <a:ext uri="{FF2B5EF4-FFF2-40B4-BE49-F238E27FC236}">
                <a16:creationId xmlns:a16="http://schemas.microsoft.com/office/drawing/2014/main" id="{95819AE5-68B3-46C1-AD5F-305819837116}"/>
              </a:ext>
            </a:extLst>
          </p:cNvPr>
          <p:cNvSpPr txBox="1"/>
          <p:nvPr/>
        </p:nvSpPr>
        <p:spPr>
          <a:xfrm>
            <a:off x="2743200" y="2236113"/>
            <a:ext cx="3657600" cy="430887"/>
          </a:xfrm>
          <a:prstGeom prst="rect">
            <a:avLst/>
          </a:prstGeom>
          <a:noFill/>
        </p:spPr>
        <p:txBody>
          <a:bodyPr wrap="square" rtlCol="0">
            <a:spAutoFit/>
          </a:bodyPr>
          <a:lstStyle/>
          <a:p>
            <a:pPr algn="ctr"/>
            <a:r>
              <a:rPr lang="zh-CN" altLang="en-US" sz="2200" dirty="0"/>
              <a:t>现在输入变成了</a:t>
            </a:r>
            <a:r>
              <a:rPr lang="en-US" altLang="zh-CN" sz="2200" dirty="0"/>
              <a:t>……</a:t>
            </a:r>
            <a:endParaRPr lang="zh-CN" altLang="en-US" sz="2200" dirty="0"/>
          </a:p>
        </p:txBody>
      </p:sp>
      <p:pic>
        <p:nvPicPr>
          <p:cNvPr id="5" name="Picture 4">
            <a:extLst>
              <a:ext uri="{FF2B5EF4-FFF2-40B4-BE49-F238E27FC236}">
                <a16:creationId xmlns:a16="http://schemas.microsoft.com/office/drawing/2014/main" id="{89660474-2E59-42A4-96E1-68B19E050F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6273" y="3048000"/>
            <a:ext cx="2453853" cy="2446232"/>
          </a:xfrm>
          <a:prstGeom prst="rect">
            <a:avLst/>
          </a:prstGeom>
        </p:spPr>
      </p:pic>
      <p:pic>
        <p:nvPicPr>
          <p:cNvPr id="8" name="Picture 7">
            <a:extLst>
              <a:ext uri="{FF2B5EF4-FFF2-40B4-BE49-F238E27FC236}">
                <a16:creationId xmlns:a16="http://schemas.microsoft.com/office/drawing/2014/main" id="{70DAF9CB-B0C6-45EA-8236-CA78B08383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4000" y="3063241"/>
            <a:ext cx="2438611" cy="2430991"/>
          </a:xfrm>
          <a:prstGeom prst="rect">
            <a:avLst/>
          </a:prstGeom>
        </p:spPr>
      </p:pic>
    </p:spTree>
    <p:custDataLst>
      <p:tags r:id="rId1"/>
    </p:custDataLst>
    <p:extLst>
      <p:ext uri="{BB962C8B-B14F-4D97-AF65-F5344CB8AC3E}">
        <p14:creationId xmlns:p14="http://schemas.microsoft.com/office/powerpoint/2010/main" val="302103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定义输出（</a:t>
            </a:r>
            <a:r>
              <a:rPr lang="en-US" altLang="zh-CN" dirty="0">
                <a:ea typeface="ＭＳ Ｐゴシック" panose="020B0600070205080204" pitchFamily="34" charset="-128"/>
              </a:rPr>
              <a:t>USPS</a:t>
            </a:r>
            <a:r>
              <a:rPr lang="zh-CN" altLang="en-US" dirty="0">
                <a:ea typeface="ＭＳ Ｐゴシック" panose="020B0600070205080204" pitchFamily="34" charset="-128"/>
              </a:rPr>
              <a:t>数据集）</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p:txBody>
          <a:bodyPr/>
          <a:lstStyle/>
          <a:p>
            <a:r>
              <a:rPr lang="zh-CN" altLang="en-US" dirty="0"/>
              <a:t>这很简单</a:t>
            </a:r>
            <a:endParaRPr lang="en-US" altLang="zh-CN" dirty="0"/>
          </a:p>
          <a:p>
            <a:pPr lvl="1"/>
            <a:r>
              <a:rPr lang="en-US" altLang="zh-CN" dirty="0"/>
              <a:t>{1,2,..,10}</a:t>
            </a:r>
            <a:r>
              <a:rPr lang="zh-CN" altLang="en-US" dirty="0"/>
              <a:t>中的某一个</a:t>
            </a:r>
            <a:endParaRPr lang="en-US" altLang="zh-CN" dirty="0"/>
          </a:p>
          <a:p>
            <a:pPr lvl="2"/>
            <a:r>
              <a:rPr lang="en-US" altLang="zh-CN" dirty="0"/>
              <a:t>1</a:t>
            </a:r>
            <a:r>
              <a:rPr lang="en-US" altLang="zh-CN" dirty="0">
                <a:latin typeface="Times New Roman" panose="02020603050405020304" pitchFamily="18" charset="0"/>
                <a:cs typeface="Times New Roman" panose="02020603050405020304" pitchFamily="18" charset="0"/>
              </a:rPr>
              <a:t>→</a:t>
            </a:r>
            <a:r>
              <a:rPr lang="en-US" altLang="zh-CN" dirty="0"/>
              <a:t> ‘0’, 2</a:t>
            </a:r>
            <a:r>
              <a:rPr lang="en-US" altLang="zh-CN" dirty="0">
                <a:latin typeface="Times New Roman" panose="02020603050405020304" pitchFamily="18" charset="0"/>
                <a:cs typeface="Times New Roman" panose="02020603050405020304" pitchFamily="18" charset="0"/>
              </a:rPr>
              <a:t>→</a:t>
            </a:r>
            <a:r>
              <a:rPr lang="en-US" altLang="zh-CN" dirty="0"/>
              <a:t> ‘1’, …, 10</a:t>
            </a:r>
            <a:r>
              <a:rPr lang="en-US" altLang="zh-CN" dirty="0">
                <a:latin typeface="Times New Roman" panose="02020603050405020304" pitchFamily="18" charset="0"/>
                <a:cs typeface="Times New Roman" panose="02020603050405020304" pitchFamily="18" charset="0"/>
              </a:rPr>
              <a:t>→</a:t>
            </a:r>
            <a:r>
              <a:rPr lang="en-US" altLang="zh-CN" dirty="0"/>
              <a:t> ‘9’</a:t>
            </a:r>
          </a:p>
          <a:p>
            <a:r>
              <a:rPr lang="zh-CN" altLang="en-US" dirty="0"/>
              <a:t>听上去有点错乱？</a:t>
            </a:r>
            <a:endParaRPr lang="en-US" altLang="zh-CN" dirty="0"/>
          </a:p>
          <a:p>
            <a:pPr lvl="1"/>
            <a:r>
              <a:rPr lang="zh-CN" altLang="en-US" dirty="0"/>
              <a:t>为什么不是</a:t>
            </a:r>
            <a:r>
              <a:rPr lang="en-US" altLang="zh-CN" dirty="0"/>
              <a:t>{0,…,9}</a:t>
            </a:r>
            <a:r>
              <a:rPr lang="zh-CN" altLang="en-US" dirty="0"/>
              <a:t>中的某一个？</a:t>
            </a:r>
            <a:endParaRPr lang="en-US" altLang="zh-CN" dirty="0"/>
          </a:p>
          <a:p>
            <a:pPr lvl="2"/>
            <a:r>
              <a:rPr lang="zh-CN" altLang="en-US" dirty="0"/>
              <a:t>对，你当然可以这样定义！</a:t>
            </a:r>
            <a:endParaRPr lang="en-US" altLang="zh-CN" dirty="0"/>
          </a:p>
          <a:p>
            <a:pPr lvl="1"/>
            <a:r>
              <a:rPr lang="zh-CN" altLang="en-US" dirty="0"/>
              <a:t>但这是这个数据集的选择</a:t>
            </a:r>
            <a:endParaRPr lang="en-US" altLang="zh-CN" dirty="0"/>
          </a:p>
        </p:txBody>
      </p:sp>
    </p:spTree>
    <p:custDataLst>
      <p:tags r:id="rId1"/>
    </p:custDataLst>
    <p:extLst>
      <p:ext uri="{BB962C8B-B14F-4D97-AF65-F5344CB8AC3E}">
        <p14:creationId xmlns:p14="http://schemas.microsoft.com/office/powerpoint/2010/main" val="76972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B6487-5BA8-4DAF-21EA-50BC73AFB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796DB-E465-1D42-529A-B3457A44F1B4}"/>
              </a:ext>
            </a:extLst>
          </p:cNvPr>
          <p:cNvSpPr>
            <a:spLocks noGrp="1"/>
          </p:cNvSpPr>
          <p:nvPr>
            <p:ph type="title"/>
          </p:nvPr>
        </p:nvSpPr>
        <p:spPr/>
        <p:txBody>
          <a:bodyPr/>
          <a:lstStyle/>
          <a:p>
            <a:r>
              <a:rPr lang="zh-CN" altLang="en-US" dirty="0">
                <a:ea typeface="ＭＳ Ｐゴシック" panose="020B0600070205080204" pitchFamily="34" charset="-128"/>
              </a:rPr>
              <a:t>分类任务的评价指标</a:t>
            </a:r>
            <a:endParaRPr lang="zh-CN" altLang="en-US" dirty="0"/>
          </a:p>
        </p:txBody>
      </p:sp>
      <p:sp>
        <p:nvSpPr>
          <p:cNvPr id="3" name="Content Placeholder 2">
            <a:extLst>
              <a:ext uri="{FF2B5EF4-FFF2-40B4-BE49-F238E27FC236}">
                <a16:creationId xmlns:a16="http://schemas.microsoft.com/office/drawing/2014/main" id="{E19FCC7E-C9A4-9F60-0D84-A91D126D0CC3}"/>
              </a:ext>
            </a:extLst>
          </p:cNvPr>
          <p:cNvSpPr>
            <a:spLocks noGrp="1"/>
          </p:cNvSpPr>
          <p:nvPr>
            <p:ph idx="1"/>
          </p:nvPr>
        </p:nvSpPr>
        <p:spPr>
          <a:xfrm>
            <a:off x="762000" y="1600200"/>
            <a:ext cx="7772400" cy="5257800"/>
          </a:xfrm>
        </p:spPr>
        <p:txBody>
          <a:bodyPr/>
          <a:lstStyle/>
          <a:p>
            <a:r>
              <a:rPr lang="zh-CN" altLang="en-US" dirty="0"/>
              <a:t>准确率</a:t>
            </a:r>
            <a:endParaRPr lang="en-US" altLang="zh-CN" dirty="0"/>
          </a:p>
          <a:p>
            <a:pPr lvl="1"/>
            <a:r>
              <a:rPr lang="zh-CN" altLang="en-US" dirty="0"/>
              <a:t>分对的数据占总体数据的比例</a:t>
            </a:r>
            <a:endParaRPr lang="en-US" altLang="zh-CN" dirty="0"/>
          </a:p>
          <a:p>
            <a:r>
              <a:rPr lang="zh-CN" altLang="en-US" dirty="0"/>
              <a:t>侧重关注的（或不均衡的）两类问题</a:t>
            </a:r>
            <a:endParaRPr lang="en-US" altLang="zh-CN" dirty="0"/>
          </a:p>
          <a:p>
            <a:pPr lvl="1"/>
            <a:r>
              <a:rPr lang="zh-CN" altLang="en-US" dirty="0"/>
              <a:t>例子：罕见病的诊断</a:t>
            </a:r>
            <a:endParaRPr lang="en-US" altLang="zh-CN" dirty="0"/>
          </a:p>
          <a:p>
            <a:pPr lvl="2"/>
            <a:r>
              <a:rPr lang="zh-CN" altLang="en-US" dirty="0"/>
              <a:t>永远诊断没有病 </a:t>
            </a:r>
            <a:r>
              <a:rPr lang="zh-CN" altLang="en-US" dirty="0">
                <a:latin typeface="Cambria Math" panose="02040503050406030204" pitchFamily="18" charset="0"/>
              </a:rPr>
              <a:t>⇒ 很高的准确率</a:t>
            </a:r>
            <a:endParaRPr lang="en-US" altLang="zh-CN" dirty="0"/>
          </a:p>
          <a:p>
            <a:pPr lvl="1"/>
            <a:r>
              <a:rPr lang="zh-CN" altLang="en-US" dirty="0"/>
              <a:t>精确率（</a:t>
            </a:r>
            <a:r>
              <a:rPr lang="en-US" altLang="zh-CN" dirty="0"/>
              <a:t>precision</a:t>
            </a:r>
            <a:r>
              <a:rPr lang="zh-CN" altLang="en-US" dirty="0"/>
              <a:t>）</a:t>
            </a:r>
            <a:endParaRPr lang="en-US" altLang="zh-CN" dirty="0"/>
          </a:p>
          <a:p>
            <a:pPr lvl="2"/>
            <a:r>
              <a:rPr lang="zh-CN" altLang="en-US" dirty="0"/>
              <a:t>诊断得病中有多少真正得病</a:t>
            </a:r>
            <a:endParaRPr lang="en-US" altLang="zh-CN" dirty="0"/>
          </a:p>
          <a:p>
            <a:pPr lvl="1"/>
            <a:r>
              <a:rPr lang="zh-CN" altLang="en-US" dirty="0"/>
              <a:t>召回率（</a:t>
            </a:r>
            <a:r>
              <a:rPr lang="en-US" altLang="zh-CN" dirty="0"/>
              <a:t>recall</a:t>
            </a:r>
            <a:r>
              <a:rPr lang="zh-CN" altLang="en-US" dirty="0"/>
              <a:t>）</a:t>
            </a:r>
            <a:endParaRPr lang="en-US" altLang="zh-CN" dirty="0"/>
          </a:p>
          <a:p>
            <a:pPr lvl="2"/>
            <a:r>
              <a:rPr lang="zh-CN" altLang="en-US" dirty="0"/>
              <a:t>真正得病的病人有多少被诊断为得病</a:t>
            </a:r>
            <a:endParaRPr lang="en-US" altLang="zh-CN" dirty="0"/>
          </a:p>
          <a:p>
            <a:pPr lvl="1"/>
            <a:r>
              <a:rPr lang="zh-CN" altLang="en-US" dirty="0"/>
              <a:t>兼顾两个指标</a:t>
            </a:r>
            <a:endParaRPr lang="en-US" altLang="zh-CN" dirty="0"/>
          </a:p>
        </p:txBody>
      </p:sp>
    </p:spTree>
    <p:custDataLst>
      <p:tags r:id="rId1"/>
    </p:custDataLst>
    <p:extLst>
      <p:ext uri="{BB962C8B-B14F-4D97-AF65-F5344CB8AC3E}">
        <p14:creationId xmlns:p14="http://schemas.microsoft.com/office/powerpoint/2010/main" val="138355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3A8AEE23-ADB0-4F13-BFA2-92A975027C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0890" y="4099022"/>
            <a:ext cx="3202219" cy="176866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最原始的学习：死记硬背的学习</a:t>
            </a:r>
            <a:br>
              <a:rPr lang="en-US" altLang="zh-CN" dirty="0">
                <a:ea typeface="ＭＳ Ｐゴシック" panose="020B0600070205080204" pitchFamily="34" charset="-128"/>
              </a:rPr>
            </a:br>
            <a:r>
              <a:rPr lang="zh-CN" altLang="en-US" dirty="0">
                <a:ea typeface="ＭＳ Ｐゴシック" panose="020B0600070205080204" pitchFamily="34" charset="-128"/>
              </a:rPr>
              <a:t>（</a:t>
            </a:r>
            <a:r>
              <a:rPr lang="en-US" altLang="zh-CN" dirty="0">
                <a:ea typeface="ＭＳ Ｐゴシック" panose="020B0600070205080204" pitchFamily="34" charset="-128"/>
              </a:rPr>
              <a:t>Rote Learning</a:t>
            </a:r>
            <a:r>
              <a:rPr lang="zh-CN" altLang="en-US" dirty="0">
                <a:ea typeface="ＭＳ Ｐゴシック" panose="020B0600070205080204" pitchFamily="34" charset="-128"/>
              </a:rPr>
              <a:t>）</a:t>
            </a:r>
            <a:endParaRPr lang="zh-CN" altLang="en-US" dirty="0"/>
          </a:p>
        </p:txBody>
      </p:sp>
      <p:grpSp>
        <p:nvGrpSpPr>
          <p:cNvPr id="3" name="Group 2">
            <a:extLst>
              <a:ext uri="{FF2B5EF4-FFF2-40B4-BE49-F238E27FC236}">
                <a16:creationId xmlns:a16="http://schemas.microsoft.com/office/drawing/2014/main" id="{F9439AD5-27E6-46EE-93C1-AA5E1BF90F6C}"/>
              </a:ext>
            </a:extLst>
          </p:cNvPr>
          <p:cNvGrpSpPr/>
          <p:nvPr/>
        </p:nvGrpSpPr>
        <p:grpSpPr>
          <a:xfrm>
            <a:off x="3810000" y="4114800"/>
            <a:ext cx="1619909" cy="1935690"/>
            <a:chOff x="3230876" y="2476843"/>
            <a:chExt cx="1619909" cy="1935690"/>
          </a:xfrm>
        </p:grpSpPr>
        <p:pic>
          <p:nvPicPr>
            <p:cNvPr id="13" name="Picture 12">
              <a:extLst>
                <a:ext uri="{FF2B5EF4-FFF2-40B4-BE49-F238E27FC236}">
                  <a16:creationId xmlns:a16="http://schemas.microsoft.com/office/drawing/2014/main" id="{11E185D2-E880-476C-8BD1-B1E5AA20B0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88031" y="2843577"/>
              <a:ext cx="297206" cy="320068"/>
            </a:xfrm>
            <a:prstGeom prst="rect">
              <a:avLst/>
            </a:prstGeom>
          </p:spPr>
        </p:pic>
        <p:pic>
          <p:nvPicPr>
            <p:cNvPr id="16" name="Picture 15">
              <a:extLst>
                <a:ext uri="{FF2B5EF4-FFF2-40B4-BE49-F238E27FC236}">
                  <a16:creationId xmlns:a16="http://schemas.microsoft.com/office/drawing/2014/main" id="{1FB7F0C5-B45B-44B9-9C81-FEF7FE35BC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30876" y="2476843"/>
              <a:ext cx="388654" cy="358171"/>
            </a:xfrm>
            <a:prstGeom prst="rect">
              <a:avLst/>
            </a:prstGeom>
          </p:spPr>
        </p:pic>
        <p:pic>
          <p:nvPicPr>
            <p:cNvPr id="17" name="Picture 16">
              <a:extLst>
                <a:ext uri="{FF2B5EF4-FFF2-40B4-BE49-F238E27FC236}">
                  <a16:creationId xmlns:a16="http://schemas.microsoft.com/office/drawing/2014/main" id="{2824B6FB-9027-4A58-99A1-45EA6C11726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91840" y="3150082"/>
              <a:ext cx="373412" cy="350550"/>
            </a:xfrm>
            <a:prstGeom prst="rect">
              <a:avLst/>
            </a:prstGeom>
          </p:spPr>
        </p:pic>
        <p:pic>
          <p:nvPicPr>
            <p:cNvPr id="18" name="Picture 17">
              <a:extLst>
                <a:ext uri="{FF2B5EF4-FFF2-40B4-BE49-F238E27FC236}">
                  <a16:creationId xmlns:a16="http://schemas.microsoft.com/office/drawing/2014/main" id="{DF833589-B07D-4D00-92F1-F5F9EABB4BF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70028" y="3512788"/>
              <a:ext cx="350550" cy="373412"/>
            </a:xfrm>
            <a:prstGeom prst="rect">
              <a:avLst/>
            </a:prstGeom>
          </p:spPr>
        </p:pic>
        <p:sp>
          <p:nvSpPr>
            <p:cNvPr id="19" name="Arrow: Right 18">
              <a:extLst>
                <a:ext uri="{FF2B5EF4-FFF2-40B4-BE49-F238E27FC236}">
                  <a16:creationId xmlns:a16="http://schemas.microsoft.com/office/drawing/2014/main" id="{F727A508-B480-4D9E-84B8-2DC4C7685768}"/>
                </a:ext>
              </a:extLst>
            </p:cNvPr>
            <p:cNvSpPr/>
            <p:nvPr/>
          </p:nvSpPr>
          <p:spPr bwMode="auto">
            <a:xfrm>
              <a:off x="3665252" y="2595041"/>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0" name="Arrow: Right 19">
              <a:extLst>
                <a:ext uri="{FF2B5EF4-FFF2-40B4-BE49-F238E27FC236}">
                  <a16:creationId xmlns:a16="http://schemas.microsoft.com/office/drawing/2014/main" id="{FD8E5784-A23A-4791-AEF7-6AF031D0A6FF}"/>
                </a:ext>
              </a:extLst>
            </p:cNvPr>
            <p:cNvSpPr/>
            <p:nvPr/>
          </p:nvSpPr>
          <p:spPr bwMode="auto">
            <a:xfrm>
              <a:off x="3665252" y="2944510"/>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1" name="Arrow: Right 20">
              <a:extLst>
                <a:ext uri="{FF2B5EF4-FFF2-40B4-BE49-F238E27FC236}">
                  <a16:creationId xmlns:a16="http://schemas.microsoft.com/office/drawing/2014/main" id="{410D0A92-560E-445F-9155-CD2BAF86168E}"/>
                </a:ext>
              </a:extLst>
            </p:cNvPr>
            <p:cNvSpPr/>
            <p:nvPr/>
          </p:nvSpPr>
          <p:spPr bwMode="auto">
            <a:xfrm>
              <a:off x="3669061" y="3297475"/>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Arrow: Right 21">
              <a:extLst>
                <a:ext uri="{FF2B5EF4-FFF2-40B4-BE49-F238E27FC236}">
                  <a16:creationId xmlns:a16="http://schemas.microsoft.com/office/drawing/2014/main" id="{9FAFF958-4956-4F0E-8DD7-F10F7618460A}"/>
                </a:ext>
              </a:extLst>
            </p:cNvPr>
            <p:cNvSpPr/>
            <p:nvPr/>
          </p:nvSpPr>
          <p:spPr bwMode="auto">
            <a:xfrm>
              <a:off x="3669061" y="3630914"/>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3" name="TextBox 22">
              <a:extLst>
                <a:ext uri="{FF2B5EF4-FFF2-40B4-BE49-F238E27FC236}">
                  <a16:creationId xmlns:a16="http://schemas.microsoft.com/office/drawing/2014/main" id="{88953E2C-32F6-4621-9FA9-63CDF3573719}"/>
                </a:ext>
              </a:extLst>
            </p:cNvPr>
            <p:cNvSpPr txBox="1"/>
            <p:nvPr/>
          </p:nvSpPr>
          <p:spPr>
            <a:xfrm>
              <a:off x="4351052" y="2501754"/>
              <a:ext cx="413673" cy="430887"/>
            </a:xfrm>
            <a:prstGeom prst="rect">
              <a:avLst/>
            </a:prstGeom>
            <a:noFill/>
          </p:spPr>
          <p:txBody>
            <a:bodyPr wrap="square" rtlCol="0">
              <a:spAutoFit/>
            </a:bodyPr>
            <a:lstStyle/>
            <a:p>
              <a:pPr algn="ctr"/>
              <a:r>
                <a:rPr lang="en-US" altLang="zh-CN" sz="2200" dirty="0">
                  <a:solidFill>
                    <a:srgbClr val="FFFF00"/>
                  </a:solidFill>
                </a:rPr>
                <a:t>2</a:t>
              </a:r>
              <a:endParaRPr lang="zh-CN" altLang="en-US" sz="2200" dirty="0">
                <a:solidFill>
                  <a:srgbClr val="FFFF00"/>
                </a:solidFill>
              </a:endParaRPr>
            </a:p>
          </p:txBody>
        </p:sp>
        <p:sp>
          <p:nvSpPr>
            <p:cNvPr id="24" name="TextBox 23">
              <a:extLst>
                <a:ext uri="{FF2B5EF4-FFF2-40B4-BE49-F238E27FC236}">
                  <a16:creationId xmlns:a16="http://schemas.microsoft.com/office/drawing/2014/main" id="{39194690-1905-4DA8-AE5F-C3FEE17F172B}"/>
                </a:ext>
              </a:extLst>
            </p:cNvPr>
            <p:cNvSpPr txBox="1"/>
            <p:nvPr/>
          </p:nvSpPr>
          <p:spPr>
            <a:xfrm>
              <a:off x="4340222" y="2820548"/>
              <a:ext cx="413673" cy="430887"/>
            </a:xfrm>
            <a:prstGeom prst="rect">
              <a:avLst/>
            </a:prstGeom>
            <a:noFill/>
          </p:spPr>
          <p:txBody>
            <a:bodyPr wrap="square" rtlCol="0">
              <a:spAutoFit/>
            </a:bodyPr>
            <a:lstStyle/>
            <a:p>
              <a:pPr algn="ctr"/>
              <a:r>
                <a:rPr lang="en-US" altLang="zh-CN" sz="2200" dirty="0">
                  <a:solidFill>
                    <a:srgbClr val="FFFF00"/>
                  </a:solidFill>
                </a:rPr>
                <a:t>1</a:t>
              </a:r>
              <a:endParaRPr lang="zh-CN" altLang="en-US" sz="2200" dirty="0">
                <a:solidFill>
                  <a:srgbClr val="FFFF00"/>
                </a:solidFill>
              </a:endParaRPr>
            </a:p>
          </p:txBody>
        </p:sp>
        <p:sp>
          <p:nvSpPr>
            <p:cNvPr id="25" name="TextBox 24">
              <a:extLst>
                <a:ext uri="{FF2B5EF4-FFF2-40B4-BE49-F238E27FC236}">
                  <a16:creationId xmlns:a16="http://schemas.microsoft.com/office/drawing/2014/main" id="{BC5087CD-CA81-4D1F-B3DD-BF174F96DD95}"/>
                </a:ext>
              </a:extLst>
            </p:cNvPr>
            <p:cNvSpPr txBox="1"/>
            <p:nvPr/>
          </p:nvSpPr>
          <p:spPr>
            <a:xfrm>
              <a:off x="4340221" y="3206374"/>
              <a:ext cx="413673" cy="430887"/>
            </a:xfrm>
            <a:prstGeom prst="rect">
              <a:avLst/>
            </a:prstGeom>
            <a:noFill/>
          </p:spPr>
          <p:txBody>
            <a:bodyPr wrap="square" rtlCol="0">
              <a:spAutoFit/>
            </a:bodyPr>
            <a:lstStyle/>
            <a:p>
              <a:pPr algn="ctr"/>
              <a:r>
                <a:rPr lang="en-US" altLang="zh-CN" sz="2200" dirty="0">
                  <a:solidFill>
                    <a:srgbClr val="FFFF00"/>
                  </a:solidFill>
                </a:rPr>
                <a:t>4</a:t>
              </a:r>
              <a:endParaRPr lang="zh-CN" altLang="en-US" sz="2200" dirty="0">
                <a:solidFill>
                  <a:srgbClr val="FFFF00"/>
                </a:solidFill>
              </a:endParaRPr>
            </a:p>
          </p:txBody>
        </p:sp>
        <p:sp>
          <p:nvSpPr>
            <p:cNvPr id="26" name="TextBox 25">
              <a:extLst>
                <a:ext uri="{FF2B5EF4-FFF2-40B4-BE49-F238E27FC236}">
                  <a16:creationId xmlns:a16="http://schemas.microsoft.com/office/drawing/2014/main" id="{8F9FCD76-0A7F-4E2E-B666-CF82C00C05D4}"/>
                </a:ext>
              </a:extLst>
            </p:cNvPr>
            <p:cNvSpPr txBox="1"/>
            <p:nvPr/>
          </p:nvSpPr>
          <p:spPr>
            <a:xfrm>
              <a:off x="4344562" y="3531513"/>
              <a:ext cx="413673" cy="430887"/>
            </a:xfrm>
            <a:prstGeom prst="rect">
              <a:avLst/>
            </a:prstGeom>
            <a:noFill/>
          </p:spPr>
          <p:txBody>
            <a:bodyPr wrap="square" rtlCol="0">
              <a:spAutoFit/>
            </a:bodyPr>
            <a:lstStyle/>
            <a:p>
              <a:pPr algn="ctr"/>
              <a:r>
                <a:rPr lang="en-US" altLang="zh-CN" sz="2200" dirty="0">
                  <a:solidFill>
                    <a:srgbClr val="FFFF00"/>
                  </a:solidFill>
                </a:rPr>
                <a:t>6</a:t>
              </a:r>
              <a:endParaRPr lang="zh-CN" altLang="en-US" sz="2200" dirty="0">
                <a:solidFill>
                  <a:srgbClr val="FFFF00"/>
                </a:solidFill>
              </a:endParaRPr>
            </a:p>
          </p:txBody>
        </p:sp>
        <p:sp>
          <p:nvSpPr>
            <p:cNvPr id="27" name="TextBox 26">
              <a:extLst>
                <a:ext uri="{FF2B5EF4-FFF2-40B4-BE49-F238E27FC236}">
                  <a16:creationId xmlns:a16="http://schemas.microsoft.com/office/drawing/2014/main" id="{DE59CD0D-723E-4C28-A637-54D7F7D3C0DA}"/>
                </a:ext>
              </a:extLst>
            </p:cNvPr>
            <p:cNvSpPr txBox="1"/>
            <p:nvPr/>
          </p:nvSpPr>
          <p:spPr>
            <a:xfrm>
              <a:off x="3288031" y="3945719"/>
              <a:ext cx="461665" cy="465373"/>
            </a:xfrm>
            <a:prstGeom prst="rect">
              <a:avLst/>
            </a:prstGeom>
            <a:noFill/>
          </p:spPr>
          <p:txBody>
            <a:bodyPr vert="eaVert" wrap="square" rtlCol="0">
              <a:spAutoFit/>
            </a:bodyPr>
            <a:lstStyle/>
            <a:p>
              <a:r>
                <a:rPr lang="en-US" altLang="zh-CN" dirty="0">
                  <a:solidFill>
                    <a:srgbClr val="FFFF00"/>
                  </a:solidFill>
                </a:rPr>
                <a:t>…</a:t>
              </a:r>
              <a:endParaRPr lang="zh-CN" altLang="en-US" dirty="0">
                <a:solidFill>
                  <a:srgbClr val="FFFF00"/>
                </a:solidFill>
              </a:endParaRPr>
            </a:p>
          </p:txBody>
        </p:sp>
        <p:sp>
          <p:nvSpPr>
            <p:cNvPr id="28" name="TextBox 27">
              <a:extLst>
                <a:ext uri="{FF2B5EF4-FFF2-40B4-BE49-F238E27FC236}">
                  <a16:creationId xmlns:a16="http://schemas.microsoft.com/office/drawing/2014/main" id="{14C31957-5EA6-414F-ABEB-AE59380CA8EC}"/>
                </a:ext>
              </a:extLst>
            </p:cNvPr>
            <p:cNvSpPr txBox="1"/>
            <p:nvPr/>
          </p:nvSpPr>
          <p:spPr>
            <a:xfrm>
              <a:off x="4389120" y="3947160"/>
              <a:ext cx="461665" cy="465373"/>
            </a:xfrm>
            <a:prstGeom prst="rect">
              <a:avLst/>
            </a:prstGeom>
            <a:noFill/>
          </p:spPr>
          <p:txBody>
            <a:bodyPr vert="eaVert" wrap="square" rtlCol="0">
              <a:spAutoFit/>
            </a:bodyPr>
            <a:lstStyle/>
            <a:p>
              <a:r>
                <a:rPr lang="en-US" altLang="zh-CN" dirty="0">
                  <a:solidFill>
                    <a:srgbClr val="FFFF00"/>
                  </a:solidFill>
                </a:rPr>
                <a:t>…</a:t>
              </a:r>
              <a:endParaRPr lang="zh-CN" altLang="en-US" dirty="0">
                <a:solidFill>
                  <a:srgbClr val="FFFF00"/>
                </a:solidFill>
              </a:endParaRPr>
            </a:p>
          </p:txBody>
        </p:sp>
        <p:sp>
          <p:nvSpPr>
            <p:cNvPr id="29" name="TextBox 28">
              <a:extLst>
                <a:ext uri="{FF2B5EF4-FFF2-40B4-BE49-F238E27FC236}">
                  <a16:creationId xmlns:a16="http://schemas.microsoft.com/office/drawing/2014/main" id="{4AC449B2-F407-49FF-B050-396B3419D6E4}"/>
                </a:ext>
              </a:extLst>
            </p:cNvPr>
            <p:cNvSpPr txBox="1"/>
            <p:nvPr/>
          </p:nvSpPr>
          <p:spPr>
            <a:xfrm>
              <a:off x="3855720" y="3947160"/>
              <a:ext cx="461665" cy="465373"/>
            </a:xfrm>
            <a:prstGeom prst="rect">
              <a:avLst/>
            </a:prstGeom>
            <a:noFill/>
          </p:spPr>
          <p:txBody>
            <a:bodyPr vert="eaVert" wrap="square" rtlCol="0">
              <a:spAutoFit/>
            </a:bodyPr>
            <a:lstStyle/>
            <a:p>
              <a:r>
                <a:rPr lang="en-US" altLang="zh-CN" dirty="0">
                  <a:solidFill>
                    <a:srgbClr val="FFFF00"/>
                  </a:solidFill>
                </a:rPr>
                <a:t>…</a:t>
              </a:r>
              <a:endParaRPr lang="zh-CN" altLang="en-US" dirty="0">
                <a:solidFill>
                  <a:srgbClr val="FFFF00"/>
                </a:solidFill>
              </a:endParaRPr>
            </a:p>
          </p:txBody>
        </p:sp>
      </p:grpSp>
      <p:pic>
        <p:nvPicPr>
          <p:cNvPr id="6" name="Picture 5">
            <a:extLst>
              <a:ext uri="{FF2B5EF4-FFF2-40B4-BE49-F238E27FC236}">
                <a16:creationId xmlns:a16="http://schemas.microsoft.com/office/drawing/2014/main" id="{89727DF3-0FAD-445D-A35C-1B233C3C30A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619658" y="1512760"/>
            <a:ext cx="1687901" cy="1572997"/>
          </a:xfrm>
          <a:prstGeom prst="rect">
            <a:avLst/>
          </a:prstGeom>
        </p:spPr>
      </p:pic>
      <p:sp>
        <p:nvSpPr>
          <p:cNvPr id="30" name="Arrow: Right 29">
            <a:extLst>
              <a:ext uri="{FF2B5EF4-FFF2-40B4-BE49-F238E27FC236}">
                <a16:creationId xmlns:a16="http://schemas.microsoft.com/office/drawing/2014/main" id="{852AF5DD-E96F-4103-91C6-19D5DCE15CB2}"/>
              </a:ext>
            </a:extLst>
          </p:cNvPr>
          <p:cNvSpPr/>
          <p:nvPr/>
        </p:nvSpPr>
        <p:spPr bwMode="auto">
          <a:xfrm>
            <a:off x="2342739" y="2185195"/>
            <a:ext cx="990599" cy="57676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8" name="Arrow: Down 7">
            <a:extLst>
              <a:ext uri="{FF2B5EF4-FFF2-40B4-BE49-F238E27FC236}">
                <a16:creationId xmlns:a16="http://schemas.microsoft.com/office/drawing/2014/main" id="{DDD9AE16-C449-4D07-975C-CC959B77E174}"/>
              </a:ext>
            </a:extLst>
          </p:cNvPr>
          <p:cNvSpPr/>
          <p:nvPr/>
        </p:nvSpPr>
        <p:spPr bwMode="auto">
          <a:xfrm>
            <a:off x="4267200" y="3238158"/>
            <a:ext cx="609600" cy="804518"/>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nvGrpSpPr>
          <p:cNvPr id="33" name="Group 32">
            <a:extLst>
              <a:ext uri="{FF2B5EF4-FFF2-40B4-BE49-F238E27FC236}">
                <a16:creationId xmlns:a16="http://schemas.microsoft.com/office/drawing/2014/main" id="{38B1A5FB-84BB-4345-AB4F-8EC4E9B1C5FF}"/>
              </a:ext>
            </a:extLst>
          </p:cNvPr>
          <p:cNvGrpSpPr/>
          <p:nvPr/>
        </p:nvGrpSpPr>
        <p:grpSpPr>
          <a:xfrm>
            <a:off x="685800" y="1905000"/>
            <a:ext cx="1619909" cy="1935690"/>
            <a:chOff x="3230876" y="2476843"/>
            <a:chExt cx="1619909" cy="1935690"/>
          </a:xfrm>
        </p:grpSpPr>
        <p:pic>
          <p:nvPicPr>
            <p:cNvPr id="34" name="Picture 33">
              <a:extLst>
                <a:ext uri="{FF2B5EF4-FFF2-40B4-BE49-F238E27FC236}">
                  <a16:creationId xmlns:a16="http://schemas.microsoft.com/office/drawing/2014/main" id="{E038A503-3A6D-482F-B955-94A45D9926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88031" y="2843577"/>
              <a:ext cx="297206" cy="320068"/>
            </a:xfrm>
            <a:prstGeom prst="rect">
              <a:avLst/>
            </a:prstGeom>
          </p:spPr>
        </p:pic>
        <p:pic>
          <p:nvPicPr>
            <p:cNvPr id="35" name="Picture 34">
              <a:extLst>
                <a:ext uri="{FF2B5EF4-FFF2-40B4-BE49-F238E27FC236}">
                  <a16:creationId xmlns:a16="http://schemas.microsoft.com/office/drawing/2014/main" id="{F0CDEE72-43E8-4CB6-87DB-FEE20764E2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30876" y="2476843"/>
              <a:ext cx="388654" cy="358171"/>
            </a:xfrm>
            <a:prstGeom prst="rect">
              <a:avLst/>
            </a:prstGeom>
          </p:spPr>
        </p:pic>
        <p:pic>
          <p:nvPicPr>
            <p:cNvPr id="36" name="Picture 35">
              <a:extLst>
                <a:ext uri="{FF2B5EF4-FFF2-40B4-BE49-F238E27FC236}">
                  <a16:creationId xmlns:a16="http://schemas.microsoft.com/office/drawing/2014/main" id="{629C9E94-C01F-4BD1-AD73-0D8F91DA7D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91840" y="3150082"/>
              <a:ext cx="373412" cy="350550"/>
            </a:xfrm>
            <a:prstGeom prst="rect">
              <a:avLst/>
            </a:prstGeom>
          </p:spPr>
        </p:pic>
        <p:pic>
          <p:nvPicPr>
            <p:cNvPr id="37" name="Picture 36">
              <a:extLst>
                <a:ext uri="{FF2B5EF4-FFF2-40B4-BE49-F238E27FC236}">
                  <a16:creationId xmlns:a16="http://schemas.microsoft.com/office/drawing/2014/main" id="{599CAA81-778A-4BC7-B7F6-2996F159F7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70028" y="3512788"/>
              <a:ext cx="350550" cy="373412"/>
            </a:xfrm>
            <a:prstGeom prst="rect">
              <a:avLst/>
            </a:prstGeom>
          </p:spPr>
        </p:pic>
        <p:sp>
          <p:nvSpPr>
            <p:cNvPr id="38" name="Arrow: Right 37">
              <a:extLst>
                <a:ext uri="{FF2B5EF4-FFF2-40B4-BE49-F238E27FC236}">
                  <a16:creationId xmlns:a16="http://schemas.microsoft.com/office/drawing/2014/main" id="{C273EF71-1261-4628-A461-8BD2D6C58E87}"/>
                </a:ext>
              </a:extLst>
            </p:cNvPr>
            <p:cNvSpPr/>
            <p:nvPr/>
          </p:nvSpPr>
          <p:spPr bwMode="auto">
            <a:xfrm>
              <a:off x="3665252" y="2595041"/>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39" name="Arrow: Right 38">
              <a:extLst>
                <a:ext uri="{FF2B5EF4-FFF2-40B4-BE49-F238E27FC236}">
                  <a16:creationId xmlns:a16="http://schemas.microsoft.com/office/drawing/2014/main" id="{6C06E24F-9359-4316-A723-86CD51BA072B}"/>
                </a:ext>
              </a:extLst>
            </p:cNvPr>
            <p:cNvSpPr/>
            <p:nvPr/>
          </p:nvSpPr>
          <p:spPr bwMode="auto">
            <a:xfrm>
              <a:off x="3665252" y="2944510"/>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40" name="Arrow: Right 39">
              <a:extLst>
                <a:ext uri="{FF2B5EF4-FFF2-40B4-BE49-F238E27FC236}">
                  <a16:creationId xmlns:a16="http://schemas.microsoft.com/office/drawing/2014/main" id="{E895CC83-59DC-4CE3-BC63-D55242BA3DB7}"/>
                </a:ext>
              </a:extLst>
            </p:cNvPr>
            <p:cNvSpPr/>
            <p:nvPr/>
          </p:nvSpPr>
          <p:spPr bwMode="auto">
            <a:xfrm>
              <a:off x="3669061" y="3297475"/>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41" name="Arrow: Right 40">
              <a:extLst>
                <a:ext uri="{FF2B5EF4-FFF2-40B4-BE49-F238E27FC236}">
                  <a16:creationId xmlns:a16="http://schemas.microsoft.com/office/drawing/2014/main" id="{17173245-EBCC-4790-B0B0-A2049639B7F4}"/>
                </a:ext>
              </a:extLst>
            </p:cNvPr>
            <p:cNvSpPr/>
            <p:nvPr/>
          </p:nvSpPr>
          <p:spPr bwMode="auto">
            <a:xfrm>
              <a:off x="3669061" y="3630914"/>
              <a:ext cx="685800" cy="1790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42" name="TextBox 41">
              <a:extLst>
                <a:ext uri="{FF2B5EF4-FFF2-40B4-BE49-F238E27FC236}">
                  <a16:creationId xmlns:a16="http://schemas.microsoft.com/office/drawing/2014/main" id="{1E5DC7AB-1735-4FE0-BD1A-AD1B5C8A502D}"/>
                </a:ext>
              </a:extLst>
            </p:cNvPr>
            <p:cNvSpPr txBox="1"/>
            <p:nvPr/>
          </p:nvSpPr>
          <p:spPr>
            <a:xfrm>
              <a:off x="4351052" y="2501754"/>
              <a:ext cx="413673" cy="430887"/>
            </a:xfrm>
            <a:prstGeom prst="rect">
              <a:avLst/>
            </a:prstGeom>
            <a:noFill/>
          </p:spPr>
          <p:txBody>
            <a:bodyPr wrap="square" rtlCol="0">
              <a:spAutoFit/>
            </a:bodyPr>
            <a:lstStyle/>
            <a:p>
              <a:pPr algn="ctr"/>
              <a:r>
                <a:rPr lang="en-US" altLang="zh-CN" sz="2200" dirty="0"/>
                <a:t>2</a:t>
              </a:r>
              <a:endParaRPr lang="zh-CN" altLang="en-US" sz="2200" dirty="0"/>
            </a:p>
          </p:txBody>
        </p:sp>
        <p:sp>
          <p:nvSpPr>
            <p:cNvPr id="43" name="TextBox 42">
              <a:extLst>
                <a:ext uri="{FF2B5EF4-FFF2-40B4-BE49-F238E27FC236}">
                  <a16:creationId xmlns:a16="http://schemas.microsoft.com/office/drawing/2014/main" id="{01AA935D-A935-4125-8E1C-7566685EA2A8}"/>
                </a:ext>
              </a:extLst>
            </p:cNvPr>
            <p:cNvSpPr txBox="1"/>
            <p:nvPr/>
          </p:nvSpPr>
          <p:spPr>
            <a:xfrm>
              <a:off x="4340222" y="2820548"/>
              <a:ext cx="413673" cy="430887"/>
            </a:xfrm>
            <a:prstGeom prst="rect">
              <a:avLst/>
            </a:prstGeom>
            <a:noFill/>
          </p:spPr>
          <p:txBody>
            <a:bodyPr wrap="square" rtlCol="0">
              <a:spAutoFit/>
            </a:bodyPr>
            <a:lstStyle/>
            <a:p>
              <a:pPr algn="ctr"/>
              <a:r>
                <a:rPr lang="en-US" altLang="zh-CN" sz="2200" dirty="0"/>
                <a:t>1</a:t>
              </a:r>
              <a:endParaRPr lang="zh-CN" altLang="en-US" sz="2200" dirty="0"/>
            </a:p>
          </p:txBody>
        </p:sp>
        <p:sp>
          <p:nvSpPr>
            <p:cNvPr id="44" name="TextBox 43">
              <a:extLst>
                <a:ext uri="{FF2B5EF4-FFF2-40B4-BE49-F238E27FC236}">
                  <a16:creationId xmlns:a16="http://schemas.microsoft.com/office/drawing/2014/main" id="{8588F644-BA7E-4523-8EC3-3DEA824D0043}"/>
                </a:ext>
              </a:extLst>
            </p:cNvPr>
            <p:cNvSpPr txBox="1"/>
            <p:nvPr/>
          </p:nvSpPr>
          <p:spPr>
            <a:xfrm>
              <a:off x="4340221" y="3206374"/>
              <a:ext cx="413673" cy="430887"/>
            </a:xfrm>
            <a:prstGeom prst="rect">
              <a:avLst/>
            </a:prstGeom>
            <a:noFill/>
          </p:spPr>
          <p:txBody>
            <a:bodyPr wrap="square" rtlCol="0">
              <a:spAutoFit/>
            </a:bodyPr>
            <a:lstStyle/>
            <a:p>
              <a:pPr algn="ctr"/>
              <a:r>
                <a:rPr lang="en-US" altLang="zh-CN" sz="2200" dirty="0"/>
                <a:t>4</a:t>
              </a:r>
              <a:endParaRPr lang="zh-CN" altLang="en-US" sz="2200" dirty="0"/>
            </a:p>
          </p:txBody>
        </p:sp>
        <p:sp>
          <p:nvSpPr>
            <p:cNvPr id="45" name="TextBox 44">
              <a:extLst>
                <a:ext uri="{FF2B5EF4-FFF2-40B4-BE49-F238E27FC236}">
                  <a16:creationId xmlns:a16="http://schemas.microsoft.com/office/drawing/2014/main" id="{327EE806-8A05-4FEB-8A86-3B1E209C0594}"/>
                </a:ext>
              </a:extLst>
            </p:cNvPr>
            <p:cNvSpPr txBox="1"/>
            <p:nvPr/>
          </p:nvSpPr>
          <p:spPr>
            <a:xfrm>
              <a:off x="4344562" y="3531513"/>
              <a:ext cx="413673" cy="430887"/>
            </a:xfrm>
            <a:prstGeom prst="rect">
              <a:avLst/>
            </a:prstGeom>
            <a:noFill/>
          </p:spPr>
          <p:txBody>
            <a:bodyPr wrap="square" rtlCol="0">
              <a:spAutoFit/>
            </a:bodyPr>
            <a:lstStyle/>
            <a:p>
              <a:pPr algn="ctr"/>
              <a:r>
                <a:rPr lang="en-US" altLang="zh-CN" sz="2200" dirty="0"/>
                <a:t>6</a:t>
              </a:r>
              <a:endParaRPr lang="zh-CN" altLang="en-US" sz="2200" dirty="0"/>
            </a:p>
          </p:txBody>
        </p:sp>
        <p:sp>
          <p:nvSpPr>
            <p:cNvPr id="46" name="TextBox 45">
              <a:extLst>
                <a:ext uri="{FF2B5EF4-FFF2-40B4-BE49-F238E27FC236}">
                  <a16:creationId xmlns:a16="http://schemas.microsoft.com/office/drawing/2014/main" id="{0B89B85F-4AA5-4AE6-A231-59EEB9ECBCD5}"/>
                </a:ext>
              </a:extLst>
            </p:cNvPr>
            <p:cNvSpPr txBox="1"/>
            <p:nvPr/>
          </p:nvSpPr>
          <p:spPr>
            <a:xfrm>
              <a:off x="3288031" y="3945719"/>
              <a:ext cx="461665" cy="465373"/>
            </a:xfrm>
            <a:prstGeom prst="rect">
              <a:avLst/>
            </a:prstGeom>
            <a:noFill/>
          </p:spPr>
          <p:txBody>
            <a:bodyPr vert="eaVert" wrap="square" rtlCol="0">
              <a:spAutoFit/>
            </a:bodyPr>
            <a:lstStyle/>
            <a:p>
              <a:r>
                <a:rPr lang="en-US" altLang="zh-CN" dirty="0"/>
                <a:t>…</a:t>
              </a:r>
              <a:endParaRPr lang="zh-CN" altLang="en-US" dirty="0"/>
            </a:p>
          </p:txBody>
        </p:sp>
        <p:sp>
          <p:nvSpPr>
            <p:cNvPr id="47" name="TextBox 46">
              <a:extLst>
                <a:ext uri="{FF2B5EF4-FFF2-40B4-BE49-F238E27FC236}">
                  <a16:creationId xmlns:a16="http://schemas.microsoft.com/office/drawing/2014/main" id="{CDB33E96-9881-49BF-B97D-02BD3CD4DFE2}"/>
                </a:ext>
              </a:extLst>
            </p:cNvPr>
            <p:cNvSpPr txBox="1"/>
            <p:nvPr/>
          </p:nvSpPr>
          <p:spPr>
            <a:xfrm>
              <a:off x="4389120" y="3947160"/>
              <a:ext cx="461665" cy="465373"/>
            </a:xfrm>
            <a:prstGeom prst="rect">
              <a:avLst/>
            </a:prstGeom>
            <a:noFill/>
          </p:spPr>
          <p:txBody>
            <a:bodyPr vert="eaVert" wrap="square" rtlCol="0">
              <a:spAutoFit/>
            </a:bodyPr>
            <a:lstStyle/>
            <a:p>
              <a:r>
                <a:rPr lang="en-US" altLang="zh-CN" dirty="0"/>
                <a:t>…</a:t>
              </a:r>
              <a:endParaRPr lang="zh-CN" altLang="en-US" dirty="0"/>
            </a:p>
          </p:txBody>
        </p:sp>
        <p:sp>
          <p:nvSpPr>
            <p:cNvPr id="48" name="TextBox 47">
              <a:extLst>
                <a:ext uri="{FF2B5EF4-FFF2-40B4-BE49-F238E27FC236}">
                  <a16:creationId xmlns:a16="http://schemas.microsoft.com/office/drawing/2014/main" id="{2C082A66-74D9-47A1-A401-D1C22820C9BA}"/>
                </a:ext>
              </a:extLst>
            </p:cNvPr>
            <p:cNvSpPr txBox="1"/>
            <p:nvPr/>
          </p:nvSpPr>
          <p:spPr>
            <a:xfrm>
              <a:off x="3855720" y="3947160"/>
              <a:ext cx="461665" cy="465373"/>
            </a:xfrm>
            <a:prstGeom prst="rect">
              <a:avLst/>
            </a:prstGeom>
            <a:noFill/>
          </p:spPr>
          <p:txBody>
            <a:bodyPr vert="eaVert" wrap="square" rtlCol="0">
              <a:spAutoFit/>
            </a:bodyPr>
            <a:lstStyle/>
            <a:p>
              <a:r>
                <a:rPr lang="en-US" altLang="zh-CN" dirty="0"/>
                <a:t>…</a:t>
              </a:r>
              <a:endParaRPr lang="zh-CN" altLang="en-US" dirty="0"/>
            </a:p>
          </p:txBody>
        </p:sp>
      </p:grpSp>
      <p:pic>
        <p:nvPicPr>
          <p:cNvPr id="49" name="Picture 48">
            <a:extLst>
              <a:ext uri="{FF2B5EF4-FFF2-40B4-BE49-F238E27FC236}">
                <a16:creationId xmlns:a16="http://schemas.microsoft.com/office/drawing/2014/main" id="{EF4CAA20-4DB7-42BA-B65E-3CAEC5B7C4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63946" y="4747229"/>
            <a:ext cx="388654" cy="358171"/>
          </a:xfrm>
          <a:prstGeom prst="rect">
            <a:avLst/>
          </a:prstGeom>
        </p:spPr>
      </p:pic>
      <p:sp>
        <p:nvSpPr>
          <p:cNvPr id="50" name="Arrow: Right 49">
            <a:extLst>
              <a:ext uri="{FF2B5EF4-FFF2-40B4-BE49-F238E27FC236}">
                <a16:creationId xmlns:a16="http://schemas.microsoft.com/office/drawing/2014/main" id="{3DC83784-52B6-4BED-995A-A64D783B5CD9}"/>
              </a:ext>
            </a:extLst>
          </p:cNvPr>
          <p:cNvSpPr/>
          <p:nvPr/>
        </p:nvSpPr>
        <p:spPr bwMode="auto">
          <a:xfrm>
            <a:off x="1882155" y="4648200"/>
            <a:ext cx="990599" cy="57676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1" name="Arrow: Right 50">
            <a:extLst>
              <a:ext uri="{FF2B5EF4-FFF2-40B4-BE49-F238E27FC236}">
                <a16:creationId xmlns:a16="http://schemas.microsoft.com/office/drawing/2014/main" id="{F8F0C832-7057-4ADD-9B38-059A1B2C475B}"/>
              </a:ext>
            </a:extLst>
          </p:cNvPr>
          <p:cNvSpPr/>
          <p:nvPr/>
        </p:nvSpPr>
        <p:spPr bwMode="auto">
          <a:xfrm>
            <a:off x="6172200" y="4681040"/>
            <a:ext cx="990599" cy="57676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2" name="TextBox 51">
            <a:extLst>
              <a:ext uri="{FF2B5EF4-FFF2-40B4-BE49-F238E27FC236}">
                <a16:creationId xmlns:a16="http://schemas.microsoft.com/office/drawing/2014/main" id="{76D965D0-B216-4C1B-898C-42D5F3FA63D1}"/>
              </a:ext>
            </a:extLst>
          </p:cNvPr>
          <p:cNvSpPr txBox="1"/>
          <p:nvPr/>
        </p:nvSpPr>
        <p:spPr>
          <a:xfrm>
            <a:off x="7162799" y="4767911"/>
            <a:ext cx="413673" cy="430887"/>
          </a:xfrm>
          <a:prstGeom prst="rect">
            <a:avLst/>
          </a:prstGeom>
          <a:noFill/>
        </p:spPr>
        <p:txBody>
          <a:bodyPr wrap="square" rtlCol="0">
            <a:spAutoFit/>
          </a:bodyPr>
          <a:lstStyle/>
          <a:p>
            <a:pPr algn="ctr"/>
            <a:r>
              <a:rPr lang="en-US" altLang="zh-CN" sz="2200" dirty="0"/>
              <a:t>2</a:t>
            </a:r>
            <a:endParaRPr lang="zh-CN" altLang="en-US" sz="2200" dirty="0"/>
          </a:p>
        </p:txBody>
      </p:sp>
    </p:spTree>
    <p:custDataLst>
      <p:tags r:id="rId1"/>
    </p:custDataLst>
    <p:extLst>
      <p:ext uri="{BB962C8B-B14F-4D97-AF65-F5344CB8AC3E}">
        <p14:creationId xmlns:p14="http://schemas.microsoft.com/office/powerpoint/2010/main" val="52861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8" grpId="0" animBg="1"/>
      <p:bldP spid="50" grpId="0" animBg="1"/>
      <p:bldP spid="51" grpId="0" animBg="1"/>
      <p:bldP spid="5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说明用例</a:t>
            </a:r>
            <a:endParaRPr lang="en-US" altLang="zh-CN" dirty="0">
              <a:ea typeface="SimSun" panose="02010600030101010101" pitchFamily="2" charset="-122"/>
            </a:endParaRPr>
          </a:p>
        </p:txBody>
      </p:sp>
      <p:sp>
        <p:nvSpPr>
          <p:cNvPr id="62468" name="Rectangle 3"/>
          <p:cNvSpPr>
            <a:spLocks noGrp="1" noChangeArrowheads="1"/>
          </p:cNvSpPr>
          <p:nvPr>
            <p:ph type="body" idx="1"/>
          </p:nvPr>
        </p:nvSpPr>
        <p:spPr>
          <a:xfrm>
            <a:off x="685800" y="1376362"/>
            <a:ext cx="7772400" cy="4491038"/>
          </a:xfrm>
        </p:spPr>
        <p:txBody>
          <a:bodyPr/>
          <a:lstStyle/>
          <a:p>
            <a:pPr eaLnBrk="1" hangingPunct="1"/>
            <a:endParaRPr lang="en-US" altLang="ja-JP">
              <a:ea typeface="ＭＳ Ｐゴシック" panose="020B0600070205080204" pitchFamily="34" charset="-128"/>
            </a:endParaRPr>
          </a:p>
          <a:p>
            <a:pPr lvl="1" eaLnBrk="1" hangingPunct="1"/>
            <a:endParaRPr lang="en-US" altLang="ja-JP">
              <a:ea typeface="ＭＳ Ｐゴシック" panose="020B0600070205080204" pitchFamily="34" charset="-128"/>
            </a:endParaRPr>
          </a:p>
          <a:p>
            <a:pPr eaLnBrk="1" hangingPunct="1"/>
            <a:endParaRPr lang="en-US" altLang="ja-JP">
              <a:ea typeface="ＭＳ Ｐゴシック" panose="020B0600070205080204" pitchFamily="34" charset="-128"/>
            </a:endParaRPr>
          </a:p>
        </p:txBody>
      </p:sp>
      <p:graphicFrame>
        <p:nvGraphicFramePr>
          <p:cNvPr id="514172" name="Group 124"/>
          <p:cNvGraphicFramePr>
            <a:graphicFrameLocks noGrp="1"/>
          </p:cNvGraphicFramePr>
          <p:nvPr/>
        </p:nvGraphicFramePr>
        <p:xfrm>
          <a:off x="762000" y="2290762"/>
          <a:ext cx="7467600" cy="30480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病人</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发烧</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鼻塞</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流涕</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畏寒</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头痛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感冒</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3</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3"/>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4</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4"/>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5</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5"/>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6</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6"/>
                  </a:ext>
                </a:extLst>
              </a:tr>
              <a:tr h="228600">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7</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7"/>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8</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8"/>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9</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9"/>
                  </a:ext>
                </a:extLst>
              </a:tr>
            </a:tbl>
          </a:graphicData>
        </a:graphic>
      </p:graphicFrame>
      <p:graphicFrame>
        <p:nvGraphicFramePr>
          <p:cNvPr id="2" name="Table 1"/>
          <p:cNvGraphicFramePr>
            <a:graphicFrameLocks noGrp="1"/>
          </p:cNvGraphicFramePr>
          <p:nvPr/>
        </p:nvGraphicFramePr>
        <p:xfrm>
          <a:off x="762000" y="5371909"/>
          <a:ext cx="7467600" cy="3048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extLst>
                  <a:ext uri="{0D108BD9-81ED-4DB2-BD59-A6C34878D82A}">
                    <a16:rowId xmlns:a16="http://schemas.microsoft.com/office/drawing/2014/main" val="10000"/>
                  </a:ext>
                </a:extLst>
              </a:tr>
            </a:tbl>
          </a:graphicData>
        </a:graphic>
      </p:graphicFrame>
      <p:grpSp>
        <p:nvGrpSpPr>
          <p:cNvPr id="11" name="Group 10"/>
          <p:cNvGrpSpPr/>
          <p:nvPr/>
        </p:nvGrpSpPr>
        <p:grpSpPr>
          <a:xfrm>
            <a:off x="228600" y="3962400"/>
            <a:ext cx="533401" cy="1561909"/>
            <a:chOff x="228600" y="3962399"/>
            <a:chExt cx="533401" cy="1561909"/>
          </a:xfrm>
        </p:grpSpPr>
        <p:cxnSp>
          <p:nvCxnSpPr>
            <p:cNvPr id="6" name="Elbow Connector 5"/>
            <p:cNvCxnSpPr>
              <a:endCxn id="2" idx="1"/>
            </p:cNvCxnSpPr>
            <p:nvPr/>
          </p:nvCxnSpPr>
          <p:spPr bwMode="auto">
            <a:xfrm rot="16200000" flipH="1">
              <a:off x="-285654" y="4476654"/>
              <a:ext cx="1561909" cy="533400"/>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0" name="Straight Arrow Connector 9"/>
            <p:cNvCxnSpPr/>
            <p:nvPr/>
          </p:nvCxnSpPr>
          <p:spPr bwMode="auto">
            <a:xfrm>
              <a:off x="228600" y="3962399"/>
              <a:ext cx="5334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aphicFrame>
        <p:nvGraphicFramePr>
          <p:cNvPr id="17" name="Table 16"/>
          <p:cNvGraphicFramePr>
            <a:graphicFrameLocks noGrp="1"/>
          </p:cNvGraphicFramePr>
          <p:nvPr/>
        </p:nvGraphicFramePr>
        <p:xfrm>
          <a:off x="766549" y="5359696"/>
          <a:ext cx="7467600" cy="3048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14" name="TextBox 13">
            <a:extLst>
              <a:ext uri="{FF2B5EF4-FFF2-40B4-BE49-F238E27FC236}">
                <a16:creationId xmlns:a16="http://schemas.microsoft.com/office/drawing/2014/main" id="{52C944F0-0341-4662-B687-259AD8FB6B32}"/>
              </a:ext>
            </a:extLst>
          </p:cNvPr>
          <p:cNvSpPr txBox="1"/>
          <p:nvPr/>
        </p:nvSpPr>
        <p:spPr>
          <a:xfrm>
            <a:off x="838200" y="1702713"/>
            <a:ext cx="7467599" cy="430887"/>
          </a:xfrm>
          <a:prstGeom prst="rect">
            <a:avLst/>
          </a:prstGeom>
          <a:noFill/>
        </p:spPr>
        <p:txBody>
          <a:bodyPr wrap="square" rtlCol="0">
            <a:spAutoFit/>
          </a:bodyPr>
          <a:lstStyle/>
          <a:p>
            <a:pPr algn="ctr"/>
            <a:r>
              <a:rPr lang="en-US" altLang="zh-CN" sz="2200" dirty="0"/>
              <a:t>9</a:t>
            </a:r>
            <a:r>
              <a:rPr lang="zh-CN" altLang="en-US" sz="2200" dirty="0"/>
              <a:t>个去看医生诊断是否感冒的病例</a:t>
            </a:r>
          </a:p>
        </p:txBody>
      </p:sp>
    </p:spTree>
    <p:custDataLst>
      <p:tags r:id="rId1"/>
    </p:custDataLst>
    <p:extLst>
      <p:ext uri="{BB962C8B-B14F-4D97-AF65-F5344CB8AC3E}">
        <p14:creationId xmlns:p14="http://schemas.microsoft.com/office/powerpoint/2010/main" val="33895529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417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弱点 </a:t>
            </a:r>
            <a:r>
              <a:rPr lang="en-US" altLang="zh-CN" dirty="0">
                <a:ea typeface="SimSun" panose="02010600030101010101" pitchFamily="2" charset="-122"/>
              </a:rPr>
              <a:t>(1)</a:t>
            </a:r>
          </a:p>
        </p:txBody>
      </p:sp>
      <p:sp>
        <p:nvSpPr>
          <p:cNvPr id="62468" name="Rectangle 3"/>
          <p:cNvSpPr>
            <a:spLocks noGrp="1" noChangeArrowheads="1"/>
          </p:cNvSpPr>
          <p:nvPr>
            <p:ph type="body" idx="1"/>
          </p:nvPr>
        </p:nvSpPr>
        <p:spPr>
          <a:xfrm>
            <a:off x="685800" y="1376362"/>
            <a:ext cx="7772400" cy="4491038"/>
          </a:xfrm>
        </p:spPr>
        <p:txBody>
          <a:bodyPr/>
          <a:lstStyle/>
          <a:p>
            <a:pPr eaLnBrk="1" hangingPunct="1"/>
            <a:endParaRPr lang="en-US" altLang="ja-JP">
              <a:ea typeface="ＭＳ Ｐゴシック" panose="020B0600070205080204" pitchFamily="34" charset="-128"/>
            </a:endParaRPr>
          </a:p>
          <a:p>
            <a:pPr lvl="1" eaLnBrk="1" hangingPunct="1"/>
            <a:endParaRPr lang="en-US" altLang="ja-JP">
              <a:ea typeface="ＭＳ Ｐゴシック" panose="020B0600070205080204" pitchFamily="34" charset="-128"/>
            </a:endParaRPr>
          </a:p>
          <a:p>
            <a:pPr eaLnBrk="1" hangingPunct="1"/>
            <a:endParaRPr lang="en-US" altLang="ja-JP">
              <a:ea typeface="ＭＳ Ｐゴシック" panose="020B0600070205080204" pitchFamily="34" charset="-128"/>
            </a:endParaRPr>
          </a:p>
        </p:txBody>
      </p:sp>
      <p:graphicFrame>
        <p:nvGraphicFramePr>
          <p:cNvPr id="514172" name="Group 124"/>
          <p:cNvGraphicFramePr>
            <a:graphicFrameLocks noGrp="1"/>
          </p:cNvGraphicFramePr>
          <p:nvPr>
            <p:extLst>
              <p:ext uri="{D42A27DB-BD31-4B8C-83A1-F6EECF244321}">
                <p14:modId xmlns:p14="http://schemas.microsoft.com/office/powerpoint/2010/main" val="2971481210"/>
              </p:ext>
            </p:extLst>
          </p:nvPr>
        </p:nvGraphicFramePr>
        <p:xfrm>
          <a:off x="762000" y="2286000"/>
          <a:ext cx="7467600" cy="30480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病人</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发烧</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鼻塞</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流涕</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畏寒</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头痛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感冒</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3</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3"/>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4</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4"/>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5</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5"/>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6</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6"/>
                  </a:ext>
                </a:extLst>
              </a:tr>
              <a:tr h="228600">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7</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7"/>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8</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8"/>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9</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9"/>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023849324"/>
              </p:ext>
            </p:extLst>
          </p:nvPr>
        </p:nvGraphicFramePr>
        <p:xfrm>
          <a:off x="762000" y="5361432"/>
          <a:ext cx="7467600" cy="3048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FFE1"/>
                    </a:solidFill>
                  </a:tcPr>
                </a:tc>
                <a:extLst>
                  <a:ext uri="{0D108BD9-81ED-4DB2-BD59-A6C34878D82A}">
                    <a16:rowId xmlns:a16="http://schemas.microsoft.com/office/drawing/2014/main" val="10000"/>
                  </a:ext>
                </a:extLst>
              </a:tr>
            </a:tbl>
          </a:graphicData>
        </a:graphic>
      </p:graphicFrame>
      <p:sp>
        <p:nvSpPr>
          <p:cNvPr id="12" name="Rectangle 11"/>
          <p:cNvSpPr/>
          <p:nvPr/>
        </p:nvSpPr>
        <p:spPr>
          <a:xfrm>
            <a:off x="1590675" y="5906232"/>
            <a:ext cx="5962650" cy="397032"/>
          </a:xfrm>
          <a:prstGeom prst="rect">
            <a:avLst/>
          </a:prstGeom>
        </p:spPr>
        <p:txBody>
          <a:bodyPr wrap="square">
            <a:spAutoFit/>
          </a:bodyPr>
          <a:lstStyle/>
          <a:p>
            <a:pPr lvl="1" algn="ctr" eaLnBrk="1" hangingPunct="1">
              <a:lnSpc>
                <a:spcPct val="90000"/>
              </a:lnSpc>
            </a:pPr>
            <a:r>
              <a:rPr lang="zh-CN" altLang="en-US" sz="2200" dirty="0">
                <a:ea typeface="ＭＳ Ｐゴシック" panose="020B0600070205080204" pitchFamily="34" charset="-128"/>
              </a:rPr>
              <a:t>不能</a:t>
            </a:r>
            <a:r>
              <a:rPr lang="zh-CN" altLang="en-US" sz="2200" b="1" dirty="0">
                <a:solidFill>
                  <a:srgbClr val="FF0000"/>
                </a:solidFill>
                <a:ea typeface="ＭＳ Ｐゴシック" panose="020B0600070205080204" pitchFamily="34" charset="-128"/>
              </a:rPr>
              <a:t>推广</a:t>
            </a:r>
            <a:r>
              <a:rPr lang="zh-CN" altLang="en-US" sz="2200" dirty="0">
                <a:ea typeface="ＭＳ Ｐゴシック" panose="020B0600070205080204" pitchFamily="34" charset="-128"/>
              </a:rPr>
              <a:t>到没见过的数据上</a:t>
            </a:r>
            <a:endParaRPr lang="en-US" altLang="ja-JP" sz="2200" dirty="0">
              <a:ea typeface="ＭＳ Ｐゴシック" panose="020B0600070205080204" pitchFamily="34" charset="-128"/>
            </a:endParaRPr>
          </a:p>
        </p:txBody>
      </p:sp>
    </p:spTree>
    <p:custDataLst>
      <p:tags r:id="rId1"/>
    </p:custDataLst>
    <p:extLst>
      <p:ext uri="{BB962C8B-B14F-4D97-AF65-F5344CB8AC3E}">
        <p14:creationId xmlns:p14="http://schemas.microsoft.com/office/powerpoint/2010/main" val="32678562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弱点 </a:t>
            </a:r>
            <a:r>
              <a:rPr lang="en-US" altLang="zh-CN" dirty="0">
                <a:ea typeface="SimSun" panose="02010600030101010101" pitchFamily="2" charset="-122"/>
              </a:rPr>
              <a:t>(2)</a:t>
            </a:r>
          </a:p>
        </p:txBody>
      </p:sp>
      <p:sp>
        <p:nvSpPr>
          <p:cNvPr id="8" name="TextBox 7">
            <a:extLst>
              <a:ext uri="{FF2B5EF4-FFF2-40B4-BE49-F238E27FC236}">
                <a16:creationId xmlns:a16="http://schemas.microsoft.com/office/drawing/2014/main" id="{D9ED7193-7C85-410E-A5D7-D06DF4CFF87F}"/>
              </a:ext>
            </a:extLst>
          </p:cNvPr>
          <p:cNvSpPr txBox="1"/>
          <p:nvPr/>
        </p:nvSpPr>
        <p:spPr>
          <a:xfrm>
            <a:off x="266700" y="5024742"/>
            <a:ext cx="8610600" cy="430887"/>
          </a:xfrm>
          <a:prstGeom prst="rect">
            <a:avLst/>
          </a:prstGeom>
          <a:noFill/>
        </p:spPr>
        <p:txBody>
          <a:bodyPr wrap="square" rtlCol="0">
            <a:spAutoFit/>
          </a:bodyPr>
          <a:lstStyle/>
          <a:p>
            <a:pPr algn="ctr"/>
            <a:r>
              <a:rPr lang="zh-CN" altLang="en-US" sz="2200" dirty="0"/>
              <a:t>题海战术</a:t>
            </a:r>
          </a:p>
        </p:txBody>
      </p:sp>
      <p:pic>
        <p:nvPicPr>
          <p:cNvPr id="6" name="Picture 5">
            <a:extLst>
              <a:ext uri="{FF2B5EF4-FFF2-40B4-BE49-F238E27FC236}">
                <a16:creationId xmlns:a16="http://schemas.microsoft.com/office/drawing/2014/main" id="{8FBEBE84-62DB-469B-9A86-E52FD624CF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6835" y="1905000"/>
            <a:ext cx="3810330" cy="2857748"/>
          </a:xfrm>
          <a:prstGeom prst="rect">
            <a:avLst/>
          </a:prstGeom>
        </p:spPr>
      </p:pic>
    </p:spTree>
    <p:custDataLst>
      <p:tags r:id="rId1"/>
    </p:custDataLst>
    <p:extLst>
      <p:ext uri="{BB962C8B-B14F-4D97-AF65-F5344CB8AC3E}">
        <p14:creationId xmlns:p14="http://schemas.microsoft.com/office/powerpoint/2010/main" val="421114206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复杂度 </a:t>
            </a:r>
            <a:r>
              <a:rPr lang="en-US" altLang="zh-CN" dirty="0">
                <a:ea typeface="SimSun" panose="02010600030101010101" pitchFamily="2" charset="-122"/>
              </a:rPr>
              <a:t>(1)</a:t>
            </a:r>
          </a:p>
        </p:txBody>
      </p:sp>
      <p:sp>
        <p:nvSpPr>
          <p:cNvPr id="13316" name="Rectangle 3"/>
          <p:cNvSpPr>
            <a:spLocks noGrp="1" noChangeArrowheads="1"/>
          </p:cNvSpPr>
          <p:nvPr>
            <p:ph type="body" idx="1"/>
          </p:nvPr>
        </p:nvSpPr>
        <p:spPr>
          <a:xfrm>
            <a:off x="685800" y="1752600"/>
            <a:ext cx="7772400" cy="4491038"/>
          </a:xfrm>
        </p:spPr>
        <p:txBody>
          <a:bodyPr/>
          <a:lstStyle/>
          <a:p>
            <a:pPr eaLnBrk="1" hangingPunct="1"/>
            <a:endParaRPr lang="en-US" altLang="ja-JP" dirty="0">
              <a:ea typeface="ＭＳ Ｐゴシック" panose="020B0600070205080204" pitchFamily="34" charset="-128"/>
            </a:endParaRPr>
          </a:p>
          <a:p>
            <a:pPr lvl="1" eaLnBrk="1" hangingPunct="1"/>
            <a:endParaRPr lang="en-US" altLang="ja-JP" dirty="0">
              <a:ea typeface="ＭＳ Ｐゴシック" panose="020B0600070205080204" pitchFamily="34" charset="-128"/>
            </a:endParaRPr>
          </a:p>
          <a:p>
            <a:pPr eaLnBrk="1" hangingPunct="1"/>
            <a:endParaRPr lang="en-US" altLang="ja-JP" dirty="0">
              <a:ea typeface="ＭＳ Ｐゴシック" panose="020B0600070205080204" pitchFamily="34" charset="-128"/>
            </a:endParaRPr>
          </a:p>
        </p:txBody>
      </p:sp>
      <p:graphicFrame>
        <p:nvGraphicFramePr>
          <p:cNvPr id="514172" name="Group 124"/>
          <p:cNvGraphicFramePr>
            <a:graphicFrameLocks noGrp="1"/>
          </p:cNvGraphicFramePr>
          <p:nvPr/>
        </p:nvGraphicFramePr>
        <p:xfrm>
          <a:off x="838199" y="2685666"/>
          <a:ext cx="7467600" cy="18288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病人</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发烧</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鼻塞</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流涕</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畏寒</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头痛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感冒</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3</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3"/>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4</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4"/>
                  </a:ext>
                </a:extLst>
              </a:tr>
              <a:tr h="269875">
                <a:tc gridSpan="7">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a:t>
                      </a: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11" name="TextBox 10">
            <a:extLst>
              <a:ext uri="{FF2B5EF4-FFF2-40B4-BE49-F238E27FC236}">
                <a16:creationId xmlns:a16="http://schemas.microsoft.com/office/drawing/2014/main" id="{F56AF00D-4F95-4DC0-B6AD-6BAB9A99C9C4}"/>
              </a:ext>
            </a:extLst>
          </p:cNvPr>
          <p:cNvSpPr txBox="1"/>
          <p:nvPr/>
        </p:nvSpPr>
        <p:spPr>
          <a:xfrm>
            <a:off x="952499" y="1855113"/>
            <a:ext cx="7239001" cy="430887"/>
          </a:xfrm>
          <a:prstGeom prst="rect">
            <a:avLst/>
          </a:prstGeom>
          <a:noFill/>
        </p:spPr>
        <p:txBody>
          <a:bodyPr wrap="square" rtlCol="0">
            <a:spAutoFit/>
          </a:bodyPr>
          <a:lstStyle/>
          <a:p>
            <a:pPr algn="ctr"/>
            <a:r>
              <a:rPr lang="zh-CN" altLang="en-US" sz="2200" dirty="0"/>
              <a:t>抽象思维，计算机不知道诊断的含义，只知道布尔值</a:t>
            </a:r>
          </a:p>
        </p:txBody>
      </p:sp>
      <p:sp>
        <p:nvSpPr>
          <p:cNvPr id="12" name="TextBox 11">
            <a:extLst>
              <a:ext uri="{FF2B5EF4-FFF2-40B4-BE49-F238E27FC236}">
                <a16:creationId xmlns:a16="http://schemas.microsoft.com/office/drawing/2014/main" id="{5C22ACFC-528B-48DE-B377-731DB9DAB014}"/>
              </a:ext>
            </a:extLst>
          </p:cNvPr>
          <p:cNvSpPr txBox="1"/>
          <p:nvPr/>
        </p:nvSpPr>
        <p:spPr>
          <a:xfrm>
            <a:off x="537209" y="4678091"/>
            <a:ext cx="8069579" cy="430887"/>
          </a:xfrm>
          <a:prstGeom prst="rect">
            <a:avLst/>
          </a:prstGeom>
          <a:noFill/>
        </p:spPr>
        <p:txBody>
          <a:bodyPr wrap="square" rtlCol="0">
            <a:spAutoFit/>
          </a:bodyPr>
          <a:lstStyle/>
          <a:p>
            <a:pPr algn="ctr"/>
            <a:r>
              <a:rPr lang="en-US" altLang="zh-CN" sz="2200" dirty="0"/>
              <a:t>5</a:t>
            </a:r>
            <a:r>
              <a:rPr lang="zh-CN" altLang="en-US" sz="2200" dirty="0"/>
              <a:t>个布尔属性，不同的输入一共可能有多少种？</a:t>
            </a:r>
          </a:p>
        </p:txBody>
      </p:sp>
      <p:sp>
        <p:nvSpPr>
          <p:cNvPr id="13" name="TextBox 12">
            <a:extLst>
              <a:ext uri="{FF2B5EF4-FFF2-40B4-BE49-F238E27FC236}">
                <a16:creationId xmlns:a16="http://schemas.microsoft.com/office/drawing/2014/main" id="{9D1AD6C7-B9AB-484D-BC41-90EBC9CC0C96}"/>
              </a:ext>
            </a:extLst>
          </p:cNvPr>
          <p:cNvSpPr txBox="1"/>
          <p:nvPr/>
        </p:nvSpPr>
        <p:spPr>
          <a:xfrm>
            <a:off x="521969" y="5447532"/>
            <a:ext cx="8069579" cy="430887"/>
          </a:xfrm>
          <a:prstGeom prst="rect">
            <a:avLst/>
          </a:prstGeom>
          <a:noFill/>
        </p:spPr>
        <p:txBody>
          <a:bodyPr wrap="square" rtlCol="0">
            <a:spAutoFit/>
          </a:bodyPr>
          <a:lstStyle/>
          <a:p>
            <a:pPr algn="ctr"/>
            <a:r>
              <a:rPr lang="en-US" altLang="zh-CN" sz="2200" dirty="0"/>
              <a:t>2x2x2x2x2=2</a:t>
            </a:r>
            <a:r>
              <a:rPr lang="en-US" altLang="zh-CN" sz="2200" baseline="30000" dirty="0"/>
              <a:t>5</a:t>
            </a:r>
            <a:r>
              <a:rPr lang="en-US" altLang="zh-CN" sz="2200" dirty="0"/>
              <a:t>=32</a:t>
            </a:r>
            <a:endParaRPr lang="zh-CN" altLang="en-US" sz="2200" dirty="0"/>
          </a:p>
        </p:txBody>
      </p:sp>
    </p:spTree>
    <p:custDataLst>
      <p:tags r:id="rId1"/>
    </p:custDataLst>
    <p:extLst>
      <p:ext uri="{BB962C8B-B14F-4D97-AF65-F5344CB8AC3E}">
        <p14:creationId xmlns:p14="http://schemas.microsoft.com/office/powerpoint/2010/main" val="32843674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41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复杂度 </a:t>
            </a:r>
            <a:r>
              <a:rPr lang="en-US" altLang="zh-CN" dirty="0">
                <a:ea typeface="SimSun" panose="02010600030101010101" pitchFamily="2" charset="-122"/>
              </a:rPr>
              <a:t>(1)</a:t>
            </a:r>
          </a:p>
        </p:txBody>
      </p:sp>
      <p:sp>
        <p:nvSpPr>
          <p:cNvPr id="13316" name="Rectangle 3"/>
          <p:cNvSpPr>
            <a:spLocks noGrp="1" noChangeArrowheads="1"/>
          </p:cNvSpPr>
          <p:nvPr>
            <p:ph type="body" idx="1"/>
          </p:nvPr>
        </p:nvSpPr>
        <p:spPr>
          <a:xfrm>
            <a:off x="685800" y="1752600"/>
            <a:ext cx="7772400" cy="4491038"/>
          </a:xfrm>
        </p:spPr>
        <p:txBody>
          <a:bodyPr/>
          <a:lstStyle/>
          <a:p>
            <a:pPr eaLnBrk="1" hangingPunct="1"/>
            <a:endParaRPr lang="en-US" altLang="ja-JP" dirty="0">
              <a:ea typeface="ＭＳ Ｐゴシック" panose="020B0600070205080204" pitchFamily="34" charset="-128"/>
            </a:endParaRPr>
          </a:p>
          <a:p>
            <a:pPr lvl="1" eaLnBrk="1" hangingPunct="1"/>
            <a:endParaRPr lang="en-US" altLang="ja-JP" dirty="0">
              <a:ea typeface="ＭＳ Ｐゴシック" panose="020B0600070205080204" pitchFamily="34" charset="-128"/>
            </a:endParaRPr>
          </a:p>
          <a:p>
            <a:pPr eaLnBrk="1" hangingPunct="1"/>
            <a:endParaRPr lang="en-US" altLang="ja-JP" dirty="0">
              <a:ea typeface="ＭＳ Ｐゴシック" panose="020B0600070205080204" pitchFamily="34" charset="-128"/>
            </a:endParaRPr>
          </a:p>
        </p:txBody>
      </p:sp>
      <p:graphicFrame>
        <p:nvGraphicFramePr>
          <p:cNvPr id="514172" name="Group 124"/>
          <p:cNvGraphicFramePr>
            <a:graphicFrameLocks noGrp="1"/>
          </p:cNvGraphicFramePr>
          <p:nvPr/>
        </p:nvGraphicFramePr>
        <p:xfrm>
          <a:off x="838199" y="2685666"/>
          <a:ext cx="7467600" cy="18288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病人</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发烧</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鼻塞</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流涕</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畏寒</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头痛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感冒</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3</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3"/>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4</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4"/>
                  </a:ext>
                </a:extLst>
              </a:tr>
              <a:tr h="269875">
                <a:tc gridSpan="7">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a:t>
                      </a: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12" name="TextBox 11">
            <a:extLst>
              <a:ext uri="{FF2B5EF4-FFF2-40B4-BE49-F238E27FC236}">
                <a16:creationId xmlns:a16="http://schemas.microsoft.com/office/drawing/2014/main" id="{5C22ACFC-528B-48DE-B377-731DB9DAB014}"/>
              </a:ext>
            </a:extLst>
          </p:cNvPr>
          <p:cNvSpPr txBox="1"/>
          <p:nvPr/>
        </p:nvSpPr>
        <p:spPr>
          <a:xfrm>
            <a:off x="685800" y="4793159"/>
            <a:ext cx="7772400" cy="769441"/>
          </a:xfrm>
          <a:prstGeom prst="rect">
            <a:avLst/>
          </a:prstGeom>
          <a:noFill/>
        </p:spPr>
        <p:txBody>
          <a:bodyPr wrap="square" rtlCol="0">
            <a:spAutoFit/>
          </a:bodyPr>
          <a:lstStyle/>
          <a:p>
            <a:pPr algn="ctr"/>
            <a:r>
              <a:rPr lang="en-US" altLang="zh-CN" sz="2200" dirty="0"/>
              <a:t>32</a:t>
            </a:r>
            <a:r>
              <a:rPr lang="zh-CN" altLang="en-US" sz="2200" dirty="0"/>
              <a:t>种不同的输入，每种都可以分到</a:t>
            </a:r>
            <a:r>
              <a:rPr lang="en-US" altLang="zh-CN" sz="2200" dirty="0"/>
              <a:t>2</a:t>
            </a:r>
            <a:r>
              <a:rPr lang="zh-CN" altLang="en-US" sz="2200" dirty="0"/>
              <a:t>类之一，对这</a:t>
            </a:r>
            <a:r>
              <a:rPr lang="en-US" altLang="zh-CN" sz="2200" dirty="0"/>
              <a:t>32</a:t>
            </a:r>
            <a:r>
              <a:rPr lang="zh-CN" altLang="en-US" sz="2200" dirty="0"/>
              <a:t>种输入一共有多少种不同的分类？</a:t>
            </a:r>
          </a:p>
        </p:txBody>
      </p:sp>
      <p:sp>
        <p:nvSpPr>
          <p:cNvPr id="13" name="TextBox 12">
            <a:extLst>
              <a:ext uri="{FF2B5EF4-FFF2-40B4-BE49-F238E27FC236}">
                <a16:creationId xmlns:a16="http://schemas.microsoft.com/office/drawing/2014/main" id="{9D1AD6C7-B9AB-484D-BC41-90EBC9CC0C96}"/>
              </a:ext>
            </a:extLst>
          </p:cNvPr>
          <p:cNvSpPr txBox="1"/>
          <p:nvPr/>
        </p:nvSpPr>
        <p:spPr>
          <a:xfrm>
            <a:off x="521968" y="5741313"/>
            <a:ext cx="8069579" cy="430887"/>
          </a:xfrm>
          <a:prstGeom prst="rect">
            <a:avLst/>
          </a:prstGeom>
          <a:noFill/>
        </p:spPr>
        <p:txBody>
          <a:bodyPr wrap="square" rtlCol="0">
            <a:spAutoFit/>
          </a:bodyPr>
          <a:lstStyle/>
          <a:p>
            <a:pPr algn="ctr"/>
            <a:r>
              <a:rPr lang="en-US" altLang="zh-CN" sz="2200" dirty="0"/>
              <a:t>2x…x2=2</a:t>
            </a:r>
            <a:r>
              <a:rPr lang="en-US" altLang="zh-CN" sz="2200" baseline="30000" dirty="0"/>
              <a:t>32</a:t>
            </a:r>
            <a:endParaRPr lang="zh-CN" altLang="en-US" sz="2200" dirty="0"/>
          </a:p>
        </p:txBody>
      </p:sp>
      <p:sp>
        <p:nvSpPr>
          <p:cNvPr id="2" name="TextBox 1">
            <a:extLst>
              <a:ext uri="{FF2B5EF4-FFF2-40B4-BE49-F238E27FC236}">
                <a16:creationId xmlns:a16="http://schemas.microsoft.com/office/drawing/2014/main" id="{2C5469D6-F52D-4807-88DB-3854F3448938}"/>
              </a:ext>
            </a:extLst>
          </p:cNvPr>
          <p:cNvSpPr txBox="1"/>
          <p:nvPr/>
        </p:nvSpPr>
        <p:spPr>
          <a:xfrm>
            <a:off x="952499" y="1855113"/>
            <a:ext cx="7239001" cy="430887"/>
          </a:xfrm>
          <a:prstGeom prst="rect">
            <a:avLst/>
          </a:prstGeom>
          <a:noFill/>
        </p:spPr>
        <p:txBody>
          <a:bodyPr wrap="square" rtlCol="0">
            <a:spAutoFit/>
          </a:bodyPr>
          <a:lstStyle/>
          <a:p>
            <a:pPr algn="ctr"/>
            <a:r>
              <a:rPr lang="zh-CN" altLang="en-US" sz="2200" dirty="0"/>
              <a:t>抽象思维，计算机不知道诊断的含义，只知道布尔值</a:t>
            </a:r>
          </a:p>
        </p:txBody>
      </p:sp>
    </p:spTree>
    <p:custDataLst>
      <p:tags r:id="rId1"/>
    </p:custDataLst>
    <p:extLst>
      <p:ext uri="{BB962C8B-B14F-4D97-AF65-F5344CB8AC3E}">
        <p14:creationId xmlns:p14="http://schemas.microsoft.com/office/powerpoint/2010/main" val="7066727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复杂度 </a:t>
            </a:r>
            <a:r>
              <a:rPr lang="en-US" altLang="zh-CN" dirty="0">
                <a:ea typeface="SimSun" panose="02010600030101010101" pitchFamily="2" charset="-122"/>
              </a:rPr>
              <a:t>(2)</a:t>
            </a:r>
          </a:p>
        </p:txBody>
      </p:sp>
      <p:sp>
        <p:nvSpPr>
          <p:cNvPr id="62468" name="Rectangle 3"/>
          <p:cNvSpPr>
            <a:spLocks noGrp="1" noChangeArrowheads="1"/>
          </p:cNvSpPr>
          <p:nvPr>
            <p:ph type="body" idx="1"/>
          </p:nvPr>
        </p:nvSpPr>
        <p:spPr>
          <a:xfrm>
            <a:off x="685800" y="1376362"/>
            <a:ext cx="7772400" cy="4491038"/>
          </a:xfrm>
        </p:spPr>
        <p:txBody>
          <a:bodyPr/>
          <a:lstStyle/>
          <a:p>
            <a:pPr eaLnBrk="1" hangingPunct="1"/>
            <a:endParaRPr lang="en-US" altLang="ja-JP" dirty="0">
              <a:ea typeface="ＭＳ Ｐゴシック" panose="020B0600070205080204" pitchFamily="34" charset="-128"/>
            </a:endParaRPr>
          </a:p>
          <a:p>
            <a:pPr lvl="1" eaLnBrk="1" hangingPunct="1"/>
            <a:endParaRPr lang="en-US" altLang="ja-JP" dirty="0">
              <a:ea typeface="ＭＳ Ｐゴシック" panose="020B0600070205080204" pitchFamily="34" charset="-128"/>
            </a:endParaRPr>
          </a:p>
          <a:p>
            <a:pPr eaLnBrk="1" hangingPunct="1"/>
            <a:endParaRPr lang="en-US" altLang="ja-JP" dirty="0">
              <a:ea typeface="ＭＳ Ｐゴシック" panose="020B0600070205080204" pitchFamily="34" charset="-128"/>
            </a:endParaRPr>
          </a:p>
        </p:txBody>
      </p:sp>
      <p:graphicFrame>
        <p:nvGraphicFramePr>
          <p:cNvPr id="514172" name="Group 124"/>
          <p:cNvGraphicFramePr>
            <a:graphicFrameLocks noGrp="1"/>
          </p:cNvGraphicFramePr>
          <p:nvPr/>
        </p:nvGraphicFramePr>
        <p:xfrm>
          <a:off x="762000" y="1850136"/>
          <a:ext cx="7467600" cy="6096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病人</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发烧</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鼻塞</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流涕</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畏寒</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头痛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感冒</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bl>
          </a:graphicData>
        </a:graphic>
      </p:graphicFrame>
      <p:sp>
        <p:nvSpPr>
          <p:cNvPr id="12" name="Rectangle 11"/>
          <p:cNvSpPr/>
          <p:nvPr/>
        </p:nvSpPr>
        <p:spPr>
          <a:xfrm>
            <a:off x="495298" y="4175171"/>
            <a:ext cx="8153401" cy="397032"/>
          </a:xfrm>
          <a:prstGeom prst="rect">
            <a:avLst/>
          </a:prstGeom>
        </p:spPr>
        <p:txBody>
          <a:bodyPr wrap="square">
            <a:spAutoFit/>
          </a:bodyPr>
          <a:lstStyle/>
          <a:p>
            <a:pPr lvl="1" algn="ctr" eaLnBrk="1" hangingPunct="1">
              <a:lnSpc>
                <a:spcPct val="90000"/>
              </a:lnSpc>
            </a:pPr>
            <a:r>
              <a:rPr lang="zh-CN" altLang="en-US" sz="2200" dirty="0">
                <a:ea typeface="ＭＳ Ｐゴシック" panose="020B0600070205080204" pitchFamily="34" charset="-128"/>
              </a:rPr>
              <a:t>看到了第一种输入及其对应的类别，还剩多少种不同的分类？</a:t>
            </a:r>
            <a:r>
              <a:rPr lang="en-US" altLang="ja-JP" sz="2200" dirty="0">
                <a:ea typeface="ＭＳ Ｐゴシック" panose="020B0600070205080204" pitchFamily="34" charset="-128"/>
              </a:rPr>
              <a:t> </a:t>
            </a:r>
          </a:p>
        </p:txBody>
      </p:sp>
      <p:sp>
        <p:nvSpPr>
          <p:cNvPr id="8" name="TextBox 7">
            <a:extLst>
              <a:ext uri="{FF2B5EF4-FFF2-40B4-BE49-F238E27FC236}">
                <a16:creationId xmlns:a16="http://schemas.microsoft.com/office/drawing/2014/main" id="{EEE4B1CA-6D18-4524-8DD4-4E9A9B8367E9}"/>
              </a:ext>
            </a:extLst>
          </p:cNvPr>
          <p:cNvSpPr txBox="1"/>
          <p:nvPr/>
        </p:nvSpPr>
        <p:spPr>
          <a:xfrm>
            <a:off x="537210" y="5840076"/>
            <a:ext cx="8069579" cy="430887"/>
          </a:xfrm>
          <a:prstGeom prst="rect">
            <a:avLst/>
          </a:prstGeom>
          <a:noFill/>
        </p:spPr>
        <p:txBody>
          <a:bodyPr wrap="square" rtlCol="0">
            <a:spAutoFit/>
          </a:bodyPr>
          <a:lstStyle/>
          <a:p>
            <a:pPr algn="ctr"/>
            <a:r>
              <a:rPr lang="en-US" altLang="zh-CN" sz="2200" dirty="0"/>
              <a:t>2</a:t>
            </a:r>
            <a:r>
              <a:rPr lang="en-US" altLang="zh-CN" sz="2200" baseline="30000" dirty="0"/>
              <a:t>31</a:t>
            </a:r>
            <a:endParaRPr lang="zh-CN" altLang="en-US" sz="2200" dirty="0"/>
          </a:p>
        </p:txBody>
      </p:sp>
      <p:sp>
        <p:nvSpPr>
          <p:cNvPr id="9" name="Rectangle 8">
            <a:extLst>
              <a:ext uri="{FF2B5EF4-FFF2-40B4-BE49-F238E27FC236}">
                <a16:creationId xmlns:a16="http://schemas.microsoft.com/office/drawing/2014/main" id="{85A64168-96FF-4850-82BB-4A5F92B5BDBC}"/>
              </a:ext>
            </a:extLst>
          </p:cNvPr>
          <p:cNvSpPr/>
          <p:nvPr/>
        </p:nvSpPr>
        <p:spPr>
          <a:xfrm>
            <a:off x="-209551" y="5135880"/>
            <a:ext cx="9410702" cy="397032"/>
          </a:xfrm>
          <a:prstGeom prst="rect">
            <a:avLst/>
          </a:prstGeom>
        </p:spPr>
        <p:txBody>
          <a:bodyPr wrap="square">
            <a:spAutoFit/>
          </a:bodyPr>
          <a:lstStyle/>
          <a:p>
            <a:pPr lvl="1" algn="ctr" eaLnBrk="1" hangingPunct="1">
              <a:lnSpc>
                <a:spcPct val="90000"/>
              </a:lnSpc>
            </a:pPr>
            <a:r>
              <a:rPr lang="zh-CN" altLang="en-US" sz="2200" dirty="0">
                <a:ea typeface="ＭＳ Ｐゴシック" panose="020B0600070205080204" pitchFamily="34" charset="-128"/>
              </a:rPr>
              <a:t>依然有</a:t>
            </a:r>
            <a:r>
              <a:rPr lang="en-US" altLang="zh-CN" sz="2200" dirty="0">
                <a:ea typeface="ＭＳ Ｐゴシック" panose="020B0600070205080204" pitchFamily="34" charset="-128"/>
              </a:rPr>
              <a:t>31</a:t>
            </a:r>
            <a:r>
              <a:rPr lang="zh-CN" altLang="en-US" sz="2200" dirty="0">
                <a:ea typeface="ＭＳ Ｐゴシック" panose="020B0600070205080204" pitchFamily="34" charset="-128"/>
              </a:rPr>
              <a:t>种输入没有出现，每种输入有两种不同的分类结果</a:t>
            </a:r>
            <a:endParaRPr lang="en-US" altLang="ja-JP" sz="2200" dirty="0">
              <a:ea typeface="ＭＳ Ｐゴシック" panose="020B0600070205080204" pitchFamily="34" charset="-128"/>
            </a:endParaRPr>
          </a:p>
        </p:txBody>
      </p:sp>
    </p:spTree>
    <p:custDataLst>
      <p:tags r:id="rId1"/>
    </p:custDataLst>
    <p:extLst>
      <p:ext uri="{BB962C8B-B14F-4D97-AF65-F5344CB8AC3E}">
        <p14:creationId xmlns:p14="http://schemas.microsoft.com/office/powerpoint/2010/main" val="14712907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41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复杂度 </a:t>
            </a:r>
            <a:r>
              <a:rPr lang="en-US" altLang="zh-CN" dirty="0">
                <a:ea typeface="SimSun" panose="02010600030101010101" pitchFamily="2" charset="-122"/>
              </a:rPr>
              <a:t>(2)</a:t>
            </a:r>
          </a:p>
        </p:txBody>
      </p:sp>
      <p:sp>
        <p:nvSpPr>
          <p:cNvPr id="62468" name="Rectangle 3"/>
          <p:cNvSpPr>
            <a:spLocks noGrp="1" noChangeArrowheads="1"/>
          </p:cNvSpPr>
          <p:nvPr>
            <p:ph type="body" idx="1"/>
          </p:nvPr>
        </p:nvSpPr>
        <p:spPr>
          <a:xfrm>
            <a:off x="685800" y="1376362"/>
            <a:ext cx="7772400" cy="4491038"/>
          </a:xfrm>
        </p:spPr>
        <p:txBody>
          <a:bodyPr/>
          <a:lstStyle/>
          <a:p>
            <a:pPr eaLnBrk="1" hangingPunct="1"/>
            <a:endParaRPr lang="en-US" altLang="ja-JP" dirty="0">
              <a:ea typeface="ＭＳ Ｐゴシック" panose="020B0600070205080204" pitchFamily="34" charset="-128"/>
            </a:endParaRPr>
          </a:p>
          <a:p>
            <a:pPr lvl="1" eaLnBrk="1" hangingPunct="1"/>
            <a:endParaRPr lang="en-US" altLang="ja-JP" dirty="0">
              <a:ea typeface="ＭＳ Ｐゴシック" panose="020B0600070205080204" pitchFamily="34" charset="-128"/>
            </a:endParaRPr>
          </a:p>
          <a:p>
            <a:pPr eaLnBrk="1" hangingPunct="1"/>
            <a:endParaRPr lang="en-US" altLang="ja-JP" dirty="0">
              <a:ea typeface="ＭＳ Ｐゴシック" panose="020B0600070205080204" pitchFamily="34" charset="-128"/>
            </a:endParaRPr>
          </a:p>
        </p:txBody>
      </p:sp>
      <p:sp>
        <p:nvSpPr>
          <p:cNvPr id="8" name="TextBox 7">
            <a:extLst>
              <a:ext uri="{FF2B5EF4-FFF2-40B4-BE49-F238E27FC236}">
                <a16:creationId xmlns:a16="http://schemas.microsoft.com/office/drawing/2014/main" id="{EEE4B1CA-6D18-4524-8DD4-4E9A9B8367E9}"/>
              </a:ext>
            </a:extLst>
          </p:cNvPr>
          <p:cNvSpPr txBox="1"/>
          <p:nvPr/>
        </p:nvSpPr>
        <p:spPr>
          <a:xfrm>
            <a:off x="537210" y="5840076"/>
            <a:ext cx="8069579" cy="430887"/>
          </a:xfrm>
          <a:prstGeom prst="rect">
            <a:avLst/>
          </a:prstGeom>
          <a:noFill/>
        </p:spPr>
        <p:txBody>
          <a:bodyPr wrap="square" rtlCol="0">
            <a:spAutoFit/>
          </a:bodyPr>
          <a:lstStyle/>
          <a:p>
            <a:pPr algn="ctr"/>
            <a:r>
              <a:rPr lang="en-US" altLang="zh-CN" sz="2200" dirty="0"/>
              <a:t>2</a:t>
            </a:r>
            <a:r>
              <a:rPr lang="en-US" altLang="zh-CN" sz="2200" baseline="30000" dirty="0"/>
              <a:t>30</a:t>
            </a:r>
            <a:endParaRPr lang="zh-CN" altLang="en-US" sz="2200" dirty="0"/>
          </a:p>
        </p:txBody>
      </p:sp>
      <p:graphicFrame>
        <p:nvGraphicFramePr>
          <p:cNvPr id="10" name="Group 124">
            <a:extLst>
              <a:ext uri="{FF2B5EF4-FFF2-40B4-BE49-F238E27FC236}">
                <a16:creationId xmlns:a16="http://schemas.microsoft.com/office/drawing/2014/main" id="{2E08E5E6-9FBC-468E-B46A-0F08E75518C3}"/>
              </a:ext>
            </a:extLst>
          </p:cNvPr>
          <p:cNvGraphicFramePr>
            <a:graphicFrameLocks noGrp="1"/>
          </p:cNvGraphicFramePr>
          <p:nvPr/>
        </p:nvGraphicFramePr>
        <p:xfrm>
          <a:off x="762000" y="1850136"/>
          <a:ext cx="7467600" cy="9144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病人</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发烧</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鼻塞</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流涕</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畏寒</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头痛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感冒</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bl>
          </a:graphicData>
        </a:graphic>
      </p:graphicFrame>
      <p:sp>
        <p:nvSpPr>
          <p:cNvPr id="11" name="Rectangle 10">
            <a:extLst>
              <a:ext uri="{FF2B5EF4-FFF2-40B4-BE49-F238E27FC236}">
                <a16:creationId xmlns:a16="http://schemas.microsoft.com/office/drawing/2014/main" id="{8582BDD7-FD3B-4121-9780-946C6839DD6B}"/>
              </a:ext>
            </a:extLst>
          </p:cNvPr>
          <p:cNvSpPr/>
          <p:nvPr/>
        </p:nvSpPr>
        <p:spPr>
          <a:xfrm>
            <a:off x="495298" y="4175171"/>
            <a:ext cx="8153401" cy="397032"/>
          </a:xfrm>
          <a:prstGeom prst="rect">
            <a:avLst/>
          </a:prstGeom>
        </p:spPr>
        <p:txBody>
          <a:bodyPr wrap="square">
            <a:spAutoFit/>
          </a:bodyPr>
          <a:lstStyle/>
          <a:p>
            <a:pPr lvl="1" algn="ctr" eaLnBrk="1" hangingPunct="1">
              <a:lnSpc>
                <a:spcPct val="90000"/>
              </a:lnSpc>
            </a:pPr>
            <a:r>
              <a:rPr lang="zh-CN" altLang="en-US" sz="2200" dirty="0">
                <a:ea typeface="ＭＳ Ｐゴシック" panose="020B0600070205080204" pitchFamily="34" charset="-128"/>
              </a:rPr>
              <a:t>又看到了第二种输入及其对应的类别，还剩多少种不同的分类？</a:t>
            </a:r>
            <a:r>
              <a:rPr lang="en-US" altLang="ja-JP" sz="2200" dirty="0">
                <a:ea typeface="ＭＳ Ｐゴシック" panose="020B0600070205080204" pitchFamily="34" charset="-128"/>
              </a:rPr>
              <a:t> </a:t>
            </a:r>
          </a:p>
        </p:txBody>
      </p:sp>
      <p:sp>
        <p:nvSpPr>
          <p:cNvPr id="14" name="Rectangle 13">
            <a:extLst>
              <a:ext uri="{FF2B5EF4-FFF2-40B4-BE49-F238E27FC236}">
                <a16:creationId xmlns:a16="http://schemas.microsoft.com/office/drawing/2014/main" id="{6FABFFED-273B-448D-BF79-B726D29FEF8A}"/>
              </a:ext>
            </a:extLst>
          </p:cNvPr>
          <p:cNvSpPr/>
          <p:nvPr/>
        </p:nvSpPr>
        <p:spPr>
          <a:xfrm>
            <a:off x="-209551" y="5135880"/>
            <a:ext cx="9410702" cy="397032"/>
          </a:xfrm>
          <a:prstGeom prst="rect">
            <a:avLst/>
          </a:prstGeom>
        </p:spPr>
        <p:txBody>
          <a:bodyPr wrap="square">
            <a:spAutoFit/>
          </a:bodyPr>
          <a:lstStyle/>
          <a:p>
            <a:pPr lvl="1" algn="ctr" eaLnBrk="1" hangingPunct="1">
              <a:lnSpc>
                <a:spcPct val="90000"/>
              </a:lnSpc>
            </a:pPr>
            <a:r>
              <a:rPr lang="zh-CN" altLang="en-US" sz="2200" dirty="0">
                <a:ea typeface="ＭＳ Ｐゴシック" panose="020B0600070205080204" pitchFamily="34" charset="-128"/>
              </a:rPr>
              <a:t>依然有</a:t>
            </a:r>
            <a:r>
              <a:rPr lang="en-US" altLang="zh-CN" sz="2200" dirty="0">
                <a:ea typeface="ＭＳ Ｐゴシック" panose="020B0600070205080204" pitchFamily="34" charset="-128"/>
              </a:rPr>
              <a:t>30</a:t>
            </a:r>
            <a:r>
              <a:rPr lang="zh-CN" altLang="en-US" sz="2200" dirty="0">
                <a:ea typeface="ＭＳ Ｐゴシック" panose="020B0600070205080204" pitchFamily="34" charset="-128"/>
              </a:rPr>
              <a:t>种输入没有出现，每种输入有两种不同的分类结果</a:t>
            </a:r>
            <a:endParaRPr lang="en-US" altLang="ja-JP" sz="2200" dirty="0">
              <a:ea typeface="ＭＳ Ｐゴシック" panose="020B0600070205080204" pitchFamily="34" charset="-128"/>
            </a:endParaRPr>
          </a:p>
        </p:txBody>
      </p:sp>
    </p:spTree>
    <p:custDataLst>
      <p:tags r:id="rId1"/>
    </p:custDataLst>
    <p:extLst>
      <p:ext uri="{BB962C8B-B14F-4D97-AF65-F5344CB8AC3E}">
        <p14:creationId xmlns:p14="http://schemas.microsoft.com/office/powerpoint/2010/main" val="42148609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复杂度 </a:t>
            </a:r>
            <a:r>
              <a:rPr lang="en-US" altLang="zh-CN" dirty="0">
                <a:ea typeface="SimSun" panose="02010600030101010101" pitchFamily="2" charset="-122"/>
              </a:rPr>
              <a:t>(2)</a:t>
            </a:r>
          </a:p>
        </p:txBody>
      </p:sp>
      <p:sp>
        <p:nvSpPr>
          <p:cNvPr id="62468" name="Rectangle 3"/>
          <p:cNvSpPr>
            <a:spLocks noGrp="1" noChangeArrowheads="1"/>
          </p:cNvSpPr>
          <p:nvPr>
            <p:ph type="body" idx="1"/>
          </p:nvPr>
        </p:nvSpPr>
        <p:spPr>
          <a:xfrm>
            <a:off x="685800" y="1376362"/>
            <a:ext cx="7772400" cy="4491038"/>
          </a:xfrm>
        </p:spPr>
        <p:txBody>
          <a:bodyPr/>
          <a:lstStyle/>
          <a:p>
            <a:pPr eaLnBrk="1" hangingPunct="1"/>
            <a:endParaRPr lang="en-US" altLang="ja-JP" dirty="0">
              <a:ea typeface="ＭＳ Ｐゴシック" panose="020B0600070205080204" pitchFamily="34" charset="-128"/>
            </a:endParaRPr>
          </a:p>
          <a:p>
            <a:pPr lvl="1" eaLnBrk="1" hangingPunct="1"/>
            <a:endParaRPr lang="en-US" altLang="ja-JP" dirty="0">
              <a:ea typeface="ＭＳ Ｐゴシック" panose="020B0600070205080204" pitchFamily="34" charset="-128"/>
            </a:endParaRPr>
          </a:p>
          <a:p>
            <a:pPr eaLnBrk="1" hangingPunct="1"/>
            <a:endParaRPr lang="en-US" altLang="ja-JP" dirty="0">
              <a:ea typeface="ＭＳ Ｐゴシック" panose="020B0600070205080204" pitchFamily="34" charset="-128"/>
            </a:endParaRPr>
          </a:p>
        </p:txBody>
      </p:sp>
      <p:sp>
        <p:nvSpPr>
          <p:cNvPr id="8" name="TextBox 7">
            <a:extLst>
              <a:ext uri="{FF2B5EF4-FFF2-40B4-BE49-F238E27FC236}">
                <a16:creationId xmlns:a16="http://schemas.microsoft.com/office/drawing/2014/main" id="{EEE4B1CA-6D18-4524-8DD4-4E9A9B8367E9}"/>
              </a:ext>
            </a:extLst>
          </p:cNvPr>
          <p:cNvSpPr txBox="1"/>
          <p:nvPr/>
        </p:nvSpPr>
        <p:spPr>
          <a:xfrm>
            <a:off x="537210" y="5840076"/>
            <a:ext cx="8069579" cy="430887"/>
          </a:xfrm>
          <a:prstGeom prst="rect">
            <a:avLst/>
          </a:prstGeom>
          <a:noFill/>
        </p:spPr>
        <p:txBody>
          <a:bodyPr wrap="square" rtlCol="0">
            <a:spAutoFit/>
          </a:bodyPr>
          <a:lstStyle/>
          <a:p>
            <a:pPr algn="ctr"/>
            <a:r>
              <a:rPr lang="en-US" altLang="zh-CN" sz="2200" dirty="0"/>
              <a:t>2</a:t>
            </a:r>
            <a:r>
              <a:rPr lang="en-US" altLang="zh-CN" sz="2200" baseline="30000" dirty="0"/>
              <a:t>29</a:t>
            </a:r>
            <a:endParaRPr lang="zh-CN" altLang="en-US" sz="2200" dirty="0"/>
          </a:p>
        </p:txBody>
      </p:sp>
      <p:sp>
        <p:nvSpPr>
          <p:cNvPr id="11" name="Rectangle 10">
            <a:extLst>
              <a:ext uri="{FF2B5EF4-FFF2-40B4-BE49-F238E27FC236}">
                <a16:creationId xmlns:a16="http://schemas.microsoft.com/office/drawing/2014/main" id="{8582BDD7-FD3B-4121-9780-946C6839DD6B}"/>
              </a:ext>
            </a:extLst>
          </p:cNvPr>
          <p:cNvSpPr/>
          <p:nvPr/>
        </p:nvSpPr>
        <p:spPr>
          <a:xfrm>
            <a:off x="495298" y="4175171"/>
            <a:ext cx="8153401" cy="397032"/>
          </a:xfrm>
          <a:prstGeom prst="rect">
            <a:avLst/>
          </a:prstGeom>
        </p:spPr>
        <p:txBody>
          <a:bodyPr wrap="square">
            <a:spAutoFit/>
          </a:bodyPr>
          <a:lstStyle/>
          <a:p>
            <a:pPr lvl="1" algn="ctr" eaLnBrk="1" hangingPunct="1">
              <a:lnSpc>
                <a:spcPct val="90000"/>
              </a:lnSpc>
            </a:pPr>
            <a:r>
              <a:rPr lang="zh-CN" altLang="en-US" sz="2200" dirty="0">
                <a:ea typeface="ＭＳ Ｐゴシック" panose="020B0600070205080204" pitchFamily="34" charset="-128"/>
              </a:rPr>
              <a:t>又看到了第三种输入及其对应的类别，还剩多少种不同的分类？</a:t>
            </a:r>
            <a:r>
              <a:rPr lang="en-US" altLang="ja-JP" sz="2200" dirty="0">
                <a:ea typeface="ＭＳ Ｐゴシック" panose="020B0600070205080204" pitchFamily="34" charset="-128"/>
              </a:rPr>
              <a:t> </a:t>
            </a:r>
          </a:p>
        </p:txBody>
      </p:sp>
      <p:sp>
        <p:nvSpPr>
          <p:cNvPr id="14" name="Rectangle 13">
            <a:extLst>
              <a:ext uri="{FF2B5EF4-FFF2-40B4-BE49-F238E27FC236}">
                <a16:creationId xmlns:a16="http://schemas.microsoft.com/office/drawing/2014/main" id="{6FABFFED-273B-448D-BF79-B726D29FEF8A}"/>
              </a:ext>
            </a:extLst>
          </p:cNvPr>
          <p:cNvSpPr/>
          <p:nvPr/>
        </p:nvSpPr>
        <p:spPr>
          <a:xfrm>
            <a:off x="-209551" y="5135880"/>
            <a:ext cx="9410702" cy="397032"/>
          </a:xfrm>
          <a:prstGeom prst="rect">
            <a:avLst/>
          </a:prstGeom>
        </p:spPr>
        <p:txBody>
          <a:bodyPr wrap="square">
            <a:spAutoFit/>
          </a:bodyPr>
          <a:lstStyle/>
          <a:p>
            <a:pPr lvl="1" algn="ctr" eaLnBrk="1" hangingPunct="1">
              <a:lnSpc>
                <a:spcPct val="90000"/>
              </a:lnSpc>
            </a:pPr>
            <a:r>
              <a:rPr lang="zh-CN" altLang="en-US" sz="2200" dirty="0">
                <a:ea typeface="ＭＳ Ｐゴシック" panose="020B0600070205080204" pitchFamily="34" charset="-128"/>
              </a:rPr>
              <a:t>依然有</a:t>
            </a:r>
            <a:r>
              <a:rPr lang="en-US" altLang="zh-CN" sz="2200" dirty="0">
                <a:ea typeface="ＭＳ Ｐゴシック" panose="020B0600070205080204" pitchFamily="34" charset="-128"/>
              </a:rPr>
              <a:t>29</a:t>
            </a:r>
            <a:r>
              <a:rPr lang="zh-CN" altLang="en-US" sz="2200" dirty="0">
                <a:ea typeface="ＭＳ Ｐゴシック" panose="020B0600070205080204" pitchFamily="34" charset="-128"/>
              </a:rPr>
              <a:t>种输入没有出现，每种输入有两种不同的分类结果</a:t>
            </a:r>
            <a:endParaRPr lang="en-US" altLang="ja-JP" sz="2200" dirty="0">
              <a:ea typeface="ＭＳ Ｐゴシック" panose="020B0600070205080204" pitchFamily="34" charset="-128"/>
            </a:endParaRPr>
          </a:p>
        </p:txBody>
      </p:sp>
      <p:graphicFrame>
        <p:nvGraphicFramePr>
          <p:cNvPr id="9" name="Group 124">
            <a:extLst>
              <a:ext uri="{FF2B5EF4-FFF2-40B4-BE49-F238E27FC236}">
                <a16:creationId xmlns:a16="http://schemas.microsoft.com/office/drawing/2014/main" id="{8A386A0E-D495-4BF7-93D1-FFF5D4C7283E}"/>
              </a:ext>
            </a:extLst>
          </p:cNvPr>
          <p:cNvGraphicFramePr>
            <a:graphicFrameLocks noGrp="1"/>
          </p:cNvGraphicFramePr>
          <p:nvPr/>
        </p:nvGraphicFramePr>
        <p:xfrm>
          <a:off x="762000" y="1850136"/>
          <a:ext cx="7467600" cy="12192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病人</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发烧</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鼻塞</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流涕</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畏寒</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头痛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感冒</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3</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072504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复杂度 </a:t>
            </a:r>
            <a:r>
              <a:rPr lang="en-US" altLang="zh-CN" dirty="0">
                <a:ea typeface="SimSun" panose="02010600030101010101" pitchFamily="2" charset="-122"/>
              </a:rPr>
              <a:t>(2)</a:t>
            </a:r>
          </a:p>
        </p:txBody>
      </p:sp>
      <p:sp>
        <p:nvSpPr>
          <p:cNvPr id="62468" name="Rectangle 3"/>
          <p:cNvSpPr>
            <a:spLocks noGrp="1" noChangeArrowheads="1"/>
          </p:cNvSpPr>
          <p:nvPr>
            <p:ph type="body" idx="1"/>
          </p:nvPr>
        </p:nvSpPr>
        <p:spPr>
          <a:xfrm>
            <a:off x="685800" y="1376362"/>
            <a:ext cx="7772400" cy="4491038"/>
          </a:xfrm>
        </p:spPr>
        <p:txBody>
          <a:bodyPr/>
          <a:lstStyle/>
          <a:p>
            <a:pPr eaLnBrk="1" hangingPunct="1"/>
            <a:endParaRPr lang="en-US" altLang="ja-JP" dirty="0">
              <a:ea typeface="ＭＳ Ｐゴシック" panose="020B0600070205080204" pitchFamily="34" charset="-128"/>
            </a:endParaRPr>
          </a:p>
          <a:p>
            <a:pPr lvl="1" eaLnBrk="1" hangingPunct="1"/>
            <a:endParaRPr lang="en-US" altLang="ja-JP" dirty="0">
              <a:ea typeface="ＭＳ Ｐゴシック" panose="020B0600070205080204" pitchFamily="34" charset="-128"/>
            </a:endParaRPr>
          </a:p>
          <a:p>
            <a:pPr eaLnBrk="1" hangingPunct="1"/>
            <a:endParaRPr lang="en-US" altLang="ja-JP" dirty="0">
              <a:ea typeface="ＭＳ Ｐゴシック" panose="020B0600070205080204" pitchFamily="34" charset="-128"/>
            </a:endParaRPr>
          </a:p>
        </p:txBody>
      </p:sp>
      <p:sp>
        <p:nvSpPr>
          <p:cNvPr id="11" name="Rectangle 10">
            <a:extLst>
              <a:ext uri="{FF2B5EF4-FFF2-40B4-BE49-F238E27FC236}">
                <a16:creationId xmlns:a16="http://schemas.microsoft.com/office/drawing/2014/main" id="{8582BDD7-FD3B-4121-9780-946C6839DD6B}"/>
              </a:ext>
            </a:extLst>
          </p:cNvPr>
          <p:cNvSpPr/>
          <p:nvPr/>
        </p:nvSpPr>
        <p:spPr>
          <a:xfrm>
            <a:off x="762000" y="3788665"/>
            <a:ext cx="8001000" cy="1006429"/>
          </a:xfrm>
          <a:prstGeom prst="rect">
            <a:avLst/>
          </a:prstGeom>
        </p:spPr>
        <p:txBody>
          <a:bodyPr wrap="square">
            <a:spAutoFit/>
          </a:bodyPr>
          <a:lstStyle/>
          <a:p>
            <a:pPr lvl="1" algn="ctr" eaLnBrk="1" hangingPunct="1">
              <a:lnSpc>
                <a:spcPct val="90000"/>
              </a:lnSpc>
            </a:pPr>
            <a:r>
              <a:rPr lang="zh-CN" altLang="en-US" sz="2200" dirty="0">
                <a:solidFill>
                  <a:srgbClr val="FF0000"/>
                </a:solidFill>
                <a:ea typeface="ＭＳ Ｐゴシック" panose="020B0600070205080204" pitchFamily="34" charset="-128"/>
              </a:rPr>
              <a:t>没有任何假设的前提下</a:t>
            </a:r>
            <a:r>
              <a:rPr lang="zh-CN" altLang="en-US" sz="2200" dirty="0">
                <a:ea typeface="ＭＳ Ｐゴシック" panose="020B0600070205080204" pitchFamily="34" charset="-128"/>
              </a:rPr>
              <a:t>，只有看到所有的</a:t>
            </a:r>
            <a:r>
              <a:rPr lang="en-US" altLang="zh-CN" sz="2200" dirty="0">
                <a:ea typeface="ＭＳ Ｐゴシック" panose="020B0600070205080204" pitchFamily="34" charset="-128"/>
              </a:rPr>
              <a:t>32</a:t>
            </a:r>
            <a:r>
              <a:rPr lang="zh-CN" altLang="en-US" sz="2200" dirty="0">
                <a:ea typeface="ＭＳ Ｐゴシック" panose="020B0600070205080204" pitchFamily="34" charset="-128"/>
              </a:rPr>
              <a:t>种不同的输入，</a:t>
            </a:r>
            <a:r>
              <a:rPr lang="en-US" altLang="ja-JP" sz="2200" dirty="0">
                <a:ea typeface="ＭＳ Ｐゴシック" panose="020B0600070205080204" pitchFamily="34" charset="-128"/>
              </a:rPr>
              <a:t> </a:t>
            </a:r>
            <a:r>
              <a:rPr lang="zh-CN" altLang="en-US" sz="2200" dirty="0">
                <a:ea typeface="ＭＳ Ｐゴシック" panose="020B0600070205080204" pitchFamily="34" charset="-128"/>
              </a:rPr>
              <a:t>程序才能学习到完全正确的分类。否则就会有某些未知的输入，程序遇到这些输入根本不知道如何进行分类。</a:t>
            </a:r>
            <a:endParaRPr lang="en-US" altLang="ja-JP" sz="2200" dirty="0">
              <a:ea typeface="ＭＳ Ｐゴシック" panose="020B0600070205080204" pitchFamily="34" charset="-128"/>
            </a:endParaRPr>
          </a:p>
        </p:txBody>
      </p:sp>
      <p:sp>
        <p:nvSpPr>
          <p:cNvPr id="14" name="Rectangle 13">
            <a:extLst>
              <a:ext uri="{FF2B5EF4-FFF2-40B4-BE49-F238E27FC236}">
                <a16:creationId xmlns:a16="http://schemas.microsoft.com/office/drawing/2014/main" id="{6FABFFED-273B-448D-BF79-B726D29FEF8A}"/>
              </a:ext>
            </a:extLst>
          </p:cNvPr>
          <p:cNvSpPr/>
          <p:nvPr/>
        </p:nvSpPr>
        <p:spPr>
          <a:xfrm>
            <a:off x="1800224" y="5353788"/>
            <a:ext cx="5543551" cy="397032"/>
          </a:xfrm>
          <a:prstGeom prst="rect">
            <a:avLst/>
          </a:prstGeom>
        </p:spPr>
        <p:txBody>
          <a:bodyPr wrap="square">
            <a:spAutoFit/>
          </a:bodyPr>
          <a:lstStyle/>
          <a:p>
            <a:pPr lvl="1" algn="ctr" eaLnBrk="1" hangingPunct="1">
              <a:lnSpc>
                <a:spcPct val="90000"/>
              </a:lnSpc>
            </a:pPr>
            <a:r>
              <a:rPr lang="zh-CN" altLang="en-US" sz="2200" dirty="0">
                <a:solidFill>
                  <a:srgbClr val="FF0000"/>
                </a:solidFill>
                <a:ea typeface="ＭＳ Ｐゴシック" panose="020B0600070205080204" pitchFamily="34" charset="-128"/>
              </a:rPr>
              <a:t>无假设，不学习！</a:t>
            </a:r>
            <a:endParaRPr lang="en-US" altLang="ja-JP" sz="2200" dirty="0">
              <a:solidFill>
                <a:srgbClr val="FF0000"/>
              </a:solidFill>
              <a:ea typeface="ＭＳ Ｐゴシック" panose="020B0600070205080204" pitchFamily="34" charset="-128"/>
            </a:endParaRPr>
          </a:p>
        </p:txBody>
      </p:sp>
      <p:graphicFrame>
        <p:nvGraphicFramePr>
          <p:cNvPr id="9" name="Group 124">
            <a:extLst>
              <a:ext uri="{FF2B5EF4-FFF2-40B4-BE49-F238E27FC236}">
                <a16:creationId xmlns:a16="http://schemas.microsoft.com/office/drawing/2014/main" id="{8A386A0E-D495-4BF7-93D1-FFF5D4C7283E}"/>
              </a:ext>
            </a:extLst>
          </p:cNvPr>
          <p:cNvGraphicFramePr>
            <a:graphicFrameLocks noGrp="1"/>
          </p:cNvGraphicFramePr>
          <p:nvPr/>
        </p:nvGraphicFramePr>
        <p:xfrm>
          <a:off x="762000" y="1850136"/>
          <a:ext cx="7467600" cy="1219200"/>
        </p:xfrm>
        <a:graphic>
          <a:graphicData uri="http://schemas.openxmlformats.org/drawingml/2006/table">
            <a:tbl>
              <a:tblPr/>
              <a:tblGrid>
                <a:gridCol w="533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Comic Sans MS" panose="030F0702030302020204" pitchFamily="66" charset="0"/>
                          <a:ea typeface="SimSun" panose="02010600030101010101" pitchFamily="2" charset="-122"/>
                        </a:rPr>
                        <a:t>病人</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发烧</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鼻塞</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流涕</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畏寒</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a:ln>
                            <a:noFill/>
                          </a:ln>
                          <a:solidFill>
                            <a:schemeClr val="tx1"/>
                          </a:solidFill>
                          <a:effectLst/>
                          <a:latin typeface="Times New Roman" panose="02020603050405020304" pitchFamily="18" charset="0"/>
                          <a:ea typeface="SimSun" panose="02010600030101010101" pitchFamily="2" charset="-122"/>
                        </a:rPr>
                        <a:t>头痛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1"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感冒</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69875">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1"/>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r h="271463">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SimSun" panose="02010600030101010101" pitchFamily="2" charset="-122"/>
                        </a:rPr>
                        <a:t>3</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SimSun" panose="02010600030101010101" pitchFamily="2" charset="-122"/>
                        </a:rPr>
                        <a:t>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rPr>
                        <a:t>是</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9273417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83C17-6C84-3991-BBFC-E62980724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693AC-74A0-EB5C-0CCF-DC17D249EC8A}"/>
              </a:ext>
            </a:extLst>
          </p:cNvPr>
          <p:cNvSpPr>
            <a:spLocks noGrp="1"/>
          </p:cNvSpPr>
          <p:nvPr>
            <p:ph type="title"/>
          </p:nvPr>
        </p:nvSpPr>
        <p:spPr/>
        <p:txBody>
          <a:bodyPr/>
          <a:lstStyle/>
          <a:p>
            <a:r>
              <a:rPr lang="zh-CN" altLang="en-US" dirty="0">
                <a:ea typeface="ＭＳ Ｐゴシック" panose="020B0600070205080204" pitchFamily="34" charset="-128"/>
              </a:rPr>
              <a:t>归纳学习的一般模式</a:t>
            </a:r>
            <a:endParaRPr lang="zh-CN" altLang="en-US" dirty="0"/>
          </a:p>
        </p:txBody>
      </p:sp>
      <p:sp>
        <p:nvSpPr>
          <p:cNvPr id="3" name="Content Placeholder 2">
            <a:extLst>
              <a:ext uri="{FF2B5EF4-FFF2-40B4-BE49-F238E27FC236}">
                <a16:creationId xmlns:a16="http://schemas.microsoft.com/office/drawing/2014/main" id="{CBCEAA88-FBF2-5F0C-A0CD-9BF3678B61CC}"/>
              </a:ext>
            </a:extLst>
          </p:cNvPr>
          <p:cNvSpPr>
            <a:spLocks noGrp="1"/>
          </p:cNvSpPr>
          <p:nvPr>
            <p:ph idx="1"/>
          </p:nvPr>
        </p:nvSpPr>
        <p:spPr>
          <a:xfrm>
            <a:off x="762000" y="1600200"/>
            <a:ext cx="7772400" cy="5257800"/>
          </a:xfrm>
        </p:spPr>
        <p:txBody>
          <a:bodyPr/>
          <a:lstStyle/>
          <a:p>
            <a:r>
              <a:rPr lang="zh-CN" altLang="en-US" dirty="0"/>
              <a:t>针对问题</a:t>
            </a:r>
            <a:endParaRPr lang="en-US" altLang="zh-CN" dirty="0"/>
          </a:p>
          <a:p>
            <a:pPr lvl="1"/>
            <a:r>
              <a:rPr lang="zh-CN" altLang="en-US" dirty="0"/>
              <a:t>预设或猜测一类候选分类器（</a:t>
            </a:r>
            <a:r>
              <a:rPr lang="en-US" altLang="zh-CN" dirty="0"/>
              <a:t>hypotheses</a:t>
            </a:r>
            <a:r>
              <a:rPr lang="zh-CN" altLang="en-US" dirty="0"/>
              <a:t>）的范围</a:t>
            </a:r>
            <a:endParaRPr lang="en-US" altLang="zh-CN" dirty="0"/>
          </a:p>
          <a:p>
            <a:pPr lvl="2"/>
            <a:r>
              <a:rPr lang="zh-CN" altLang="en-US" dirty="0"/>
              <a:t>归纳偏好（</a:t>
            </a:r>
            <a:r>
              <a:rPr lang="en-US" altLang="zh-CN" dirty="0"/>
              <a:t>inductive bias</a:t>
            </a:r>
            <a:r>
              <a:rPr lang="zh-CN" altLang="en-US" dirty="0"/>
              <a:t>）</a:t>
            </a:r>
            <a:endParaRPr lang="en-US" altLang="zh-CN" dirty="0"/>
          </a:p>
          <a:p>
            <a:r>
              <a:rPr lang="zh-CN" altLang="en-US" dirty="0"/>
              <a:t>给定训练数据</a:t>
            </a:r>
            <a:endParaRPr lang="en-US" altLang="zh-CN" dirty="0"/>
          </a:p>
          <a:p>
            <a:pPr lvl="1"/>
            <a:r>
              <a:rPr lang="zh-CN" altLang="en-US" dirty="0"/>
              <a:t>从预设范围中挑选出与训练数据最吻合的分类器</a:t>
            </a:r>
            <a:endParaRPr lang="en-US" altLang="zh-CN" dirty="0"/>
          </a:p>
        </p:txBody>
      </p:sp>
    </p:spTree>
    <p:custDataLst>
      <p:tags r:id="rId1"/>
    </p:custDataLst>
    <p:extLst>
      <p:ext uri="{BB962C8B-B14F-4D97-AF65-F5344CB8AC3E}">
        <p14:creationId xmlns:p14="http://schemas.microsoft.com/office/powerpoint/2010/main" val="425561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预设：线性分类器</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p:txBody>
              <a:bodyPr/>
              <a:lstStyle/>
              <a:p>
                <a:r>
                  <a:rPr lang="zh-CN" altLang="en-US" dirty="0"/>
                  <a:t>属性的权重</a:t>
                </a:r>
                <a:endParaRPr lang="en-US" altLang="zh-CN" dirty="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a14:m>
                <a:endParaRPr lang="en-US" altLang="zh-CN" dirty="0"/>
              </a:p>
              <a:p>
                <a:r>
                  <a:rPr lang="zh-CN" altLang="en-US" dirty="0"/>
                  <a:t>偏向</a:t>
                </a:r>
                <a:endParaRPr lang="en-US" altLang="zh-CN" dirty="0"/>
              </a:p>
              <a:p>
                <a:pPr lvl="1"/>
                <a14:m>
                  <m:oMath xmlns:m="http://schemas.openxmlformats.org/officeDocument/2006/math">
                    <m:r>
                      <a:rPr lang="en-US" altLang="zh-CN" b="0" i="1" dirty="0" smtClean="0">
                        <a:latin typeface="Cambria Math" panose="02040503050406030204" pitchFamily="18" charset="0"/>
                      </a:rPr>
                      <m:t>𝑏</m:t>
                    </m:r>
                  </m:oMath>
                </a14:m>
                <a:endParaRPr lang="en-US" altLang="zh-CN" dirty="0"/>
              </a:p>
              <a:p>
                <a:r>
                  <a:rPr lang="zh-CN" altLang="en-US" dirty="0"/>
                  <a:t>对数据</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r>
                      <a:rPr lang="en-US" altLang="zh-CN" i="1">
                        <a:latin typeface="Cambria Math" panose="02040503050406030204" pitchFamily="18" charset="0"/>
                      </a:rPr>
                      <m:t>)</m:t>
                    </m:r>
                  </m:oMath>
                </a14:m>
                <a:r>
                  <a:rPr lang="zh-CN" altLang="en-US" dirty="0"/>
                  <a:t>进行分类</a:t>
                </a:r>
                <a:endParaRPr lang="en-US" altLang="zh-CN"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m:t>
                          </m:r>
                        </m:sub>
                      </m:sSub>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b="0" i="1" smtClean="0">
                              <a:latin typeface="Cambria Math" panose="02040503050406030204" pitchFamily="18" charset="0"/>
                            </a:rPr>
                            <m:t>2</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𝑛</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𝑏</m:t>
                      </m:r>
                      <m:r>
                        <a:rPr lang="en-US" altLang="zh-CN" sz="2400" b="0" i="1" smtClean="0">
                          <a:latin typeface="Cambria Math" panose="02040503050406030204" pitchFamily="18" charset="0"/>
                        </a:rPr>
                        <m:t>=</m:t>
                      </m:r>
                      <m:r>
                        <a:rPr lang="en-US" altLang="zh-CN" sz="2400" b="1" i="0" smtClean="0">
                          <a:latin typeface="Cambria Math" panose="02040503050406030204" pitchFamily="18" charset="0"/>
                        </a:rPr>
                        <m:t>𝐰</m:t>
                      </m:r>
                      <m:r>
                        <a:rPr lang="en-US" altLang="zh-CN" sz="2400" b="0" i="1" smtClean="0">
                          <a:latin typeface="Cambria Math" panose="02040503050406030204" pitchFamily="18" charset="0"/>
                          <a:ea typeface="Cambria Math" panose="02040503050406030204" pitchFamily="18" charset="0"/>
                        </a:rPr>
                        <m:t>∙</m:t>
                      </m:r>
                      <m:r>
                        <a:rPr lang="en-US" altLang="zh-CN" sz="2400" b="1" i="0" smtClean="0">
                          <a:latin typeface="Cambria Math" panose="02040503050406030204" pitchFamily="18" charset="0"/>
                          <a:ea typeface="Cambria Math" panose="02040503050406030204" pitchFamily="18" charset="0"/>
                        </a:rPr>
                        <m:t>𝐱</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𝑏</m:t>
                      </m:r>
                      <m:r>
                        <a:rPr lang="en-US" altLang="zh-CN" sz="2400" b="0" i="1" smtClean="0">
                          <a:latin typeface="Cambria Math" panose="02040503050406030204" pitchFamily="18" charset="0"/>
                        </a:rPr>
                        <m:t>&gt;0⇒1</m:t>
                      </m:r>
                    </m:oMath>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m:t>
                      </m:r>
                      <m:r>
                        <a:rPr lang="en-US" altLang="zh-CN" sz="2400" i="1">
                          <a:latin typeface="Cambria Math" panose="02040503050406030204" pitchFamily="18" charset="0"/>
                        </a:rPr>
                        <m:t>𝑏</m:t>
                      </m:r>
                      <m:r>
                        <a:rPr lang="en-US" altLang="zh-CN" sz="2400" b="0" i="1" smtClean="0">
                          <a:latin typeface="Cambria Math" panose="02040503050406030204" pitchFamily="18" charset="0"/>
                        </a:rPr>
                        <m:t>=</m:t>
                      </m:r>
                      <m:r>
                        <a:rPr lang="en-US" altLang="zh-CN" sz="2400" b="1">
                          <a:latin typeface="Cambria Math" panose="02040503050406030204" pitchFamily="18" charset="0"/>
                        </a:rPr>
                        <m:t>𝐰</m:t>
                      </m:r>
                      <m:r>
                        <a:rPr lang="en-US" altLang="zh-CN" sz="2400" i="1">
                          <a:latin typeface="Cambria Math" panose="02040503050406030204" pitchFamily="18" charset="0"/>
                          <a:ea typeface="Cambria Math" panose="02040503050406030204" pitchFamily="18" charset="0"/>
                        </a:rPr>
                        <m:t>∙</m:t>
                      </m:r>
                      <m:r>
                        <a:rPr lang="en-US" altLang="zh-CN" sz="2400" b="1">
                          <a:latin typeface="Cambria Math" panose="02040503050406030204" pitchFamily="18" charset="0"/>
                          <a:ea typeface="Cambria Math" panose="02040503050406030204" pitchFamily="18" charset="0"/>
                        </a:rPr>
                        <m:t>𝐱</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𝑏</m:t>
                      </m:r>
                      <m:r>
                        <a:rPr lang="en-US" altLang="zh-CN" sz="2400" b="0" i="1" smtClean="0">
                          <a:latin typeface="Cambria Math" panose="02040503050406030204" pitchFamily="18" charset="0"/>
                        </a:rPr>
                        <m:t>&lt;</m:t>
                      </m:r>
                      <m:r>
                        <a:rPr lang="en-US" altLang="zh-CN" sz="2400" i="1">
                          <a:latin typeface="Cambria Math" panose="02040503050406030204" pitchFamily="18" charset="0"/>
                        </a:rPr>
                        <m:t>0⇒</m:t>
                      </m:r>
                      <m:r>
                        <a:rPr lang="en-US" altLang="zh-CN" sz="2400" b="0" i="1" smtClean="0">
                          <a:latin typeface="Cambria Math" panose="02040503050406030204" pitchFamily="18" charset="0"/>
                        </a:rPr>
                        <m:t>−</m:t>
                      </m:r>
                      <m:r>
                        <a:rPr lang="en-US" altLang="zh-CN" sz="2400" i="1">
                          <a:latin typeface="Cambria Math" panose="02040503050406030204" pitchFamily="18" charset="0"/>
                        </a:rPr>
                        <m:t>1</m:t>
                      </m:r>
                    </m:oMath>
                  </m:oMathPara>
                </a14:m>
                <a:endParaRPr lang="en-US" altLang="zh-CN" sz="2400" dirty="0"/>
              </a:p>
            </p:txBody>
          </p:sp>
        </mc:Choice>
        <mc:Fallback xmlns="">
          <p:sp>
            <p:nvSpPr>
              <p:cNvPr id="3" name="Content Placeholder 2">
                <a:extLst>
                  <a:ext uri="{FF2B5EF4-FFF2-40B4-BE49-F238E27FC236}">
                    <a16:creationId xmlns:a16="http://schemas.microsoft.com/office/drawing/2014/main" id="{9EA0F165-8941-4D6C-BAE4-F52C9F12FF6C}"/>
                  </a:ext>
                </a:extLst>
              </p:cNvPr>
              <p:cNvSpPr>
                <a:spLocks noGrp="1" noRot="1" noChangeAspect="1" noMove="1" noResize="1" noEditPoints="1" noAdjustHandles="1" noChangeArrowheads="1" noChangeShapeType="1" noTextEdit="1"/>
              </p:cNvSpPr>
              <p:nvPr>
                <p:ph idx="1"/>
              </p:nvPr>
            </p:nvSpPr>
            <p:spPr>
              <a:blipFill>
                <a:blip r:embed="rId3"/>
                <a:stretch>
                  <a:fillRect l="-549" t="-24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89127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二维的示例</a:t>
            </a:r>
            <a:endParaRPr lang="zh-CN" altLang="en-US" dirty="0"/>
          </a:p>
        </p:txBody>
      </p:sp>
      <p:cxnSp>
        <p:nvCxnSpPr>
          <p:cNvPr id="5" name="Straight Arrow Connector 4">
            <a:extLst>
              <a:ext uri="{FF2B5EF4-FFF2-40B4-BE49-F238E27FC236}">
                <a16:creationId xmlns:a16="http://schemas.microsoft.com/office/drawing/2014/main" id="{FF3C93CA-14ED-4897-B617-3BF2205C77DD}"/>
              </a:ext>
            </a:extLst>
          </p:cNvPr>
          <p:cNvCxnSpPr/>
          <p:nvPr/>
        </p:nvCxnSpPr>
        <p:spPr bwMode="auto">
          <a:xfrm>
            <a:off x="1905000" y="3886200"/>
            <a:ext cx="5257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E1013AFB-C190-4B3F-8B42-34E8A2E53CFF}"/>
              </a:ext>
            </a:extLst>
          </p:cNvPr>
          <p:cNvCxnSpPr>
            <a:cxnSpLocks/>
          </p:cNvCxnSpPr>
          <p:nvPr/>
        </p:nvCxnSpPr>
        <p:spPr bwMode="auto">
          <a:xfrm flipV="1">
            <a:off x="4556760" y="1524000"/>
            <a:ext cx="0" cy="4495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2" name="Rectangle 31">
            <a:extLst>
              <a:ext uri="{FF2B5EF4-FFF2-40B4-BE49-F238E27FC236}">
                <a16:creationId xmlns:a16="http://schemas.microsoft.com/office/drawing/2014/main" id="{3324210B-D021-46F6-95F9-9B1A5A8B1161}"/>
              </a:ext>
            </a:extLst>
          </p:cNvPr>
          <p:cNvSpPr/>
          <p:nvPr/>
        </p:nvSpPr>
        <p:spPr>
          <a:xfrm>
            <a:off x="6256022" y="3429000"/>
            <a:ext cx="1904998" cy="397032"/>
          </a:xfrm>
          <a:prstGeom prst="rect">
            <a:avLst/>
          </a:prstGeom>
        </p:spPr>
        <p:txBody>
          <a:bodyPr wrap="square">
            <a:spAutoFit/>
          </a:bodyPr>
          <a:lstStyle/>
          <a:p>
            <a:pPr marL="0" lvl="1" algn="ctr" eaLnBrk="1" hangingPunct="1">
              <a:lnSpc>
                <a:spcPct val="90000"/>
              </a:lnSpc>
            </a:pPr>
            <a:r>
              <a:rPr lang="zh-CN" altLang="en-US" sz="2200" dirty="0">
                <a:ea typeface="ＭＳ Ｐゴシック" panose="020B0600070205080204" pitchFamily="34" charset="-128"/>
              </a:rPr>
              <a:t>属性</a:t>
            </a:r>
            <a:r>
              <a:rPr lang="en-US" altLang="zh-CN" sz="2200" dirty="0">
                <a:ea typeface="ＭＳ Ｐゴシック" panose="020B0600070205080204" pitchFamily="34" charset="-128"/>
              </a:rPr>
              <a:t>1</a:t>
            </a:r>
            <a:endParaRPr lang="en-US" altLang="ja-JP" sz="2200" dirty="0">
              <a:ea typeface="ＭＳ Ｐゴシック" panose="020B0600070205080204" pitchFamily="34" charset="-128"/>
            </a:endParaRPr>
          </a:p>
        </p:txBody>
      </p:sp>
      <p:sp>
        <p:nvSpPr>
          <p:cNvPr id="33" name="Rectangle 32">
            <a:extLst>
              <a:ext uri="{FF2B5EF4-FFF2-40B4-BE49-F238E27FC236}">
                <a16:creationId xmlns:a16="http://schemas.microsoft.com/office/drawing/2014/main" id="{30DB23B3-084D-4028-974E-75C8DDCD2A1D}"/>
              </a:ext>
            </a:extLst>
          </p:cNvPr>
          <p:cNvSpPr/>
          <p:nvPr/>
        </p:nvSpPr>
        <p:spPr>
          <a:xfrm>
            <a:off x="3657600" y="1572469"/>
            <a:ext cx="2697478" cy="397008"/>
          </a:xfrm>
          <a:prstGeom prst="rect">
            <a:avLst/>
          </a:prstGeom>
        </p:spPr>
        <p:txBody>
          <a:bodyPr wrap="square">
            <a:spAutoFit/>
          </a:bodyPr>
          <a:lstStyle/>
          <a:p>
            <a:pPr marL="0" lvl="1" algn="ctr" eaLnBrk="1" hangingPunct="1">
              <a:lnSpc>
                <a:spcPct val="90000"/>
              </a:lnSpc>
            </a:pPr>
            <a:r>
              <a:rPr lang="zh-CN" altLang="en-US" sz="2200" dirty="0">
                <a:ea typeface="ＭＳ Ｐゴシック" panose="020B0600070205080204" pitchFamily="34" charset="-128"/>
              </a:rPr>
              <a:t>属性</a:t>
            </a:r>
            <a:r>
              <a:rPr lang="en-US" altLang="zh-CN" sz="2200" dirty="0">
                <a:ea typeface="ＭＳ Ｐゴシック" panose="020B0600070205080204" pitchFamily="34" charset="-128"/>
              </a:rPr>
              <a:t>2</a:t>
            </a:r>
            <a:endParaRPr lang="en-US" altLang="ja-JP" sz="2200" dirty="0">
              <a:ea typeface="ＭＳ Ｐゴシック" panose="020B0600070205080204" pitchFamily="34" charset="-128"/>
            </a:endParaRPr>
          </a:p>
        </p:txBody>
      </p:sp>
      <p:grpSp>
        <p:nvGrpSpPr>
          <p:cNvPr id="8" name="Group 7">
            <a:extLst>
              <a:ext uri="{FF2B5EF4-FFF2-40B4-BE49-F238E27FC236}">
                <a16:creationId xmlns:a16="http://schemas.microsoft.com/office/drawing/2014/main" id="{55B62CE8-63B8-4F97-89C0-F733C96E85E7}"/>
              </a:ext>
            </a:extLst>
          </p:cNvPr>
          <p:cNvGrpSpPr/>
          <p:nvPr/>
        </p:nvGrpSpPr>
        <p:grpSpPr>
          <a:xfrm>
            <a:off x="2209800" y="2091038"/>
            <a:ext cx="4660926" cy="2344391"/>
            <a:chOff x="2209800" y="2091038"/>
            <a:chExt cx="4660926" cy="2344391"/>
          </a:xfrm>
        </p:grpSpPr>
        <p:cxnSp>
          <p:nvCxnSpPr>
            <p:cNvPr id="6" name="Straight Connector 5">
              <a:extLst>
                <a:ext uri="{FF2B5EF4-FFF2-40B4-BE49-F238E27FC236}">
                  <a16:creationId xmlns:a16="http://schemas.microsoft.com/office/drawing/2014/main" id="{336F1194-2078-44A3-BEA3-3FAD7D05969D}"/>
                </a:ext>
              </a:extLst>
            </p:cNvPr>
            <p:cNvCxnSpPr/>
            <p:nvPr/>
          </p:nvCxnSpPr>
          <p:spPr bwMode="auto">
            <a:xfrm flipV="1">
              <a:off x="2209800" y="2133600"/>
              <a:ext cx="4572000" cy="2301829"/>
            </a:xfrm>
            <a:prstGeom prst="line">
              <a:avLst/>
            </a:prstGeom>
            <a:solidFill>
              <a:schemeClr val="accent1"/>
            </a:solidFill>
            <a:ln w="9525"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96DF20E-F55F-45F4-BDB2-E020FC1E6A1E}"/>
                    </a:ext>
                  </a:extLst>
                </p:cNvPr>
                <p:cNvSpPr/>
                <p:nvPr/>
              </p:nvSpPr>
              <p:spPr>
                <a:xfrm>
                  <a:off x="4799646" y="2091038"/>
                  <a:ext cx="20710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b="0" i="1" smtClean="0">
                            <a:latin typeface="Cambria Math" panose="02040503050406030204" pitchFamily="18" charset="0"/>
                          </a:rPr>
                          <m:t>−4</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6</m:t>
                        </m:r>
                        <m:r>
                          <a:rPr lang="en-US" altLang="zh-CN" i="1">
                            <a:latin typeface="Cambria Math" panose="02040503050406030204" pitchFamily="18" charset="0"/>
                          </a:rPr>
                          <m:t>=</m:t>
                        </m:r>
                        <m:r>
                          <a:rPr lang="en-US" altLang="zh-CN" b="0" i="1" smtClean="0">
                            <a:latin typeface="Cambria Math" panose="02040503050406030204" pitchFamily="18" charset="0"/>
                          </a:rPr>
                          <m:t>0</m:t>
                        </m:r>
                      </m:oMath>
                    </m:oMathPara>
                  </a14:m>
                  <a:endParaRPr lang="zh-CN" altLang="en-US" dirty="0"/>
                </a:p>
              </p:txBody>
            </p:sp>
          </mc:Choice>
          <mc:Fallback xmlns="">
            <p:sp>
              <p:nvSpPr>
                <p:cNvPr id="7" name="Rectangle 6">
                  <a:extLst>
                    <a:ext uri="{FF2B5EF4-FFF2-40B4-BE49-F238E27FC236}">
                      <a16:creationId xmlns:a16="http://schemas.microsoft.com/office/drawing/2014/main" id="{796DF20E-F55F-45F4-BDB2-E020FC1E6A1E}"/>
                    </a:ext>
                  </a:extLst>
                </p:cNvPr>
                <p:cNvSpPr>
                  <a:spLocks noRot="1" noChangeAspect="1" noMove="1" noResize="1" noEditPoints="1" noAdjustHandles="1" noChangeArrowheads="1" noChangeShapeType="1" noTextEdit="1"/>
                </p:cNvSpPr>
                <p:nvPr/>
              </p:nvSpPr>
              <p:spPr>
                <a:xfrm>
                  <a:off x="4799646" y="2091038"/>
                  <a:ext cx="2071080"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12" name="Group 11">
            <a:extLst>
              <a:ext uri="{FF2B5EF4-FFF2-40B4-BE49-F238E27FC236}">
                <a16:creationId xmlns:a16="http://schemas.microsoft.com/office/drawing/2014/main" id="{19016C1D-532E-4D39-897F-7F5AEF800D2B}"/>
              </a:ext>
            </a:extLst>
          </p:cNvPr>
          <p:cNvGrpSpPr/>
          <p:nvPr/>
        </p:nvGrpSpPr>
        <p:grpSpPr>
          <a:xfrm>
            <a:off x="3037727" y="3069193"/>
            <a:ext cx="870117" cy="488761"/>
            <a:chOff x="3037727" y="3069193"/>
            <a:chExt cx="870117" cy="488761"/>
          </a:xfrm>
        </p:grpSpPr>
        <p:sp>
          <p:nvSpPr>
            <p:cNvPr id="10" name="Oval 9">
              <a:extLst>
                <a:ext uri="{FF2B5EF4-FFF2-40B4-BE49-F238E27FC236}">
                  <a16:creationId xmlns:a16="http://schemas.microsoft.com/office/drawing/2014/main" id="{A48CC834-A636-470D-80D8-DCE221A32617}"/>
                </a:ext>
              </a:extLst>
            </p:cNvPr>
            <p:cNvSpPr/>
            <p:nvPr/>
          </p:nvSpPr>
          <p:spPr bwMode="auto">
            <a:xfrm>
              <a:off x="3707130" y="3429000"/>
              <a:ext cx="134815" cy="128954"/>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13A177C5-0085-4659-B39F-845687C74914}"/>
                </a:ext>
              </a:extLst>
            </p:cNvPr>
            <p:cNvSpPr txBox="1"/>
            <p:nvPr/>
          </p:nvSpPr>
          <p:spPr>
            <a:xfrm>
              <a:off x="3037727" y="3069193"/>
              <a:ext cx="870117" cy="369332"/>
            </a:xfrm>
            <a:prstGeom prst="rect">
              <a:avLst/>
            </a:prstGeom>
            <a:noFill/>
          </p:spPr>
          <p:txBody>
            <a:bodyPr wrap="square" rtlCol="0">
              <a:spAutoFit/>
            </a:bodyPr>
            <a:lstStyle/>
            <a:p>
              <a:r>
                <a:rPr lang="en-US" altLang="zh-CN" dirty="0"/>
                <a:t>(-2,1)</a:t>
              </a:r>
              <a:endParaRPr lang="zh-CN" altLang="en-US" dirty="0"/>
            </a:p>
          </p:txBody>
        </p:sp>
      </p:grpSp>
      <p:sp>
        <p:nvSpPr>
          <p:cNvPr id="39" name="Oval 38">
            <a:extLst>
              <a:ext uri="{FF2B5EF4-FFF2-40B4-BE49-F238E27FC236}">
                <a16:creationId xmlns:a16="http://schemas.microsoft.com/office/drawing/2014/main" id="{C0EC196C-EEAA-42B3-A8C6-D3F6AD266D15}"/>
              </a:ext>
            </a:extLst>
          </p:cNvPr>
          <p:cNvSpPr/>
          <p:nvPr/>
        </p:nvSpPr>
        <p:spPr bwMode="auto">
          <a:xfrm>
            <a:off x="3707129" y="3429000"/>
            <a:ext cx="134815" cy="128954"/>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6D8E239F-5852-40E1-9FDE-7A80C5256C7A}"/>
                  </a:ext>
                </a:extLst>
              </p:cNvPr>
              <p:cNvSpPr/>
              <p:nvPr/>
            </p:nvSpPr>
            <p:spPr>
              <a:xfrm>
                <a:off x="416734" y="3373288"/>
                <a:ext cx="317990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2</m:t>
                      </m:r>
                      <m:r>
                        <a:rPr lang="en-US" altLang="zh-CN" i="1">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e>
                      </m:d>
                      <m:r>
                        <a:rPr lang="en-US" altLang="zh-CN" b="0" i="1" smtClean="0">
                          <a:latin typeface="Cambria Math" panose="02040503050406030204" pitchFamily="18" charset="0"/>
                        </a:rPr>
                        <m:t>−4</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m:t>
                      </m:r>
                      <m:r>
                        <a:rPr lang="en-US" altLang="zh-CN" i="1">
                          <a:latin typeface="Cambria Math" panose="02040503050406030204" pitchFamily="18" charset="0"/>
                        </a:rPr>
                        <m:t>+</m:t>
                      </m:r>
                      <m:r>
                        <a:rPr lang="en-US" altLang="zh-CN" b="0" i="1" smtClean="0">
                          <a:latin typeface="Cambria Math" panose="02040503050406030204" pitchFamily="18" charset="0"/>
                        </a:rPr>
                        <m:t>6=−2&lt;0</m:t>
                      </m:r>
                    </m:oMath>
                  </m:oMathPara>
                </a14:m>
                <a:endParaRPr lang="zh-CN" altLang="en-US" dirty="0"/>
              </a:p>
            </p:txBody>
          </p:sp>
        </mc:Choice>
        <mc:Fallback xmlns="">
          <p:sp>
            <p:nvSpPr>
              <p:cNvPr id="41" name="Rectangle 40">
                <a:extLst>
                  <a:ext uri="{FF2B5EF4-FFF2-40B4-BE49-F238E27FC236}">
                    <a16:creationId xmlns:a16="http://schemas.microsoft.com/office/drawing/2014/main" id="{6D8E239F-5852-40E1-9FDE-7A80C5256C7A}"/>
                  </a:ext>
                </a:extLst>
              </p:cNvPr>
              <p:cNvSpPr>
                <a:spLocks noRot="1" noChangeAspect="1" noMove="1" noResize="1" noEditPoints="1" noAdjustHandles="1" noChangeArrowheads="1" noChangeShapeType="1" noTextEdit="1"/>
              </p:cNvSpPr>
              <p:nvPr/>
            </p:nvSpPr>
            <p:spPr>
              <a:xfrm>
                <a:off x="416734" y="3373288"/>
                <a:ext cx="3179909" cy="369332"/>
              </a:xfrm>
              <a:prstGeom prst="rect">
                <a:avLst/>
              </a:prstGeom>
              <a:blipFill>
                <a:blip r:embed="rId7"/>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23337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9" grpId="0" animBg="1"/>
      <p:bldP spid="4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二维的示例</a:t>
            </a:r>
            <a:endParaRPr lang="zh-CN" altLang="en-US" dirty="0"/>
          </a:p>
        </p:txBody>
      </p:sp>
      <p:cxnSp>
        <p:nvCxnSpPr>
          <p:cNvPr id="5" name="Straight Arrow Connector 4">
            <a:extLst>
              <a:ext uri="{FF2B5EF4-FFF2-40B4-BE49-F238E27FC236}">
                <a16:creationId xmlns:a16="http://schemas.microsoft.com/office/drawing/2014/main" id="{FF3C93CA-14ED-4897-B617-3BF2205C77DD}"/>
              </a:ext>
            </a:extLst>
          </p:cNvPr>
          <p:cNvCxnSpPr/>
          <p:nvPr/>
        </p:nvCxnSpPr>
        <p:spPr bwMode="auto">
          <a:xfrm>
            <a:off x="1905000" y="3886200"/>
            <a:ext cx="5257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E1013AFB-C190-4B3F-8B42-34E8A2E53CFF}"/>
              </a:ext>
            </a:extLst>
          </p:cNvPr>
          <p:cNvCxnSpPr>
            <a:cxnSpLocks/>
          </p:cNvCxnSpPr>
          <p:nvPr/>
        </p:nvCxnSpPr>
        <p:spPr bwMode="auto">
          <a:xfrm flipV="1">
            <a:off x="4556760" y="1524000"/>
            <a:ext cx="0" cy="4495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8" name="Group 7">
            <a:extLst>
              <a:ext uri="{FF2B5EF4-FFF2-40B4-BE49-F238E27FC236}">
                <a16:creationId xmlns:a16="http://schemas.microsoft.com/office/drawing/2014/main" id="{55B62CE8-63B8-4F97-89C0-F733C96E85E7}"/>
              </a:ext>
            </a:extLst>
          </p:cNvPr>
          <p:cNvGrpSpPr/>
          <p:nvPr/>
        </p:nvGrpSpPr>
        <p:grpSpPr>
          <a:xfrm>
            <a:off x="2209800" y="2091038"/>
            <a:ext cx="4660926" cy="2344391"/>
            <a:chOff x="2209800" y="2091038"/>
            <a:chExt cx="4660926" cy="2344391"/>
          </a:xfrm>
        </p:grpSpPr>
        <p:cxnSp>
          <p:nvCxnSpPr>
            <p:cNvPr id="6" name="Straight Connector 5">
              <a:extLst>
                <a:ext uri="{FF2B5EF4-FFF2-40B4-BE49-F238E27FC236}">
                  <a16:creationId xmlns:a16="http://schemas.microsoft.com/office/drawing/2014/main" id="{336F1194-2078-44A3-BEA3-3FAD7D05969D}"/>
                </a:ext>
              </a:extLst>
            </p:cNvPr>
            <p:cNvCxnSpPr/>
            <p:nvPr/>
          </p:nvCxnSpPr>
          <p:spPr bwMode="auto">
            <a:xfrm flipV="1">
              <a:off x="2209800" y="2133600"/>
              <a:ext cx="4572000" cy="2301829"/>
            </a:xfrm>
            <a:prstGeom prst="line">
              <a:avLst/>
            </a:prstGeom>
            <a:solidFill>
              <a:schemeClr val="accent1"/>
            </a:solidFill>
            <a:ln w="9525"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96DF20E-F55F-45F4-BDB2-E020FC1E6A1E}"/>
                    </a:ext>
                  </a:extLst>
                </p:cNvPr>
                <p:cNvSpPr/>
                <p:nvPr/>
              </p:nvSpPr>
              <p:spPr>
                <a:xfrm>
                  <a:off x="4799646" y="2091038"/>
                  <a:ext cx="20710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b="0" i="1" smtClean="0">
                            <a:latin typeface="Cambria Math" panose="02040503050406030204" pitchFamily="18" charset="0"/>
                          </a:rPr>
                          <m:t>−4</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6=0</m:t>
                        </m:r>
                      </m:oMath>
                    </m:oMathPara>
                  </a14:m>
                  <a:endParaRPr lang="zh-CN" altLang="en-US" dirty="0"/>
                </a:p>
              </p:txBody>
            </p:sp>
          </mc:Choice>
          <mc:Fallback xmlns="">
            <p:sp>
              <p:nvSpPr>
                <p:cNvPr id="7" name="Rectangle 6">
                  <a:extLst>
                    <a:ext uri="{FF2B5EF4-FFF2-40B4-BE49-F238E27FC236}">
                      <a16:creationId xmlns:a16="http://schemas.microsoft.com/office/drawing/2014/main" id="{796DF20E-F55F-45F4-BDB2-E020FC1E6A1E}"/>
                    </a:ext>
                  </a:extLst>
                </p:cNvPr>
                <p:cNvSpPr>
                  <a:spLocks noRot="1" noChangeAspect="1" noMove="1" noResize="1" noEditPoints="1" noAdjustHandles="1" noChangeArrowheads="1" noChangeShapeType="1" noTextEdit="1"/>
                </p:cNvSpPr>
                <p:nvPr/>
              </p:nvSpPr>
              <p:spPr>
                <a:xfrm>
                  <a:off x="4799646" y="2091038"/>
                  <a:ext cx="2071080"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12" name="Group 11">
            <a:extLst>
              <a:ext uri="{FF2B5EF4-FFF2-40B4-BE49-F238E27FC236}">
                <a16:creationId xmlns:a16="http://schemas.microsoft.com/office/drawing/2014/main" id="{19016C1D-532E-4D39-897F-7F5AEF800D2B}"/>
              </a:ext>
            </a:extLst>
          </p:cNvPr>
          <p:cNvGrpSpPr/>
          <p:nvPr/>
        </p:nvGrpSpPr>
        <p:grpSpPr>
          <a:xfrm>
            <a:off x="3037727" y="3069193"/>
            <a:ext cx="870117" cy="488761"/>
            <a:chOff x="3037727" y="3069193"/>
            <a:chExt cx="870117" cy="488761"/>
          </a:xfrm>
        </p:grpSpPr>
        <p:sp>
          <p:nvSpPr>
            <p:cNvPr id="10" name="Oval 9">
              <a:extLst>
                <a:ext uri="{FF2B5EF4-FFF2-40B4-BE49-F238E27FC236}">
                  <a16:creationId xmlns:a16="http://schemas.microsoft.com/office/drawing/2014/main" id="{A48CC834-A636-470D-80D8-DCE221A32617}"/>
                </a:ext>
              </a:extLst>
            </p:cNvPr>
            <p:cNvSpPr/>
            <p:nvPr/>
          </p:nvSpPr>
          <p:spPr bwMode="auto">
            <a:xfrm>
              <a:off x="3707130" y="3429000"/>
              <a:ext cx="134815" cy="128954"/>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13A177C5-0085-4659-B39F-845687C74914}"/>
                </a:ext>
              </a:extLst>
            </p:cNvPr>
            <p:cNvSpPr txBox="1"/>
            <p:nvPr/>
          </p:nvSpPr>
          <p:spPr>
            <a:xfrm>
              <a:off x="3037727" y="3069193"/>
              <a:ext cx="870117" cy="369332"/>
            </a:xfrm>
            <a:prstGeom prst="rect">
              <a:avLst/>
            </a:prstGeom>
            <a:noFill/>
          </p:spPr>
          <p:txBody>
            <a:bodyPr wrap="square" rtlCol="0">
              <a:spAutoFit/>
            </a:bodyPr>
            <a:lstStyle/>
            <a:p>
              <a:r>
                <a:rPr lang="en-US" altLang="zh-CN" dirty="0"/>
                <a:t>(-2,1)</a:t>
              </a:r>
              <a:endParaRPr lang="zh-CN" altLang="en-US" dirty="0"/>
            </a:p>
          </p:txBody>
        </p:sp>
      </p:grpSp>
      <p:sp>
        <p:nvSpPr>
          <p:cNvPr id="39" name="Oval 38">
            <a:extLst>
              <a:ext uri="{FF2B5EF4-FFF2-40B4-BE49-F238E27FC236}">
                <a16:creationId xmlns:a16="http://schemas.microsoft.com/office/drawing/2014/main" id="{C0EC196C-EEAA-42B3-A8C6-D3F6AD266D15}"/>
              </a:ext>
            </a:extLst>
          </p:cNvPr>
          <p:cNvSpPr/>
          <p:nvPr/>
        </p:nvSpPr>
        <p:spPr bwMode="auto">
          <a:xfrm>
            <a:off x="3707129" y="3429000"/>
            <a:ext cx="134815" cy="128954"/>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nvGrpSpPr>
          <p:cNvPr id="16" name="Group 15">
            <a:extLst>
              <a:ext uri="{FF2B5EF4-FFF2-40B4-BE49-F238E27FC236}">
                <a16:creationId xmlns:a16="http://schemas.microsoft.com/office/drawing/2014/main" id="{0C399B6F-ECEF-42DE-9A3A-585ED2CFAABA}"/>
              </a:ext>
            </a:extLst>
          </p:cNvPr>
          <p:cNvGrpSpPr/>
          <p:nvPr/>
        </p:nvGrpSpPr>
        <p:grpSpPr>
          <a:xfrm>
            <a:off x="4678367" y="3192313"/>
            <a:ext cx="1054619" cy="538568"/>
            <a:chOff x="3636173" y="3429000"/>
            <a:chExt cx="1054619" cy="538568"/>
          </a:xfrm>
        </p:grpSpPr>
        <p:sp>
          <p:nvSpPr>
            <p:cNvPr id="17" name="Oval 16">
              <a:extLst>
                <a:ext uri="{FF2B5EF4-FFF2-40B4-BE49-F238E27FC236}">
                  <a16:creationId xmlns:a16="http://schemas.microsoft.com/office/drawing/2014/main" id="{5E060547-5F3A-45A4-9B92-165894F806F0}"/>
                </a:ext>
              </a:extLst>
            </p:cNvPr>
            <p:cNvSpPr/>
            <p:nvPr/>
          </p:nvSpPr>
          <p:spPr bwMode="auto">
            <a:xfrm>
              <a:off x="3707130" y="3429000"/>
              <a:ext cx="134815" cy="128954"/>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8" name="TextBox 17">
              <a:extLst>
                <a:ext uri="{FF2B5EF4-FFF2-40B4-BE49-F238E27FC236}">
                  <a16:creationId xmlns:a16="http://schemas.microsoft.com/office/drawing/2014/main" id="{D0BE768F-1DAD-4A3D-A677-BC78F39BE524}"/>
                </a:ext>
              </a:extLst>
            </p:cNvPr>
            <p:cNvSpPr txBox="1"/>
            <p:nvPr/>
          </p:nvSpPr>
          <p:spPr>
            <a:xfrm>
              <a:off x="3636173" y="3598236"/>
              <a:ext cx="1054619" cy="369332"/>
            </a:xfrm>
            <a:prstGeom prst="rect">
              <a:avLst/>
            </a:prstGeom>
            <a:noFill/>
          </p:spPr>
          <p:txBody>
            <a:bodyPr wrap="square" rtlCol="0">
              <a:spAutoFit/>
            </a:bodyPr>
            <a:lstStyle/>
            <a:p>
              <a:r>
                <a:rPr lang="en-US" altLang="zh-CN" dirty="0"/>
                <a:t>(0.5,1.5)</a:t>
              </a:r>
              <a:endParaRPr lang="zh-CN" altLang="en-US" dirty="0"/>
            </a:p>
          </p:txBody>
        </p:sp>
      </p:grpSp>
      <p:sp>
        <p:nvSpPr>
          <p:cNvPr id="19" name="Oval 18">
            <a:extLst>
              <a:ext uri="{FF2B5EF4-FFF2-40B4-BE49-F238E27FC236}">
                <a16:creationId xmlns:a16="http://schemas.microsoft.com/office/drawing/2014/main" id="{108684F2-8001-457F-83C0-AE49122E36F0}"/>
              </a:ext>
            </a:extLst>
          </p:cNvPr>
          <p:cNvSpPr/>
          <p:nvPr/>
        </p:nvSpPr>
        <p:spPr bwMode="auto">
          <a:xfrm>
            <a:off x="4749324" y="3192313"/>
            <a:ext cx="134815" cy="128954"/>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4FDE593F-8DAE-47D1-AAC8-8730C6284B67}"/>
                  </a:ext>
                </a:extLst>
              </p:cNvPr>
              <p:cNvSpPr/>
              <p:nvPr/>
            </p:nvSpPr>
            <p:spPr>
              <a:xfrm>
                <a:off x="4943755" y="3029231"/>
                <a:ext cx="299473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2</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0.5−4</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1.5</m:t>
                      </m:r>
                      <m:r>
                        <a:rPr lang="en-US" altLang="zh-CN" i="1">
                          <a:latin typeface="Cambria Math" panose="02040503050406030204" pitchFamily="18" charset="0"/>
                        </a:rPr>
                        <m:t>+</m:t>
                      </m:r>
                      <m:r>
                        <a:rPr lang="en-US" altLang="zh-CN" b="0" i="1" smtClean="0">
                          <a:latin typeface="Cambria Math" panose="02040503050406030204" pitchFamily="18" charset="0"/>
                        </a:rPr>
                        <m:t>6=1&gt;0</m:t>
                      </m:r>
                    </m:oMath>
                  </m:oMathPara>
                </a14:m>
                <a:endParaRPr lang="zh-CN" altLang="en-US" dirty="0"/>
              </a:p>
            </p:txBody>
          </p:sp>
        </mc:Choice>
        <mc:Fallback xmlns="">
          <p:sp>
            <p:nvSpPr>
              <p:cNvPr id="20" name="Rectangle 19">
                <a:extLst>
                  <a:ext uri="{FF2B5EF4-FFF2-40B4-BE49-F238E27FC236}">
                    <a16:creationId xmlns:a16="http://schemas.microsoft.com/office/drawing/2014/main" id="{4FDE593F-8DAE-47D1-AAC8-8730C6284B67}"/>
                  </a:ext>
                </a:extLst>
              </p:cNvPr>
              <p:cNvSpPr>
                <a:spLocks noRot="1" noChangeAspect="1" noMove="1" noResize="1" noEditPoints="1" noAdjustHandles="1" noChangeArrowheads="1" noChangeShapeType="1" noTextEdit="1"/>
              </p:cNvSpPr>
              <p:nvPr/>
            </p:nvSpPr>
            <p:spPr>
              <a:xfrm>
                <a:off x="4943755" y="3029231"/>
                <a:ext cx="2994731" cy="369332"/>
              </a:xfrm>
              <a:prstGeom prst="rect">
                <a:avLst/>
              </a:prstGeom>
              <a:blipFill>
                <a:blip r:embed="rId7"/>
                <a:stretch>
                  <a:fillRect/>
                </a:stretch>
              </a:blipFill>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DB14A04D-1238-1C37-B5FF-EB70D8252BC0}"/>
              </a:ext>
            </a:extLst>
          </p:cNvPr>
          <p:cNvSpPr/>
          <p:nvPr/>
        </p:nvSpPr>
        <p:spPr>
          <a:xfrm>
            <a:off x="6256022" y="3429000"/>
            <a:ext cx="1904998" cy="397032"/>
          </a:xfrm>
          <a:prstGeom prst="rect">
            <a:avLst/>
          </a:prstGeom>
        </p:spPr>
        <p:txBody>
          <a:bodyPr wrap="square">
            <a:spAutoFit/>
          </a:bodyPr>
          <a:lstStyle/>
          <a:p>
            <a:pPr marL="0" lvl="1" algn="ctr" eaLnBrk="1" hangingPunct="1">
              <a:lnSpc>
                <a:spcPct val="90000"/>
              </a:lnSpc>
            </a:pPr>
            <a:r>
              <a:rPr lang="zh-CN" altLang="en-US" sz="2200" dirty="0">
                <a:ea typeface="ＭＳ Ｐゴシック" panose="020B0600070205080204" pitchFamily="34" charset="-128"/>
              </a:rPr>
              <a:t>属性</a:t>
            </a:r>
            <a:r>
              <a:rPr lang="en-US" altLang="zh-CN" sz="2200" dirty="0">
                <a:ea typeface="ＭＳ Ｐゴシック" panose="020B0600070205080204" pitchFamily="34" charset="-128"/>
              </a:rPr>
              <a:t>1</a:t>
            </a:r>
            <a:endParaRPr lang="en-US" altLang="ja-JP" sz="2200" dirty="0">
              <a:ea typeface="ＭＳ Ｐゴシック" panose="020B0600070205080204" pitchFamily="34" charset="-128"/>
            </a:endParaRPr>
          </a:p>
        </p:txBody>
      </p:sp>
      <p:sp>
        <p:nvSpPr>
          <p:cNvPr id="13" name="Rectangle 12">
            <a:extLst>
              <a:ext uri="{FF2B5EF4-FFF2-40B4-BE49-F238E27FC236}">
                <a16:creationId xmlns:a16="http://schemas.microsoft.com/office/drawing/2014/main" id="{7A54F2F0-C9E2-7F68-CB5B-A09CCE71F886}"/>
              </a:ext>
            </a:extLst>
          </p:cNvPr>
          <p:cNvSpPr/>
          <p:nvPr/>
        </p:nvSpPr>
        <p:spPr>
          <a:xfrm>
            <a:off x="3657600" y="1572469"/>
            <a:ext cx="2697478" cy="397008"/>
          </a:xfrm>
          <a:prstGeom prst="rect">
            <a:avLst/>
          </a:prstGeom>
        </p:spPr>
        <p:txBody>
          <a:bodyPr wrap="square">
            <a:spAutoFit/>
          </a:bodyPr>
          <a:lstStyle/>
          <a:p>
            <a:pPr marL="0" lvl="1" algn="ctr" eaLnBrk="1" hangingPunct="1">
              <a:lnSpc>
                <a:spcPct val="90000"/>
              </a:lnSpc>
            </a:pPr>
            <a:r>
              <a:rPr lang="zh-CN" altLang="en-US" sz="2200" dirty="0">
                <a:ea typeface="ＭＳ Ｐゴシック" panose="020B0600070205080204" pitchFamily="34" charset="-128"/>
              </a:rPr>
              <a:t>属性</a:t>
            </a:r>
            <a:r>
              <a:rPr lang="en-US" altLang="zh-CN" sz="2200" dirty="0">
                <a:ea typeface="ＭＳ Ｐゴシック" panose="020B0600070205080204" pitchFamily="34" charset="-128"/>
              </a:rPr>
              <a:t>2</a:t>
            </a:r>
            <a:endParaRPr lang="en-US" altLang="ja-JP" sz="2200" dirty="0">
              <a:ea typeface="ＭＳ Ｐゴシック" panose="020B0600070205080204" pitchFamily="34" charset="-128"/>
            </a:endParaRPr>
          </a:p>
        </p:txBody>
      </p:sp>
    </p:spTree>
    <p:custDataLst>
      <p:tags r:id="rId1"/>
    </p:custDataLst>
    <p:extLst>
      <p:ext uri="{BB962C8B-B14F-4D97-AF65-F5344CB8AC3E}">
        <p14:creationId xmlns:p14="http://schemas.microsoft.com/office/powerpoint/2010/main" val="292377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BFD11-E179-6539-9A7C-7E7CD8044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4D194-CF5A-121D-D383-F823E7E63AFF}"/>
              </a:ext>
            </a:extLst>
          </p:cNvPr>
          <p:cNvSpPr>
            <a:spLocks noGrp="1"/>
          </p:cNvSpPr>
          <p:nvPr>
            <p:ph type="title"/>
          </p:nvPr>
        </p:nvSpPr>
        <p:spPr/>
        <p:txBody>
          <a:bodyPr/>
          <a:lstStyle/>
          <a:p>
            <a:r>
              <a:rPr lang="zh-CN" altLang="en-US" dirty="0">
                <a:ea typeface="ＭＳ Ｐゴシック" panose="020B0600070205080204" pitchFamily="34" charset="-128"/>
              </a:rPr>
              <a:t>这不是线性回归</a:t>
            </a:r>
            <a:endParaRPr lang="zh-CN" altLang="en-US" dirty="0"/>
          </a:p>
        </p:txBody>
      </p:sp>
      <p:cxnSp>
        <p:nvCxnSpPr>
          <p:cNvPr id="5" name="Straight Arrow Connector 4">
            <a:extLst>
              <a:ext uri="{FF2B5EF4-FFF2-40B4-BE49-F238E27FC236}">
                <a16:creationId xmlns:a16="http://schemas.microsoft.com/office/drawing/2014/main" id="{F1B71E36-489B-A142-48A9-A8178FF68EEE}"/>
              </a:ext>
            </a:extLst>
          </p:cNvPr>
          <p:cNvCxnSpPr/>
          <p:nvPr/>
        </p:nvCxnSpPr>
        <p:spPr bwMode="auto">
          <a:xfrm>
            <a:off x="1905000" y="3886200"/>
            <a:ext cx="5257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CD5ACD79-28A6-974C-64DC-F18828B12E12}"/>
              </a:ext>
            </a:extLst>
          </p:cNvPr>
          <p:cNvCxnSpPr>
            <a:cxnSpLocks/>
          </p:cNvCxnSpPr>
          <p:nvPr/>
        </p:nvCxnSpPr>
        <p:spPr bwMode="auto">
          <a:xfrm flipV="1">
            <a:off x="4556760" y="1524000"/>
            <a:ext cx="0" cy="4495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 name="Straight Connector 5">
            <a:extLst>
              <a:ext uri="{FF2B5EF4-FFF2-40B4-BE49-F238E27FC236}">
                <a16:creationId xmlns:a16="http://schemas.microsoft.com/office/drawing/2014/main" id="{FA266F6B-A91E-5D23-4A33-2042BA69AE1B}"/>
              </a:ext>
            </a:extLst>
          </p:cNvPr>
          <p:cNvCxnSpPr/>
          <p:nvPr/>
        </p:nvCxnSpPr>
        <p:spPr bwMode="auto">
          <a:xfrm flipV="1">
            <a:off x="2209800" y="2133600"/>
            <a:ext cx="4572000" cy="2301829"/>
          </a:xfrm>
          <a:prstGeom prst="line">
            <a:avLst/>
          </a:prstGeom>
          <a:solidFill>
            <a:schemeClr val="accent1"/>
          </a:solidFill>
          <a:ln w="9525"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57EEC3B-752C-3DBA-6F94-53434B46ED6F}"/>
                  </a:ext>
                </a:extLst>
              </p:cNvPr>
              <p:cNvSpPr/>
              <p:nvPr/>
            </p:nvSpPr>
            <p:spPr>
              <a:xfrm>
                <a:off x="5767354" y="2590193"/>
                <a:ext cx="170405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=0.5</m:t>
                      </m:r>
                      <m:r>
                        <a:rPr lang="en-US" altLang="zh-CN" b="0" i="1" smtClean="0">
                          <a:latin typeface="Cambria Math" panose="02040503050406030204" pitchFamily="18" charset="0"/>
                        </a:rPr>
                        <m:t>𝑥</m:t>
                      </m:r>
                      <m:r>
                        <a:rPr lang="en-US" altLang="zh-CN" b="0" i="1" smtClean="0">
                          <a:latin typeface="Cambria Math" panose="02040503050406030204" pitchFamily="18" charset="0"/>
                        </a:rPr>
                        <m:t>+1.5</m:t>
                      </m:r>
                    </m:oMath>
                  </m:oMathPara>
                </a14:m>
                <a:endParaRPr lang="zh-CN" altLang="en-US" dirty="0"/>
              </a:p>
            </p:txBody>
          </p:sp>
        </mc:Choice>
        <mc:Fallback xmlns="">
          <p:sp>
            <p:nvSpPr>
              <p:cNvPr id="7" name="Rectangle 6">
                <a:extLst>
                  <a:ext uri="{FF2B5EF4-FFF2-40B4-BE49-F238E27FC236}">
                    <a16:creationId xmlns:a16="http://schemas.microsoft.com/office/drawing/2014/main" id="{157EEC3B-752C-3DBA-6F94-53434B46ED6F}"/>
                  </a:ext>
                </a:extLst>
              </p:cNvPr>
              <p:cNvSpPr>
                <a:spLocks noRot="1" noChangeAspect="1" noMove="1" noResize="1" noEditPoints="1" noAdjustHandles="1" noChangeArrowheads="1" noChangeShapeType="1" noTextEdit="1"/>
              </p:cNvSpPr>
              <p:nvPr/>
            </p:nvSpPr>
            <p:spPr>
              <a:xfrm>
                <a:off x="5767354" y="2590193"/>
                <a:ext cx="1704056" cy="369332"/>
              </a:xfrm>
              <a:prstGeom prst="rect">
                <a:avLst/>
              </a:prstGeom>
              <a:blipFill>
                <a:blip r:embed="rId4"/>
                <a:stretch>
                  <a:fillRect b="-8333"/>
                </a:stretch>
              </a:blipFill>
            </p:spPr>
            <p:txBody>
              <a:bodyPr/>
              <a:lstStyle/>
              <a:p>
                <a:r>
                  <a:rPr lang="en-US">
                    <a:noFill/>
                  </a:rPr>
                  <a:t> </a:t>
                </a:r>
              </a:p>
            </p:txBody>
          </p:sp>
        </mc:Fallback>
      </mc:AlternateContent>
      <p:sp>
        <p:nvSpPr>
          <p:cNvPr id="19" name="Oval 18">
            <a:extLst>
              <a:ext uri="{FF2B5EF4-FFF2-40B4-BE49-F238E27FC236}">
                <a16:creationId xmlns:a16="http://schemas.microsoft.com/office/drawing/2014/main" id="{5B429839-F1DC-B80F-6FE6-51A1D9001194}"/>
              </a:ext>
            </a:extLst>
          </p:cNvPr>
          <p:cNvSpPr/>
          <p:nvPr/>
        </p:nvSpPr>
        <p:spPr bwMode="auto">
          <a:xfrm>
            <a:off x="5136762" y="2967532"/>
            <a:ext cx="134815" cy="128954"/>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3" name="Rectangle 2">
            <a:extLst>
              <a:ext uri="{FF2B5EF4-FFF2-40B4-BE49-F238E27FC236}">
                <a16:creationId xmlns:a16="http://schemas.microsoft.com/office/drawing/2014/main" id="{F2E973D9-0F89-032C-6481-DEAF14AD364E}"/>
              </a:ext>
            </a:extLst>
          </p:cNvPr>
          <p:cNvSpPr/>
          <p:nvPr/>
        </p:nvSpPr>
        <p:spPr>
          <a:xfrm>
            <a:off x="6256022" y="3429000"/>
            <a:ext cx="1904998" cy="397032"/>
          </a:xfrm>
          <a:prstGeom prst="rect">
            <a:avLst/>
          </a:prstGeom>
        </p:spPr>
        <p:txBody>
          <a:bodyPr wrap="square">
            <a:spAutoFit/>
          </a:bodyPr>
          <a:lstStyle/>
          <a:p>
            <a:pPr marL="0" lvl="1" algn="ctr" eaLnBrk="1" hangingPunct="1">
              <a:lnSpc>
                <a:spcPct val="90000"/>
              </a:lnSpc>
            </a:pPr>
            <a:r>
              <a:rPr lang="zh-CN" altLang="en-US" sz="2200" dirty="0">
                <a:ea typeface="ＭＳ Ｐゴシック" panose="020B0600070205080204" pitchFamily="34" charset="-128"/>
              </a:rPr>
              <a:t>属性</a:t>
            </a:r>
            <a:endParaRPr lang="en-US" altLang="ja-JP" sz="2200" dirty="0">
              <a:ea typeface="ＭＳ Ｐゴシック" panose="020B0600070205080204" pitchFamily="34" charset="-128"/>
            </a:endParaRPr>
          </a:p>
        </p:txBody>
      </p:sp>
      <p:sp>
        <p:nvSpPr>
          <p:cNvPr id="13" name="Rectangle 12">
            <a:extLst>
              <a:ext uri="{FF2B5EF4-FFF2-40B4-BE49-F238E27FC236}">
                <a16:creationId xmlns:a16="http://schemas.microsoft.com/office/drawing/2014/main" id="{E209DAC9-CBAE-6823-7A60-57DE1D25EA8A}"/>
              </a:ext>
            </a:extLst>
          </p:cNvPr>
          <p:cNvSpPr/>
          <p:nvPr/>
        </p:nvSpPr>
        <p:spPr>
          <a:xfrm>
            <a:off x="3841944" y="1538005"/>
            <a:ext cx="2697478" cy="397008"/>
          </a:xfrm>
          <a:prstGeom prst="rect">
            <a:avLst/>
          </a:prstGeom>
        </p:spPr>
        <p:txBody>
          <a:bodyPr wrap="square">
            <a:spAutoFit/>
          </a:bodyPr>
          <a:lstStyle/>
          <a:p>
            <a:pPr marL="0" lvl="1" algn="ctr" eaLnBrk="1" hangingPunct="1">
              <a:lnSpc>
                <a:spcPct val="90000"/>
              </a:lnSpc>
            </a:pPr>
            <a:r>
              <a:rPr lang="zh-CN" altLang="en-US" sz="2200" dirty="0">
                <a:ea typeface="ＭＳ Ｐゴシック" panose="020B0600070205080204" pitchFamily="34" charset="-128"/>
              </a:rPr>
              <a:t>目标变量</a:t>
            </a:r>
            <a:endParaRPr lang="en-US" altLang="ja-JP" sz="2200" dirty="0">
              <a:ea typeface="ＭＳ Ｐゴシック" panose="020B0600070205080204" pitchFamily="34" charset="-128"/>
            </a:endParaRPr>
          </a:p>
        </p:txBody>
      </p:sp>
      <p:sp>
        <p:nvSpPr>
          <p:cNvPr id="4" name="Oval 3">
            <a:extLst>
              <a:ext uri="{FF2B5EF4-FFF2-40B4-BE49-F238E27FC236}">
                <a16:creationId xmlns:a16="http://schemas.microsoft.com/office/drawing/2014/main" id="{B547700F-610D-788E-95AA-45BE3C187F17}"/>
              </a:ext>
            </a:extLst>
          </p:cNvPr>
          <p:cNvSpPr/>
          <p:nvPr/>
        </p:nvSpPr>
        <p:spPr bwMode="auto">
          <a:xfrm>
            <a:off x="3504907" y="3642946"/>
            <a:ext cx="134815" cy="128954"/>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4" name="Oval 13">
            <a:extLst>
              <a:ext uri="{FF2B5EF4-FFF2-40B4-BE49-F238E27FC236}">
                <a16:creationId xmlns:a16="http://schemas.microsoft.com/office/drawing/2014/main" id="{1D9DB7BA-711E-8C3A-10DB-4250880CAE9C}"/>
              </a:ext>
            </a:extLst>
          </p:cNvPr>
          <p:cNvSpPr/>
          <p:nvPr/>
        </p:nvSpPr>
        <p:spPr bwMode="auto">
          <a:xfrm>
            <a:off x="6637470" y="1991111"/>
            <a:ext cx="134815" cy="128954"/>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Tree>
    <p:custDataLst>
      <p:tags r:id="rId1"/>
    </p:custDataLst>
    <p:extLst>
      <p:ext uri="{BB962C8B-B14F-4D97-AF65-F5344CB8AC3E}">
        <p14:creationId xmlns:p14="http://schemas.microsoft.com/office/powerpoint/2010/main" val="2019790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线性分类器</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4800600"/>
              </a:xfrm>
            </p:spPr>
            <p:txBody>
              <a:bodyPr>
                <a:normAutofit/>
              </a:bodyPr>
              <a:lstStyle/>
              <a:p>
                <a:r>
                  <a:rPr lang="zh-CN" altLang="en-US" dirty="0"/>
                  <a:t>对二维输入</a:t>
                </a:r>
                <a:endParaRPr lang="en-US" altLang="zh-CN" dirty="0"/>
              </a:p>
              <a:p>
                <a:pPr lvl="1"/>
                <a:r>
                  <a:rPr lang="zh-CN" altLang="en-US" dirty="0"/>
                  <a:t>模型参数：</a:t>
                </a: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𝑏</m:t>
                    </m:r>
                  </m:oMath>
                </a14:m>
                <a:endParaRPr lang="en-US" altLang="zh-CN" b="0" dirty="0"/>
              </a:p>
              <a:p>
                <a:pPr lvl="2"/>
                <a:r>
                  <a:rPr lang="zh-CN" altLang="en-US" dirty="0"/>
                  <a:t>平面上的一条线</a:t>
                </a:r>
                <a:endParaRPr lang="en-US" altLang="zh-CN" dirty="0"/>
              </a:p>
              <a:p>
                <a:r>
                  <a:rPr lang="zh-CN" altLang="en-US" dirty="0"/>
                  <a:t>对三维输入</a:t>
                </a:r>
                <a:endParaRPr lang="en-US" altLang="zh-CN" dirty="0"/>
              </a:p>
              <a:p>
                <a:pPr lvl="1"/>
                <a:r>
                  <a:rPr lang="zh-CN" altLang="en-US" dirty="0"/>
                  <a:t>模型参数：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𝑤</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3</m:t>
                        </m:r>
                      </m:sub>
                    </m:sSub>
                    <m:r>
                      <a:rPr lang="en-US" altLang="zh-CN" i="1">
                        <a:latin typeface="Cambria Math" panose="02040503050406030204" pitchFamily="18" charset="0"/>
                      </a:rPr>
                      <m:t>),</m:t>
                    </m:r>
                    <m:r>
                      <a:rPr lang="en-US" altLang="zh-CN" i="1">
                        <a:latin typeface="Cambria Math" panose="02040503050406030204" pitchFamily="18" charset="0"/>
                      </a:rPr>
                      <m:t>𝑏</m:t>
                    </m:r>
                  </m:oMath>
                </a14:m>
                <a:endParaRPr lang="en-US" altLang="zh-CN" dirty="0"/>
              </a:p>
              <a:p>
                <a:pPr lvl="2"/>
                <a:r>
                  <a:rPr lang="zh-CN" altLang="en-US" dirty="0"/>
                  <a:t>空间里的一个平面</a:t>
                </a:r>
                <a:endParaRPr lang="en-US" altLang="zh-CN" dirty="0"/>
              </a:p>
              <a:p>
                <a:r>
                  <a:rPr lang="zh-CN" altLang="en-US" dirty="0"/>
                  <a:t>对</a:t>
                </a:r>
                <a:r>
                  <a:rPr lang="en-US" altLang="zh-CN" i="1" dirty="0"/>
                  <a:t>n</a:t>
                </a:r>
                <a:r>
                  <a:rPr lang="zh-CN" altLang="en-US" dirty="0"/>
                  <a:t>维输入</a:t>
                </a:r>
                <a:endParaRPr lang="en-US" altLang="zh-CN" dirty="0"/>
              </a:p>
              <a:p>
                <a:pPr lvl="1"/>
                <a:r>
                  <a:rPr lang="zh-CN" altLang="en-US" dirty="0"/>
                  <a:t>模型参数：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𝑤</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𝑤</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r>
                      <a:rPr lang="en-US" altLang="zh-CN" i="1">
                        <a:latin typeface="Cambria Math" panose="02040503050406030204" pitchFamily="18" charset="0"/>
                      </a:rPr>
                      <m:t>𝑏</m:t>
                    </m:r>
                  </m:oMath>
                </a14:m>
                <a:endParaRPr lang="en-US" altLang="zh-CN" dirty="0"/>
              </a:p>
              <a:p>
                <a:pPr lvl="2"/>
                <a:r>
                  <a:rPr lang="zh-CN" altLang="en-US" dirty="0"/>
                  <a:t>超空间里的一个超平面</a:t>
                </a:r>
                <a:endParaRPr lang="en-US" altLang="zh-CN" dirty="0"/>
              </a:p>
              <a:p>
                <a:pPr lvl="1"/>
                <a:endParaRPr lang="en-US" altLang="zh-CN" dirty="0"/>
              </a:p>
              <a:p>
                <a:endParaRPr lang="en-US" altLang="zh-CN" dirty="0"/>
              </a:p>
            </p:txBody>
          </p:sp>
        </mc:Choice>
        <mc:Fallback xmlns="">
          <p:sp>
            <p:nvSpPr>
              <p:cNvPr id="3" name="Content Placeholder 2">
                <a:extLst>
                  <a:ext uri="{FF2B5EF4-FFF2-40B4-BE49-F238E27FC236}">
                    <a16:creationId xmlns:a16="http://schemas.microsoft.com/office/drawing/2014/main" id="{9EA0F165-8941-4D6C-BAE4-F52C9F12FF6C}"/>
                  </a:ext>
                </a:extLst>
              </p:cNvPr>
              <p:cNvSpPr>
                <a:spLocks noGrp="1" noRot="1" noChangeAspect="1" noMove="1" noResize="1" noEditPoints="1" noAdjustHandles="1" noChangeArrowheads="1" noChangeShapeType="1" noTextEdit="1"/>
              </p:cNvSpPr>
              <p:nvPr>
                <p:ph idx="1"/>
              </p:nvPr>
            </p:nvSpPr>
            <p:spPr>
              <a:xfrm>
                <a:off x="762000" y="1600200"/>
                <a:ext cx="7772400" cy="4800600"/>
              </a:xfrm>
              <a:blipFill>
                <a:blip r:embed="rId3"/>
                <a:stretch>
                  <a:fillRect l="-549" t="-2287"/>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442189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生物学的视角</a:t>
            </a:r>
            <a:endParaRPr lang="zh-CN" altLang="en-US" dirty="0"/>
          </a:p>
        </p:txBody>
      </p:sp>
      <p:sp>
        <p:nvSpPr>
          <p:cNvPr id="21" name="TextBox 20">
            <a:extLst>
              <a:ext uri="{FF2B5EF4-FFF2-40B4-BE49-F238E27FC236}">
                <a16:creationId xmlns:a16="http://schemas.microsoft.com/office/drawing/2014/main" id="{3967E0AF-500D-4B22-BD9E-0608D7F61C8C}"/>
              </a:ext>
            </a:extLst>
          </p:cNvPr>
          <p:cNvSpPr txBox="1"/>
          <p:nvPr/>
        </p:nvSpPr>
        <p:spPr>
          <a:xfrm>
            <a:off x="1143000" y="1567488"/>
            <a:ext cx="6858000" cy="430887"/>
          </a:xfrm>
          <a:prstGeom prst="rect">
            <a:avLst/>
          </a:prstGeom>
          <a:noFill/>
        </p:spPr>
        <p:txBody>
          <a:bodyPr wrap="square" rtlCol="0">
            <a:spAutoFit/>
          </a:bodyPr>
          <a:lstStyle/>
          <a:p>
            <a:pPr algn="ctr"/>
            <a:r>
              <a:rPr lang="zh-CN" altLang="en-US" sz="2200" dirty="0"/>
              <a:t>神经细胞</a:t>
            </a:r>
          </a:p>
        </p:txBody>
      </p:sp>
      <p:pic>
        <p:nvPicPr>
          <p:cNvPr id="25" name="Picture 24">
            <a:extLst>
              <a:ext uri="{FF2B5EF4-FFF2-40B4-BE49-F238E27FC236}">
                <a16:creationId xmlns:a16="http://schemas.microsoft.com/office/drawing/2014/main" id="{314E0ECF-19DB-42FF-975E-B10FF2A9DF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4381" y="2444236"/>
            <a:ext cx="3695238" cy="3257142"/>
          </a:xfrm>
          <a:prstGeom prst="rect">
            <a:avLst/>
          </a:prstGeom>
        </p:spPr>
      </p:pic>
      <p:grpSp>
        <p:nvGrpSpPr>
          <p:cNvPr id="44" name="Group 43">
            <a:extLst>
              <a:ext uri="{FF2B5EF4-FFF2-40B4-BE49-F238E27FC236}">
                <a16:creationId xmlns:a16="http://schemas.microsoft.com/office/drawing/2014/main" id="{D536EC6C-5B30-4D10-87DE-D1A26654E406}"/>
              </a:ext>
            </a:extLst>
          </p:cNvPr>
          <p:cNvGrpSpPr/>
          <p:nvPr/>
        </p:nvGrpSpPr>
        <p:grpSpPr>
          <a:xfrm>
            <a:off x="0" y="1752600"/>
            <a:ext cx="3048000" cy="3348127"/>
            <a:chOff x="0" y="1752600"/>
            <a:chExt cx="3048000" cy="3348127"/>
          </a:xfrm>
        </p:grpSpPr>
        <p:sp>
          <p:nvSpPr>
            <p:cNvPr id="27" name="TextBox 26">
              <a:extLst>
                <a:ext uri="{FF2B5EF4-FFF2-40B4-BE49-F238E27FC236}">
                  <a16:creationId xmlns:a16="http://schemas.microsoft.com/office/drawing/2014/main" id="{6939433F-D010-435D-858B-D385C4F7F69B}"/>
                </a:ext>
              </a:extLst>
            </p:cNvPr>
            <p:cNvSpPr txBox="1"/>
            <p:nvPr/>
          </p:nvSpPr>
          <p:spPr>
            <a:xfrm>
              <a:off x="0" y="1752600"/>
              <a:ext cx="2966879" cy="430887"/>
            </a:xfrm>
            <a:prstGeom prst="rect">
              <a:avLst/>
            </a:prstGeom>
            <a:noFill/>
          </p:spPr>
          <p:txBody>
            <a:bodyPr wrap="square" rtlCol="0">
              <a:spAutoFit/>
            </a:bodyPr>
            <a:lstStyle/>
            <a:p>
              <a:pPr algn="ctr"/>
              <a:r>
                <a:rPr lang="zh-CN" altLang="en-US" sz="2200" dirty="0"/>
                <a:t>树突：接收外来信号</a:t>
              </a:r>
            </a:p>
          </p:txBody>
        </p:sp>
        <p:cxnSp>
          <p:nvCxnSpPr>
            <p:cNvPr id="28" name="Straight Arrow Connector 27">
              <a:extLst>
                <a:ext uri="{FF2B5EF4-FFF2-40B4-BE49-F238E27FC236}">
                  <a16:creationId xmlns:a16="http://schemas.microsoft.com/office/drawing/2014/main" id="{02CE0CE2-B2FB-4BAD-95A7-A83E66677D15}"/>
                </a:ext>
              </a:extLst>
            </p:cNvPr>
            <p:cNvCxnSpPr>
              <a:stCxn id="27" idx="2"/>
            </p:cNvCxnSpPr>
            <p:nvPr/>
          </p:nvCxnSpPr>
          <p:spPr bwMode="auto">
            <a:xfrm>
              <a:off x="1483440" y="2183487"/>
              <a:ext cx="1564560" cy="118246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C525FB8E-9308-4130-9158-A3F70ACBDAF5}"/>
                </a:ext>
              </a:extLst>
            </p:cNvPr>
            <p:cNvCxnSpPr>
              <a:cxnSpLocks/>
              <a:stCxn id="27" idx="2"/>
            </p:cNvCxnSpPr>
            <p:nvPr/>
          </p:nvCxnSpPr>
          <p:spPr bwMode="auto">
            <a:xfrm>
              <a:off x="1483440" y="2183487"/>
              <a:ext cx="1483439" cy="1815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DE1FE181-94A7-4D35-8605-EB9739BB7812}"/>
                </a:ext>
              </a:extLst>
            </p:cNvPr>
            <p:cNvCxnSpPr>
              <a:cxnSpLocks/>
              <a:stCxn id="27" idx="2"/>
            </p:cNvCxnSpPr>
            <p:nvPr/>
          </p:nvCxnSpPr>
          <p:spPr bwMode="auto">
            <a:xfrm>
              <a:off x="1483440" y="2183487"/>
              <a:ext cx="1483439" cy="291724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54" name="Group 53">
            <a:extLst>
              <a:ext uri="{FF2B5EF4-FFF2-40B4-BE49-F238E27FC236}">
                <a16:creationId xmlns:a16="http://schemas.microsoft.com/office/drawing/2014/main" id="{85F25539-34EA-4CDA-80EF-7C3DBD7AC4C0}"/>
              </a:ext>
            </a:extLst>
          </p:cNvPr>
          <p:cNvGrpSpPr/>
          <p:nvPr/>
        </p:nvGrpSpPr>
        <p:grpSpPr>
          <a:xfrm>
            <a:off x="4267200" y="2081641"/>
            <a:ext cx="3482549" cy="2337959"/>
            <a:chOff x="4267200" y="2081641"/>
            <a:chExt cx="3482549" cy="2337959"/>
          </a:xfrm>
        </p:grpSpPr>
        <p:cxnSp>
          <p:nvCxnSpPr>
            <p:cNvPr id="38" name="Straight Arrow Connector 37">
              <a:extLst>
                <a:ext uri="{FF2B5EF4-FFF2-40B4-BE49-F238E27FC236}">
                  <a16:creationId xmlns:a16="http://schemas.microsoft.com/office/drawing/2014/main" id="{AFB255A7-074D-401F-8FA2-0D67C2D5E885}"/>
                </a:ext>
              </a:extLst>
            </p:cNvPr>
            <p:cNvCxnSpPr>
              <a:cxnSpLocks/>
              <a:stCxn id="42" idx="2"/>
            </p:cNvCxnSpPr>
            <p:nvPr/>
          </p:nvCxnSpPr>
          <p:spPr bwMode="auto">
            <a:xfrm flipH="1">
              <a:off x="4267200" y="2512528"/>
              <a:ext cx="2218300" cy="190707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2" name="TextBox 41">
              <a:extLst>
                <a:ext uri="{FF2B5EF4-FFF2-40B4-BE49-F238E27FC236}">
                  <a16:creationId xmlns:a16="http://schemas.microsoft.com/office/drawing/2014/main" id="{E8BB0A05-B044-4F99-ABA5-C7C964701BB8}"/>
                </a:ext>
              </a:extLst>
            </p:cNvPr>
            <p:cNvSpPr txBox="1"/>
            <p:nvPr/>
          </p:nvSpPr>
          <p:spPr>
            <a:xfrm>
              <a:off x="5221251" y="2081641"/>
              <a:ext cx="2528498" cy="430887"/>
            </a:xfrm>
            <a:prstGeom prst="rect">
              <a:avLst/>
            </a:prstGeom>
            <a:noFill/>
          </p:spPr>
          <p:txBody>
            <a:bodyPr wrap="square" rtlCol="0">
              <a:spAutoFit/>
            </a:bodyPr>
            <a:lstStyle/>
            <a:p>
              <a:pPr algn="ctr"/>
              <a:r>
                <a:rPr lang="zh-CN" altLang="en-US" sz="2200" dirty="0"/>
                <a:t>细胞核：信号处理</a:t>
              </a:r>
            </a:p>
          </p:txBody>
        </p:sp>
      </p:grpSp>
      <p:grpSp>
        <p:nvGrpSpPr>
          <p:cNvPr id="55" name="Group 54">
            <a:extLst>
              <a:ext uri="{FF2B5EF4-FFF2-40B4-BE49-F238E27FC236}">
                <a16:creationId xmlns:a16="http://schemas.microsoft.com/office/drawing/2014/main" id="{DF564595-A6A4-41F5-B8AC-838C33481530}"/>
              </a:ext>
            </a:extLst>
          </p:cNvPr>
          <p:cNvGrpSpPr/>
          <p:nvPr/>
        </p:nvGrpSpPr>
        <p:grpSpPr>
          <a:xfrm>
            <a:off x="5660751" y="4648200"/>
            <a:ext cx="2847867" cy="775764"/>
            <a:chOff x="5660751" y="4648200"/>
            <a:chExt cx="2847867" cy="775764"/>
          </a:xfrm>
        </p:grpSpPr>
        <p:cxnSp>
          <p:nvCxnSpPr>
            <p:cNvPr id="46" name="Straight Arrow Connector 45">
              <a:extLst>
                <a:ext uri="{FF2B5EF4-FFF2-40B4-BE49-F238E27FC236}">
                  <a16:creationId xmlns:a16="http://schemas.microsoft.com/office/drawing/2014/main" id="{A0810AD3-708A-4C8A-91F5-BAE6B4786692}"/>
                </a:ext>
              </a:extLst>
            </p:cNvPr>
            <p:cNvCxnSpPr>
              <a:cxnSpLocks/>
              <a:stCxn id="50" idx="0"/>
            </p:cNvCxnSpPr>
            <p:nvPr/>
          </p:nvCxnSpPr>
          <p:spPr bwMode="auto">
            <a:xfrm flipH="1" flipV="1">
              <a:off x="5958840" y="4648200"/>
              <a:ext cx="1125845" cy="34487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0" name="TextBox 49">
              <a:extLst>
                <a:ext uri="{FF2B5EF4-FFF2-40B4-BE49-F238E27FC236}">
                  <a16:creationId xmlns:a16="http://schemas.microsoft.com/office/drawing/2014/main" id="{BBA35A29-D52A-48D6-B171-1884B7C0FED8}"/>
                </a:ext>
              </a:extLst>
            </p:cNvPr>
            <p:cNvSpPr txBox="1"/>
            <p:nvPr/>
          </p:nvSpPr>
          <p:spPr>
            <a:xfrm>
              <a:off x="5660751" y="4993077"/>
              <a:ext cx="2847867" cy="430887"/>
            </a:xfrm>
            <a:prstGeom prst="rect">
              <a:avLst/>
            </a:prstGeom>
            <a:noFill/>
          </p:spPr>
          <p:txBody>
            <a:bodyPr wrap="square" rtlCol="0">
              <a:spAutoFit/>
            </a:bodyPr>
            <a:lstStyle/>
            <a:p>
              <a:pPr algn="ctr"/>
              <a:r>
                <a:rPr lang="zh-CN" altLang="en-US" sz="2200" dirty="0"/>
                <a:t>突触：对外发送信号</a:t>
              </a:r>
            </a:p>
          </p:txBody>
        </p:sp>
      </p:grpSp>
    </p:spTree>
    <p:custDataLst>
      <p:tags r:id="rId1"/>
    </p:custDataLst>
    <p:extLst>
      <p:ext uri="{BB962C8B-B14F-4D97-AF65-F5344CB8AC3E}">
        <p14:creationId xmlns:p14="http://schemas.microsoft.com/office/powerpoint/2010/main" val="22847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p:txBody>
          <a:bodyPr/>
          <a:lstStyle/>
          <a:p>
            <a:pPr eaLnBrk="1" hangingPunct="1"/>
            <a:r>
              <a:rPr lang="zh-CN" altLang="en-US" dirty="0">
                <a:ea typeface="SimSun" panose="02010600030101010101" pitchFamily="2" charset="-122"/>
              </a:rPr>
              <a:t>作为神经细胞的线性分类器</a:t>
            </a:r>
            <a:endParaRPr lang="en-US" altLang="zh-CN" dirty="0">
              <a:ea typeface="SimSun" panose="02010600030101010101" pitchFamily="2" charset="-122"/>
            </a:endParaRPr>
          </a:p>
        </p:txBody>
      </p:sp>
      <p:sp>
        <p:nvSpPr>
          <p:cNvPr id="447507" name="Oval 19"/>
          <p:cNvSpPr>
            <a:spLocks noChangeArrowheads="1"/>
          </p:cNvSpPr>
          <p:nvPr/>
        </p:nvSpPr>
        <p:spPr bwMode="auto">
          <a:xfrm>
            <a:off x="4179887" y="2815203"/>
            <a:ext cx="1296988" cy="122396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0"/>
              </a:spcBef>
              <a:buClrTx/>
              <a:buSzTx/>
              <a:buFontTx/>
              <a:buNone/>
            </a:pPr>
            <a:endParaRPr lang="en-US" altLang="zh-CN" sz="1800" b="0"/>
          </a:p>
        </p:txBody>
      </p:sp>
      <p:sp>
        <p:nvSpPr>
          <p:cNvPr id="447508" name="Line 20"/>
          <p:cNvSpPr>
            <a:spLocks noChangeShapeType="1"/>
          </p:cNvSpPr>
          <p:nvPr/>
        </p:nvSpPr>
        <p:spPr bwMode="auto">
          <a:xfrm>
            <a:off x="2741612" y="2319298"/>
            <a:ext cx="1511300" cy="85626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09" name="Line 21"/>
          <p:cNvSpPr>
            <a:spLocks noChangeShapeType="1"/>
          </p:cNvSpPr>
          <p:nvPr/>
        </p:nvSpPr>
        <p:spPr bwMode="auto">
          <a:xfrm>
            <a:off x="2668587" y="2888228"/>
            <a:ext cx="1511300" cy="431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2" name="Line 24"/>
          <p:cNvSpPr>
            <a:spLocks noChangeShapeType="1"/>
          </p:cNvSpPr>
          <p:nvPr/>
        </p:nvSpPr>
        <p:spPr bwMode="auto">
          <a:xfrm flipV="1">
            <a:off x="2668586" y="3744494"/>
            <a:ext cx="1584325" cy="5835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4" name="Line 26"/>
          <p:cNvSpPr>
            <a:spLocks noChangeShapeType="1"/>
          </p:cNvSpPr>
          <p:nvPr/>
        </p:nvSpPr>
        <p:spPr bwMode="auto">
          <a:xfrm>
            <a:off x="5476875" y="3462903"/>
            <a:ext cx="1152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47515" name="Object 27"/>
          <p:cNvGraphicFramePr>
            <a:graphicFrameLocks noChangeAspect="1"/>
          </p:cNvGraphicFramePr>
          <p:nvPr/>
        </p:nvGraphicFramePr>
        <p:xfrm>
          <a:off x="5837237" y="3135878"/>
          <a:ext cx="273050" cy="327025"/>
        </p:xfrm>
        <a:graphic>
          <a:graphicData uri="http://schemas.openxmlformats.org/presentationml/2006/ole">
            <mc:AlternateContent xmlns:mc="http://schemas.openxmlformats.org/markup-compatibility/2006">
              <mc:Choice xmlns:v="urn:schemas-microsoft-com:vml" Requires="v">
                <p:oleObj name="Equation" r:id="rId4" imgW="0" imgH="28604" progId="Equation.3">
                  <p:embed/>
                </p:oleObj>
              </mc:Choice>
              <mc:Fallback>
                <p:oleObj name="Equation" r:id="rId4" imgW="0" imgH="28604" progId="Equation.3">
                  <p:embed/>
                  <p:pic>
                    <p:nvPicPr>
                      <p:cNvPr id="447515"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7237" y="3135878"/>
                        <a:ext cx="273050"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516" name="Freeform 28"/>
          <p:cNvSpPr>
            <a:spLocks/>
          </p:cNvSpPr>
          <p:nvPr/>
        </p:nvSpPr>
        <p:spPr bwMode="auto">
          <a:xfrm>
            <a:off x="4829175" y="2888228"/>
            <a:ext cx="215900" cy="1079500"/>
          </a:xfrm>
          <a:custGeom>
            <a:avLst/>
            <a:gdLst>
              <a:gd name="T0" fmla="*/ 2147483646 w 136"/>
              <a:gd name="T1" fmla="*/ 0 h 680"/>
              <a:gd name="T2" fmla="*/ 0 w 136"/>
              <a:gd name="T3" fmla="*/ 2147483646 h 680"/>
              <a:gd name="T4" fmla="*/ 2147483646 w 136"/>
              <a:gd name="T5" fmla="*/ 2147483646 h 680"/>
              <a:gd name="T6" fmla="*/ 0 60000 65536"/>
              <a:gd name="T7" fmla="*/ 0 60000 65536"/>
              <a:gd name="T8" fmla="*/ 0 60000 65536"/>
              <a:gd name="T9" fmla="*/ 0 w 136"/>
              <a:gd name="T10" fmla="*/ 0 h 680"/>
              <a:gd name="T11" fmla="*/ 136 w 136"/>
              <a:gd name="T12" fmla="*/ 680 h 680"/>
            </a:gdLst>
            <a:ahLst/>
            <a:cxnLst>
              <a:cxn ang="T6">
                <a:pos x="T0" y="T1"/>
              </a:cxn>
              <a:cxn ang="T7">
                <a:pos x="T2" y="T3"/>
              </a:cxn>
              <a:cxn ang="T8">
                <a:pos x="T4" y="T5"/>
              </a:cxn>
            </a:cxnLst>
            <a:rect l="T9" t="T10" r="T11" b="T12"/>
            <a:pathLst>
              <a:path w="136" h="680">
                <a:moveTo>
                  <a:pt x="136" y="0"/>
                </a:moveTo>
                <a:cubicBezTo>
                  <a:pt x="68" y="102"/>
                  <a:pt x="0" y="204"/>
                  <a:pt x="0" y="317"/>
                </a:cubicBezTo>
                <a:cubicBezTo>
                  <a:pt x="0" y="430"/>
                  <a:pt x="106" y="620"/>
                  <a:pt x="136" y="680"/>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mc:AlternateContent xmlns:mc="http://schemas.openxmlformats.org/markup-compatibility/2006" xmlns:a14="http://schemas.microsoft.com/office/drawing/2010/main">
        <mc:Choice Requires="a14">
          <p:sp>
            <p:nvSpPr>
              <p:cNvPr id="2" name="Rectangle 1"/>
              <p:cNvSpPr/>
              <p:nvPr/>
            </p:nvSpPr>
            <p:spPr>
              <a:xfrm>
                <a:off x="4851400" y="3238033"/>
                <a:ext cx="5568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4851400" y="3238033"/>
                <a:ext cx="556819"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189267" y="2351048"/>
                <a:ext cx="636072" cy="15696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2</m:t>
                          </m:r>
                        </m:sub>
                      </m:sSub>
                    </m:oMath>
                  </m:oMathPara>
                </a14:m>
                <a:endParaRPr lang="en-US" sz="2400"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7" name="Rectangle 16"/>
              <p:cNvSpPr>
                <a:spLocks noRot="1" noChangeAspect="1" noMove="1" noResize="1" noEditPoints="1" noAdjustHandles="1" noChangeArrowheads="1" noChangeShapeType="1" noTextEdit="1"/>
              </p:cNvSpPr>
              <p:nvPr/>
            </p:nvSpPr>
            <p:spPr>
              <a:xfrm>
                <a:off x="3189267" y="2351048"/>
                <a:ext cx="636072" cy="1569660"/>
              </a:xfrm>
              <a:prstGeom prst="rect">
                <a:avLst/>
              </a:prstGeom>
              <a:blipFill>
                <a:blip r:embed="rId10"/>
                <a:stretch>
                  <a:fillRect r="-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2151299" y="1981200"/>
                <a:ext cx="636072" cy="267765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dirty="0"/>
              </a:p>
              <a:p>
                <a:endParaRPr lang="en-US" sz="24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ea typeface="Cambria Math" panose="02040503050406030204" pitchFamily="18" charset="0"/>
                </a:endParaRPr>
              </a:p>
              <a:p>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8" name="Rectangle 17"/>
              <p:cNvSpPr>
                <a:spLocks noRot="1" noChangeAspect="1" noMove="1" noResize="1" noEditPoints="1" noAdjustHandles="1" noChangeArrowheads="1" noChangeShapeType="1" noTextEdit="1"/>
              </p:cNvSpPr>
              <p:nvPr/>
            </p:nvSpPr>
            <p:spPr>
              <a:xfrm>
                <a:off x="2151299" y="1981200"/>
                <a:ext cx="636072" cy="267765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C2FC3F9-47B3-465C-97B4-5ADF6EF3573B}"/>
                  </a:ext>
                </a:extLst>
              </p:cNvPr>
              <p:cNvSpPr/>
              <p:nvPr/>
            </p:nvSpPr>
            <p:spPr>
              <a:xfrm>
                <a:off x="2137071" y="4940107"/>
                <a:ext cx="276992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m:oMathPara>
                </a14:m>
                <a:endParaRPr lang="zh-CN" altLang="en-US" dirty="0"/>
              </a:p>
            </p:txBody>
          </p:sp>
        </mc:Choice>
        <mc:Fallback xmlns="">
          <p:sp>
            <p:nvSpPr>
              <p:cNvPr id="4" name="Rectangle 3">
                <a:extLst>
                  <a:ext uri="{FF2B5EF4-FFF2-40B4-BE49-F238E27FC236}">
                    <a16:creationId xmlns:a16="http://schemas.microsoft.com/office/drawing/2014/main" id="{1C2FC3F9-47B3-465C-97B4-5ADF6EF3573B}"/>
                  </a:ext>
                </a:extLst>
              </p:cNvPr>
              <p:cNvSpPr>
                <a:spLocks noRot="1" noChangeAspect="1" noMove="1" noResize="1" noEditPoints="1" noAdjustHandles="1" noChangeArrowheads="1" noChangeShapeType="1" noTextEdit="1"/>
              </p:cNvSpPr>
              <p:nvPr/>
            </p:nvSpPr>
            <p:spPr>
              <a:xfrm>
                <a:off x="2137071" y="4940107"/>
                <a:ext cx="2769925"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1F975CBD-FC9F-4AC9-9FD5-32626C75BFED}"/>
                  </a:ext>
                </a:extLst>
              </p:cNvPr>
              <p:cNvSpPr/>
              <p:nvPr/>
            </p:nvSpPr>
            <p:spPr>
              <a:xfrm>
                <a:off x="4716496" y="4964668"/>
                <a:ext cx="9223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m:oMathPara>
                </a14:m>
                <a:endParaRPr lang="zh-CN" altLang="en-US" dirty="0"/>
              </a:p>
            </p:txBody>
          </p:sp>
        </mc:Choice>
        <mc:Fallback xmlns="">
          <p:sp>
            <p:nvSpPr>
              <p:cNvPr id="19" name="Rectangle 18">
                <a:extLst>
                  <a:ext uri="{FF2B5EF4-FFF2-40B4-BE49-F238E27FC236}">
                    <a16:creationId xmlns:a16="http://schemas.microsoft.com/office/drawing/2014/main" id="{1F975CBD-FC9F-4AC9-9FD5-32626C75BFED}"/>
                  </a:ext>
                </a:extLst>
              </p:cNvPr>
              <p:cNvSpPr>
                <a:spLocks noRot="1" noChangeAspect="1" noMove="1" noResize="1" noEditPoints="1" noAdjustHandles="1" noChangeArrowheads="1" noChangeShapeType="1" noTextEdit="1"/>
              </p:cNvSpPr>
              <p:nvPr/>
            </p:nvSpPr>
            <p:spPr>
              <a:xfrm>
                <a:off x="4716496" y="4964668"/>
                <a:ext cx="922304" cy="369332"/>
              </a:xfrm>
              <a:prstGeom prst="rect">
                <a:avLst/>
              </a:prstGeom>
              <a:blipFill>
                <a:blip r:embed="rId13"/>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77ED89C-E28A-4E0E-890B-0C07A53E74EF}"/>
                  </a:ext>
                </a:extLst>
              </p:cNvPr>
              <p:cNvSpPr/>
              <p:nvPr/>
            </p:nvSpPr>
            <p:spPr>
              <a:xfrm>
                <a:off x="5438819" y="4973364"/>
                <a:ext cx="6190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&gt;0</m:t>
                      </m:r>
                    </m:oMath>
                  </m:oMathPara>
                </a14:m>
                <a:endParaRPr lang="zh-CN" altLang="en-US" dirty="0"/>
              </a:p>
            </p:txBody>
          </p:sp>
        </mc:Choice>
        <mc:Fallback xmlns="">
          <p:sp>
            <p:nvSpPr>
              <p:cNvPr id="20" name="Rectangle 19">
                <a:extLst>
                  <a:ext uri="{FF2B5EF4-FFF2-40B4-BE49-F238E27FC236}">
                    <a16:creationId xmlns:a16="http://schemas.microsoft.com/office/drawing/2014/main" id="{F77ED89C-E28A-4E0E-890B-0C07A53E74EF}"/>
                  </a:ext>
                </a:extLst>
              </p:cNvPr>
              <p:cNvSpPr>
                <a:spLocks noRot="1" noChangeAspect="1" noMove="1" noResize="1" noEditPoints="1" noAdjustHandles="1" noChangeArrowheads="1" noChangeShapeType="1" noTextEdit="1"/>
              </p:cNvSpPr>
              <p:nvPr/>
            </p:nvSpPr>
            <p:spPr>
              <a:xfrm>
                <a:off x="5438819" y="4973364"/>
                <a:ext cx="619080" cy="369332"/>
              </a:xfrm>
              <a:prstGeom prst="rect">
                <a:avLst/>
              </a:prstGeom>
              <a:blipFill>
                <a:blip r:embed="rId14"/>
                <a:stretch>
                  <a:fillRect/>
                </a:stretch>
              </a:blipFill>
            </p:spPr>
            <p:txBody>
              <a:bodyPr/>
              <a:lstStyle/>
              <a:p>
                <a:r>
                  <a:rPr lang="zh-CN" altLang="en-US">
                    <a:noFill/>
                  </a:rPr>
                  <a:t> </a:t>
                </a:r>
              </a:p>
            </p:txBody>
          </p:sp>
        </mc:Fallback>
      </mc:AlternateContent>
      <p:sp>
        <p:nvSpPr>
          <p:cNvPr id="21" name="TextBox 20">
            <a:extLst>
              <a:ext uri="{FF2B5EF4-FFF2-40B4-BE49-F238E27FC236}">
                <a16:creationId xmlns:a16="http://schemas.microsoft.com/office/drawing/2014/main" id="{0A9E9006-672E-403E-8E19-3B848B684FDB}"/>
              </a:ext>
            </a:extLst>
          </p:cNvPr>
          <p:cNvSpPr txBox="1"/>
          <p:nvPr/>
        </p:nvSpPr>
        <p:spPr>
          <a:xfrm>
            <a:off x="5772182" y="4964668"/>
            <a:ext cx="457200" cy="369332"/>
          </a:xfrm>
          <a:prstGeom prst="rect">
            <a:avLst/>
          </a:prstGeom>
          <a:noFill/>
        </p:spPr>
        <p:txBody>
          <a:bodyPr wrap="square" rtlCol="0">
            <a:spAutoFit/>
          </a:bodyPr>
          <a:lstStyle/>
          <a:p>
            <a:pPr algn="ctr"/>
            <a:r>
              <a:rPr lang="en-US" altLang="zh-CN" dirty="0"/>
              <a:t>?</a:t>
            </a:r>
            <a:endParaRPr lang="zh-CN" altLang="en-US" dirty="0"/>
          </a:p>
        </p:txBody>
      </p:sp>
    </p:spTree>
    <p:custDataLst>
      <p:tags r:id="rId1"/>
    </p:custDataLst>
    <p:extLst>
      <p:ext uri="{BB962C8B-B14F-4D97-AF65-F5344CB8AC3E}">
        <p14:creationId xmlns:p14="http://schemas.microsoft.com/office/powerpoint/2010/main" val="37907201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750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750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75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75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75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7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507" grpId="0" animBg="1"/>
      <p:bldP spid="447508" grpId="0" animBg="1"/>
      <p:bldP spid="447509" grpId="0" animBg="1"/>
      <p:bldP spid="447512" grpId="0" animBg="1"/>
      <p:bldP spid="447514" grpId="0" animBg="1"/>
      <p:bldP spid="447516" grpId="0" animBg="1"/>
      <p:bldP spid="2" grpId="0"/>
      <p:bldP spid="17" grpId="0"/>
      <p:bldP spid="18" grpId="0"/>
      <p:bldP spid="4" grpId="0"/>
      <p:bldP spid="19" grpId="0"/>
      <p:bldP spid="20" grpId="0"/>
      <p:bldP spid="2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怎么学？</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4800600"/>
          </a:xfrm>
        </p:spPr>
        <p:txBody>
          <a:bodyPr>
            <a:normAutofit/>
          </a:bodyPr>
          <a:lstStyle/>
          <a:p>
            <a:r>
              <a:rPr lang="zh-CN" altLang="en-US" dirty="0"/>
              <a:t>模式：在线学习</a:t>
            </a:r>
            <a:endParaRPr lang="en-US" altLang="zh-CN" dirty="0"/>
          </a:p>
          <a:p>
            <a:pPr lvl="1"/>
            <a:r>
              <a:rPr lang="zh-CN" altLang="en-US" b="0" dirty="0"/>
              <a:t>每一时刻，用当前分类器对一个数据进行分类</a:t>
            </a:r>
            <a:endParaRPr lang="en-US" altLang="zh-CN" b="0" dirty="0"/>
          </a:p>
          <a:p>
            <a:pPr lvl="1"/>
            <a:r>
              <a:rPr lang="zh-CN" altLang="en-US" dirty="0"/>
              <a:t>比较分类结果和真实类别</a:t>
            </a:r>
            <a:endParaRPr lang="en-US" altLang="zh-CN" dirty="0"/>
          </a:p>
          <a:p>
            <a:pPr lvl="1"/>
            <a:r>
              <a:rPr lang="zh-CN" altLang="en-US" b="0" dirty="0"/>
              <a:t>调整分类器</a:t>
            </a:r>
            <a:endParaRPr lang="en-US" altLang="zh-CN" b="0" dirty="0"/>
          </a:p>
          <a:p>
            <a:r>
              <a:rPr lang="zh-CN" altLang="en-US" dirty="0"/>
              <a:t>感知器算法</a:t>
            </a:r>
            <a:endParaRPr lang="en-US" altLang="zh-CN" dirty="0"/>
          </a:p>
          <a:p>
            <a:pPr lvl="1"/>
            <a:endParaRPr lang="en-US" altLang="zh-CN" dirty="0"/>
          </a:p>
        </p:txBody>
      </p:sp>
    </p:spTree>
    <p:custDataLst>
      <p:tags r:id="rId1"/>
    </p:custDataLst>
    <p:extLst>
      <p:ext uri="{BB962C8B-B14F-4D97-AF65-F5344CB8AC3E}">
        <p14:creationId xmlns:p14="http://schemas.microsoft.com/office/powerpoint/2010/main" val="245937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br>
              <a:rPr lang="en-US" altLang="zh-CN" dirty="0"/>
            </a:br>
            <a:r>
              <a:rPr lang="zh-CN" altLang="en-US" dirty="0"/>
              <a:t>感知器算法</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4800600"/>
              </a:xfrm>
            </p:spPr>
            <p:txBody>
              <a:bodyPr>
                <a:normAutofit/>
              </a:bodyPr>
              <a:lstStyle/>
              <a:p>
                <a:r>
                  <a:rPr lang="zh-CN" altLang="en-US" dirty="0"/>
                  <a:t>初始化</a:t>
                </a:r>
                <a:endParaRPr lang="en-US" altLang="zh-CN" dirty="0"/>
              </a:p>
              <a:p>
                <a:pPr lvl="1"/>
                <a14:m>
                  <m:oMath xmlns:m="http://schemas.openxmlformats.org/officeDocument/2006/math">
                    <m:r>
                      <a:rPr lang="en-US" altLang="zh-CN" b="1" i="0" smtClean="0">
                        <a:latin typeface="Cambria Math" panose="02040503050406030204" pitchFamily="18" charset="0"/>
                      </a:rPr>
                      <m:t>𝐰</m:t>
                    </m:r>
                    <m:r>
                      <a:rPr lang="en-US" altLang="zh-CN" i="1" smtClean="0">
                        <a:latin typeface="Cambria Math" panose="02040503050406030204" pitchFamily="18" charset="0"/>
                        <a:ea typeface="Cambria Math" panose="02040503050406030204" pitchFamily="18" charset="0"/>
                      </a:rPr>
                      <m:t>⟵</m:t>
                    </m:r>
                    <m:r>
                      <a:rPr lang="en-US" altLang="zh-CN" b="1" i="0" smtClean="0">
                        <a:latin typeface="Cambria Math" panose="02040503050406030204" pitchFamily="18" charset="0"/>
                        <a:ea typeface="Cambria Math" panose="02040503050406030204" pitchFamily="18" charset="0"/>
                      </a:rPr>
                      <m:t>𝟎</m:t>
                    </m:r>
                  </m:oMath>
                </a14:m>
                <a:r>
                  <a:rPr lang="en-US" altLang="zh-CN" dirty="0"/>
                  <a:t>, </a:t>
                </a:r>
                <a14:m>
                  <m:oMath xmlns:m="http://schemas.openxmlformats.org/officeDocument/2006/math">
                    <m:r>
                      <a:rPr lang="en-US" altLang="zh-CN" b="0" i="1" smtClean="0">
                        <a:latin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0</m:t>
                    </m:r>
                  </m:oMath>
                </a14:m>
                <a:endParaRPr lang="en-US" altLang="zh-CN" dirty="0"/>
              </a:p>
              <a:p>
                <a:r>
                  <a:rPr lang="zh-CN" altLang="en-US" dirty="0"/>
                  <a:t>对时间</a:t>
                </a:r>
                <a14:m>
                  <m:oMath xmlns:m="http://schemas.openxmlformats.org/officeDocument/2006/math">
                    <m:r>
                      <a:rPr lang="en-US" altLang="zh-CN" i="1">
                        <a:latin typeface="Cambria Math" panose="02040503050406030204" pitchFamily="18" charset="0"/>
                      </a:rPr>
                      <m:t>𝒕</m:t>
                    </m:r>
                  </m:oMath>
                </a14:m>
                <a:r>
                  <a:rPr lang="zh-CN" altLang="en-US" dirty="0"/>
                  <a:t>循环</a:t>
                </a:r>
                <a:endParaRPr lang="en-US" altLang="zh-CN" dirty="0"/>
              </a:p>
              <a:p>
                <a:pPr lvl="1"/>
                <a:r>
                  <a:rPr lang="zh-CN" altLang="en-US" dirty="0"/>
                  <a:t>获得  </a:t>
                </a:r>
                <a14:m>
                  <m:oMath xmlns:m="http://schemas.openxmlformats.org/officeDocument/2006/math">
                    <m:sSup>
                      <m:sSupPr>
                        <m:ctrlPr>
                          <a:rPr lang="en-US" altLang="zh-CN" i="1" smtClean="0">
                            <a:latin typeface="Cambria Math" panose="02040503050406030204" pitchFamily="18" charset="0"/>
                          </a:rPr>
                        </m:ctrlPr>
                      </m:sSupPr>
                      <m:e>
                        <m:r>
                          <a:rPr lang="en-US" altLang="zh-CN" b="1" i="0" smtClean="0">
                            <a:latin typeface="Cambria Math" panose="02040503050406030204" pitchFamily="18" charset="0"/>
                          </a:rPr>
                          <m:t>𝐱</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𝑡</m:t>
                            </m:r>
                          </m:e>
                        </m:d>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𝑛</m:t>
                        </m:r>
                      </m:sub>
                      <m:sup>
                        <m:d>
                          <m:dPr>
                            <m:ctrlPr>
                              <a:rPr lang="en-US" altLang="zh-CN" i="1">
                                <a:latin typeface="Cambria Math" panose="02040503050406030204" pitchFamily="18" charset="0"/>
                              </a:rPr>
                            </m:ctrlPr>
                          </m:dPr>
                          <m:e>
                            <m:r>
                              <a:rPr lang="en-US" altLang="zh-CN" i="1">
                                <a:latin typeface="Cambria Math" panose="02040503050406030204" pitchFamily="18" charset="0"/>
                              </a:rPr>
                              <m:t>𝑡</m:t>
                            </m:r>
                          </m:e>
                        </m:d>
                      </m:sup>
                    </m:sSubSup>
                    <m:r>
                      <a:rPr lang="en-US" altLang="zh-CN" i="1">
                        <a:latin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𝑡</m:t>
                            </m:r>
                          </m:e>
                        </m:d>
                      </m:sup>
                    </m:sSup>
                  </m:oMath>
                </a14:m>
                <a:endParaRPr lang="en-US" altLang="zh-CN" dirty="0"/>
              </a:p>
              <a:p>
                <a:pPr lvl="1"/>
                <a:r>
                  <a:rPr lang="zh-CN" altLang="en-US" dirty="0"/>
                  <a:t>如果  </a:t>
                </a:r>
                <a14:m>
                  <m:oMath xmlns:m="http://schemas.openxmlformats.org/officeDocument/2006/math">
                    <m:r>
                      <a:rPr lang="en-US" altLang="zh-CN" b="0" i="1" smtClean="0">
                        <a:latin typeface="Cambria Math" panose="02040503050406030204" pitchFamily="18" charset="0"/>
                      </a:rPr>
                      <m:t>(</m:t>
                    </m:r>
                    <m:r>
                      <a:rPr lang="en-US" altLang="zh-CN" b="1">
                        <a:latin typeface="Cambria Math" panose="02040503050406030204" pitchFamily="18" charset="0"/>
                      </a:rPr>
                      <m:t>𝐰</m:t>
                    </m:r>
                    <m:r>
                      <a:rPr lang="en-US" altLang="zh-CN" b="1"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b="1">
                            <a:latin typeface="Cambria Math" panose="02040503050406030204" pitchFamily="18" charset="0"/>
                          </a:rPr>
                          <m:t>𝐱</m:t>
                        </m:r>
                      </m:e>
                      <m:sup>
                        <m:d>
                          <m:dPr>
                            <m:ctrlPr>
                              <a:rPr lang="en-US" altLang="zh-CN" i="1">
                                <a:latin typeface="Cambria Math" panose="02040503050406030204" pitchFamily="18" charset="0"/>
                              </a:rPr>
                            </m:ctrlPr>
                          </m:dPr>
                          <m:e>
                            <m:r>
                              <a:rPr lang="en-US" altLang="zh-CN" i="1">
                                <a:latin typeface="Cambria Math" panose="02040503050406030204" pitchFamily="18" charset="0"/>
                              </a:rPr>
                              <m:t>𝑡</m:t>
                            </m:r>
                          </m:e>
                        </m:d>
                      </m:sup>
                    </m:sSup>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𝑡</m:t>
                            </m:r>
                          </m:e>
                        </m:d>
                      </m:sup>
                    </m:sSup>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0</m:t>
                    </m:r>
                  </m:oMath>
                </a14:m>
                <a:endParaRPr lang="en-US" altLang="zh-CN" dirty="0">
                  <a:ea typeface="Cambria Math" panose="02040503050406030204" pitchFamily="18" charset="0"/>
                </a:endParaRPr>
              </a:p>
              <a:p>
                <a:pPr lvl="2"/>
                <a14:m>
                  <m:oMath xmlns:m="http://schemas.openxmlformats.org/officeDocument/2006/math">
                    <m:r>
                      <a:rPr lang="en-US" altLang="zh-CN" b="1">
                        <a:latin typeface="Cambria Math" panose="02040503050406030204" pitchFamily="18" charset="0"/>
                      </a:rPr>
                      <m:t>𝐰</m:t>
                    </m:r>
                    <m:r>
                      <a:rPr lang="en-US" altLang="zh-CN" i="1">
                        <a:latin typeface="Cambria Math" panose="02040503050406030204" pitchFamily="18" charset="0"/>
                        <a:ea typeface="Cambria Math" panose="02040503050406030204" pitchFamily="18" charset="0"/>
                      </a:rPr>
                      <m:t>←</m:t>
                    </m:r>
                    <m:r>
                      <a:rPr lang="en-US" altLang="zh-CN" b="1">
                        <a:latin typeface="Cambria Math" panose="02040503050406030204" pitchFamily="18" charset="0"/>
                      </a:rPr>
                      <m:t>𝐰</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𝑡</m:t>
                            </m:r>
                          </m:e>
                        </m:d>
                      </m:sup>
                    </m:sSup>
                    <m:sSup>
                      <m:sSupPr>
                        <m:ctrlPr>
                          <a:rPr lang="en-US" altLang="zh-CN" i="1">
                            <a:latin typeface="Cambria Math" panose="02040503050406030204" pitchFamily="18" charset="0"/>
                          </a:rPr>
                        </m:ctrlPr>
                      </m:sSupPr>
                      <m:e>
                        <m:r>
                          <a:rPr lang="en-US" altLang="zh-CN" b="1">
                            <a:latin typeface="Cambria Math" panose="02040503050406030204" pitchFamily="18" charset="0"/>
                          </a:rPr>
                          <m:t>𝐱</m:t>
                        </m:r>
                      </m:e>
                      <m:sup>
                        <m:d>
                          <m:dPr>
                            <m:ctrlPr>
                              <a:rPr lang="en-US" altLang="zh-CN" i="1">
                                <a:latin typeface="Cambria Math" panose="02040503050406030204" pitchFamily="18" charset="0"/>
                              </a:rPr>
                            </m:ctrlPr>
                          </m:dPr>
                          <m:e>
                            <m:r>
                              <a:rPr lang="en-US" altLang="zh-CN" i="1">
                                <a:latin typeface="Cambria Math" panose="02040503050406030204" pitchFamily="18" charset="0"/>
                              </a:rPr>
                              <m:t>𝑡</m:t>
                            </m:r>
                          </m:e>
                        </m:d>
                      </m:sup>
                    </m:sSup>
                    <m:r>
                      <a:rPr lang="en-US" altLang="zh-CN" b="0" i="1" smtClean="0">
                        <a:latin typeface="Cambria Math" panose="02040503050406030204" pitchFamily="18" charset="0"/>
                      </a:rPr>
                      <m:t> (</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𝑤</m:t>
                        </m:r>
                      </m:e>
                      <m:sub>
                        <m:r>
                          <a:rPr lang="en-US" altLang="zh-CN" b="0" i="1" smtClean="0">
                            <a:latin typeface="Cambria Math" panose="02040503050406030204" pitchFamily="18" charset="0"/>
                            <a:ea typeface="Cambria Math" panose="02040503050406030204" pitchFamily="18" charset="0"/>
                          </a:rPr>
                          <m:t>𝑖</m:t>
                        </m:r>
                      </m:sub>
                    </m:sSub>
                    <m:r>
                      <a:rPr lang="en-US" altLang="zh-CN" b="0"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𝑡</m:t>
                            </m:r>
                          </m:e>
                        </m:d>
                      </m:sup>
                    </m:sSup>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𝑖</m:t>
                        </m:r>
                      </m:sub>
                      <m:sup>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𝑡</m:t>
                            </m:r>
                          </m:e>
                        </m:d>
                      </m:sup>
                    </m:sSub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oMath>
                </a14:m>
                <a:endParaRPr lang="en-US" altLang="zh-CN" b="0" dirty="0">
                  <a:ea typeface="Cambria Math" panose="02040503050406030204" pitchFamily="18" charset="0"/>
                </a:endParaRPr>
              </a:p>
              <a:p>
                <a:pPr lvl="2"/>
                <a14:m>
                  <m:oMath xmlns:m="http://schemas.openxmlformats.org/officeDocument/2006/math">
                    <m:r>
                      <a:rPr lang="en-US" altLang="zh-CN" b="0" i="1" smtClean="0">
                        <a:latin typeface="Cambria Math" panose="02040503050406030204" pitchFamily="18" charset="0"/>
                      </a:rPr>
                      <m:t>𝑏</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𝑡</m:t>
                        </m:r>
                        <m:r>
                          <a:rPr lang="en-US" altLang="zh-CN" i="1">
                            <a:latin typeface="Cambria Math" panose="02040503050406030204" pitchFamily="18" charset="0"/>
                            <a:ea typeface="Cambria Math" panose="02040503050406030204" pitchFamily="18" charset="0"/>
                          </a:rPr>
                          <m:t>)</m:t>
                        </m:r>
                      </m:sup>
                    </m:sSup>
                  </m:oMath>
                </a14:m>
                <a:endParaRPr lang="en-US" altLang="zh-CN"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9EA0F165-8941-4D6C-BAE4-F52C9F12FF6C}"/>
                  </a:ext>
                </a:extLst>
              </p:cNvPr>
              <p:cNvSpPr>
                <a:spLocks noGrp="1" noRot="1" noChangeAspect="1" noMove="1" noResize="1" noEditPoints="1" noAdjustHandles="1" noChangeArrowheads="1" noChangeShapeType="1" noTextEdit="1"/>
              </p:cNvSpPr>
              <p:nvPr>
                <p:ph idx="1"/>
              </p:nvPr>
            </p:nvSpPr>
            <p:spPr>
              <a:xfrm>
                <a:off x="762000" y="1600200"/>
                <a:ext cx="7772400" cy="4800600"/>
              </a:xfrm>
              <a:blipFill>
                <a:blip r:embed="rId3"/>
                <a:stretch>
                  <a:fillRect l="-549" t="-2287"/>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42430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批量学习</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4800600"/>
          </a:xfrm>
        </p:spPr>
        <p:txBody>
          <a:bodyPr>
            <a:normAutofit/>
          </a:bodyPr>
          <a:lstStyle/>
          <a:p>
            <a:r>
              <a:rPr lang="zh-CN" altLang="en-US" dirty="0"/>
              <a:t>典型的情况：并非在线学习</a:t>
            </a:r>
            <a:endParaRPr lang="en-US" altLang="zh-CN" dirty="0"/>
          </a:p>
          <a:p>
            <a:pPr lvl="1"/>
            <a:r>
              <a:rPr lang="zh-CN" altLang="en-US" b="0" dirty="0"/>
              <a:t>反复对数据集进行循环</a:t>
            </a:r>
            <a:endParaRPr lang="en-US" altLang="zh-CN" b="0" dirty="0"/>
          </a:p>
          <a:p>
            <a:r>
              <a:rPr lang="zh-CN" altLang="en-US" dirty="0"/>
              <a:t>结束条件</a:t>
            </a:r>
            <a:endParaRPr lang="en-US" altLang="zh-CN" dirty="0"/>
          </a:p>
          <a:p>
            <a:pPr lvl="1"/>
            <a:r>
              <a:rPr lang="zh-CN" altLang="en-US" dirty="0"/>
              <a:t>如果一轮中没有出错，就可以结束学习</a:t>
            </a:r>
            <a:endParaRPr lang="en-US" altLang="zh-CN" dirty="0"/>
          </a:p>
          <a:p>
            <a:pPr lvl="2"/>
            <a:r>
              <a:rPr lang="zh-CN" altLang="en-US" dirty="0"/>
              <a:t>如果存在一个划分两类的超平面，那么感知器也能找到一个这样的超平面</a:t>
            </a:r>
            <a:endParaRPr lang="en-US" altLang="zh-CN" dirty="0"/>
          </a:p>
          <a:p>
            <a:pPr lvl="1"/>
            <a:r>
              <a:rPr lang="zh-CN" altLang="en-US" dirty="0"/>
              <a:t>否则呢？</a:t>
            </a:r>
            <a:endParaRPr lang="en-US" altLang="zh-CN" dirty="0"/>
          </a:p>
          <a:p>
            <a:pPr lvl="2"/>
            <a:r>
              <a:rPr lang="zh-CN" altLang="en-US" dirty="0"/>
              <a:t>简单点：到达最大轮数终止</a:t>
            </a:r>
            <a:endParaRPr lang="en-US" altLang="zh-CN" dirty="0"/>
          </a:p>
        </p:txBody>
      </p:sp>
    </p:spTree>
    <p:custDataLst>
      <p:tags r:id="rId1"/>
    </p:custDataLst>
    <p:extLst>
      <p:ext uri="{BB962C8B-B14F-4D97-AF65-F5344CB8AC3E}">
        <p14:creationId xmlns:p14="http://schemas.microsoft.com/office/powerpoint/2010/main" val="5545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感知器的替代品</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4800600"/>
          </a:xfrm>
        </p:spPr>
        <p:txBody>
          <a:bodyPr>
            <a:normAutofit/>
          </a:bodyPr>
          <a:lstStyle/>
          <a:p>
            <a:pPr>
              <a:lnSpc>
                <a:spcPct val="90000"/>
              </a:lnSpc>
            </a:pPr>
            <a:r>
              <a:rPr lang="zh-CN" altLang="en-US" dirty="0"/>
              <a:t>分类与回归</a:t>
            </a:r>
            <a:endParaRPr lang="en-US" altLang="zh-CN" dirty="0"/>
          </a:p>
          <a:p>
            <a:pPr lvl="1">
              <a:lnSpc>
                <a:spcPct val="90000"/>
              </a:lnSpc>
            </a:pPr>
            <a:r>
              <a:rPr lang="zh-CN" altLang="en-US" dirty="0"/>
              <a:t>用于</a:t>
            </a:r>
            <a:r>
              <a:rPr lang="zh-CN" altLang="en-US" dirty="0">
                <a:solidFill>
                  <a:srgbClr val="FF0000"/>
                </a:solidFill>
              </a:rPr>
              <a:t>进行分类的回归函数</a:t>
            </a:r>
            <a:endParaRPr lang="en-US" altLang="zh-CN" dirty="0">
              <a:solidFill>
                <a:srgbClr val="FF0000"/>
              </a:solidFill>
            </a:endParaRPr>
          </a:p>
          <a:p>
            <a:pPr>
              <a:lnSpc>
                <a:spcPct val="90000"/>
              </a:lnSpc>
            </a:pPr>
            <a:r>
              <a:rPr lang="zh-CN" altLang="en-US" dirty="0"/>
              <a:t>另一种线性分类器</a:t>
            </a:r>
            <a:endParaRPr lang="en-US" altLang="zh-CN" dirty="0"/>
          </a:p>
          <a:p>
            <a:pPr lvl="1">
              <a:lnSpc>
                <a:spcPct val="90000"/>
              </a:lnSpc>
            </a:pPr>
            <a:r>
              <a:rPr lang="en-US" altLang="zh-CN" dirty="0"/>
              <a:t>Logistic regression</a:t>
            </a:r>
          </a:p>
        </p:txBody>
      </p:sp>
    </p:spTree>
    <p:custDataLst>
      <p:tags r:id="rId1"/>
    </p:custDataLst>
    <p:extLst>
      <p:ext uri="{BB962C8B-B14F-4D97-AF65-F5344CB8AC3E}">
        <p14:creationId xmlns:p14="http://schemas.microsoft.com/office/powerpoint/2010/main" val="51166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en-US" altLang="zh-CN" dirty="0">
                <a:ea typeface="ＭＳ Ｐゴシック" panose="020B0600070205080204" pitchFamily="34" charset="-128"/>
              </a:rPr>
              <a:t>Logistic Regression</a:t>
            </a:r>
            <a:endParaRPr lang="zh-CN" altLang="en-US" dirty="0"/>
          </a:p>
        </p:txBody>
      </p:sp>
      <p:sp>
        <p:nvSpPr>
          <p:cNvPr id="8" name="TextBox 7">
            <a:extLst>
              <a:ext uri="{FF2B5EF4-FFF2-40B4-BE49-F238E27FC236}">
                <a16:creationId xmlns:a16="http://schemas.microsoft.com/office/drawing/2014/main" id="{7664C3AC-AB78-4917-8832-C607B6DE6DC9}"/>
              </a:ext>
            </a:extLst>
          </p:cNvPr>
          <p:cNvSpPr txBox="1"/>
          <p:nvPr/>
        </p:nvSpPr>
        <p:spPr>
          <a:xfrm>
            <a:off x="-76202" y="1739781"/>
            <a:ext cx="9296400" cy="430887"/>
          </a:xfrm>
          <a:prstGeom prst="rect">
            <a:avLst/>
          </a:prstGeom>
          <a:noFill/>
        </p:spPr>
        <p:txBody>
          <a:bodyPr wrap="square" rtlCol="0">
            <a:spAutoFit/>
          </a:bodyPr>
          <a:lstStyle/>
          <a:p>
            <a:pPr algn="ctr"/>
            <a:r>
              <a:rPr lang="zh-CN" altLang="en-US" sz="2200" dirty="0"/>
              <a:t>用于概率估计的数值函数</a:t>
            </a:r>
            <a:endParaRPr lang="en-US" altLang="zh-CN" sz="2200" dirty="0"/>
          </a:p>
        </p:txBody>
      </p:sp>
      <p:sp>
        <p:nvSpPr>
          <p:cNvPr id="9" name="TextBox 8">
            <a:extLst>
              <a:ext uri="{FF2B5EF4-FFF2-40B4-BE49-F238E27FC236}">
                <a16:creationId xmlns:a16="http://schemas.microsoft.com/office/drawing/2014/main" id="{63639C9E-2956-4D75-92A9-0ABCB2CCBAB4}"/>
              </a:ext>
            </a:extLst>
          </p:cNvPr>
          <p:cNvSpPr txBox="1"/>
          <p:nvPr/>
        </p:nvSpPr>
        <p:spPr>
          <a:xfrm>
            <a:off x="190498" y="3352800"/>
            <a:ext cx="8763000" cy="430887"/>
          </a:xfrm>
          <a:prstGeom prst="rect">
            <a:avLst/>
          </a:prstGeom>
          <a:noFill/>
        </p:spPr>
        <p:txBody>
          <a:bodyPr wrap="square" rtlCol="0">
            <a:spAutoFit/>
          </a:bodyPr>
          <a:lstStyle/>
          <a:p>
            <a:pPr algn="ctr"/>
            <a:r>
              <a:rPr lang="zh-CN" altLang="en-US" sz="2200" dirty="0"/>
              <a:t>输出</a:t>
            </a:r>
            <a:r>
              <a:rPr lang="en-US" altLang="zh-CN" sz="2200" dirty="0">
                <a:solidFill>
                  <a:srgbClr val="FF0000"/>
                </a:solidFill>
              </a:rPr>
              <a:t>0</a:t>
            </a:r>
            <a:r>
              <a:rPr lang="zh-CN" altLang="en-US" sz="2200" dirty="0"/>
              <a:t>或</a:t>
            </a:r>
            <a:r>
              <a:rPr lang="en-US" altLang="zh-CN" sz="2200" dirty="0"/>
              <a:t>1</a:t>
            </a:r>
            <a:r>
              <a:rPr lang="zh-CN" altLang="en-US" sz="2200" dirty="0"/>
              <a:t>（以求数学上的优雅）</a:t>
            </a:r>
            <a:endParaRPr lang="en-US" altLang="zh-CN" sz="2200" dirty="0"/>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342F79E-9963-49B4-9A13-056415CBF0D7}"/>
                  </a:ext>
                </a:extLst>
              </p:cNvPr>
              <p:cNvSpPr/>
              <p:nvPr/>
            </p:nvSpPr>
            <p:spPr>
              <a:xfrm>
                <a:off x="935144" y="4038600"/>
                <a:ext cx="3560655" cy="7397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Cambria Math" panose="02040503050406030204" pitchFamily="18" charset="0"/>
                        </a:rPr>
                        <m:t>𝑃</m:t>
                      </m:r>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e>
                        <m:e>
                          <m:r>
                            <a:rPr lang="en-US" altLang="zh-CN" sz="2200" b="1">
                              <a:latin typeface="Cambria Math" panose="02040503050406030204" pitchFamily="18" charset="0"/>
                              <a:ea typeface="Cambria Math" panose="02040503050406030204" pitchFamily="18" charset="0"/>
                            </a:rPr>
                            <m:t>𝐱</m:t>
                          </m:r>
                        </m:e>
                      </m:d>
                      <m:r>
                        <a:rPr lang="en-US" altLang="zh-CN" sz="2200" i="1">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𝐱</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oMath>
                  </m:oMathPara>
                </a14:m>
                <a:endParaRPr lang="zh-CN" altLang="en-US" sz="2200" dirty="0"/>
              </a:p>
            </p:txBody>
          </p:sp>
        </mc:Choice>
        <mc:Fallback xmlns="">
          <p:sp>
            <p:nvSpPr>
              <p:cNvPr id="10" name="Rectangle 9">
                <a:extLst>
                  <a:ext uri="{FF2B5EF4-FFF2-40B4-BE49-F238E27FC236}">
                    <a16:creationId xmlns:a16="http://schemas.microsoft.com/office/drawing/2014/main" id="{2342F79E-9963-49B4-9A13-056415CBF0D7}"/>
                  </a:ext>
                </a:extLst>
              </p:cNvPr>
              <p:cNvSpPr>
                <a:spLocks noRot="1" noChangeAspect="1" noMove="1" noResize="1" noEditPoints="1" noAdjustHandles="1" noChangeArrowheads="1" noChangeShapeType="1" noTextEdit="1"/>
              </p:cNvSpPr>
              <p:nvPr/>
            </p:nvSpPr>
            <p:spPr>
              <a:xfrm>
                <a:off x="935144" y="4038600"/>
                <a:ext cx="3560655" cy="73975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675480" y="2430959"/>
                <a:ext cx="7793037" cy="769441"/>
              </a:xfrm>
              <a:prstGeom prst="rect">
                <a:avLst/>
              </a:prstGeom>
              <a:noFill/>
            </p:spPr>
            <p:txBody>
              <a:bodyPr wrap="square" rtlCol="0">
                <a:spAutoFit/>
              </a:bodyPr>
              <a:lstStyle/>
              <a:p>
                <a:pPr algn="ctr"/>
                <a:r>
                  <a:rPr lang="zh-CN" altLang="en-US" sz="2200" dirty="0"/>
                  <a:t>使用和线性分类器一样的知识</a:t>
                </a:r>
                <a:endParaRPr lang="en-US" altLang="zh-CN" sz="2200" dirty="0"/>
              </a:p>
              <a:p>
                <a:pPr algn="ctr"/>
                <a14:m>
                  <m:oMath xmlns:m="http://schemas.openxmlformats.org/officeDocument/2006/math">
                    <m:r>
                      <a:rPr lang="en-US" altLang="zh-CN" sz="2200" b="1" i="0" smtClean="0">
                        <a:latin typeface="Cambria Math" panose="02040503050406030204" pitchFamily="18" charset="0"/>
                      </a:rPr>
                      <m:t>𝐰</m:t>
                    </m:r>
                  </m:oMath>
                </a14:m>
                <a:r>
                  <a:rPr lang="en-US" altLang="zh-CN" sz="2200" dirty="0"/>
                  <a:t> &amp; </a:t>
                </a:r>
                <a14:m>
                  <m:oMath xmlns:m="http://schemas.openxmlformats.org/officeDocument/2006/math">
                    <m:r>
                      <a:rPr lang="en-US" altLang="zh-CN" sz="2200" b="0" i="1" smtClean="0">
                        <a:latin typeface="Cambria Math" panose="02040503050406030204" pitchFamily="18" charset="0"/>
                      </a:rPr>
                      <m:t>𝑏</m:t>
                    </m:r>
                  </m:oMath>
                </a14:m>
                <a:endParaRPr lang="en-US" altLang="zh-CN" sz="2200" dirty="0"/>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675480" y="2430959"/>
                <a:ext cx="7793037" cy="769441"/>
              </a:xfrm>
              <a:prstGeom prst="rect">
                <a:avLst/>
              </a:prstGeom>
              <a:blipFill>
                <a:blip r:embed="rId6"/>
                <a:stretch>
                  <a:fillRect t="-8730" b="-150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682DB94-2BCE-4E0B-8223-3937228E996D}"/>
                  </a:ext>
                </a:extLst>
              </p:cNvPr>
              <p:cNvSpPr/>
              <p:nvPr/>
            </p:nvSpPr>
            <p:spPr>
              <a:xfrm>
                <a:off x="935145" y="4703444"/>
                <a:ext cx="3560655" cy="7981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Cambria Math" panose="02040503050406030204" pitchFamily="18" charset="0"/>
                        </a:rPr>
                        <m:t>𝑃</m:t>
                      </m:r>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=0</m:t>
                          </m:r>
                        </m:e>
                        <m:e>
                          <m:r>
                            <a:rPr lang="en-US" altLang="zh-CN" sz="2200" b="1">
                              <a:latin typeface="Cambria Math" panose="02040503050406030204" pitchFamily="18" charset="0"/>
                              <a:ea typeface="Cambria Math" panose="02040503050406030204" pitchFamily="18" charset="0"/>
                            </a:rPr>
                            <m:t>𝐱</m:t>
                          </m:r>
                        </m:e>
                      </m:d>
                      <m:r>
                        <a:rPr lang="en-US" altLang="zh-CN" sz="2200" i="1">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𝐱</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𝐱</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oMath>
                  </m:oMathPara>
                </a14:m>
                <a:endParaRPr lang="zh-CN" altLang="en-US" sz="2200" dirty="0"/>
              </a:p>
            </p:txBody>
          </p:sp>
        </mc:Choice>
        <mc:Fallback xmlns="">
          <p:sp>
            <p:nvSpPr>
              <p:cNvPr id="12" name="Rectangle 11">
                <a:extLst>
                  <a:ext uri="{FF2B5EF4-FFF2-40B4-BE49-F238E27FC236}">
                    <a16:creationId xmlns:a16="http://schemas.microsoft.com/office/drawing/2014/main" id="{C682DB94-2BCE-4E0B-8223-3937228E996D}"/>
                  </a:ext>
                </a:extLst>
              </p:cNvPr>
              <p:cNvSpPr>
                <a:spLocks noRot="1" noChangeAspect="1" noMove="1" noResize="1" noEditPoints="1" noAdjustHandles="1" noChangeArrowheads="1" noChangeShapeType="1" noTextEdit="1"/>
              </p:cNvSpPr>
              <p:nvPr/>
            </p:nvSpPr>
            <p:spPr>
              <a:xfrm>
                <a:off x="935145" y="4703444"/>
                <a:ext cx="3560655" cy="798104"/>
              </a:xfrm>
              <a:prstGeom prst="rect">
                <a:avLst/>
              </a:prstGeom>
              <a:blipFill>
                <a:blip r:embed="rId7"/>
                <a:stretch>
                  <a:fillRect/>
                </a:stretch>
              </a:blipFill>
            </p:spPr>
            <p:txBody>
              <a:bodyPr/>
              <a:lstStyle/>
              <a:p>
                <a:r>
                  <a:rPr lang="zh-CN" altLang="en-US">
                    <a:noFill/>
                  </a:rPr>
                  <a:t> </a:t>
                </a:r>
              </a:p>
            </p:txBody>
          </p:sp>
        </mc:Fallback>
      </mc:AlternateContent>
      <p:grpSp>
        <p:nvGrpSpPr>
          <p:cNvPr id="13" name="Group 12">
            <a:extLst>
              <a:ext uri="{FF2B5EF4-FFF2-40B4-BE49-F238E27FC236}">
                <a16:creationId xmlns:a16="http://schemas.microsoft.com/office/drawing/2014/main" id="{91C1F8D3-D1AB-4CE9-ACA1-8A107AF70A35}"/>
              </a:ext>
            </a:extLst>
          </p:cNvPr>
          <p:cNvGrpSpPr/>
          <p:nvPr/>
        </p:nvGrpSpPr>
        <p:grpSpPr>
          <a:xfrm>
            <a:off x="5105136" y="3886200"/>
            <a:ext cx="3048264" cy="2301319"/>
            <a:chOff x="5867136" y="1909430"/>
            <a:chExt cx="3048264" cy="2301319"/>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6AA498F-37C6-486E-BA33-E7F731BCF786}"/>
                    </a:ext>
                  </a:extLst>
                </p:cNvPr>
                <p:cNvSpPr/>
                <p:nvPr/>
              </p:nvSpPr>
              <p:spPr>
                <a:xfrm>
                  <a:off x="7021646" y="3841417"/>
                  <a:ext cx="11355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ea typeface="Cambria Math" panose="02040503050406030204" pitchFamily="18" charset="0"/>
                          </a:rPr>
                          <m:t>𝐰</m:t>
                        </m:r>
                        <m:r>
                          <a:rPr lang="en-US" i="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𝐱</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7021646" y="3841417"/>
                  <a:ext cx="1135503" cy="369332"/>
                </a:xfrm>
                <a:prstGeom prst="rect">
                  <a:avLst/>
                </a:prstGeom>
                <a:blipFill rotWithShape="0">
                  <a:blip r:embed="rId8"/>
                  <a:stretch>
                    <a:fillRect/>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75CEFFD6-9B73-4664-896D-FFDF0565171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67136" y="1909430"/>
              <a:ext cx="3048264" cy="2032176"/>
            </a:xfrm>
            <a:prstGeom prst="rect">
              <a:avLst/>
            </a:prstGeom>
          </p:spPr>
        </p:pic>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EBE64012-4BBC-4F5D-98BE-B2E820F005D6}"/>
                    </a:ext>
                  </a:extLst>
                </p:cNvPr>
                <p:cNvSpPr/>
                <p:nvPr/>
              </p:nvSpPr>
              <p:spPr>
                <a:xfrm>
                  <a:off x="6139066" y="2136913"/>
                  <a:ext cx="13517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=1</m:t>
                            </m:r>
                          </m:e>
                          <m:e>
                            <m:r>
                              <a:rPr lang="en-US" b="1">
                                <a:latin typeface="Cambria Math" panose="02040503050406030204" pitchFamily="18" charset="0"/>
                                <a:ea typeface="Cambria Math" panose="02040503050406030204" pitchFamily="18" charset="0"/>
                              </a:rPr>
                              <m:t>𝐱</m:t>
                            </m:r>
                          </m:e>
                        </m:d>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6139066" y="2136913"/>
                  <a:ext cx="1351780" cy="369332"/>
                </a:xfrm>
                <a:prstGeom prst="rect">
                  <a:avLst/>
                </a:prstGeom>
                <a:blipFill rotWithShape="0">
                  <a:blip r:embed="rId10"/>
                  <a:stretch>
                    <a:fillRect b="-8333"/>
                  </a:stretch>
                </a:blipFill>
              </p:spPr>
              <p:txBody>
                <a:bodyPr/>
                <a:lstStyle/>
                <a:p>
                  <a:r>
                    <a:rPr lang="en-US">
                      <a:noFill/>
                    </a:rPr>
                    <a:t> </a:t>
                  </a:r>
                </a:p>
              </p:txBody>
            </p:sp>
          </mc:Fallback>
        </mc:AlternateContent>
      </p:grpSp>
    </p:spTree>
    <p:custDataLst>
      <p:tags r:id="rId1"/>
    </p:custDataLst>
    <p:extLst>
      <p:ext uri="{BB962C8B-B14F-4D97-AF65-F5344CB8AC3E}">
        <p14:creationId xmlns:p14="http://schemas.microsoft.com/office/powerpoint/2010/main" val="173249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分类</a:t>
            </a:r>
            <a:endParaRPr lang="zh-CN" altLang="en-US" dirty="0"/>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342F79E-9963-49B4-9A13-056415CBF0D7}"/>
                  </a:ext>
                </a:extLst>
              </p:cNvPr>
              <p:cNvSpPr/>
              <p:nvPr/>
            </p:nvSpPr>
            <p:spPr>
              <a:xfrm>
                <a:off x="1074279" y="4114800"/>
                <a:ext cx="6995441"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𝑃</m:t>
                      </m:r>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e>
                        <m:e>
                          <m:r>
                            <a:rPr lang="en-US" altLang="zh-CN" sz="2200" b="1">
                              <a:latin typeface="Cambria Math" panose="02040503050406030204" pitchFamily="18" charset="0"/>
                              <a:ea typeface="Cambria Math" panose="02040503050406030204" pitchFamily="18" charset="0"/>
                            </a:rPr>
                            <m:t>𝐱</m:t>
                          </m:r>
                        </m:e>
                      </m:d>
                      <m:r>
                        <a:rPr lang="en-US" altLang="zh-CN" sz="2200" i="1" smtClean="0">
                          <a:latin typeface="Cambria Math" panose="02040503050406030204" pitchFamily="18" charset="0"/>
                          <a:ea typeface="Cambria Math" panose="02040503050406030204" pitchFamily="18" charset="0"/>
                        </a:rPr>
                        <m:t>&gt;</m:t>
                      </m:r>
                      <m:r>
                        <a:rPr lang="en-US" altLang="zh-CN" sz="2200" b="0" i="1" smtClean="0">
                          <a:latin typeface="Cambria Math" panose="02040503050406030204" pitchFamily="18" charset="0"/>
                          <a:ea typeface="Cambria Math" panose="02040503050406030204" pitchFamily="18" charset="0"/>
                        </a:rPr>
                        <m:t>0.5⟺</m:t>
                      </m:r>
                      <m:r>
                        <a:rPr lang="en-US" altLang="zh-CN" sz="2200" i="1">
                          <a:latin typeface="Cambria Math" panose="02040503050406030204" pitchFamily="18" charset="0"/>
                          <a:ea typeface="Cambria Math" panose="02040503050406030204" pitchFamily="18" charset="0"/>
                        </a:rPr>
                        <m:t>𝑃</m:t>
                      </m:r>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=0</m:t>
                          </m:r>
                        </m:e>
                        <m:e>
                          <m:r>
                            <a:rPr lang="en-US" altLang="zh-CN" sz="2200" b="1">
                              <a:latin typeface="Cambria Math" panose="02040503050406030204" pitchFamily="18" charset="0"/>
                              <a:ea typeface="Cambria Math" panose="02040503050406030204" pitchFamily="18" charset="0"/>
                            </a:rPr>
                            <m:t>𝐱</m:t>
                          </m:r>
                        </m:e>
                      </m:d>
                      <m:r>
                        <a:rPr lang="en-US" altLang="zh-CN" sz="2200" b="0" i="1" smtClean="0">
                          <a:latin typeface="Cambria Math" panose="02040503050406030204" pitchFamily="18" charset="0"/>
                          <a:ea typeface="Cambria Math" panose="02040503050406030204" pitchFamily="18" charset="0"/>
                        </a:rPr>
                        <m:t>&lt;0.5⟺</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𝐱</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b="0" i="1" smtClean="0">
                          <a:latin typeface="Cambria Math" panose="02040503050406030204" pitchFamily="18" charset="0"/>
                          <a:ea typeface="Cambria Math" panose="02040503050406030204" pitchFamily="18" charset="0"/>
                        </a:rPr>
                        <m:t>&gt;0</m:t>
                      </m:r>
                    </m:oMath>
                  </m:oMathPara>
                </a14:m>
                <a:endParaRPr lang="zh-CN" altLang="en-US" sz="2200" dirty="0"/>
              </a:p>
            </p:txBody>
          </p:sp>
        </mc:Choice>
        <mc:Fallback xmlns="">
          <p:sp>
            <p:nvSpPr>
              <p:cNvPr id="10" name="Rectangle 9">
                <a:extLst>
                  <a:ext uri="{FF2B5EF4-FFF2-40B4-BE49-F238E27FC236}">
                    <a16:creationId xmlns:a16="http://schemas.microsoft.com/office/drawing/2014/main" id="{2342F79E-9963-49B4-9A13-056415CBF0D7}"/>
                  </a:ext>
                </a:extLst>
              </p:cNvPr>
              <p:cNvSpPr>
                <a:spLocks noRot="1" noChangeAspect="1" noMove="1" noResize="1" noEditPoints="1" noAdjustHandles="1" noChangeArrowheads="1" noChangeShapeType="1" noTextEdit="1"/>
              </p:cNvSpPr>
              <p:nvPr/>
            </p:nvSpPr>
            <p:spPr>
              <a:xfrm>
                <a:off x="1074279" y="4114800"/>
                <a:ext cx="6995441" cy="430887"/>
              </a:xfrm>
              <a:prstGeom prst="rect">
                <a:avLst/>
              </a:prstGeom>
              <a:blipFill>
                <a:blip r:embed="rId5"/>
                <a:stretch>
                  <a:fillRect b="-98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682DB94-2BCE-4E0B-8223-3937228E996D}"/>
                  </a:ext>
                </a:extLst>
              </p:cNvPr>
              <p:cNvSpPr/>
              <p:nvPr/>
            </p:nvSpPr>
            <p:spPr>
              <a:xfrm>
                <a:off x="4095137" y="4934141"/>
                <a:ext cx="953723"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𝑦</m:t>
                      </m:r>
                      <m:r>
                        <a:rPr lang="en-US" altLang="zh-CN" sz="2200" b="0" i="1" smtClean="0">
                          <a:latin typeface="Cambria Math" panose="02040503050406030204" pitchFamily="18" charset="0"/>
                          <a:ea typeface="Cambria Math" panose="02040503050406030204" pitchFamily="18" charset="0"/>
                        </a:rPr>
                        <m:t>=1</m:t>
                      </m:r>
                    </m:oMath>
                  </m:oMathPara>
                </a14:m>
                <a:endParaRPr lang="zh-CN" altLang="en-US" sz="2200" dirty="0"/>
              </a:p>
            </p:txBody>
          </p:sp>
        </mc:Choice>
        <mc:Fallback xmlns="">
          <p:sp>
            <p:nvSpPr>
              <p:cNvPr id="12" name="Rectangle 11">
                <a:extLst>
                  <a:ext uri="{FF2B5EF4-FFF2-40B4-BE49-F238E27FC236}">
                    <a16:creationId xmlns:a16="http://schemas.microsoft.com/office/drawing/2014/main" id="{C682DB94-2BCE-4E0B-8223-3937228E996D}"/>
                  </a:ext>
                </a:extLst>
              </p:cNvPr>
              <p:cNvSpPr>
                <a:spLocks noRot="1" noChangeAspect="1" noMove="1" noResize="1" noEditPoints="1" noAdjustHandles="1" noChangeArrowheads="1" noChangeShapeType="1" noTextEdit="1"/>
              </p:cNvSpPr>
              <p:nvPr/>
            </p:nvSpPr>
            <p:spPr>
              <a:xfrm>
                <a:off x="4095137" y="4934141"/>
                <a:ext cx="953723" cy="430887"/>
              </a:xfrm>
              <a:prstGeom prst="rect">
                <a:avLst/>
              </a:prstGeom>
              <a:blipFill>
                <a:blip r:embed="rId6"/>
                <a:stretch>
                  <a:fillRect b="-9859"/>
                </a:stretch>
              </a:blipFill>
            </p:spPr>
            <p:txBody>
              <a:bodyPr/>
              <a:lstStyle/>
              <a:p>
                <a:r>
                  <a:rPr lang="zh-CN" altLang="en-US">
                    <a:noFill/>
                  </a:rPr>
                  <a:t> </a:t>
                </a:r>
              </a:p>
            </p:txBody>
          </p:sp>
        </mc:Fallback>
      </mc:AlternateContent>
      <p:grpSp>
        <p:nvGrpSpPr>
          <p:cNvPr id="13" name="Group 12">
            <a:extLst>
              <a:ext uri="{FF2B5EF4-FFF2-40B4-BE49-F238E27FC236}">
                <a16:creationId xmlns:a16="http://schemas.microsoft.com/office/drawing/2014/main" id="{91C1F8D3-D1AB-4CE9-ACA1-8A107AF70A35}"/>
              </a:ext>
            </a:extLst>
          </p:cNvPr>
          <p:cNvGrpSpPr/>
          <p:nvPr/>
        </p:nvGrpSpPr>
        <p:grpSpPr>
          <a:xfrm>
            <a:off x="3047868" y="1600200"/>
            <a:ext cx="3048264" cy="2301319"/>
            <a:chOff x="5867136" y="1909430"/>
            <a:chExt cx="3048264" cy="2301319"/>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6AA498F-37C6-486E-BA33-E7F731BCF786}"/>
                    </a:ext>
                  </a:extLst>
                </p:cNvPr>
                <p:cNvSpPr/>
                <p:nvPr/>
              </p:nvSpPr>
              <p:spPr>
                <a:xfrm>
                  <a:off x="7021646" y="3841417"/>
                  <a:ext cx="11355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ea typeface="Cambria Math" panose="02040503050406030204" pitchFamily="18" charset="0"/>
                          </a:rPr>
                          <m:t>𝐰</m:t>
                        </m:r>
                        <m:r>
                          <a:rPr lang="en-US" i="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𝐱</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7021646" y="3841417"/>
                  <a:ext cx="1135503" cy="369332"/>
                </a:xfrm>
                <a:prstGeom prst="rect">
                  <a:avLst/>
                </a:prstGeom>
                <a:blipFill rotWithShape="0">
                  <a:blip r:embed="rId7"/>
                  <a:stretch>
                    <a:fillRect/>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75CEFFD6-9B73-4664-896D-FFDF0565171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67136" y="1909430"/>
              <a:ext cx="3048264" cy="2032176"/>
            </a:xfrm>
            <a:prstGeom prst="rect">
              <a:avLst/>
            </a:prstGeom>
          </p:spPr>
        </p:pic>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EBE64012-4BBC-4F5D-98BE-B2E820F005D6}"/>
                    </a:ext>
                  </a:extLst>
                </p:cNvPr>
                <p:cNvSpPr/>
                <p:nvPr/>
              </p:nvSpPr>
              <p:spPr>
                <a:xfrm>
                  <a:off x="6139066" y="2136913"/>
                  <a:ext cx="13517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=1</m:t>
                            </m:r>
                          </m:e>
                          <m:e>
                            <m:r>
                              <a:rPr lang="en-US" b="1">
                                <a:latin typeface="Cambria Math" panose="02040503050406030204" pitchFamily="18" charset="0"/>
                                <a:ea typeface="Cambria Math" panose="02040503050406030204" pitchFamily="18" charset="0"/>
                              </a:rPr>
                              <m:t>𝐱</m:t>
                            </m:r>
                          </m:e>
                        </m:d>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6139066" y="2136913"/>
                  <a:ext cx="1351780" cy="369332"/>
                </a:xfrm>
                <a:prstGeom prst="rect">
                  <a:avLst/>
                </a:prstGeom>
                <a:blipFill rotWithShape="0">
                  <a:blip r:embed="rId9"/>
                  <a:stretch>
                    <a:fillRect b="-8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C598153-CA54-41D8-B548-73AE6BC29C37}"/>
                  </a:ext>
                </a:extLst>
              </p:cNvPr>
              <p:cNvSpPr/>
              <p:nvPr/>
            </p:nvSpPr>
            <p:spPr>
              <a:xfrm>
                <a:off x="4369058" y="4576438"/>
                <a:ext cx="401071"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17" name="Rectangle 16">
                <a:extLst>
                  <a:ext uri="{FF2B5EF4-FFF2-40B4-BE49-F238E27FC236}">
                    <a16:creationId xmlns:a16="http://schemas.microsoft.com/office/drawing/2014/main" id="{0C598153-CA54-41D8-B548-73AE6BC29C37}"/>
                  </a:ext>
                </a:extLst>
              </p:cNvPr>
              <p:cNvSpPr>
                <a:spLocks noRot="1" noChangeAspect="1" noMove="1" noResize="1" noEditPoints="1" noAdjustHandles="1" noChangeArrowheads="1" noChangeShapeType="1" noTextEdit="1"/>
              </p:cNvSpPr>
              <p:nvPr/>
            </p:nvSpPr>
            <p:spPr>
              <a:xfrm>
                <a:off x="4369058" y="4576438"/>
                <a:ext cx="401071" cy="430887"/>
              </a:xfrm>
              <a:prstGeom prst="rect">
                <a:avLst/>
              </a:prstGeom>
              <a:blipFill>
                <a:blip r:embed="rId10"/>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86307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分类</a:t>
            </a:r>
            <a:endParaRPr lang="zh-CN" altLang="en-US" dirty="0"/>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342F79E-9963-49B4-9A13-056415CBF0D7}"/>
                  </a:ext>
                </a:extLst>
              </p:cNvPr>
              <p:cNvSpPr/>
              <p:nvPr/>
            </p:nvSpPr>
            <p:spPr>
              <a:xfrm>
                <a:off x="1074279" y="4114800"/>
                <a:ext cx="6995441"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𝑃</m:t>
                      </m:r>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e>
                        <m:e>
                          <m:r>
                            <a:rPr lang="en-US" altLang="zh-CN" sz="2200" b="1">
                              <a:latin typeface="Cambria Math" panose="02040503050406030204" pitchFamily="18" charset="0"/>
                              <a:ea typeface="Cambria Math" panose="02040503050406030204" pitchFamily="18" charset="0"/>
                            </a:rPr>
                            <m:t>𝐱</m:t>
                          </m:r>
                        </m:e>
                      </m:d>
                      <m:r>
                        <a:rPr lang="en-US" altLang="zh-CN" sz="2200" b="0" i="1" smtClean="0">
                          <a:latin typeface="Cambria Math" panose="02040503050406030204" pitchFamily="18" charset="0"/>
                          <a:ea typeface="Cambria Math" panose="02040503050406030204" pitchFamily="18" charset="0"/>
                        </a:rPr>
                        <m:t>&lt;0.5⟺</m:t>
                      </m:r>
                      <m:r>
                        <a:rPr lang="en-US" altLang="zh-CN" sz="2200" i="1">
                          <a:latin typeface="Cambria Math" panose="02040503050406030204" pitchFamily="18" charset="0"/>
                          <a:ea typeface="Cambria Math" panose="02040503050406030204" pitchFamily="18" charset="0"/>
                        </a:rPr>
                        <m:t>𝑃</m:t>
                      </m:r>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=0</m:t>
                          </m:r>
                        </m:e>
                        <m:e>
                          <m:r>
                            <a:rPr lang="en-US" altLang="zh-CN" sz="2200" b="1">
                              <a:latin typeface="Cambria Math" panose="02040503050406030204" pitchFamily="18" charset="0"/>
                              <a:ea typeface="Cambria Math" panose="02040503050406030204" pitchFamily="18" charset="0"/>
                            </a:rPr>
                            <m:t>𝐱</m:t>
                          </m:r>
                        </m:e>
                      </m:d>
                      <m:r>
                        <a:rPr lang="en-US" altLang="zh-CN" sz="2200" b="0" i="1" smtClean="0">
                          <a:latin typeface="Cambria Math" panose="02040503050406030204" pitchFamily="18" charset="0"/>
                          <a:ea typeface="Cambria Math" panose="02040503050406030204" pitchFamily="18" charset="0"/>
                        </a:rPr>
                        <m:t>&gt;0.5⟺</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𝐱</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b="0" i="1" smtClean="0">
                          <a:latin typeface="Cambria Math" panose="02040503050406030204" pitchFamily="18" charset="0"/>
                          <a:ea typeface="Cambria Math" panose="02040503050406030204" pitchFamily="18" charset="0"/>
                        </a:rPr>
                        <m:t>&lt;0</m:t>
                      </m:r>
                    </m:oMath>
                  </m:oMathPara>
                </a14:m>
                <a:endParaRPr lang="zh-CN" altLang="en-US" sz="2200" dirty="0"/>
              </a:p>
            </p:txBody>
          </p:sp>
        </mc:Choice>
        <mc:Fallback xmlns="">
          <p:sp>
            <p:nvSpPr>
              <p:cNvPr id="10" name="Rectangle 9">
                <a:extLst>
                  <a:ext uri="{FF2B5EF4-FFF2-40B4-BE49-F238E27FC236}">
                    <a16:creationId xmlns:a16="http://schemas.microsoft.com/office/drawing/2014/main" id="{2342F79E-9963-49B4-9A13-056415CBF0D7}"/>
                  </a:ext>
                </a:extLst>
              </p:cNvPr>
              <p:cNvSpPr>
                <a:spLocks noRot="1" noChangeAspect="1" noMove="1" noResize="1" noEditPoints="1" noAdjustHandles="1" noChangeArrowheads="1" noChangeShapeType="1" noTextEdit="1"/>
              </p:cNvSpPr>
              <p:nvPr/>
            </p:nvSpPr>
            <p:spPr>
              <a:xfrm>
                <a:off x="1074279" y="4114800"/>
                <a:ext cx="6995441" cy="430887"/>
              </a:xfrm>
              <a:prstGeom prst="rect">
                <a:avLst/>
              </a:prstGeom>
              <a:blipFill>
                <a:blip r:embed="rId5"/>
                <a:stretch>
                  <a:fillRect b="-98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682DB94-2BCE-4E0B-8223-3937228E996D}"/>
                  </a:ext>
                </a:extLst>
              </p:cNvPr>
              <p:cNvSpPr/>
              <p:nvPr/>
            </p:nvSpPr>
            <p:spPr>
              <a:xfrm>
                <a:off x="4095137" y="4934141"/>
                <a:ext cx="953723"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𝑦</m:t>
                      </m:r>
                      <m:r>
                        <a:rPr lang="en-US" altLang="zh-CN" sz="2200" b="0" i="1" smtClean="0">
                          <a:latin typeface="Cambria Math" panose="02040503050406030204" pitchFamily="18" charset="0"/>
                          <a:ea typeface="Cambria Math" panose="02040503050406030204" pitchFamily="18" charset="0"/>
                        </a:rPr>
                        <m:t>=0</m:t>
                      </m:r>
                    </m:oMath>
                  </m:oMathPara>
                </a14:m>
                <a:endParaRPr lang="zh-CN" altLang="en-US" sz="2200" dirty="0"/>
              </a:p>
            </p:txBody>
          </p:sp>
        </mc:Choice>
        <mc:Fallback xmlns="">
          <p:sp>
            <p:nvSpPr>
              <p:cNvPr id="12" name="Rectangle 11">
                <a:extLst>
                  <a:ext uri="{FF2B5EF4-FFF2-40B4-BE49-F238E27FC236}">
                    <a16:creationId xmlns:a16="http://schemas.microsoft.com/office/drawing/2014/main" id="{C682DB94-2BCE-4E0B-8223-3937228E996D}"/>
                  </a:ext>
                </a:extLst>
              </p:cNvPr>
              <p:cNvSpPr>
                <a:spLocks noRot="1" noChangeAspect="1" noMove="1" noResize="1" noEditPoints="1" noAdjustHandles="1" noChangeArrowheads="1" noChangeShapeType="1" noTextEdit="1"/>
              </p:cNvSpPr>
              <p:nvPr/>
            </p:nvSpPr>
            <p:spPr>
              <a:xfrm>
                <a:off x="4095137" y="4934141"/>
                <a:ext cx="953723" cy="430887"/>
              </a:xfrm>
              <a:prstGeom prst="rect">
                <a:avLst/>
              </a:prstGeom>
              <a:blipFill>
                <a:blip r:embed="rId6"/>
                <a:stretch>
                  <a:fillRect b="-9859"/>
                </a:stretch>
              </a:blipFill>
            </p:spPr>
            <p:txBody>
              <a:bodyPr/>
              <a:lstStyle/>
              <a:p>
                <a:r>
                  <a:rPr lang="zh-CN" altLang="en-US">
                    <a:noFill/>
                  </a:rPr>
                  <a:t> </a:t>
                </a:r>
              </a:p>
            </p:txBody>
          </p:sp>
        </mc:Fallback>
      </mc:AlternateContent>
      <p:grpSp>
        <p:nvGrpSpPr>
          <p:cNvPr id="13" name="Group 12">
            <a:extLst>
              <a:ext uri="{FF2B5EF4-FFF2-40B4-BE49-F238E27FC236}">
                <a16:creationId xmlns:a16="http://schemas.microsoft.com/office/drawing/2014/main" id="{91C1F8D3-D1AB-4CE9-ACA1-8A107AF70A35}"/>
              </a:ext>
            </a:extLst>
          </p:cNvPr>
          <p:cNvGrpSpPr/>
          <p:nvPr/>
        </p:nvGrpSpPr>
        <p:grpSpPr>
          <a:xfrm>
            <a:off x="3047868" y="1600200"/>
            <a:ext cx="3048264" cy="2301319"/>
            <a:chOff x="5867136" y="1909430"/>
            <a:chExt cx="3048264" cy="2301319"/>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6AA498F-37C6-486E-BA33-E7F731BCF786}"/>
                    </a:ext>
                  </a:extLst>
                </p:cNvPr>
                <p:cNvSpPr/>
                <p:nvPr/>
              </p:nvSpPr>
              <p:spPr>
                <a:xfrm>
                  <a:off x="7021646" y="3841417"/>
                  <a:ext cx="11355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ea typeface="Cambria Math" panose="02040503050406030204" pitchFamily="18" charset="0"/>
                          </a:rPr>
                          <m:t>𝐰</m:t>
                        </m:r>
                        <m:r>
                          <a:rPr lang="en-US" i="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𝐱</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7021646" y="3841417"/>
                  <a:ext cx="1135503" cy="369332"/>
                </a:xfrm>
                <a:prstGeom prst="rect">
                  <a:avLst/>
                </a:prstGeom>
                <a:blipFill rotWithShape="0">
                  <a:blip r:embed="rId7"/>
                  <a:stretch>
                    <a:fillRect/>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75CEFFD6-9B73-4664-896D-FFDF0565171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67136" y="1909430"/>
              <a:ext cx="3048264" cy="2032176"/>
            </a:xfrm>
            <a:prstGeom prst="rect">
              <a:avLst/>
            </a:prstGeom>
          </p:spPr>
        </p:pic>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EBE64012-4BBC-4F5D-98BE-B2E820F005D6}"/>
                    </a:ext>
                  </a:extLst>
                </p:cNvPr>
                <p:cNvSpPr/>
                <p:nvPr/>
              </p:nvSpPr>
              <p:spPr>
                <a:xfrm>
                  <a:off x="6139066" y="2136913"/>
                  <a:ext cx="13517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=1</m:t>
                            </m:r>
                          </m:e>
                          <m:e>
                            <m:r>
                              <a:rPr lang="en-US" b="1">
                                <a:latin typeface="Cambria Math" panose="02040503050406030204" pitchFamily="18" charset="0"/>
                                <a:ea typeface="Cambria Math" panose="02040503050406030204" pitchFamily="18" charset="0"/>
                              </a:rPr>
                              <m:t>𝐱</m:t>
                            </m:r>
                          </m:e>
                        </m:d>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6139066" y="2136913"/>
                  <a:ext cx="1351780" cy="369332"/>
                </a:xfrm>
                <a:prstGeom prst="rect">
                  <a:avLst/>
                </a:prstGeom>
                <a:blipFill rotWithShape="0">
                  <a:blip r:embed="rId9"/>
                  <a:stretch>
                    <a:fillRect b="-8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C598153-CA54-41D8-B548-73AE6BC29C37}"/>
                  </a:ext>
                </a:extLst>
              </p:cNvPr>
              <p:cNvSpPr/>
              <p:nvPr/>
            </p:nvSpPr>
            <p:spPr>
              <a:xfrm>
                <a:off x="4369058" y="4576438"/>
                <a:ext cx="401071"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17" name="Rectangle 16">
                <a:extLst>
                  <a:ext uri="{FF2B5EF4-FFF2-40B4-BE49-F238E27FC236}">
                    <a16:creationId xmlns:a16="http://schemas.microsoft.com/office/drawing/2014/main" id="{0C598153-CA54-41D8-B548-73AE6BC29C37}"/>
                  </a:ext>
                </a:extLst>
              </p:cNvPr>
              <p:cNvSpPr>
                <a:spLocks noRot="1" noChangeAspect="1" noMove="1" noResize="1" noEditPoints="1" noAdjustHandles="1" noChangeArrowheads="1" noChangeShapeType="1" noTextEdit="1"/>
              </p:cNvSpPr>
              <p:nvPr/>
            </p:nvSpPr>
            <p:spPr>
              <a:xfrm>
                <a:off x="4369058" y="4576438"/>
                <a:ext cx="401071" cy="430887"/>
              </a:xfrm>
              <a:prstGeom prst="rect">
                <a:avLst/>
              </a:prstGeom>
              <a:blipFill>
                <a:blip r:embed="rId10"/>
                <a:stretch>
                  <a:fillRect/>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506718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学习</a:t>
            </a:r>
            <a:endParaRPr lang="zh-CN" alt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64C3AC-AB78-4917-8832-C607B6DE6DC9}"/>
                  </a:ext>
                </a:extLst>
              </p:cNvPr>
              <p:cNvSpPr txBox="1"/>
              <p:nvPr/>
            </p:nvSpPr>
            <p:spPr>
              <a:xfrm>
                <a:off x="-76202" y="1740476"/>
                <a:ext cx="9296400" cy="798424"/>
              </a:xfrm>
              <a:prstGeom prst="rect">
                <a:avLst/>
              </a:prstGeom>
              <a:noFill/>
            </p:spPr>
            <p:txBody>
              <a:bodyPr wrap="square" rtlCol="0">
                <a:spAutoFit/>
              </a:bodyPr>
              <a:lstStyle/>
              <a:p>
                <a:pPr algn="ctr"/>
                <a:r>
                  <a:rPr lang="zh-CN" altLang="en-US" sz="2200" dirty="0"/>
                  <a:t>给定训练数据</a:t>
                </a:r>
                <a:endParaRPr lang="en-US" altLang="zh-CN" sz="2200" dirty="0"/>
              </a:p>
              <a:p>
                <a:pPr algn="ct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𝐱</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1</m:t>
                              </m:r>
                            </m:e>
                          </m:d>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𝑦</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1</m:t>
                              </m:r>
                            </m:e>
                          </m:d>
                        </m:sup>
                      </m:sSup>
                      <m:r>
                        <a:rPr lang="en-US" altLang="zh-CN" sz="2200" b="0" i="1" smtClean="0">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i="0">
                              <a:latin typeface="Cambria Math" panose="02040503050406030204" pitchFamily="18" charset="0"/>
                            </a:rPr>
                            <m:t>𝐱</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0" i="1" smtClean="0">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b="0" i="1">
                                  <a:latin typeface="Cambria Math" panose="02040503050406030204" pitchFamily="18" charset="0"/>
                                </a:rPr>
                              </m:ctrlPr>
                            </m:dPr>
                            <m:e>
                              <m:r>
                                <a:rPr lang="en-US" altLang="zh-CN" sz="2200" b="0" i="1" smtClean="0">
                                  <a:latin typeface="Cambria Math" panose="02040503050406030204" pitchFamily="18" charset="0"/>
                                </a:rPr>
                                <m:t>𝑚</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b="0" i="1">
                                  <a:latin typeface="Cambria Math" panose="02040503050406030204" pitchFamily="18" charset="0"/>
                                </a:rPr>
                              </m:ctrlPr>
                            </m:dPr>
                            <m:e>
                              <m:r>
                                <a:rPr lang="en-US" altLang="zh-CN" sz="2200" b="0" i="1" smtClean="0">
                                  <a:latin typeface="Cambria Math" panose="02040503050406030204" pitchFamily="18" charset="0"/>
                                </a:rPr>
                                <m:t>𝑚</m:t>
                              </m:r>
                            </m:e>
                          </m:d>
                        </m:sup>
                      </m:sSup>
                      <m:r>
                        <a:rPr lang="en-US" altLang="zh-CN" sz="2200" b="0" i="1" smtClean="0">
                          <a:latin typeface="Cambria Math" panose="02040503050406030204" pitchFamily="18" charset="0"/>
                        </a:rPr>
                        <m:t>)</m:t>
                      </m:r>
                    </m:oMath>
                  </m:oMathPara>
                </a14:m>
                <a:endParaRPr lang="en-US" altLang="zh-CN" sz="2200" dirty="0"/>
              </a:p>
            </p:txBody>
          </p:sp>
        </mc:Choice>
        <mc:Fallback xmlns="">
          <p:sp>
            <p:nvSpPr>
              <p:cNvPr id="8" name="TextBox 7">
                <a:extLst>
                  <a:ext uri="{FF2B5EF4-FFF2-40B4-BE49-F238E27FC236}">
                    <a16:creationId xmlns:a16="http://schemas.microsoft.com/office/drawing/2014/main" id="{7664C3AC-AB78-4917-8832-C607B6DE6DC9}"/>
                  </a:ext>
                </a:extLst>
              </p:cNvPr>
              <p:cNvSpPr txBox="1">
                <a:spLocks noRot="1" noChangeAspect="1" noMove="1" noResize="1" noEditPoints="1" noAdjustHandles="1" noChangeArrowheads="1" noChangeShapeType="1" noTextEdit="1"/>
              </p:cNvSpPr>
              <p:nvPr/>
            </p:nvSpPr>
            <p:spPr>
              <a:xfrm>
                <a:off x="-76202" y="1740476"/>
                <a:ext cx="9296400" cy="798424"/>
              </a:xfrm>
              <a:prstGeom prst="rect">
                <a:avLst/>
              </a:prstGeom>
              <a:blipFill>
                <a:blip r:embed="rId3"/>
                <a:stretch>
                  <a:fillRect t="-8462" b="-846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3639C9E-2956-4D75-92A9-0ABCB2CCBAB4}"/>
              </a:ext>
            </a:extLst>
          </p:cNvPr>
          <p:cNvSpPr txBox="1"/>
          <p:nvPr/>
        </p:nvSpPr>
        <p:spPr>
          <a:xfrm>
            <a:off x="-76202" y="3581400"/>
            <a:ext cx="9296400" cy="430887"/>
          </a:xfrm>
          <a:prstGeom prst="rect">
            <a:avLst/>
          </a:prstGeom>
          <a:noFill/>
        </p:spPr>
        <p:txBody>
          <a:bodyPr wrap="square" rtlCol="0">
            <a:spAutoFit/>
          </a:bodyPr>
          <a:lstStyle/>
          <a:p>
            <a:pPr algn="ctr"/>
            <a:r>
              <a:rPr lang="zh-CN" altLang="en-US" sz="2200" dirty="0"/>
              <a:t>我们从经典法则开始：极大似然估计</a:t>
            </a:r>
            <a:endParaRPr lang="en-US" altLang="zh-CN" sz="22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675480" y="2667000"/>
                <a:ext cx="7793037" cy="769441"/>
              </a:xfrm>
              <a:prstGeom prst="rect">
                <a:avLst/>
              </a:prstGeom>
              <a:noFill/>
            </p:spPr>
            <p:txBody>
              <a:bodyPr wrap="square" rtlCol="0">
                <a:spAutoFit/>
              </a:bodyPr>
              <a:lstStyle/>
              <a:p>
                <a:pPr algn="ctr"/>
                <a:r>
                  <a:rPr lang="zh-CN" altLang="en-US" sz="2200" dirty="0"/>
                  <a:t>估算出</a:t>
                </a:r>
                <a:endParaRPr lang="en-US" altLang="zh-CN" sz="2200" dirty="0"/>
              </a:p>
              <a:p>
                <a:pPr algn="ctr"/>
                <a14:m>
                  <m:oMath xmlns:m="http://schemas.openxmlformats.org/officeDocument/2006/math">
                    <m:r>
                      <a:rPr lang="en-US" altLang="zh-CN" sz="2200" b="1" i="0" smtClean="0">
                        <a:latin typeface="Cambria Math" panose="02040503050406030204" pitchFamily="18" charset="0"/>
                      </a:rPr>
                      <m:t>𝐰</m:t>
                    </m:r>
                  </m:oMath>
                </a14:m>
                <a:r>
                  <a:rPr lang="en-US" altLang="zh-CN" sz="2200" dirty="0"/>
                  <a:t> &amp; </a:t>
                </a:r>
                <a14:m>
                  <m:oMath xmlns:m="http://schemas.openxmlformats.org/officeDocument/2006/math">
                    <m:r>
                      <a:rPr lang="en-US" altLang="zh-CN" sz="2200" b="0" i="1" smtClean="0">
                        <a:latin typeface="Cambria Math" panose="02040503050406030204" pitchFamily="18" charset="0"/>
                      </a:rPr>
                      <m:t>𝑏</m:t>
                    </m:r>
                  </m:oMath>
                </a14:m>
                <a:endParaRPr lang="en-US" altLang="zh-CN" sz="2200" dirty="0"/>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675480" y="2667000"/>
                <a:ext cx="7793037" cy="769441"/>
              </a:xfrm>
              <a:prstGeom prst="rect">
                <a:avLst/>
              </a:prstGeom>
              <a:blipFill>
                <a:blip r:embed="rId4"/>
                <a:stretch>
                  <a:fillRect t="-8730" b="-15079"/>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043591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70774-DDDD-BDCC-1FFF-333B196F7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809FD-277D-C653-1AF9-37257A82231F}"/>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极大似然估计</a:t>
            </a:r>
            <a:endParaRPr lang="zh-CN" altLang="en-US" dirty="0"/>
          </a:p>
        </p:txBody>
      </p:sp>
      <p:sp>
        <p:nvSpPr>
          <p:cNvPr id="8" name="TextBox 7">
            <a:extLst>
              <a:ext uri="{FF2B5EF4-FFF2-40B4-BE49-F238E27FC236}">
                <a16:creationId xmlns:a16="http://schemas.microsoft.com/office/drawing/2014/main" id="{3D047D8A-99EC-CA75-CE2B-50A40824C3F0}"/>
              </a:ext>
            </a:extLst>
          </p:cNvPr>
          <p:cNvSpPr txBox="1"/>
          <p:nvPr/>
        </p:nvSpPr>
        <p:spPr>
          <a:xfrm>
            <a:off x="514347" y="1620941"/>
            <a:ext cx="8115301" cy="769441"/>
          </a:xfrm>
          <a:prstGeom prst="rect">
            <a:avLst/>
          </a:prstGeom>
          <a:noFill/>
        </p:spPr>
        <p:txBody>
          <a:bodyPr wrap="square" rtlCol="0">
            <a:spAutoFit/>
          </a:bodyPr>
          <a:lstStyle/>
          <a:p>
            <a:pPr algn="ctr"/>
            <a:r>
              <a:rPr lang="zh-CN" altLang="en-US" sz="2200" dirty="0"/>
              <a:t>原则：我们看到一些现象；我们调整参数，使得这些现象的概率尽可能地大</a:t>
            </a:r>
            <a:endParaRPr lang="en-US" altLang="zh-CN" sz="2200" dirty="0"/>
          </a:p>
        </p:txBody>
      </p:sp>
      <p:sp>
        <p:nvSpPr>
          <p:cNvPr id="11" name="TextBox 10">
            <a:extLst>
              <a:ext uri="{FF2B5EF4-FFF2-40B4-BE49-F238E27FC236}">
                <a16:creationId xmlns:a16="http://schemas.microsoft.com/office/drawing/2014/main" id="{553B7A2D-657F-5A91-CAEB-5F116ADFF7E0}"/>
              </a:ext>
            </a:extLst>
          </p:cNvPr>
          <p:cNvSpPr txBox="1"/>
          <p:nvPr/>
        </p:nvSpPr>
        <p:spPr>
          <a:xfrm>
            <a:off x="741363" y="2594158"/>
            <a:ext cx="7793037" cy="430887"/>
          </a:xfrm>
          <a:prstGeom prst="rect">
            <a:avLst/>
          </a:prstGeom>
          <a:noFill/>
        </p:spPr>
        <p:txBody>
          <a:bodyPr wrap="square" rtlCol="0">
            <a:spAutoFit/>
          </a:bodyPr>
          <a:lstStyle/>
          <a:p>
            <a:pPr algn="ctr"/>
            <a:r>
              <a:rPr lang="zh-CN" altLang="en-US" sz="2200" dirty="0"/>
              <a:t>例子：渔民每天不是打鱼就是晒网，且和前一天的选择无关</a:t>
            </a:r>
            <a:endParaRPr lang="en-US" altLang="zh-CN" sz="22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189FC7-D06B-E5E1-387D-4545A8CE0E07}"/>
                  </a:ext>
                </a:extLst>
              </p:cNvPr>
              <p:cNvSpPr txBox="1"/>
              <p:nvPr/>
            </p:nvSpPr>
            <p:spPr>
              <a:xfrm>
                <a:off x="774357" y="3683913"/>
                <a:ext cx="7793037" cy="430887"/>
              </a:xfrm>
              <a:prstGeom prst="rect">
                <a:avLst/>
              </a:prstGeom>
              <a:noFill/>
            </p:spPr>
            <p:txBody>
              <a:bodyPr wrap="square" rtlCol="0">
                <a:spAutoFit/>
              </a:bodyPr>
              <a:lstStyle/>
              <a:p>
                <a:pPr algn="ctr"/>
                <a:r>
                  <a:rPr lang="zh-CN" altLang="en-US" sz="2200" dirty="0"/>
                  <a:t>显然</a:t>
                </a:r>
                <a14:m>
                  <m:oMath xmlns:m="http://schemas.openxmlformats.org/officeDocument/2006/math">
                    <m:r>
                      <a:rPr lang="en-US" altLang="zh-CN" sz="2200" b="0" i="1" smtClean="0">
                        <a:latin typeface="Cambria Math" panose="02040503050406030204" pitchFamily="18" charset="0"/>
                      </a:rPr>
                      <m:t>𝑃</m:t>
                    </m:r>
                    <m:d>
                      <m:dPr>
                        <m:ctrlPr>
                          <a:rPr lang="en-US" altLang="zh-CN" sz="2200" b="0" i="1" smtClean="0">
                            <a:latin typeface="Cambria Math" panose="02040503050406030204" pitchFamily="18" charset="0"/>
                          </a:rPr>
                        </m:ctrlPr>
                      </m:dPr>
                      <m:e>
                        <m:r>
                          <a:rPr lang="zh-CN" altLang="en-US" sz="2200" i="1">
                            <a:latin typeface="Cambria Math" panose="02040503050406030204" pitchFamily="18" charset="0"/>
                          </a:rPr>
                          <m:t>打鱼</m:t>
                        </m:r>
                      </m:e>
                    </m:d>
                    <m:r>
                      <a:rPr lang="en-US" altLang="zh-CN" sz="2200" b="0" i="1" smtClean="0">
                        <a:latin typeface="Cambria Math" panose="02040503050406030204" pitchFamily="18" charset="0"/>
                      </a:rPr>
                      <m:t>=0.6, </m:t>
                    </m:r>
                    <m:r>
                      <a:rPr lang="en-US" altLang="zh-CN" sz="2200" b="0" i="1" smtClean="0">
                        <a:latin typeface="Cambria Math" panose="02040503050406030204" pitchFamily="18" charset="0"/>
                      </a:rPr>
                      <m:t>𝑃</m:t>
                    </m:r>
                    <m:d>
                      <m:dPr>
                        <m:ctrlPr>
                          <a:rPr lang="en-US" altLang="zh-CN" sz="2200" b="0" i="1" smtClean="0">
                            <a:latin typeface="Cambria Math" panose="02040503050406030204" pitchFamily="18" charset="0"/>
                          </a:rPr>
                        </m:ctrlPr>
                      </m:dPr>
                      <m:e>
                        <m:r>
                          <a:rPr lang="zh-CN" altLang="en-US" sz="2200" i="1">
                            <a:latin typeface="Cambria Math" panose="02040503050406030204" pitchFamily="18" charset="0"/>
                          </a:rPr>
                          <m:t>晒网</m:t>
                        </m:r>
                      </m:e>
                    </m:d>
                    <m:r>
                      <a:rPr lang="en-US" altLang="zh-CN" sz="2200" b="0" i="1" smtClean="0">
                        <a:latin typeface="Cambria Math" panose="02040503050406030204" pitchFamily="18" charset="0"/>
                      </a:rPr>
                      <m:t>=0.4</m:t>
                    </m:r>
                  </m:oMath>
                </a14:m>
                <a:endParaRPr lang="en-US" altLang="zh-CN" sz="2200" dirty="0"/>
              </a:p>
            </p:txBody>
          </p:sp>
        </mc:Choice>
        <mc:Fallback xmlns="">
          <p:sp>
            <p:nvSpPr>
              <p:cNvPr id="7" name="TextBox 6">
                <a:extLst>
                  <a:ext uri="{FF2B5EF4-FFF2-40B4-BE49-F238E27FC236}">
                    <a16:creationId xmlns:a16="http://schemas.microsoft.com/office/drawing/2014/main" id="{BD189FC7-D06B-E5E1-387D-4545A8CE0E07}"/>
                  </a:ext>
                </a:extLst>
              </p:cNvPr>
              <p:cNvSpPr txBox="1">
                <a:spLocks noRot="1" noChangeAspect="1" noMove="1" noResize="1" noEditPoints="1" noAdjustHandles="1" noChangeArrowheads="1" noChangeShapeType="1" noTextEdit="1"/>
              </p:cNvSpPr>
              <p:nvPr/>
            </p:nvSpPr>
            <p:spPr>
              <a:xfrm>
                <a:off x="774357" y="3683913"/>
                <a:ext cx="7793037" cy="430887"/>
              </a:xfrm>
              <a:prstGeom prst="rect">
                <a:avLst/>
              </a:prstGeom>
              <a:blipFill>
                <a:blip r:embed="rId3"/>
                <a:stretch>
                  <a:fillRect t="-14085" b="-2253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076A344-B430-6A5D-2572-F9E58E302768}"/>
              </a:ext>
            </a:extLst>
          </p:cNvPr>
          <p:cNvSpPr txBox="1"/>
          <p:nvPr/>
        </p:nvSpPr>
        <p:spPr>
          <a:xfrm>
            <a:off x="255166" y="3131037"/>
            <a:ext cx="8633659" cy="430887"/>
          </a:xfrm>
          <a:prstGeom prst="rect">
            <a:avLst/>
          </a:prstGeom>
          <a:noFill/>
        </p:spPr>
        <p:txBody>
          <a:bodyPr wrap="square" rtlCol="0">
            <a:spAutoFit/>
          </a:bodyPr>
          <a:lstStyle/>
          <a:p>
            <a:pPr algn="ctr"/>
            <a:r>
              <a:rPr lang="zh-CN" altLang="en-US" sz="2200" dirty="0"/>
              <a:t>观察到渔民前三天打鱼后两天晒网，那么打鱼晒网的概率分别为多少</a:t>
            </a:r>
            <a:endParaRPr lang="en-US" altLang="zh-CN" sz="2200" dirty="0"/>
          </a:p>
        </p:txBody>
      </p:sp>
      <p:sp>
        <p:nvSpPr>
          <p:cNvPr id="4" name="TextBox 3">
            <a:extLst>
              <a:ext uri="{FF2B5EF4-FFF2-40B4-BE49-F238E27FC236}">
                <a16:creationId xmlns:a16="http://schemas.microsoft.com/office/drawing/2014/main" id="{866FC0FA-5CCE-37EC-A7C4-86404144E000}"/>
              </a:ext>
            </a:extLst>
          </p:cNvPr>
          <p:cNvSpPr txBox="1"/>
          <p:nvPr/>
        </p:nvSpPr>
        <p:spPr>
          <a:xfrm>
            <a:off x="675478" y="4296970"/>
            <a:ext cx="7793037" cy="430887"/>
          </a:xfrm>
          <a:prstGeom prst="rect">
            <a:avLst/>
          </a:prstGeom>
          <a:noFill/>
        </p:spPr>
        <p:txBody>
          <a:bodyPr wrap="square" rtlCol="0">
            <a:spAutoFit/>
          </a:bodyPr>
          <a:lstStyle/>
          <a:p>
            <a:pPr algn="ctr"/>
            <a:r>
              <a:rPr lang="zh-CN" altLang="en-US" sz="2200" dirty="0"/>
              <a:t>极大似然估计告诉我们为什么是这样的</a:t>
            </a:r>
            <a:endParaRPr lang="en-US" altLang="zh-CN" sz="2200" dirty="0"/>
          </a:p>
        </p:txBody>
      </p:sp>
    </p:spTree>
    <p:custDataLst>
      <p:tags r:id="rId1"/>
    </p:custDataLst>
    <p:extLst>
      <p:ext uri="{BB962C8B-B14F-4D97-AF65-F5344CB8AC3E}">
        <p14:creationId xmlns:p14="http://schemas.microsoft.com/office/powerpoint/2010/main" val="369898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7" grpId="0"/>
      <p:bldP spid="3"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46B59-C118-797B-A769-E33F72CBE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061C5-E42E-1BCE-577C-5250FAE22CE8}"/>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极大似然估计</a:t>
            </a:r>
            <a:endParaRPr lang="zh-CN" altLang="en-US" dirty="0"/>
          </a:p>
        </p:txBody>
      </p:sp>
      <p:sp>
        <p:nvSpPr>
          <p:cNvPr id="8" name="TextBox 7">
            <a:extLst>
              <a:ext uri="{FF2B5EF4-FFF2-40B4-BE49-F238E27FC236}">
                <a16:creationId xmlns:a16="http://schemas.microsoft.com/office/drawing/2014/main" id="{F697866A-989E-4639-434A-01003CBCA78A}"/>
              </a:ext>
            </a:extLst>
          </p:cNvPr>
          <p:cNvSpPr txBox="1"/>
          <p:nvPr/>
        </p:nvSpPr>
        <p:spPr>
          <a:xfrm>
            <a:off x="514347" y="1620941"/>
            <a:ext cx="8115301" cy="769441"/>
          </a:xfrm>
          <a:prstGeom prst="rect">
            <a:avLst/>
          </a:prstGeom>
          <a:noFill/>
        </p:spPr>
        <p:txBody>
          <a:bodyPr wrap="square" rtlCol="0">
            <a:spAutoFit/>
          </a:bodyPr>
          <a:lstStyle/>
          <a:p>
            <a:pPr algn="ctr"/>
            <a:r>
              <a:rPr lang="zh-CN" altLang="en-US" sz="2200" dirty="0"/>
              <a:t>原则：我们看到一些现象；我们调整参数，使得这些现象的概率尽可能地大</a:t>
            </a:r>
            <a:endParaRPr lang="en-US" altLang="zh-CN" sz="2200" dirty="0"/>
          </a:p>
        </p:txBody>
      </p:sp>
      <p:sp>
        <p:nvSpPr>
          <p:cNvPr id="11" name="TextBox 10">
            <a:extLst>
              <a:ext uri="{FF2B5EF4-FFF2-40B4-BE49-F238E27FC236}">
                <a16:creationId xmlns:a16="http://schemas.microsoft.com/office/drawing/2014/main" id="{5EFABDB5-161A-F35B-36CB-2AD8637A7BE6}"/>
              </a:ext>
            </a:extLst>
          </p:cNvPr>
          <p:cNvSpPr txBox="1"/>
          <p:nvPr/>
        </p:nvSpPr>
        <p:spPr>
          <a:xfrm>
            <a:off x="741363" y="2594158"/>
            <a:ext cx="7793037" cy="430887"/>
          </a:xfrm>
          <a:prstGeom prst="rect">
            <a:avLst/>
          </a:prstGeom>
          <a:noFill/>
        </p:spPr>
        <p:txBody>
          <a:bodyPr wrap="square" rtlCol="0">
            <a:spAutoFit/>
          </a:bodyPr>
          <a:lstStyle/>
          <a:p>
            <a:pPr algn="ctr"/>
            <a:r>
              <a:rPr lang="zh-CN" altLang="en-US" sz="2200" dirty="0"/>
              <a:t>观察到五天现象：打鱼、打鱼、打鱼、晒网、晒网</a:t>
            </a:r>
            <a:endParaRPr lang="en-US" altLang="zh-CN" sz="22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64A0B18-C175-E373-8440-6771545F31FB}"/>
                  </a:ext>
                </a:extLst>
              </p:cNvPr>
              <p:cNvSpPr txBox="1"/>
              <p:nvPr/>
            </p:nvSpPr>
            <p:spPr>
              <a:xfrm>
                <a:off x="774357" y="3683913"/>
                <a:ext cx="7793037" cy="76944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𝑃</m:t>
                      </m:r>
                      <m:d>
                        <m:dPr>
                          <m:ctrlPr>
                            <a:rPr lang="en-US" altLang="zh-CN" sz="2200" b="0" i="1" smtClean="0">
                              <a:latin typeface="Cambria Math" panose="02040503050406030204" pitchFamily="18" charset="0"/>
                            </a:rPr>
                          </m:ctrlPr>
                        </m:dPr>
                        <m:e>
                          <m:r>
                            <a:rPr lang="zh-CN" altLang="en-US" sz="2200" i="1">
                              <a:latin typeface="Cambria Math" panose="02040503050406030204" pitchFamily="18" charset="0"/>
                            </a:rPr>
                            <m:t>打鱼</m:t>
                          </m:r>
                        </m:e>
                      </m:d>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r>
                        <a:rPr lang="en-US" altLang="zh-CN" sz="2200" b="0" i="1" smtClean="0">
                          <a:latin typeface="Cambria Math" panose="02040503050406030204" pitchFamily="18" charset="0"/>
                        </a:rPr>
                        <m:t> </m:t>
                      </m:r>
                      <m:r>
                        <a:rPr lang="en-US" altLang="zh-CN" sz="2200" b="0" i="1" smtClean="0">
                          <a:latin typeface="Cambria Math" panose="02040503050406030204" pitchFamily="18" charset="0"/>
                        </a:rPr>
                        <m:t>𝑃</m:t>
                      </m:r>
                      <m:d>
                        <m:dPr>
                          <m:ctrlPr>
                            <a:rPr lang="en-US" altLang="zh-CN" sz="2200" b="0" i="1" smtClean="0">
                              <a:latin typeface="Cambria Math" panose="02040503050406030204" pitchFamily="18" charset="0"/>
                            </a:rPr>
                          </m:ctrlPr>
                        </m:dPr>
                        <m:e>
                          <m:r>
                            <a:rPr lang="zh-CN" altLang="en-US" sz="2200" i="1">
                              <a:latin typeface="Cambria Math" panose="02040503050406030204" pitchFamily="18" charset="0"/>
                            </a:rPr>
                            <m:t>晒网</m:t>
                          </m:r>
                        </m:e>
                      </m:d>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晒网</m:t>
                          </m:r>
                        </m:e>
                      </m:d>
                      <m:r>
                        <a:rPr lang="en-US" altLang="zh-CN" sz="2200" b="0" i="1" smtClean="0">
                          <a:latin typeface="Cambria Math" panose="02040503050406030204" pitchFamily="18" charset="0"/>
                        </a:rPr>
                        <m:t>=</m:t>
                      </m:r>
                    </m:oMath>
                  </m:oMathPara>
                </a14:m>
                <a:endParaRPr lang="en-US" altLang="zh-CN" sz="2200" b="0" dirty="0"/>
              </a:p>
              <a:p>
                <a:pPr algn="ctr"/>
                <a14:m>
                  <m:oMath xmlns:m="http://schemas.openxmlformats.org/officeDocument/2006/math">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r>
                      <a:rPr lang="en-US" altLang="zh-CN" sz="2200" b="0" i="1" smtClean="0">
                        <a:latin typeface="Cambria Math" panose="02040503050406030204" pitchFamily="18" charset="0"/>
                      </a:rPr>
                      <m:t>(1−</m:t>
                    </m:r>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r>
                      <a:rPr lang="en-US" altLang="zh-CN" sz="2200" b="0" i="1" smtClean="0">
                        <a:latin typeface="Cambria Math" panose="02040503050406030204" pitchFamily="18" charset="0"/>
                      </a:rPr>
                      <m:t>)(1−</m:t>
                    </m:r>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oMath>
                </a14:m>
                <a:r>
                  <a:rPr lang="en-US" altLang="zh-CN" sz="2200" dirty="0"/>
                  <a:t>)</a:t>
                </a:r>
              </a:p>
            </p:txBody>
          </p:sp>
        </mc:Choice>
        <mc:Fallback xmlns="">
          <p:sp>
            <p:nvSpPr>
              <p:cNvPr id="7" name="TextBox 6">
                <a:extLst>
                  <a:ext uri="{FF2B5EF4-FFF2-40B4-BE49-F238E27FC236}">
                    <a16:creationId xmlns:a16="http://schemas.microsoft.com/office/drawing/2014/main" id="{864A0B18-C175-E373-8440-6771545F31FB}"/>
                  </a:ext>
                </a:extLst>
              </p:cNvPr>
              <p:cNvSpPr txBox="1">
                <a:spLocks noRot="1" noChangeAspect="1" noMove="1" noResize="1" noEditPoints="1" noAdjustHandles="1" noChangeArrowheads="1" noChangeShapeType="1" noTextEdit="1"/>
              </p:cNvSpPr>
              <p:nvPr/>
            </p:nvSpPr>
            <p:spPr>
              <a:xfrm>
                <a:off x="774357" y="3683913"/>
                <a:ext cx="7793037" cy="769441"/>
              </a:xfrm>
              <a:prstGeom prst="rect">
                <a:avLst/>
              </a:prstGeom>
              <a:blipFill>
                <a:blip r:embed="rId4"/>
                <a:stretch>
                  <a:fillRect b="-1496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53B41875-937C-223A-D823-BB3D527610A5}"/>
              </a:ext>
            </a:extLst>
          </p:cNvPr>
          <p:cNvSpPr txBox="1"/>
          <p:nvPr/>
        </p:nvSpPr>
        <p:spPr>
          <a:xfrm>
            <a:off x="741362" y="3102940"/>
            <a:ext cx="7793037" cy="430887"/>
          </a:xfrm>
          <a:prstGeom prst="rect">
            <a:avLst/>
          </a:prstGeom>
          <a:noFill/>
        </p:spPr>
        <p:txBody>
          <a:bodyPr wrap="square" rtlCol="0">
            <a:spAutoFit/>
          </a:bodyPr>
          <a:lstStyle/>
          <a:p>
            <a:pPr algn="ctr"/>
            <a:r>
              <a:rPr lang="zh-CN" altLang="en-US" sz="2200" dirty="0"/>
              <a:t>这一组现象的概率：</a:t>
            </a:r>
            <a:endParaRPr lang="en-US" altLang="zh-CN" sz="22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A8459F8-25A0-2438-02C4-94C177D9C92A}"/>
                  </a:ext>
                </a:extLst>
              </p:cNvPr>
              <p:cNvSpPr txBox="1"/>
              <p:nvPr/>
            </p:nvSpPr>
            <p:spPr>
              <a:xfrm>
                <a:off x="675478" y="5181600"/>
                <a:ext cx="7793037" cy="430887"/>
              </a:xfrm>
              <a:prstGeom prst="rect">
                <a:avLst/>
              </a:prstGeom>
              <a:noFill/>
            </p:spPr>
            <p:txBody>
              <a:bodyPr wrap="square" rtlCol="0">
                <a:spAutoFit/>
              </a:bodyPr>
              <a:lstStyle/>
              <a:p>
                <a:pPr algn="ctr"/>
                <a:r>
                  <a:rPr lang="zh-CN" altLang="en-US" sz="2200" dirty="0"/>
                  <a:t>数学上，当</a:t>
                </a:r>
                <a14:m>
                  <m:oMath xmlns:m="http://schemas.openxmlformats.org/officeDocument/2006/math">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r>
                      <a:rPr lang="en-US" altLang="zh-CN" sz="2200" b="0" i="1" smtClean="0">
                        <a:latin typeface="Cambria Math" panose="02040503050406030204" pitchFamily="18" charset="0"/>
                      </a:rPr>
                      <m:t>=0.6</m:t>
                    </m:r>
                  </m:oMath>
                </a14:m>
                <a:r>
                  <a:rPr lang="zh-CN" altLang="en-US" sz="2200" dirty="0"/>
                  <a:t>时，以上乘积取得最大值</a:t>
                </a:r>
                <a:endParaRPr lang="en-US" altLang="zh-CN" sz="2200" dirty="0"/>
              </a:p>
            </p:txBody>
          </p:sp>
        </mc:Choice>
        <mc:Fallback xmlns="">
          <p:sp>
            <p:nvSpPr>
              <p:cNvPr id="4" name="TextBox 3">
                <a:extLst>
                  <a:ext uri="{FF2B5EF4-FFF2-40B4-BE49-F238E27FC236}">
                    <a16:creationId xmlns:a16="http://schemas.microsoft.com/office/drawing/2014/main" id="{DA8459F8-25A0-2438-02C4-94C177D9C92A}"/>
                  </a:ext>
                </a:extLst>
              </p:cNvPr>
              <p:cNvSpPr txBox="1">
                <a:spLocks noRot="1" noChangeAspect="1" noMove="1" noResize="1" noEditPoints="1" noAdjustHandles="1" noChangeArrowheads="1" noChangeShapeType="1" noTextEdit="1"/>
              </p:cNvSpPr>
              <p:nvPr/>
            </p:nvSpPr>
            <p:spPr>
              <a:xfrm>
                <a:off x="675478" y="5181600"/>
                <a:ext cx="7793037" cy="430887"/>
              </a:xfrm>
              <a:prstGeom prst="rect">
                <a:avLst/>
              </a:prstGeom>
              <a:blipFill>
                <a:blip r:embed="rId5"/>
                <a:stretch>
                  <a:fillRect t="-15493" b="-21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0646E71-A3EA-DB21-7DCB-8DCBE1B39C91}"/>
                  </a:ext>
                </a:extLst>
              </p:cNvPr>
              <p:cNvSpPr txBox="1"/>
              <p:nvPr/>
            </p:nvSpPr>
            <p:spPr>
              <a:xfrm>
                <a:off x="675477" y="5779476"/>
                <a:ext cx="7793037" cy="573234"/>
              </a:xfrm>
              <a:prstGeom prst="rect">
                <a:avLst/>
              </a:prstGeom>
              <a:noFill/>
            </p:spPr>
            <p:txBody>
              <a:bodyPr wrap="square" rtlCol="0">
                <a:spAutoFit/>
              </a:bodyPr>
              <a:lstStyle/>
              <a:p>
                <a:pPr algn="ctr"/>
                <a:r>
                  <a:rPr lang="zh-CN" altLang="en-US" sz="2200" dirty="0"/>
                  <a:t>即相对</a:t>
                </a:r>
                <a14:m>
                  <m:oMath xmlns:m="http://schemas.openxmlformats.org/officeDocument/2006/math">
                    <m:r>
                      <a:rPr lang="zh-CN" altLang="en-US" sz="2200" i="1">
                        <a:latin typeface="Cambria Math" panose="02040503050406030204" pitchFamily="18" charset="0"/>
                      </a:rPr>
                      <m:t>熵</m:t>
                    </m:r>
                    <m:r>
                      <a:rPr lang="en-US" altLang="zh-CN" sz="2200" b="0" i="1" smtClean="0">
                        <a:latin typeface="Cambria Math" panose="02040503050406030204" pitchFamily="18" charset="0"/>
                      </a:rPr>
                      <m:t>−</m:t>
                    </m:r>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3</m:t>
                        </m:r>
                      </m:num>
                      <m:den>
                        <m:r>
                          <a:rPr lang="en-US" altLang="zh-CN" sz="2200" b="0" i="1" smtClean="0">
                            <a:latin typeface="Cambria Math" panose="02040503050406030204" pitchFamily="18" charset="0"/>
                          </a:rPr>
                          <m:t>5</m:t>
                        </m:r>
                      </m:den>
                    </m:f>
                    <m:func>
                      <m:funcPr>
                        <m:ctrlPr>
                          <a:rPr lang="en-US" altLang="zh-CN" sz="2200" b="0" i="1" smtClean="0">
                            <a:latin typeface="Cambria Math" panose="02040503050406030204" pitchFamily="18" charset="0"/>
                          </a:rPr>
                        </m:ctrlPr>
                      </m:funcPr>
                      <m:fName>
                        <m:sSub>
                          <m:sSubPr>
                            <m:ctrlPr>
                              <a:rPr lang="en-US" altLang="zh-CN" sz="2200" b="0" i="1" smtClean="0">
                                <a:latin typeface="Cambria Math" panose="02040503050406030204" pitchFamily="18" charset="0"/>
                              </a:rPr>
                            </m:ctrlPr>
                          </m:sSubPr>
                          <m:e>
                            <m:r>
                              <m:rPr>
                                <m:sty m:val="p"/>
                              </m:rPr>
                              <a:rPr lang="en-US" altLang="zh-CN" sz="2200" b="0" i="0" smtClean="0">
                                <a:latin typeface="Cambria Math" panose="02040503050406030204" pitchFamily="18" charset="0"/>
                              </a:rPr>
                              <m:t>log</m:t>
                            </m:r>
                          </m:e>
                          <m:sub>
                            <m:r>
                              <a:rPr lang="en-US" altLang="zh-CN" sz="2200" b="0" i="1" smtClean="0">
                                <a:latin typeface="Cambria Math" panose="02040503050406030204" pitchFamily="18" charset="0"/>
                              </a:rPr>
                              <m:t>2</m:t>
                            </m:r>
                          </m:sub>
                        </m:sSub>
                      </m:fName>
                      <m:e>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e>
                    </m:func>
                    <m:r>
                      <a:rPr lang="en-US" altLang="zh-CN" sz="2200" i="1">
                        <a:latin typeface="Cambria Math" panose="02040503050406030204" pitchFamily="18" charset="0"/>
                      </a:rPr>
                      <m:t>−</m:t>
                    </m:r>
                    <m:f>
                      <m:fPr>
                        <m:ctrlPr>
                          <a:rPr lang="en-US" altLang="zh-CN" sz="2200" i="1">
                            <a:latin typeface="Cambria Math" panose="02040503050406030204" pitchFamily="18" charset="0"/>
                          </a:rPr>
                        </m:ctrlPr>
                      </m:fPr>
                      <m:num>
                        <m:r>
                          <a:rPr lang="en-US" altLang="zh-CN" sz="2200" b="0" i="1" smtClean="0">
                            <a:latin typeface="Cambria Math" panose="02040503050406030204" pitchFamily="18" charset="0"/>
                          </a:rPr>
                          <m:t>2</m:t>
                        </m:r>
                      </m:num>
                      <m:den>
                        <m:r>
                          <a:rPr lang="en-US" altLang="zh-CN" sz="2200" i="1">
                            <a:latin typeface="Cambria Math" panose="02040503050406030204" pitchFamily="18" charset="0"/>
                          </a:rPr>
                          <m:t>5</m:t>
                        </m:r>
                      </m:den>
                    </m:f>
                    <m:func>
                      <m:funcPr>
                        <m:ctrlPr>
                          <a:rPr lang="en-US" altLang="zh-CN" sz="2200" i="1" smtClean="0">
                            <a:latin typeface="Cambria Math" panose="02040503050406030204" pitchFamily="18" charset="0"/>
                          </a:rPr>
                        </m:ctrlPr>
                      </m:funcPr>
                      <m:fName>
                        <m:sSub>
                          <m:sSubPr>
                            <m:ctrlPr>
                              <a:rPr lang="en-US" altLang="zh-CN" sz="2200" i="1">
                                <a:latin typeface="Cambria Math" panose="02040503050406030204" pitchFamily="18" charset="0"/>
                              </a:rPr>
                            </m:ctrlPr>
                          </m:sSubPr>
                          <m:e>
                            <m:r>
                              <m:rPr>
                                <m:sty m:val="p"/>
                              </m:rPr>
                              <a:rPr lang="en-US" altLang="zh-CN" sz="2200">
                                <a:latin typeface="Cambria Math" panose="02040503050406030204" pitchFamily="18" charset="0"/>
                              </a:rPr>
                              <m:t>log</m:t>
                            </m:r>
                          </m:e>
                          <m:sub>
                            <m:r>
                              <a:rPr lang="en-US" altLang="zh-CN" sz="2200" i="1">
                                <a:latin typeface="Cambria Math" panose="02040503050406030204" pitchFamily="18" charset="0"/>
                              </a:rPr>
                              <m:t>2</m:t>
                            </m:r>
                          </m:sub>
                        </m:sSub>
                      </m:fName>
                      <m:e>
                        <m:r>
                          <a:rPr lang="en-US" altLang="zh-CN" sz="2200" b="0" i="1" smtClean="0">
                            <a:latin typeface="Cambria Math" panose="02040503050406030204" pitchFamily="18" charset="0"/>
                          </a:rPr>
                          <m:t>(1−</m:t>
                        </m:r>
                        <m:r>
                          <a:rPr lang="en-US" altLang="zh-CN" sz="2200" b="0" i="1" smtClean="0">
                            <a:latin typeface="Cambria Math" panose="02040503050406030204" pitchFamily="18" charset="0"/>
                          </a:rPr>
                          <m:t>𝑃</m:t>
                        </m:r>
                        <m:r>
                          <a:rPr lang="en-US" altLang="zh-CN" sz="2200" b="0" i="1" smtClean="0">
                            <a:latin typeface="Cambria Math" panose="02040503050406030204" pitchFamily="18" charset="0"/>
                          </a:rPr>
                          <m:t>(</m:t>
                        </m:r>
                        <m:r>
                          <a:rPr lang="zh-CN" altLang="en-US" sz="2200" i="1">
                            <a:latin typeface="Cambria Math" panose="02040503050406030204" pitchFamily="18" charset="0"/>
                          </a:rPr>
                          <m:t>打鱼</m:t>
                        </m:r>
                        <m:r>
                          <a:rPr lang="en-US" altLang="zh-CN" sz="2200" b="0" i="1" smtClean="0">
                            <a:latin typeface="Cambria Math" panose="02040503050406030204" pitchFamily="18" charset="0"/>
                          </a:rPr>
                          <m:t>))</m:t>
                        </m:r>
                        <m:r>
                          <a:rPr lang="en-US" altLang="zh-CN" sz="2200" i="1" smtClean="0">
                            <a:latin typeface="Cambria Math" panose="02040503050406030204" pitchFamily="18" charset="0"/>
                          </a:rPr>
                          <m:t> </m:t>
                        </m:r>
                      </m:e>
                    </m:func>
                    <m:r>
                      <a:rPr lang="zh-CN" altLang="en-US" sz="2200" i="1">
                        <a:latin typeface="Cambria Math" panose="02040503050406030204" pitchFamily="18" charset="0"/>
                      </a:rPr>
                      <m:t>取得最小值</m:t>
                    </m:r>
                  </m:oMath>
                </a14:m>
                <a:endParaRPr lang="en-US" altLang="zh-CN" sz="2200" dirty="0"/>
              </a:p>
            </p:txBody>
          </p:sp>
        </mc:Choice>
        <mc:Fallback xmlns="">
          <p:sp>
            <p:nvSpPr>
              <p:cNvPr id="5" name="TextBox 4">
                <a:extLst>
                  <a:ext uri="{FF2B5EF4-FFF2-40B4-BE49-F238E27FC236}">
                    <a16:creationId xmlns:a16="http://schemas.microsoft.com/office/drawing/2014/main" id="{70646E71-A3EA-DB21-7DCB-8DCBE1B39C91}"/>
                  </a:ext>
                </a:extLst>
              </p:cNvPr>
              <p:cNvSpPr txBox="1">
                <a:spLocks noRot="1" noChangeAspect="1" noMove="1" noResize="1" noEditPoints="1" noAdjustHandles="1" noChangeArrowheads="1" noChangeShapeType="1" noTextEdit="1"/>
              </p:cNvSpPr>
              <p:nvPr/>
            </p:nvSpPr>
            <p:spPr>
              <a:xfrm>
                <a:off x="675477" y="5779476"/>
                <a:ext cx="7793037" cy="573234"/>
              </a:xfrm>
              <a:prstGeom prst="rect">
                <a:avLst/>
              </a:prstGeom>
              <a:blipFill>
                <a:blip r:embed="rId6"/>
                <a:stretch>
                  <a:fillRect b="-42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82FA6B0-08F2-1B12-67A2-9BD4778BD102}"/>
                  </a:ext>
                </a:extLst>
              </p:cNvPr>
              <p:cNvSpPr txBox="1"/>
              <p:nvPr/>
            </p:nvSpPr>
            <p:spPr>
              <a:xfrm>
                <a:off x="645696" y="4598313"/>
                <a:ext cx="7793037" cy="430887"/>
              </a:xfrm>
              <a:prstGeom prst="rect">
                <a:avLst/>
              </a:prstGeom>
              <a:noFill/>
            </p:spPr>
            <p:txBody>
              <a:bodyPr wrap="square" rtlCol="0">
                <a:spAutoFit/>
              </a:bodyPr>
              <a:lstStyle/>
              <a:p>
                <a:pPr algn="ctr"/>
                <a:r>
                  <a:rPr lang="zh-CN" altLang="en-US" sz="2200" dirty="0"/>
                  <a:t>调整</a:t>
                </a:r>
                <a14:m>
                  <m:oMath xmlns:m="http://schemas.openxmlformats.org/officeDocument/2006/math">
                    <m:r>
                      <a:rPr lang="en-US" altLang="zh-CN" sz="2200" i="1">
                        <a:latin typeface="Cambria Math" panose="02040503050406030204" pitchFamily="18" charset="0"/>
                      </a:rPr>
                      <m:t>𝑃</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打鱼</m:t>
                        </m:r>
                      </m:e>
                    </m:d>
                  </m:oMath>
                </a14:m>
                <a:r>
                  <a:rPr lang="zh-CN" altLang="en-US" sz="2200" dirty="0"/>
                  <a:t>，使得以上乘积尽可能大</a:t>
                </a:r>
                <a:endParaRPr lang="en-US" altLang="zh-CN" sz="2200" dirty="0"/>
              </a:p>
            </p:txBody>
          </p:sp>
        </mc:Choice>
        <mc:Fallback xmlns="">
          <p:sp>
            <p:nvSpPr>
              <p:cNvPr id="6" name="TextBox 5">
                <a:extLst>
                  <a:ext uri="{FF2B5EF4-FFF2-40B4-BE49-F238E27FC236}">
                    <a16:creationId xmlns:a16="http://schemas.microsoft.com/office/drawing/2014/main" id="{582FA6B0-08F2-1B12-67A2-9BD4778BD102}"/>
                  </a:ext>
                </a:extLst>
              </p:cNvPr>
              <p:cNvSpPr txBox="1">
                <a:spLocks noRot="1" noChangeAspect="1" noMove="1" noResize="1" noEditPoints="1" noAdjustHandles="1" noChangeArrowheads="1" noChangeShapeType="1" noTextEdit="1"/>
              </p:cNvSpPr>
              <p:nvPr/>
            </p:nvSpPr>
            <p:spPr>
              <a:xfrm>
                <a:off x="645696" y="4598313"/>
                <a:ext cx="7793037" cy="430887"/>
              </a:xfrm>
              <a:prstGeom prst="rect">
                <a:avLst/>
              </a:prstGeom>
              <a:blipFill>
                <a:blip r:embed="rId7"/>
                <a:stretch>
                  <a:fillRect t="-14085" b="-2253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17310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P spid="5" grpId="0"/>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极大似然估计</a:t>
            </a:r>
            <a:endParaRPr lang="zh-CN" altLang="en-US" dirty="0"/>
          </a:p>
        </p:txBody>
      </p:sp>
      <p:sp>
        <p:nvSpPr>
          <p:cNvPr id="8" name="TextBox 7">
            <a:extLst>
              <a:ext uri="{FF2B5EF4-FFF2-40B4-BE49-F238E27FC236}">
                <a16:creationId xmlns:a16="http://schemas.microsoft.com/office/drawing/2014/main" id="{7664C3AC-AB78-4917-8832-C607B6DE6DC9}"/>
              </a:ext>
            </a:extLst>
          </p:cNvPr>
          <p:cNvSpPr txBox="1"/>
          <p:nvPr/>
        </p:nvSpPr>
        <p:spPr>
          <a:xfrm>
            <a:off x="514347" y="1620941"/>
            <a:ext cx="8115301" cy="769441"/>
          </a:xfrm>
          <a:prstGeom prst="rect">
            <a:avLst/>
          </a:prstGeom>
          <a:noFill/>
        </p:spPr>
        <p:txBody>
          <a:bodyPr wrap="square" rtlCol="0">
            <a:spAutoFit/>
          </a:bodyPr>
          <a:lstStyle/>
          <a:p>
            <a:pPr algn="ctr"/>
            <a:r>
              <a:rPr lang="zh-CN" altLang="en-US" sz="2200" dirty="0"/>
              <a:t>原则：我们看到一些现象；我们调整参数，使得这些现象的概率尽可能地大</a:t>
            </a:r>
            <a:endParaRPr lang="en-US" altLang="zh-CN" sz="22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741363" y="3124200"/>
                <a:ext cx="7793037" cy="453842"/>
              </a:xfrm>
              <a:prstGeom prst="rect">
                <a:avLst/>
              </a:prstGeom>
              <a:noFill/>
            </p:spPr>
            <p:txBody>
              <a:bodyPr wrap="square" rtlCol="0">
                <a:spAutoFit/>
              </a:bodyPr>
              <a:lstStyle/>
              <a:p>
                <a:pPr algn="ctr"/>
                <a:r>
                  <a:rPr lang="zh-CN" altLang="en-US" sz="2200" dirty="0"/>
                  <a:t>比方说，我们看到</a:t>
                </a:r>
                <a14:m>
                  <m:oMath xmlns:m="http://schemas.openxmlformats.org/officeDocument/2006/math">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rPr>
                      <m:t>,1)</m:t>
                    </m:r>
                  </m:oMath>
                </a14:m>
                <a:endParaRPr lang="en-US" altLang="zh-CN" sz="2200" dirty="0"/>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741363" y="3124200"/>
                <a:ext cx="7793037" cy="453842"/>
              </a:xfrm>
              <a:prstGeom prst="rect">
                <a:avLst/>
              </a:prstGeom>
              <a:blipFill>
                <a:blip r:embed="rId3"/>
                <a:stretch>
                  <a:fillRect t="-10811" b="-202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541619-F9FD-4764-9110-46F03BBDF620}"/>
                  </a:ext>
                </a:extLst>
              </p:cNvPr>
              <p:cNvSpPr txBox="1"/>
              <p:nvPr/>
            </p:nvSpPr>
            <p:spPr>
              <a:xfrm>
                <a:off x="774357" y="3683913"/>
                <a:ext cx="7793037" cy="430887"/>
              </a:xfrm>
              <a:prstGeom prst="rect">
                <a:avLst/>
              </a:prstGeom>
              <a:noFill/>
            </p:spPr>
            <p:txBody>
              <a:bodyPr wrap="square" rtlCol="0">
                <a:spAutoFit/>
              </a:bodyPr>
              <a:lstStyle/>
              <a:p>
                <a:pPr algn="ctr"/>
                <a:r>
                  <a:rPr lang="zh-CN" altLang="en-US" sz="2200" dirty="0"/>
                  <a:t>我们调整</a:t>
                </a:r>
                <a14:m>
                  <m:oMath xmlns:m="http://schemas.openxmlformats.org/officeDocument/2006/math">
                    <m:r>
                      <a:rPr lang="en-US" altLang="zh-CN" sz="2200" b="1">
                        <a:latin typeface="Cambria Math" panose="02040503050406030204" pitchFamily="18" charset="0"/>
                      </a:rPr>
                      <m:t>𝐰</m:t>
                    </m:r>
                  </m:oMath>
                </a14:m>
                <a:r>
                  <a:rPr lang="zh-CN" altLang="en-US" sz="2200" dirty="0"/>
                  <a:t>和</a:t>
                </a:r>
                <a:r>
                  <a:rPr lang="en-US" altLang="zh-CN" sz="2200" dirty="0"/>
                  <a:t> </a:t>
                </a:r>
                <a14:m>
                  <m:oMath xmlns:m="http://schemas.openxmlformats.org/officeDocument/2006/math">
                    <m:r>
                      <a:rPr lang="en-US" altLang="zh-CN" sz="2200" i="1">
                        <a:latin typeface="Cambria Math" panose="02040503050406030204" pitchFamily="18" charset="0"/>
                      </a:rPr>
                      <m:t>𝑏</m:t>
                    </m:r>
                  </m:oMath>
                </a14:m>
                <a:endParaRPr lang="en-US" altLang="zh-CN" sz="2200" dirty="0"/>
              </a:p>
            </p:txBody>
          </p:sp>
        </mc:Choice>
        <mc:Fallback xmlns="">
          <p:sp>
            <p:nvSpPr>
              <p:cNvPr id="7" name="TextBox 6">
                <a:extLst>
                  <a:ext uri="{FF2B5EF4-FFF2-40B4-BE49-F238E27FC236}">
                    <a16:creationId xmlns:a16="http://schemas.microsoft.com/office/drawing/2014/main" id="{5E541619-F9FD-4764-9110-46F03BBDF620}"/>
                  </a:ext>
                </a:extLst>
              </p:cNvPr>
              <p:cNvSpPr txBox="1">
                <a:spLocks noRot="1" noChangeAspect="1" noMove="1" noResize="1" noEditPoints="1" noAdjustHandles="1" noChangeArrowheads="1" noChangeShapeType="1" noTextEdit="1"/>
              </p:cNvSpPr>
              <p:nvPr/>
            </p:nvSpPr>
            <p:spPr>
              <a:xfrm>
                <a:off x="774357" y="3683913"/>
                <a:ext cx="7793037" cy="430887"/>
              </a:xfrm>
              <a:prstGeom prst="rect">
                <a:avLst/>
              </a:prstGeom>
              <a:blipFill>
                <a:blip r:embed="rId4"/>
                <a:stretch>
                  <a:fillRect t="-14085" b="-22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471C24-A9AF-4122-8B42-B1C3DE5EBB19}"/>
                  </a:ext>
                </a:extLst>
              </p:cNvPr>
              <p:cNvSpPr txBox="1"/>
              <p:nvPr/>
            </p:nvSpPr>
            <p:spPr>
              <a:xfrm>
                <a:off x="762000" y="4343400"/>
                <a:ext cx="7793037" cy="616644"/>
              </a:xfrm>
              <a:prstGeom prst="rect">
                <a:avLst/>
              </a:prstGeom>
              <a:noFill/>
            </p:spPr>
            <p:txBody>
              <a:bodyPr wrap="square" rtlCol="0">
                <a:spAutoFit/>
              </a:bodyPr>
              <a:lstStyle/>
              <a:p>
                <a:pPr algn="ctr"/>
                <a:r>
                  <a:rPr lang="zh-CN" altLang="en-US" sz="2200" dirty="0"/>
                  <a:t>使得</a:t>
                </a: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r>
                      <a:rPr lang="en-US" altLang="zh-CN" sz="2200" b="1"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oMath>
                </a14:m>
                <a:r>
                  <a:rPr lang="zh-CN" altLang="en-US" sz="2200" dirty="0"/>
                  <a:t>接近于</a:t>
                </a:r>
                <a:r>
                  <a:rPr lang="en-US" altLang="zh-CN" sz="2200" dirty="0"/>
                  <a:t>1</a:t>
                </a:r>
              </a:p>
            </p:txBody>
          </p:sp>
        </mc:Choice>
        <mc:Fallback xmlns="">
          <p:sp>
            <p:nvSpPr>
              <p:cNvPr id="10" name="TextBox 9">
                <a:extLst>
                  <a:ext uri="{FF2B5EF4-FFF2-40B4-BE49-F238E27FC236}">
                    <a16:creationId xmlns:a16="http://schemas.microsoft.com/office/drawing/2014/main" id="{EF471C24-A9AF-4122-8B42-B1C3DE5EBB19}"/>
                  </a:ext>
                </a:extLst>
              </p:cNvPr>
              <p:cNvSpPr txBox="1">
                <a:spLocks noRot="1" noChangeAspect="1" noMove="1" noResize="1" noEditPoints="1" noAdjustHandles="1" noChangeArrowheads="1" noChangeShapeType="1" noTextEdit="1"/>
              </p:cNvSpPr>
              <p:nvPr/>
            </p:nvSpPr>
            <p:spPr>
              <a:xfrm>
                <a:off x="762000" y="4343400"/>
                <a:ext cx="7793037" cy="616644"/>
              </a:xfrm>
              <a:prstGeom prst="rect">
                <a:avLst/>
              </a:prstGeom>
              <a:blipFill>
                <a:blip r:embed="rId5"/>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711A5E3-6C24-DED8-8695-5CC813F77132}"/>
              </a:ext>
            </a:extLst>
          </p:cNvPr>
          <p:cNvSpPr txBox="1"/>
          <p:nvPr/>
        </p:nvSpPr>
        <p:spPr>
          <a:xfrm>
            <a:off x="741363" y="2594158"/>
            <a:ext cx="7793037" cy="430887"/>
          </a:xfrm>
          <a:prstGeom prst="rect">
            <a:avLst/>
          </a:prstGeom>
          <a:noFill/>
        </p:spPr>
        <p:txBody>
          <a:bodyPr wrap="square" rtlCol="0">
            <a:spAutoFit/>
          </a:bodyPr>
          <a:lstStyle/>
          <a:p>
            <a:pPr algn="ctr"/>
            <a:r>
              <a:rPr lang="zh-CN" altLang="en-US" sz="2200" dirty="0"/>
              <a:t>回到</a:t>
            </a:r>
            <a:r>
              <a:rPr lang="en-US" altLang="zh-CN" sz="2200" dirty="0"/>
              <a:t>logistic regression</a:t>
            </a:r>
          </a:p>
        </p:txBody>
      </p:sp>
    </p:spTree>
    <p:custDataLst>
      <p:tags r:id="rId1"/>
    </p:custDataLst>
    <p:extLst>
      <p:ext uri="{BB962C8B-B14F-4D97-AF65-F5344CB8AC3E}">
        <p14:creationId xmlns:p14="http://schemas.microsoft.com/office/powerpoint/2010/main" val="125732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极大似然估计</a:t>
            </a:r>
            <a:endParaRPr lang="zh-CN" altLang="en-US" dirty="0"/>
          </a:p>
        </p:txBody>
      </p:sp>
      <p:sp>
        <p:nvSpPr>
          <p:cNvPr id="8" name="TextBox 7">
            <a:extLst>
              <a:ext uri="{FF2B5EF4-FFF2-40B4-BE49-F238E27FC236}">
                <a16:creationId xmlns:a16="http://schemas.microsoft.com/office/drawing/2014/main" id="{7664C3AC-AB78-4917-8832-C607B6DE6DC9}"/>
              </a:ext>
            </a:extLst>
          </p:cNvPr>
          <p:cNvSpPr txBox="1"/>
          <p:nvPr/>
        </p:nvSpPr>
        <p:spPr>
          <a:xfrm>
            <a:off x="514347" y="1620941"/>
            <a:ext cx="8115301" cy="769441"/>
          </a:xfrm>
          <a:prstGeom prst="rect">
            <a:avLst/>
          </a:prstGeom>
          <a:noFill/>
        </p:spPr>
        <p:txBody>
          <a:bodyPr wrap="square" rtlCol="0">
            <a:spAutoFit/>
          </a:bodyPr>
          <a:lstStyle/>
          <a:p>
            <a:pPr algn="ctr"/>
            <a:r>
              <a:rPr lang="zh-CN" altLang="en-US" sz="2200" dirty="0"/>
              <a:t>原则：我们看到一些现象；我们调整参数，使得这些现象的概率尽可能地大</a:t>
            </a:r>
            <a:endParaRPr lang="en-US" altLang="zh-CN" sz="22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741363" y="3124200"/>
                <a:ext cx="7793037" cy="453842"/>
              </a:xfrm>
              <a:prstGeom prst="rect">
                <a:avLst/>
              </a:prstGeom>
              <a:noFill/>
            </p:spPr>
            <p:txBody>
              <a:bodyPr wrap="square" rtlCol="0">
                <a:spAutoFit/>
              </a:bodyPr>
              <a:lstStyle/>
              <a:p>
                <a:pPr algn="ctr"/>
                <a:r>
                  <a:rPr lang="zh-CN" altLang="en-US" sz="2200" dirty="0"/>
                  <a:t>比方说，我们看到</a:t>
                </a:r>
                <a14:m>
                  <m:oMath xmlns:m="http://schemas.openxmlformats.org/officeDocument/2006/math">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𝑗</m:t>
                            </m:r>
                          </m:e>
                        </m:d>
                      </m:sup>
                    </m:sSup>
                    <m:r>
                      <a:rPr lang="en-US" altLang="zh-CN" sz="2200" i="1">
                        <a:latin typeface="Cambria Math" panose="02040503050406030204" pitchFamily="18" charset="0"/>
                      </a:rPr>
                      <m:t>,</m:t>
                    </m:r>
                    <m:r>
                      <a:rPr lang="en-US" altLang="zh-CN" sz="2200" b="0" i="1" smtClean="0">
                        <a:latin typeface="Cambria Math" panose="02040503050406030204" pitchFamily="18" charset="0"/>
                      </a:rPr>
                      <m:t>0</m:t>
                    </m:r>
                    <m:r>
                      <a:rPr lang="en-US" altLang="zh-CN" sz="2200" i="1">
                        <a:latin typeface="Cambria Math" panose="02040503050406030204" pitchFamily="18" charset="0"/>
                      </a:rPr>
                      <m:t>)</m:t>
                    </m:r>
                  </m:oMath>
                </a14:m>
                <a:endParaRPr lang="en-US" altLang="zh-CN" sz="2200" dirty="0"/>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741363" y="3124200"/>
                <a:ext cx="7793037" cy="453842"/>
              </a:xfrm>
              <a:prstGeom prst="rect">
                <a:avLst/>
              </a:prstGeom>
              <a:blipFill>
                <a:blip r:embed="rId3"/>
                <a:stretch>
                  <a:fillRect t="-10811" b="-202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541619-F9FD-4764-9110-46F03BBDF620}"/>
                  </a:ext>
                </a:extLst>
              </p:cNvPr>
              <p:cNvSpPr txBox="1"/>
              <p:nvPr/>
            </p:nvSpPr>
            <p:spPr>
              <a:xfrm>
                <a:off x="774357" y="3683913"/>
                <a:ext cx="7793037" cy="430887"/>
              </a:xfrm>
              <a:prstGeom prst="rect">
                <a:avLst/>
              </a:prstGeom>
              <a:noFill/>
            </p:spPr>
            <p:txBody>
              <a:bodyPr wrap="square" rtlCol="0">
                <a:spAutoFit/>
              </a:bodyPr>
              <a:lstStyle/>
              <a:p>
                <a:pPr algn="ctr"/>
                <a:r>
                  <a:rPr lang="zh-CN" altLang="en-US" sz="2200" dirty="0"/>
                  <a:t>我们调整</a:t>
                </a:r>
                <a14:m>
                  <m:oMath xmlns:m="http://schemas.openxmlformats.org/officeDocument/2006/math">
                    <m:r>
                      <a:rPr lang="en-US" altLang="zh-CN" sz="2200" b="1">
                        <a:latin typeface="Cambria Math" panose="02040503050406030204" pitchFamily="18" charset="0"/>
                      </a:rPr>
                      <m:t>𝐰</m:t>
                    </m:r>
                  </m:oMath>
                </a14:m>
                <a:r>
                  <a:rPr lang="zh-CN" altLang="en-US" sz="2200" dirty="0"/>
                  <a:t>和</a:t>
                </a:r>
                <a:r>
                  <a:rPr lang="en-US" altLang="zh-CN" sz="2200" dirty="0"/>
                  <a:t> </a:t>
                </a:r>
                <a14:m>
                  <m:oMath xmlns:m="http://schemas.openxmlformats.org/officeDocument/2006/math">
                    <m:r>
                      <a:rPr lang="en-US" altLang="zh-CN" sz="2200" i="1">
                        <a:latin typeface="Cambria Math" panose="02040503050406030204" pitchFamily="18" charset="0"/>
                      </a:rPr>
                      <m:t>𝑏</m:t>
                    </m:r>
                  </m:oMath>
                </a14:m>
                <a:endParaRPr lang="en-US" altLang="zh-CN" sz="2200" dirty="0"/>
              </a:p>
            </p:txBody>
          </p:sp>
        </mc:Choice>
        <mc:Fallback xmlns="">
          <p:sp>
            <p:nvSpPr>
              <p:cNvPr id="7" name="TextBox 6">
                <a:extLst>
                  <a:ext uri="{FF2B5EF4-FFF2-40B4-BE49-F238E27FC236}">
                    <a16:creationId xmlns:a16="http://schemas.microsoft.com/office/drawing/2014/main" id="{5E541619-F9FD-4764-9110-46F03BBDF620}"/>
                  </a:ext>
                </a:extLst>
              </p:cNvPr>
              <p:cNvSpPr txBox="1">
                <a:spLocks noRot="1" noChangeAspect="1" noMove="1" noResize="1" noEditPoints="1" noAdjustHandles="1" noChangeArrowheads="1" noChangeShapeType="1" noTextEdit="1"/>
              </p:cNvSpPr>
              <p:nvPr/>
            </p:nvSpPr>
            <p:spPr>
              <a:xfrm>
                <a:off x="774357" y="3683913"/>
                <a:ext cx="7793037" cy="430887"/>
              </a:xfrm>
              <a:prstGeom prst="rect">
                <a:avLst/>
              </a:prstGeom>
              <a:blipFill>
                <a:blip r:embed="rId4"/>
                <a:stretch>
                  <a:fillRect t="-14085" b="-22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471C24-A9AF-4122-8B42-B1C3DE5EBB19}"/>
                  </a:ext>
                </a:extLst>
              </p:cNvPr>
              <p:cNvSpPr txBox="1"/>
              <p:nvPr/>
            </p:nvSpPr>
            <p:spPr>
              <a:xfrm>
                <a:off x="762000" y="4343400"/>
                <a:ext cx="7793037" cy="745012"/>
              </a:xfrm>
              <a:prstGeom prst="rect">
                <a:avLst/>
              </a:prstGeom>
              <a:noFill/>
            </p:spPr>
            <p:txBody>
              <a:bodyPr wrap="square" rtlCol="0">
                <a:spAutoFit/>
              </a:bodyPr>
              <a:lstStyle/>
              <a:p>
                <a:pPr algn="ctr"/>
                <a:r>
                  <a:rPr lang="zh-CN" altLang="en-US" sz="2200" dirty="0"/>
                  <a:t>使得</a:t>
                </a: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=0</m:t>
                    </m:r>
                    <m:r>
                      <a:rPr lang="en-US" altLang="zh-CN" sz="2200" b="1"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𝑗</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𝑗</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𝑗</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oMath>
                </a14:m>
                <a:r>
                  <a:rPr lang="zh-CN" altLang="en-US" sz="2200" dirty="0"/>
                  <a:t>接近于</a:t>
                </a:r>
                <a:r>
                  <a:rPr lang="en-US" altLang="zh-CN" sz="2200" dirty="0"/>
                  <a:t>1</a:t>
                </a:r>
              </a:p>
            </p:txBody>
          </p:sp>
        </mc:Choice>
        <mc:Fallback xmlns="">
          <p:sp>
            <p:nvSpPr>
              <p:cNvPr id="10" name="TextBox 9">
                <a:extLst>
                  <a:ext uri="{FF2B5EF4-FFF2-40B4-BE49-F238E27FC236}">
                    <a16:creationId xmlns:a16="http://schemas.microsoft.com/office/drawing/2014/main" id="{EF471C24-A9AF-4122-8B42-B1C3DE5EBB19}"/>
                  </a:ext>
                </a:extLst>
              </p:cNvPr>
              <p:cNvSpPr txBox="1">
                <a:spLocks noRot="1" noChangeAspect="1" noMove="1" noResize="1" noEditPoints="1" noAdjustHandles="1" noChangeArrowheads="1" noChangeShapeType="1" noTextEdit="1"/>
              </p:cNvSpPr>
              <p:nvPr/>
            </p:nvSpPr>
            <p:spPr>
              <a:xfrm>
                <a:off x="762000" y="4343400"/>
                <a:ext cx="7793037" cy="745012"/>
              </a:xfrm>
              <a:prstGeom prst="rect">
                <a:avLst/>
              </a:prstGeom>
              <a:blipFill>
                <a:blip r:embed="rId5"/>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67FDC8E-AB4E-E8BA-E00D-F3056E3B9ED8}"/>
              </a:ext>
            </a:extLst>
          </p:cNvPr>
          <p:cNvSpPr txBox="1"/>
          <p:nvPr/>
        </p:nvSpPr>
        <p:spPr>
          <a:xfrm>
            <a:off x="741363" y="2594158"/>
            <a:ext cx="7793037" cy="430887"/>
          </a:xfrm>
          <a:prstGeom prst="rect">
            <a:avLst/>
          </a:prstGeom>
          <a:noFill/>
        </p:spPr>
        <p:txBody>
          <a:bodyPr wrap="square" rtlCol="0">
            <a:spAutoFit/>
          </a:bodyPr>
          <a:lstStyle/>
          <a:p>
            <a:pPr algn="ctr"/>
            <a:r>
              <a:rPr lang="zh-CN" altLang="en-US" sz="2200" dirty="0"/>
              <a:t>回到</a:t>
            </a:r>
            <a:r>
              <a:rPr lang="en-US" altLang="zh-CN" sz="2200" dirty="0"/>
              <a:t>logistic regression</a:t>
            </a:r>
          </a:p>
        </p:txBody>
      </p:sp>
    </p:spTree>
    <p:custDataLst>
      <p:tags r:id="rId1"/>
    </p:custDataLst>
    <p:extLst>
      <p:ext uri="{BB962C8B-B14F-4D97-AF65-F5344CB8AC3E}">
        <p14:creationId xmlns:p14="http://schemas.microsoft.com/office/powerpoint/2010/main" val="340375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br>
              <a:rPr lang="en-US" altLang="zh-CN" dirty="0">
                <a:ea typeface="ＭＳ Ｐゴシック" panose="020B0600070205080204" pitchFamily="34" charset="-128"/>
              </a:rPr>
            </a:br>
            <a:r>
              <a:rPr lang="zh-CN" altLang="en-US" dirty="0">
                <a:ea typeface="ＭＳ Ｐゴシック" panose="020B0600070205080204" pitchFamily="34" charset="-128"/>
              </a:rPr>
              <a:t>极大似然估计</a:t>
            </a:r>
            <a:endParaRPr lang="zh-CN" altLang="en-US" dirty="0"/>
          </a:p>
        </p:txBody>
      </p:sp>
      <p:sp>
        <p:nvSpPr>
          <p:cNvPr id="8" name="TextBox 7">
            <a:extLst>
              <a:ext uri="{FF2B5EF4-FFF2-40B4-BE49-F238E27FC236}">
                <a16:creationId xmlns:a16="http://schemas.microsoft.com/office/drawing/2014/main" id="{7664C3AC-AB78-4917-8832-C607B6DE6DC9}"/>
              </a:ext>
            </a:extLst>
          </p:cNvPr>
          <p:cNvSpPr txBox="1"/>
          <p:nvPr/>
        </p:nvSpPr>
        <p:spPr>
          <a:xfrm>
            <a:off x="514347" y="1620941"/>
            <a:ext cx="8115301" cy="769441"/>
          </a:xfrm>
          <a:prstGeom prst="rect">
            <a:avLst/>
          </a:prstGeom>
          <a:noFill/>
        </p:spPr>
        <p:txBody>
          <a:bodyPr wrap="square" rtlCol="0">
            <a:spAutoFit/>
          </a:bodyPr>
          <a:lstStyle/>
          <a:p>
            <a:pPr algn="ctr"/>
            <a:r>
              <a:rPr lang="zh-CN" altLang="en-US" sz="2200" dirty="0"/>
              <a:t>原则：我们看到一些现象；我们调整参数，使得这些现象的概率尽可能地大</a:t>
            </a:r>
            <a:endParaRPr lang="en-US" altLang="zh-CN" sz="22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741363" y="2789004"/>
                <a:ext cx="7793037" cy="792396"/>
              </a:xfrm>
              <a:prstGeom prst="rect">
                <a:avLst/>
              </a:prstGeom>
              <a:noFill/>
            </p:spPr>
            <p:txBody>
              <a:bodyPr wrap="square" rtlCol="0">
                <a:spAutoFit/>
              </a:bodyPr>
              <a:lstStyle/>
              <a:p>
                <a:pPr algn="ctr"/>
                <a:r>
                  <a:rPr lang="zh-CN" altLang="en-US" sz="2200" dirty="0">
                    <a:latin typeface="Cambria Math" panose="02040503050406030204" pitchFamily="18" charset="0"/>
                  </a:rPr>
                  <a:t>当观察到训练数据</a:t>
                </a:r>
                <a:endParaRPr lang="en-US" altLang="zh-CN" sz="2200"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2</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2</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rPr>
                        <m:t>)</m:t>
                      </m:r>
                    </m:oMath>
                  </m:oMathPara>
                </a14:m>
                <a:endParaRPr lang="en-US" altLang="zh-CN" sz="2200" dirty="0"/>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741363" y="2789004"/>
                <a:ext cx="7793037" cy="792396"/>
              </a:xfrm>
              <a:prstGeom prst="rect">
                <a:avLst/>
              </a:prstGeom>
              <a:blipFill>
                <a:blip r:embed="rId3"/>
                <a:stretch>
                  <a:fillRect t="-7692" b="-8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541619-F9FD-4764-9110-46F03BBDF620}"/>
                  </a:ext>
                </a:extLst>
              </p:cNvPr>
              <p:cNvSpPr txBox="1"/>
              <p:nvPr/>
            </p:nvSpPr>
            <p:spPr>
              <a:xfrm>
                <a:off x="774357" y="4038141"/>
                <a:ext cx="7793037" cy="430887"/>
              </a:xfrm>
              <a:prstGeom prst="rect">
                <a:avLst/>
              </a:prstGeom>
              <a:noFill/>
            </p:spPr>
            <p:txBody>
              <a:bodyPr wrap="square" rtlCol="0">
                <a:spAutoFit/>
              </a:bodyPr>
              <a:lstStyle/>
              <a:p>
                <a:pPr algn="ctr"/>
                <a:r>
                  <a:rPr lang="zh-CN" altLang="en-US" sz="2200" dirty="0"/>
                  <a:t>我们调整</a:t>
                </a:r>
                <a14:m>
                  <m:oMath xmlns:m="http://schemas.openxmlformats.org/officeDocument/2006/math">
                    <m:r>
                      <a:rPr lang="en-US" altLang="zh-CN" sz="2200" b="1">
                        <a:latin typeface="Cambria Math" panose="02040503050406030204" pitchFamily="18" charset="0"/>
                      </a:rPr>
                      <m:t>𝐰</m:t>
                    </m:r>
                  </m:oMath>
                </a14:m>
                <a:r>
                  <a:rPr lang="zh-CN" altLang="en-US" sz="2200" dirty="0"/>
                  <a:t>和</a:t>
                </a:r>
                <a14:m>
                  <m:oMath xmlns:m="http://schemas.openxmlformats.org/officeDocument/2006/math">
                    <m:r>
                      <a:rPr lang="en-US" altLang="zh-CN" sz="2200" i="1">
                        <a:latin typeface="Cambria Math" panose="02040503050406030204" pitchFamily="18" charset="0"/>
                      </a:rPr>
                      <m:t>𝑏</m:t>
                    </m:r>
                  </m:oMath>
                </a14:m>
                <a:endParaRPr lang="en-US" altLang="zh-CN" sz="2200" dirty="0"/>
              </a:p>
            </p:txBody>
          </p:sp>
        </mc:Choice>
        <mc:Fallback xmlns="">
          <p:sp>
            <p:nvSpPr>
              <p:cNvPr id="7" name="TextBox 6">
                <a:extLst>
                  <a:ext uri="{FF2B5EF4-FFF2-40B4-BE49-F238E27FC236}">
                    <a16:creationId xmlns:a16="http://schemas.microsoft.com/office/drawing/2014/main" id="{5E541619-F9FD-4764-9110-46F03BBDF620}"/>
                  </a:ext>
                </a:extLst>
              </p:cNvPr>
              <p:cNvSpPr txBox="1">
                <a:spLocks noRot="1" noChangeAspect="1" noMove="1" noResize="1" noEditPoints="1" noAdjustHandles="1" noChangeArrowheads="1" noChangeShapeType="1" noTextEdit="1"/>
              </p:cNvSpPr>
              <p:nvPr/>
            </p:nvSpPr>
            <p:spPr>
              <a:xfrm>
                <a:off x="774357" y="4038141"/>
                <a:ext cx="7793037" cy="430887"/>
              </a:xfrm>
              <a:prstGeom prst="rect">
                <a:avLst/>
              </a:prstGeom>
              <a:blipFill>
                <a:blip r:embed="rId4"/>
                <a:stretch>
                  <a:fillRect t="-14085" b="-2253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EF471C24-A9AF-4122-8B42-B1C3DE5EBB19}"/>
              </a:ext>
            </a:extLst>
          </p:cNvPr>
          <p:cNvSpPr txBox="1"/>
          <p:nvPr/>
        </p:nvSpPr>
        <p:spPr>
          <a:xfrm>
            <a:off x="762000" y="4639008"/>
            <a:ext cx="7793037" cy="430887"/>
          </a:xfrm>
          <a:prstGeom prst="rect">
            <a:avLst/>
          </a:prstGeom>
          <a:noFill/>
        </p:spPr>
        <p:txBody>
          <a:bodyPr wrap="square" rtlCol="0">
            <a:spAutoFit/>
          </a:bodyPr>
          <a:lstStyle/>
          <a:p>
            <a:pPr algn="ctr"/>
            <a:r>
              <a:rPr lang="zh-CN" altLang="en-US" sz="2200" dirty="0"/>
              <a:t>使得</a:t>
            </a:r>
            <a:endParaRPr lang="en-US" altLang="zh-CN" sz="2200"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EE6B718-EC56-4E8F-9F1E-0766F5CB5094}"/>
                  </a:ext>
                </a:extLst>
              </p:cNvPr>
              <p:cNvSpPr/>
              <p:nvPr/>
            </p:nvSpPr>
            <p:spPr>
              <a:xfrm>
                <a:off x="1593263" y="5065625"/>
                <a:ext cx="5957465" cy="4538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𝑃</m:t>
                      </m:r>
                      <m:r>
                        <a:rPr lang="en-US" altLang="zh-CN" sz="2200" i="1" smtClean="0">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b="0" i="0"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3" name="Rectangle 2">
                <a:extLst>
                  <a:ext uri="{FF2B5EF4-FFF2-40B4-BE49-F238E27FC236}">
                    <a16:creationId xmlns:a16="http://schemas.microsoft.com/office/drawing/2014/main" id="{3EE6B718-EC56-4E8F-9F1E-0766F5CB5094}"/>
                  </a:ext>
                </a:extLst>
              </p:cNvPr>
              <p:cNvSpPr>
                <a:spLocks noRot="1" noChangeAspect="1" noMove="1" noResize="1" noEditPoints="1" noAdjustHandles="1" noChangeArrowheads="1" noChangeShapeType="1" noTextEdit="1"/>
              </p:cNvSpPr>
              <p:nvPr/>
            </p:nvSpPr>
            <p:spPr>
              <a:xfrm>
                <a:off x="1593263" y="5065625"/>
                <a:ext cx="5957465" cy="453842"/>
              </a:xfrm>
              <a:prstGeom prst="rect">
                <a:avLst/>
              </a:prstGeom>
              <a:blipFill>
                <a:blip r:embed="rId7"/>
                <a:stretch>
                  <a:fillRect b="-16216"/>
                </a:stretch>
              </a:blipFill>
            </p:spPr>
            <p:txBody>
              <a:bodyPr/>
              <a:lstStyle/>
              <a:p>
                <a:r>
                  <a:rPr lang="zh-CN" altLang="en-US">
                    <a:noFill/>
                  </a:rPr>
                  <a:t> </a:t>
                </a:r>
              </a:p>
            </p:txBody>
          </p:sp>
        </mc:Fallback>
      </mc:AlternateContent>
      <p:sp>
        <p:nvSpPr>
          <p:cNvPr id="9" name="TextBox 8">
            <a:extLst>
              <a:ext uri="{FF2B5EF4-FFF2-40B4-BE49-F238E27FC236}">
                <a16:creationId xmlns:a16="http://schemas.microsoft.com/office/drawing/2014/main" id="{B862FDC4-E625-4E0D-92C2-508D8F735A57}"/>
              </a:ext>
            </a:extLst>
          </p:cNvPr>
          <p:cNvSpPr txBox="1"/>
          <p:nvPr/>
        </p:nvSpPr>
        <p:spPr>
          <a:xfrm>
            <a:off x="675478" y="5487999"/>
            <a:ext cx="7793037" cy="430887"/>
          </a:xfrm>
          <a:prstGeom prst="rect">
            <a:avLst/>
          </a:prstGeom>
          <a:noFill/>
        </p:spPr>
        <p:txBody>
          <a:bodyPr wrap="square" rtlCol="0">
            <a:spAutoFit/>
          </a:bodyPr>
          <a:lstStyle/>
          <a:p>
            <a:pPr algn="ctr"/>
            <a:r>
              <a:rPr lang="zh-CN" altLang="en-US" sz="2200" dirty="0"/>
              <a:t>尽可能大</a:t>
            </a:r>
            <a:endParaRPr lang="en-US" altLang="zh-CN" sz="2200" dirty="0"/>
          </a:p>
        </p:txBody>
      </p:sp>
    </p:spTree>
    <p:custDataLst>
      <p:tags r:id="rId1"/>
    </p:custDataLst>
    <p:extLst>
      <p:ext uri="{BB962C8B-B14F-4D97-AF65-F5344CB8AC3E}">
        <p14:creationId xmlns:p14="http://schemas.microsoft.com/office/powerpoint/2010/main" val="980385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3" grpId="0"/>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变换</a:t>
            </a:r>
            <a:endParaRPr lang="zh-CN" alt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741363" y="2126159"/>
                <a:ext cx="7793037" cy="430887"/>
              </a:xfrm>
              <a:prstGeom prst="rect">
                <a:avLst/>
              </a:prstGeom>
              <a:noFill/>
            </p:spPr>
            <p:txBody>
              <a:bodyPr wrap="square" rtlCol="0">
                <a:spAutoFit/>
              </a:bodyPr>
              <a:lstStyle/>
              <a:p>
                <a:pPr algn="ctr"/>
                <a:r>
                  <a:rPr lang="zh-CN" altLang="en-US" sz="2200" dirty="0"/>
                  <a:t>当</a:t>
                </a:r>
                <a14:m>
                  <m:oMath xmlns:m="http://schemas.openxmlformats.org/officeDocument/2006/math">
                    <m:r>
                      <a:rPr lang="en-US" altLang="zh-CN" sz="2200" i="1">
                        <a:latin typeface="Cambria Math" panose="02040503050406030204" pitchFamily="18" charset="0"/>
                      </a:rPr>
                      <m:t>𝑚</m:t>
                    </m:r>
                  </m:oMath>
                </a14:m>
                <a:r>
                  <a:rPr lang="zh-CN" altLang="en-US" sz="2200" dirty="0"/>
                  <a:t>很大时可能会非常接近于</a:t>
                </a:r>
                <a:r>
                  <a:rPr lang="en-US" altLang="zh-CN" sz="2200" dirty="0"/>
                  <a:t>0</a:t>
                </a:r>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741363" y="2126159"/>
                <a:ext cx="7793037" cy="430887"/>
              </a:xfrm>
              <a:prstGeom prst="rect">
                <a:avLst/>
              </a:prstGeom>
              <a:blipFill>
                <a:blip r:embed="rId3"/>
                <a:stretch>
                  <a:fillRect t="-15714" b="-2857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E541619-F9FD-4764-9110-46F03BBDF620}"/>
              </a:ext>
            </a:extLst>
          </p:cNvPr>
          <p:cNvSpPr txBox="1"/>
          <p:nvPr/>
        </p:nvSpPr>
        <p:spPr>
          <a:xfrm>
            <a:off x="774357" y="2895600"/>
            <a:ext cx="7793037" cy="430887"/>
          </a:xfrm>
          <a:prstGeom prst="rect">
            <a:avLst/>
          </a:prstGeom>
          <a:noFill/>
        </p:spPr>
        <p:txBody>
          <a:bodyPr wrap="square" rtlCol="0">
            <a:spAutoFit/>
          </a:bodyPr>
          <a:lstStyle/>
          <a:p>
            <a:pPr algn="ctr"/>
            <a:r>
              <a:rPr lang="zh-CN" altLang="en-US" sz="2200" dirty="0"/>
              <a:t>我们用对数函数作一个变换</a:t>
            </a:r>
            <a:endParaRPr lang="en-US" altLang="zh-CN" sz="2200"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EE6B718-EC56-4E8F-9F1E-0766F5CB5094}"/>
                  </a:ext>
                </a:extLst>
              </p:cNvPr>
              <p:cNvSpPr/>
              <p:nvPr/>
            </p:nvSpPr>
            <p:spPr>
              <a:xfrm>
                <a:off x="1593263" y="1618846"/>
                <a:ext cx="5957465" cy="4538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𝑃</m:t>
                      </m:r>
                      <m:r>
                        <a:rPr lang="en-US" altLang="zh-CN" sz="2200" i="1" smtClean="0">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b="0" i="0"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3" name="Rectangle 2">
                <a:extLst>
                  <a:ext uri="{FF2B5EF4-FFF2-40B4-BE49-F238E27FC236}">
                    <a16:creationId xmlns:a16="http://schemas.microsoft.com/office/drawing/2014/main" id="{3EE6B718-EC56-4E8F-9F1E-0766F5CB5094}"/>
                  </a:ext>
                </a:extLst>
              </p:cNvPr>
              <p:cNvSpPr>
                <a:spLocks noRot="1" noChangeAspect="1" noMove="1" noResize="1" noEditPoints="1" noAdjustHandles="1" noChangeArrowheads="1" noChangeShapeType="1" noTextEdit="1"/>
              </p:cNvSpPr>
              <p:nvPr/>
            </p:nvSpPr>
            <p:spPr>
              <a:xfrm>
                <a:off x="1593263" y="1618846"/>
                <a:ext cx="5957465" cy="453842"/>
              </a:xfrm>
              <a:prstGeom prst="rect">
                <a:avLst/>
              </a:prstGeom>
              <a:blipFill>
                <a:blip r:embed="rId6"/>
                <a:stretch>
                  <a:fillRect b="-16216"/>
                </a:stretch>
              </a:blipFill>
            </p:spPr>
            <p:txBody>
              <a:bodyPr/>
              <a:lstStyle/>
              <a:p>
                <a:r>
                  <a:rPr lang="zh-CN" altLang="en-US">
                    <a:noFill/>
                  </a:rPr>
                  <a:t> </a:t>
                </a:r>
              </a:p>
            </p:txBody>
          </p:sp>
        </mc:Fallback>
      </mc:AlternateContent>
      <p:pic>
        <p:nvPicPr>
          <p:cNvPr id="13" name="Picture 12">
            <a:extLst>
              <a:ext uri="{FF2B5EF4-FFF2-40B4-BE49-F238E27FC236}">
                <a16:creationId xmlns:a16="http://schemas.microsoft.com/office/drawing/2014/main" id="{C515F8DD-375A-4A6C-9E14-452C4595997C}"/>
              </a:ext>
            </a:extLst>
          </p:cNvPr>
          <p:cNvPicPr>
            <a:picLocks noChangeAspect="1"/>
          </p:cNvPicPr>
          <p:nvPr/>
        </p:nvPicPr>
        <p:blipFill rotWithShape="1">
          <a:blip r:embed="rId7">
            <a:extLst>
              <a:ext uri="{28A0092B-C50C-407E-A947-70E740481C1C}">
                <a14:useLocalDpi xmlns:a14="http://schemas.microsoft.com/office/drawing/2010/main" val="0"/>
              </a:ext>
            </a:extLst>
          </a:blip>
          <a:srcRect t="9553" r="5186"/>
          <a:stretch/>
        </p:blipFill>
        <p:spPr>
          <a:xfrm>
            <a:off x="2707079" y="3962400"/>
            <a:ext cx="3729832" cy="2196830"/>
          </a:xfrm>
          <a:prstGeom prst="rect">
            <a:avLst/>
          </a:prstGeom>
          <a:ln>
            <a:noFill/>
          </a:ln>
        </p:spPr>
      </p:pic>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A14C4BF2-14FB-4B85-AD34-DC4AEA9B0348}"/>
                  </a:ext>
                </a:extLst>
              </p:cNvPr>
              <p:cNvSpPr/>
              <p:nvPr/>
            </p:nvSpPr>
            <p:spPr>
              <a:xfrm>
                <a:off x="6309757" y="4572000"/>
                <a:ext cx="24344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oMath>
                  </m:oMathPara>
                </a14:m>
                <a:endParaRPr lang="zh-CN" altLang="en-US" dirty="0"/>
              </a:p>
            </p:txBody>
          </p:sp>
        </mc:Choice>
        <mc:Fallback xmlns="">
          <p:sp>
            <p:nvSpPr>
              <p:cNvPr id="14" name="Rectangle 13">
                <a:extLst>
                  <a:ext uri="{FF2B5EF4-FFF2-40B4-BE49-F238E27FC236}">
                    <a16:creationId xmlns:a16="http://schemas.microsoft.com/office/drawing/2014/main" id="{A14C4BF2-14FB-4B85-AD34-DC4AEA9B0348}"/>
                  </a:ext>
                </a:extLst>
              </p:cNvPr>
              <p:cNvSpPr>
                <a:spLocks noRot="1" noChangeAspect="1" noMove="1" noResize="1" noEditPoints="1" noAdjustHandles="1" noChangeArrowheads="1" noChangeShapeType="1" noTextEdit="1"/>
              </p:cNvSpPr>
              <p:nvPr/>
            </p:nvSpPr>
            <p:spPr>
              <a:xfrm>
                <a:off x="6309757" y="4572000"/>
                <a:ext cx="243443" cy="369332"/>
              </a:xfrm>
              <a:prstGeom prst="rect">
                <a:avLst/>
              </a:prstGeom>
              <a:blipFill>
                <a:blip r:embed="rId8"/>
                <a:stretch>
                  <a:fillRect r="-25000"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5AACB47F-9DFC-4195-A7E6-26400A168CA3}"/>
                  </a:ext>
                </a:extLst>
              </p:cNvPr>
              <p:cNvSpPr/>
              <p:nvPr/>
            </p:nvSpPr>
            <p:spPr>
              <a:xfrm>
                <a:off x="2348502" y="3685330"/>
                <a:ext cx="85190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0" smtClean="0">
                          <a:latin typeface="Cambria Math" panose="02040503050406030204" pitchFamily="18" charset="0"/>
                          <a:ea typeface="Cambria Math" panose="02040503050406030204" pitchFamily="18" charset="0"/>
                        </a:rPr>
                        <m:t>l</m:t>
                      </m:r>
                      <m:r>
                        <m:rPr>
                          <m:sty m:val="p"/>
                        </m:rPr>
                        <a:rPr lang="en-US" altLang="zh-CN" b="0" i="0" smtClean="0">
                          <a:latin typeface="Cambria Math" panose="02040503050406030204" pitchFamily="18" charset="0"/>
                          <a:ea typeface="Cambria Math" panose="02040503050406030204" pitchFamily="18" charset="0"/>
                        </a:rPr>
                        <m:t>og</m:t>
                      </m:r>
                      <m:r>
                        <a:rPr lang="en-US" altLang="zh-CN" b="0" i="1" smtClean="0">
                          <a:latin typeface="Cambria Math" panose="02040503050406030204" pitchFamily="18" charset="0"/>
                          <a:ea typeface="Cambria Math" panose="02040503050406030204" pitchFamily="18" charset="0"/>
                        </a:rPr>
                        <m:t>𝑝</m:t>
                      </m:r>
                    </m:oMath>
                  </m:oMathPara>
                </a14:m>
                <a:endParaRPr lang="zh-CN" altLang="en-US" dirty="0"/>
              </a:p>
            </p:txBody>
          </p:sp>
        </mc:Choice>
        <mc:Fallback xmlns="">
          <p:sp>
            <p:nvSpPr>
              <p:cNvPr id="15" name="Rectangle 14">
                <a:extLst>
                  <a:ext uri="{FF2B5EF4-FFF2-40B4-BE49-F238E27FC236}">
                    <a16:creationId xmlns:a16="http://schemas.microsoft.com/office/drawing/2014/main" id="{5AACB47F-9DFC-4195-A7E6-26400A168CA3}"/>
                  </a:ext>
                </a:extLst>
              </p:cNvPr>
              <p:cNvSpPr>
                <a:spLocks noRot="1" noChangeAspect="1" noMove="1" noResize="1" noEditPoints="1" noAdjustHandles="1" noChangeArrowheads="1" noChangeShapeType="1" noTextEdit="1"/>
              </p:cNvSpPr>
              <p:nvPr/>
            </p:nvSpPr>
            <p:spPr>
              <a:xfrm>
                <a:off x="2348502" y="3685330"/>
                <a:ext cx="851900" cy="369332"/>
              </a:xfrm>
              <a:prstGeom prst="rect">
                <a:avLst/>
              </a:prstGeom>
              <a:blipFill>
                <a:blip r:embed="rId9"/>
                <a:stretch>
                  <a:fillRect b="-8333"/>
                </a:stretch>
              </a:blipFill>
            </p:spPr>
            <p:txBody>
              <a:bodyPr/>
              <a:lstStyle/>
              <a:p>
                <a:r>
                  <a:rPr lang="zh-CN" altLang="en-US">
                    <a:noFill/>
                  </a:rPr>
                  <a:t> </a:t>
                </a:r>
              </a:p>
            </p:txBody>
          </p:sp>
        </mc:Fallback>
      </mc:AlternateContent>
      <p:sp>
        <p:nvSpPr>
          <p:cNvPr id="5" name="Rectangle 4">
            <a:extLst>
              <a:ext uri="{FF2B5EF4-FFF2-40B4-BE49-F238E27FC236}">
                <a16:creationId xmlns:a16="http://schemas.microsoft.com/office/drawing/2014/main" id="{579EB709-8ED7-491C-A44A-5A46958CDF4D}"/>
              </a:ext>
            </a:extLst>
          </p:cNvPr>
          <p:cNvSpPr/>
          <p:nvPr/>
        </p:nvSpPr>
        <p:spPr bwMode="auto">
          <a:xfrm>
            <a:off x="2971799" y="4572000"/>
            <a:ext cx="332509" cy="1513840"/>
          </a:xfrm>
          <a:prstGeom prst="rect">
            <a:avLst/>
          </a:prstGeom>
          <a:solidFill>
            <a:schemeClr val="accent1">
              <a:alpha val="22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Tree>
    <p:custDataLst>
      <p:tags r:id="rId1"/>
    </p:custDataLst>
    <p:extLst>
      <p:ext uri="{BB962C8B-B14F-4D97-AF65-F5344CB8AC3E}">
        <p14:creationId xmlns:p14="http://schemas.microsoft.com/office/powerpoint/2010/main" val="202942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p:bldP spid="14" grpId="0"/>
      <p:bldP spid="15" grpId="0"/>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变换</a:t>
            </a:r>
            <a:endParaRPr lang="zh-CN" alt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741363" y="2126159"/>
                <a:ext cx="7793037" cy="430887"/>
              </a:xfrm>
              <a:prstGeom prst="rect">
                <a:avLst/>
              </a:prstGeom>
              <a:noFill/>
            </p:spPr>
            <p:txBody>
              <a:bodyPr wrap="square" rtlCol="0">
                <a:spAutoFit/>
              </a:bodyPr>
              <a:lstStyle/>
              <a:p>
                <a:pPr algn="ctr"/>
                <a:r>
                  <a:rPr lang="zh-CN" altLang="en-US" sz="2200" dirty="0"/>
                  <a:t>当</a:t>
                </a:r>
                <a14:m>
                  <m:oMath xmlns:m="http://schemas.openxmlformats.org/officeDocument/2006/math">
                    <m:r>
                      <a:rPr lang="en-US" altLang="zh-CN" sz="2200" i="1">
                        <a:latin typeface="Cambria Math" panose="02040503050406030204" pitchFamily="18" charset="0"/>
                      </a:rPr>
                      <m:t>𝑚</m:t>
                    </m:r>
                  </m:oMath>
                </a14:m>
                <a:r>
                  <a:rPr lang="zh-CN" altLang="en-US" sz="2200" dirty="0"/>
                  <a:t>很大时可能会非常接近于</a:t>
                </a:r>
                <a:r>
                  <a:rPr lang="en-US" altLang="zh-CN" sz="2200" dirty="0"/>
                  <a:t>0</a:t>
                </a:r>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741363" y="2126159"/>
                <a:ext cx="7793037" cy="430887"/>
              </a:xfrm>
              <a:prstGeom prst="rect">
                <a:avLst/>
              </a:prstGeom>
              <a:blipFill>
                <a:blip r:embed="rId3"/>
                <a:stretch>
                  <a:fillRect t="-15714" b="-2857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E541619-F9FD-4764-9110-46F03BBDF620}"/>
              </a:ext>
            </a:extLst>
          </p:cNvPr>
          <p:cNvSpPr txBox="1"/>
          <p:nvPr/>
        </p:nvSpPr>
        <p:spPr>
          <a:xfrm>
            <a:off x="774357" y="2895600"/>
            <a:ext cx="7793037" cy="430887"/>
          </a:xfrm>
          <a:prstGeom prst="rect">
            <a:avLst/>
          </a:prstGeom>
          <a:noFill/>
        </p:spPr>
        <p:txBody>
          <a:bodyPr wrap="square" rtlCol="0">
            <a:spAutoFit/>
          </a:bodyPr>
          <a:lstStyle/>
          <a:p>
            <a:pPr algn="ctr"/>
            <a:r>
              <a:rPr lang="zh-CN" altLang="en-US" sz="2200" dirty="0"/>
              <a:t>我们用对数函数作一个变换</a:t>
            </a:r>
            <a:endParaRPr lang="en-US" altLang="zh-CN" sz="22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471C24-A9AF-4122-8B42-B1C3DE5EBB19}"/>
                  </a:ext>
                </a:extLst>
              </p:cNvPr>
              <p:cNvSpPr txBox="1"/>
              <p:nvPr/>
            </p:nvSpPr>
            <p:spPr>
              <a:xfrm>
                <a:off x="675476" y="3718304"/>
                <a:ext cx="7793037" cy="824328"/>
              </a:xfrm>
              <a:prstGeom prst="rect">
                <a:avLst/>
              </a:prstGeom>
              <a:noFill/>
            </p:spPr>
            <p:txBody>
              <a:bodyPr wrap="square" rtlCol="0">
                <a:spAutoFit/>
              </a:bodyPr>
              <a:lstStyle/>
              <a:p>
                <a:pPr algn="ctr"/>
                <a:r>
                  <a:rPr lang="zh-CN" altLang="en-US" sz="2200" dirty="0"/>
                  <a:t>最大化 </a:t>
                </a:r>
                <a:endParaRPr lang="en-US" altLang="zh-CN" sz="2200" i="1" dirty="0">
                  <a:latin typeface="Cambria Math" panose="02040503050406030204" pitchFamily="18" charset="0"/>
                  <a:ea typeface="Cambria Math" panose="02040503050406030204" pitchFamily="18" charset="0"/>
                </a:endParaRPr>
              </a:p>
              <a:p>
                <a:pPr algn="ct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r>
                      <a:rPr lang="en-US" altLang="zh-CN" sz="220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ea typeface="Cambria Math" panose="02040503050406030204" pitchFamily="18" charset="0"/>
                      </a:rPr>
                      <m:t>)</m:t>
                    </m:r>
                  </m:oMath>
                </a14:m>
                <a:r>
                  <a:rPr lang="en-US" altLang="zh-CN" sz="2200" dirty="0"/>
                  <a:t> (</a:t>
                </a:r>
                <a14:m>
                  <m:oMath xmlns:m="http://schemas.openxmlformats.org/officeDocument/2006/math">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𝑚</m:t>
                        </m:r>
                      </m:sup>
                      <m:e>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𝑖</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e>
                    </m:nary>
                  </m:oMath>
                </a14:m>
                <a:r>
                  <a:rPr lang="en-US" altLang="zh-CN" sz="2200" dirty="0"/>
                  <a:t>)</a:t>
                </a:r>
              </a:p>
            </p:txBody>
          </p:sp>
        </mc:Choice>
        <mc:Fallback xmlns="">
          <p:sp>
            <p:nvSpPr>
              <p:cNvPr id="10" name="TextBox 9">
                <a:extLst>
                  <a:ext uri="{FF2B5EF4-FFF2-40B4-BE49-F238E27FC236}">
                    <a16:creationId xmlns:a16="http://schemas.microsoft.com/office/drawing/2014/main" id="{EF471C24-A9AF-4122-8B42-B1C3DE5EBB19}"/>
                  </a:ext>
                </a:extLst>
              </p:cNvPr>
              <p:cNvSpPr txBox="1">
                <a:spLocks noRot="1" noChangeAspect="1" noMove="1" noResize="1" noEditPoints="1" noAdjustHandles="1" noChangeArrowheads="1" noChangeShapeType="1" noTextEdit="1"/>
              </p:cNvSpPr>
              <p:nvPr/>
            </p:nvSpPr>
            <p:spPr>
              <a:xfrm>
                <a:off x="675476" y="3718304"/>
                <a:ext cx="7793037" cy="824328"/>
              </a:xfrm>
              <a:prstGeom prst="rect">
                <a:avLst/>
              </a:prstGeom>
              <a:blipFill>
                <a:blip r:embed="rId4"/>
                <a:stretch>
                  <a:fillRect t="-21481" b="-970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EE6B718-EC56-4E8F-9F1E-0766F5CB5094}"/>
                  </a:ext>
                </a:extLst>
              </p:cNvPr>
              <p:cNvSpPr/>
              <p:nvPr/>
            </p:nvSpPr>
            <p:spPr>
              <a:xfrm>
                <a:off x="1593263" y="1618846"/>
                <a:ext cx="5957465" cy="4538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𝑃</m:t>
                      </m:r>
                      <m:r>
                        <a:rPr lang="en-US" altLang="zh-CN" sz="2200" i="1" smtClean="0">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b="0" i="0"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3" name="Rectangle 2">
                <a:extLst>
                  <a:ext uri="{FF2B5EF4-FFF2-40B4-BE49-F238E27FC236}">
                    <a16:creationId xmlns:a16="http://schemas.microsoft.com/office/drawing/2014/main" id="{3EE6B718-EC56-4E8F-9F1E-0766F5CB5094}"/>
                  </a:ext>
                </a:extLst>
              </p:cNvPr>
              <p:cNvSpPr>
                <a:spLocks noRot="1" noChangeAspect="1" noMove="1" noResize="1" noEditPoints="1" noAdjustHandles="1" noChangeArrowheads="1" noChangeShapeType="1" noTextEdit="1"/>
              </p:cNvSpPr>
              <p:nvPr/>
            </p:nvSpPr>
            <p:spPr>
              <a:xfrm>
                <a:off x="1593263" y="1618846"/>
                <a:ext cx="5957465" cy="453842"/>
              </a:xfrm>
              <a:prstGeom prst="rect">
                <a:avLst/>
              </a:prstGeom>
              <a:blipFill>
                <a:blip r:embed="rId7"/>
                <a:stretch>
                  <a:fillRect b="-16216"/>
                </a:stretch>
              </a:blipFill>
            </p:spPr>
            <p:txBody>
              <a:bodyPr/>
              <a:lstStyle/>
              <a:p>
                <a:r>
                  <a:rPr lang="zh-CN" altLang="en-US">
                    <a:noFill/>
                  </a:rPr>
                  <a:t> </a:t>
                </a:r>
              </a:p>
            </p:txBody>
          </p:sp>
        </mc:Fallback>
      </mc:AlternateContent>
      <p:sp>
        <p:nvSpPr>
          <p:cNvPr id="9" name="TextBox 8">
            <a:extLst>
              <a:ext uri="{FF2B5EF4-FFF2-40B4-BE49-F238E27FC236}">
                <a16:creationId xmlns:a16="http://schemas.microsoft.com/office/drawing/2014/main" id="{B862FDC4-E625-4E0D-92C2-508D8F735A57}"/>
              </a:ext>
            </a:extLst>
          </p:cNvPr>
          <p:cNvSpPr txBox="1"/>
          <p:nvPr/>
        </p:nvSpPr>
        <p:spPr>
          <a:xfrm>
            <a:off x="675476" y="4597062"/>
            <a:ext cx="7793037" cy="430887"/>
          </a:xfrm>
          <a:prstGeom prst="rect">
            <a:avLst/>
          </a:prstGeom>
          <a:noFill/>
        </p:spPr>
        <p:txBody>
          <a:bodyPr wrap="square" rtlCol="0">
            <a:spAutoFit/>
          </a:bodyPr>
          <a:lstStyle/>
          <a:p>
            <a:pPr algn="ctr"/>
            <a:r>
              <a:rPr lang="zh-CN" altLang="en-US" sz="2200" dirty="0"/>
              <a:t>等价于</a:t>
            </a:r>
            <a:endParaRPr lang="en-US" altLang="zh-CN" sz="22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F54775-F717-4590-BA91-E2B289388648}"/>
                  </a:ext>
                </a:extLst>
              </p:cNvPr>
              <p:cNvSpPr txBox="1"/>
              <p:nvPr/>
            </p:nvSpPr>
            <p:spPr>
              <a:xfrm>
                <a:off x="76194" y="5189041"/>
                <a:ext cx="8991600" cy="801373"/>
              </a:xfrm>
              <a:prstGeom prst="rect">
                <a:avLst/>
              </a:prstGeom>
              <a:noFill/>
            </p:spPr>
            <p:txBody>
              <a:bodyPr wrap="square" rtlCol="0">
                <a:spAutoFit/>
              </a:bodyPr>
              <a:lstStyle/>
              <a:p>
                <a:pPr algn="ctr"/>
                <a:r>
                  <a:rPr lang="zh-CN" altLang="en-US" sz="2200" dirty="0"/>
                  <a:t>最大化</a:t>
                </a:r>
                <a:endParaRPr lang="en-US" altLang="zh-CN" sz="2200" i="1" dirty="0">
                  <a:latin typeface="Cambria Math" panose="02040503050406030204" pitchFamily="18" charset="0"/>
                  <a:ea typeface="Cambria Math" panose="02040503050406030204" pitchFamily="18" charset="0"/>
                </a:endParaRPr>
              </a:p>
              <a:p>
                <a:pPr algn="ctr"/>
                <a14:m>
                  <m:oMath xmlns:m="http://schemas.openxmlformats.org/officeDocument/2006/math">
                    <m:r>
                      <m:rPr>
                        <m:sty m:val="p"/>
                      </m:rPr>
                      <a:rPr lang="en-US" altLang="zh-CN" sz="2200" b="0" i="0" smtClean="0">
                        <a:latin typeface="Cambria Math" panose="02040503050406030204" pitchFamily="18" charset="0"/>
                        <a:ea typeface="Cambria Math" panose="02040503050406030204" pitchFamily="18" charset="0"/>
                      </a:rPr>
                      <m:t>log</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m:rPr>
                        <m:sty m:val="p"/>
                      </m:rPr>
                      <a:rPr lang="en-US" altLang="zh-CN" sz="2200">
                        <a:latin typeface="Cambria Math" panose="02040503050406030204" pitchFamily="18" charset="0"/>
                        <a:ea typeface="Cambria Math" panose="02040503050406030204" pitchFamily="18" charset="0"/>
                      </a:rPr>
                      <m:t>log</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ea typeface="Cambria Math" panose="02040503050406030204" pitchFamily="18" charset="0"/>
                      </a:rPr>
                      <m:t>)</m:t>
                    </m:r>
                  </m:oMath>
                </a14:m>
                <a:r>
                  <a:rPr lang="en-US" altLang="zh-CN" sz="2200" dirty="0"/>
                  <a:t> (</a:t>
                </a:r>
                <a14:m>
                  <m:oMath xmlns:m="http://schemas.openxmlformats.org/officeDocument/2006/math">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𝑚</m:t>
                        </m:r>
                      </m:sup>
                      <m:e>
                        <m:r>
                          <m:rPr>
                            <m:sty m:val="p"/>
                          </m:rPr>
                          <a:rPr lang="en-US" altLang="zh-CN" sz="2200" b="0" i="0" smtClean="0">
                            <a:latin typeface="Cambria Math" panose="02040503050406030204" pitchFamily="18" charset="0"/>
                          </a:rPr>
                          <m:t>log</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e>
                    </m:nary>
                  </m:oMath>
                </a14:m>
                <a:r>
                  <a:rPr lang="en-US" altLang="zh-CN" sz="2200" dirty="0"/>
                  <a:t>)</a:t>
                </a:r>
              </a:p>
            </p:txBody>
          </p:sp>
        </mc:Choice>
        <mc:Fallback xmlns="">
          <p:sp>
            <p:nvSpPr>
              <p:cNvPr id="12" name="TextBox 11">
                <a:extLst>
                  <a:ext uri="{FF2B5EF4-FFF2-40B4-BE49-F238E27FC236}">
                    <a16:creationId xmlns:a16="http://schemas.microsoft.com/office/drawing/2014/main" id="{75F54775-F717-4590-BA91-E2B289388648}"/>
                  </a:ext>
                </a:extLst>
              </p:cNvPr>
              <p:cNvSpPr txBox="1">
                <a:spLocks noRot="1" noChangeAspect="1" noMove="1" noResize="1" noEditPoints="1" noAdjustHandles="1" noChangeArrowheads="1" noChangeShapeType="1" noTextEdit="1"/>
              </p:cNvSpPr>
              <p:nvPr/>
            </p:nvSpPr>
            <p:spPr>
              <a:xfrm>
                <a:off x="76194" y="5189041"/>
                <a:ext cx="8991600" cy="801373"/>
              </a:xfrm>
              <a:prstGeom prst="rect">
                <a:avLst/>
              </a:prstGeom>
              <a:blipFill>
                <a:blip r:embed="rId8"/>
                <a:stretch>
                  <a:fillRect t="-21970" b="-10151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25451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变换</a:t>
            </a:r>
            <a:endParaRPr lang="zh-CN" alt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741363" y="2126159"/>
                <a:ext cx="7793037" cy="430887"/>
              </a:xfrm>
              <a:prstGeom prst="rect">
                <a:avLst/>
              </a:prstGeom>
              <a:noFill/>
            </p:spPr>
            <p:txBody>
              <a:bodyPr wrap="square" rtlCol="0">
                <a:spAutoFit/>
              </a:bodyPr>
              <a:lstStyle/>
              <a:p>
                <a:pPr algn="ctr"/>
                <a:r>
                  <a:rPr lang="zh-CN" altLang="en-US" sz="2200" dirty="0"/>
                  <a:t>当</a:t>
                </a:r>
                <a14:m>
                  <m:oMath xmlns:m="http://schemas.openxmlformats.org/officeDocument/2006/math">
                    <m:r>
                      <a:rPr lang="en-US" altLang="zh-CN" sz="2200" i="1">
                        <a:latin typeface="Cambria Math" panose="02040503050406030204" pitchFamily="18" charset="0"/>
                      </a:rPr>
                      <m:t>𝑚</m:t>
                    </m:r>
                  </m:oMath>
                </a14:m>
                <a:r>
                  <a:rPr lang="zh-CN" altLang="en-US" sz="2200" dirty="0"/>
                  <a:t>很大时可能会非常接近于</a:t>
                </a:r>
                <a:r>
                  <a:rPr lang="en-US" altLang="zh-CN" sz="2200" dirty="0"/>
                  <a:t>0</a:t>
                </a:r>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741363" y="2126159"/>
                <a:ext cx="7793037" cy="430887"/>
              </a:xfrm>
              <a:prstGeom prst="rect">
                <a:avLst/>
              </a:prstGeom>
              <a:blipFill>
                <a:blip r:embed="rId3"/>
                <a:stretch>
                  <a:fillRect t="-15714" b="-28571"/>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E541619-F9FD-4764-9110-46F03BBDF620}"/>
              </a:ext>
            </a:extLst>
          </p:cNvPr>
          <p:cNvSpPr txBox="1"/>
          <p:nvPr/>
        </p:nvSpPr>
        <p:spPr>
          <a:xfrm>
            <a:off x="774357" y="2895600"/>
            <a:ext cx="7793037" cy="430887"/>
          </a:xfrm>
          <a:prstGeom prst="rect">
            <a:avLst/>
          </a:prstGeom>
          <a:noFill/>
        </p:spPr>
        <p:txBody>
          <a:bodyPr wrap="square" rtlCol="0">
            <a:spAutoFit/>
          </a:bodyPr>
          <a:lstStyle/>
          <a:p>
            <a:pPr algn="ctr"/>
            <a:r>
              <a:rPr lang="zh-CN" altLang="en-US" sz="2200" dirty="0"/>
              <a:t>我们用对数函数作一个变换</a:t>
            </a:r>
            <a:endParaRPr lang="en-US" altLang="zh-CN" sz="22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471C24-A9AF-4122-8B42-B1C3DE5EBB19}"/>
                  </a:ext>
                </a:extLst>
              </p:cNvPr>
              <p:cNvSpPr txBox="1"/>
              <p:nvPr/>
            </p:nvSpPr>
            <p:spPr>
              <a:xfrm>
                <a:off x="675476" y="3718304"/>
                <a:ext cx="7793037" cy="824328"/>
              </a:xfrm>
              <a:prstGeom prst="rect">
                <a:avLst/>
              </a:prstGeom>
              <a:noFill/>
            </p:spPr>
            <p:txBody>
              <a:bodyPr wrap="square" rtlCol="0">
                <a:spAutoFit/>
              </a:bodyPr>
              <a:lstStyle/>
              <a:p>
                <a:pPr algn="ctr"/>
                <a:r>
                  <a:rPr lang="zh-CN" altLang="en-US" sz="2200" dirty="0"/>
                  <a:t>最大化 </a:t>
                </a:r>
                <a:endParaRPr lang="en-US" altLang="zh-CN" sz="2200" i="1" dirty="0">
                  <a:latin typeface="Cambria Math" panose="02040503050406030204" pitchFamily="18" charset="0"/>
                  <a:ea typeface="Cambria Math" panose="02040503050406030204" pitchFamily="18" charset="0"/>
                </a:endParaRPr>
              </a:p>
              <a:p>
                <a:pPr algn="ct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r>
                      <a:rPr lang="en-US" altLang="zh-CN" sz="220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ea typeface="Cambria Math" panose="02040503050406030204" pitchFamily="18" charset="0"/>
                      </a:rPr>
                      <m:t>)</m:t>
                    </m:r>
                  </m:oMath>
                </a14:m>
                <a:r>
                  <a:rPr lang="en-US" altLang="zh-CN" sz="2200" dirty="0"/>
                  <a:t> (</a:t>
                </a:r>
                <a14:m>
                  <m:oMath xmlns:m="http://schemas.openxmlformats.org/officeDocument/2006/math">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𝑚</m:t>
                        </m:r>
                      </m:sup>
                      <m:e>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𝑖</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e>
                    </m:nary>
                  </m:oMath>
                </a14:m>
                <a:r>
                  <a:rPr lang="en-US" altLang="zh-CN" sz="2200" dirty="0"/>
                  <a:t>)</a:t>
                </a:r>
              </a:p>
            </p:txBody>
          </p:sp>
        </mc:Choice>
        <mc:Fallback xmlns="">
          <p:sp>
            <p:nvSpPr>
              <p:cNvPr id="10" name="TextBox 9">
                <a:extLst>
                  <a:ext uri="{FF2B5EF4-FFF2-40B4-BE49-F238E27FC236}">
                    <a16:creationId xmlns:a16="http://schemas.microsoft.com/office/drawing/2014/main" id="{EF471C24-A9AF-4122-8B42-B1C3DE5EBB19}"/>
                  </a:ext>
                </a:extLst>
              </p:cNvPr>
              <p:cNvSpPr txBox="1">
                <a:spLocks noRot="1" noChangeAspect="1" noMove="1" noResize="1" noEditPoints="1" noAdjustHandles="1" noChangeArrowheads="1" noChangeShapeType="1" noTextEdit="1"/>
              </p:cNvSpPr>
              <p:nvPr/>
            </p:nvSpPr>
            <p:spPr>
              <a:xfrm>
                <a:off x="675476" y="3718304"/>
                <a:ext cx="7793037" cy="824328"/>
              </a:xfrm>
              <a:prstGeom prst="rect">
                <a:avLst/>
              </a:prstGeom>
              <a:blipFill>
                <a:blip r:embed="rId4"/>
                <a:stretch>
                  <a:fillRect t="-21481" b="-970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EE6B718-EC56-4E8F-9F1E-0766F5CB5094}"/>
                  </a:ext>
                </a:extLst>
              </p:cNvPr>
              <p:cNvSpPr/>
              <p:nvPr/>
            </p:nvSpPr>
            <p:spPr>
              <a:xfrm>
                <a:off x="1593263" y="1618846"/>
                <a:ext cx="5957465" cy="4538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𝑃</m:t>
                      </m:r>
                      <m:r>
                        <a:rPr lang="en-US" altLang="zh-CN" sz="2200" i="1" smtClean="0">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b="0" i="0"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3" name="Rectangle 2">
                <a:extLst>
                  <a:ext uri="{FF2B5EF4-FFF2-40B4-BE49-F238E27FC236}">
                    <a16:creationId xmlns:a16="http://schemas.microsoft.com/office/drawing/2014/main" id="{3EE6B718-EC56-4E8F-9F1E-0766F5CB5094}"/>
                  </a:ext>
                </a:extLst>
              </p:cNvPr>
              <p:cNvSpPr>
                <a:spLocks noRot="1" noChangeAspect="1" noMove="1" noResize="1" noEditPoints="1" noAdjustHandles="1" noChangeArrowheads="1" noChangeShapeType="1" noTextEdit="1"/>
              </p:cNvSpPr>
              <p:nvPr/>
            </p:nvSpPr>
            <p:spPr>
              <a:xfrm>
                <a:off x="1593263" y="1618846"/>
                <a:ext cx="5957465" cy="453842"/>
              </a:xfrm>
              <a:prstGeom prst="rect">
                <a:avLst/>
              </a:prstGeom>
              <a:blipFill>
                <a:blip r:embed="rId7"/>
                <a:stretch>
                  <a:fillRect b="-16216"/>
                </a:stretch>
              </a:blipFill>
            </p:spPr>
            <p:txBody>
              <a:bodyPr/>
              <a:lstStyle/>
              <a:p>
                <a:r>
                  <a:rPr lang="zh-CN" altLang="en-US">
                    <a:noFill/>
                  </a:rPr>
                  <a:t> </a:t>
                </a:r>
              </a:p>
            </p:txBody>
          </p:sp>
        </mc:Fallback>
      </mc:AlternateContent>
      <p:sp>
        <p:nvSpPr>
          <p:cNvPr id="9" name="TextBox 8">
            <a:extLst>
              <a:ext uri="{FF2B5EF4-FFF2-40B4-BE49-F238E27FC236}">
                <a16:creationId xmlns:a16="http://schemas.microsoft.com/office/drawing/2014/main" id="{B862FDC4-E625-4E0D-92C2-508D8F735A57}"/>
              </a:ext>
            </a:extLst>
          </p:cNvPr>
          <p:cNvSpPr txBox="1"/>
          <p:nvPr/>
        </p:nvSpPr>
        <p:spPr>
          <a:xfrm>
            <a:off x="675476" y="4597062"/>
            <a:ext cx="7793037" cy="430887"/>
          </a:xfrm>
          <a:prstGeom prst="rect">
            <a:avLst/>
          </a:prstGeom>
          <a:noFill/>
        </p:spPr>
        <p:txBody>
          <a:bodyPr wrap="square" rtlCol="0">
            <a:spAutoFit/>
          </a:bodyPr>
          <a:lstStyle/>
          <a:p>
            <a:pPr algn="ctr"/>
            <a:r>
              <a:rPr lang="zh-CN" altLang="en-US" sz="2200" dirty="0"/>
              <a:t>于是等价于</a:t>
            </a:r>
            <a:endParaRPr lang="en-US" altLang="zh-CN" sz="22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F54775-F717-4590-BA91-E2B289388648}"/>
                  </a:ext>
                </a:extLst>
              </p:cNvPr>
              <p:cNvSpPr txBox="1"/>
              <p:nvPr/>
            </p:nvSpPr>
            <p:spPr>
              <a:xfrm>
                <a:off x="76194" y="5189041"/>
                <a:ext cx="8991600" cy="801373"/>
              </a:xfrm>
              <a:prstGeom prst="rect">
                <a:avLst/>
              </a:prstGeom>
              <a:noFill/>
            </p:spPr>
            <p:txBody>
              <a:bodyPr wrap="square" rtlCol="0">
                <a:spAutoFit/>
              </a:bodyPr>
              <a:lstStyle/>
              <a:p>
                <a:pPr algn="ctr"/>
                <a:r>
                  <a:rPr lang="zh-CN" altLang="en-US" sz="2200" dirty="0"/>
                  <a:t>最小化</a:t>
                </a:r>
                <a:endParaRPr lang="en-US" altLang="zh-CN" sz="2200" i="1" dirty="0">
                  <a:latin typeface="Cambria Math" panose="02040503050406030204" pitchFamily="18" charset="0"/>
                  <a:ea typeface="Cambria Math" panose="02040503050406030204" pitchFamily="18" charset="0"/>
                </a:endParaRPr>
              </a:p>
              <a:p>
                <a:pPr algn="ctr"/>
                <a14:m>
                  <m:oMath xmlns:m="http://schemas.openxmlformats.org/officeDocument/2006/math">
                    <m:r>
                      <a:rPr lang="en-US" altLang="zh-CN" sz="2200" b="0" i="1" smtClean="0">
                        <a:latin typeface="Cambria Math" panose="02040503050406030204" pitchFamily="18" charset="0"/>
                        <a:ea typeface="Cambria Math" panose="02040503050406030204" pitchFamily="18" charset="0"/>
                      </a:rPr>
                      <m:t>−</m:t>
                    </m:r>
                    <m:r>
                      <m:rPr>
                        <m:sty m:val="p"/>
                      </m:rPr>
                      <a:rPr lang="en-US" altLang="zh-CN" sz="2200" b="0" i="0" smtClean="0">
                        <a:latin typeface="Cambria Math" panose="02040503050406030204" pitchFamily="18" charset="0"/>
                        <a:ea typeface="Cambria Math" panose="02040503050406030204" pitchFamily="18" charset="0"/>
                      </a:rPr>
                      <m:t>log</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a:rPr lang="en-US" altLang="zh-CN" sz="2200">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r>
                      <m:rPr>
                        <m:sty m:val="p"/>
                      </m:rPr>
                      <a:rPr lang="en-US" altLang="zh-CN" sz="2200">
                        <a:latin typeface="Cambria Math" panose="02040503050406030204" pitchFamily="18" charset="0"/>
                        <a:ea typeface="Cambria Math" panose="02040503050406030204" pitchFamily="18" charset="0"/>
                      </a:rPr>
                      <m:t>log</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ea typeface="Cambria Math" panose="02040503050406030204" pitchFamily="18" charset="0"/>
                      </a:rPr>
                      <m:t>)</m:t>
                    </m:r>
                  </m:oMath>
                </a14:m>
                <a:r>
                  <a:rPr lang="en-US" altLang="zh-CN" sz="2200" dirty="0"/>
                  <a:t> (</a:t>
                </a:r>
                <a14:m>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𝑚</m:t>
                        </m:r>
                      </m:sup>
                      <m:e>
                        <m:r>
                          <m:rPr>
                            <m:sty m:val="p"/>
                          </m:rPr>
                          <a:rPr lang="en-US" altLang="zh-CN" sz="2200" b="0" i="0" smtClean="0">
                            <a:latin typeface="Cambria Math" panose="02040503050406030204" pitchFamily="18" charset="0"/>
                          </a:rPr>
                          <m:t>log</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e>
                    </m:nary>
                  </m:oMath>
                </a14:m>
                <a:r>
                  <a:rPr lang="en-US" altLang="zh-CN" sz="2200" dirty="0"/>
                  <a:t>)</a:t>
                </a:r>
              </a:p>
            </p:txBody>
          </p:sp>
        </mc:Choice>
        <mc:Fallback xmlns="">
          <p:sp>
            <p:nvSpPr>
              <p:cNvPr id="12" name="TextBox 11">
                <a:extLst>
                  <a:ext uri="{FF2B5EF4-FFF2-40B4-BE49-F238E27FC236}">
                    <a16:creationId xmlns:a16="http://schemas.microsoft.com/office/drawing/2014/main" id="{75F54775-F717-4590-BA91-E2B289388648}"/>
                  </a:ext>
                </a:extLst>
              </p:cNvPr>
              <p:cNvSpPr txBox="1">
                <a:spLocks noRot="1" noChangeAspect="1" noMove="1" noResize="1" noEditPoints="1" noAdjustHandles="1" noChangeArrowheads="1" noChangeShapeType="1" noTextEdit="1"/>
              </p:cNvSpPr>
              <p:nvPr/>
            </p:nvSpPr>
            <p:spPr>
              <a:xfrm>
                <a:off x="76194" y="5189041"/>
                <a:ext cx="8991600" cy="801373"/>
              </a:xfrm>
              <a:prstGeom prst="rect">
                <a:avLst/>
              </a:prstGeom>
              <a:blipFill>
                <a:blip r:embed="rId8"/>
                <a:stretch>
                  <a:fillRect t="-21970" b="-101515"/>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748616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调整</a:t>
            </a:r>
            <a:endParaRPr lang="zh-CN" alt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76200" y="1738728"/>
                <a:ext cx="6444130" cy="792396"/>
              </a:xfrm>
              <a:prstGeom prst="rect">
                <a:avLst/>
              </a:prstGeom>
              <a:noFill/>
            </p:spPr>
            <p:txBody>
              <a:bodyPr wrap="square" rtlCol="0">
                <a:spAutoFit/>
              </a:bodyPr>
              <a:lstStyle/>
              <a:p>
                <a:pPr algn="ctr"/>
                <a:r>
                  <a:rPr lang="zh-CN" altLang="en-US" sz="2200" dirty="0"/>
                  <a:t>注意，即便不会改变分类结果，我们总是能通过把</a:t>
                </a:r>
                <a14:m>
                  <m:oMath xmlns:m="http://schemas.openxmlformats.org/officeDocument/2006/math">
                    <m:r>
                      <a:rPr lang="en-US" altLang="zh-CN" sz="2200" b="1">
                        <a:latin typeface="Cambria Math" panose="02040503050406030204" pitchFamily="18" charset="0"/>
                      </a:rPr>
                      <m:t>𝐰</m:t>
                    </m:r>
                  </m:oMath>
                </a14:m>
                <a:r>
                  <a:rPr lang="zh-CN" altLang="en-US" sz="2200" dirty="0"/>
                  <a:t>和</a:t>
                </a:r>
                <a14:m>
                  <m:oMath xmlns:m="http://schemas.openxmlformats.org/officeDocument/2006/math">
                    <m:r>
                      <a:rPr lang="en-US" altLang="zh-CN" sz="2200" i="1">
                        <a:latin typeface="Cambria Math" panose="02040503050406030204" pitchFamily="18" charset="0"/>
                      </a:rPr>
                      <m:t>𝑏</m:t>
                    </m:r>
                  </m:oMath>
                </a14:m>
                <a:r>
                  <a:rPr lang="zh-CN" altLang="en-US" sz="2200" dirty="0"/>
                  <a:t>乘一个正数使得</a:t>
                </a: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r>
                      <a:rPr lang="en-US" altLang="zh-CN" sz="2200">
                        <a:latin typeface="Cambria Math" panose="02040503050406030204" pitchFamily="18" charset="0"/>
                        <a:ea typeface="Cambria Math" panose="02040503050406030204" pitchFamily="18" charset="0"/>
                      </a:rPr>
                      <m:t>&gt;0.5</m:t>
                    </m:r>
                  </m:oMath>
                </a14:m>
                <a:r>
                  <a:rPr lang="zh-CN" altLang="en-US" sz="2200" dirty="0"/>
                  <a:t>变得更大</a:t>
                </a:r>
                <a:endParaRPr lang="en-US" altLang="zh-CN" sz="2200" dirty="0"/>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76200" y="1738728"/>
                <a:ext cx="6444130" cy="792396"/>
              </a:xfrm>
              <a:prstGeom prst="rect">
                <a:avLst/>
              </a:prstGeom>
              <a:blipFill>
                <a:blip r:embed="rId3"/>
                <a:stretch>
                  <a:fillRect l="-378" t="-6154" r="-473" b="-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862FDC4-E625-4E0D-92C2-508D8F735A57}"/>
                  </a:ext>
                </a:extLst>
              </p:cNvPr>
              <p:cNvSpPr txBox="1"/>
              <p:nvPr/>
            </p:nvSpPr>
            <p:spPr>
              <a:xfrm>
                <a:off x="490143" y="3980039"/>
                <a:ext cx="8163713" cy="430887"/>
              </a:xfrm>
              <a:prstGeom prst="rect">
                <a:avLst/>
              </a:prstGeom>
              <a:noFill/>
            </p:spPr>
            <p:txBody>
              <a:bodyPr wrap="square" rtlCol="0">
                <a:spAutoFit/>
              </a:bodyPr>
              <a:lstStyle/>
              <a:p>
                <a:pPr algn="ctr"/>
                <a:r>
                  <a:rPr lang="zh-CN" altLang="en-US" sz="2200" dirty="0"/>
                  <a:t>现在我们作一个调整，来惩罚大幅度的</a:t>
                </a:r>
                <a14:m>
                  <m:oMath xmlns:m="http://schemas.openxmlformats.org/officeDocument/2006/math">
                    <m:r>
                      <a:rPr lang="en-US" altLang="zh-CN" sz="2200" b="1">
                        <a:latin typeface="Cambria Math" panose="02040503050406030204" pitchFamily="18" charset="0"/>
                      </a:rPr>
                      <m:t>𝐰</m:t>
                    </m:r>
                  </m:oMath>
                </a14:m>
                <a:endParaRPr lang="en-US" altLang="zh-CN" sz="2200" dirty="0"/>
              </a:p>
            </p:txBody>
          </p:sp>
        </mc:Choice>
        <mc:Fallback xmlns="">
          <p:sp>
            <p:nvSpPr>
              <p:cNvPr id="9" name="TextBox 8">
                <a:extLst>
                  <a:ext uri="{FF2B5EF4-FFF2-40B4-BE49-F238E27FC236}">
                    <a16:creationId xmlns:a16="http://schemas.microsoft.com/office/drawing/2014/main" id="{B862FDC4-E625-4E0D-92C2-508D8F735A57}"/>
                  </a:ext>
                </a:extLst>
              </p:cNvPr>
              <p:cNvSpPr txBox="1">
                <a:spLocks noRot="1" noChangeAspect="1" noMove="1" noResize="1" noEditPoints="1" noAdjustHandles="1" noChangeArrowheads="1" noChangeShapeType="1" noTextEdit="1"/>
              </p:cNvSpPr>
              <p:nvPr/>
            </p:nvSpPr>
            <p:spPr>
              <a:xfrm>
                <a:off x="490143" y="3980039"/>
                <a:ext cx="8163713" cy="430887"/>
              </a:xfrm>
              <a:prstGeom prst="rect">
                <a:avLst/>
              </a:prstGeom>
              <a:blipFill>
                <a:blip r:embed="rId4"/>
                <a:stretch>
                  <a:fillRect t="-15493" b="-21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F54775-F717-4590-BA91-E2B289388648}"/>
                  </a:ext>
                </a:extLst>
              </p:cNvPr>
              <p:cNvSpPr txBox="1"/>
              <p:nvPr/>
            </p:nvSpPr>
            <p:spPr>
              <a:xfrm>
                <a:off x="76199" y="4733192"/>
                <a:ext cx="8991600" cy="1355051"/>
              </a:xfrm>
              <a:prstGeom prst="rect">
                <a:avLst/>
              </a:prstGeom>
              <a:noFill/>
            </p:spPr>
            <p:txBody>
              <a:bodyPr wrap="square" rtlCol="0">
                <a:spAutoFit/>
              </a:bodyPr>
              <a:lstStyle/>
              <a:p>
                <a:pPr algn="ctr"/>
                <a:r>
                  <a:rPr lang="zh-CN" altLang="en-US" sz="2200" dirty="0"/>
                  <a:t>最小化</a:t>
                </a:r>
                <a:endParaRPr lang="en-US" altLang="zh-CN" sz="220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𝑚</m:t>
                          </m:r>
                        </m:sup>
                        <m:e>
                          <m:r>
                            <m:rPr>
                              <m:sty m:val="p"/>
                            </m:rPr>
                            <a:rPr lang="en-US" altLang="zh-CN" sz="2200" b="0" i="0" smtClean="0">
                              <a:latin typeface="Cambria Math" panose="02040503050406030204" pitchFamily="18" charset="0"/>
                            </a:rPr>
                            <m:t>log</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e>
                      </m:nary>
                      <m:r>
                        <a:rPr lang="en-US" altLang="zh-CN" sz="2200" i="1">
                          <a:latin typeface="Cambria Math" panose="02040503050406030204" pitchFamily="18" charset="0"/>
                        </a:rPr>
                        <m:t>+</m:t>
                      </m:r>
                      <m:f>
                        <m:fPr>
                          <m:ctrlPr>
                            <a:rPr lang="en-US" altLang="zh-CN" sz="2200" i="1" smtClean="0">
                              <a:solidFill>
                                <a:srgbClr val="FF0000"/>
                              </a:solidFill>
                              <a:latin typeface="Cambria Math" panose="02040503050406030204" pitchFamily="18" charset="0"/>
                            </a:rPr>
                          </m:ctrlPr>
                        </m:fPr>
                        <m:num>
                          <m:r>
                            <a:rPr lang="zh-CN" altLang="en-US" sz="2200" i="1" smtClean="0">
                              <a:solidFill>
                                <a:srgbClr val="FF0000"/>
                              </a:solidFill>
                              <a:latin typeface="Cambria Math" panose="02040503050406030204" pitchFamily="18" charset="0"/>
                            </a:rPr>
                            <m:t>𝜆</m:t>
                          </m:r>
                        </m:num>
                        <m:den>
                          <m:r>
                            <a:rPr lang="en-US" altLang="zh-CN" sz="2200" i="1">
                              <a:solidFill>
                                <a:srgbClr val="FF0000"/>
                              </a:solidFill>
                              <a:latin typeface="Cambria Math" panose="02040503050406030204" pitchFamily="18" charset="0"/>
                            </a:rPr>
                            <m:t>2</m:t>
                          </m:r>
                        </m:den>
                      </m:f>
                      <m:sSup>
                        <m:sSupPr>
                          <m:ctrlPr>
                            <a:rPr lang="en-US" altLang="zh-CN" sz="2200" i="1" smtClean="0">
                              <a:solidFill>
                                <a:srgbClr val="FF0000"/>
                              </a:solidFill>
                              <a:latin typeface="Cambria Math" panose="02040503050406030204" pitchFamily="18" charset="0"/>
                            </a:rPr>
                          </m:ctrlPr>
                        </m:sSupPr>
                        <m:e>
                          <m:d>
                            <m:dPr>
                              <m:begChr m:val="‖"/>
                              <m:endChr m:val="‖"/>
                              <m:ctrlPr>
                                <a:rPr lang="en-US" altLang="zh-CN" sz="2200" i="1" smtClean="0">
                                  <a:solidFill>
                                    <a:srgbClr val="FF0000"/>
                                  </a:solidFill>
                                  <a:latin typeface="Cambria Math" panose="02040503050406030204" pitchFamily="18" charset="0"/>
                                </a:rPr>
                              </m:ctrlPr>
                            </m:dPr>
                            <m:e>
                              <m:r>
                                <a:rPr lang="en-US" altLang="zh-CN" sz="2200" b="1" i="0" smtClean="0">
                                  <a:solidFill>
                                    <a:srgbClr val="FF0000"/>
                                  </a:solidFill>
                                  <a:latin typeface="Cambria Math" panose="02040503050406030204" pitchFamily="18" charset="0"/>
                                </a:rPr>
                                <m:t>𝐰</m:t>
                              </m:r>
                            </m:e>
                          </m:d>
                        </m:e>
                        <m:sup>
                          <m:r>
                            <a:rPr lang="en-US" altLang="zh-CN" sz="2200" i="1">
                              <a:solidFill>
                                <a:srgbClr val="FF0000"/>
                              </a:solidFill>
                              <a:latin typeface="Cambria Math" panose="02040503050406030204" pitchFamily="18" charset="0"/>
                            </a:rPr>
                            <m:t>2</m:t>
                          </m:r>
                        </m:sup>
                      </m:sSup>
                    </m:oMath>
                  </m:oMathPara>
                </a14:m>
                <a:endParaRPr lang="en-US" altLang="zh-CN" sz="2200" dirty="0"/>
              </a:p>
            </p:txBody>
          </p:sp>
        </mc:Choice>
        <mc:Fallback xmlns="">
          <p:sp>
            <p:nvSpPr>
              <p:cNvPr id="12" name="TextBox 11">
                <a:extLst>
                  <a:ext uri="{FF2B5EF4-FFF2-40B4-BE49-F238E27FC236}">
                    <a16:creationId xmlns:a16="http://schemas.microsoft.com/office/drawing/2014/main" id="{75F54775-F717-4590-BA91-E2B289388648}"/>
                  </a:ext>
                </a:extLst>
              </p:cNvPr>
              <p:cNvSpPr txBox="1">
                <a:spLocks noRot="1" noChangeAspect="1" noMove="1" noResize="1" noEditPoints="1" noAdjustHandles="1" noChangeArrowheads="1" noChangeShapeType="1" noTextEdit="1"/>
              </p:cNvSpPr>
              <p:nvPr/>
            </p:nvSpPr>
            <p:spPr>
              <a:xfrm>
                <a:off x="76199" y="4733192"/>
                <a:ext cx="8991600" cy="1355051"/>
              </a:xfrm>
              <a:prstGeom prst="rect">
                <a:avLst/>
              </a:prstGeom>
              <a:blipFill>
                <a:blip r:embed="rId5"/>
                <a:stretch>
                  <a:fillRect t="-4036"/>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AC94FF22-53E0-4906-AAE5-C40A4F96305C}"/>
              </a:ext>
            </a:extLst>
          </p:cNvPr>
          <p:cNvGrpSpPr/>
          <p:nvPr/>
        </p:nvGrpSpPr>
        <p:grpSpPr>
          <a:xfrm>
            <a:off x="6172200" y="1694593"/>
            <a:ext cx="3048264" cy="2301319"/>
            <a:chOff x="5867136" y="1909430"/>
            <a:chExt cx="3048264" cy="2301319"/>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7F68B9EE-3ADF-4ED7-B2EB-9FBECD0E2BD0}"/>
                    </a:ext>
                  </a:extLst>
                </p:cNvPr>
                <p:cNvSpPr/>
                <p:nvPr/>
              </p:nvSpPr>
              <p:spPr>
                <a:xfrm>
                  <a:off x="7021646" y="3841417"/>
                  <a:ext cx="11355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ea typeface="Cambria Math" panose="02040503050406030204" pitchFamily="18" charset="0"/>
                          </a:rPr>
                          <m:t>𝐰</m:t>
                        </m:r>
                        <m:r>
                          <a:rPr lang="en-US" i="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𝐱</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7021646" y="3841417"/>
                  <a:ext cx="1135503" cy="369332"/>
                </a:xfrm>
                <a:prstGeom prst="rect">
                  <a:avLst/>
                </a:prstGeom>
                <a:blipFill rotWithShape="0">
                  <a:blip r:embed="rId8"/>
                  <a:stretch>
                    <a:fillRect/>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3847C0A9-5870-49D5-8AE3-73B23DEC46C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67136" y="1909430"/>
              <a:ext cx="3048264" cy="2032176"/>
            </a:xfrm>
            <a:prstGeom prst="rect">
              <a:avLst/>
            </a:prstGeom>
          </p:spPr>
        </p:pic>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DD87EB5-66A3-42F3-B22B-3A5431BE588D}"/>
                    </a:ext>
                  </a:extLst>
                </p:cNvPr>
                <p:cNvSpPr/>
                <p:nvPr/>
              </p:nvSpPr>
              <p:spPr>
                <a:xfrm>
                  <a:off x="6139066" y="2136913"/>
                  <a:ext cx="13517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=1</m:t>
                            </m:r>
                          </m:e>
                          <m:e>
                            <m:r>
                              <a:rPr lang="en-US" b="1">
                                <a:latin typeface="Cambria Math" panose="02040503050406030204" pitchFamily="18" charset="0"/>
                                <a:ea typeface="Cambria Math" panose="02040503050406030204" pitchFamily="18" charset="0"/>
                              </a:rPr>
                              <m:t>𝐱</m:t>
                            </m:r>
                          </m:e>
                        </m:d>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6139066" y="2136913"/>
                  <a:ext cx="1351780" cy="369332"/>
                </a:xfrm>
                <a:prstGeom prst="rect">
                  <a:avLst/>
                </a:prstGeom>
                <a:blipFill rotWithShape="0">
                  <a:blip r:embed="rId10"/>
                  <a:stretch>
                    <a:fillRect b="-8333"/>
                  </a:stretch>
                </a:blipFill>
              </p:spPr>
              <p:txBody>
                <a:bodyPr/>
                <a:lstStyle/>
                <a:p>
                  <a:r>
                    <a:rPr lang="en-US">
                      <a:noFill/>
                    </a:rPr>
                    <a:t> </a:t>
                  </a:r>
                </a:p>
              </p:txBody>
            </p:sp>
          </mc:Fallback>
        </mc:AlternateContent>
      </p:grpSp>
      <p:sp>
        <p:nvSpPr>
          <p:cNvPr id="17" name="TextBox 16">
            <a:extLst>
              <a:ext uri="{FF2B5EF4-FFF2-40B4-BE49-F238E27FC236}">
                <a16:creationId xmlns:a16="http://schemas.microsoft.com/office/drawing/2014/main" id="{B13B1D66-D086-4A65-995C-D8AC87436745}"/>
              </a:ext>
            </a:extLst>
          </p:cNvPr>
          <p:cNvSpPr txBox="1"/>
          <p:nvPr/>
        </p:nvSpPr>
        <p:spPr>
          <a:xfrm>
            <a:off x="7010400" y="5334000"/>
            <a:ext cx="2057664" cy="430887"/>
          </a:xfrm>
          <a:prstGeom prst="rect">
            <a:avLst/>
          </a:prstGeom>
          <a:noFill/>
        </p:spPr>
        <p:txBody>
          <a:bodyPr wrap="square" rtlCol="0">
            <a:spAutoFit/>
          </a:bodyPr>
          <a:lstStyle/>
          <a:p>
            <a:pPr algn="ctr"/>
            <a:r>
              <a:rPr lang="zh-CN" altLang="en-US" sz="2200" dirty="0"/>
              <a:t>调整项</a:t>
            </a:r>
            <a:endParaRPr lang="en-US" altLang="zh-CN" sz="2200" dirty="0"/>
          </a:p>
        </p:txBody>
      </p:sp>
      <p:sp>
        <p:nvSpPr>
          <p:cNvPr id="5" name="Rectangle 4">
            <a:extLst>
              <a:ext uri="{FF2B5EF4-FFF2-40B4-BE49-F238E27FC236}">
                <a16:creationId xmlns:a16="http://schemas.microsoft.com/office/drawing/2014/main" id="{2D9C3580-E454-4750-98B1-90754F683F15}"/>
              </a:ext>
            </a:extLst>
          </p:cNvPr>
          <p:cNvSpPr/>
          <p:nvPr/>
        </p:nvSpPr>
        <p:spPr bwMode="auto">
          <a:xfrm>
            <a:off x="5410200" y="5163407"/>
            <a:ext cx="957730" cy="76944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8" name="Straight Arrow Connector 7">
            <a:extLst>
              <a:ext uri="{FF2B5EF4-FFF2-40B4-BE49-F238E27FC236}">
                <a16:creationId xmlns:a16="http://schemas.microsoft.com/office/drawing/2014/main" id="{B896EBA2-1D8D-48EC-ADE4-0344305FAE9F}"/>
              </a:ext>
            </a:extLst>
          </p:cNvPr>
          <p:cNvCxnSpPr>
            <a:cxnSpLocks/>
            <a:stCxn id="17" idx="1"/>
            <a:endCxn id="5" idx="3"/>
          </p:cNvCxnSpPr>
          <p:nvPr/>
        </p:nvCxnSpPr>
        <p:spPr bwMode="auto">
          <a:xfrm flipH="1" flipV="1">
            <a:off x="6367930" y="5548128"/>
            <a:ext cx="642470" cy="13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341241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P spid="12" grpId="0"/>
      <p:bldP spid="17" grpId="0"/>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学习问题</a:t>
            </a:r>
            <a:endParaRPr lang="zh-CN" altLang="en-US"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F54775-F717-4590-BA91-E2B289388648}"/>
                  </a:ext>
                </a:extLst>
              </p:cNvPr>
              <p:cNvSpPr txBox="1"/>
              <p:nvPr/>
            </p:nvSpPr>
            <p:spPr>
              <a:xfrm>
                <a:off x="952498" y="2197443"/>
                <a:ext cx="7239001" cy="1355051"/>
              </a:xfrm>
              <a:prstGeom prst="rect">
                <a:avLst/>
              </a:prstGeom>
              <a:noFill/>
            </p:spPr>
            <p:txBody>
              <a:bodyPr wrap="square" rtlCol="0">
                <a:spAutoFit/>
              </a:bodyPr>
              <a:lstStyle/>
              <a:p>
                <a:pPr algn="ctr"/>
                <a:r>
                  <a:rPr lang="zh-CN" altLang="en-US" sz="2200" dirty="0"/>
                  <a:t>最小化这个损失函数</a:t>
                </a:r>
                <a:endParaRPr lang="en-US" altLang="zh-CN" sz="2200" i="1" dirty="0">
                  <a:latin typeface="Cambria Math" panose="02040503050406030204"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𝑚</m:t>
                          </m:r>
                        </m:sup>
                        <m:e>
                          <m:r>
                            <m:rPr>
                              <m:sty m:val="p"/>
                            </m:rPr>
                            <a:rPr lang="en-US" altLang="zh-CN" sz="2200" b="0" i="0" smtClean="0">
                              <a:latin typeface="Cambria Math" panose="02040503050406030204" pitchFamily="18" charset="0"/>
                            </a:rPr>
                            <m:t>log</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1"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e>
                      </m:nary>
                      <m:r>
                        <a:rPr lang="en-US" altLang="zh-CN" sz="2200" i="1">
                          <a:latin typeface="Cambria Math" panose="02040503050406030204" pitchFamily="18" charset="0"/>
                        </a:rPr>
                        <m:t>+</m:t>
                      </m:r>
                      <m:f>
                        <m:fPr>
                          <m:ctrlPr>
                            <a:rPr lang="en-US" altLang="zh-CN" sz="2200" i="1" smtClean="0">
                              <a:solidFill>
                                <a:schemeClr val="tx1"/>
                              </a:solidFill>
                              <a:latin typeface="Cambria Math" panose="02040503050406030204" pitchFamily="18" charset="0"/>
                            </a:rPr>
                          </m:ctrlPr>
                        </m:fPr>
                        <m:num>
                          <m:r>
                            <a:rPr lang="zh-CN" altLang="en-US" sz="2200" i="1" smtClean="0">
                              <a:solidFill>
                                <a:schemeClr val="tx1"/>
                              </a:solidFill>
                              <a:latin typeface="Cambria Math" panose="02040503050406030204" pitchFamily="18" charset="0"/>
                            </a:rPr>
                            <m:t>𝜆</m:t>
                          </m:r>
                        </m:num>
                        <m:den>
                          <m:r>
                            <a:rPr lang="en-US" altLang="zh-CN" sz="2200" i="1">
                              <a:solidFill>
                                <a:schemeClr val="tx1"/>
                              </a:solidFill>
                              <a:latin typeface="Cambria Math" panose="02040503050406030204" pitchFamily="18" charset="0"/>
                            </a:rPr>
                            <m:t>2</m:t>
                          </m:r>
                        </m:den>
                      </m:f>
                      <m:sSup>
                        <m:sSupPr>
                          <m:ctrlPr>
                            <a:rPr lang="en-US" altLang="zh-CN" sz="2200" i="1" smtClean="0">
                              <a:solidFill>
                                <a:schemeClr val="tx1"/>
                              </a:solidFill>
                              <a:latin typeface="Cambria Math" panose="02040503050406030204" pitchFamily="18" charset="0"/>
                            </a:rPr>
                          </m:ctrlPr>
                        </m:sSupPr>
                        <m:e>
                          <m:d>
                            <m:dPr>
                              <m:begChr m:val="‖"/>
                              <m:endChr m:val="‖"/>
                              <m:ctrlPr>
                                <a:rPr lang="en-US" altLang="zh-CN" sz="2200" i="1" smtClean="0">
                                  <a:solidFill>
                                    <a:schemeClr val="tx1"/>
                                  </a:solidFill>
                                  <a:latin typeface="Cambria Math" panose="02040503050406030204" pitchFamily="18" charset="0"/>
                                </a:rPr>
                              </m:ctrlPr>
                            </m:dPr>
                            <m:e>
                              <m:r>
                                <a:rPr lang="en-US" altLang="zh-CN" sz="2200" b="1" i="0" smtClean="0">
                                  <a:solidFill>
                                    <a:schemeClr val="tx1"/>
                                  </a:solidFill>
                                  <a:latin typeface="Cambria Math" panose="02040503050406030204" pitchFamily="18" charset="0"/>
                                </a:rPr>
                                <m:t>𝐰</m:t>
                              </m:r>
                            </m:e>
                          </m:d>
                        </m:e>
                        <m:sup>
                          <m:r>
                            <a:rPr lang="en-US" altLang="zh-CN" sz="2200" i="1">
                              <a:solidFill>
                                <a:schemeClr val="tx1"/>
                              </a:solidFill>
                              <a:latin typeface="Cambria Math" panose="02040503050406030204" pitchFamily="18" charset="0"/>
                            </a:rPr>
                            <m:t>2</m:t>
                          </m:r>
                        </m:sup>
                      </m:sSup>
                    </m:oMath>
                  </m:oMathPara>
                </a14:m>
                <a:endParaRPr lang="en-US" altLang="zh-CN" sz="2200" dirty="0"/>
              </a:p>
            </p:txBody>
          </p:sp>
        </mc:Choice>
        <mc:Fallback xmlns="">
          <p:sp>
            <p:nvSpPr>
              <p:cNvPr id="12" name="TextBox 11">
                <a:extLst>
                  <a:ext uri="{FF2B5EF4-FFF2-40B4-BE49-F238E27FC236}">
                    <a16:creationId xmlns:a16="http://schemas.microsoft.com/office/drawing/2014/main" id="{75F54775-F717-4590-BA91-E2B289388648}"/>
                  </a:ext>
                </a:extLst>
              </p:cNvPr>
              <p:cNvSpPr txBox="1">
                <a:spLocks noRot="1" noChangeAspect="1" noMove="1" noResize="1" noEditPoints="1" noAdjustHandles="1" noChangeArrowheads="1" noChangeShapeType="1" noTextEdit="1"/>
              </p:cNvSpPr>
              <p:nvPr/>
            </p:nvSpPr>
            <p:spPr>
              <a:xfrm>
                <a:off x="952498" y="2197443"/>
                <a:ext cx="7239001" cy="1355051"/>
              </a:xfrm>
              <a:prstGeom prst="rect">
                <a:avLst/>
              </a:prstGeom>
              <a:blipFill>
                <a:blip r:embed="rId3"/>
                <a:stretch>
                  <a:fillRect t="-40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DA5812F9-4E4C-44F4-9295-9648ABE1666C}"/>
                  </a:ext>
                </a:extLst>
              </p:cNvPr>
              <p:cNvSpPr/>
              <p:nvPr/>
            </p:nvSpPr>
            <p:spPr>
              <a:xfrm>
                <a:off x="4066989" y="1460157"/>
                <a:ext cx="1010020" cy="769441"/>
              </a:xfrm>
              <a:prstGeom prst="rect">
                <a:avLst/>
              </a:prstGeom>
            </p:spPr>
            <p:txBody>
              <a:bodyPr wrap="none">
                <a:spAutoFit/>
              </a:bodyPr>
              <a:lstStyle/>
              <a:p>
                <a:pPr algn="ctr"/>
                <a:r>
                  <a:rPr lang="zh-CN" altLang="en-US" sz="2200"/>
                  <a:t>找</a:t>
                </a:r>
                <a:r>
                  <a:rPr lang="zh-CN" altLang="en-US" sz="2200" dirty="0"/>
                  <a:t>到</a:t>
                </a:r>
                <a:endParaRPr lang="en-US" altLang="zh-CN" sz="2200" dirty="0"/>
              </a:p>
              <a:p>
                <a:pPr algn="ctr"/>
                <a14:m>
                  <m:oMath xmlns:m="http://schemas.openxmlformats.org/officeDocument/2006/math">
                    <m:r>
                      <a:rPr lang="en-US" altLang="zh-CN" sz="2200" b="1">
                        <a:latin typeface="Cambria Math" panose="02040503050406030204" pitchFamily="18" charset="0"/>
                      </a:rPr>
                      <m:t>𝐰</m:t>
                    </m:r>
                  </m:oMath>
                </a14:m>
                <a:r>
                  <a:rPr lang="en-US" altLang="zh-CN" sz="2200" dirty="0"/>
                  <a:t> &amp; </a:t>
                </a:r>
                <a14:m>
                  <m:oMath xmlns:m="http://schemas.openxmlformats.org/officeDocument/2006/math">
                    <m:r>
                      <a:rPr lang="en-US" altLang="zh-CN" sz="2200" i="1">
                        <a:latin typeface="Cambria Math" panose="02040503050406030204" pitchFamily="18" charset="0"/>
                      </a:rPr>
                      <m:t>𝑏</m:t>
                    </m:r>
                  </m:oMath>
                </a14:m>
                <a:r>
                  <a:rPr lang="en-US" altLang="zh-CN" sz="2200" dirty="0"/>
                  <a:t> </a:t>
                </a:r>
                <a:endParaRPr lang="zh-CN" altLang="en-US" sz="2200" dirty="0"/>
              </a:p>
            </p:txBody>
          </p:sp>
        </mc:Choice>
        <mc:Fallback>
          <p:sp>
            <p:nvSpPr>
              <p:cNvPr id="3" name="Rectangle 2">
                <a:extLst>
                  <a:ext uri="{FF2B5EF4-FFF2-40B4-BE49-F238E27FC236}">
                    <a16:creationId xmlns:a16="http://schemas.microsoft.com/office/drawing/2014/main" id="{DA5812F9-4E4C-44F4-9295-9648ABE1666C}"/>
                  </a:ext>
                </a:extLst>
              </p:cNvPr>
              <p:cNvSpPr>
                <a:spLocks noRot="1" noChangeAspect="1" noMove="1" noResize="1" noEditPoints="1" noAdjustHandles="1" noChangeArrowheads="1" noChangeShapeType="1" noTextEdit="1"/>
              </p:cNvSpPr>
              <p:nvPr/>
            </p:nvSpPr>
            <p:spPr>
              <a:xfrm>
                <a:off x="4066989" y="1460157"/>
                <a:ext cx="1010020" cy="769441"/>
              </a:xfrm>
              <a:prstGeom prst="rect">
                <a:avLst/>
              </a:prstGeom>
              <a:blipFill>
                <a:blip r:embed="rId4"/>
                <a:stretch>
                  <a:fillRect t="-8730" b="-150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7E376C-B886-4225-AE46-4D74162970B0}"/>
                  </a:ext>
                </a:extLst>
              </p:cNvPr>
              <p:cNvSpPr txBox="1"/>
              <p:nvPr/>
            </p:nvSpPr>
            <p:spPr>
              <a:xfrm>
                <a:off x="38098" y="3997404"/>
                <a:ext cx="9067800" cy="769441"/>
              </a:xfrm>
              <a:prstGeom prst="rect">
                <a:avLst/>
              </a:prstGeom>
              <a:noFill/>
            </p:spPr>
            <p:txBody>
              <a:bodyPr wrap="square" rtlCol="0">
                <a:spAutoFit/>
              </a:bodyPr>
              <a:lstStyle/>
              <a:p>
                <a:pPr algn="ctr"/>
                <a:r>
                  <a:rPr lang="zh-CN" altLang="en-US" sz="2200" dirty="0"/>
                  <a:t>我们用一个简单的</a:t>
                </a:r>
                <a:r>
                  <a:rPr lang="en-US" altLang="zh-CN" sz="2200" dirty="0"/>
                  <a:t>1</a:t>
                </a:r>
                <a:r>
                  <a:rPr lang="zh-CN" altLang="en-US" sz="2200" dirty="0"/>
                  <a:t>个属性的问题作为例子</a:t>
                </a:r>
                <a:endParaRPr lang="en-US" altLang="zh-CN" sz="2200" i="1" dirty="0">
                  <a:latin typeface="Cambria Math" panose="02040503050406030204" pitchFamily="18" charset="0"/>
                </a:endParaRPr>
              </a:p>
              <a:p>
                <a:pPr algn="ct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−3</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ea typeface="Cambria Math" panose="02040503050406030204" pitchFamily="18" charset="0"/>
                      </a:rPr>
                      <m:t>≤3</m:t>
                    </m:r>
                  </m:oMath>
                </a14:m>
                <a:r>
                  <a:rPr lang="en-US" altLang="zh-CN" sz="2200" dirty="0"/>
                  <a:t>,   </a:t>
                </a: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ea typeface="Cambria Math" panose="02040503050406030204" pitchFamily="18" charset="0"/>
                      </a:rPr>
                      <m:t>≥−1→</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ea typeface="Cambria Math" panose="02040503050406030204" pitchFamily="18" charset="0"/>
                      </a:rPr>
                      <m:t>&lt;−1→</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=0</m:t>
                    </m:r>
                  </m:oMath>
                </a14:m>
                <a:endParaRPr lang="zh-CN" altLang="en-US" sz="2200" dirty="0"/>
              </a:p>
            </p:txBody>
          </p:sp>
        </mc:Choice>
        <mc:Fallback xmlns="">
          <p:sp>
            <p:nvSpPr>
              <p:cNvPr id="18" name="TextBox 17">
                <a:extLst>
                  <a:ext uri="{FF2B5EF4-FFF2-40B4-BE49-F238E27FC236}">
                    <a16:creationId xmlns:a16="http://schemas.microsoft.com/office/drawing/2014/main" id="{0F7E376C-B886-4225-AE46-4D74162970B0}"/>
                  </a:ext>
                </a:extLst>
              </p:cNvPr>
              <p:cNvSpPr txBox="1">
                <a:spLocks noRot="1" noChangeAspect="1" noMove="1" noResize="1" noEditPoints="1" noAdjustHandles="1" noChangeArrowheads="1" noChangeShapeType="1" noTextEdit="1"/>
              </p:cNvSpPr>
              <p:nvPr/>
            </p:nvSpPr>
            <p:spPr>
              <a:xfrm>
                <a:off x="38098" y="3997404"/>
                <a:ext cx="9067800" cy="769441"/>
              </a:xfrm>
              <a:prstGeom prst="rect">
                <a:avLst/>
              </a:prstGeom>
              <a:blipFill>
                <a:blip r:embed="rId7"/>
                <a:stretch>
                  <a:fillRect t="-8730" b="-15079"/>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638F31B1-E78F-448F-9EED-189759AF9E21}"/>
              </a:ext>
            </a:extLst>
          </p:cNvPr>
          <p:cNvSpPr/>
          <p:nvPr/>
        </p:nvSpPr>
        <p:spPr>
          <a:xfrm>
            <a:off x="3427361" y="3531513"/>
            <a:ext cx="2441694" cy="430887"/>
          </a:xfrm>
          <a:prstGeom prst="rect">
            <a:avLst/>
          </a:prstGeom>
        </p:spPr>
        <p:txBody>
          <a:bodyPr wrap="none">
            <a:spAutoFit/>
          </a:bodyPr>
          <a:lstStyle/>
          <a:p>
            <a:pPr algn="ctr"/>
            <a:r>
              <a:rPr lang="zh-CN" altLang="en-US" sz="2200" dirty="0"/>
              <a:t>怎么解这个问题？</a:t>
            </a:r>
          </a:p>
        </p:txBody>
      </p:sp>
      <p:pic>
        <p:nvPicPr>
          <p:cNvPr id="21" name="Picture 20">
            <a:extLst>
              <a:ext uri="{FF2B5EF4-FFF2-40B4-BE49-F238E27FC236}">
                <a16:creationId xmlns:a16="http://schemas.microsoft.com/office/drawing/2014/main" id="{13D9B958-FF64-4963-B513-6379A5C25A25}"/>
              </a:ext>
            </a:extLst>
          </p:cNvPr>
          <p:cNvPicPr>
            <a:picLocks noChangeAspect="1"/>
          </p:cNvPicPr>
          <p:nvPr/>
        </p:nvPicPr>
        <p:blipFill>
          <a:blip r:embed="rId8"/>
          <a:stretch>
            <a:fillRect/>
          </a:stretch>
        </p:blipFill>
        <p:spPr>
          <a:xfrm>
            <a:off x="3045344" y="5125728"/>
            <a:ext cx="3053307" cy="1130267"/>
          </a:xfrm>
          <a:prstGeom prst="rect">
            <a:avLst/>
          </a:prstGeom>
        </p:spPr>
      </p:pic>
    </p:spTree>
    <p:custDataLst>
      <p:tags r:id="rId1"/>
    </p:custDataLst>
    <p:extLst>
      <p:ext uri="{BB962C8B-B14F-4D97-AF65-F5344CB8AC3E}">
        <p14:creationId xmlns:p14="http://schemas.microsoft.com/office/powerpoint/2010/main" val="96387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p:bldP spid="18" grpId="0"/>
      <p:bldP spid="1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70C32E6-5095-454F-861A-0F6E7A8931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196" y="2369641"/>
            <a:ext cx="3657607" cy="36576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如何学习</a:t>
            </a:r>
            <a:endParaRPr lang="zh-CN" altLang="en-US" dirty="0"/>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F52460D-499E-4E94-B92A-9366131584DA}"/>
                  </a:ext>
                </a:extLst>
              </p:cNvPr>
              <p:cNvSpPr/>
              <p:nvPr/>
            </p:nvSpPr>
            <p:spPr>
              <a:xfrm>
                <a:off x="2969416" y="1600200"/>
                <a:ext cx="3205173" cy="430887"/>
              </a:xfrm>
              <a:prstGeom prst="rect">
                <a:avLst/>
              </a:prstGeom>
            </p:spPr>
            <p:txBody>
              <a:bodyPr wrap="none">
                <a:spAutoFit/>
              </a:bodyPr>
              <a:lstStyle/>
              <a:p>
                <a:pPr algn="ctr"/>
                <a:r>
                  <a:rPr lang="zh-CN" altLang="en-US" sz="2200" dirty="0"/>
                  <a:t>损失函数随着</a:t>
                </a: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oMath>
                </a14:m>
                <a:r>
                  <a:rPr lang="zh-CN" altLang="en-US" sz="2200" dirty="0"/>
                  <a:t>和</a:t>
                </a:r>
                <a14:m>
                  <m:oMath xmlns:m="http://schemas.openxmlformats.org/officeDocument/2006/math">
                    <m:r>
                      <a:rPr lang="en-US" altLang="zh-CN" sz="2200" i="1">
                        <a:latin typeface="Cambria Math" panose="02040503050406030204" pitchFamily="18" charset="0"/>
                      </a:rPr>
                      <m:t>𝑏</m:t>
                    </m:r>
                  </m:oMath>
                </a14:m>
                <a:r>
                  <a:rPr lang="zh-CN" altLang="en-US" sz="2200" dirty="0"/>
                  <a:t>而变</a:t>
                </a:r>
              </a:p>
            </p:txBody>
          </p:sp>
        </mc:Choice>
        <mc:Fallback xmlns="">
          <p:sp>
            <p:nvSpPr>
              <p:cNvPr id="10" name="Rectangle 9">
                <a:extLst>
                  <a:ext uri="{FF2B5EF4-FFF2-40B4-BE49-F238E27FC236}">
                    <a16:creationId xmlns:a16="http://schemas.microsoft.com/office/drawing/2014/main" id="{EF52460D-499E-4E94-B92A-9366131584DA}"/>
                  </a:ext>
                </a:extLst>
              </p:cNvPr>
              <p:cNvSpPr>
                <a:spLocks noRot="1" noChangeAspect="1" noMove="1" noResize="1" noEditPoints="1" noAdjustHandles="1" noChangeArrowheads="1" noChangeShapeType="1" noTextEdit="1"/>
              </p:cNvSpPr>
              <p:nvPr/>
            </p:nvSpPr>
            <p:spPr>
              <a:xfrm>
                <a:off x="2969416" y="1600200"/>
                <a:ext cx="3205173" cy="430887"/>
              </a:xfrm>
              <a:prstGeom prst="rect">
                <a:avLst/>
              </a:prstGeom>
              <a:blipFill>
                <a:blip r:embed="rId4"/>
                <a:stretch>
                  <a:fillRect l="-2091" t="-15714" r="-2091" b="-22857"/>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C402C94E-9F66-4D61-9FA8-5B907B2D1195}"/>
              </a:ext>
            </a:extLst>
          </p:cNvPr>
          <p:cNvSpPr/>
          <p:nvPr/>
        </p:nvSpPr>
        <p:spPr>
          <a:xfrm>
            <a:off x="6619781" y="2146315"/>
            <a:ext cx="1789492" cy="769441"/>
          </a:xfrm>
          <a:prstGeom prst="rect">
            <a:avLst/>
          </a:prstGeom>
        </p:spPr>
        <p:txBody>
          <a:bodyPr wrap="square">
            <a:spAutoFit/>
          </a:bodyPr>
          <a:lstStyle/>
          <a:p>
            <a:pPr algn="ctr"/>
            <a:r>
              <a:rPr lang="zh-CN" altLang="en-US" sz="2200" dirty="0"/>
              <a:t>最小值在这里附近</a:t>
            </a:r>
          </a:p>
        </p:txBody>
      </p:sp>
      <p:cxnSp>
        <p:nvCxnSpPr>
          <p:cNvPr id="8" name="Straight Arrow Connector 7">
            <a:extLst>
              <a:ext uri="{FF2B5EF4-FFF2-40B4-BE49-F238E27FC236}">
                <a16:creationId xmlns:a16="http://schemas.microsoft.com/office/drawing/2014/main" id="{A9835366-D3FA-424D-ADBD-8529B3E63BDE}"/>
              </a:ext>
            </a:extLst>
          </p:cNvPr>
          <p:cNvCxnSpPr>
            <a:cxnSpLocks/>
          </p:cNvCxnSpPr>
          <p:nvPr/>
        </p:nvCxnSpPr>
        <p:spPr bwMode="auto">
          <a:xfrm flipH="1">
            <a:off x="5071533" y="2895600"/>
            <a:ext cx="1537954" cy="1905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132008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84E3AB9-6F5E-4393-BDEA-E83D80D57F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196" y="2369641"/>
            <a:ext cx="3657607" cy="36576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如何学习</a:t>
            </a:r>
            <a:endParaRPr lang="zh-CN" altLang="en-US" dirty="0"/>
          </a:p>
        </p:txBody>
      </p:sp>
      <p:sp>
        <p:nvSpPr>
          <p:cNvPr id="10" name="Rectangle 9">
            <a:extLst>
              <a:ext uri="{FF2B5EF4-FFF2-40B4-BE49-F238E27FC236}">
                <a16:creationId xmlns:a16="http://schemas.microsoft.com/office/drawing/2014/main" id="{EF52460D-499E-4E94-B92A-9366131584DA}"/>
              </a:ext>
            </a:extLst>
          </p:cNvPr>
          <p:cNvSpPr/>
          <p:nvPr/>
        </p:nvSpPr>
        <p:spPr>
          <a:xfrm>
            <a:off x="3210093" y="1600200"/>
            <a:ext cx="2723823" cy="430887"/>
          </a:xfrm>
          <a:prstGeom prst="rect">
            <a:avLst/>
          </a:prstGeom>
        </p:spPr>
        <p:txBody>
          <a:bodyPr wrap="none">
            <a:spAutoFit/>
          </a:bodyPr>
          <a:lstStyle/>
          <a:p>
            <a:pPr algn="ctr"/>
            <a:r>
              <a:rPr lang="zh-CN" altLang="en-US" sz="2200" dirty="0"/>
              <a:t>解决方法：梯度下降</a:t>
            </a:r>
          </a:p>
        </p:txBody>
      </p:sp>
      <p:sp>
        <p:nvSpPr>
          <p:cNvPr id="11" name="Rectangle 10">
            <a:extLst>
              <a:ext uri="{FF2B5EF4-FFF2-40B4-BE49-F238E27FC236}">
                <a16:creationId xmlns:a16="http://schemas.microsoft.com/office/drawing/2014/main" id="{C402C94E-9F66-4D61-9FA8-5B907B2D1195}"/>
              </a:ext>
            </a:extLst>
          </p:cNvPr>
          <p:cNvSpPr/>
          <p:nvPr/>
        </p:nvSpPr>
        <p:spPr>
          <a:xfrm>
            <a:off x="457200" y="2369641"/>
            <a:ext cx="2454789" cy="430887"/>
          </a:xfrm>
          <a:prstGeom prst="rect">
            <a:avLst/>
          </a:prstGeom>
        </p:spPr>
        <p:txBody>
          <a:bodyPr wrap="square">
            <a:spAutoFit/>
          </a:bodyPr>
          <a:lstStyle/>
          <a:p>
            <a:pPr algn="ctr"/>
            <a:r>
              <a:rPr lang="zh-CN" altLang="en-US" sz="2200" dirty="0"/>
              <a:t>从这里开始</a:t>
            </a:r>
          </a:p>
        </p:txBody>
      </p:sp>
      <p:cxnSp>
        <p:nvCxnSpPr>
          <p:cNvPr id="8" name="Straight Arrow Connector 7">
            <a:extLst>
              <a:ext uri="{FF2B5EF4-FFF2-40B4-BE49-F238E27FC236}">
                <a16:creationId xmlns:a16="http://schemas.microsoft.com/office/drawing/2014/main" id="{A9835366-D3FA-424D-ADBD-8529B3E63BDE}"/>
              </a:ext>
            </a:extLst>
          </p:cNvPr>
          <p:cNvCxnSpPr>
            <a:cxnSpLocks/>
            <a:stCxn id="11" idx="2"/>
          </p:cNvCxnSpPr>
          <p:nvPr/>
        </p:nvCxnSpPr>
        <p:spPr bwMode="auto">
          <a:xfrm>
            <a:off x="1684595" y="2800528"/>
            <a:ext cx="1668205" cy="16878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B7EAF3C1-C0F9-4CBD-BC0C-C9C4984A8E1E}"/>
              </a:ext>
            </a:extLst>
          </p:cNvPr>
          <p:cNvCxnSpPr/>
          <p:nvPr/>
        </p:nvCxnSpPr>
        <p:spPr bwMode="auto">
          <a:xfrm>
            <a:off x="3352800" y="4465327"/>
            <a:ext cx="383822" cy="117507"/>
          </a:xfrm>
          <a:prstGeom prst="straightConnector1">
            <a:avLst/>
          </a:prstGeom>
          <a:solidFill>
            <a:schemeClr val="accent1"/>
          </a:solidFill>
          <a:ln w="22225" cap="flat" cmpd="sng" algn="ctr">
            <a:solidFill>
              <a:srgbClr val="C000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DC37E06F-DB61-4BF8-8A08-54828BE0BC0F}"/>
                  </a:ext>
                </a:extLst>
              </p:cNvPr>
              <p:cNvSpPr/>
              <p:nvPr/>
            </p:nvSpPr>
            <p:spPr>
              <a:xfrm>
                <a:off x="533400" y="4011785"/>
                <a:ext cx="2378589" cy="1446550"/>
              </a:xfrm>
              <a:prstGeom prst="rect">
                <a:avLst/>
              </a:prstGeom>
            </p:spPr>
            <p:txBody>
              <a:bodyPr wrap="square">
                <a:spAutoFit/>
              </a:bodyPr>
              <a:lstStyle/>
              <a:p>
                <a:pPr algn="ctr"/>
                <a:r>
                  <a:rPr lang="zh-CN" altLang="en-US" sz="2200" dirty="0"/>
                  <a:t>找到一个损失函数降低最多的方向（</a:t>
                </a:r>
                <a:r>
                  <a:rPr lang="zh-CN" altLang="en-US" sz="2200" dirty="0">
                    <a:solidFill>
                      <a:srgbClr val="C00000"/>
                    </a:solidFill>
                  </a:rPr>
                  <a:t>梯度</a:t>
                </a:r>
                <a:r>
                  <a:rPr lang="zh-CN" altLang="en-US" sz="2200" dirty="0"/>
                  <a:t>）</a:t>
                </a:r>
                <a:endParaRPr lang="en-US" altLang="zh-CN" sz="2200" dirty="0"/>
              </a:p>
              <a:p>
                <a:pPr algn="ctr"/>
                <a14:m>
                  <m:oMath xmlns:m="http://schemas.openxmlformats.org/officeDocument/2006/math">
                    <m:r>
                      <m:rPr>
                        <m:sty m:val="p"/>
                      </m:rPr>
                      <a:rPr lang="el-GR" altLang="zh-CN" sz="2200" i="1" smtClean="0">
                        <a:latin typeface="Cambria Math" panose="02040503050406030204" pitchFamily="18" charset="0"/>
                        <a:ea typeface="Cambria Math" panose="02040503050406030204" pitchFamily="18" charset="0"/>
                      </a:rPr>
                      <m:t>Δ</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oMath>
                </a14:m>
                <a:r>
                  <a:rPr lang="en-US" altLang="zh-CN" sz="2200" dirty="0"/>
                  <a:t> &amp; </a:t>
                </a:r>
                <a14:m>
                  <m:oMath xmlns:m="http://schemas.openxmlformats.org/officeDocument/2006/math">
                    <m:r>
                      <m:rPr>
                        <m:sty m:val="p"/>
                      </m:rPr>
                      <a:rPr lang="el-GR" altLang="zh-CN" sz="2200" i="1">
                        <a:latin typeface="Cambria Math" panose="02040503050406030204" pitchFamily="18" charset="0"/>
                        <a:ea typeface="Cambria Math" panose="02040503050406030204" pitchFamily="18" charset="0"/>
                      </a:rPr>
                      <m:t>Δ</m:t>
                    </m:r>
                    <m:r>
                      <a:rPr lang="en-US" altLang="zh-CN" sz="2200" i="1">
                        <a:latin typeface="Cambria Math" panose="02040503050406030204" pitchFamily="18" charset="0"/>
                      </a:rPr>
                      <m:t>𝑏</m:t>
                    </m:r>
                  </m:oMath>
                </a14:m>
                <a:endParaRPr lang="zh-CN" altLang="en-US" sz="2200" dirty="0"/>
              </a:p>
            </p:txBody>
          </p:sp>
        </mc:Choice>
        <mc:Fallback xmlns="">
          <p:sp>
            <p:nvSpPr>
              <p:cNvPr id="21" name="Rectangle 20">
                <a:extLst>
                  <a:ext uri="{FF2B5EF4-FFF2-40B4-BE49-F238E27FC236}">
                    <a16:creationId xmlns:a16="http://schemas.microsoft.com/office/drawing/2014/main" id="{DC37E06F-DB61-4BF8-8A08-54828BE0BC0F}"/>
                  </a:ext>
                </a:extLst>
              </p:cNvPr>
              <p:cNvSpPr>
                <a:spLocks noRot="1" noChangeAspect="1" noMove="1" noResize="1" noEditPoints="1" noAdjustHandles="1" noChangeArrowheads="1" noChangeShapeType="1" noTextEdit="1"/>
              </p:cNvSpPr>
              <p:nvPr/>
            </p:nvSpPr>
            <p:spPr>
              <a:xfrm>
                <a:off x="533400" y="4011785"/>
                <a:ext cx="2378589" cy="1446550"/>
              </a:xfrm>
              <a:prstGeom prst="rect">
                <a:avLst/>
              </a:prstGeom>
              <a:blipFill>
                <a:blip r:embed="rId4"/>
                <a:stretch>
                  <a:fillRect t="-3376" b="-8017"/>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60A5EB6D-C571-456E-82EE-508B85A943DD}"/>
              </a:ext>
            </a:extLst>
          </p:cNvPr>
          <p:cNvCxnSpPr>
            <a:cxnSpLocks/>
            <a:stCxn id="21" idx="3"/>
          </p:cNvCxnSpPr>
          <p:nvPr/>
        </p:nvCxnSpPr>
        <p:spPr bwMode="auto">
          <a:xfrm flipV="1">
            <a:off x="2911989" y="4530382"/>
            <a:ext cx="593211" cy="20467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160133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1"/>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2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94F9DA-3017-4F53-B699-6635B11775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如何学习</a:t>
            </a:r>
            <a:endParaRPr lang="zh-CN" altLang="en-US" dirty="0"/>
          </a:p>
        </p:txBody>
      </p:sp>
      <p:sp>
        <p:nvSpPr>
          <p:cNvPr id="10" name="Rectangle 9">
            <a:extLst>
              <a:ext uri="{FF2B5EF4-FFF2-40B4-BE49-F238E27FC236}">
                <a16:creationId xmlns:a16="http://schemas.microsoft.com/office/drawing/2014/main" id="{EF52460D-499E-4E94-B92A-9366131584DA}"/>
              </a:ext>
            </a:extLst>
          </p:cNvPr>
          <p:cNvSpPr/>
          <p:nvPr/>
        </p:nvSpPr>
        <p:spPr>
          <a:xfrm>
            <a:off x="3210093" y="1600200"/>
            <a:ext cx="2723823" cy="430887"/>
          </a:xfrm>
          <a:prstGeom prst="rect">
            <a:avLst/>
          </a:prstGeom>
        </p:spPr>
        <p:txBody>
          <a:bodyPr wrap="none">
            <a:spAutoFit/>
          </a:bodyPr>
          <a:lstStyle/>
          <a:p>
            <a:pPr algn="ctr"/>
            <a:r>
              <a:rPr lang="zh-CN" altLang="en-US" sz="2200" dirty="0"/>
              <a:t>解决方法：梯度下降</a:t>
            </a: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DC37E06F-DB61-4BF8-8A08-54828BE0BC0F}"/>
                  </a:ext>
                </a:extLst>
              </p:cNvPr>
              <p:cNvSpPr/>
              <p:nvPr/>
            </p:nvSpPr>
            <p:spPr>
              <a:xfrm>
                <a:off x="48395" y="4691599"/>
                <a:ext cx="2961505" cy="1107996"/>
              </a:xfrm>
              <a:prstGeom prst="rect">
                <a:avLst/>
              </a:prstGeom>
            </p:spPr>
            <p:txBody>
              <a:bodyPr wrap="square">
                <a:spAutoFit/>
              </a:bodyPr>
              <a:lstStyle/>
              <a:p>
                <a:pPr algn="ctr"/>
                <a:r>
                  <a:rPr lang="zh-CN" altLang="en-US" sz="2200" dirty="0"/>
                  <a:t>根据一个学习速度朝那个方向走一步</a:t>
                </a:r>
              </a:p>
              <a:p>
                <a:pPr algn="ctr"/>
                <a14:m>
                  <m:oMathPara xmlns:m="http://schemas.openxmlformats.org/officeDocument/2006/math">
                    <m:oMathParaPr>
                      <m:jc m:val="centerGroup"/>
                    </m:oMathParaPr>
                    <m:oMath xmlns:m="http://schemas.openxmlformats.org/officeDocument/2006/math">
                      <m:r>
                        <a:rPr lang="zh-CN" altLang="el-GR" sz="2200" i="1" smtClean="0">
                          <a:latin typeface="Cambria Math" panose="02040503050406030204" pitchFamily="18" charset="0"/>
                          <a:ea typeface="Cambria Math" panose="02040503050406030204" pitchFamily="18" charset="0"/>
                        </a:rPr>
                        <m:t>𝜂</m:t>
                      </m:r>
                    </m:oMath>
                  </m:oMathPara>
                </a14:m>
                <a:endParaRPr lang="zh-CN" altLang="en-US" sz="2200" dirty="0"/>
              </a:p>
            </p:txBody>
          </p:sp>
        </mc:Choice>
        <mc:Fallback xmlns="">
          <p:sp>
            <p:nvSpPr>
              <p:cNvPr id="21" name="Rectangle 20">
                <a:extLst>
                  <a:ext uri="{FF2B5EF4-FFF2-40B4-BE49-F238E27FC236}">
                    <a16:creationId xmlns:a16="http://schemas.microsoft.com/office/drawing/2014/main" id="{DC37E06F-DB61-4BF8-8A08-54828BE0BC0F}"/>
                  </a:ext>
                </a:extLst>
              </p:cNvPr>
              <p:cNvSpPr>
                <a:spLocks noRot="1" noChangeAspect="1" noMove="1" noResize="1" noEditPoints="1" noAdjustHandles="1" noChangeArrowheads="1" noChangeShapeType="1" noTextEdit="1"/>
              </p:cNvSpPr>
              <p:nvPr/>
            </p:nvSpPr>
            <p:spPr>
              <a:xfrm>
                <a:off x="48395" y="4691599"/>
                <a:ext cx="2961505" cy="1107996"/>
              </a:xfrm>
              <a:prstGeom prst="rect">
                <a:avLst/>
              </a:prstGeom>
              <a:blipFill>
                <a:blip r:embed="rId4"/>
                <a:stretch>
                  <a:fillRect t="-4420" b="-3867"/>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60A5EB6D-C571-456E-82EE-508B85A943DD}"/>
              </a:ext>
            </a:extLst>
          </p:cNvPr>
          <p:cNvCxnSpPr>
            <a:cxnSpLocks/>
          </p:cNvCxnSpPr>
          <p:nvPr/>
        </p:nvCxnSpPr>
        <p:spPr bwMode="auto">
          <a:xfrm flipV="1">
            <a:off x="3009900" y="4955822"/>
            <a:ext cx="1878189" cy="21239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E4506C22-F663-4EE0-9375-42ABB1DB69CB}"/>
                  </a:ext>
                </a:extLst>
              </p:cNvPr>
              <p:cNvSpPr/>
              <p:nvPr/>
            </p:nvSpPr>
            <p:spPr>
              <a:xfrm>
                <a:off x="6248400" y="4230490"/>
                <a:ext cx="2438400" cy="76944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r>
                        <a:rPr lang="en-US" altLang="zh-CN" sz="2200" i="1" smtClean="0">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r>
                        <a:rPr lang="en-US" altLang="zh-CN" sz="2200" b="0" i="1" smtClean="0">
                          <a:latin typeface="Cambria Math" panose="02040503050406030204" pitchFamily="18" charset="0"/>
                        </a:rPr>
                        <m:t>−</m:t>
                      </m:r>
                      <m:r>
                        <a:rPr lang="zh-CN" altLang="el-GR" sz="2200" i="1">
                          <a:latin typeface="Cambria Math" panose="02040503050406030204" pitchFamily="18" charset="0"/>
                          <a:ea typeface="Cambria Math" panose="02040503050406030204" pitchFamily="18" charset="0"/>
                        </a:rPr>
                        <m:t>𝜂</m:t>
                      </m:r>
                      <m:r>
                        <m:rPr>
                          <m:sty m:val="p"/>
                        </m:rPr>
                        <a:rPr lang="el-GR" altLang="zh-CN" sz="2200" i="1" smtClean="0">
                          <a:latin typeface="Cambria Math" panose="02040503050406030204" pitchFamily="18" charset="0"/>
                          <a:ea typeface="Cambria Math" panose="02040503050406030204" pitchFamily="18" charset="0"/>
                        </a:rPr>
                        <m:t>Δ</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oMath>
                  </m:oMathPara>
                </a14:m>
                <a:endParaRPr lang="en-US" altLang="zh-CN" sz="22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𝑏</m:t>
                      </m:r>
                      <m:r>
                        <a:rPr lang="en-US" altLang="zh-CN" sz="2200" b="0" i="1" smtClean="0">
                          <a:latin typeface="Cambria Math" panose="02040503050406030204" pitchFamily="18" charset="0"/>
                        </a:rPr>
                        <m:t>−</m:t>
                      </m:r>
                      <m:r>
                        <a:rPr lang="zh-CN" altLang="el-GR" sz="2200" i="1">
                          <a:latin typeface="Cambria Math" panose="02040503050406030204" pitchFamily="18" charset="0"/>
                          <a:ea typeface="Cambria Math" panose="02040503050406030204" pitchFamily="18" charset="0"/>
                        </a:rPr>
                        <m:t>𝜂</m:t>
                      </m:r>
                      <m:r>
                        <m:rPr>
                          <m:sty m:val="p"/>
                        </m:rPr>
                        <a:rPr lang="el-GR" altLang="zh-CN" sz="2200" i="1">
                          <a:latin typeface="Cambria Math" panose="02040503050406030204" pitchFamily="18" charset="0"/>
                          <a:ea typeface="Cambria Math" panose="02040503050406030204" pitchFamily="18" charset="0"/>
                        </a:rPr>
                        <m:t>Δ</m:t>
                      </m:r>
                      <m:r>
                        <a:rPr lang="en-US" altLang="zh-CN" sz="2200" i="1">
                          <a:latin typeface="Cambria Math" panose="02040503050406030204" pitchFamily="18" charset="0"/>
                        </a:rPr>
                        <m:t>𝑏</m:t>
                      </m:r>
                    </m:oMath>
                  </m:oMathPara>
                </a14:m>
                <a:endParaRPr lang="zh-CN" altLang="en-US" sz="2200" dirty="0"/>
              </a:p>
            </p:txBody>
          </p:sp>
        </mc:Choice>
        <mc:Fallback xmlns="">
          <p:sp>
            <p:nvSpPr>
              <p:cNvPr id="27" name="Rectangle 26">
                <a:extLst>
                  <a:ext uri="{FF2B5EF4-FFF2-40B4-BE49-F238E27FC236}">
                    <a16:creationId xmlns:a16="http://schemas.microsoft.com/office/drawing/2014/main" id="{E4506C22-F663-4EE0-9375-42ABB1DB69CB}"/>
                  </a:ext>
                </a:extLst>
              </p:cNvPr>
              <p:cNvSpPr>
                <a:spLocks noRot="1" noChangeAspect="1" noMove="1" noResize="1" noEditPoints="1" noAdjustHandles="1" noChangeArrowheads="1" noChangeShapeType="1" noTextEdit="1"/>
              </p:cNvSpPr>
              <p:nvPr/>
            </p:nvSpPr>
            <p:spPr>
              <a:xfrm>
                <a:off x="6248400" y="4230490"/>
                <a:ext cx="2438400" cy="769441"/>
              </a:xfrm>
              <a:prstGeom prst="rect">
                <a:avLst/>
              </a:prstGeom>
              <a:blipFill>
                <a:blip r:embed="rId7"/>
                <a:stretch>
                  <a:fillRect b="-555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143910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94F9DA-3017-4F53-B699-6635B1177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如何学习</a:t>
            </a:r>
            <a:endParaRPr lang="zh-CN" altLang="en-US" dirty="0"/>
          </a:p>
        </p:txBody>
      </p:sp>
      <p:sp>
        <p:nvSpPr>
          <p:cNvPr id="10" name="Rectangle 9">
            <a:extLst>
              <a:ext uri="{FF2B5EF4-FFF2-40B4-BE49-F238E27FC236}">
                <a16:creationId xmlns:a16="http://schemas.microsoft.com/office/drawing/2014/main" id="{EF52460D-499E-4E94-B92A-9366131584DA}"/>
              </a:ext>
            </a:extLst>
          </p:cNvPr>
          <p:cNvSpPr/>
          <p:nvPr/>
        </p:nvSpPr>
        <p:spPr>
          <a:xfrm>
            <a:off x="3210093" y="1600200"/>
            <a:ext cx="2723823" cy="430887"/>
          </a:xfrm>
          <a:prstGeom prst="rect">
            <a:avLst/>
          </a:prstGeom>
        </p:spPr>
        <p:txBody>
          <a:bodyPr wrap="none">
            <a:spAutoFit/>
          </a:bodyPr>
          <a:lstStyle/>
          <a:p>
            <a:pPr algn="ctr"/>
            <a:r>
              <a:rPr lang="zh-CN" altLang="en-US" sz="2200" dirty="0"/>
              <a:t>解决方法：梯度下降</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D4774AB-8FF9-497D-ADF3-DB3E20206486}"/>
                  </a:ext>
                </a:extLst>
              </p:cNvPr>
              <p:cNvSpPr/>
              <p:nvPr/>
            </p:nvSpPr>
            <p:spPr>
              <a:xfrm>
                <a:off x="228600" y="4276656"/>
                <a:ext cx="2362199" cy="769441"/>
              </a:xfrm>
              <a:prstGeom prst="rect">
                <a:avLst/>
              </a:prstGeom>
            </p:spPr>
            <p:txBody>
              <a:bodyPr wrap="square">
                <a:spAutoFit/>
              </a:bodyPr>
              <a:lstStyle/>
              <a:p>
                <a:pPr algn="ctr"/>
                <a:r>
                  <a:rPr lang="zh-CN" altLang="en-US" sz="2200" dirty="0"/>
                  <a:t>重新计算梯度</a:t>
                </a:r>
                <a:endParaRPr lang="en-US" altLang="zh-CN" sz="2200" dirty="0"/>
              </a:p>
              <a:p>
                <a:pPr algn="ctr"/>
                <a14:m>
                  <m:oMath xmlns:m="http://schemas.openxmlformats.org/officeDocument/2006/math">
                    <m:r>
                      <m:rPr>
                        <m:sty m:val="p"/>
                      </m:rPr>
                      <a:rPr lang="el-GR" altLang="zh-CN" sz="2200" i="1" smtClean="0">
                        <a:latin typeface="Cambria Math" panose="02040503050406030204" pitchFamily="18" charset="0"/>
                        <a:ea typeface="Cambria Math" panose="02040503050406030204" pitchFamily="18" charset="0"/>
                      </a:rPr>
                      <m:t>Δ</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oMath>
                </a14:m>
                <a:r>
                  <a:rPr lang="en-US" altLang="zh-CN" sz="2200" dirty="0"/>
                  <a:t> &amp; </a:t>
                </a:r>
                <a14:m>
                  <m:oMath xmlns:m="http://schemas.openxmlformats.org/officeDocument/2006/math">
                    <m:r>
                      <m:rPr>
                        <m:sty m:val="p"/>
                      </m:rPr>
                      <a:rPr lang="el-GR" altLang="zh-CN" sz="2200" i="1">
                        <a:latin typeface="Cambria Math" panose="02040503050406030204" pitchFamily="18" charset="0"/>
                        <a:ea typeface="Cambria Math" panose="02040503050406030204" pitchFamily="18" charset="0"/>
                      </a:rPr>
                      <m:t>Δ</m:t>
                    </m:r>
                    <m:r>
                      <a:rPr lang="en-US" altLang="zh-CN" sz="2200" i="1">
                        <a:latin typeface="Cambria Math" panose="02040503050406030204" pitchFamily="18" charset="0"/>
                      </a:rPr>
                      <m:t>𝑏</m:t>
                    </m:r>
                  </m:oMath>
                </a14:m>
                <a:endParaRPr lang="zh-CN" altLang="en-US" sz="2200" dirty="0"/>
              </a:p>
            </p:txBody>
          </p:sp>
        </mc:Choice>
        <mc:Fallback xmlns="">
          <p:sp>
            <p:nvSpPr>
              <p:cNvPr id="9" name="Rectangle 8">
                <a:extLst>
                  <a:ext uri="{FF2B5EF4-FFF2-40B4-BE49-F238E27FC236}">
                    <a16:creationId xmlns:a16="http://schemas.microsoft.com/office/drawing/2014/main" id="{9D4774AB-8FF9-497D-ADF3-DB3E20206486}"/>
                  </a:ext>
                </a:extLst>
              </p:cNvPr>
              <p:cNvSpPr>
                <a:spLocks noRot="1" noChangeAspect="1" noMove="1" noResize="1" noEditPoints="1" noAdjustHandles="1" noChangeArrowheads="1" noChangeShapeType="1" noTextEdit="1"/>
              </p:cNvSpPr>
              <p:nvPr/>
            </p:nvSpPr>
            <p:spPr>
              <a:xfrm>
                <a:off x="228600" y="4276656"/>
                <a:ext cx="2362199" cy="769441"/>
              </a:xfrm>
              <a:prstGeom prst="rect">
                <a:avLst/>
              </a:prstGeom>
              <a:blipFill>
                <a:blip r:embed="rId3"/>
                <a:stretch>
                  <a:fillRect t="-8730" b="-15079"/>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523A5EB3-DED4-47F0-8ECC-4FA31E81A057}"/>
              </a:ext>
            </a:extLst>
          </p:cNvPr>
          <p:cNvCxnSpPr>
            <a:cxnSpLocks/>
            <a:stCxn id="9" idx="3"/>
          </p:cNvCxnSpPr>
          <p:nvPr/>
        </p:nvCxnSpPr>
        <p:spPr bwMode="auto">
          <a:xfrm>
            <a:off x="2590799" y="4661377"/>
            <a:ext cx="2320291" cy="21542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B3F2E14E-E003-4E31-9EBE-0CE4F0F9EC10}"/>
              </a:ext>
            </a:extLst>
          </p:cNvPr>
          <p:cNvCxnSpPr>
            <a:cxnSpLocks/>
          </p:cNvCxnSpPr>
          <p:nvPr/>
        </p:nvCxnSpPr>
        <p:spPr bwMode="auto">
          <a:xfrm flipH="1" flipV="1">
            <a:off x="4911090" y="4812030"/>
            <a:ext cx="15240" cy="148590"/>
          </a:xfrm>
          <a:prstGeom prst="straightConnector1">
            <a:avLst/>
          </a:prstGeom>
          <a:solidFill>
            <a:schemeClr val="accent1"/>
          </a:solidFill>
          <a:ln w="22225"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35617467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如何学习</a:t>
            </a:r>
            <a:endParaRPr lang="zh-CN" altLang="en-US" dirty="0"/>
          </a:p>
        </p:txBody>
      </p:sp>
      <p:sp>
        <p:nvSpPr>
          <p:cNvPr id="10" name="Rectangle 9">
            <a:extLst>
              <a:ext uri="{FF2B5EF4-FFF2-40B4-BE49-F238E27FC236}">
                <a16:creationId xmlns:a16="http://schemas.microsoft.com/office/drawing/2014/main" id="{EF52460D-499E-4E94-B92A-9366131584DA}"/>
              </a:ext>
            </a:extLst>
          </p:cNvPr>
          <p:cNvSpPr/>
          <p:nvPr/>
        </p:nvSpPr>
        <p:spPr>
          <a:xfrm>
            <a:off x="3210093" y="1600200"/>
            <a:ext cx="2723823" cy="430887"/>
          </a:xfrm>
          <a:prstGeom prst="rect">
            <a:avLst/>
          </a:prstGeom>
        </p:spPr>
        <p:txBody>
          <a:bodyPr wrap="none">
            <a:spAutoFit/>
          </a:bodyPr>
          <a:lstStyle/>
          <a:p>
            <a:pPr algn="ctr"/>
            <a:r>
              <a:rPr lang="zh-CN" altLang="en-US" sz="2200" dirty="0"/>
              <a:t>解决方法：梯度下降</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310FDA16-51C9-4C69-AF54-7CA316ED3DAE}"/>
                  </a:ext>
                </a:extLst>
              </p:cNvPr>
              <p:cNvSpPr/>
              <p:nvPr/>
            </p:nvSpPr>
            <p:spPr>
              <a:xfrm>
                <a:off x="6400807" y="3965198"/>
                <a:ext cx="2590800" cy="1107996"/>
              </a:xfrm>
              <a:prstGeom prst="rect">
                <a:avLst/>
              </a:prstGeom>
            </p:spPr>
            <p:txBody>
              <a:bodyPr wrap="square">
                <a:spAutoFit/>
              </a:bodyPr>
              <a:lstStyle/>
              <a:p>
                <a:pPr algn="ctr"/>
                <a:r>
                  <a:rPr lang="zh-CN" altLang="en-US" sz="2200" dirty="0"/>
                  <a:t>再走一步</a:t>
                </a:r>
                <a:endParaRPr lang="en-US" altLang="zh-CN" sz="22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r>
                        <a:rPr lang="en-US" altLang="zh-CN" sz="2200" i="1" smtClean="0">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r>
                        <a:rPr lang="en-US" altLang="zh-CN" sz="2200" b="0" i="1" smtClean="0">
                          <a:latin typeface="Cambria Math" panose="02040503050406030204" pitchFamily="18" charset="0"/>
                        </a:rPr>
                        <m:t>−</m:t>
                      </m:r>
                      <m:r>
                        <a:rPr lang="zh-CN" altLang="el-GR" sz="2200" i="1">
                          <a:latin typeface="Cambria Math" panose="02040503050406030204" pitchFamily="18" charset="0"/>
                          <a:ea typeface="Cambria Math" panose="02040503050406030204" pitchFamily="18" charset="0"/>
                        </a:rPr>
                        <m:t>𝜂</m:t>
                      </m:r>
                      <m:r>
                        <m:rPr>
                          <m:sty m:val="p"/>
                        </m:rPr>
                        <a:rPr lang="el-GR" altLang="zh-CN" sz="2200" i="1" smtClean="0">
                          <a:latin typeface="Cambria Math" panose="02040503050406030204" pitchFamily="18" charset="0"/>
                          <a:ea typeface="Cambria Math" panose="02040503050406030204" pitchFamily="18" charset="0"/>
                        </a:rPr>
                        <m:t>Δ</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1</m:t>
                          </m:r>
                        </m:sub>
                      </m:sSub>
                    </m:oMath>
                  </m:oMathPara>
                </a14:m>
                <a:endParaRPr lang="en-US" altLang="zh-CN" sz="22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𝑏</m:t>
                      </m:r>
                      <m:r>
                        <a:rPr lang="en-US" altLang="zh-CN" sz="2200" b="0" i="1" smtClean="0">
                          <a:latin typeface="Cambria Math" panose="02040503050406030204" pitchFamily="18" charset="0"/>
                        </a:rPr>
                        <m:t>−</m:t>
                      </m:r>
                      <m:r>
                        <a:rPr lang="zh-CN" altLang="el-GR" sz="2200" i="1">
                          <a:latin typeface="Cambria Math" panose="02040503050406030204" pitchFamily="18" charset="0"/>
                          <a:ea typeface="Cambria Math" panose="02040503050406030204" pitchFamily="18" charset="0"/>
                        </a:rPr>
                        <m:t>𝜂</m:t>
                      </m:r>
                      <m:r>
                        <m:rPr>
                          <m:sty m:val="p"/>
                        </m:rPr>
                        <a:rPr lang="el-GR" altLang="zh-CN" sz="2200" i="1">
                          <a:latin typeface="Cambria Math" panose="02040503050406030204" pitchFamily="18" charset="0"/>
                          <a:ea typeface="Cambria Math" panose="02040503050406030204" pitchFamily="18" charset="0"/>
                        </a:rPr>
                        <m:t>Δ</m:t>
                      </m:r>
                      <m:r>
                        <a:rPr lang="en-US" altLang="zh-CN" sz="2200" i="1">
                          <a:latin typeface="Cambria Math" panose="02040503050406030204" pitchFamily="18" charset="0"/>
                        </a:rPr>
                        <m:t>𝑏</m:t>
                      </m:r>
                    </m:oMath>
                  </m:oMathPara>
                </a14:m>
                <a:endParaRPr lang="zh-CN" altLang="en-US" sz="2200" dirty="0"/>
              </a:p>
            </p:txBody>
          </p:sp>
        </mc:Choice>
        <mc:Fallback xmlns="">
          <p:sp>
            <p:nvSpPr>
              <p:cNvPr id="12" name="Rectangle 11">
                <a:extLst>
                  <a:ext uri="{FF2B5EF4-FFF2-40B4-BE49-F238E27FC236}">
                    <a16:creationId xmlns:a16="http://schemas.microsoft.com/office/drawing/2014/main" id="{310FDA16-51C9-4C69-AF54-7CA316ED3DAE}"/>
                  </a:ext>
                </a:extLst>
              </p:cNvPr>
              <p:cNvSpPr>
                <a:spLocks noRot="1" noChangeAspect="1" noMove="1" noResize="1" noEditPoints="1" noAdjustHandles="1" noChangeArrowheads="1" noChangeShapeType="1" noTextEdit="1"/>
              </p:cNvSpPr>
              <p:nvPr/>
            </p:nvSpPr>
            <p:spPr>
              <a:xfrm>
                <a:off x="6400807" y="3965198"/>
                <a:ext cx="2590800" cy="1107996"/>
              </a:xfrm>
              <a:prstGeom prst="rect">
                <a:avLst/>
              </a:prstGeom>
              <a:blipFill>
                <a:blip r:embed="rId2"/>
                <a:stretch>
                  <a:fillRect t="-4945" b="-329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B21C375-CDC8-4B36-88BD-4AC3300FB5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cxnSp>
        <p:nvCxnSpPr>
          <p:cNvPr id="13" name="Straight Arrow Connector 12">
            <a:extLst>
              <a:ext uri="{FF2B5EF4-FFF2-40B4-BE49-F238E27FC236}">
                <a16:creationId xmlns:a16="http://schemas.microsoft.com/office/drawing/2014/main" id="{08B63EAF-8B37-4747-9AFA-980BAF4ACDE9}"/>
              </a:ext>
            </a:extLst>
          </p:cNvPr>
          <p:cNvCxnSpPr>
            <a:cxnSpLocks/>
            <a:stCxn id="12" idx="1"/>
          </p:cNvCxnSpPr>
          <p:nvPr/>
        </p:nvCxnSpPr>
        <p:spPr bwMode="auto">
          <a:xfrm flipH="1">
            <a:off x="4927600" y="4519196"/>
            <a:ext cx="1473207" cy="3745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0025593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如何学习</a:t>
            </a:r>
            <a:endParaRPr lang="zh-CN" altLang="en-US" dirty="0"/>
          </a:p>
        </p:txBody>
      </p:sp>
      <p:sp>
        <p:nvSpPr>
          <p:cNvPr id="10" name="Rectangle 9">
            <a:extLst>
              <a:ext uri="{FF2B5EF4-FFF2-40B4-BE49-F238E27FC236}">
                <a16:creationId xmlns:a16="http://schemas.microsoft.com/office/drawing/2014/main" id="{EF52460D-499E-4E94-B92A-9366131584DA}"/>
              </a:ext>
            </a:extLst>
          </p:cNvPr>
          <p:cNvSpPr/>
          <p:nvPr/>
        </p:nvSpPr>
        <p:spPr>
          <a:xfrm>
            <a:off x="3210093" y="1600200"/>
            <a:ext cx="2723823" cy="430887"/>
          </a:xfrm>
          <a:prstGeom prst="rect">
            <a:avLst/>
          </a:prstGeom>
        </p:spPr>
        <p:txBody>
          <a:bodyPr wrap="none">
            <a:spAutoFit/>
          </a:bodyPr>
          <a:lstStyle/>
          <a:p>
            <a:pPr algn="ctr"/>
            <a:r>
              <a:rPr lang="zh-CN" altLang="en-US" sz="2200" dirty="0"/>
              <a:t>解决方法：梯度下降</a:t>
            </a:r>
          </a:p>
        </p:txBody>
      </p:sp>
      <p:sp>
        <p:nvSpPr>
          <p:cNvPr id="12" name="Rectangle 11">
            <a:extLst>
              <a:ext uri="{FF2B5EF4-FFF2-40B4-BE49-F238E27FC236}">
                <a16:creationId xmlns:a16="http://schemas.microsoft.com/office/drawing/2014/main" id="{310FDA16-51C9-4C69-AF54-7CA316ED3DAE}"/>
              </a:ext>
            </a:extLst>
          </p:cNvPr>
          <p:cNvSpPr/>
          <p:nvPr/>
        </p:nvSpPr>
        <p:spPr>
          <a:xfrm>
            <a:off x="0" y="2352902"/>
            <a:ext cx="2754036" cy="430887"/>
          </a:xfrm>
          <a:prstGeom prst="rect">
            <a:avLst/>
          </a:prstGeom>
        </p:spPr>
        <p:txBody>
          <a:bodyPr wrap="square">
            <a:spAutoFit/>
          </a:bodyPr>
          <a:lstStyle/>
          <a:p>
            <a:pPr algn="ctr"/>
            <a:r>
              <a:rPr lang="zh-CN" altLang="en-US" sz="2200" dirty="0"/>
              <a:t>重复该过程</a:t>
            </a:r>
          </a:p>
        </p:txBody>
      </p:sp>
      <p:pic>
        <p:nvPicPr>
          <p:cNvPr id="5" name="Picture 4">
            <a:extLst>
              <a:ext uri="{FF2B5EF4-FFF2-40B4-BE49-F238E27FC236}">
                <a16:creationId xmlns:a16="http://schemas.microsoft.com/office/drawing/2014/main" id="{AC3D2715-2D4A-4833-84BE-4E4CE3035C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pic>
        <p:nvPicPr>
          <p:cNvPr id="11" name="Picture 10">
            <a:extLst>
              <a:ext uri="{FF2B5EF4-FFF2-40B4-BE49-F238E27FC236}">
                <a16:creationId xmlns:a16="http://schemas.microsoft.com/office/drawing/2014/main" id="{65A6FDB1-130F-4D6A-B38C-DDF2381D7D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pic>
        <p:nvPicPr>
          <p:cNvPr id="15" name="Picture 14">
            <a:extLst>
              <a:ext uri="{FF2B5EF4-FFF2-40B4-BE49-F238E27FC236}">
                <a16:creationId xmlns:a16="http://schemas.microsoft.com/office/drawing/2014/main" id="{77E7EED3-3CC8-4DE3-A5EC-765B2DF392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pic>
        <p:nvPicPr>
          <p:cNvPr id="17" name="Picture 16">
            <a:extLst>
              <a:ext uri="{FF2B5EF4-FFF2-40B4-BE49-F238E27FC236}">
                <a16:creationId xmlns:a16="http://schemas.microsoft.com/office/drawing/2014/main" id="{BB67924D-DFFB-4117-9E8F-F4226590FB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pic>
        <p:nvPicPr>
          <p:cNvPr id="23" name="Picture 22">
            <a:extLst>
              <a:ext uri="{FF2B5EF4-FFF2-40B4-BE49-F238E27FC236}">
                <a16:creationId xmlns:a16="http://schemas.microsoft.com/office/drawing/2014/main" id="{076A6C6E-11BA-4C42-A829-485A87C647F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pic>
        <p:nvPicPr>
          <p:cNvPr id="21" name="Picture 20">
            <a:extLst>
              <a:ext uri="{FF2B5EF4-FFF2-40B4-BE49-F238E27FC236}">
                <a16:creationId xmlns:a16="http://schemas.microsoft.com/office/drawing/2014/main" id="{B3240C91-5DA8-4FA0-A348-2E278CCC991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pic>
        <p:nvPicPr>
          <p:cNvPr id="25" name="Picture 24">
            <a:extLst>
              <a:ext uri="{FF2B5EF4-FFF2-40B4-BE49-F238E27FC236}">
                <a16:creationId xmlns:a16="http://schemas.microsoft.com/office/drawing/2014/main" id="{0427C931-EDCE-494B-8865-A8D4BD6553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pic>
        <p:nvPicPr>
          <p:cNvPr id="27" name="Picture 26">
            <a:extLst>
              <a:ext uri="{FF2B5EF4-FFF2-40B4-BE49-F238E27FC236}">
                <a16:creationId xmlns:a16="http://schemas.microsoft.com/office/drawing/2014/main" id="{074463D5-38C0-449F-86E6-7104AF355FE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sp>
        <p:nvSpPr>
          <p:cNvPr id="28" name="Rectangle 27">
            <a:extLst>
              <a:ext uri="{FF2B5EF4-FFF2-40B4-BE49-F238E27FC236}">
                <a16:creationId xmlns:a16="http://schemas.microsoft.com/office/drawing/2014/main" id="{3DEDAD2E-05FF-40BE-94DB-2A285F755275}"/>
              </a:ext>
            </a:extLst>
          </p:cNvPr>
          <p:cNvSpPr/>
          <p:nvPr/>
        </p:nvSpPr>
        <p:spPr>
          <a:xfrm>
            <a:off x="152400" y="3992303"/>
            <a:ext cx="2569552" cy="769441"/>
          </a:xfrm>
          <a:prstGeom prst="rect">
            <a:avLst/>
          </a:prstGeom>
        </p:spPr>
        <p:txBody>
          <a:bodyPr wrap="square">
            <a:spAutoFit/>
          </a:bodyPr>
          <a:lstStyle/>
          <a:p>
            <a:pPr algn="ctr"/>
            <a:r>
              <a:rPr lang="zh-CN" altLang="en-US" sz="2200" dirty="0"/>
              <a:t>当损失函数变化非常小的时候终止</a:t>
            </a:r>
          </a:p>
        </p:txBody>
      </p:sp>
      <p:sp>
        <p:nvSpPr>
          <p:cNvPr id="3" name="Rectangle 2">
            <a:extLst>
              <a:ext uri="{FF2B5EF4-FFF2-40B4-BE49-F238E27FC236}">
                <a16:creationId xmlns:a16="http://schemas.microsoft.com/office/drawing/2014/main" id="{A7907FED-574F-DE55-64F9-D35AC3EB95B1}"/>
              </a:ext>
            </a:extLst>
          </p:cNvPr>
          <p:cNvSpPr/>
          <p:nvPr/>
        </p:nvSpPr>
        <p:spPr>
          <a:xfrm>
            <a:off x="1085704" y="5993191"/>
            <a:ext cx="6972592" cy="769441"/>
          </a:xfrm>
          <a:prstGeom prst="rect">
            <a:avLst/>
          </a:prstGeom>
        </p:spPr>
        <p:txBody>
          <a:bodyPr wrap="square">
            <a:spAutoFit/>
          </a:bodyPr>
          <a:lstStyle/>
          <a:p>
            <a:pPr algn="ctr"/>
            <a:r>
              <a:rPr lang="zh-CN" altLang="en-US" sz="2200" dirty="0"/>
              <a:t>在</a:t>
            </a:r>
            <a:r>
              <a:rPr lang="en-US" altLang="zh-CN" sz="2200" dirty="0"/>
              <a:t>logistic regression</a:t>
            </a:r>
            <a:r>
              <a:rPr lang="zh-CN" altLang="en-US" sz="2200" dirty="0"/>
              <a:t>中，只存在一个局部最低点（</a:t>
            </a:r>
            <a:r>
              <a:rPr lang="zh-CN" altLang="en-US" sz="2200" dirty="0">
                <a:solidFill>
                  <a:srgbClr val="C00000"/>
                </a:solidFill>
              </a:rPr>
              <a:t>局部最优</a:t>
            </a:r>
            <a:r>
              <a:rPr lang="zh-CN" altLang="en-US" sz="2200" dirty="0"/>
              <a:t>），局部最优即为全局最低点（</a:t>
            </a:r>
            <a:r>
              <a:rPr lang="zh-CN" altLang="en-US" sz="2200" dirty="0">
                <a:solidFill>
                  <a:srgbClr val="C00000"/>
                </a:solidFill>
              </a:rPr>
              <a:t>全局最优</a:t>
            </a:r>
            <a:r>
              <a:rPr lang="zh-CN" altLang="en-US" sz="2200" dirty="0"/>
              <a:t>）</a:t>
            </a:r>
          </a:p>
        </p:txBody>
      </p:sp>
    </p:spTree>
    <p:custDataLst>
      <p:tags r:id="rId1"/>
    </p:custDataLst>
    <p:extLst>
      <p:ext uri="{BB962C8B-B14F-4D97-AF65-F5344CB8AC3E}">
        <p14:creationId xmlns:p14="http://schemas.microsoft.com/office/powerpoint/2010/main" val="244887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8" grpId="0"/>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13488-9273-1906-B5F7-B2C96E185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344B9-A901-6AAE-494C-CD56B6D42F15}"/>
              </a:ext>
            </a:extLst>
          </p:cNvPr>
          <p:cNvSpPr>
            <a:spLocks noGrp="1"/>
          </p:cNvSpPr>
          <p:nvPr>
            <p:ph type="title"/>
          </p:nvPr>
        </p:nvSpPr>
        <p:spPr/>
        <p:txBody>
          <a:bodyPr/>
          <a:lstStyle/>
          <a:p>
            <a:r>
              <a:rPr lang="zh-CN" altLang="en-US" dirty="0">
                <a:ea typeface="ＭＳ Ｐゴシック" panose="020B0600070205080204" pitchFamily="34" charset="-128"/>
              </a:rPr>
              <a:t>梯度</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8D54C1-CDF9-D6F4-4143-D6EAA464F647}"/>
                  </a:ext>
                </a:extLst>
              </p:cNvPr>
              <p:cNvSpPr>
                <a:spLocks noGrp="1"/>
              </p:cNvSpPr>
              <p:nvPr>
                <p:ph idx="1"/>
              </p:nvPr>
            </p:nvSpPr>
            <p:spPr>
              <a:xfrm>
                <a:off x="838200" y="1600200"/>
                <a:ext cx="7772400" cy="5486400"/>
              </a:xfrm>
            </p:spPr>
            <p:txBody>
              <a:bodyPr>
                <a:normAutofit/>
              </a:bodyPr>
              <a:lstStyle/>
              <a:p>
                <a:r>
                  <a:rPr lang="zh-CN" altLang="en-US" dirty="0"/>
                  <a:t>梯度是什么？</a:t>
                </a:r>
                <a:endParaRPr lang="en-US" altLang="zh-CN" dirty="0"/>
              </a:p>
              <a:p>
                <a:pPr lvl="1"/>
                <a:r>
                  <a:rPr lang="zh-CN" altLang="en-US" b="0" dirty="0"/>
                  <a:t>由</a:t>
                </a:r>
                <a:r>
                  <a:rPr lang="zh-CN" altLang="en-US" dirty="0"/>
                  <a:t>损失函数对各个</a:t>
                </a:r>
                <a:r>
                  <a:rPr lang="zh-CN" altLang="en-US" b="0" dirty="0"/>
                  <a:t>模型参数的</a:t>
                </a:r>
                <a:r>
                  <a:rPr lang="zh-CN" altLang="en-US" b="0" dirty="0">
                    <a:solidFill>
                      <a:srgbClr val="C00000"/>
                    </a:solidFill>
                  </a:rPr>
                  <a:t>偏导数数值</a:t>
                </a:r>
                <a:r>
                  <a:rPr lang="zh-CN" altLang="en-US" b="0" dirty="0"/>
                  <a:t>构成的向量（或方向）</a:t>
                </a:r>
                <a:endParaRPr lang="en-US" altLang="zh-CN" b="0" dirty="0"/>
              </a:p>
              <a:p>
                <a:r>
                  <a:rPr lang="zh-CN" altLang="en-US" dirty="0"/>
                  <a:t>偏导数数值是什么？</a:t>
                </a:r>
                <a:endParaRPr lang="en-US" altLang="zh-CN" dirty="0"/>
              </a:p>
              <a:p>
                <a:pPr lvl="1"/>
                <a:r>
                  <a:rPr lang="zh-CN" altLang="en-US" dirty="0"/>
                  <a:t>当所有其他模型参数不变时</a:t>
                </a:r>
                <a:endParaRPr lang="en-US" altLang="zh-CN" dirty="0"/>
              </a:p>
              <a:p>
                <a:pPr lvl="2"/>
                <a:r>
                  <a:rPr lang="zh-CN" altLang="en-US" dirty="0"/>
                  <a:t>某个参数的微小变化会带来损失函数值的微小变化：损失函数值变化对比参数变化的极限</a:t>
                </a:r>
                <a:endParaRPr lang="en-US" altLang="zh-CN" dirty="0"/>
              </a:p>
              <a:p>
                <a:pPr lvl="1"/>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oMath>
                </a14:m>
                <a:r>
                  <a:rPr lang="zh-CN" altLang="en-US" dirty="0"/>
                  <a:t>为例：</a:t>
                </a:r>
                <a:endParaRPr lang="en-US" altLang="zh-CN" dirty="0"/>
              </a:p>
              <a:p>
                <a:pPr marL="514350" lvl="1" indent="0">
                  <a:buNone/>
                </a:pPr>
                <a14:m>
                  <m:oMathPara xmlns:m="http://schemas.openxmlformats.org/officeDocument/2006/math">
                    <m:oMathParaPr>
                      <m:jc m:val="centerGroup"/>
                    </m:oMathParaPr>
                    <m:oMath xmlns:m="http://schemas.openxmlformats.org/officeDocument/2006/math">
                      <m:func>
                        <m:funcPr>
                          <m:ctrlPr>
                            <a:rPr lang="en-US" altLang="zh-CN" sz="2400" i="1" smtClean="0">
                              <a:latin typeface="Cambria Math" panose="02040503050406030204" pitchFamily="18" charset="0"/>
                            </a:rPr>
                          </m:ctrlPr>
                        </m:funcPr>
                        <m:fName>
                          <m:limLow>
                            <m:limLowPr>
                              <m:ctrlPr>
                                <a:rPr lang="en-US" altLang="zh-CN" sz="2400" i="1" smtClean="0">
                                  <a:latin typeface="Cambria Math" panose="02040503050406030204" pitchFamily="18" charset="0"/>
                                </a:rPr>
                              </m:ctrlPr>
                            </m:limLowPr>
                            <m:e>
                              <m:r>
                                <m:rPr>
                                  <m:sty m:val="p"/>
                                </m:rPr>
                                <a:rPr lang="en-US" altLang="zh-CN" sz="2400" i="0" smtClean="0">
                                  <a:latin typeface="Cambria Math" panose="02040503050406030204" pitchFamily="18" charset="0"/>
                                </a:rPr>
                                <m:t>lim</m:t>
                              </m:r>
                            </m:e>
                            <m:lim>
                              <m:r>
                                <a:rPr lang="zh-CN" altLang="en-US" sz="2400" i="1">
                                  <a:latin typeface="Cambria Math" panose="02040503050406030204" pitchFamily="18" charset="0"/>
                                </a:rPr>
                                <m:t>𝛿</m:t>
                              </m:r>
                              <m:r>
                                <a:rPr lang="zh-CN" altLang="en-US" sz="2400" i="1" smtClean="0">
                                  <a:latin typeface="Cambria Math" panose="02040503050406030204" pitchFamily="18" charset="0"/>
                                </a:rPr>
                                <m:t>→</m:t>
                              </m:r>
                              <m:r>
                                <a:rPr lang="en-US" altLang="zh-CN" sz="2400" b="0" i="1" smtClean="0">
                                  <a:latin typeface="Cambria Math" panose="02040503050406030204" pitchFamily="18" charset="0"/>
                                </a:rPr>
                                <m:t>0</m:t>
                              </m:r>
                            </m:lim>
                          </m:limLow>
                        </m:fName>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𝐿</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zh-CN" altLang="en-US" sz="2400" i="1">
                                      <a:latin typeface="Cambria Math" panose="02040503050406030204" pitchFamily="18" charset="0"/>
                                    </a:rPr>
                                    <m:t>𝛿</m:t>
                                  </m:r>
                                  <m:r>
                                    <a:rPr lang="en-US" altLang="zh-CN" sz="2400" i="1">
                                      <a:latin typeface="Cambria Math" panose="02040503050406030204" pitchFamily="18" charset="0"/>
                                    </a:rPr>
                                    <m:t>,</m:t>
                                  </m:r>
                                  <m:r>
                                    <a:rPr lang="en-US" altLang="zh-CN" sz="2400" i="1">
                                      <a:latin typeface="Cambria Math" panose="02040503050406030204" pitchFamily="18" charset="0"/>
                                    </a:rPr>
                                    <m:t>𝑏</m:t>
                                  </m:r>
                                </m:e>
                              </m:d>
                              <m:r>
                                <a:rPr lang="en-US" altLang="zh-CN" sz="2400" i="1">
                                  <a:latin typeface="Cambria Math" panose="02040503050406030204" pitchFamily="18" charset="0"/>
                                </a:rPr>
                                <m:t>−</m:t>
                              </m:r>
                              <m:r>
                                <a:rPr lang="en-US" altLang="zh-CN" sz="2400" i="1">
                                  <a:latin typeface="Cambria Math" panose="02040503050406030204" pitchFamily="18" charset="0"/>
                                </a:rPr>
                                <m:t>𝐿</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rPr>
                                    <m:t>𝑏</m:t>
                                  </m:r>
                                </m:e>
                              </m:d>
                            </m:num>
                            <m:den>
                              <m:r>
                                <a:rPr lang="zh-CN" altLang="en-US" sz="2400" i="1">
                                  <a:latin typeface="Cambria Math" panose="02040503050406030204" pitchFamily="18" charset="0"/>
                                </a:rPr>
                                <m:t>𝛿</m:t>
                              </m:r>
                            </m:den>
                          </m:f>
                        </m:e>
                      </m:func>
                    </m:oMath>
                  </m:oMathPara>
                </a14:m>
                <a:endParaRPr lang="en-US" altLang="zh-CN" sz="2400" dirty="0"/>
              </a:p>
              <a:p>
                <a:pPr marL="457200"/>
                <a:r>
                  <a:rPr lang="zh-CN" altLang="en-US" dirty="0"/>
                  <a:t>梯度是损失函数变化最快的方向</a:t>
                </a:r>
                <a:endParaRPr lang="en-US" altLang="zh-CN" dirty="0"/>
              </a:p>
            </p:txBody>
          </p:sp>
        </mc:Choice>
        <mc:Fallback xmlns="">
          <p:sp>
            <p:nvSpPr>
              <p:cNvPr id="3" name="Content Placeholder 2">
                <a:extLst>
                  <a:ext uri="{FF2B5EF4-FFF2-40B4-BE49-F238E27FC236}">
                    <a16:creationId xmlns:a16="http://schemas.microsoft.com/office/drawing/2014/main" id="{408D54C1-CDF9-D6F4-4143-D6EAA464F647}"/>
                  </a:ext>
                </a:extLst>
              </p:cNvPr>
              <p:cNvSpPr>
                <a:spLocks noGrp="1" noRot="1" noChangeAspect="1" noMove="1" noResize="1" noEditPoints="1" noAdjustHandles="1" noChangeArrowheads="1" noChangeShapeType="1" noTextEdit="1"/>
              </p:cNvSpPr>
              <p:nvPr>
                <p:ph idx="1"/>
              </p:nvPr>
            </p:nvSpPr>
            <p:spPr>
              <a:xfrm>
                <a:off x="838200" y="1600200"/>
                <a:ext cx="7772400" cy="5486400"/>
              </a:xfrm>
              <a:blipFill>
                <a:blip r:embed="rId3"/>
                <a:stretch>
                  <a:fillRect l="-627" t="-2000" r="-627"/>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23005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97837" cy="914400"/>
          </a:xfrm>
        </p:spPr>
        <p:txBody>
          <a:bodyPr/>
          <a:lstStyle/>
          <a:p>
            <a:r>
              <a:rPr lang="zh-CN" altLang="en-US" dirty="0">
                <a:ea typeface="ＭＳ Ｐゴシック" panose="020B0600070205080204" pitchFamily="34" charset="-128"/>
              </a:rPr>
              <a:t>梯度计算 </a:t>
            </a:r>
            <a:r>
              <a:rPr lang="en-US" altLang="zh-CN" dirty="0">
                <a:ea typeface="ＭＳ Ｐゴシック" panose="020B0600070205080204" pitchFamily="34" charset="-128"/>
              </a:rPr>
              <a:t>(1)</a:t>
            </a:r>
            <a:endParaRPr lang="zh-CN" alt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7E352F0-2B56-436D-82CB-482D8B3BD987}"/>
                  </a:ext>
                </a:extLst>
              </p:cNvPr>
              <p:cNvSpPr txBox="1"/>
              <p:nvPr/>
            </p:nvSpPr>
            <p:spPr>
              <a:xfrm>
                <a:off x="675481" y="1600200"/>
                <a:ext cx="7793037" cy="453842"/>
              </a:xfrm>
              <a:prstGeom prst="rect">
                <a:avLst/>
              </a:prstGeom>
              <a:noFill/>
            </p:spPr>
            <p:txBody>
              <a:bodyPr wrap="square" rtlCol="0">
                <a:spAutoFit/>
              </a:bodyPr>
              <a:lstStyle/>
              <a:p>
                <a:pPr algn="ctr"/>
                <a:r>
                  <a:rPr lang="zh-CN" altLang="en-US" sz="2200" dirty="0"/>
                  <a:t>对一个数据</a:t>
                </a:r>
                <a:r>
                  <a:rPr lang="en-US" altLang="zh-CN" sz="2200" dirty="0"/>
                  <a:t> </a:t>
                </a:r>
                <a14:m>
                  <m:oMath xmlns:m="http://schemas.openxmlformats.org/officeDocument/2006/math">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𝑖</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rPr>
                      <m:t>)</m:t>
                    </m:r>
                  </m:oMath>
                </a14:m>
                <a:endParaRPr lang="en-US" altLang="zh-CN" sz="2200" dirty="0"/>
              </a:p>
            </p:txBody>
          </p:sp>
        </mc:Choice>
        <mc:Fallback xmlns="">
          <p:sp>
            <p:nvSpPr>
              <p:cNvPr id="11" name="TextBox 10">
                <a:extLst>
                  <a:ext uri="{FF2B5EF4-FFF2-40B4-BE49-F238E27FC236}">
                    <a16:creationId xmlns:a16="http://schemas.microsoft.com/office/drawing/2014/main" id="{37E352F0-2B56-436D-82CB-482D8B3BD987}"/>
                  </a:ext>
                </a:extLst>
              </p:cNvPr>
              <p:cNvSpPr txBox="1">
                <a:spLocks noRot="1" noChangeAspect="1" noMove="1" noResize="1" noEditPoints="1" noAdjustHandles="1" noChangeArrowheads="1" noChangeShapeType="1" noTextEdit="1"/>
              </p:cNvSpPr>
              <p:nvPr/>
            </p:nvSpPr>
            <p:spPr>
              <a:xfrm>
                <a:off x="675481" y="1600200"/>
                <a:ext cx="7793037" cy="453842"/>
              </a:xfrm>
              <a:prstGeom prst="rect">
                <a:avLst/>
              </a:prstGeom>
              <a:blipFill>
                <a:blip r:embed="rId3"/>
                <a:stretch>
                  <a:fillRect t="-10811" b="-202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541619-F9FD-4764-9110-46F03BBDF620}"/>
                  </a:ext>
                </a:extLst>
              </p:cNvPr>
              <p:cNvSpPr txBox="1"/>
              <p:nvPr/>
            </p:nvSpPr>
            <p:spPr>
              <a:xfrm>
                <a:off x="457200" y="2127527"/>
                <a:ext cx="7793037" cy="430887"/>
              </a:xfrm>
              <a:prstGeom prst="rect">
                <a:avLst/>
              </a:prstGeom>
              <a:noFill/>
            </p:spPr>
            <p:txBody>
              <a:bodyPr wrap="square" rtlCol="0">
                <a:spAutoFit/>
              </a:bodyPr>
              <a:lstStyle/>
              <a:p>
                <a:pPr algn="ctr"/>
                <a:r>
                  <a:rPr lang="zh-CN" altLang="en-US" sz="2200" dirty="0"/>
                  <a:t>用当前的 </a:t>
                </a:r>
                <a:r>
                  <a:rPr lang="en-US" altLang="zh-CN" sz="2200" dirty="0"/>
                  <a:t> </a:t>
                </a:r>
                <a14:m>
                  <m:oMath xmlns:m="http://schemas.openxmlformats.org/officeDocument/2006/math">
                    <m:r>
                      <a:rPr lang="en-US" altLang="zh-CN" sz="2200" b="1">
                        <a:latin typeface="Cambria Math" panose="02040503050406030204" pitchFamily="18" charset="0"/>
                      </a:rPr>
                      <m:t>𝐰</m:t>
                    </m:r>
                  </m:oMath>
                </a14:m>
                <a:r>
                  <a:rPr lang="en-US" altLang="zh-CN" sz="2200" dirty="0"/>
                  <a:t> &amp; </a:t>
                </a:r>
                <a14:m>
                  <m:oMath xmlns:m="http://schemas.openxmlformats.org/officeDocument/2006/math">
                    <m:r>
                      <a:rPr lang="en-US" altLang="zh-CN" sz="2200" i="1">
                        <a:latin typeface="Cambria Math" panose="02040503050406030204" pitchFamily="18" charset="0"/>
                      </a:rPr>
                      <m:t>𝑏</m:t>
                    </m:r>
                  </m:oMath>
                </a14:m>
                <a:endParaRPr lang="en-US" altLang="zh-CN" sz="2200" dirty="0"/>
              </a:p>
            </p:txBody>
          </p:sp>
        </mc:Choice>
        <mc:Fallback xmlns="">
          <p:sp>
            <p:nvSpPr>
              <p:cNvPr id="7" name="TextBox 6">
                <a:extLst>
                  <a:ext uri="{FF2B5EF4-FFF2-40B4-BE49-F238E27FC236}">
                    <a16:creationId xmlns:a16="http://schemas.microsoft.com/office/drawing/2014/main" id="{5E541619-F9FD-4764-9110-46F03BBDF620}"/>
                  </a:ext>
                </a:extLst>
              </p:cNvPr>
              <p:cNvSpPr txBox="1">
                <a:spLocks noRot="1" noChangeAspect="1" noMove="1" noResize="1" noEditPoints="1" noAdjustHandles="1" noChangeArrowheads="1" noChangeShapeType="1" noTextEdit="1"/>
              </p:cNvSpPr>
              <p:nvPr/>
            </p:nvSpPr>
            <p:spPr>
              <a:xfrm>
                <a:off x="457200" y="2127527"/>
                <a:ext cx="7793037" cy="430887"/>
              </a:xfrm>
              <a:prstGeom prst="rect">
                <a:avLst/>
              </a:prstGeom>
              <a:blipFill>
                <a:blip r:embed="rId4"/>
                <a:stretch>
                  <a:fillRect t="-15493" b="-281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471C24-A9AF-4122-8B42-B1C3DE5EBB19}"/>
                  </a:ext>
                </a:extLst>
              </p:cNvPr>
              <p:cNvSpPr txBox="1"/>
              <p:nvPr/>
            </p:nvSpPr>
            <p:spPr>
              <a:xfrm>
                <a:off x="675481" y="2631899"/>
                <a:ext cx="7793037" cy="616644"/>
              </a:xfrm>
              <a:prstGeom prst="rect">
                <a:avLst/>
              </a:prstGeom>
              <a:noFill/>
            </p:spPr>
            <p:txBody>
              <a:bodyPr wrap="square" rtlCol="0">
                <a:spAutoFit/>
              </a:bodyPr>
              <a:lstStyle/>
              <a:p>
                <a:pPr algn="ctr"/>
                <a:r>
                  <a:rPr lang="zh-CN" altLang="en-US" sz="2200" dirty="0">
                    <a:ea typeface="Cambria Math" panose="02040503050406030204" pitchFamily="18" charset="0"/>
                  </a:rPr>
                  <a:t>我们得到</a:t>
                </a:r>
                <a:r>
                  <a:rPr lang="en-US" altLang="zh-CN" sz="2200" dirty="0">
                    <a:ea typeface="Cambria Math" panose="02040503050406030204" pitchFamily="18" charset="0"/>
                  </a:rPr>
                  <a:t>  </a:t>
                </a: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r>
                      <a:rPr lang="en-US" altLang="zh-CN" sz="2200" b="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r>
                      <a:rPr lang="en-US" altLang="zh-CN" sz="2200" b="1" i="1" smtClean="0">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b="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oMath>
                </a14:m>
                <a:endParaRPr lang="en-US" altLang="zh-CN" sz="2200" dirty="0"/>
              </a:p>
            </p:txBody>
          </p:sp>
        </mc:Choice>
        <mc:Fallback xmlns="">
          <p:sp>
            <p:nvSpPr>
              <p:cNvPr id="10" name="TextBox 9">
                <a:extLst>
                  <a:ext uri="{FF2B5EF4-FFF2-40B4-BE49-F238E27FC236}">
                    <a16:creationId xmlns:a16="http://schemas.microsoft.com/office/drawing/2014/main" id="{EF471C24-A9AF-4122-8B42-B1C3DE5EBB19}"/>
                  </a:ext>
                </a:extLst>
              </p:cNvPr>
              <p:cNvSpPr txBox="1">
                <a:spLocks noRot="1" noChangeAspect="1" noMove="1" noResize="1" noEditPoints="1" noAdjustHandles="1" noChangeArrowheads="1" noChangeShapeType="1" noTextEdit="1"/>
              </p:cNvSpPr>
              <p:nvPr/>
            </p:nvSpPr>
            <p:spPr>
              <a:xfrm>
                <a:off x="675481" y="2631899"/>
                <a:ext cx="7793037" cy="61664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FF9C12E-9CFA-4A4E-85DC-A3DAF33A2D13}"/>
                  </a:ext>
                </a:extLst>
              </p:cNvPr>
              <p:cNvSpPr txBox="1"/>
              <p:nvPr/>
            </p:nvSpPr>
            <p:spPr>
              <a:xfrm>
                <a:off x="675480" y="3248543"/>
                <a:ext cx="7793037" cy="453842"/>
              </a:xfrm>
              <a:prstGeom prst="rect">
                <a:avLst/>
              </a:prstGeom>
              <a:noFill/>
            </p:spPr>
            <p:txBody>
              <a:bodyPr wrap="square" rtlCol="0">
                <a:spAutoFit/>
              </a:bodyPr>
              <a:lstStyle/>
              <a:p>
                <a:pPr algn="ctr"/>
                <a:r>
                  <a:rPr lang="zh-CN" altLang="en-US" sz="2200" dirty="0">
                    <a:ea typeface="Cambria Math" panose="02040503050406030204" pitchFamily="18" charset="0"/>
                  </a:rPr>
                  <a:t>拿这个概率对比 </a:t>
                </a:r>
                <a14:m>
                  <m:oMath xmlns:m="http://schemas.openxmlformats.org/officeDocument/2006/math">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oMath>
                </a14:m>
                <a:endParaRPr lang="en-US" altLang="zh-CN" sz="2200" dirty="0"/>
              </a:p>
            </p:txBody>
          </p:sp>
        </mc:Choice>
        <mc:Fallback xmlns="">
          <p:sp>
            <p:nvSpPr>
              <p:cNvPr id="9" name="TextBox 8">
                <a:extLst>
                  <a:ext uri="{FF2B5EF4-FFF2-40B4-BE49-F238E27FC236}">
                    <a16:creationId xmlns:a16="http://schemas.microsoft.com/office/drawing/2014/main" id="{2FF9C12E-9CFA-4A4E-85DC-A3DAF33A2D13}"/>
                  </a:ext>
                </a:extLst>
              </p:cNvPr>
              <p:cNvSpPr txBox="1">
                <a:spLocks noRot="1" noChangeAspect="1" noMove="1" noResize="1" noEditPoints="1" noAdjustHandles="1" noChangeArrowheads="1" noChangeShapeType="1" noTextEdit="1"/>
              </p:cNvSpPr>
              <p:nvPr/>
            </p:nvSpPr>
            <p:spPr>
              <a:xfrm>
                <a:off x="675480" y="3248543"/>
                <a:ext cx="7793037" cy="453842"/>
              </a:xfrm>
              <a:prstGeom prst="rect">
                <a:avLst/>
              </a:prstGeom>
              <a:blipFill>
                <a:blip r:embed="rId6"/>
                <a:stretch>
                  <a:fillRect t="-10811" b="-202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2A3B8F7-F909-40F2-A54D-48B69CE956F0}"/>
                  </a:ext>
                </a:extLst>
              </p:cNvPr>
              <p:cNvSpPr txBox="1"/>
              <p:nvPr/>
            </p:nvSpPr>
            <p:spPr>
              <a:xfrm>
                <a:off x="675480" y="3725749"/>
                <a:ext cx="7793037" cy="616644"/>
              </a:xfrm>
              <a:prstGeom prst="rect">
                <a:avLst/>
              </a:prstGeom>
              <a:noFill/>
            </p:spPr>
            <p:txBody>
              <a:bodyPr wrap="square" rtlCol="0">
                <a:spAutoFit/>
              </a:bodyPr>
              <a:lstStyle/>
              <a:p>
                <a:pPr algn="ctr"/>
                <a:r>
                  <a:rPr lang="zh-CN" altLang="en-US" sz="2200" dirty="0">
                    <a:ea typeface="Cambria Math" panose="02040503050406030204" pitchFamily="18" charset="0"/>
                  </a:rPr>
                  <a:t>我们得到</a:t>
                </a:r>
                <a:r>
                  <a:rPr lang="en-US" altLang="zh-CN" sz="2200" dirty="0">
                    <a:ea typeface="Cambria Math" panose="02040503050406030204" pitchFamily="18" charset="0"/>
                  </a:rPr>
                  <a:t>  </a:t>
                </a:r>
                <a14:m>
                  <m:oMath xmlns:m="http://schemas.openxmlformats.org/officeDocument/2006/math">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r>
                      <a:rPr lang="en-US" altLang="zh-CN" sz="2200" b="0" i="1" smtClean="0">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oMath>
                </a14:m>
                <a:endParaRPr lang="en-US" altLang="zh-CN" sz="2200" dirty="0"/>
              </a:p>
            </p:txBody>
          </p:sp>
        </mc:Choice>
        <mc:Fallback xmlns="">
          <p:sp>
            <p:nvSpPr>
              <p:cNvPr id="12" name="TextBox 11">
                <a:extLst>
                  <a:ext uri="{FF2B5EF4-FFF2-40B4-BE49-F238E27FC236}">
                    <a16:creationId xmlns:a16="http://schemas.microsoft.com/office/drawing/2014/main" id="{D2A3B8F7-F909-40F2-A54D-48B69CE956F0}"/>
                  </a:ext>
                </a:extLst>
              </p:cNvPr>
              <p:cNvSpPr txBox="1">
                <a:spLocks noRot="1" noChangeAspect="1" noMove="1" noResize="1" noEditPoints="1" noAdjustHandles="1" noChangeArrowheads="1" noChangeShapeType="1" noTextEdit="1"/>
              </p:cNvSpPr>
              <p:nvPr/>
            </p:nvSpPr>
            <p:spPr>
              <a:xfrm>
                <a:off x="675480" y="3725749"/>
                <a:ext cx="7793037" cy="61664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2B6062A-D376-4829-BAF6-83FE1C60F0FD}"/>
                  </a:ext>
                </a:extLst>
              </p:cNvPr>
              <p:cNvSpPr txBox="1"/>
              <p:nvPr/>
            </p:nvSpPr>
            <p:spPr>
              <a:xfrm>
                <a:off x="685005" y="4320972"/>
                <a:ext cx="7793037" cy="1819729"/>
              </a:xfrm>
              <a:prstGeom prst="rect">
                <a:avLst/>
              </a:prstGeom>
              <a:noFill/>
            </p:spPr>
            <p:txBody>
              <a:bodyPr wrap="square" rtlCol="0">
                <a:spAutoFit/>
              </a:bodyPr>
              <a:lstStyle/>
              <a:p>
                <a:pPr algn="ctr"/>
                <a:r>
                  <a:rPr lang="zh-CN" altLang="en-US" sz="2200" dirty="0">
                    <a:ea typeface="Cambria Math" panose="02040503050406030204" pitchFamily="18" charset="0"/>
                  </a:rPr>
                  <a:t>调整</a:t>
                </a:r>
                <a:endParaRPr lang="en-US" altLang="zh-CN" sz="220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l-GR" altLang="zh-CN" sz="2200" i="1">
                          <a:latin typeface="Cambria Math" panose="02040503050406030204" pitchFamily="18" charset="0"/>
                          <a:ea typeface="Cambria Math" panose="02040503050406030204" pitchFamily="18" charset="0"/>
                        </a:rPr>
                        <m:t>Δ</m:t>
                      </m:r>
                      <m:sSubSup>
                        <m:sSubSupPr>
                          <m:ctrlPr>
                            <a:rPr lang="el-GR" altLang="zh-CN" sz="2200" i="1" smtClean="0">
                              <a:latin typeface="Cambria Math" panose="02040503050406030204" pitchFamily="18" charset="0"/>
                              <a:ea typeface="Cambria Math" panose="02040503050406030204" pitchFamily="18" charset="0"/>
                            </a:rPr>
                          </m:ctrlPr>
                        </m:sSubSupPr>
                        <m:e>
                          <m:r>
                            <a:rPr lang="en-US" altLang="zh-CN" sz="2200" b="0" i="1" smtClean="0">
                              <a:latin typeface="Cambria Math" panose="02040503050406030204" pitchFamily="18" charset="0"/>
                              <a:ea typeface="Cambria Math" panose="02040503050406030204" pitchFamily="18" charset="0"/>
                            </a:rPr>
                            <m:t>𝑤</m:t>
                          </m:r>
                        </m:e>
                        <m:sub>
                          <m:r>
                            <a:rPr lang="en-US" altLang="zh-CN" sz="2200" b="0" i="1" smtClean="0">
                              <a:latin typeface="Cambria Math" panose="02040503050406030204" pitchFamily="18" charset="0"/>
                              <a:ea typeface="Cambria Math" panose="02040503050406030204" pitchFamily="18" charset="0"/>
                            </a:rPr>
                            <m:t>𝑗</m:t>
                          </m:r>
                        </m:sub>
                        <m:sup>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𝑖</m:t>
                          </m:r>
                          <m:r>
                            <a:rPr lang="en-US" altLang="zh-CN" sz="2200" b="0" i="1" smtClean="0">
                              <a:latin typeface="Cambria Math" panose="02040503050406030204" pitchFamily="18" charset="0"/>
                              <a:ea typeface="Cambria Math" panose="02040503050406030204" pitchFamily="18" charset="0"/>
                            </a:rPr>
                            <m:t>)</m:t>
                          </m:r>
                        </m:sup>
                      </m:sSubSup>
                      <m:r>
                        <a:rPr lang="en-US" altLang="zh-CN" sz="2200" b="0" i="1" smtClean="0">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d>
                                <m:dPr>
                                  <m:ctrlPr>
                                    <a:rPr lang="en-US" altLang="zh-CN" sz="2200" b="1" i="1">
                                      <a:latin typeface="Cambria Math" panose="02040503050406030204" pitchFamily="18" charset="0"/>
                                      <a:ea typeface="Cambria Math" panose="02040503050406030204" pitchFamily="18" charset="0"/>
                                    </a:rPr>
                                  </m:ctrlPr>
                                </m:dPr>
                                <m:e>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e>
                              </m:d>
                            </m:sup>
                          </m:sSup>
                        </m:den>
                      </m:f>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0" i="1" smtClean="0">
                          <a:latin typeface="Cambria Math" panose="02040503050406030204" pitchFamily="18" charset="0"/>
                        </a:rPr>
                        <m:t>)</m:t>
                      </m:r>
                      <m:sSubSup>
                        <m:sSubSupPr>
                          <m:ctrlPr>
                            <a:rPr lang="en-US" altLang="zh-CN" sz="2200" i="1">
                              <a:latin typeface="Cambria Math" panose="02040503050406030204" pitchFamily="18" charset="0"/>
                              <a:ea typeface="Cambria Math" panose="02040503050406030204" pitchFamily="18" charset="0"/>
                            </a:rPr>
                          </m:ctrlPr>
                        </m:sSubSupPr>
                        <m:e>
                          <m:r>
                            <a:rPr lang="en-US" altLang="zh-CN" sz="2200" i="1">
                              <a:latin typeface="Cambria Math" panose="02040503050406030204" pitchFamily="18" charset="0"/>
                              <a:ea typeface="Cambria Math" panose="02040503050406030204" pitchFamily="18" charset="0"/>
                            </a:rPr>
                            <m:t>𝑥</m:t>
                          </m:r>
                        </m:e>
                        <m:sub>
                          <m:r>
                            <a:rPr lang="en-US" altLang="zh-CN" sz="2200" i="1">
                              <a:latin typeface="Cambria Math" panose="02040503050406030204" pitchFamily="18" charset="0"/>
                              <a:ea typeface="Cambria Math" panose="02040503050406030204" pitchFamily="18" charset="0"/>
                            </a:rPr>
                            <m:t>𝑗</m:t>
                          </m:r>
                        </m:sub>
                        <m:sup>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𝑖</m:t>
                              </m:r>
                            </m:e>
                          </m:d>
                        </m:sup>
                      </m:sSubSup>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𝑗</m:t>
                      </m:r>
                      <m:r>
                        <a:rPr lang="en-US" altLang="zh-CN" sz="2200" b="0" i="1" smtClean="0">
                          <a:latin typeface="Cambria Math" panose="02040503050406030204" pitchFamily="18" charset="0"/>
                          <a:ea typeface="Cambria Math" panose="02040503050406030204" pitchFamily="18" charset="0"/>
                        </a:rPr>
                        <m:t>=1,…,</m:t>
                      </m:r>
                      <m:r>
                        <a:rPr lang="en-US" altLang="zh-CN" sz="2200" b="0" i="1" smtClean="0">
                          <a:latin typeface="Cambria Math" panose="02040503050406030204" pitchFamily="18" charset="0"/>
                          <a:ea typeface="Cambria Math" panose="02040503050406030204" pitchFamily="18" charset="0"/>
                        </a:rPr>
                        <m:t>𝑛</m:t>
                      </m:r>
                    </m:oMath>
                  </m:oMathPara>
                </a14:m>
                <a:endParaRPr lang="en-US" altLang="zh-CN" sz="2200" dirty="0"/>
              </a:p>
              <a:p>
                <a:pPr algn="ctr"/>
                <a14:m>
                  <m:oMathPara xmlns:m="http://schemas.openxmlformats.org/officeDocument/2006/math">
                    <m:oMathParaPr>
                      <m:jc m:val="centerGroup"/>
                    </m:oMathParaPr>
                    <m:oMath xmlns:m="http://schemas.openxmlformats.org/officeDocument/2006/math">
                      <m:r>
                        <m:rPr>
                          <m:sty m:val="p"/>
                        </m:rPr>
                        <a:rPr lang="el-GR" altLang="zh-CN" sz="2200" i="1">
                          <a:latin typeface="Cambria Math" panose="02040503050406030204" pitchFamily="18" charset="0"/>
                          <a:ea typeface="Cambria Math" panose="02040503050406030204" pitchFamily="18" charset="0"/>
                        </a:rPr>
                        <m:t>Δ</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𝑖</m:t>
                          </m:r>
                          <m:r>
                            <a:rPr lang="en-US" altLang="zh-CN" sz="2200" b="0" i="1" smtClean="0">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oMath>
                  </m:oMathPara>
                </a14:m>
                <a:endParaRPr lang="en-US" altLang="zh-CN" sz="2200" dirty="0"/>
              </a:p>
            </p:txBody>
          </p:sp>
        </mc:Choice>
        <mc:Fallback xmlns="">
          <p:sp>
            <p:nvSpPr>
              <p:cNvPr id="13" name="TextBox 12">
                <a:extLst>
                  <a:ext uri="{FF2B5EF4-FFF2-40B4-BE49-F238E27FC236}">
                    <a16:creationId xmlns:a16="http://schemas.microsoft.com/office/drawing/2014/main" id="{52B6062A-D376-4829-BAF6-83FE1C60F0FD}"/>
                  </a:ext>
                </a:extLst>
              </p:cNvPr>
              <p:cNvSpPr txBox="1">
                <a:spLocks noRot="1" noChangeAspect="1" noMove="1" noResize="1" noEditPoints="1" noAdjustHandles="1" noChangeArrowheads="1" noChangeShapeType="1" noTextEdit="1"/>
              </p:cNvSpPr>
              <p:nvPr/>
            </p:nvSpPr>
            <p:spPr>
              <a:xfrm>
                <a:off x="685005" y="4320972"/>
                <a:ext cx="7793037" cy="1819729"/>
              </a:xfrm>
              <a:prstGeom prst="rect">
                <a:avLst/>
              </a:prstGeom>
              <a:blipFill>
                <a:blip r:embed="rId8"/>
                <a:stretch>
                  <a:fillRect t="-3691"/>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80705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9" grpId="0"/>
      <p:bldP spid="12" grpId="0"/>
      <p:bldP spid="1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97837" cy="914400"/>
          </a:xfrm>
        </p:spPr>
        <p:txBody>
          <a:bodyPr/>
          <a:lstStyle/>
          <a:p>
            <a:r>
              <a:rPr lang="zh-CN" altLang="en-US" dirty="0">
                <a:ea typeface="ＭＳ Ｐゴシック" panose="020B0600070205080204" pitchFamily="34" charset="-128"/>
              </a:rPr>
              <a:t>梯度计算 </a:t>
            </a:r>
            <a:r>
              <a:rPr lang="en-US" altLang="zh-CN" dirty="0">
                <a:ea typeface="ＭＳ Ｐゴシック" panose="020B0600070205080204" pitchFamily="34" charset="-128"/>
              </a:rPr>
              <a:t>(2)</a:t>
            </a:r>
            <a:endParaRPr lang="zh-CN" alt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541619-F9FD-4764-9110-46F03BBDF620}"/>
                  </a:ext>
                </a:extLst>
              </p:cNvPr>
              <p:cNvSpPr txBox="1"/>
              <p:nvPr/>
            </p:nvSpPr>
            <p:spPr>
              <a:xfrm>
                <a:off x="675479" y="2467027"/>
                <a:ext cx="7793037" cy="2279214"/>
              </a:xfrm>
              <a:prstGeom prst="rect">
                <a:avLst/>
              </a:prstGeom>
              <a:noFill/>
            </p:spPr>
            <p:txBody>
              <a:bodyPr wrap="square" rtlCol="0">
                <a:spAutoFit/>
              </a:bodyPr>
              <a:lstStyle/>
              <a:p>
                <a:pPr algn="ctr"/>
                <a:r>
                  <a:rPr lang="zh-CN" altLang="en-US" sz="2200" dirty="0"/>
                  <a:t>我们把每一个数据的对应项平均起来</a:t>
                </a:r>
                <a:endParaRPr lang="en-US" altLang="zh-CN" sz="2200" dirty="0"/>
              </a:p>
              <a:p>
                <a:pPr algn="ctr"/>
                <a14:m>
                  <m:oMathPara xmlns:m="http://schemas.openxmlformats.org/officeDocument/2006/math">
                    <m:oMathParaPr>
                      <m:jc m:val="centerGroup"/>
                    </m:oMathParaPr>
                    <m:oMath xmlns:m="http://schemas.openxmlformats.org/officeDocument/2006/math">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𝑚</m:t>
                          </m:r>
                        </m:sup>
                        <m:e>
                          <m:r>
                            <m:rPr>
                              <m:sty m:val="p"/>
                            </m:rPr>
                            <a:rPr lang="el-GR" altLang="zh-CN" sz="2200" i="1">
                              <a:latin typeface="Cambria Math" panose="02040503050406030204" pitchFamily="18" charset="0"/>
                              <a:ea typeface="Cambria Math" panose="02040503050406030204" pitchFamily="18" charset="0"/>
                            </a:rPr>
                            <m:t>Δ</m:t>
                          </m:r>
                          <m:sSubSup>
                            <m:sSubSupPr>
                              <m:ctrlPr>
                                <a:rPr lang="el-GR" altLang="zh-CN" sz="2200" i="1">
                                  <a:latin typeface="Cambria Math" panose="02040503050406030204" pitchFamily="18" charset="0"/>
                                  <a:ea typeface="Cambria Math" panose="02040503050406030204" pitchFamily="18" charset="0"/>
                                </a:rPr>
                              </m:ctrlPr>
                            </m:sSubSupPr>
                            <m:e>
                              <m:r>
                                <a:rPr lang="en-US" altLang="zh-CN" sz="2200" i="1">
                                  <a:latin typeface="Cambria Math" panose="02040503050406030204" pitchFamily="18" charset="0"/>
                                  <a:ea typeface="Cambria Math" panose="02040503050406030204" pitchFamily="18" charset="0"/>
                                </a:rPr>
                                <m:t>𝑤</m:t>
                              </m:r>
                            </m:e>
                            <m:sub>
                              <m:r>
                                <a:rPr lang="en-US" altLang="zh-CN" sz="2200" i="1">
                                  <a:latin typeface="Cambria Math" panose="02040503050406030204" pitchFamily="18" charset="0"/>
                                  <a:ea typeface="Cambria Math" panose="02040503050406030204" pitchFamily="18" charset="0"/>
                                </a:rPr>
                                <m:t>𝑗</m:t>
                              </m:r>
                            </m:sub>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bSup>
                        </m:e>
                      </m:nary>
                      <m:r>
                        <a:rPr lang="en-US" altLang="zh-CN" sz="2200" b="0" i="1" smtClean="0">
                          <a:latin typeface="Cambria Math" panose="02040503050406030204" pitchFamily="18" charset="0"/>
                        </a:rPr>
                        <m:t>=</m:t>
                      </m:r>
                      <m:nary>
                        <m:naryPr>
                          <m:chr m:val="∑"/>
                          <m:ctrlPr>
                            <a:rPr lang="en-US" altLang="zh-CN" sz="2200" b="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𝑚</m:t>
                          </m:r>
                        </m:sup>
                        <m:e>
                          <m:r>
                            <a:rPr lang="en-US" altLang="zh-CN" sz="2200" i="1">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d>
                                    <m:dPr>
                                      <m:ctrlPr>
                                        <a:rPr lang="en-US" altLang="zh-CN" sz="2200" b="1" i="1">
                                          <a:latin typeface="Cambria Math" panose="02040503050406030204" pitchFamily="18" charset="0"/>
                                          <a:ea typeface="Cambria Math" panose="02040503050406030204" pitchFamily="18" charset="0"/>
                                        </a:rPr>
                                      </m:ctrlPr>
                                    </m:dPr>
                                    <m:e>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e>
                                  </m:d>
                                </m:sup>
                              </m:sSup>
                            </m:den>
                          </m:f>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rPr>
                            <m:t>)</m:t>
                          </m:r>
                          <m:sSubSup>
                            <m:sSubSupPr>
                              <m:ctrlPr>
                                <a:rPr lang="en-US" altLang="zh-CN" sz="2200" i="1">
                                  <a:latin typeface="Cambria Math" panose="02040503050406030204" pitchFamily="18" charset="0"/>
                                  <a:ea typeface="Cambria Math" panose="02040503050406030204" pitchFamily="18" charset="0"/>
                                </a:rPr>
                              </m:ctrlPr>
                            </m:sSubSupPr>
                            <m:e>
                              <m:r>
                                <a:rPr lang="en-US" altLang="zh-CN" sz="2200" i="1">
                                  <a:latin typeface="Cambria Math" panose="02040503050406030204" pitchFamily="18" charset="0"/>
                                  <a:ea typeface="Cambria Math" panose="02040503050406030204" pitchFamily="18" charset="0"/>
                                </a:rPr>
                                <m:t>𝑥</m:t>
                              </m:r>
                            </m:e>
                            <m:sub>
                              <m:r>
                                <a:rPr lang="en-US" altLang="zh-CN" sz="2200" i="1">
                                  <a:latin typeface="Cambria Math" panose="02040503050406030204" pitchFamily="18" charset="0"/>
                                  <a:ea typeface="Cambria Math" panose="02040503050406030204" pitchFamily="18" charset="0"/>
                                </a:rPr>
                                <m:t>𝑗</m:t>
                              </m:r>
                            </m:sub>
                            <m:sup>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𝑖</m:t>
                                  </m:r>
                                </m:e>
                              </m:d>
                            </m:sup>
                          </m:sSubSup>
                        </m:e>
                      </m:nary>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𝑗</m:t>
                      </m:r>
                      <m:r>
                        <a:rPr lang="en-US" altLang="zh-CN" sz="2200" i="1">
                          <a:latin typeface="Cambria Math" panose="02040503050406030204" pitchFamily="18" charset="0"/>
                          <a:ea typeface="Cambria Math" panose="02040503050406030204" pitchFamily="18" charset="0"/>
                        </a:rPr>
                        <m:t>=1,…,</m:t>
                      </m:r>
                      <m:r>
                        <a:rPr lang="en-US" altLang="zh-CN" sz="2200" i="1">
                          <a:latin typeface="Cambria Math" panose="02040503050406030204" pitchFamily="18" charset="0"/>
                          <a:ea typeface="Cambria Math" panose="02040503050406030204" pitchFamily="18" charset="0"/>
                        </a:rPr>
                        <m:t>𝑛</m:t>
                      </m:r>
                    </m:oMath>
                  </m:oMathPara>
                </a14:m>
                <a:endParaRPr lang="en-US" altLang="zh-CN" sz="2200" dirty="0"/>
              </a:p>
              <a:p>
                <a:pPr algn="ctr"/>
                <a14:m>
                  <m:oMathPara xmlns:m="http://schemas.openxmlformats.org/officeDocument/2006/math">
                    <m:oMathParaPr>
                      <m:jc m:val="centerGroup"/>
                    </m:oMathParaPr>
                    <m:oMath xmlns:m="http://schemas.openxmlformats.org/officeDocument/2006/math">
                      <m:nary>
                        <m:naryPr>
                          <m:chr m:val="∑"/>
                          <m:ctrlPr>
                            <a:rPr lang="el-GR" altLang="zh-CN" sz="2200" i="1" smtClean="0">
                              <a:latin typeface="Cambria Math" panose="02040503050406030204" pitchFamily="18" charset="0"/>
                              <a:ea typeface="Cambria Math" panose="02040503050406030204" pitchFamily="18" charset="0"/>
                            </a:rPr>
                          </m:ctrlPr>
                        </m:naryPr>
                        <m:sub>
                          <m:r>
                            <m:rPr>
                              <m:brk m:alnAt="23"/>
                            </m:rPr>
                            <a:rPr lang="en-US" altLang="zh-CN" sz="2200" b="0" i="1" smtClean="0">
                              <a:latin typeface="Cambria Math" panose="02040503050406030204" pitchFamily="18" charset="0"/>
                              <a:ea typeface="Cambria Math" panose="02040503050406030204" pitchFamily="18" charset="0"/>
                            </a:rPr>
                            <m:t>𝑖</m:t>
                          </m:r>
                          <m:r>
                            <a:rPr lang="en-US" altLang="zh-CN" sz="2200" b="0" i="1" smtClean="0">
                              <a:latin typeface="Cambria Math" panose="02040503050406030204" pitchFamily="18" charset="0"/>
                              <a:ea typeface="Cambria Math" panose="02040503050406030204" pitchFamily="18" charset="0"/>
                            </a:rPr>
                            <m:t>=1</m:t>
                          </m:r>
                        </m:sub>
                        <m:sup>
                          <m:r>
                            <a:rPr lang="en-US" altLang="zh-CN" sz="2200" b="0" i="1" smtClean="0">
                              <a:latin typeface="Cambria Math" panose="02040503050406030204" pitchFamily="18" charset="0"/>
                              <a:ea typeface="Cambria Math" panose="02040503050406030204" pitchFamily="18" charset="0"/>
                            </a:rPr>
                            <m:t>𝑚</m:t>
                          </m:r>
                        </m:sup>
                        <m:e>
                          <m:r>
                            <m:rPr>
                              <m:sty m:val="p"/>
                            </m:rPr>
                            <a:rPr lang="el-GR" altLang="zh-CN" sz="2200" i="1">
                              <a:latin typeface="Cambria Math" panose="02040503050406030204" pitchFamily="18" charset="0"/>
                              <a:ea typeface="Cambria Math" panose="02040503050406030204" pitchFamily="18" charset="0"/>
                            </a:rPr>
                            <m:t>Δ</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𝑏</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e>
                      </m:nary>
                      <m:r>
                        <a:rPr lang="en-US" altLang="zh-CN" sz="2200" b="0" i="1" smtClean="0">
                          <a:latin typeface="Cambria Math" panose="02040503050406030204" pitchFamily="18" charset="0"/>
                          <a:ea typeface="Cambria Math" panose="02040503050406030204" pitchFamily="18" charset="0"/>
                        </a:rPr>
                        <m:t>=</m:t>
                      </m:r>
                      <m:nary>
                        <m:naryPr>
                          <m:chr m:val="∑"/>
                          <m:ctrlPr>
                            <a:rPr lang="en-US" altLang="zh-CN" sz="2200" b="0" i="1" smtClean="0">
                              <a:latin typeface="Cambria Math" panose="02040503050406030204" pitchFamily="18" charset="0"/>
                              <a:ea typeface="Cambria Math" panose="02040503050406030204" pitchFamily="18" charset="0"/>
                            </a:rPr>
                          </m:ctrlPr>
                        </m:naryPr>
                        <m:sub>
                          <m:r>
                            <m:rPr>
                              <m:brk m:alnAt="23"/>
                            </m:rPr>
                            <a:rPr lang="en-US" altLang="zh-CN" sz="2200" b="0" i="1" smtClean="0">
                              <a:latin typeface="Cambria Math" panose="02040503050406030204" pitchFamily="18" charset="0"/>
                              <a:ea typeface="Cambria Math" panose="02040503050406030204" pitchFamily="18" charset="0"/>
                            </a:rPr>
                            <m:t>𝑖</m:t>
                          </m:r>
                          <m:r>
                            <a:rPr lang="en-US" altLang="zh-CN" sz="2200" b="0" i="1" smtClean="0">
                              <a:latin typeface="Cambria Math" panose="02040503050406030204" pitchFamily="18" charset="0"/>
                              <a:ea typeface="Cambria Math" panose="02040503050406030204" pitchFamily="18" charset="0"/>
                            </a:rPr>
                            <m:t>=1</m:t>
                          </m:r>
                        </m:sub>
                        <m:sup>
                          <m:r>
                            <a:rPr lang="en-US" altLang="zh-CN" sz="2200" b="0" i="1" smtClean="0">
                              <a:latin typeface="Cambria Math" panose="02040503050406030204" pitchFamily="18" charset="0"/>
                              <a:ea typeface="Cambria Math" panose="02040503050406030204" pitchFamily="18" charset="0"/>
                            </a:rPr>
                            <m:t>𝑚</m:t>
                          </m:r>
                        </m:sup>
                        <m:e>
                          <m:r>
                            <a:rPr lang="en-US" altLang="zh-CN" sz="2200" b="0" i="1" smtClean="0">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0" i="1" smtClean="0">
                              <a:latin typeface="Cambria Math" panose="02040503050406030204" pitchFamily="18" charset="0"/>
                            </a:rPr>
                            <m:t>)</m:t>
                          </m:r>
                        </m:e>
                      </m:nary>
                    </m:oMath>
                  </m:oMathPara>
                </a14:m>
                <a:endParaRPr lang="en-US" altLang="zh-CN" sz="2200" dirty="0"/>
              </a:p>
            </p:txBody>
          </p:sp>
        </mc:Choice>
        <mc:Fallback xmlns="">
          <p:sp>
            <p:nvSpPr>
              <p:cNvPr id="7" name="TextBox 6">
                <a:extLst>
                  <a:ext uri="{FF2B5EF4-FFF2-40B4-BE49-F238E27FC236}">
                    <a16:creationId xmlns:a16="http://schemas.microsoft.com/office/drawing/2014/main" id="{5E541619-F9FD-4764-9110-46F03BBDF620}"/>
                  </a:ext>
                </a:extLst>
              </p:cNvPr>
              <p:cNvSpPr txBox="1">
                <a:spLocks noRot="1" noChangeAspect="1" noMove="1" noResize="1" noEditPoints="1" noAdjustHandles="1" noChangeArrowheads="1" noChangeShapeType="1" noTextEdit="1"/>
              </p:cNvSpPr>
              <p:nvPr/>
            </p:nvSpPr>
            <p:spPr>
              <a:xfrm>
                <a:off x="675479" y="2467027"/>
                <a:ext cx="7793037" cy="2279214"/>
              </a:xfrm>
              <a:prstGeom prst="rect">
                <a:avLst/>
              </a:prstGeom>
              <a:blipFill>
                <a:blip r:embed="rId3"/>
                <a:stretch>
                  <a:fillRect t="-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5ADFFDA-ABA5-48DB-BCFC-BA81AB78CEFC}"/>
                  </a:ext>
                </a:extLst>
              </p:cNvPr>
              <p:cNvSpPr txBox="1"/>
              <p:nvPr/>
            </p:nvSpPr>
            <p:spPr>
              <a:xfrm>
                <a:off x="675479" y="1752600"/>
                <a:ext cx="7793037" cy="453842"/>
              </a:xfrm>
              <a:prstGeom prst="rect">
                <a:avLst/>
              </a:prstGeom>
              <a:noFill/>
            </p:spPr>
            <p:txBody>
              <a:bodyPr wrap="square" rtlCol="0">
                <a:spAutoFit/>
              </a:bodyPr>
              <a:lstStyle/>
              <a:p>
                <a:pPr algn="ctr"/>
                <a:r>
                  <a:rPr lang="zh-CN" altLang="en-US" sz="2200" dirty="0"/>
                  <a:t>我们有  </a:t>
                </a:r>
                <a14:m>
                  <m:oMath xmlns:m="http://schemas.openxmlformats.org/officeDocument/2006/math">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2</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2</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𝑚</m:t>
                            </m:r>
                          </m:e>
                        </m:d>
                      </m:sup>
                    </m:sSup>
                    <m:r>
                      <a:rPr lang="en-US" altLang="zh-CN" sz="2200" i="1">
                        <a:latin typeface="Cambria Math" panose="02040503050406030204" pitchFamily="18" charset="0"/>
                      </a:rPr>
                      <m:t>)</m:t>
                    </m:r>
                  </m:oMath>
                </a14:m>
                <a:endParaRPr lang="en-US" altLang="zh-CN" sz="2200" dirty="0"/>
              </a:p>
            </p:txBody>
          </p:sp>
        </mc:Choice>
        <mc:Fallback xmlns="">
          <p:sp>
            <p:nvSpPr>
              <p:cNvPr id="14" name="TextBox 13">
                <a:extLst>
                  <a:ext uri="{FF2B5EF4-FFF2-40B4-BE49-F238E27FC236}">
                    <a16:creationId xmlns:a16="http://schemas.microsoft.com/office/drawing/2014/main" id="{95ADFFDA-ABA5-48DB-BCFC-BA81AB78CEFC}"/>
                  </a:ext>
                </a:extLst>
              </p:cNvPr>
              <p:cNvSpPr txBox="1">
                <a:spLocks noRot="1" noChangeAspect="1" noMove="1" noResize="1" noEditPoints="1" noAdjustHandles="1" noChangeArrowheads="1" noChangeShapeType="1" noTextEdit="1"/>
              </p:cNvSpPr>
              <p:nvPr/>
            </p:nvSpPr>
            <p:spPr>
              <a:xfrm>
                <a:off x="675479" y="1752600"/>
                <a:ext cx="7793037" cy="453842"/>
              </a:xfrm>
              <a:prstGeom prst="rect">
                <a:avLst/>
              </a:prstGeom>
              <a:blipFill>
                <a:blip r:embed="rId4"/>
                <a:stretch>
                  <a:fillRect t="-10811" b="-2027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40220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8097837" cy="914400"/>
          </a:xfrm>
        </p:spPr>
        <p:txBody>
          <a:bodyPr/>
          <a:lstStyle/>
          <a:p>
            <a:r>
              <a:rPr lang="zh-CN" altLang="en-US" dirty="0">
                <a:ea typeface="ＭＳ Ｐゴシック" panose="020B0600070205080204" pitchFamily="34" charset="-128"/>
              </a:rPr>
              <a:t>梯度计算 </a:t>
            </a:r>
            <a:r>
              <a:rPr lang="en-US" altLang="zh-CN" dirty="0">
                <a:ea typeface="ＭＳ Ｐゴシック" panose="020B0600070205080204" pitchFamily="34" charset="-128"/>
              </a:rPr>
              <a:t>(3)</a:t>
            </a:r>
            <a:endParaRPr lang="zh-CN" alt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541619-F9FD-4764-9110-46F03BBDF620}"/>
                  </a:ext>
                </a:extLst>
              </p:cNvPr>
              <p:cNvSpPr txBox="1"/>
              <p:nvPr/>
            </p:nvSpPr>
            <p:spPr>
              <a:xfrm>
                <a:off x="675479" y="2895600"/>
                <a:ext cx="7793037" cy="2279214"/>
              </a:xfrm>
              <a:prstGeom prst="rect">
                <a:avLst/>
              </a:prstGeom>
              <a:noFill/>
            </p:spPr>
            <p:txBody>
              <a:bodyPr wrap="square" rtlCol="0">
                <a:spAutoFit/>
              </a:bodyPr>
              <a:lstStyle/>
              <a:p>
                <a:pPr algn="ctr"/>
                <a:r>
                  <a:rPr lang="zh-CN" altLang="en-US" sz="2200" dirty="0"/>
                  <a:t>于是我们得到</a:t>
                </a:r>
                <a:endParaRPr lang="en-US" altLang="zh-CN" sz="2200" dirty="0"/>
              </a:p>
              <a:p>
                <a:pPr algn="ctr"/>
                <a14:m>
                  <m:oMathPara xmlns:m="http://schemas.openxmlformats.org/officeDocument/2006/math">
                    <m:oMathParaPr>
                      <m:jc m:val="centerGroup"/>
                    </m:oMathParaPr>
                    <m:oMath xmlns:m="http://schemas.openxmlformats.org/officeDocument/2006/math">
                      <m:r>
                        <m:rPr>
                          <m:sty m:val="p"/>
                        </m:rPr>
                        <a:rPr lang="el-GR" altLang="zh-CN" sz="2200" i="1">
                          <a:latin typeface="Cambria Math" panose="02040503050406030204" pitchFamily="18" charset="0"/>
                          <a:ea typeface="Cambria Math" panose="02040503050406030204" pitchFamily="18" charset="0"/>
                        </a:rPr>
                        <m:t>Δ</m:t>
                      </m:r>
                      <m:sSub>
                        <m:sSubPr>
                          <m:ctrlPr>
                            <a:rPr lang="el-GR" altLang="zh-CN" sz="2200" i="1" smtClean="0">
                              <a:latin typeface="Cambria Math" panose="02040503050406030204" pitchFamily="18" charset="0"/>
                              <a:ea typeface="Cambria Math" panose="02040503050406030204" pitchFamily="18" charset="0"/>
                            </a:rPr>
                          </m:ctrlPr>
                        </m:sSubPr>
                        <m:e>
                          <m:r>
                            <a:rPr lang="en-US" altLang="zh-CN" sz="2200" b="0" i="1" smtClean="0">
                              <a:latin typeface="Cambria Math" panose="02040503050406030204" pitchFamily="18" charset="0"/>
                              <a:ea typeface="Cambria Math" panose="02040503050406030204" pitchFamily="18" charset="0"/>
                            </a:rPr>
                            <m:t>𝑤</m:t>
                          </m:r>
                        </m:e>
                        <m:sub>
                          <m:r>
                            <a:rPr lang="en-US" altLang="zh-CN" sz="2200" b="0" i="1" smtClean="0">
                              <a:latin typeface="Cambria Math" panose="02040503050406030204" pitchFamily="18" charset="0"/>
                              <a:ea typeface="Cambria Math" panose="02040503050406030204" pitchFamily="18" charset="0"/>
                            </a:rPr>
                            <m:t>𝑗</m:t>
                          </m:r>
                        </m:sub>
                      </m:sSub>
                      <m:r>
                        <a:rPr lang="el-GR" altLang="zh-CN" sz="2200" i="1" smtClean="0">
                          <a:latin typeface="Cambria Math" panose="02040503050406030204" pitchFamily="18" charset="0"/>
                          <a:ea typeface="Cambria Math" panose="02040503050406030204" pitchFamily="18" charset="0"/>
                        </a:rPr>
                        <m:t>←</m:t>
                      </m:r>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𝑚</m:t>
                          </m:r>
                        </m:sup>
                        <m:e>
                          <m:r>
                            <a:rPr lang="en-US" altLang="zh-CN" sz="2200" i="1">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d>
                                    <m:dPr>
                                      <m:ctrlPr>
                                        <a:rPr lang="en-US" altLang="zh-CN" sz="2200" b="1" i="1">
                                          <a:latin typeface="Cambria Math" panose="02040503050406030204" pitchFamily="18" charset="0"/>
                                          <a:ea typeface="Cambria Math" panose="02040503050406030204" pitchFamily="18" charset="0"/>
                                        </a:rPr>
                                      </m:ctrlPr>
                                    </m:dPr>
                                    <m:e>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𝑖</m:t>
                                              </m:r>
                                            </m:e>
                                          </m:d>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e>
                                  </m:d>
                                </m:sup>
                              </m:sSup>
                            </m:den>
                          </m:f>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rPr>
                            <m:t>)</m:t>
                          </m:r>
                          <m:sSubSup>
                            <m:sSubSupPr>
                              <m:ctrlPr>
                                <a:rPr lang="en-US" altLang="zh-CN" sz="2200" i="1">
                                  <a:latin typeface="Cambria Math" panose="02040503050406030204" pitchFamily="18" charset="0"/>
                                  <a:ea typeface="Cambria Math" panose="02040503050406030204" pitchFamily="18" charset="0"/>
                                </a:rPr>
                              </m:ctrlPr>
                            </m:sSubSupPr>
                            <m:e>
                              <m:r>
                                <a:rPr lang="en-US" altLang="zh-CN" sz="2200" i="1">
                                  <a:latin typeface="Cambria Math" panose="02040503050406030204" pitchFamily="18" charset="0"/>
                                  <a:ea typeface="Cambria Math" panose="02040503050406030204" pitchFamily="18" charset="0"/>
                                </a:rPr>
                                <m:t>𝑥</m:t>
                              </m:r>
                            </m:e>
                            <m:sub>
                              <m:r>
                                <a:rPr lang="en-US" altLang="zh-CN" sz="2200" i="1">
                                  <a:latin typeface="Cambria Math" panose="02040503050406030204" pitchFamily="18" charset="0"/>
                                  <a:ea typeface="Cambria Math" panose="02040503050406030204" pitchFamily="18" charset="0"/>
                                </a:rPr>
                                <m:t>𝑗</m:t>
                              </m:r>
                            </m:sub>
                            <m:sup>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𝑖</m:t>
                                  </m:r>
                                </m:e>
                              </m:d>
                            </m:sup>
                          </m:sSubSup>
                        </m:e>
                      </m:nary>
                      <m:r>
                        <a:rPr lang="en-US" altLang="zh-CN" sz="2200" b="0" i="1" smtClean="0">
                          <a:solidFill>
                            <a:schemeClr val="tx1"/>
                          </a:solidFill>
                          <a:latin typeface="Cambria Math" panose="02040503050406030204" pitchFamily="18" charset="0"/>
                          <a:ea typeface="Cambria Math" panose="02040503050406030204" pitchFamily="18" charset="0"/>
                        </a:rPr>
                        <m:t>+</m:t>
                      </m:r>
                      <m:r>
                        <a:rPr lang="el-GR" altLang="zh-CN" sz="2200" i="1">
                          <a:solidFill>
                            <a:schemeClr val="tx1"/>
                          </a:solidFill>
                          <a:latin typeface="Cambria Math" panose="02040503050406030204" pitchFamily="18" charset="0"/>
                          <a:ea typeface="Cambria Math" panose="02040503050406030204" pitchFamily="18" charset="0"/>
                        </a:rPr>
                        <m:t> </m:t>
                      </m:r>
                      <m:r>
                        <a:rPr lang="zh-CN" altLang="en-US" sz="2200" i="1">
                          <a:latin typeface="Cambria Math" panose="02040503050406030204" pitchFamily="18" charset="0"/>
                        </a:rPr>
                        <m:t>𝜆</m:t>
                      </m:r>
                      <m:sSub>
                        <m:sSubPr>
                          <m:ctrlPr>
                            <a:rPr lang="el-GR" altLang="zh-CN" sz="2200" i="1">
                              <a:solidFill>
                                <a:schemeClr val="tx1"/>
                              </a:solidFill>
                              <a:latin typeface="Cambria Math" panose="02040503050406030204" pitchFamily="18" charset="0"/>
                              <a:ea typeface="Cambria Math" panose="02040503050406030204" pitchFamily="18" charset="0"/>
                            </a:rPr>
                          </m:ctrlPr>
                        </m:sSubPr>
                        <m:e>
                          <m:r>
                            <a:rPr lang="en-US" altLang="zh-CN" sz="2200" i="1">
                              <a:solidFill>
                                <a:schemeClr val="tx1"/>
                              </a:solidFill>
                              <a:latin typeface="Cambria Math" panose="02040503050406030204" pitchFamily="18" charset="0"/>
                              <a:ea typeface="Cambria Math" panose="02040503050406030204" pitchFamily="18" charset="0"/>
                            </a:rPr>
                            <m:t>𝑤</m:t>
                          </m:r>
                        </m:e>
                        <m:sub>
                          <m:r>
                            <a:rPr lang="en-US" altLang="zh-CN" sz="2200" i="1">
                              <a:solidFill>
                                <a:schemeClr val="tx1"/>
                              </a:solidFill>
                              <a:latin typeface="Cambria Math" panose="02040503050406030204" pitchFamily="18" charset="0"/>
                              <a:ea typeface="Cambria Math" panose="02040503050406030204" pitchFamily="18" charset="0"/>
                            </a:rPr>
                            <m:t>𝑗</m:t>
                          </m:r>
                        </m:sub>
                      </m:sSub>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𝑗</m:t>
                      </m:r>
                      <m:r>
                        <a:rPr lang="en-US" altLang="zh-CN" sz="2200" i="1">
                          <a:latin typeface="Cambria Math" panose="02040503050406030204" pitchFamily="18" charset="0"/>
                          <a:ea typeface="Cambria Math" panose="02040503050406030204" pitchFamily="18" charset="0"/>
                        </a:rPr>
                        <m:t>=1,…,</m:t>
                      </m:r>
                      <m:r>
                        <a:rPr lang="en-US" altLang="zh-CN" sz="2200" i="1">
                          <a:latin typeface="Cambria Math" panose="02040503050406030204" pitchFamily="18" charset="0"/>
                          <a:ea typeface="Cambria Math" panose="02040503050406030204" pitchFamily="18" charset="0"/>
                        </a:rPr>
                        <m:t>𝑛</m:t>
                      </m:r>
                    </m:oMath>
                  </m:oMathPara>
                </a14:m>
                <a:endParaRPr lang="en-US" altLang="zh-CN" sz="2200"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l-GR" altLang="zh-CN" sz="2200" b="0" i="1" smtClean="0">
                          <a:latin typeface="Cambria Math" panose="02040503050406030204" pitchFamily="18" charset="0"/>
                          <a:ea typeface="Cambria Math" panose="02040503050406030204" pitchFamily="18" charset="0"/>
                        </a:rPr>
                        <m:t>Δ</m:t>
                      </m:r>
                      <m:r>
                        <a:rPr lang="en-US" altLang="zh-CN" sz="2200" b="0" i="1" smtClean="0">
                          <a:latin typeface="Cambria Math" panose="02040503050406030204" pitchFamily="18" charset="0"/>
                          <a:ea typeface="Cambria Math" panose="02040503050406030204" pitchFamily="18" charset="0"/>
                        </a:rPr>
                        <m:t>𝑏</m:t>
                      </m:r>
                      <m:r>
                        <a:rPr lang="en-US" altLang="zh-CN" sz="2200" b="0" i="1" smtClean="0">
                          <a:latin typeface="Cambria Math" panose="02040503050406030204" pitchFamily="18" charset="0"/>
                          <a:ea typeface="Cambria Math" panose="02040503050406030204" pitchFamily="18" charset="0"/>
                        </a:rPr>
                        <m:t>←</m:t>
                      </m:r>
                      <m:nary>
                        <m:naryPr>
                          <m:chr m:val="∑"/>
                          <m:ctrlPr>
                            <a:rPr lang="en-US" altLang="zh-CN" sz="2200" b="0" i="1" smtClean="0">
                              <a:latin typeface="Cambria Math" panose="02040503050406030204" pitchFamily="18" charset="0"/>
                              <a:ea typeface="Cambria Math" panose="02040503050406030204" pitchFamily="18" charset="0"/>
                            </a:rPr>
                          </m:ctrlPr>
                        </m:naryPr>
                        <m:sub>
                          <m:r>
                            <m:rPr>
                              <m:brk m:alnAt="23"/>
                            </m:rPr>
                            <a:rPr lang="en-US" altLang="zh-CN" sz="2200" b="0" i="1" smtClean="0">
                              <a:latin typeface="Cambria Math" panose="02040503050406030204" pitchFamily="18" charset="0"/>
                              <a:ea typeface="Cambria Math" panose="02040503050406030204" pitchFamily="18" charset="0"/>
                            </a:rPr>
                            <m:t>𝑖</m:t>
                          </m:r>
                          <m:r>
                            <a:rPr lang="en-US" altLang="zh-CN" sz="2200" b="0" i="1" smtClean="0">
                              <a:latin typeface="Cambria Math" panose="02040503050406030204" pitchFamily="18" charset="0"/>
                              <a:ea typeface="Cambria Math" panose="02040503050406030204" pitchFamily="18" charset="0"/>
                            </a:rPr>
                            <m:t>=1</m:t>
                          </m:r>
                        </m:sub>
                        <m:sup>
                          <m:r>
                            <a:rPr lang="en-US" altLang="zh-CN" sz="2200" b="0" i="1" smtClean="0">
                              <a:latin typeface="Cambria Math" panose="02040503050406030204" pitchFamily="18" charset="0"/>
                              <a:ea typeface="Cambria Math" panose="02040503050406030204" pitchFamily="18" charset="0"/>
                            </a:rPr>
                            <m:t>𝑚</m:t>
                          </m:r>
                        </m:sup>
                        <m:e>
                          <m:r>
                            <a:rPr lang="en-US" altLang="zh-CN" sz="2200" b="0" i="1" smtClean="0">
                              <a:latin typeface="Cambria Math" panose="02040503050406030204" pitchFamily="18" charset="0"/>
                              <a:ea typeface="Cambria Math" panose="02040503050406030204" pitchFamily="18" charset="0"/>
                            </a:rPr>
                            <m:t>(</m:t>
                          </m:r>
                          <m:f>
                            <m:fPr>
                              <m:ctrlPr>
                                <a:rPr lang="en-US" altLang="zh-CN" sz="2200" i="1">
                                  <a:latin typeface="Cambria Math" panose="02040503050406030204" pitchFamily="18" charset="0"/>
                                  <a:ea typeface="Cambria Math" panose="02040503050406030204" pitchFamily="18" charset="0"/>
                                </a:rPr>
                              </m:ctrlPr>
                            </m:fPr>
                            <m:num>
                              <m:r>
                                <a:rPr lang="en-US" altLang="zh-CN" sz="2200" i="1">
                                  <a:latin typeface="Cambria Math" panose="02040503050406030204" pitchFamily="18" charset="0"/>
                                  <a:ea typeface="Cambria Math" panose="02040503050406030204" pitchFamily="18" charset="0"/>
                                </a:rPr>
                                <m:t>1</m:t>
                              </m:r>
                            </m:num>
                            <m:den>
                              <m:r>
                                <a:rPr lang="en-US" altLang="zh-CN" sz="2200" i="1">
                                  <a:latin typeface="Cambria Math" panose="02040503050406030204" pitchFamily="18" charset="0"/>
                                  <a:ea typeface="Cambria Math" panose="02040503050406030204" pitchFamily="18" charset="0"/>
                                </a:rPr>
                                <m:t>1+</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𝑒</m:t>
                                  </m:r>
                                </m:e>
                                <m:sup>
                                  <m:r>
                                    <a:rPr lang="en-US" altLang="zh-CN" sz="2200" i="1">
                                      <a:latin typeface="Cambria Math" panose="02040503050406030204" pitchFamily="18" charset="0"/>
                                      <a:ea typeface="Cambria Math" panose="02040503050406030204" pitchFamily="18" charset="0"/>
                                    </a:rPr>
                                    <m:t>−(</m:t>
                                  </m:r>
                                  <m:r>
                                    <a:rPr lang="en-US" altLang="zh-CN" sz="2200" b="1">
                                      <a:latin typeface="Cambria Math" panose="02040503050406030204" pitchFamily="18" charset="0"/>
                                      <a:ea typeface="Cambria Math" panose="02040503050406030204" pitchFamily="18" charset="0"/>
                                    </a:rPr>
                                    <m:t>𝐰</m:t>
                                  </m:r>
                                  <m:r>
                                    <a:rPr lang="en-US" altLang="zh-CN" sz="2200"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𝑏</m:t>
                                  </m:r>
                                  <m:r>
                                    <a:rPr lang="en-US" altLang="zh-CN" sz="2200" i="1">
                                      <a:latin typeface="Cambria Math" panose="02040503050406030204" pitchFamily="18" charset="0"/>
                                      <a:ea typeface="Cambria Math" panose="02040503050406030204" pitchFamily="18" charset="0"/>
                                    </a:rPr>
                                    <m:t>)</m:t>
                                  </m:r>
                                </m:sup>
                              </m:sSup>
                            </m:den>
                          </m:f>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0" i="1" smtClean="0">
                              <a:latin typeface="Cambria Math" panose="02040503050406030204" pitchFamily="18" charset="0"/>
                            </a:rPr>
                            <m:t>)</m:t>
                          </m:r>
                        </m:e>
                      </m:nary>
                    </m:oMath>
                  </m:oMathPara>
                </a14:m>
                <a:endParaRPr lang="en-US" altLang="zh-CN" sz="2200" dirty="0"/>
              </a:p>
            </p:txBody>
          </p:sp>
        </mc:Choice>
        <mc:Fallback xmlns="">
          <p:sp>
            <p:nvSpPr>
              <p:cNvPr id="7" name="TextBox 6">
                <a:extLst>
                  <a:ext uri="{FF2B5EF4-FFF2-40B4-BE49-F238E27FC236}">
                    <a16:creationId xmlns:a16="http://schemas.microsoft.com/office/drawing/2014/main" id="{5E541619-F9FD-4764-9110-46F03BBDF620}"/>
                  </a:ext>
                </a:extLst>
              </p:cNvPr>
              <p:cNvSpPr txBox="1">
                <a:spLocks noRot="1" noChangeAspect="1" noMove="1" noResize="1" noEditPoints="1" noAdjustHandles="1" noChangeArrowheads="1" noChangeShapeType="1" noTextEdit="1"/>
              </p:cNvSpPr>
              <p:nvPr/>
            </p:nvSpPr>
            <p:spPr>
              <a:xfrm>
                <a:off x="675479" y="2895600"/>
                <a:ext cx="7793037" cy="2279214"/>
              </a:xfrm>
              <a:prstGeom prst="rect">
                <a:avLst/>
              </a:prstGeom>
              <a:blipFill>
                <a:blip r:embed="rId3"/>
                <a:stretch>
                  <a:fillRect t="-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5ADFFDA-ABA5-48DB-BCFC-BA81AB78CEFC}"/>
                  </a:ext>
                </a:extLst>
              </p:cNvPr>
              <p:cNvSpPr txBox="1"/>
              <p:nvPr/>
            </p:nvSpPr>
            <p:spPr>
              <a:xfrm>
                <a:off x="675479" y="1752600"/>
                <a:ext cx="7793037" cy="796565"/>
              </a:xfrm>
              <a:prstGeom prst="rect">
                <a:avLst/>
              </a:prstGeom>
              <a:noFill/>
            </p:spPr>
            <p:txBody>
              <a:bodyPr wrap="square" rtlCol="0">
                <a:spAutoFit/>
              </a:bodyPr>
              <a:lstStyle/>
              <a:p>
                <a:pPr algn="ctr"/>
                <a:r>
                  <a:rPr lang="zh-CN" altLang="en-US" sz="2200" dirty="0"/>
                  <a:t>最后我们考虑正则化调整项</a:t>
                </a:r>
                <a:endParaRPr lang="en-US" altLang="zh-CN" sz="2200" dirty="0"/>
              </a:p>
              <a:p>
                <a:pPr algn="ct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𝜆</m:t>
                      </m:r>
                      <m:sSub>
                        <m:sSubPr>
                          <m:ctrlPr>
                            <a:rPr lang="el-GR"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𝑤</m:t>
                          </m:r>
                        </m:e>
                        <m:sub>
                          <m:r>
                            <a:rPr lang="en-US" altLang="zh-CN" sz="2200" i="1">
                              <a:latin typeface="Cambria Math" panose="02040503050406030204" pitchFamily="18" charset="0"/>
                              <a:ea typeface="Cambria Math" panose="02040503050406030204" pitchFamily="18" charset="0"/>
                            </a:rPr>
                            <m:t>𝑗</m:t>
                          </m:r>
                        </m:sub>
                      </m:sSub>
                    </m:oMath>
                  </m:oMathPara>
                </a14:m>
                <a:endParaRPr lang="en-US" altLang="zh-CN" sz="2200" dirty="0"/>
              </a:p>
            </p:txBody>
          </p:sp>
        </mc:Choice>
        <mc:Fallback xmlns="">
          <p:sp>
            <p:nvSpPr>
              <p:cNvPr id="14" name="TextBox 13">
                <a:extLst>
                  <a:ext uri="{FF2B5EF4-FFF2-40B4-BE49-F238E27FC236}">
                    <a16:creationId xmlns:a16="http://schemas.microsoft.com/office/drawing/2014/main" id="{95ADFFDA-ABA5-48DB-BCFC-BA81AB78CEFC}"/>
                  </a:ext>
                </a:extLst>
              </p:cNvPr>
              <p:cNvSpPr txBox="1">
                <a:spLocks noRot="1" noChangeAspect="1" noMove="1" noResize="1" noEditPoints="1" noAdjustHandles="1" noChangeArrowheads="1" noChangeShapeType="1" noTextEdit="1"/>
              </p:cNvSpPr>
              <p:nvPr/>
            </p:nvSpPr>
            <p:spPr>
              <a:xfrm>
                <a:off x="675479" y="1752600"/>
                <a:ext cx="7793037" cy="796565"/>
              </a:xfrm>
              <a:prstGeom prst="rect">
                <a:avLst/>
              </a:prstGeom>
              <a:blipFill>
                <a:blip r:embed="rId4"/>
                <a:stretch>
                  <a:fillRect t="-8462" b="-615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711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A901D-0EA0-D4C2-6A90-A655C63FA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2C9746-9007-4DB3-E222-57C9DD8AFB08}"/>
              </a:ext>
            </a:extLst>
          </p:cNvPr>
          <p:cNvSpPr>
            <a:spLocks noGrp="1"/>
          </p:cNvSpPr>
          <p:nvPr>
            <p:ph type="title"/>
          </p:nvPr>
        </p:nvSpPr>
        <p:spPr/>
        <p:txBody>
          <a:bodyPr/>
          <a:lstStyle/>
          <a:p>
            <a:r>
              <a:rPr lang="zh-CN" altLang="en-US" dirty="0">
                <a:ea typeface="ＭＳ Ｐゴシック" panose="020B0600070205080204" pitchFamily="34" charset="-128"/>
              </a:rPr>
              <a:t>用于分类的回归函数</a:t>
            </a:r>
            <a:endParaRPr lang="zh-CN" altLang="en-US" dirty="0"/>
          </a:p>
        </p:txBody>
      </p:sp>
      <p:sp>
        <p:nvSpPr>
          <p:cNvPr id="3" name="Content Placeholder 2">
            <a:extLst>
              <a:ext uri="{FF2B5EF4-FFF2-40B4-BE49-F238E27FC236}">
                <a16:creationId xmlns:a16="http://schemas.microsoft.com/office/drawing/2014/main" id="{CCD8FAA8-0573-2ED4-431A-266BCB29C76B}"/>
              </a:ext>
            </a:extLst>
          </p:cNvPr>
          <p:cNvSpPr>
            <a:spLocks noGrp="1"/>
          </p:cNvSpPr>
          <p:nvPr>
            <p:ph idx="1"/>
          </p:nvPr>
        </p:nvSpPr>
        <p:spPr>
          <a:xfrm>
            <a:off x="838200" y="1600200"/>
            <a:ext cx="7772400" cy="5486400"/>
          </a:xfrm>
        </p:spPr>
        <p:txBody>
          <a:bodyPr>
            <a:normAutofit/>
          </a:bodyPr>
          <a:lstStyle/>
          <a:p>
            <a:r>
              <a:rPr lang="zh-CN" altLang="en-US" dirty="0"/>
              <a:t>其学习过程</a:t>
            </a:r>
            <a:endParaRPr lang="en-US" altLang="zh-CN" dirty="0"/>
          </a:p>
          <a:p>
            <a:pPr lvl="1"/>
            <a:r>
              <a:rPr lang="zh-CN" altLang="en-US" b="0" dirty="0"/>
              <a:t>在训练数据获得尽可能大的概率</a:t>
            </a:r>
            <a:endParaRPr lang="en-US" altLang="zh-CN" b="0" dirty="0"/>
          </a:p>
          <a:p>
            <a:r>
              <a:rPr lang="en-US" altLang="zh-CN" dirty="0"/>
              <a:t>Logistic Regression</a:t>
            </a:r>
          </a:p>
          <a:p>
            <a:pPr lvl="1"/>
            <a:r>
              <a:rPr lang="zh-CN" altLang="en-US" dirty="0"/>
              <a:t>不仅以超平面将训练数据划分开</a:t>
            </a:r>
            <a:endParaRPr lang="en-US" altLang="zh-CN" dirty="0"/>
          </a:p>
          <a:p>
            <a:pPr lvl="1"/>
            <a:r>
              <a:rPr lang="zh-CN" altLang="en-US" dirty="0"/>
              <a:t>同时尽可能试图获得更高的概率或置信度</a:t>
            </a:r>
            <a:endParaRPr lang="en-US" altLang="zh-CN" dirty="0"/>
          </a:p>
        </p:txBody>
      </p:sp>
    </p:spTree>
    <p:custDataLst>
      <p:tags r:id="rId1"/>
    </p:custDataLst>
    <p:extLst>
      <p:ext uri="{BB962C8B-B14F-4D97-AF65-F5344CB8AC3E}">
        <p14:creationId xmlns:p14="http://schemas.microsoft.com/office/powerpoint/2010/main" val="36202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一种</a:t>
            </a:r>
            <a:r>
              <a:rPr lang="zh-CN" altLang="en-US" dirty="0">
                <a:solidFill>
                  <a:srgbClr val="C00000"/>
                </a:solidFill>
                <a:ea typeface="ＭＳ Ｐゴシック" panose="020B0600070205080204" pitchFamily="34" charset="-128"/>
              </a:rPr>
              <a:t>间距</a:t>
            </a:r>
            <a:endParaRPr lang="zh-CN" altLang="en-US" dirty="0">
              <a:solidFill>
                <a:srgbClr val="C00000"/>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02DC1C5-B9C1-480C-A122-D5C479B23069}"/>
                  </a:ext>
                </a:extLst>
              </p:cNvPr>
              <p:cNvSpPr/>
              <p:nvPr/>
            </p:nvSpPr>
            <p:spPr>
              <a:xfrm>
                <a:off x="3979882" y="1752600"/>
                <a:ext cx="1184235" cy="792396"/>
              </a:xfrm>
              <a:prstGeom prst="rect">
                <a:avLst/>
              </a:prstGeom>
            </p:spPr>
            <p:txBody>
              <a:bodyPr wrap="none">
                <a:spAutoFit/>
              </a:bodyPr>
              <a:lstStyle/>
              <a:p>
                <a:pPr algn="ctr"/>
                <a:r>
                  <a:rPr lang="zh-CN" altLang="en-US" sz="2200" dirty="0"/>
                  <a:t>给定</a:t>
                </a:r>
                <a:endParaRPr lang="en-US" altLang="zh-CN" sz="2200" dirty="0"/>
              </a:p>
              <a:p>
                <a:pPr algn="ctr"/>
                <a14:m>
                  <m:oMath xmlns:m="http://schemas.openxmlformats.org/officeDocument/2006/math">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rPr>
                      <m:t>,1)</m:t>
                    </m:r>
                  </m:oMath>
                </a14:m>
                <a:r>
                  <a:rPr lang="en-US" altLang="zh-CN" sz="2200" dirty="0"/>
                  <a:t> </a:t>
                </a:r>
                <a:endParaRPr lang="zh-CN" altLang="en-US" sz="2200" dirty="0"/>
              </a:p>
            </p:txBody>
          </p:sp>
        </mc:Choice>
        <mc:Fallback xmlns="">
          <p:sp>
            <p:nvSpPr>
              <p:cNvPr id="8" name="Rectangle 7">
                <a:extLst>
                  <a:ext uri="{FF2B5EF4-FFF2-40B4-BE49-F238E27FC236}">
                    <a16:creationId xmlns:a16="http://schemas.microsoft.com/office/drawing/2014/main" id="{102DC1C5-B9C1-480C-A122-D5C479B23069}"/>
                  </a:ext>
                </a:extLst>
              </p:cNvPr>
              <p:cNvSpPr>
                <a:spLocks noRot="1" noChangeAspect="1" noMove="1" noResize="1" noEditPoints="1" noAdjustHandles="1" noChangeArrowheads="1" noChangeShapeType="1" noTextEdit="1"/>
              </p:cNvSpPr>
              <p:nvPr/>
            </p:nvSpPr>
            <p:spPr>
              <a:xfrm>
                <a:off x="3979882" y="1752600"/>
                <a:ext cx="1184235" cy="792396"/>
              </a:xfrm>
              <a:prstGeom prst="rect">
                <a:avLst/>
              </a:prstGeom>
              <a:blipFill>
                <a:blip r:embed="rId3"/>
                <a:stretch>
                  <a:fillRect l="-3608" t="-8527" b="-8527"/>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D40F70F0-7A10-4675-A3B0-51E3F00640F1}"/>
              </a:ext>
            </a:extLst>
          </p:cNvPr>
          <p:cNvGrpSpPr/>
          <p:nvPr/>
        </p:nvGrpSpPr>
        <p:grpSpPr>
          <a:xfrm>
            <a:off x="2326644" y="2697718"/>
            <a:ext cx="657619" cy="2255282"/>
            <a:chOff x="733237" y="2697718"/>
            <a:chExt cx="657619" cy="2255282"/>
          </a:xfrm>
        </p:grpSpPr>
        <p:cxnSp>
          <p:nvCxnSpPr>
            <p:cNvPr id="7" name="Straight Arrow Connector 6">
              <a:extLst>
                <a:ext uri="{FF2B5EF4-FFF2-40B4-BE49-F238E27FC236}">
                  <a16:creationId xmlns:a16="http://schemas.microsoft.com/office/drawing/2014/main" id="{049FCCD0-4AA1-4919-91E7-E3C6FD682731}"/>
                </a:ext>
              </a:extLst>
            </p:cNvPr>
            <p:cNvCxnSpPr>
              <a:cxnSpLocks/>
            </p:cNvCxnSpPr>
            <p:nvPr/>
          </p:nvCxnSpPr>
          <p:spPr bwMode="auto">
            <a:xfrm flipV="1">
              <a:off x="1295194" y="2697718"/>
              <a:ext cx="0" cy="22552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TextBox 8">
              <a:extLst>
                <a:ext uri="{FF2B5EF4-FFF2-40B4-BE49-F238E27FC236}">
                  <a16:creationId xmlns:a16="http://schemas.microsoft.com/office/drawing/2014/main" id="{583230C1-FA39-421A-92D7-9E5501869246}"/>
                </a:ext>
              </a:extLst>
            </p:cNvPr>
            <p:cNvSpPr txBox="1"/>
            <p:nvPr/>
          </p:nvSpPr>
          <p:spPr>
            <a:xfrm>
              <a:off x="923925" y="4583668"/>
              <a:ext cx="380981" cy="369332"/>
            </a:xfrm>
            <a:prstGeom prst="rect">
              <a:avLst/>
            </a:prstGeom>
            <a:noFill/>
          </p:spPr>
          <p:txBody>
            <a:bodyPr wrap="square" rtlCol="0">
              <a:spAutoFit/>
            </a:bodyPr>
            <a:lstStyle/>
            <a:p>
              <a:r>
                <a:rPr lang="en-US" altLang="zh-CN" dirty="0"/>
                <a:t>0</a:t>
              </a:r>
              <a:endParaRPr lang="zh-CN" altLang="en-US" dirty="0"/>
            </a:p>
          </p:txBody>
        </p:sp>
        <p:sp>
          <p:nvSpPr>
            <p:cNvPr id="10" name="TextBox 9">
              <a:extLst>
                <a:ext uri="{FF2B5EF4-FFF2-40B4-BE49-F238E27FC236}">
                  <a16:creationId xmlns:a16="http://schemas.microsoft.com/office/drawing/2014/main" id="{4AFFE979-F740-4D14-BC18-02467348D6FA}"/>
                </a:ext>
              </a:extLst>
            </p:cNvPr>
            <p:cNvSpPr txBox="1"/>
            <p:nvPr/>
          </p:nvSpPr>
          <p:spPr>
            <a:xfrm>
              <a:off x="914213" y="2754913"/>
              <a:ext cx="380981" cy="369332"/>
            </a:xfrm>
            <a:prstGeom prst="rect">
              <a:avLst/>
            </a:prstGeom>
            <a:noFill/>
          </p:spPr>
          <p:txBody>
            <a:bodyPr wrap="square" rtlCol="0">
              <a:spAutoFit/>
            </a:bodyPr>
            <a:lstStyle/>
            <a:p>
              <a:r>
                <a:rPr lang="en-US" altLang="zh-CN" dirty="0"/>
                <a:t>1</a:t>
              </a:r>
              <a:endParaRPr lang="zh-CN" altLang="en-US" dirty="0"/>
            </a:p>
          </p:txBody>
        </p:sp>
        <p:sp>
          <p:nvSpPr>
            <p:cNvPr id="12" name="TextBox 11">
              <a:extLst>
                <a:ext uri="{FF2B5EF4-FFF2-40B4-BE49-F238E27FC236}">
                  <a16:creationId xmlns:a16="http://schemas.microsoft.com/office/drawing/2014/main" id="{232EA1E1-C370-49BA-8A60-E3846AB8A511}"/>
                </a:ext>
              </a:extLst>
            </p:cNvPr>
            <p:cNvSpPr txBox="1"/>
            <p:nvPr/>
          </p:nvSpPr>
          <p:spPr>
            <a:xfrm>
              <a:off x="733237" y="3723855"/>
              <a:ext cx="562163" cy="369332"/>
            </a:xfrm>
            <a:prstGeom prst="rect">
              <a:avLst/>
            </a:prstGeom>
            <a:noFill/>
          </p:spPr>
          <p:txBody>
            <a:bodyPr wrap="square" rtlCol="0">
              <a:spAutoFit/>
            </a:bodyPr>
            <a:lstStyle/>
            <a:p>
              <a:r>
                <a:rPr lang="en-US" altLang="zh-CN" dirty="0"/>
                <a:t>0.5</a:t>
              </a:r>
              <a:endParaRPr lang="zh-CN" altLang="en-US" dirty="0"/>
            </a:p>
          </p:txBody>
        </p:sp>
        <p:cxnSp>
          <p:nvCxnSpPr>
            <p:cNvPr id="14" name="Straight Connector 13">
              <a:extLst>
                <a:ext uri="{FF2B5EF4-FFF2-40B4-BE49-F238E27FC236}">
                  <a16:creationId xmlns:a16="http://schemas.microsoft.com/office/drawing/2014/main" id="{B8A8EC73-6BDA-45FE-BC7D-158779DB3806}"/>
                </a:ext>
              </a:extLst>
            </p:cNvPr>
            <p:cNvCxnSpPr>
              <a:stCxn id="10" idx="3"/>
            </p:cNvCxnSpPr>
            <p:nvPr/>
          </p:nvCxnSpPr>
          <p:spPr bwMode="auto">
            <a:xfrm>
              <a:off x="1295194" y="2939579"/>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8F925DF9-18C5-464A-A74E-F572C1AB1E13}"/>
                </a:ext>
              </a:extLst>
            </p:cNvPr>
            <p:cNvCxnSpPr/>
            <p:nvPr/>
          </p:nvCxnSpPr>
          <p:spPr bwMode="auto">
            <a:xfrm>
              <a:off x="1304925" y="3897868"/>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223E0DF2-B009-4380-BD48-22FDE117C4FD}"/>
                </a:ext>
              </a:extLst>
            </p:cNvPr>
            <p:cNvCxnSpPr/>
            <p:nvPr/>
          </p:nvCxnSpPr>
          <p:spPr bwMode="auto">
            <a:xfrm>
              <a:off x="1314450" y="4800600"/>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25" name="Group 24">
            <a:extLst>
              <a:ext uri="{FF2B5EF4-FFF2-40B4-BE49-F238E27FC236}">
                <a16:creationId xmlns:a16="http://schemas.microsoft.com/office/drawing/2014/main" id="{D2F6EF58-A218-46FB-A62B-3451FCF6A78C}"/>
              </a:ext>
            </a:extLst>
          </p:cNvPr>
          <p:cNvGrpSpPr/>
          <p:nvPr/>
        </p:nvGrpSpPr>
        <p:grpSpPr>
          <a:xfrm>
            <a:off x="2869757" y="2996150"/>
            <a:ext cx="2497364" cy="444994"/>
            <a:chOff x="1276350" y="2996150"/>
            <a:chExt cx="2497364" cy="444994"/>
          </a:xfrm>
        </p:grpSpPr>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1E327505-6291-4922-9C6A-0DC436A62BA2}"/>
                    </a:ext>
                  </a:extLst>
                </p:cNvPr>
                <p:cNvSpPr/>
                <p:nvPr/>
              </p:nvSpPr>
              <p:spPr>
                <a:xfrm>
                  <a:off x="1895251" y="2996150"/>
                  <a:ext cx="1878463" cy="4449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r>
                          <a:rPr lang="en-US" altLang="zh-CN" sz="2200" b="1"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18" name="Rectangle 17">
                  <a:extLst>
                    <a:ext uri="{FF2B5EF4-FFF2-40B4-BE49-F238E27FC236}">
                      <a16:creationId xmlns:a16="http://schemas.microsoft.com/office/drawing/2014/main" id="{1E327505-6291-4922-9C6A-0DC436A62BA2}"/>
                    </a:ext>
                  </a:extLst>
                </p:cNvPr>
                <p:cNvSpPr>
                  <a:spLocks noRot="1" noChangeAspect="1" noMove="1" noResize="1" noEditPoints="1" noAdjustHandles="1" noChangeArrowheads="1" noChangeShapeType="1" noTextEdit="1"/>
                </p:cNvSpPr>
                <p:nvPr/>
              </p:nvSpPr>
              <p:spPr>
                <a:xfrm>
                  <a:off x="1895251" y="2996150"/>
                  <a:ext cx="1878463" cy="444994"/>
                </a:xfrm>
                <a:prstGeom prst="rect">
                  <a:avLst/>
                </a:prstGeom>
                <a:blipFill>
                  <a:blip r:embed="rId6"/>
                  <a:stretch>
                    <a:fillRect b="-16438"/>
                  </a:stretch>
                </a:blipFill>
              </p:spPr>
              <p:txBody>
                <a:bodyPr/>
                <a:lstStyle/>
                <a:p>
                  <a:r>
                    <a:rPr lang="zh-CN" altLang="en-US">
                      <a:noFill/>
                    </a:rPr>
                    <a:t> </a:t>
                  </a:r>
                </a:p>
              </p:txBody>
            </p:sp>
          </mc:Fallback>
        </mc:AlternateContent>
        <p:cxnSp>
          <p:nvCxnSpPr>
            <p:cNvPr id="20" name="Straight Arrow Connector 19">
              <a:extLst>
                <a:ext uri="{FF2B5EF4-FFF2-40B4-BE49-F238E27FC236}">
                  <a16:creationId xmlns:a16="http://schemas.microsoft.com/office/drawing/2014/main" id="{572DDD00-D2CE-4822-9B8E-0F490D10F24E}"/>
                </a:ext>
              </a:extLst>
            </p:cNvPr>
            <p:cNvCxnSpPr>
              <a:stCxn id="18" idx="1"/>
            </p:cNvCxnSpPr>
            <p:nvPr/>
          </p:nvCxnSpPr>
          <p:spPr bwMode="auto">
            <a:xfrm flipH="1">
              <a:off x="1276350" y="3218647"/>
              <a:ext cx="618901" cy="80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26" name="Group 25">
            <a:extLst>
              <a:ext uri="{FF2B5EF4-FFF2-40B4-BE49-F238E27FC236}">
                <a16:creationId xmlns:a16="http://schemas.microsoft.com/office/drawing/2014/main" id="{8C3A73F2-7E99-4E0F-9217-D339653B1779}"/>
              </a:ext>
            </a:extLst>
          </p:cNvPr>
          <p:cNvGrpSpPr/>
          <p:nvPr/>
        </p:nvGrpSpPr>
        <p:grpSpPr>
          <a:xfrm>
            <a:off x="2984263" y="3218647"/>
            <a:ext cx="3949937" cy="1059934"/>
            <a:chOff x="1390856" y="3218647"/>
            <a:chExt cx="3949937" cy="1059934"/>
          </a:xfrm>
        </p:grpSpPr>
        <p:cxnSp>
          <p:nvCxnSpPr>
            <p:cNvPr id="22" name="Straight Arrow Connector 21">
              <a:extLst>
                <a:ext uri="{FF2B5EF4-FFF2-40B4-BE49-F238E27FC236}">
                  <a16:creationId xmlns:a16="http://schemas.microsoft.com/office/drawing/2014/main" id="{EFFA8BB4-C4CF-412F-BF4D-A173C89CA137}"/>
                </a:ext>
              </a:extLst>
            </p:cNvPr>
            <p:cNvCxnSpPr/>
            <p:nvPr/>
          </p:nvCxnSpPr>
          <p:spPr bwMode="auto">
            <a:xfrm flipV="1">
              <a:off x="1390856" y="3218647"/>
              <a:ext cx="0" cy="689874"/>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4B05AE44-38A4-487B-A1B5-1666224673FD}"/>
                    </a:ext>
                  </a:extLst>
                </p:cNvPr>
                <p:cNvSpPr/>
                <p:nvPr/>
              </p:nvSpPr>
              <p:spPr>
                <a:xfrm>
                  <a:off x="1587614" y="3495033"/>
                  <a:ext cx="3753179" cy="783548"/>
                </a:xfrm>
                <a:prstGeom prst="rect">
                  <a:avLst/>
                </a:prstGeom>
              </p:spPr>
              <p:txBody>
                <a:bodyPr wrap="square">
                  <a:spAutoFit/>
                </a:bodyPr>
                <a:lstStyle/>
                <a:p>
                  <a:pPr algn="ctr"/>
                  <a:r>
                    <a:rPr lang="zh-CN" altLang="en-US" sz="2200" dirty="0"/>
                    <a:t>以间距</a:t>
                  </a: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r>
                        <a:rPr lang="en-US" altLang="zh-CN" sz="2200" b="1"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r>
                        <a:rPr lang="en-US" altLang="zh-CN" sz="2200">
                          <a:latin typeface="Cambria Math" panose="02040503050406030204" pitchFamily="18" charset="0"/>
                          <a:ea typeface="Cambria Math" panose="02040503050406030204" pitchFamily="18" charset="0"/>
                        </a:rPr>
                        <m:t>−0.5</m:t>
                      </m:r>
                    </m:oMath>
                  </a14:m>
                  <a:r>
                    <a:rPr lang="zh-CN" altLang="en-US" sz="2200" dirty="0"/>
                    <a:t>正确地分类</a:t>
                  </a:r>
                </a:p>
              </p:txBody>
            </p:sp>
          </mc:Choice>
          <mc:Fallback xmlns="">
            <p:sp>
              <p:nvSpPr>
                <p:cNvPr id="24" name="Rectangle 23">
                  <a:extLst>
                    <a:ext uri="{FF2B5EF4-FFF2-40B4-BE49-F238E27FC236}">
                      <a16:creationId xmlns:a16="http://schemas.microsoft.com/office/drawing/2014/main" id="{4B05AE44-38A4-487B-A1B5-1666224673FD}"/>
                    </a:ext>
                  </a:extLst>
                </p:cNvPr>
                <p:cNvSpPr>
                  <a:spLocks noRot="1" noChangeAspect="1" noMove="1" noResize="1" noEditPoints="1" noAdjustHandles="1" noChangeArrowheads="1" noChangeShapeType="1" noTextEdit="1"/>
                </p:cNvSpPr>
                <p:nvPr/>
              </p:nvSpPr>
              <p:spPr>
                <a:xfrm>
                  <a:off x="1587614" y="3495033"/>
                  <a:ext cx="3753179" cy="783548"/>
                </a:xfrm>
                <a:prstGeom prst="rect">
                  <a:avLst/>
                </a:prstGeom>
                <a:blipFill>
                  <a:blip r:embed="rId7"/>
                  <a:stretch>
                    <a:fillRect t="-5426" b="-12403"/>
                  </a:stretch>
                </a:blipFill>
              </p:spPr>
              <p:txBody>
                <a:bodyPr/>
                <a:lstStyle/>
                <a:p>
                  <a:r>
                    <a:rPr lang="en-US">
                      <a:noFill/>
                    </a:rPr>
                    <a:t> </a:t>
                  </a:r>
                </a:p>
              </p:txBody>
            </p:sp>
          </mc:Fallback>
        </mc:AlternateContent>
      </p:grpSp>
    </p:spTree>
    <p:custDataLst>
      <p:tags r:id="rId1"/>
    </p:custDataLst>
    <p:extLst>
      <p:ext uri="{BB962C8B-B14F-4D97-AF65-F5344CB8AC3E}">
        <p14:creationId xmlns:p14="http://schemas.microsoft.com/office/powerpoint/2010/main" val="248906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一种间距</a:t>
            </a:r>
            <a:endParaRPr lang="zh-CN" altLang="en-US"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02DC1C5-B9C1-480C-A122-D5C479B23069}"/>
                  </a:ext>
                </a:extLst>
              </p:cNvPr>
              <p:cNvSpPr/>
              <p:nvPr/>
            </p:nvSpPr>
            <p:spPr>
              <a:xfrm>
                <a:off x="3967860" y="1752600"/>
                <a:ext cx="1208279" cy="792396"/>
              </a:xfrm>
              <a:prstGeom prst="rect">
                <a:avLst/>
              </a:prstGeom>
            </p:spPr>
            <p:txBody>
              <a:bodyPr wrap="none">
                <a:spAutoFit/>
              </a:bodyPr>
              <a:lstStyle/>
              <a:p>
                <a:pPr algn="ctr"/>
                <a:r>
                  <a:rPr lang="zh-CN" altLang="en-US" sz="2200" dirty="0"/>
                  <a:t>给定</a:t>
                </a:r>
                <a:endParaRPr lang="en-US" altLang="zh-CN" sz="2200" dirty="0"/>
              </a:p>
              <a:p>
                <a:pPr algn="ctr"/>
                <a14:m>
                  <m:oMath xmlns:m="http://schemas.openxmlformats.org/officeDocument/2006/math">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𝑗</m:t>
                            </m:r>
                          </m:e>
                        </m:d>
                      </m:sup>
                    </m:sSup>
                    <m:r>
                      <a:rPr lang="en-US" altLang="zh-CN" sz="2200" i="1">
                        <a:latin typeface="Cambria Math" panose="02040503050406030204" pitchFamily="18" charset="0"/>
                      </a:rPr>
                      <m:t>,</m:t>
                    </m:r>
                    <m:r>
                      <a:rPr lang="en-US" altLang="zh-CN" sz="2200" b="0" i="1" smtClean="0">
                        <a:latin typeface="Cambria Math" panose="02040503050406030204" pitchFamily="18" charset="0"/>
                      </a:rPr>
                      <m:t>0</m:t>
                    </m:r>
                    <m:r>
                      <a:rPr lang="en-US" altLang="zh-CN" sz="2200" i="1">
                        <a:latin typeface="Cambria Math" panose="02040503050406030204" pitchFamily="18" charset="0"/>
                      </a:rPr>
                      <m:t>)</m:t>
                    </m:r>
                  </m:oMath>
                </a14:m>
                <a:r>
                  <a:rPr lang="en-US" altLang="zh-CN" sz="2200" dirty="0"/>
                  <a:t> </a:t>
                </a:r>
                <a:endParaRPr lang="zh-CN" altLang="en-US" sz="2200" dirty="0"/>
              </a:p>
            </p:txBody>
          </p:sp>
        </mc:Choice>
        <mc:Fallback xmlns="">
          <p:sp>
            <p:nvSpPr>
              <p:cNvPr id="8" name="Rectangle 7">
                <a:extLst>
                  <a:ext uri="{FF2B5EF4-FFF2-40B4-BE49-F238E27FC236}">
                    <a16:creationId xmlns:a16="http://schemas.microsoft.com/office/drawing/2014/main" id="{102DC1C5-B9C1-480C-A122-D5C479B23069}"/>
                  </a:ext>
                </a:extLst>
              </p:cNvPr>
              <p:cNvSpPr>
                <a:spLocks noRot="1" noChangeAspect="1" noMove="1" noResize="1" noEditPoints="1" noAdjustHandles="1" noChangeArrowheads="1" noChangeShapeType="1" noTextEdit="1"/>
              </p:cNvSpPr>
              <p:nvPr/>
            </p:nvSpPr>
            <p:spPr>
              <a:xfrm>
                <a:off x="3967860" y="1752600"/>
                <a:ext cx="1208279" cy="792396"/>
              </a:xfrm>
              <a:prstGeom prst="rect">
                <a:avLst/>
              </a:prstGeom>
              <a:blipFill>
                <a:blip r:embed="rId3"/>
                <a:stretch>
                  <a:fillRect l="-2525" t="-8527" b="-8527"/>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D40F70F0-7A10-4675-A3B0-51E3F00640F1}"/>
              </a:ext>
            </a:extLst>
          </p:cNvPr>
          <p:cNvGrpSpPr/>
          <p:nvPr/>
        </p:nvGrpSpPr>
        <p:grpSpPr>
          <a:xfrm>
            <a:off x="2326644" y="2697718"/>
            <a:ext cx="657619" cy="2255282"/>
            <a:chOff x="733237" y="2697718"/>
            <a:chExt cx="657619" cy="2255282"/>
          </a:xfrm>
        </p:grpSpPr>
        <p:cxnSp>
          <p:nvCxnSpPr>
            <p:cNvPr id="7" name="Straight Arrow Connector 6">
              <a:extLst>
                <a:ext uri="{FF2B5EF4-FFF2-40B4-BE49-F238E27FC236}">
                  <a16:creationId xmlns:a16="http://schemas.microsoft.com/office/drawing/2014/main" id="{049FCCD0-4AA1-4919-91E7-E3C6FD682731}"/>
                </a:ext>
              </a:extLst>
            </p:cNvPr>
            <p:cNvCxnSpPr>
              <a:cxnSpLocks/>
            </p:cNvCxnSpPr>
            <p:nvPr/>
          </p:nvCxnSpPr>
          <p:spPr bwMode="auto">
            <a:xfrm flipV="1">
              <a:off x="1295194" y="2697718"/>
              <a:ext cx="0" cy="22552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TextBox 8">
              <a:extLst>
                <a:ext uri="{FF2B5EF4-FFF2-40B4-BE49-F238E27FC236}">
                  <a16:creationId xmlns:a16="http://schemas.microsoft.com/office/drawing/2014/main" id="{583230C1-FA39-421A-92D7-9E5501869246}"/>
                </a:ext>
              </a:extLst>
            </p:cNvPr>
            <p:cNvSpPr txBox="1"/>
            <p:nvPr/>
          </p:nvSpPr>
          <p:spPr>
            <a:xfrm>
              <a:off x="923925" y="4583668"/>
              <a:ext cx="380981" cy="369332"/>
            </a:xfrm>
            <a:prstGeom prst="rect">
              <a:avLst/>
            </a:prstGeom>
            <a:noFill/>
          </p:spPr>
          <p:txBody>
            <a:bodyPr wrap="square" rtlCol="0">
              <a:spAutoFit/>
            </a:bodyPr>
            <a:lstStyle/>
            <a:p>
              <a:r>
                <a:rPr lang="en-US" altLang="zh-CN" dirty="0"/>
                <a:t>0</a:t>
              </a:r>
              <a:endParaRPr lang="zh-CN" altLang="en-US" dirty="0"/>
            </a:p>
          </p:txBody>
        </p:sp>
        <p:sp>
          <p:nvSpPr>
            <p:cNvPr id="10" name="TextBox 9">
              <a:extLst>
                <a:ext uri="{FF2B5EF4-FFF2-40B4-BE49-F238E27FC236}">
                  <a16:creationId xmlns:a16="http://schemas.microsoft.com/office/drawing/2014/main" id="{4AFFE979-F740-4D14-BC18-02467348D6FA}"/>
                </a:ext>
              </a:extLst>
            </p:cNvPr>
            <p:cNvSpPr txBox="1"/>
            <p:nvPr/>
          </p:nvSpPr>
          <p:spPr>
            <a:xfrm>
              <a:off x="914213" y="2754913"/>
              <a:ext cx="380981" cy="369332"/>
            </a:xfrm>
            <a:prstGeom prst="rect">
              <a:avLst/>
            </a:prstGeom>
            <a:noFill/>
          </p:spPr>
          <p:txBody>
            <a:bodyPr wrap="square" rtlCol="0">
              <a:spAutoFit/>
            </a:bodyPr>
            <a:lstStyle/>
            <a:p>
              <a:r>
                <a:rPr lang="en-US" altLang="zh-CN" dirty="0"/>
                <a:t>1</a:t>
              </a:r>
              <a:endParaRPr lang="zh-CN" altLang="en-US" dirty="0"/>
            </a:p>
          </p:txBody>
        </p:sp>
        <p:sp>
          <p:nvSpPr>
            <p:cNvPr id="12" name="TextBox 11">
              <a:extLst>
                <a:ext uri="{FF2B5EF4-FFF2-40B4-BE49-F238E27FC236}">
                  <a16:creationId xmlns:a16="http://schemas.microsoft.com/office/drawing/2014/main" id="{232EA1E1-C370-49BA-8A60-E3846AB8A511}"/>
                </a:ext>
              </a:extLst>
            </p:cNvPr>
            <p:cNvSpPr txBox="1"/>
            <p:nvPr/>
          </p:nvSpPr>
          <p:spPr>
            <a:xfrm>
              <a:off x="733237" y="3723855"/>
              <a:ext cx="562163" cy="369332"/>
            </a:xfrm>
            <a:prstGeom prst="rect">
              <a:avLst/>
            </a:prstGeom>
            <a:noFill/>
          </p:spPr>
          <p:txBody>
            <a:bodyPr wrap="square" rtlCol="0">
              <a:spAutoFit/>
            </a:bodyPr>
            <a:lstStyle/>
            <a:p>
              <a:r>
                <a:rPr lang="en-US" altLang="zh-CN" dirty="0"/>
                <a:t>0.5</a:t>
              </a:r>
              <a:endParaRPr lang="zh-CN" altLang="en-US" dirty="0"/>
            </a:p>
          </p:txBody>
        </p:sp>
        <p:cxnSp>
          <p:nvCxnSpPr>
            <p:cNvPr id="14" name="Straight Connector 13">
              <a:extLst>
                <a:ext uri="{FF2B5EF4-FFF2-40B4-BE49-F238E27FC236}">
                  <a16:creationId xmlns:a16="http://schemas.microsoft.com/office/drawing/2014/main" id="{B8A8EC73-6BDA-45FE-BC7D-158779DB3806}"/>
                </a:ext>
              </a:extLst>
            </p:cNvPr>
            <p:cNvCxnSpPr>
              <a:stCxn id="10" idx="3"/>
            </p:cNvCxnSpPr>
            <p:nvPr/>
          </p:nvCxnSpPr>
          <p:spPr bwMode="auto">
            <a:xfrm>
              <a:off x="1295194" y="2939579"/>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8F925DF9-18C5-464A-A74E-F572C1AB1E13}"/>
                </a:ext>
              </a:extLst>
            </p:cNvPr>
            <p:cNvCxnSpPr/>
            <p:nvPr/>
          </p:nvCxnSpPr>
          <p:spPr bwMode="auto">
            <a:xfrm>
              <a:off x="1304925" y="3897868"/>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223E0DF2-B009-4380-BD48-22FDE117C4FD}"/>
                </a:ext>
              </a:extLst>
            </p:cNvPr>
            <p:cNvCxnSpPr/>
            <p:nvPr/>
          </p:nvCxnSpPr>
          <p:spPr bwMode="auto">
            <a:xfrm>
              <a:off x="1314450" y="4800600"/>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25" name="Group 24">
            <a:extLst>
              <a:ext uri="{FF2B5EF4-FFF2-40B4-BE49-F238E27FC236}">
                <a16:creationId xmlns:a16="http://schemas.microsoft.com/office/drawing/2014/main" id="{D2F6EF58-A218-46FB-A62B-3451FCF6A78C}"/>
              </a:ext>
            </a:extLst>
          </p:cNvPr>
          <p:cNvGrpSpPr/>
          <p:nvPr/>
        </p:nvGrpSpPr>
        <p:grpSpPr>
          <a:xfrm>
            <a:off x="2888396" y="4467098"/>
            <a:ext cx="2521407" cy="444994"/>
            <a:chOff x="1276351" y="2996150"/>
            <a:chExt cx="2521407" cy="444994"/>
          </a:xfrm>
        </p:grpSpPr>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1E327505-6291-4922-9C6A-0DC436A62BA2}"/>
                    </a:ext>
                  </a:extLst>
                </p:cNvPr>
                <p:cNvSpPr/>
                <p:nvPr/>
              </p:nvSpPr>
              <p:spPr>
                <a:xfrm>
                  <a:off x="1895251" y="2996150"/>
                  <a:ext cx="1902507" cy="4449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𝑃</m:t>
                        </m:r>
                        <m:r>
                          <a:rPr lang="en-US" altLang="zh-CN" sz="220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r>
                          <a:rPr lang="en-US" altLang="zh-CN" sz="2200" b="1"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𝑗</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18" name="Rectangle 17">
                  <a:extLst>
                    <a:ext uri="{FF2B5EF4-FFF2-40B4-BE49-F238E27FC236}">
                      <a16:creationId xmlns:a16="http://schemas.microsoft.com/office/drawing/2014/main" id="{1E327505-6291-4922-9C6A-0DC436A62BA2}"/>
                    </a:ext>
                  </a:extLst>
                </p:cNvPr>
                <p:cNvSpPr>
                  <a:spLocks noRot="1" noChangeAspect="1" noMove="1" noResize="1" noEditPoints="1" noAdjustHandles="1" noChangeArrowheads="1" noChangeShapeType="1" noTextEdit="1"/>
                </p:cNvSpPr>
                <p:nvPr/>
              </p:nvSpPr>
              <p:spPr>
                <a:xfrm>
                  <a:off x="1895251" y="2996150"/>
                  <a:ext cx="1902507" cy="444994"/>
                </a:xfrm>
                <a:prstGeom prst="rect">
                  <a:avLst/>
                </a:prstGeom>
                <a:blipFill>
                  <a:blip r:embed="rId6"/>
                  <a:stretch>
                    <a:fillRect b="-16438"/>
                  </a:stretch>
                </a:blipFill>
              </p:spPr>
              <p:txBody>
                <a:bodyPr/>
                <a:lstStyle/>
                <a:p>
                  <a:r>
                    <a:rPr lang="zh-CN" altLang="en-US">
                      <a:noFill/>
                    </a:rPr>
                    <a:t> </a:t>
                  </a:r>
                </a:p>
              </p:txBody>
            </p:sp>
          </mc:Fallback>
        </mc:AlternateContent>
        <p:cxnSp>
          <p:nvCxnSpPr>
            <p:cNvPr id="20" name="Straight Arrow Connector 19">
              <a:extLst>
                <a:ext uri="{FF2B5EF4-FFF2-40B4-BE49-F238E27FC236}">
                  <a16:creationId xmlns:a16="http://schemas.microsoft.com/office/drawing/2014/main" id="{572DDD00-D2CE-4822-9B8E-0F490D10F24E}"/>
                </a:ext>
              </a:extLst>
            </p:cNvPr>
            <p:cNvCxnSpPr>
              <a:stCxn id="18" idx="1"/>
            </p:cNvCxnSpPr>
            <p:nvPr/>
          </p:nvCxnSpPr>
          <p:spPr bwMode="auto">
            <a:xfrm flipH="1">
              <a:off x="1276351" y="3218647"/>
              <a:ext cx="618900" cy="80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26" name="Group 25">
            <a:extLst>
              <a:ext uri="{FF2B5EF4-FFF2-40B4-BE49-F238E27FC236}">
                <a16:creationId xmlns:a16="http://schemas.microsoft.com/office/drawing/2014/main" id="{8C3A73F2-7E99-4E0F-9217-D339653B1779}"/>
              </a:ext>
            </a:extLst>
          </p:cNvPr>
          <p:cNvGrpSpPr/>
          <p:nvPr/>
        </p:nvGrpSpPr>
        <p:grpSpPr>
          <a:xfrm>
            <a:off x="2990850" y="2822019"/>
            <a:ext cx="4115129" cy="1883331"/>
            <a:chOff x="1388348" y="2151802"/>
            <a:chExt cx="4115129" cy="1883331"/>
          </a:xfrm>
        </p:grpSpPr>
        <p:cxnSp>
          <p:nvCxnSpPr>
            <p:cNvPr id="22" name="Straight Arrow Connector 21">
              <a:extLst>
                <a:ext uri="{FF2B5EF4-FFF2-40B4-BE49-F238E27FC236}">
                  <a16:creationId xmlns:a16="http://schemas.microsoft.com/office/drawing/2014/main" id="{EFFA8BB4-C4CF-412F-BF4D-A173C89CA137}"/>
                </a:ext>
              </a:extLst>
            </p:cNvPr>
            <p:cNvCxnSpPr>
              <a:cxnSpLocks/>
            </p:cNvCxnSpPr>
            <p:nvPr/>
          </p:nvCxnSpPr>
          <p:spPr bwMode="auto">
            <a:xfrm flipV="1">
              <a:off x="1388348" y="3218647"/>
              <a:ext cx="2508" cy="816486"/>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4B05AE44-38A4-487B-A1B5-1666224673FD}"/>
                    </a:ext>
                  </a:extLst>
                </p:cNvPr>
                <p:cNvSpPr/>
                <p:nvPr/>
              </p:nvSpPr>
              <p:spPr>
                <a:xfrm>
                  <a:off x="1750298" y="2151802"/>
                  <a:ext cx="3753179" cy="1460656"/>
                </a:xfrm>
                <a:prstGeom prst="rect">
                  <a:avLst/>
                </a:prstGeom>
              </p:spPr>
              <p:txBody>
                <a:bodyPr wrap="square">
                  <a:spAutoFit/>
                </a:bodyPr>
                <a:lstStyle/>
                <a:p>
                  <a:pPr algn="ctr"/>
                  <a:endParaRPr lang="en-US" altLang="zh-CN" sz="2200" dirty="0"/>
                </a:p>
                <a:p>
                  <a:pPr algn="ctr"/>
                  <a:endParaRPr lang="en-US" altLang="zh-CN" sz="2200" dirty="0"/>
                </a:p>
                <a:p>
                  <a:pPr algn="ctr"/>
                  <a:r>
                    <a:rPr lang="zh-CN" altLang="en-US" sz="2200" dirty="0"/>
                    <a:t>以间距</a:t>
                  </a:r>
                  <a14:m>
                    <m:oMath xmlns:m="http://schemas.openxmlformats.org/officeDocument/2006/math">
                      <m:r>
                        <a:rPr lang="en-US" altLang="zh-CN" sz="2200">
                          <a:latin typeface="Cambria Math" panose="02040503050406030204" pitchFamily="18" charset="0"/>
                          <a:ea typeface="Cambria Math" panose="02040503050406030204" pitchFamily="18" charset="0"/>
                        </a:rPr>
                        <m:t>0.5</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𝑃</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r>
                        <a:rPr lang="en-US" altLang="zh-CN" sz="2200" b="1" i="1">
                          <a:latin typeface="Cambria Math" panose="02040503050406030204" pitchFamily="18" charset="0"/>
                          <a:ea typeface="Cambria Math" panose="02040503050406030204" pitchFamily="18" charset="0"/>
                        </a:rPr>
                        <m:t>|</m:t>
                      </m:r>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𝑖</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oMath>
                  </a14:m>
                  <a:r>
                    <a:rPr lang="zh-CN" altLang="en-US" sz="2200" dirty="0"/>
                    <a:t>正确地分类</a:t>
                  </a:r>
                </a:p>
              </p:txBody>
            </p:sp>
          </mc:Choice>
          <mc:Fallback xmlns="">
            <p:sp>
              <p:nvSpPr>
                <p:cNvPr id="24" name="Rectangle 23">
                  <a:extLst>
                    <a:ext uri="{FF2B5EF4-FFF2-40B4-BE49-F238E27FC236}">
                      <a16:creationId xmlns:a16="http://schemas.microsoft.com/office/drawing/2014/main" id="{4B05AE44-38A4-487B-A1B5-1666224673FD}"/>
                    </a:ext>
                  </a:extLst>
                </p:cNvPr>
                <p:cNvSpPr>
                  <a:spLocks noRot="1" noChangeAspect="1" noMove="1" noResize="1" noEditPoints="1" noAdjustHandles="1" noChangeArrowheads="1" noChangeShapeType="1" noTextEdit="1"/>
                </p:cNvSpPr>
                <p:nvPr/>
              </p:nvSpPr>
              <p:spPr>
                <a:xfrm>
                  <a:off x="1750298" y="2151802"/>
                  <a:ext cx="3753179" cy="1460656"/>
                </a:xfrm>
                <a:prstGeom prst="rect">
                  <a:avLst/>
                </a:prstGeom>
                <a:blipFill>
                  <a:blip r:embed="rId7"/>
                  <a:stretch>
                    <a:fillRect b="-5833"/>
                  </a:stretch>
                </a:blipFill>
              </p:spPr>
              <p:txBody>
                <a:bodyPr/>
                <a:lstStyle/>
                <a:p>
                  <a:r>
                    <a:rPr lang="en-US">
                      <a:noFill/>
                    </a:rPr>
                    <a:t> </a:t>
                  </a:r>
                </a:p>
              </p:txBody>
            </p:sp>
          </mc:Fallback>
        </mc:AlternateContent>
      </p:grpSp>
    </p:spTree>
    <p:custDataLst>
      <p:tags r:id="rId1"/>
    </p:custDataLst>
    <p:extLst>
      <p:ext uri="{BB962C8B-B14F-4D97-AF65-F5344CB8AC3E}">
        <p14:creationId xmlns:p14="http://schemas.microsoft.com/office/powerpoint/2010/main" val="160887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一种间距</a:t>
            </a:r>
            <a:endParaRPr lang="zh-CN" altLang="en-US"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02DC1C5-B9C1-480C-A122-D5C479B23069}"/>
                  </a:ext>
                </a:extLst>
              </p:cNvPr>
              <p:cNvSpPr/>
              <p:nvPr/>
            </p:nvSpPr>
            <p:spPr>
              <a:xfrm>
                <a:off x="3470805" y="1752600"/>
                <a:ext cx="2202398" cy="430887"/>
              </a:xfrm>
              <a:prstGeom prst="rect">
                <a:avLst/>
              </a:prstGeom>
            </p:spPr>
            <p:txBody>
              <a:bodyPr wrap="none">
                <a:spAutoFit/>
              </a:bodyPr>
              <a:lstStyle/>
              <a:p>
                <a:pPr algn="ctr"/>
                <a:r>
                  <a:rPr lang="zh-CN" altLang="en-US" sz="2200" dirty="0"/>
                  <a:t>给定一个间距  </a:t>
                </a:r>
                <a14:m>
                  <m:oMath xmlns:m="http://schemas.openxmlformats.org/officeDocument/2006/math">
                    <m:r>
                      <a:rPr lang="zh-CN" altLang="en-US" sz="2200" i="1" smtClean="0">
                        <a:latin typeface="Cambria Math" panose="02040503050406030204" pitchFamily="18" charset="0"/>
                      </a:rPr>
                      <m:t>𝛾</m:t>
                    </m:r>
                  </m:oMath>
                </a14:m>
                <a:endParaRPr lang="en-US" altLang="zh-CN" sz="2200" dirty="0"/>
              </a:p>
            </p:txBody>
          </p:sp>
        </mc:Choice>
        <mc:Fallback xmlns="">
          <p:sp>
            <p:nvSpPr>
              <p:cNvPr id="8" name="Rectangle 7">
                <a:extLst>
                  <a:ext uri="{FF2B5EF4-FFF2-40B4-BE49-F238E27FC236}">
                    <a16:creationId xmlns:a16="http://schemas.microsoft.com/office/drawing/2014/main" id="{102DC1C5-B9C1-480C-A122-D5C479B23069}"/>
                  </a:ext>
                </a:extLst>
              </p:cNvPr>
              <p:cNvSpPr>
                <a:spLocks noRot="1" noChangeAspect="1" noMove="1" noResize="1" noEditPoints="1" noAdjustHandles="1" noChangeArrowheads="1" noChangeShapeType="1" noTextEdit="1"/>
              </p:cNvSpPr>
              <p:nvPr/>
            </p:nvSpPr>
            <p:spPr>
              <a:xfrm>
                <a:off x="3470805" y="1752600"/>
                <a:ext cx="2202398" cy="430887"/>
              </a:xfrm>
              <a:prstGeom prst="rect">
                <a:avLst/>
              </a:prstGeom>
              <a:blipFill>
                <a:blip r:embed="rId4"/>
                <a:stretch>
                  <a:fillRect l="-3315" t="-15714" b="-22857"/>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D40F70F0-7A10-4675-A3B0-51E3F00640F1}"/>
              </a:ext>
            </a:extLst>
          </p:cNvPr>
          <p:cNvGrpSpPr/>
          <p:nvPr/>
        </p:nvGrpSpPr>
        <p:grpSpPr>
          <a:xfrm>
            <a:off x="2326644" y="2697718"/>
            <a:ext cx="657619" cy="2255282"/>
            <a:chOff x="733237" y="2697718"/>
            <a:chExt cx="657619" cy="2255282"/>
          </a:xfrm>
        </p:grpSpPr>
        <p:cxnSp>
          <p:nvCxnSpPr>
            <p:cNvPr id="7" name="Straight Arrow Connector 6">
              <a:extLst>
                <a:ext uri="{FF2B5EF4-FFF2-40B4-BE49-F238E27FC236}">
                  <a16:creationId xmlns:a16="http://schemas.microsoft.com/office/drawing/2014/main" id="{049FCCD0-4AA1-4919-91E7-E3C6FD682731}"/>
                </a:ext>
              </a:extLst>
            </p:cNvPr>
            <p:cNvCxnSpPr>
              <a:cxnSpLocks/>
            </p:cNvCxnSpPr>
            <p:nvPr/>
          </p:nvCxnSpPr>
          <p:spPr bwMode="auto">
            <a:xfrm flipV="1">
              <a:off x="1295194" y="2697718"/>
              <a:ext cx="0" cy="22552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TextBox 8">
              <a:extLst>
                <a:ext uri="{FF2B5EF4-FFF2-40B4-BE49-F238E27FC236}">
                  <a16:creationId xmlns:a16="http://schemas.microsoft.com/office/drawing/2014/main" id="{583230C1-FA39-421A-92D7-9E5501869246}"/>
                </a:ext>
              </a:extLst>
            </p:cNvPr>
            <p:cNvSpPr txBox="1"/>
            <p:nvPr/>
          </p:nvSpPr>
          <p:spPr>
            <a:xfrm>
              <a:off x="923925" y="4583668"/>
              <a:ext cx="380981" cy="369332"/>
            </a:xfrm>
            <a:prstGeom prst="rect">
              <a:avLst/>
            </a:prstGeom>
            <a:noFill/>
          </p:spPr>
          <p:txBody>
            <a:bodyPr wrap="square" rtlCol="0">
              <a:spAutoFit/>
            </a:bodyPr>
            <a:lstStyle/>
            <a:p>
              <a:r>
                <a:rPr lang="en-US" altLang="zh-CN" dirty="0"/>
                <a:t>0</a:t>
              </a:r>
              <a:endParaRPr lang="zh-CN" altLang="en-US" dirty="0"/>
            </a:p>
          </p:txBody>
        </p:sp>
        <p:sp>
          <p:nvSpPr>
            <p:cNvPr id="10" name="TextBox 9">
              <a:extLst>
                <a:ext uri="{FF2B5EF4-FFF2-40B4-BE49-F238E27FC236}">
                  <a16:creationId xmlns:a16="http://schemas.microsoft.com/office/drawing/2014/main" id="{4AFFE979-F740-4D14-BC18-02467348D6FA}"/>
                </a:ext>
              </a:extLst>
            </p:cNvPr>
            <p:cNvSpPr txBox="1"/>
            <p:nvPr/>
          </p:nvSpPr>
          <p:spPr>
            <a:xfrm>
              <a:off x="914213" y="2754913"/>
              <a:ext cx="380981" cy="369332"/>
            </a:xfrm>
            <a:prstGeom prst="rect">
              <a:avLst/>
            </a:prstGeom>
            <a:noFill/>
          </p:spPr>
          <p:txBody>
            <a:bodyPr wrap="square" rtlCol="0">
              <a:spAutoFit/>
            </a:bodyPr>
            <a:lstStyle/>
            <a:p>
              <a:r>
                <a:rPr lang="en-US" altLang="zh-CN" dirty="0"/>
                <a:t>1</a:t>
              </a:r>
              <a:endParaRPr lang="zh-CN" altLang="en-US" dirty="0"/>
            </a:p>
          </p:txBody>
        </p:sp>
        <p:sp>
          <p:nvSpPr>
            <p:cNvPr id="12" name="TextBox 11">
              <a:extLst>
                <a:ext uri="{FF2B5EF4-FFF2-40B4-BE49-F238E27FC236}">
                  <a16:creationId xmlns:a16="http://schemas.microsoft.com/office/drawing/2014/main" id="{232EA1E1-C370-49BA-8A60-E3846AB8A511}"/>
                </a:ext>
              </a:extLst>
            </p:cNvPr>
            <p:cNvSpPr txBox="1"/>
            <p:nvPr/>
          </p:nvSpPr>
          <p:spPr>
            <a:xfrm>
              <a:off x="733237" y="3723855"/>
              <a:ext cx="562163" cy="369332"/>
            </a:xfrm>
            <a:prstGeom prst="rect">
              <a:avLst/>
            </a:prstGeom>
            <a:noFill/>
          </p:spPr>
          <p:txBody>
            <a:bodyPr wrap="square" rtlCol="0">
              <a:spAutoFit/>
            </a:bodyPr>
            <a:lstStyle/>
            <a:p>
              <a:r>
                <a:rPr lang="en-US" altLang="zh-CN" dirty="0"/>
                <a:t>0.5</a:t>
              </a:r>
              <a:endParaRPr lang="zh-CN" altLang="en-US" dirty="0"/>
            </a:p>
          </p:txBody>
        </p:sp>
        <p:cxnSp>
          <p:nvCxnSpPr>
            <p:cNvPr id="14" name="Straight Connector 13">
              <a:extLst>
                <a:ext uri="{FF2B5EF4-FFF2-40B4-BE49-F238E27FC236}">
                  <a16:creationId xmlns:a16="http://schemas.microsoft.com/office/drawing/2014/main" id="{B8A8EC73-6BDA-45FE-BC7D-158779DB3806}"/>
                </a:ext>
              </a:extLst>
            </p:cNvPr>
            <p:cNvCxnSpPr>
              <a:stCxn id="10" idx="3"/>
            </p:cNvCxnSpPr>
            <p:nvPr/>
          </p:nvCxnSpPr>
          <p:spPr bwMode="auto">
            <a:xfrm>
              <a:off x="1295194" y="2939579"/>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8F925DF9-18C5-464A-A74E-F572C1AB1E13}"/>
                </a:ext>
              </a:extLst>
            </p:cNvPr>
            <p:cNvCxnSpPr/>
            <p:nvPr/>
          </p:nvCxnSpPr>
          <p:spPr bwMode="auto">
            <a:xfrm>
              <a:off x="1304925" y="3897868"/>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223E0DF2-B009-4380-BD48-22FDE117C4FD}"/>
                </a:ext>
              </a:extLst>
            </p:cNvPr>
            <p:cNvCxnSpPr/>
            <p:nvPr/>
          </p:nvCxnSpPr>
          <p:spPr bwMode="auto">
            <a:xfrm>
              <a:off x="1314450" y="4800600"/>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7" name="Group 16">
            <a:extLst>
              <a:ext uri="{FF2B5EF4-FFF2-40B4-BE49-F238E27FC236}">
                <a16:creationId xmlns:a16="http://schemas.microsoft.com/office/drawing/2014/main" id="{7218A2B8-FB93-4DCC-96AA-4363DB3DB0F1}"/>
              </a:ext>
            </a:extLst>
          </p:cNvPr>
          <p:cNvGrpSpPr/>
          <p:nvPr/>
        </p:nvGrpSpPr>
        <p:grpSpPr>
          <a:xfrm>
            <a:off x="1836235" y="3115071"/>
            <a:ext cx="1597995" cy="1461319"/>
            <a:chOff x="1836235" y="3115071"/>
            <a:chExt cx="1597995" cy="1461319"/>
          </a:xfrm>
        </p:grpSpPr>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2613AE04-91A6-4455-A710-B7FFC0DA2467}"/>
                    </a:ext>
                  </a:extLst>
                </p:cNvPr>
                <p:cNvSpPr/>
                <p:nvPr/>
              </p:nvSpPr>
              <p:spPr>
                <a:xfrm>
                  <a:off x="1836236" y="3115071"/>
                  <a:ext cx="1128771"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0.5+</m:t>
                        </m:r>
                        <m:r>
                          <a:rPr lang="zh-CN" altLang="en-US" sz="2200" i="1">
                            <a:latin typeface="Cambria Math" panose="02040503050406030204" pitchFamily="18" charset="0"/>
                          </a:rPr>
                          <m:t>𝛾</m:t>
                        </m:r>
                      </m:oMath>
                    </m:oMathPara>
                  </a14:m>
                  <a:endParaRPr lang="zh-CN" altLang="en-US" sz="2200" dirty="0"/>
                </a:p>
              </p:txBody>
            </p:sp>
          </mc:Choice>
          <mc:Fallback xmlns="">
            <p:sp>
              <p:nvSpPr>
                <p:cNvPr id="6" name="Rectangle 5">
                  <a:extLst>
                    <a:ext uri="{FF2B5EF4-FFF2-40B4-BE49-F238E27FC236}">
                      <a16:creationId xmlns:a16="http://schemas.microsoft.com/office/drawing/2014/main" id="{2613AE04-91A6-4455-A710-B7FFC0DA2467}"/>
                    </a:ext>
                  </a:extLst>
                </p:cNvPr>
                <p:cNvSpPr>
                  <a:spLocks noRot="1" noChangeAspect="1" noMove="1" noResize="1" noEditPoints="1" noAdjustHandles="1" noChangeArrowheads="1" noChangeShapeType="1" noTextEdit="1"/>
                </p:cNvSpPr>
                <p:nvPr/>
              </p:nvSpPr>
              <p:spPr>
                <a:xfrm>
                  <a:off x="1836236" y="3115071"/>
                  <a:ext cx="1128771" cy="430887"/>
                </a:xfrm>
                <a:prstGeom prst="rect">
                  <a:avLst/>
                </a:prstGeom>
                <a:blipFill>
                  <a:blip r:embed="rId7"/>
                  <a:stretch>
                    <a:fillRect b="-84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D9AD80B5-D449-4AAC-B0A0-19A89FC62033}"/>
                    </a:ext>
                  </a:extLst>
                </p:cNvPr>
                <p:cNvSpPr/>
                <p:nvPr/>
              </p:nvSpPr>
              <p:spPr>
                <a:xfrm>
                  <a:off x="1836235" y="4145503"/>
                  <a:ext cx="1128771"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0.5−</m:t>
                        </m:r>
                        <m:r>
                          <a:rPr lang="zh-CN" altLang="en-US" sz="2200" i="1">
                            <a:latin typeface="Cambria Math" panose="02040503050406030204" pitchFamily="18" charset="0"/>
                          </a:rPr>
                          <m:t>𝛾</m:t>
                        </m:r>
                      </m:oMath>
                    </m:oMathPara>
                  </a14:m>
                  <a:endParaRPr lang="zh-CN" altLang="en-US" sz="2200" dirty="0"/>
                </a:p>
              </p:txBody>
            </p:sp>
          </mc:Choice>
          <mc:Fallback xmlns="">
            <p:sp>
              <p:nvSpPr>
                <p:cNvPr id="29" name="Rectangle 28">
                  <a:extLst>
                    <a:ext uri="{FF2B5EF4-FFF2-40B4-BE49-F238E27FC236}">
                      <a16:creationId xmlns:a16="http://schemas.microsoft.com/office/drawing/2014/main" id="{D9AD80B5-D449-4AAC-B0A0-19A89FC62033}"/>
                    </a:ext>
                  </a:extLst>
                </p:cNvPr>
                <p:cNvSpPr>
                  <a:spLocks noRot="1" noChangeAspect="1" noMove="1" noResize="1" noEditPoints="1" noAdjustHandles="1" noChangeArrowheads="1" noChangeShapeType="1" noTextEdit="1"/>
                </p:cNvSpPr>
                <p:nvPr/>
              </p:nvSpPr>
              <p:spPr>
                <a:xfrm>
                  <a:off x="1836235" y="4145503"/>
                  <a:ext cx="1128771" cy="430887"/>
                </a:xfrm>
                <a:prstGeom prst="rect">
                  <a:avLst/>
                </a:prstGeom>
                <a:blipFill>
                  <a:blip r:embed="rId8"/>
                  <a:stretch>
                    <a:fillRect b="-84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0EBB74D-A830-47E1-B4A2-2374243F43F4}"/>
                    </a:ext>
                  </a:extLst>
                </p:cNvPr>
                <p:cNvSpPr/>
                <p:nvPr/>
              </p:nvSpPr>
              <p:spPr>
                <a:xfrm>
                  <a:off x="3009563" y="3352800"/>
                  <a:ext cx="42466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𝛾</m:t>
                        </m:r>
                      </m:oMath>
                    </m:oMathPara>
                  </a14:m>
                  <a:endParaRPr lang="zh-CN" altLang="en-US" sz="2200" dirty="0"/>
                </a:p>
              </p:txBody>
            </p:sp>
          </mc:Choice>
          <mc:Fallback xmlns="">
            <p:sp>
              <p:nvSpPr>
                <p:cNvPr id="11" name="Rectangle 10">
                  <a:extLst>
                    <a:ext uri="{FF2B5EF4-FFF2-40B4-BE49-F238E27FC236}">
                      <a16:creationId xmlns:a16="http://schemas.microsoft.com/office/drawing/2014/main" id="{40EBB74D-A830-47E1-B4A2-2374243F43F4}"/>
                    </a:ext>
                  </a:extLst>
                </p:cNvPr>
                <p:cNvSpPr>
                  <a:spLocks noRot="1" noChangeAspect="1" noMove="1" noResize="1" noEditPoints="1" noAdjustHandles="1" noChangeArrowheads="1" noChangeShapeType="1" noTextEdit="1"/>
                </p:cNvSpPr>
                <p:nvPr/>
              </p:nvSpPr>
              <p:spPr>
                <a:xfrm>
                  <a:off x="3009563" y="3352800"/>
                  <a:ext cx="424667" cy="430887"/>
                </a:xfrm>
                <a:prstGeom prst="rect">
                  <a:avLst/>
                </a:prstGeom>
                <a:blipFill>
                  <a:blip r:embed="rId9"/>
                  <a:stretch>
                    <a:fillRect b="-7042"/>
                  </a:stretch>
                </a:blipFill>
              </p:spPr>
              <p:txBody>
                <a:bodyPr/>
                <a:lstStyle/>
                <a:p>
                  <a:r>
                    <a:rPr lang="zh-CN" altLang="en-US">
                      <a:noFill/>
                    </a:rPr>
                    <a:t> </a:t>
                  </a:r>
                </a:p>
              </p:txBody>
            </p:sp>
          </mc:Fallback>
        </mc:AlternateContent>
        <p:grpSp>
          <p:nvGrpSpPr>
            <p:cNvPr id="13" name="Group 12">
              <a:extLst>
                <a:ext uri="{FF2B5EF4-FFF2-40B4-BE49-F238E27FC236}">
                  <a16:creationId xmlns:a16="http://schemas.microsoft.com/office/drawing/2014/main" id="{6E5FCB92-239E-409E-86E7-91102EAB09BB}"/>
                </a:ext>
              </a:extLst>
            </p:cNvPr>
            <p:cNvGrpSpPr/>
            <p:nvPr/>
          </p:nvGrpSpPr>
          <p:grpSpPr>
            <a:xfrm>
              <a:off x="2895600" y="3352800"/>
              <a:ext cx="522649" cy="1081740"/>
              <a:chOff x="2895600" y="3352800"/>
              <a:chExt cx="522649" cy="1081740"/>
            </a:xfrm>
          </p:grpSpPr>
          <p:cxnSp>
            <p:nvCxnSpPr>
              <p:cNvPr id="22" name="Straight Arrow Connector 21">
                <a:extLst>
                  <a:ext uri="{FF2B5EF4-FFF2-40B4-BE49-F238E27FC236}">
                    <a16:creationId xmlns:a16="http://schemas.microsoft.com/office/drawing/2014/main" id="{EFFA8BB4-C4CF-412F-BF4D-A173C89CA137}"/>
                  </a:ext>
                </a:extLst>
              </p:cNvPr>
              <p:cNvCxnSpPr>
                <a:cxnSpLocks/>
              </p:cNvCxnSpPr>
              <p:nvPr/>
            </p:nvCxnSpPr>
            <p:spPr bwMode="auto">
              <a:xfrm flipH="1" flipV="1">
                <a:off x="2981325" y="3352800"/>
                <a:ext cx="2938" cy="545069"/>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1" name="Straight Arrow Connector 20">
                <a:extLst>
                  <a:ext uri="{FF2B5EF4-FFF2-40B4-BE49-F238E27FC236}">
                    <a16:creationId xmlns:a16="http://schemas.microsoft.com/office/drawing/2014/main" id="{F8152799-A856-45AD-91B4-0B25FF99B9D3}"/>
                  </a:ext>
                </a:extLst>
              </p:cNvPr>
              <p:cNvCxnSpPr>
                <a:cxnSpLocks/>
              </p:cNvCxnSpPr>
              <p:nvPr/>
            </p:nvCxnSpPr>
            <p:spPr bwMode="auto">
              <a:xfrm flipH="1" flipV="1">
                <a:off x="2984263" y="3889471"/>
                <a:ext cx="2938" cy="545069"/>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7" name="Straight Connector 26">
                <a:extLst>
                  <a:ext uri="{FF2B5EF4-FFF2-40B4-BE49-F238E27FC236}">
                    <a16:creationId xmlns:a16="http://schemas.microsoft.com/office/drawing/2014/main" id="{22C7D9A5-85F5-45E4-AC15-4D690597FEFD}"/>
                  </a:ext>
                </a:extLst>
              </p:cNvPr>
              <p:cNvCxnSpPr/>
              <p:nvPr/>
            </p:nvCxnSpPr>
            <p:spPr bwMode="auto">
              <a:xfrm>
                <a:off x="2895600" y="3362325"/>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AE987CA2-12E6-4184-A3D4-E59AFC8D7484}"/>
                  </a:ext>
                </a:extLst>
              </p:cNvPr>
              <p:cNvCxnSpPr/>
              <p:nvPr/>
            </p:nvCxnSpPr>
            <p:spPr bwMode="auto">
              <a:xfrm>
                <a:off x="2895600" y="4419600"/>
                <a:ext cx="7640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534E153F-C215-4AD5-88F2-61B8EFC5466B}"/>
                      </a:ext>
                    </a:extLst>
                  </p:cNvPr>
                  <p:cNvSpPr/>
                  <p:nvPr/>
                </p:nvSpPr>
                <p:spPr>
                  <a:xfrm>
                    <a:off x="2993582" y="3898185"/>
                    <a:ext cx="42466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𝛾</m:t>
                          </m:r>
                        </m:oMath>
                      </m:oMathPara>
                    </a14:m>
                    <a:endParaRPr lang="zh-CN" altLang="en-US" sz="2200" dirty="0"/>
                  </a:p>
                </p:txBody>
              </p:sp>
            </mc:Choice>
            <mc:Fallback xmlns="">
              <p:sp>
                <p:nvSpPr>
                  <p:cNvPr id="30" name="Rectangle 29">
                    <a:extLst>
                      <a:ext uri="{FF2B5EF4-FFF2-40B4-BE49-F238E27FC236}">
                        <a16:creationId xmlns:a16="http://schemas.microsoft.com/office/drawing/2014/main" id="{534E153F-C215-4AD5-88F2-61B8EFC5466B}"/>
                      </a:ext>
                    </a:extLst>
                  </p:cNvPr>
                  <p:cNvSpPr>
                    <a:spLocks noRot="1" noChangeAspect="1" noMove="1" noResize="1" noEditPoints="1" noAdjustHandles="1" noChangeArrowheads="1" noChangeShapeType="1" noTextEdit="1"/>
                  </p:cNvSpPr>
                  <p:nvPr/>
                </p:nvSpPr>
                <p:spPr>
                  <a:xfrm>
                    <a:off x="2993582" y="3898185"/>
                    <a:ext cx="424667" cy="430887"/>
                  </a:xfrm>
                  <a:prstGeom prst="rect">
                    <a:avLst/>
                  </a:prstGeom>
                  <a:blipFill>
                    <a:blip r:embed="rId10"/>
                    <a:stretch>
                      <a:fillRect b="-8451"/>
                    </a:stretch>
                  </a:blipFill>
                </p:spPr>
                <p:txBody>
                  <a:bodyPr/>
                  <a:lstStyle/>
                  <a:p>
                    <a:r>
                      <a:rPr lang="zh-CN" altLang="en-US">
                        <a:noFill/>
                      </a:rPr>
                      <a:t> </a:t>
                    </a:r>
                  </a:p>
                </p:txBody>
              </p:sp>
            </mc:Fallback>
          </mc:AlternateContent>
        </p:grpSp>
      </p:grpSp>
      <p:grpSp>
        <p:nvGrpSpPr>
          <p:cNvPr id="34" name="Group 33">
            <a:extLst>
              <a:ext uri="{FF2B5EF4-FFF2-40B4-BE49-F238E27FC236}">
                <a16:creationId xmlns:a16="http://schemas.microsoft.com/office/drawing/2014/main" id="{146B9AFA-31F6-4B76-AC9A-8A9CD2D30680}"/>
              </a:ext>
            </a:extLst>
          </p:cNvPr>
          <p:cNvGrpSpPr/>
          <p:nvPr/>
        </p:nvGrpSpPr>
        <p:grpSpPr>
          <a:xfrm>
            <a:off x="2981325" y="2432400"/>
            <a:ext cx="5410114" cy="1496628"/>
            <a:chOff x="2981325" y="2432400"/>
            <a:chExt cx="5410114" cy="1496628"/>
          </a:xfrm>
        </p:grpSpPr>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E6C38C0C-539C-4766-9808-5B553DDB844B}"/>
                    </a:ext>
                  </a:extLst>
                </p:cNvPr>
                <p:cNvSpPr/>
                <p:nvPr/>
              </p:nvSpPr>
              <p:spPr>
                <a:xfrm>
                  <a:off x="4119564" y="2432400"/>
                  <a:ext cx="4271875" cy="1496628"/>
                </a:xfrm>
                <a:prstGeom prst="rect">
                  <a:avLst/>
                </a:prstGeom>
              </p:spPr>
              <p:txBody>
                <a:bodyPr wrap="square">
                  <a:spAutoFit/>
                </a:bodyPr>
                <a:lstStyle/>
                <a:p>
                  <a:pPr algn="ctr"/>
                  <a:endParaRPr lang="en-US" altLang="zh-CN" sz="2200" i="1" dirty="0">
                    <a:latin typeface="Cambria Math" panose="02040503050406030204" pitchFamily="18" charset="0"/>
                  </a:endParaRPr>
                </a:p>
                <a:p>
                  <a:pPr algn="ctr"/>
                  <a14:m>
                    <m:oMath xmlns:m="http://schemas.openxmlformats.org/officeDocument/2006/math">
                      <m:r>
                        <a:rPr lang="en-US" altLang="zh-CN" sz="2200" i="1" smtClean="0">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i="1">
                          <a:latin typeface="Cambria Math" panose="02040503050406030204" pitchFamily="18" charset="0"/>
                        </a:rPr>
                        <m:t>,1)</m:t>
                      </m:r>
                    </m:oMath>
                  </a14:m>
                  <a:r>
                    <a:rPr lang="en-US" altLang="zh-CN" sz="2200" dirty="0"/>
                    <a:t>: </a:t>
                  </a: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e>
                        <m:e>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𝑖</m:t>
                                  </m:r>
                                </m:e>
                              </m:d>
                            </m:sup>
                          </m:sSup>
                        </m:e>
                      </m:d>
                      <m:r>
                        <a:rPr lang="en-US" altLang="zh-CN" sz="2200" b="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rPr>
                        <m:t>0.5+</m:t>
                      </m:r>
                      <m:r>
                        <a:rPr lang="zh-CN" altLang="en-US" sz="2200" i="1">
                          <a:latin typeface="Cambria Math" panose="02040503050406030204" pitchFamily="18" charset="0"/>
                        </a:rPr>
                        <m:t>𝛾</m:t>
                      </m:r>
                    </m:oMath>
                  </a14:m>
                  <a:endParaRPr lang="zh-CN" altLang="en-US" sz="2200" dirty="0"/>
                </a:p>
                <a:p>
                  <a:pPr algn="ctr"/>
                  <a:r>
                    <a:rPr lang="zh-CN" altLang="en-US" sz="2200" dirty="0"/>
                    <a:t>以该间距正确分类的正例数据</a:t>
                  </a:r>
                  <a:endParaRPr lang="en-US" altLang="zh-CN" sz="2200" dirty="0"/>
                </a:p>
                <a:p>
                  <a:pPr algn="ctr"/>
                  <a:endParaRPr lang="zh-CN" altLang="en-US" sz="2200" dirty="0"/>
                </a:p>
              </p:txBody>
            </p:sp>
          </mc:Choice>
          <mc:Fallback xmlns="">
            <p:sp>
              <p:nvSpPr>
                <p:cNvPr id="31" name="Rectangle 30">
                  <a:extLst>
                    <a:ext uri="{FF2B5EF4-FFF2-40B4-BE49-F238E27FC236}">
                      <a16:creationId xmlns:a16="http://schemas.microsoft.com/office/drawing/2014/main" id="{E6C38C0C-539C-4766-9808-5B553DDB844B}"/>
                    </a:ext>
                  </a:extLst>
                </p:cNvPr>
                <p:cNvSpPr>
                  <a:spLocks noRot="1" noChangeAspect="1" noMove="1" noResize="1" noEditPoints="1" noAdjustHandles="1" noChangeArrowheads="1" noChangeShapeType="1" noTextEdit="1"/>
                </p:cNvSpPr>
                <p:nvPr/>
              </p:nvSpPr>
              <p:spPr>
                <a:xfrm>
                  <a:off x="4119564" y="2432400"/>
                  <a:ext cx="4271875" cy="1496628"/>
                </a:xfrm>
                <a:prstGeom prst="rect">
                  <a:avLst/>
                </a:prstGeom>
                <a:blipFill>
                  <a:blip r:embed="rId11"/>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7DD5C313-1EED-4CAF-A772-FE696A422036}"/>
                </a:ext>
              </a:extLst>
            </p:cNvPr>
            <p:cNvCxnSpPr>
              <a:cxnSpLocks/>
              <a:stCxn id="31" idx="1"/>
            </p:cNvCxnSpPr>
            <p:nvPr/>
          </p:nvCxnSpPr>
          <p:spPr bwMode="auto">
            <a:xfrm flipH="1" flipV="1">
              <a:off x="2981325" y="3173053"/>
              <a:ext cx="1138239" cy="76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nvGrpSpPr>
          <p:cNvPr id="35" name="Group 34">
            <a:extLst>
              <a:ext uri="{FF2B5EF4-FFF2-40B4-BE49-F238E27FC236}">
                <a16:creationId xmlns:a16="http://schemas.microsoft.com/office/drawing/2014/main" id="{2CC1C268-8527-42C7-951C-175CA5C93D40}"/>
              </a:ext>
            </a:extLst>
          </p:cNvPr>
          <p:cNvGrpSpPr/>
          <p:nvPr/>
        </p:nvGrpSpPr>
        <p:grpSpPr>
          <a:xfrm>
            <a:off x="2991054" y="3850243"/>
            <a:ext cx="5410114" cy="1496628"/>
            <a:chOff x="2981325" y="2432400"/>
            <a:chExt cx="5410114" cy="1496628"/>
          </a:xfrm>
        </p:grpSpPr>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B7E12D68-371D-462C-86AB-0E44B679B884}"/>
                    </a:ext>
                  </a:extLst>
                </p:cNvPr>
                <p:cNvSpPr/>
                <p:nvPr/>
              </p:nvSpPr>
              <p:spPr>
                <a:xfrm>
                  <a:off x="4119564" y="2432400"/>
                  <a:ext cx="4271875" cy="1496628"/>
                </a:xfrm>
                <a:prstGeom prst="rect">
                  <a:avLst/>
                </a:prstGeom>
              </p:spPr>
              <p:txBody>
                <a:bodyPr wrap="square">
                  <a:spAutoFit/>
                </a:bodyPr>
                <a:lstStyle/>
                <a:p>
                  <a:pPr algn="ctr"/>
                  <a:endParaRPr lang="en-US" altLang="zh-CN" sz="2200" i="1" dirty="0">
                    <a:latin typeface="Cambria Math" panose="02040503050406030204" pitchFamily="18" charset="0"/>
                  </a:endParaRPr>
                </a:p>
                <a:p>
                  <a:pPr algn="ctr"/>
                  <a14:m>
                    <m:oMath xmlns:m="http://schemas.openxmlformats.org/officeDocument/2006/math">
                      <m:r>
                        <a:rPr lang="en-US" altLang="zh-CN" sz="2200" i="1" smtClean="0">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b="1">
                              <a:latin typeface="Cambria Math" panose="02040503050406030204" pitchFamily="18" charset="0"/>
                            </a:rPr>
                            <m:t>𝐱</m:t>
                          </m:r>
                        </m:e>
                        <m:sup>
                          <m:d>
                            <m:dPr>
                              <m:ctrlPr>
                                <a:rPr lang="en-US" altLang="zh-CN" sz="2200" i="1">
                                  <a:latin typeface="Cambria Math" panose="02040503050406030204" pitchFamily="18" charset="0"/>
                                </a:rPr>
                              </m:ctrlPr>
                            </m:dPr>
                            <m:e>
                              <m:r>
                                <a:rPr lang="en-US" altLang="zh-CN" sz="2200" b="0" i="1" smtClean="0">
                                  <a:latin typeface="Cambria Math" panose="02040503050406030204" pitchFamily="18" charset="0"/>
                                </a:rPr>
                                <m:t>𝑗</m:t>
                              </m:r>
                            </m:e>
                          </m:d>
                        </m:sup>
                      </m:sSup>
                      <m:r>
                        <a:rPr lang="en-US" altLang="zh-CN" sz="2200" i="1">
                          <a:latin typeface="Cambria Math" panose="02040503050406030204" pitchFamily="18" charset="0"/>
                        </a:rPr>
                        <m:t>,</m:t>
                      </m:r>
                      <m:r>
                        <a:rPr lang="en-US" altLang="zh-CN" sz="2200" b="0" i="1" smtClean="0">
                          <a:latin typeface="Cambria Math" panose="02040503050406030204" pitchFamily="18" charset="0"/>
                        </a:rPr>
                        <m:t>0</m:t>
                      </m:r>
                      <m:r>
                        <a:rPr lang="en-US" altLang="zh-CN" sz="2200" i="1">
                          <a:latin typeface="Cambria Math" panose="02040503050406030204" pitchFamily="18" charset="0"/>
                        </a:rPr>
                        <m:t>)</m:t>
                      </m:r>
                    </m:oMath>
                  </a14:m>
                  <a:r>
                    <a:rPr lang="en-US" altLang="zh-CN" sz="2200" dirty="0"/>
                    <a:t>: </a:t>
                  </a:r>
                  <a14:m>
                    <m:oMath xmlns:m="http://schemas.openxmlformats.org/officeDocument/2006/math">
                      <m:r>
                        <a:rPr lang="en-US" altLang="zh-CN" sz="2200" i="1">
                          <a:latin typeface="Cambria Math" panose="02040503050406030204" pitchFamily="18" charset="0"/>
                          <a:ea typeface="Cambria Math" panose="02040503050406030204" pitchFamily="18" charset="0"/>
                        </a:rPr>
                        <m:t>𝑃</m:t>
                      </m:r>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e>
                        <m:e>
                          <m:sSup>
                            <m:sSupPr>
                              <m:ctrlPr>
                                <a:rPr lang="en-US" altLang="zh-CN" sz="2200" b="1" i="1">
                                  <a:latin typeface="Cambria Math" panose="02040503050406030204" pitchFamily="18" charset="0"/>
                                  <a:ea typeface="Cambria Math" panose="02040503050406030204" pitchFamily="18" charset="0"/>
                                </a:rPr>
                              </m:ctrlPr>
                            </m:sSupPr>
                            <m:e>
                              <m:r>
                                <a:rPr lang="en-US" altLang="zh-CN" sz="2200" b="1">
                                  <a:latin typeface="Cambria Math" panose="02040503050406030204" pitchFamily="18" charset="0"/>
                                  <a:ea typeface="Cambria Math" panose="02040503050406030204" pitchFamily="18" charset="0"/>
                                </a:rPr>
                                <m:t>𝐱</m:t>
                              </m:r>
                            </m:e>
                            <m:sup>
                              <m:d>
                                <m:dPr>
                                  <m:ctrlPr>
                                    <a:rPr lang="en-US" altLang="zh-CN" sz="2200" i="1">
                                      <a:latin typeface="Cambria Math" panose="02040503050406030204" pitchFamily="18" charset="0"/>
                                      <a:ea typeface="Cambria Math" panose="02040503050406030204" pitchFamily="18" charset="0"/>
                                    </a:rPr>
                                  </m:ctrlPr>
                                </m:dPr>
                                <m:e>
                                  <m:r>
                                    <a:rPr lang="en-US" altLang="zh-CN" sz="2200" i="1">
                                      <a:latin typeface="Cambria Math" panose="02040503050406030204" pitchFamily="18" charset="0"/>
                                      <a:ea typeface="Cambria Math" panose="02040503050406030204" pitchFamily="18" charset="0"/>
                                    </a:rPr>
                                    <m:t>𝑖</m:t>
                                  </m:r>
                                </m:e>
                              </m:d>
                            </m:sup>
                          </m:sSup>
                        </m:e>
                      </m:d>
                      <m:r>
                        <a:rPr lang="en-US" altLang="zh-CN" sz="2200" b="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rPr>
                        <m:t>0.5</m:t>
                      </m:r>
                      <m:r>
                        <a:rPr lang="en-US" altLang="zh-CN" sz="2200" b="0" i="1" smtClean="0">
                          <a:latin typeface="Cambria Math" panose="02040503050406030204" pitchFamily="18" charset="0"/>
                        </a:rPr>
                        <m:t>−</m:t>
                      </m:r>
                      <m:r>
                        <a:rPr lang="zh-CN" altLang="en-US" sz="2200" i="1">
                          <a:latin typeface="Cambria Math" panose="02040503050406030204" pitchFamily="18" charset="0"/>
                        </a:rPr>
                        <m:t>𝛾</m:t>
                      </m:r>
                    </m:oMath>
                  </a14:m>
                  <a:endParaRPr lang="zh-CN" altLang="en-US" sz="2200" dirty="0"/>
                </a:p>
                <a:p>
                  <a:pPr algn="ctr"/>
                  <a:r>
                    <a:rPr lang="zh-CN" altLang="en-US" sz="2200" dirty="0"/>
                    <a:t>以该间距正确分类的反例数据</a:t>
                  </a:r>
                  <a:endParaRPr lang="en-US" altLang="zh-CN" sz="2200" dirty="0"/>
                </a:p>
                <a:p>
                  <a:pPr algn="ctr"/>
                  <a:endParaRPr lang="zh-CN" altLang="en-US" sz="2200" dirty="0"/>
                </a:p>
              </p:txBody>
            </p:sp>
          </mc:Choice>
          <mc:Fallback xmlns="">
            <p:sp>
              <p:nvSpPr>
                <p:cNvPr id="36" name="Rectangle 35">
                  <a:extLst>
                    <a:ext uri="{FF2B5EF4-FFF2-40B4-BE49-F238E27FC236}">
                      <a16:creationId xmlns:a16="http://schemas.microsoft.com/office/drawing/2014/main" id="{B7E12D68-371D-462C-86AB-0E44B679B884}"/>
                    </a:ext>
                  </a:extLst>
                </p:cNvPr>
                <p:cNvSpPr>
                  <a:spLocks noRot="1" noChangeAspect="1" noMove="1" noResize="1" noEditPoints="1" noAdjustHandles="1" noChangeArrowheads="1" noChangeShapeType="1" noTextEdit="1"/>
                </p:cNvSpPr>
                <p:nvPr/>
              </p:nvSpPr>
              <p:spPr>
                <a:xfrm>
                  <a:off x="4119564" y="2432400"/>
                  <a:ext cx="4271875" cy="1496628"/>
                </a:xfrm>
                <a:prstGeom prst="rect">
                  <a:avLst/>
                </a:prstGeom>
                <a:blipFill>
                  <a:blip r:embed="rId12"/>
                  <a:stretch>
                    <a:fillRect/>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8D516E90-73F0-486D-91B9-0345DFEEFD38}"/>
                </a:ext>
              </a:extLst>
            </p:cNvPr>
            <p:cNvCxnSpPr>
              <a:cxnSpLocks/>
              <a:stCxn id="36" idx="1"/>
            </p:cNvCxnSpPr>
            <p:nvPr/>
          </p:nvCxnSpPr>
          <p:spPr bwMode="auto">
            <a:xfrm flipH="1" flipV="1">
              <a:off x="2981325" y="3173053"/>
              <a:ext cx="1138239" cy="76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E4763AB7-337E-4699-8A8B-F3A8DF09A080}"/>
                  </a:ext>
                </a:extLst>
              </p:cNvPr>
              <p:cNvSpPr/>
              <p:nvPr/>
            </p:nvSpPr>
            <p:spPr>
              <a:xfrm>
                <a:off x="388996" y="5334000"/>
                <a:ext cx="5139164" cy="457882"/>
              </a:xfrm>
              <a:prstGeom prst="rect">
                <a:avLst/>
              </a:prstGeom>
            </p:spPr>
            <p:txBody>
              <a:bodyPr wrap="none">
                <a:spAutoFit/>
              </a:bodyPr>
              <a:lstStyle/>
              <a:p>
                <a14:m>
                  <m:oMath xmlns:m="http://schemas.openxmlformats.org/officeDocument/2006/math">
                    <m:sSub>
                      <m:sSubPr>
                        <m:ctrlPr>
                          <a:rPr lang="en-US" altLang="zh-CN" sz="2200" i="1" smtClean="0">
                            <a:latin typeface="Cambria Math" panose="02040503050406030204" pitchFamily="18" charset="0"/>
                            <a:ea typeface="Cambria Math" panose="02040503050406030204" pitchFamily="18" charset="0"/>
                          </a:rPr>
                        </m:ctrlPr>
                      </m:sSubPr>
                      <m:e>
                        <m:acc>
                          <m:accPr>
                            <m:chr m:val="̂"/>
                            <m:ctrlPr>
                              <a:rPr lang="en-US" altLang="zh-CN" sz="2200" i="1" smtClean="0">
                                <a:latin typeface="Cambria Math" panose="02040503050406030204" pitchFamily="18" charset="0"/>
                                <a:ea typeface="Cambria Math" panose="02040503050406030204" pitchFamily="18" charset="0"/>
                              </a:rPr>
                            </m:ctrlPr>
                          </m:accPr>
                          <m:e>
                            <m:r>
                              <a:rPr lang="zh-CN" altLang="en-US" sz="2200" i="1">
                                <a:latin typeface="Cambria Math" panose="02040503050406030204" pitchFamily="18" charset="0"/>
                                <a:ea typeface="Cambria Math" panose="02040503050406030204" pitchFamily="18" charset="0"/>
                              </a:rPr>
                              <m:t>𝜖</m:t>
                            </m:r>
                          </m:e>
                        </m:acc>
                      </m:e>
                      <m:sub>
                        <m:r>
                          <a:rPr lang="zh-CN" altLang="en-US" sz="2200" i="1" smtClean="0">
                            <a:latin typeface="Cambria Math" panose="02040503050406030204" pitchFamily="18" charset="0"/>
                            <a:ea typeface="Cambria Math" panose="02040503050406030204" pitchFamily="18" charset="0"/>
                          </a:rPr>
                          <m:t>𝛾</m:t>
                        </m:r>
                      </m:sub>
                    </m:sSub>
                  </m:oMath>
                </a14:m>
                <a:r>
                  <a:rPr lang="en-US" altLang="zh-CN" sz="2200" dirty="0"/>
                  <a:t>: </a:t>
                </a:r>
                <a:r>
                  <a:rPr lang="zh-CN" altLang="en-US" sz="2200" dirty="0"/>
                  <a:t>未能以该间距正确分类的数据的比例</a:t>
                </a:r>
              </a:p>
            </p:txBody>
          </p:sp>
        </mc:Choice>
        <mc:Fallback xmlns="">
          <p:sp>
            <p:nvSpPr>
              <p:cNvPr id="38" name="Rectangle 37">
                <a:extLst>
                  <a:ext uri="{FF2B5EF4-FFF2-40B4-BE49-F238E27FC236}">
                    <a16:creationId xmlns:a16="http://schemas.microsoft.com/office/drawing/2014/main" id="{E4763AB7-337E-4699-8A8B-F3A8DF09A080}"/>
                  </a:ext>
                </a:extLst>
              </p:cNvPr>
              <p:cNvSpPr>
                <a:spLocks noRot="1" noChangeAspect="1" noMove="1" noResize="1" noEditPoints="1" noAdjustHandles="1" noChangeArrowheads="1" noChangeShapeType="1" noTextEdit="1"/>
              </p:cNvSpPr>
              <p:nvPr/>
            </p:nvSpPr>
            <p:spPr>
              <a:xfrm>
                <a:off x="388996" y="5334000"/>
                <a:ext cx="5139164" cy="457882"/>
              </a:xfrm>
              <a:prstGeom prst="rect">
                <a:avLst/>
              </a:prstGeom>
              <a:blipFill>
                <a:blip r:embed="rId13"/>
                <a:stretch>
                  <a:fillRect t="-14667" r="-949" b="-200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54960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3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数学定理</a:t>
            </a:r>
            <a:endParaRPr lang="zh-CN" alt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89DD71-FDF3-4BE4-A893-744A1694DBFD}"/>
                  </a:ext>
                </a:extLst>
              </p:cNvPr>
              <p:cNvSpPr txBox="1"/>
              <p:nvPr/>
            </p:nvSpPr>
            <p:spPr>
              <a:xfrm>
                <a:off x="304800" y="1622425"/>
                <a:ext cx="6858000" cy="430887"/>
              </a:xfrm>
              <a:prstGeom prst="rect">
                <a:avLst/>
              </a:prstGeom>
              <a:noFill/>
            </p:spPr>
            <p:txBody>
              <a:bodyPr wrap="square" rtlCol="0">
                <a:spAutoFit/>
              </a:bodyPr>
              <a:lstStyle/>
              <a:p>
                <a14:m>
                  <m:oMath xmlns:m="http://schemas.openxmlformats.org/officeDocument/2006/math">
                    <m:r>
                      <a:rPr lang="en-US" altLang="zh-CN" sz="2200" b="0" i="1" smtClean="0">
                        <a:latin typeface="Cambria Math" panose="02040503050406030204" pitchFamily="18" charset="0"/>
                      </a:rPr>
                      <m:t>𝑚</m:t>
                    </m:r>
                  </m:oMath>
                </a14:m>
                <a:r>
                  <a:rPr lang="en-US" altLang="zh-CN" sz="2200" dirty="0"/>
                  <a:t>: </a:t>
                </a:r>
                <a:r>
                  <a:rPr lang="zh-CN" altLang="en-US" sz="2200" dirty="0"/>
                  <a:t>训练数据数量</a:t>
                </a:r>
              </a:p>
            </p:txBody>
          </p:sp>
        </mc:Choice>
        <mc:Fallback xmlns="">
          <p:sp>
            <p:nvSpPr>
              <p:cNvPr id="6" name="TextBox 5">
                <a:extLst>
                  <a:ext uri="{FF2B5EF4-FFF2-40B4-BE49-F238E27FC236}">
                    <a16:creationId xmlns:a16="http://schemas.microsoft.com/office/drawing/2014/main" id="{1789DD71-FDF3-4BE4-A893-744A1694DBFD}"/>
                  </a:ext>
                </a:extLst>
              </p:cNvPr>
              <p:cNvSpPr txBox="1">
                <a:spLocks noRot="1" noChangeAspect="1" noMove="1" noResize="1" noEditPoints="1" noAdjustHandles="1" noChangeArrowheads="1" noChangeShapeType="1" noTextEdit="1"/>
              </p:cNvSpPr>
              <p:nvPr/>
            </p:nvSpPr>
            <p:spPr>
              <a:xfrm>
                <a:off x="304800" y="1622425"/>
                <a:ext cx="6858000" cy="430887"/>
              </a:xfrm>
              <a:prstGeom prst="rect">
                <a:avLst/>
              </a:prstGeom>
              <a:blipFill>
                <a:blip r:embed="rId3"/>
                <a:stretch>
                  <a:fillRect t="-15493" b="-281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F746DCE-1319-41B6-B76B-DC45BE980A09}"/>
                  </a:ext>
                </a:extLst>
              </p:cNvPr>
              <p:cNvSpPr txBox="1"/>
              <p:nvPr/>
            </p:nvSpPr>
            <p:spPr>
              <a:xfrm>
                <a:off x="304800" y="2028825"/>
                <a:ext cx="8610600" cy="884216"/>
              </a:xfrm>
              <a:prstGeom prst="rect">
                <a:avLst/>
              </a:prstGeom>
              <a:noFill/>
            </p:spPr>
            <p:txBody>
              <a:bodyPr wrap="square" rtlCol="0">
                <a:spAutoFit/>
              </a:bodyPr>
              <a:lstStyle/>
              <a:p>
                <a:pPr marL="1076325" indent="-1076325"/>
                <a14:m>
                  <m:oMath xmlns:m="http://schemas.openxmlformats.org/officeDocument/2006/math">
                    <m:sSub>
                      <m:sSubPr>
                        <m:ctrlPr>
                          <a:rPr lang="en-US" altLang="zh-CN" sz="2200" b="0" i="1" smtClean="0">
                            <a:latin typeface="Cambria Math" panose="02040503050406030204" pitchFamily="18" charset="0"/>
                          </a:rPr>
                        </m:ctrlPr>
                      </m:sSubPr>
                      <m:e>
                        <m:r>
                          <m:rPr>
                            <m:sty m:val="p"/>
                          </m:rPr>
                          <a:rPr lang="en-US" altLang="zh-CN" sz="2200" i="0">
                            <a:latin typeface="Cambria Math" panose="02040503050406030204" pitchFamily="18" charset="0"/>
                          </a:rPr>
                          <m:t>fat</m:t>
                        </m:r>
                      </m:e>
                      <m:sub>
                        <m:r>
                          <a:rPr lang="en-US" altLang="zh-CN" sz="2200" b="0" i="1" smtClean="0">
                            <a:latin typeface="Cambria Math" panose="02040503050406030204" pitchFamily="18" charset="0"/>
                          </a:rPr>
                          <m:t>𝐻</m:t>
                        </m:r>
                      </m:sub>
                    </m:sSub>
                    <m:r>
                      <a:rPr lang="en-US" altLang="zh-CN" sz="2200" b="0" i="1" smtClean="0">
                        <a:latin typeface="Cambria Math" panose="02040503050406030204" pitchFamily="18" charset="0"/>
                      </a:rPr>
                      <m:t>(</m:t>
                    </m:r>
                    <m:f>
                      <m:fPr>
                        <m:ctrlPr>
                          <a:rPr lang="en-US" altLang="zh-CN" sz="2200" b="0" i="1" smtClean="0">
                            <a:latin typeface="Cambria Math" panose="02040503050406030204" pitchFamily="18" charset="0"/>
                          </a:rPr>
                        </m:ctrlPr>
                      </m:fPr>
                      <m:num>
                        <m:r>
                          <a:rPr lang="zh-CN" altLang="en-US" sz="2200" i="1">
                            <a:latin typeface="Cambria Math" panose="02040503050406030204" pitchFamily="18" charset="0"/>
                          </a:rPr>
                          <m:t>𝛾</m:t>
                        </m:r>
                      </m:num>
                      <m:den>
                        <m:r>
                          <a:rPr lang="en-US" altLang="zh-CN" sz="2200" b="0" i="1" smtClean="0">
                            <a:latin typeface="Cambria Math" panose="02040503050406030204" pitchFamily="18" charset="0"/>
                          </a:rPr>
                          <m:t>16</m:t>
                        </m:r>
                      </m:den>
                    </m:f>
                    <m:r>
                      <a:rPr lang="en-US" altLang="zh-CN" sz="2200" b="0" i="1" smtClean="0">
                        <a:latin typeface="Cambria Math" panose="02040503050406030204" pitchFamily="18" charset="0"/>
                      </a:rPr>
                      <m:t>)</m:t>
                    </m:r>
                  </m:oMath>
                </a14:m>
                <a:r>
                  <a:rPr lang="en-US" altLang="zh-CN" sz="2200" dirty="0"/>
                  <a:t>: </a:t>
                </a:r>
                <a:r>
                  <a:rPr lang="zh-CN" altLang="en-US" sz="2200" dirty="0"/>
                  <a:t>用于分类的候选数值函数的</a:t>
                </a:r>
                <a:r>
                  <a:rPr lang="zh-CN" altLang="en-US" sz="2200" dirty="0">
                    <a:solidFill>
                      <a:srgbClr val="FF0000"/>
                    </a:solidFill>
                  </a:rPr>
                  <a:t>积余粉碎维度</a:t>
                </a:r>
                <a:r>
                  <a:rPr lang="en-US" altLang="zh-CN" sz="2200" dirty="0">
                    <a:latin typeface="宋体" panose="02010600030101010101" pitchFamily="2" charset="-122"/>
                    <a:ea typeface="宋体" panose="02010600030101010101" pitchFamily="2" charset="-122"/>
                  </a:rPr>
                  <a:t>(</a:t>
                </a:r>
                <a:r>
                  <a:rPr lang="en-US" altLang="zh-CN" sz="2200" dirty="0">
                    <a:solidFill>
                      <a:srgbClr val="FF0000"/>
                    </a:solidFill>
                  </a:rPr>
                  <a:t>fat-shattering dimension</a:t>
                </a:r>
                <a:r>
                  <a:rPr lang="zh-CN" altLang="en-US" sz="2200" dirty="0"/>
                  <a:t>，一种候选数值函数回归能力强弱的度量</a:t>
                </a:r>
                <a:r>
                  <a:rPr lang="en-US" altLang="zh-CN"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p:txBody>
          </p:sp>
        </mc:Choice>
        <mc:Fallback xmlns="">
          <p:sp>
            <p:nvSpPr>
              <p:cNvPr id="7" name="TextBox 6">
                <a:extLst>
                  <a:ext uri="{FF2B5EF4-FFF2-40B4-BE49-F238E27FC236}">
                    <a16:creationId xmlns:a16="http://schemas.microsoft.com/office/drawing/2014/main" id="{4F746DCE-1319-41B6-B76B-DC45BE980A09}"/>
                  </a:ext>
                </a:extLst>
              </p:cNvPr>
              <p:cNvSpPr txBox="1">
                <a:spLocks noRot="1" noChangeAspect="1" noMove="1" noResize="1" noEditPoints="1" noAdjustHandles="1" noChangeArrowheads="1" noChangeShapeType="1" noTextEdit="1"/>
              </p:cNvSpPr>
              <p:nvPr/>
            </p:nvSpPr>
            <p:spPr>
              <a:xfrm>
                <a:off x="304800" y="2028825"/>
                <a:ext cx="8610600" cy="884216"/>
              </a:xfrm>
              <a:prstGeom prst="rect">
                <a:avLst/>
              </a:prstGeom>
              <a:blipFill>
                <a:blip r:embed="rId4"/>
                <a:stretch>
                  <a:fillRect t="-3448" b="-13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230746A-3A94-4CE5-A529-FA430DEB69E3}"/>
                  </a:ext>
                </a:extLst>
              </p:cNvPr>
              <p:cNvSpPr txBox="1"/>
              <p:nvPr/>
            </p:nvSpPr>
            <p:spPr>
              <a:xfrm>
                <a:off x="304800" y="2895600"/>
                <a:ext cx="8839200" cy="430887"/>
              </a:xfrm>
              <a:prstGeom prst="rect">
                <a:avLst/>
              </a:prstGeom>
              <a:noFill/>
            </p:spPr>
            <p:txBody>
              <a:bodyPr wrap="square" rtlCol="0">
                <a:spAutoFit/>
              </a:bodyPr>
              <a:lstStyle/>
              <a:p>
                <a14:m>
                  <m:oMath xmlns:m="http://schemas.openxmlformats.org/officeDocument/2006/math">
                    <m:r>
                      <a:rPr lang="zh-CN" altLang="en-US" sz="2200" b="0" i="1" smtClean="0">
                        <a:latin typeface="Cambria Math" panose="02040503050406030204" pitchFamily="18" charset="0"/>
                      </a:rPr>
                      <m:t>𝛿</m:t>
                    </m:r>
                  </m:oMath>
                </a14:m>
                <a:r>
                  <a:rPr lang="en-US" altLang="zh-CN" sz="2200" dirty="0"/>
                  <a:t>: </a:t>
                </a:r>
                <a:r>
                  <a:rPr lang="zh-CN" altLang="en-US" sz="2200" dirty="0"/>
                  <a:t>能忍受的运气不好的概率</a:t>
                </a:r>
              </a:p>
            </p:txBody>
          </p:sp>
        </mc:Choice>
        <mc:Fallback xmlns="">
          <p:sp>
            <p:nvSpPr>
              <p:cNvPr id="8" name="TextBox 7">
                <a:extLst>
                  <a:ext uri="{FF2B5EF4-FFF2-40B4-BE49-F238E27FC236}">
                    <a16:creationId xmlns:a16="http://schemas.microsoft.com/office/drawing/2014/main" id="{E230746A-3A94-4CE5-A529-FA430DEB69E3}"/>
                  </a:ext>
                </a:extLst>
              </p:cNvPr>
              <p:cNvSpPr txBox="1">
                <a:spLocks noRot="1" noChangeAspect="1" noMove="1" noResize="1" noEditPoints="1" noAdjustHandles="1" noChangeArrowheads="1" noChangeShapeType="1" noTextEdit="1"/>
              </p:cNvSpPr>
              <p:nvPr/>
            </p:nvSpPr>
            <p:spPr>
              <a:xfrm>
                <a:off x="304800" y="2895600"/>
                <a:ext cx="8839200" cy="430887"/>
              </a:xfrm>
              <a:prstGeom prst="rect">
                <a:avLst/>
              </a:prstGeom>
              <a:blipFill>
                <a:blip r:embed="rId5"/>
                <a:stretch>
                  <a:fillRect l="-69" t="-15493" b="-267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38C9DA-30B6-4059-A65E-40506515117E}"/>
                  </a:ext>
                </a:extLst>
              </p:cNvPr>
              <p:cNvSpPr txBox="1"/>
              <p:nvPr/>
            </p:nvSpPr>
            <p:spPr>
              <a:xfrm>
                <a:off x="152400" y="3638550"/>
                <a:ext cx="8839200" cy="1867755"/>
              </a:xfrm>
              <a:prstGeom prst="rect">
                <a:avLst/>
              </a:prstGeom>
              <a:noFill/>
            </p:spPr>
            <p:txBody>
              <a:bodyPr wrap="square" rtlCol="0">
                <a:spAutoFit/>
              </a:bodyPr>
              <a:lstStyle/>
              <a:p>
                <a:pPr algn="ctr"/>
                <a:r>
                  <a:rPr lang="zh-CN" altLang="en-US" sz="2200" dirty="0"/>
                  <a:t>分类错误</a:t>
                </a:r>
                <a:endParaRPr lang="en-US" altLang="zh-CN" sz="2200" dirty="0"/>
              </a:p>
              <a:p>
                <a:pPr algn="ct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ea typeface="Cambria Math" panose="02040503050406030204" pitchFamily="18" charset="0"/>
                        </a:rPr>
                        <m:t>𝜖</m:t>
                      </m:r>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acc>
                            <m:accPr>
                              <m:chr m:val="̂"/>
                              <m:ctrlPr>
                                <a:rPr lang="en-US" altLang="zh-CN" sz="2400" i="1">
                                  <a:latin typeface="Cambria Math" panose="02040503050406030204" pitchFamily="18" charset="0"/>
                                  <a:ea typeface="Cambria Math" panose="02040503050406030204" pitchFamily="18" charset="0"/>
                                </a:rPr>
                              </m:ctrlPr>
                            </m:accPr>
                            <m:e>
                              <m:r>
                                <a:rPr lang="zh-CN" altLang="en-US" sz="2400" i="1">
                                  <a:latin typeface="Cambria Math" panose="02040503050406030204" pitchFamily="18" charset="0"/>
                                  <a:ea typeface="Cambria Math" panose="02040503050406030204" pitchFamily="18" charset="0"/>
                                </a:rPr>
                                <m:t>𝜖</m:t>
                              </m:r>
                            </m:e>
                          </m:acc>
                        </m:e>
                        <m:sub>
                          <m:r>
                            <a:rPr lang="zh-CN" altLang="en-US" sz="2400" i="1">
                              <a:latin typeface="Cambria Math" panose="02040503050406030204" pitchFamily="18" charset="0"/>
                              <a:ea typeface="Cambria Math" panose="02040503050406030204" pitchFamily="18" charset="0"/>
                            </a:rPr>
                            <m:t>𝛾</m:t>
                          </m:r>
                        </m:sub>
                      </m:sSub>
                      <m:r>
                        <a:rPr lang="en-US" altLang="zh-CN" sz="2400" i="1" smtClean="0">
                          <a:latin typeface="Cambria Math" panose="02040503050406030204" pitchFamily="18" charset="0"/>
                          <a:ea typeface="Cambria Math" panose="02040503050406030204" pitchFamily="18" charset="0"/>
                        </a:rPr>
                        <m:t>+</m:t>
                      </m:r>
                      <m:rad>
                        <m:radPr>
                          <m:degHide m:val="on"/>
                          <m:ctrlPr>
                            <a:rPr lang="en-US" altLang="zh-CN" sz="2400" i="1">
                              <a:latin typeface="Cambria Math" panose="02040503050406030204" pitchFamily="18" charset="0"/>
                              <a:ea typeface="Cambria Math" panose="02040503050406030204" pitchFamily="18" charset="0"/>
                            </a:rPr>
                          </m:ctrlPr>
                        </m:radPr>
                        <m:deg/>
                        <m:e>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2</m:t>
                              </m:r>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fat</m:t>
                                  </m:r>
                                </m:e>
                                <m:sub>
                                  <m:r>
                                    <a:rPr lang="en-US" altLang="zh-CN" sz="2400" i="1">
                                      <a:latin typeface="Cambria Math" panose="02040503050406030204" pitchFamily="18" charset="0"/>
                                    </a:rPr>
                                    <m:t>𝐻</m:t>
                                  </m:r>
                                </m:sub>
                              </m:sSub>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zh-CN" altLang="en-US" sz="2400" i="1">
                                      <a:latin typeface="Cambria Math" panose="02040503050406030204" pitchFamily="18" charset="0"/>
                                    </a:rPr>
                                    <m:t>𝛾</m:t>
                                  </m:r>
                                </m:num>
                                <m:den>
                                  <m:r>
                                    <a:rPr lang="en-US" altLang="zh-CN" sz="2400" i="1">
                                      <a:latin typeface="Cambria Math" panose="02040503050406030204" pitchFamily="18" charset="0"/>
                                    </a:rPr>
                                    <m:t>16</m:t>
                                  </m:r>
                                </m:den>
                              </m:f>
                              <m:r>
                                <a:rPr lang="en-US" altLang="zh-CN" sz="2400" i="1">
                                  <a:latin typeface="Cambria Math" panose="02040503050406030204" pitchFamily="18" charset="0"/>
                                </a:rPr>
                                <m:t>)</m:t>
                              </m:r>
                              <m:func>
                                <m:funcPr>
                                  <m:ctrlPr>
                                    <a:rPr lang="en-US" altLang="zh-CN" sz="2400" i="1">
                                      <a:latin typeface="Cambria Math" panose="02040503050406030204" pitchFamily="18" charset="0"/>
                                      <a:ea typeface="Cambria Math" panose="02040503050406030204" pitchFamily="18" charset="0"/>
                                    </a:rPr>
                                  </m:ctrlPr>
                                </m:funcPr>
                                <m:fName>
                                  <m:r>
                                    <m:rPr>
                                      <m:sty m:val="p"/>
                                    </m:rPr>
                                    <a:rPr lang="en-US" altLang="zh-CN" sz="2400">
                                      <a:latin typeface="Cambria Math" panose="02040503050406030204" pitchFamily="18" charset="0"/>
                                      <a:ea typeface="Cambria Math" panose="02040503050406030204" pitchFamily="18" charset="0"/>
                                    </a:rPr>
                                    <m:t>log</m:t>
                                  </m:r>
                                </m:fName>
                                <m:e>
                                  <m:f>
                                    <m:fPr>
                                      <m:ctrlPr>
                                        <a:rPr lang="en-US" altLang="zh-CN" sz="2400" i="1">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34</m:t>
                                      </m:r>
                                      <m:r>
                                        <a:rPr lang="en-US" altLang="zh-CN" sz="2400" b="0" i="1" smtClean="0">
                                          <a:latin typeface="Cambria Math" panose="02040503050406030204" pitchFamily="18" charset="0"/>
                                          <a:ea typeface="Cambria Math" panose="02040503050406030204" pitchFamily="18" charset="0"/>
                                        </a:rPr>
                                        <m:t>𝑒𝑚</m:t>
                                      </m:r>
                                    </m:num>
                                    <m:den>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fat</m:t>
                                          </m:r>
                                        </m:e>
                                        <m:sub>
                                          <m:r>
                                            <a:rPr lang="en-US" altLang="zh-CN" sz="2400" i="1">
                                              <a:latin typeface="Cambria Math" panose="02040503050406030204" pitchFamily="18" charset="0"/>
                                            </a:rPr>
                                            <m:t>𝐻</m:t>
                                          </m:r>
                                        </m:sub>
                                      </m:sSub>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zh-CN" altLang="en-US" sz="2400" i="1">
                                              <a:latin typeface="Cambria Math" panose="02040503050406030204" pitchFamily="18" charset="0"/>
                                            </a:rPr>
                                            <m:t>𝛾</m:t>
                                          </m:r>
                                        </m:num>
                                        <m:den>
                                          <m:r>
                                            <a:rPr lang="en-US" altLang="zh-CN" sz="2400" i="1">
                                              <a:latin typeface="Cambria Math" panose="02040503050406030204" pitchFamily="18" charset="0"/>
                                            </a:rPr>
                                            <m:t>16</m:t>
                                          </m:r>
                                        </m:den>
                                      </m:f>
                                      <m:r>
                                        <a:rPr lang="en-US" altLang="zh-CN" sz="2400" i="1">
                                          <a:latin typeface="Cambria Math" panose="02040503050406030204" pitchFamily="18" charset="0"/>
                                        </a:rPr>
                                        <m:t>)</m:t>
                                      </m:r>
                                    </m:den>
                                  </m:f>
                                </m:e>
                              </m:func>
                              <m:func>
                                <m:funcPr>
                                  <m:ctrlPr>
                                    <a:rPr lang="en-US" altLang="zh-CN" sz="2400" i="1" smtClean="0">
                                      <a:latin typeface="Cambria Math" panose="02040503050406030204" pitchFamily="18" charset="0"/>
                                      <a:ea typeface="Cambria Math" panose="02040503050406030204" pitchFamily="18" charset="0"/>
                                    </a:rPr>
                                  </m:ctrlPr>
                                </m:funcPr>
                                <m:fName>
                                  <m:sSub>
                                    <m:sSubPr>
                                      <m:ctrlPr>
                                        <a:rPr lang="en-US" altLang="zh-CN" sz="2400" i="1" smtClean="0">
                                          <a:latin typeface="Cambria Math" panose="02040503050406030204" pitchFamily="18" charset="0"/>
                                          <a:ea typeface="Cambria Math" panose="02040503050406030204" pitchFamily="18" charset="0"/>
                                        </a:rPr>
                                      </m:ctrlPr>
                                    </m:sSubPr>
                                    <m:e>
                                      <m:r>
                                        <m:rPr>
                                          <m:sty m:val="p"/>
                                        </m:rPr>
                                        <a:rPr lang="en-US" altLang="zh-CN" sz="2400" i="0" smtClean="0">
                                          <a:latin typeface="Cambria Math" panose="02040503050406030204" pitchFamily="18" charset="0"/>
                                          <a:ea typeface="Cambria Math" panose="02040503050406030204" pitchFamily="18" charset="0"/>
                                        </a:rPr>
                                        <m:t>log</m:t>
                                      </m:r>
                                    </m:e>
                                    <m:sub>
                                      <m:r>
                                        <a:rPr lang="en-US" altLang="zh-CN" sz="2400" b="0" i="1" smtClean="0">
                                          <a:latin typeface="Cambria Math" panose="02040503050406030204" pitchFamily="18" charset="0"/>
                                          <a:ea typeface="Cambria Math" panose="02040503050406030204" pitchFamily="18" charset="0"/>
                                        </a:rPr>
                                        <m:t>2</m:t>
                                      </m:r>
                                    </m:sub>
                                  </m:sSub>
                                </m:fName>
                                <m:e>
                                  <m:r>
                                    <a:rPr lang="en-US" altLang="zh-CN" sz="2400" b="0" i="1" smtClean="0">
                                      <a:latin typeface="Cambria Math" panose="02040503050406030204" pitchFamily="18" charset="0"/>
                                      <a:ea typeface="Cambria Math" panose="02040503050406030204" pitchFamily="18" charset="0"/>
                                    </a:rPr>
                                    <m:t>578</m:t>
                                  </m:r>
                                  <m:r>
                                    <a:rPr lang="en-US" altLang="zh-CN" sz="2400" b="0" i="1" smtClean="0">
                                      <a:latin typeface="Cambria Math" panose="02040503050406030204" pitchFamily="18" charset="0"/>
                                      <a:ea typeface="Cambria Math" panose="02040503050406030204" pitchFamily="18" charset="0"/>
                                    </a:rPr>
                                    <m:t>𝑚</m:t>
                                  </m:r>
                                </m:e>
                              </m:func>
                              <m:r>
                                <a:rPr lang="en-US" altLang="zh-CN" sz="2400" i="1">
                                  <a:latin typeface="Cambria Math" panose="02040503050406030204" pitchFamily="18" charset="0"/>
                                  <a:ea typeface="Cambria Math" panose="02040503050406030204" pitchFamily="18" charset="0"/>
                                </a:rPr>
                                <m:t>−</m:t>
                              </m:r>
                              <m:r>
                                <m:rPr>
                                  <m:sty m:val="p"/>
                                </m:rPr>
                                <a:rPr lang="en-US" altLang="zh-CN" sz="2400">
                                  <a:latin typeface="Cambria Math" panose="02040503050406030204" pitchFamily="18" charset="0"/>
                                  <a:ea typeface="Cambria Math" panose="02040503050406030204" pitchFamily="18" charset="0"/>
                                </a:rPr>
                                <m:t>log</m:t>
                              </m:r>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𝛿</m:t>
                                  </m:r>
                                </m:num>
                                <m:den>
                                  <m:r>
                                    <a:rPr lang="en-US" altLang="zh-CN" sz="2400" i="1">
                                      <a:latin typeface="Cambria Math" panose="02040503050406030204" pitchFamily="18" charset="0"/>
                                      <a:ea typeface="Cambria Math" panose="02040503050406030204" pitchFamily="18" charset="0"/>
                                    </a:rPr>
                                    <m:t>4</m:t>
                                  </m:r>
                                </m:den>
                              </m:f>
                            </m:num>
                            <m:den>
                              <m:r>
                                <a:rPr lang="en-US" altLang="zh-CN" sz="2400" i="1">
                                  <a:latin typeface="Cambria Math" panose="02040503050406030204" pitchFamily="18" charset="0"/>
                                  <a:ea typeface="Cambria Math" panose="02040503050406030204" pitchFamily="18" charset="0"/>
                                </a:rPr>
                                <m:t>𝑚</m:t>
                              </m:r>
                            </m:den>
                          </m:f>
                        </m:e>
                      </m:rad>
                    </m:oMath>
                  </m:oMathPara>
                </a14:m>
                <a:endParaRPr lang="zh-CN" altLang="en-US" sz="2200" dirty="0"/>
              </a:p>
            </p:txBody>
          </p:sp>
        </mc:Choice>
        <mc:Fallback xmlns="">
          <p:sp>
            <p:nvSpPr>
              <p:cNvPr id="10" name="TextBox 9">
                <a:extLst>
                  <a:ext uri="{FF2B5EF4-FFF2-40B4-BE49-F238E27FC236}">
                    <a16:creationId xmlns:a16="http://schemas.microsoft.com/office/drawing/2014/main" id="{5338C9DA-30B6-4059-A65E-40506515117E}"/>
                  </a:ext>
                </a:extLst>
              </p:cNvPr>
              <p:cNvSpPr txBox="1">
                <a:spLocks noRot="1" noChangeAspect="1" noMove="1" noResize="1" noEditPoints="1" noAdjustHandles="1" noChangeArrowheads="1" noChangeShapeType="1" noTextEdit="1"/>
              </p:cNvSpPr>
              <p:nvPr/>
            </p:nvSpPr>
            <p:spPr>
              <a:xfrm>
                <a:off x="152400" y="3638550"/>
                <a:ext cx="8839200" cy="1867755"/>
              </a:xfrm>
              <a:prstGeom prst="rect">
                <a:avLst/>
              </a:prstGeom>
              <a:blipFill>
                <a:blip r:embed="rId6"/>
                <a:stretch>
                  <a:fillRect t="-3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628C4FE-6798-4549-9A97-55C9F1F5324E}"/>
                  </a:ext>
                </a:extLst>
              </p:cNvPr>
              <p:cNvSpPr txBox="1"/>
              <p:nvPr/>
            </p:nvSpPr>
            <p:spPr>
              <a:xfrm>
                <a:off x="152400" y="5486400"/>
                <a:ext cx="8839200" cy="430887"/>
              </a:xfrm>
              <a:prstGeom prst="rect">
                <a:avLst/>
              </a:prstGeom>
              <a:noFill/>
            </p:spPr>
            <p:txBody>
              <a:bodyPr wrap="square" rtlCol="0">
                <a:spAutoFit/>
              </a:bodyPr>
              <a:lstStyle/>
              <a:p>
                <a:pPr algn="ctr"/>
                <a:r>
                  <a:rPr lang="zh-CN" altLang="en-US" sz="2200" dirty="0"/>
                  <a:t>以</a:t>
                </a:r>
                <a14:m>
                  <m:oMath xmlns:m="http://schemas.openxmlformats.org/officeDocument/2006/math">
                    <m:r>
                      <a:rPr lang="en-US" altLang="zh-CN" sz="2200" b="0" i="0" smtClean="0">
                        <a:latin typeface="Cambria Math" panose="02040503050406030204" pitchFamily="18" charset="0"/>
                      </a:rPr>
                      <m:t>1−</m:t>
                    </m:r>
                    <m:r>
                      <a:rPr lang="zh-CN" altLang="en-US" sz="2200" i="1">
                        <a:latin typeface="Cambria Math" panose="02040503050406030204" pitchFamily="18" charset="0"/>
                      </a:rPr>
                      <m:t>𝛿</m:t>
                    </m:r>
                  </m:oMath>
                </a14:m>
                <a:r>
                  <a:rPr lang="zh-CN" altLang="en-US" sz="2200" dirty="0"/>
                  <a:t>的可能性成立（即除去概率为</a:t>
                </a:r>
                <a14:m>
                  <m:oMath xmlns:m="http://schemas.openxmlformats.org/officeDocument/2006/math">
                    <m:r>
                      <a:rPr lang="zh-CN" altLang="en-US" sz="2200" i="1">
                        <a:latin typeface="Cambria Math" panose="02040503050406030204" pitchFamily="18" charset="0"/>
                      </a:rPr>
                      <m:t>𝛿</m:t>
                    </m:r>
                  </m:oMath>
                </a14:m>
                <a:r>
                  <a:rPr lang="zh-CN" altLang="en-US" sz="2200" dirty="0"/>
                  <a:t>的运气不好的情况）</a:t>
                </a:r>
              </a:p>
            </p:txBody>
          </p:sp>
        </mc:Choice>
        <mc:Fallback xmlns="">
          <p:sp>
            <p:nvSpPr>
              <p:cNvPr id="12" name="TextBox 11">
                <a:extLst>
                  <a:ext uri="{FF2B5EF4-FFF2-40B4-BE49-F238E27FC236}">
                    <a16:creationId xmlns:a16="http://schemas.microsoft.com/office/drawing/2014/main" id="{5628C4FE-6798-4549-9A97-55C9F1F5324E}"/>
                  </a:ext>
                </a:extLst>
              </p:cNvPr>
              <p:cNvSpPr txBox="1">
                <a:spLocks noRot="1" noChangeAspect="1" noMove="1" noResize="1" noEditPoints="1" noAdjustHandles="1" noChangeArrowheads="1" noChangeShapeType="1" noTextEdit="1"/>
              </p:cNvSpPr>
              <p:nvPr/>
            </p:nvSpPr>
            <p:spPr>
              <a:xfrm>
                <a:off x="152400" y="5486400"/>
                <a:ext cx="8839200" cy="430887"/>
              </a:xfrm>
              <a:prstGeom prst="rect">
                <a:avLst/>
              </a:prstGeom>
              <a:blipFill>
                <a:blip r:embed="rId7"/>
                <a:stretch>
                  <a:fillRect t="-15493" b="-21127"/>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77198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错误上界</a:t>
            </a:r>
            <a:endParaRPr lang="zh-CN" alt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38C9DA-30B6-4059-A65E-40506515117E}"/>
                  </a:ext>
                </a:extLst>
              </p:cNvPr>
              <p:cNvSpPr txBox="1"/>
              <p:nvPr/>
            </p:nvSpPr>
            <p:spPr>
              <a:xfrm>
                <a:off x="152400" y="1524000"/>
                <a:ext cx="8839200" cy="152920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ea typeface="Cambria Math" panose="02040503050406030204" pitchFamily="18" charset="0"/>
                        </a:rPr>
                        <m:t>𝜖</m:t>
                      </m:r>
                      <m:r>
                        <a:rPr lang="en-US" altLang="zh-CN" sz="2400" i="1">
                          <a:latin typeface="Cambria Math" panose="02040503050406030204" pitchFamily="18" charset="0"/>
                          <a:ea typeface="Cambria Math" panose="02040503050406030204" pitchFamily="18" charset="0"/>
                        </a:rPr>
                        <m:t>≤</m:t>
                      </m:r>
                      <m:acc>
                        <m:accPr>
                          <m:chr m:val="̿"/>
                          <m:ctrlPr>
                            <a:rPr lang="en-US" altLang="zh-CN" sz="2400" i="1" smtClean="0">
                              <a:latin typeface="Cambria Math" panose="02040503050406030204" pitchFamily="18" charset="0"/>
                              <a:ea typeface="Cambria Math" panose="02040503050406030204" pitchFamily="18" charset="0"/>
                            </a:rPr>
                          </m:ctrlPr>
                        </m:accPr>
                        <m:e>
                          <m:r>
                            <a:rPr lang="zh-CN" altLang="en-US" sz="2400" i="1">
                              <a:latin typeface="Cambria Math" panose="02040503050406030204" pitchFamily="18" charset="0"/>
                              <a:ea typeface="Cambria Math" panose="02040503050406030204" pitchFamily="18" charset="0"/>
                            </a:rPr>
                            <m:t>𝜖</m:t>
                          </m:r>
                        </m:e>
                      </m:acc>
                      <m:r>
                        <a:rPr lang="en-US" altLang="zh-CN" sz="2400" b="0" i="1" smtClean="0">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acc>
                            <m:accPr>
                              <m:chr m:val="̂"/>
                              <m:ctrlPr>
                                <a:rPr lang="en-US" altLang="zh-CN" sz="2400" i="1">
                                  <a:latin typeface="Cambria Math" panose="02040503050406030204" pitchFamily="18" charset="0"/>
                                  <a:ea typeface="Cambria Math" panose="02040503050406030204" pitchFamily="18" charset="0"/>
                                </a:rPr>
                              </m:ctrlPr>
                            </m:accPr>
                            <m:e>
                              <m:r>
                                <a:rPr lang="zh-CN" altLang="en-US" sz="2400" i="1">
                                  <a:latin typeface="Cambria Math" panose="02040503050406030204" pitchFamily="18" charset="0"/>
                                  <a:ea typeface="Cambria Math" panose="02040503050406030204" pitchFamily="18" charset="0"/>
                                </a:rPr>
                                <m:t>𝜖</m:t>
                              </m:r>
                            </m:e>
                          </m:acc>
                        </m:e>
                        <m:sub>
                          <m:r>
                            <a:rPr lang="zh-CN" altLang="en-US" sz="2400" i="1">
                              <a:latin typeface="Cambria Math" panose="02040503050406030204" pitchFamily="18" charset="0"/>
                              <a:ea typeface="Cambria Math" panose="02040503050406030204" pitchFamily="18" charset="0"/>
                            </a:rPr>
                            <m:t>𝛾</m:t>
                          </m:r>
                        </m:sub>
                      </m:sSub>
                      <m:r>
                        <a:rPr lang="en-US" altLang="zh-CN" sz="2400" i="1">
                          <a:latin typeface="Cambria Math" panose="02040503050406030204" pitchFamily="18" charset="0"/>
                          <a:ea typeface="Cambria Math" panose="02040503050406030204" pitchFamily="18" charset="0"/>
                        </a:rPr>
                        <m:t>+</m:t>
                      </m:r>
                      <m:rad>
                        <m:radPr>
                          <m:degHide m:val="on"/>
                          <m:ctrlPr>
                            <a:rPr lang="en-US" altLang="zh-CN" sz="2400" i="1">
                              <a:latin typeface="Cambria Math" panose="02040503050406030204" pitchFamily="18" charset="0"/>
                              <a:ea typeface="Cambria Math" panose="02040503050406030204" pitchFamily="18" charset="0"/>
                            </a:rPr>
                          </m:ctrlPr>
                        </m:radPr>
                        <m:deg/>
                        <m:e>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2</m:t>
                              </m:r>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fat</m:t>
                                  </m:r>
                                </m:e>
                                <m:sub>
                                  <m:r>
                                    <a:rPr lang="en-US" altLang="zh-CN" sz="2400" i="1">
                                      <a:latin typeface="Cambria Math" panose="02040503050406030204" pitchFamily="18" charset="0"/>
                                    </a:rPr>
                                    <m:t>𝐻</m:t>
                                  </m:r>
                                </m:sub>
                              </m:sSub>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zh-CN" altLang="en-US" sz="2400" i="1">
                                      <a:latin typeface="Cambria Math" panose="02040503050406030204" pitchFamily="18" charset="0"/>
                                    </a:rPr>
                                    <m:t>𝛾</m:t>
                                  </m:r>
                                </m:num>
                                <m:den>
                                  <m:r>
                                    <a:rPr lang="en-US" altLang="zh-CN" sz="2400" i="1">
                                      <a:latin typeface="Cambria Math" panose="02040503050406030204" pitchFamily="18" charset="0"/>
                                    </a:rPr>
                                    <m:t>16</m:t>
                                  </m:r>
                                </m:den>
                              </m:f>
                              <m:r>
                                <a:rPr lang="en-US" altLang="zh-CN" sz="2400" i="1">
                                  <a:latin typeface="Cambria Math" panose="02040503050406030204" pitchFamily="18" charset="0"/>
                                </a:rPr>
                                <m:t>)</m:t>
                              </m:r>
                              <m:func>
                                <m:funcPr>
                                  <m:ctrlPr>
                                    <a:rPr lang="en-US" altLang="zh-CN" sz="2400" i="1">
                                      <a:latin typeface="Cambria Math" panose="02040503050406030204" pitchFamily="18" charset="0"/>
                                      <a:ea typeface="Cambria Math" panose="02040503050406030204" pitchFamily="18" charset="0"/>
                                    </a:rPr>
                                  </m:ctrlPr>
                                </m:funcPr>
                                <m:fName>
                                  <m:r>
                                    <m:rPr>
                                      <m:sty m:val="p"/>
                                    </m:rPr>
                                    <a:rPr lang="en-US" altLang="zh-CN" sz="2400">
                                      <a:latin typeface="Cambria Math" panose="02040503050406030204" pitchFamily="18" charset="0"/>
                                      <a:ea typeface="Cambria Math" panose="02040503050406030204" pitchFamily="18" charset="0"/>
                                    </a:rPr>
                                    <m:t>log</m:t>
                                  </m:r>
                                </m:fName>
                                <m:e>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34</m:t>
                                      </m:r>
                                      <m:r>
                                        <a:rPr lang="en-US" altLang="zh-CN" sz="2400" i="1">
                                          <a:latin typeface="Cambria Math" panose="02040503050406030204" pitchFamily="18" charset="0"/>
                                          <a:ea typeface="Cambria Math" panose="02040503050406030204" pitchFamily="18" charset="0"/>
                                        </a:rPr>
                                        <m:t>𝑒𝑚</m:t>
                                      </m:r>
                                    </m:num>
                                    <m:den>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fat</m:t>
                                          </m:r>
                                        </m:e>
                                        <m:sub>
                                          <m:r>
                                            <a:rPr lang="en-US" altLang="zh-CN" sz="2400" i="1">
                                              <a:latin typeface="Cambria Math" panose="02040503050406030204" pitchFamily="18" charset="0"/>
                                            </a:rPr>
                                            <m:t>𝐻</m:t>
                                          </m:r>
                                        </m:sub>
                                      </m:sSub>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zh-CN" altLang="en-US" sz="2400" i="1">
                                              <a:latin typeface="Cambria Math" panose="02040503050406030204" pitchFamily="18" charset="0"/>
                                            </a:rPr>
                                            <m:t>𝛾</m:t>
                                          </m:r>
                                        </m:num>
                                        <m:den>
                                          <m:r>
                                            <a:rPr lang="en-US" altLang="zh-CN" sz="2400" i="1">
                                              <a:latin typeface="Cambria Math" panose="02040503050406030204" pitchFamily="18" charset="0"/>
                                            </a:rPr>
                                            <m:t>16</m:t>
                                          </m:r>
                                        </m:den>
                                      </m:f>
                                      <m:r>
                                        <a:rPr lang="en-US" altLang="zh-CN" sz="2400" i="1">
                                          <a:latin typeface="Cambria Math" panose="02040503050406030204" pitchFamily="18" charset="0"/>
                                        </a:rPr>
                                        <m:t>)</m:t>
                                      </m:r>
                                    </m:den>
                                  </m:f>
                                </m:e>
                              </m:func>
                              <m:func>
                                <m:funcPr>
                                  <m:ctrlPr>
                                    <a:rPr lang="en-US" altLang="zh-CN" sz="2400" i="1">
                                      <a:latin typeface="Cambria Math" panose="02040503050406030204" pitchFamily="18" charset="0"/>
                                      <a:ea typeface="Cambria Math" panose="02040503050406030204" pitchFamily="18" charset="0"/>
                                    </a:rPr>
                                  </m:ctrlPr>
                                </m:funcPr>
                                <m:fName>
                                  <m:sSub>
                                    <m:sSubPr>
                                      <m:ctrlPr>
                                        <a:rPr lang="en-US" altLang="zh-CN" sz="2400" i="1">
                                          <a:latin typeface="Cambria Math" panose="02040503050406030204" pitchFamily="18" charset="0"/>
                                          <a:ea typeface="Cambria Math" panose="02040503050406030204" pitchFamily="18" charset="0"/>
                                        </a:rPr>
                                      </m:ctrlPr>
                                    </m:sSubPr>
                                    <m:e>
                                      <m:r>
                                        <m:rPr>
                                          <m:sty m:val="p"/>
                                        </m:rPr>
                                        <a:rPr lang="en-US" altLang="zh-CN" sz="2400">
                                          <a:latin typeface="Cambria Math" panose="02040503050406030204" pitchFamily="18" charset="0"/>
                                          <a:ea typeface="Cambria Math" panose="02040503050406030204" pitchFamily="18" charset="0"/>
                                        </a:rPr>
                                        <m:t>log</m:t>
                                      </m:r>
                                    </m:e>
                                    <m:sub>
                                      <m:r>
                                        <a:rPr lang="en-US" altLang="zh-CN" sz="2400" i="1">
                                          <a:latin typeface="Cambria Math" panose="02040503050406030204" pitchFamily="18" charset="0"/>
                                          <a:ea typeface="Cambria Math" panose="02040503050406030204" pitchFamily="18" charset="0"/>
                                        </a:rPr>
                                        <m:t>2</m:t>
                                      </m:r>
                                    </m:sub>
                                  </m:sSub>
                                </m:fName>
                                <m:e>
                                  <m:r>
                                    <a:rPr lang="en-US" altLang="zh-CN" sz="2400" i="1">
                                      <a:latin typeface="Cambria Math" panose="02040503050406030204" pitchFamily="18" charset="0"/>
                                      <a:ea typeface="Cambria Math" panose="02040503050406030204" pitchFamily="18" charset="0"/>
                                    </a:rPr>
                                    <m:t>578</m:t>
                                  </m:r>
                                  <m:r>
                                    <a:rPr lang="en-US" altLang="zh-CN" sz="2400" i="1">
                                      <a:latin typeface="Cambria Math" panose="02040503050406030204" pitchFamily="18" charset="0"/>
                                      <a:ea typeface="Cambria Math" panose="02040503050406030204" pitchFamily="18" charset="0"/>
                                    </a:rPr>
                                    <m:t>𝑚</m:t>
                                  </m:r>
                                </m:e>
                              </m:func>
                              <m:r>
                                <a:rPr lang="en-US" altLang="zh-CN" sz="2400" i="1">
                                  <a:latin typeface="Cambria Math" panose="02040503050406030204" pitchFamily="18" charset="0"/>
                                  <a:ea typeface="Cambria Math" panose="02040503050406030204" pitchFamily="18" charset="0"/>
                                </a:rPr>
                                <m:t>−</m:t>
                              </m:r>
                              <m:r>
                                <m:rPr>
                                  <m:sty m:val="p"/>
                                </m:rPr>
                                <a:rPr lang="en-US" altLang="zh-CN" sz="2400">
                                  <a:latin typeface="Cambria Math" panose="02040503050406030204" pitchFamily="18" charset="0"/>
                                  <a:ea typeface="Cambria Math" panose="02040503050406030204" pitchFamily="18" charset="0"/>
                                </a:rPr>
                                <m:t>log</m:t>
                              </m:r>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𝛿</m:t>
                                  </m:r>
                                </m:num>
                                <m:den>
                                  <m:r>
                                    <a:rPr lang="en-US" altLang="zh-CN" sz="2400" i="1">
                                      <a:latin typeface="Cambria Math" panose="02040503050406030204" pitchFamily="18" charset="0"/>
                                      <a:ea typeface="Cambria Math" panose="02040503050406030204" pitchFamily="18" charset="0"/>
                                    </a:rPr>
                                    <m:t>4</m:t>
                                  </m:r>
                                </m:den>
                              </m:f>
                            </m:num>
                            <m:den>
                              <m:r>
                                <a:rPr lang="en-US" altLang="zh-CN" sz="2400" i="1">
                                  <a:latin typeface="Cambria Math" panose="02040503050406030204" pitchFamily="18" charset="0"/>
                                  <a:ea typeface="Cambria Math" panose="02040503050406030204" pitchFamily="18" charset="0"/>
                                </a:rPr>
                                <m:t>𝑚</m:t>
                              </m:r>
                            </m:den>
                          </m:f>
                        </m:e>
                      </m:rad>
                    </m:oMath>
                  </m:oMathPara>
                </a14:m>
                <a:endParaRPr lang="zh-CN" altLang="en-US" sz="2200" dirty="0"/>
              </a:p>
            </p:txBody>
          </p:sp>
        </mc:Choice>
        <mc:Fallback xmlns="">
          <p:sp>
            <p:nvSpPr>
              <p:cNvPr id="10" name="TextBox 9">
                <a:extLst>
                  <a:ext uri="{FF2B5EF4-FFF2-40B4-BE49-F238E27FC236}">
                    <a16:creationId xmlns:a16="http://schemas.microsoft.com/office/drawing/2014/main" id="{5338C9DA-30B6-4059-A65E-40506515117E}"/>
                  </a:ext>
                </a:extLst>
              </p:cNvPr>
              <p:cNvSpPr txBox="1">
                <a:spLocks noRot="1" noChangeAspect="1" noMove="1" noResize="1" noEditPoints="1" noAdjustHandles="1" noChangeArrowheads="1" noChangeShapeType="1" noTextEdit="1"/>
              </p:cNvSpPr>
              <p:nvPr/>
            </p:nvSpPr>
            <p:spPr>
              <a:xfrm>
                <a:off x="152400" y="1524000"/>
                <a:ext cx="8839200" cy="152920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628C4FE-6798-4549-9A97-55C9F1F5324E}"/>
                  </a:ext>
                </a:extLst>
              </p:cNvPr>
              <p:cNvSpPr txBox="1"/>
              <p:nvPr/>
            </p:nvSpPr>
            <p:spPr>
              <a:xfrm>
                <a:off x="152400" y="4241893"/>
                <a:ext cx="8839200" cy="861774"/>
              </a:xfrm>
              <a:prstGeom prst="rect">
                <a:avLst/>
              </a:prstGeom>
              <a:noFill/>
            </p:spPr>
            <p:txBody>
              <a:bodyPr wrap="square" rtlCol="0">
                <a:spAutoFit/>
              </a:bodyPr>
              <a:lstStyle/>
              <a:p>
                <a:pPr algn="ctr"/>
                <a:br>
                  <a:rPr lang="en-US" altLang="zh-CN" sz="2200" dirty="0"/>
                </a:br>
                <a:r>
                  <a:rPr lang="zh-CN" altLang="en-US" sz="2200" dirty="0"/>
                  <a:t>更大的间距</a:t>
                </a:r>
                <a14:m>
                  <m:oMath xmlns:m="http://schemas.openxmlformats.org/officeDocument/2006/math">
                    <m:r>
                      <a:rPr lang="zh-CN" altLang="en-US" sz="2200" i="1">
                        <a:latin typeface="Cambria Math" panose="02040503050406030204" pitchFamily="18" charset="0"/>
                      </a:rPr>
                      <m:t>𝛾</m:t>
                    </m:r>
                  </m:oMath>
                </a14:m>
                <a:r>
                  <a:rPr lang="en-US" altLang="zh-CN" sz="2200" dirty="0">
                    <a:latin typeface="等线" panose="02010600030101010101" pitchFamily="2" charset="-122"/>
                    <a:ea typeface="等线" panose="02010600030101010101" pitchFamily="2" charset="-122"/>
                  </a:rPr>
                  <a:t> → </a:t>
                </a:r>
                <a:r>
                  <a:rPr lang="zh-CN" altLang="en-US" sz="2200" dirty="0"/>
                  <a:t>可能获得更低的</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fat</m:t>
                        </m:r>
                      </m:e>
                      <m:sub>
                        <m:r>
                          <a:rPr lang="en-US" altLang="zh-CN" sz="2000" i="1">
                            <a:latin typeface="Cambria Math" panose="02040503050406030204" pitchFamily="18" charset="0"/>
                          </a:rPr>
                          <m:t>𝐻</m:t>
                        </m:r>
                      </m:sub>
                    </m:sSub>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zh-CN" altLang="en-US" sz="2000" i="1">
                            <a:latin typeface="Cambria Math" panose="02040503050406030204" pitchFamily="18" charset="0"/>
                          </a:rPr>
                          <m:t>𝛾</m:t>
                        </m:r>
                      </m:num>
                      <m:den>
                        <m:r>
                          <a:rPr lang="en-US" altLang="zh-CN" sz="2000" i="1">
                            <a:latin typeface="Cambria Math" panose="02040503050406030204" pitchFamily="18" charset="0"/>
                          </a:rPr>
                          <m:t>16</m:t>
                        </m:r>
                      </m:den>
                    </m:f>
                    <m:r>
                      <a:rPr lang="en-US" altLang="zh-CN" sz="2000" i="1">
                        <a:latin typeface="Cambria Math" panose="02040503050406030204" pitchFamily="18" charset="0"/>
                      </a:rPr>
                      <m:t>)</m:t>
                    </m:r>
                  </m:oMath>
                </a14:m>
                <a:r>
                  <a:rPr lang="en-US" altLang="zh-CN" sz="2200" dirty="0">
                    <a:latin typeface="等线" panose="02010600030101010101" pitchFamily="2" charset="-122"/>
                    <a:ea typeface="等线" panose="02010600030101010101" pitchFamily="2" charset="-122"/>
                  </a:rPr>
                  <a:t> → </a:t>
                </a:r>
                <a:r>
                  <a:rPr lang="zh-CN" altLang="en-US" sz="2200" dirty="0"/>
                  <a:t>可能获得更低的的</a:t>
                </a:r>
                <a14:m>
                  <m:oMath xmlns:m="http://schemas.openxmlformats.org/officeDocument/2006/math">
                    <m:acc>
                      <m:accPr>
                        <m:chr m:val="̿"/>
                        <m:ctrlPr>
                          <a:rPr lang="en-US" altLang="zh-CN" sz="2400" i="1">
                            <a:latin typeface="Cambria Math" panose="02040503050406030204" pitchFamily="18" charset="0"/>
                            <a:ea typeface="Cambria Math" panose="02040503050406030204" pitchFamily="18" charset="0"/>
                          </a:rPr>
                        </m:ctrlPr>
                      </m:accPr>
                      <m:e>
                        <m:r>
                          <a:rPr lang="zh-CN" altLang="en-US" sz="2400" i="1">
                            <a:latin typeface="Cambria Math" panose="02040503050406030204" pitchFamily="18" charset="0"/>
                            <a:ea typeface="Cambria Math" panose="02040503050406030204" pitchFamily="18" charset="0"/>
                          </a:rPr>
                          <m:t>𝜖</m:t>
                        </m:r>
                      </m:e>
                    </m:acc>
                  </m:oMath>
                </a14:m>
                <a:r>
                  <a:rPr lang="en-US" altLang="zh-CN" sz="2800" dirty="0"/>
                  <a:t> </a:t>
                </a:r>
                <a:endParaRPr lang="zh-CN" altLang="en-US" sz="2200" dirty="0"/>
              </a:p>
            </p:txBody>
          </p:sp>
        </mc:Choice>
        <mc:Fallback xmlns="">
          <p:sp>
            <p:nvSpPr>
              <p:cNvPr id="12" name="TextBox 11">
                <a:extLst>
                  <a:ext uri="{FF2B5EF4-FFF2-40B4-BE49-F238E27FC236}">
                    <a16:creationId xmlns:a16="http://schemas.microsoft.com/office/drawing/2014/main" id="{5628C4FE-6798-4549-9A97-55C9F1F5324E}"/>
                  </a:ext>
                </a:extLst>
              </p:cNvPr>
              <p:cNvSpPr txBox="1">
                <a:spLocks noRot="1" noChangeAspect="1" noMove="1" noResize="1" noEditPoints="1" noAdjustHandles="1" noChangeArrowheads="1" noChangeShapeType="1" noTextEdit="1"/>
              </p:cNvSpPr>
              <p:nvPr/>
            </p:nvSpPr>
            <p:spPr>
              <a:xfrm>
                <a:off x="152400" y="4241893"/>
                <a:ext cx="8839200" cy="861774"/>
              </a:xfrm>
              <a:prstGeom prst="rect">
                <a:avLst/>
              </a:prstGeom>
              <a:blipFill>
                <a:blip r:embed="rId6"/>
                <a:stretch>
                  <a:fillRect b="-92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ED38DC4-DE98-40EF-9072-5EA01DC3BEE1}"/>
                  </a:ext>
                </a:extLst>
              </p:cNvPr>
              <p:cNvSpPr txBox="1"/>
              <p:nvPr/>
            </p:nvSpPr>
            <p:spPr>
              <a:xfrm>
                <a:off x="152400" y="3107909"/>
                <a:ext cx="8839200" cy="1083886"/>
              </a:xfrm>
              <a:prstGeom prst="rect">
                <a:avLst/>
              </a:prstGeom>
              <a:noFill/>
            </p:spPr>
            <p:txBody>
              <a:bodyPr wrap="square" rtlCol="0">
                <a:spAutoFit/>
              </a:bodyPr>
              <a:lstStyle/>
              <a:p>
                <a:pPr algn="ctr"/>
                <a:r>
                  <a:rPr lang="zh-CN" altLang="en-US" sz="2200" dirty="0"/>
                  <a:t>在</a:t>
                </a:r>
                <a:r>
                  <a:rPr lang="en-US" altLang="zh-CN" sz="2200" dirty="0"/>
                  <a:t>logistic regression</a:t>
                </a:r>
                <a:r>
                  <a:rPr lang="zh-CN" altLang="en-US" sz="2200" dirty="0"/>
                  <a:t>中</a:t>
                </a:r>
                <a:endParaRPr lang="en-US" altLang="zh-CN" sz="2200" dirty="0"/>
              </a:p>
              <a:p>
                <a:pPr algn="ct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a:latin typeface="Cambria Math" panose="02040503050406030204" pitchFamily="18" charset="0"/>
                            </a:rPr>
                            <m:t>fat</m:t>
                          </m:r>
                        </m:e>
                        <m:sub>
                          <m:r>
                            <a:rPr lang="en-US" altLang="zh-CN" sz="2000" i="1">
                              <a:latin typeface="Cambria Math" panose="02040503050406030204" pitchFamily="18" charset="0"/>
                            </a:rPr>
                            <m:t>𝐻</m:t>
                          </m:r>
                        </m:sub>
                      </m:sSub>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zh-CN" altLang="en-US" sz="2000" i="1">
                              <a:latin typeface="Cambria Math" panose="02040503050406030204" pitchFamily="18" charset="0"/>
                            </a:rPr>
                            <m:t>𝛾</m:t>
                          </m:r>
                        </m:num>
                        <m:den>
                          <m:r>
                            <a:rPr lang="en-US" altLang="zh-CN" sz="2000" i="1">
                              <a:latin typeface="Cambria Math" panose="02040503050406030204" pitchFamily="18" charset="0"/>
                            </a:rPr>
                            <m:t>16</m:t>
                          </m:r>
                        </m:den>
                      </m:f>
                      <m:r>
                        <a:rPr lang="en-US" altLang="zh-CN" sz="2000" i="1">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f>
                        <m:fPr>
                          <m:ctrlPr>
                            <a:rPr lang="en-US" altLang="zh-CN" sz="200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𝑐𝑛</m:t>
                          </m:r>
                        </m:num>
                        <m:den>
                          <m:sSup>
                            <m:sSupPr>
                              <m:ctrlPr>
                                <a:rPr lang="en-US" altLang="zh-CN" sz="2000" i="1" smtClean="0">
                                  <a:latin typeface="Cambria Math" panose="02040503050406030204" pitchFamily="18" charset="0"/>
                                  <a:ea typeface="Cambria Math" panose="02040503050406030204" pitchFamily="18" charset="0"/>
                                </a:rPr>
                              </m:ctrlPr>
                            </m:sSupPr>
                            <m:e>
                              <m:r>
                                <a:rPr lang="zh-CN" altLang="en-US" sz="2000" i="1" smtClean="0">
                                  <a:latin typeface="Cambria Math" panose="02040503050406030204" pitchFamily="18" charset="0"/>
                                  <a:ea typeface="Cambria Math" panose="02040503050406030204" pitchFamily="18" charset="0"/>
                                </a:rPr>
                                <m:t>𝛾</m:t>
                              </m:r>
                            </m:e>
                            <m:sup>
                              <m:r>
                                <a:rPr lang="en-US" altLang="zh-CN" sz="2000" i="1">
                                  <a:latin typeface="Cambria Math" panose="02040503050406030204" pitchFamily="18" charset="0"/>
                                  <a:ea typeface="Cambria Math" panose="02040503050406030204" pitchFamily="18" charset="0"/>
                                </a:rPr>
                                <m:t>2</m:t>
                              </m:r>
                            </m:sup>
                          </m:sSup>
                        </m:den>
                      </m:f>
                      <m:func>
                        <m:funcPr>
                          <m:ctrlPr>
                            <a:rPr lang="en-US" altLang="zh-CN" sz="2000" i="1" smtClean="0">
                              <a:latin typeface="Cambria Math" panose="02040503050406030204" pitchFamily="18" charset="0"/>
                              <a:ea typeface="Cambria Math" panose="02040503050406030204" pitchFamily="18" charset="0"/>
                            </a:rPr>
                          </m:ctrlPr>
                        </m:funcPr>
                        <m:fName>
                          <m:r>
                            <m:rPr>
                              <m:sty m:val="p"/>
                            </m:rPr>
                            <a:rPr lang="en-US" altLang="zh-CN" sz="2000" i="0" smtClean="0">
                              <a:latin typeface="Cambria Math" panose="02040503050406030204" pitchFamily="18" charset="0"/>
                              <a:ea typeface="Cambria Math" panose="02040503050406030204" pitchFamily="18" charset="0"/>
                            </a:rPr>
                            <m:t>log</m:t>
                          </m:r>
                        </m:fName>
                        <m:e>
                          <m:f>
                            <m:fPr>
                              <m:ctrlPr>
                                <a:rPr lang="en-US" altLang="zh-CN" sz="200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16</m:t>
                              </m:r>
                            </m:num>
                            <m:den>
                              <m:r>
                                <a:rPr lang="zh-CN" altLang="en-US" sz="2000" i="1">
                                  <a:latin typeface="Cambria Math" panose="02040503050406030204" pitchFamily="18" charset="0"/>
                                  <a:ea typeface="Cambria Math" panose="02040503050406030204" pitchFamily="18" charset="0"/>
                                </a:rPr>
                                <m:t>𝛾</m:t>
                              </m:r>
                            </m:den>
                          </m:f>
                        </m:e>
                      </m:func>
                    </m:oMath>
                  </m:oMathPara>
                </a14:m>
                <a:endParaRPr lang="zh-CN" altLang="en-US" sz="2200" dirty="0"/>
              </a:p>
            </p:txBody>
          </p:sp>
        </mc:Choice>
        <mc:Fallback xmlns="">
          <p:sp>
            <p:nvSpPr>
              <p:cNvPr id="13" name="TextBox 12">
                <a:extLst>
                  <a:ext uri="{FF2B5EF4-FFF2-40B4-BE49-F238E27FC236}">
                    <a16:creationId xmlns:a16="http://schemas.microsoft.com/office/drawing/2014/main" id="{1ED38DC4-DE98-40EF-9072-5EA01DC3BEE1}"/>
                  </a:ext>
                </a:extLst>
              </p:cNvPr>
              <p:cNvSpPr txBox="1">
                <a:spLocks noRot="1" noChangeAspect="1" noMove="1" noResize="1" noEditPoints="1" noAdjustHandles="1" noChangeArrowheads="1" noChangeShapeType="1" noTextEdit="1"/>
              </p:cNvSpPr>
              <p:nvPr/>
            </p:nvSpPr>
            <p:spPr>
              <a:xfrm>
                <a:off x="152400" y="3107909"/>
                <a:ext cx="8839200" cy="1083886"/>
              </a:xfrm>
              <a:prstGeom prst="rect">
                <a:avLst/>
              </a:prstGeom>
              <a:blipFill>
                <a:blip r:embed="rId7"/>
                <a:stretch>
                  <a:fillRect t="-6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03CAFB-293E-484A-9FB4-DE76380E52D2}"/>
                  </a:ext>
                </a:extLst>
              </p:cNvPr>
              <p:cNvSpPr txBox="1"/>
              <p:nvPr/>
            </p:nvSpPr>
            <p:spPr>
              <a:xfrm>
                <a:off x="-114300" y="5394874"/>
                <a:ext cx="9372600" cy="491160"/>
              </a:xfrm>
              <a:prstGeom prst="rect">
                <a:avLst/>
              </a:prstGeom>
              <a:noFill/>
            </p:spPr>
            <p:txBody>
              <a:bodyPr wrap="square" rtlCol="0">
                <a:spAutoFit/>
              </a:bodyPr>
              <a:lstStyle/>
              <a:p>
                <a:pPr algn="ctr"/>
                <a:r>
                  <a:rPr lang="zh-CN" altLang="en-US" sz="2200" dirty="0"/>
                  <a:t>但我们也需要降低</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acc>
                          <m:accPr>
                            <m:chr m:val="̂"/>
                            <m:ctrlPr>
                              <a:rPr lang="en-US" altLang="zh-CN" sz="2400" i="1">
                                <a:latin typeface="Cambria Math" panose="02040503050406030204" pitchFamily="18" charset="0"/>
                                <a:ea typeface="Cambria Math" panose="02040503050406030204" pitchFamily="18" charset="0"/>
                              </a:rPr>
                            </m:ctrlPr>
                          </m:accPr>
                          <m:e>
                            <m:r>
                              <a:rPr lang="zh-CN" altLang="en-US" sz="2400" i="1">
                                <a:latin typeface="Cambria Math" panose="02040503050406030204" pitchFamily="18" charset="0"/>
                                <a:ea typeface="Cambria Math" panose="02040503050406030204" pitchFamily="18" charset="0"/>
                              </a:rPr>
                              <m:t>𝜖</m:t>
                            </m:r>
                          </m:e>
                        </m:acc>
                      </m:e>
                      <m:sub>
                        <m:r>
                          <a:rPr lang="zh-CN" altLang="en-US" sz="2400" i="1">
                            <a:latin typeface="Cambria Math" panose="02040503050406030204" pitchFamily="18" charset="0"/>
                            <a:ea typeface="Cambria Math" panose="02040503050406030204" pitchFamily="18" charset="0"/>
                          </a:rPr>
                          <m:t>𝛾</m:t>
                        </m:r>
                      </m:sub>
                    </m:sSub>
                  </m:oMath>
                </a14:m>
                <a:r>
                  <a:rPr lang="zh-CN" altLang="en-US" sz="2000" dirty="0">
                    <a:ea typeface="Cambria Math" panose="02040503050406030204" pitchFamily="18" charset="0"/>
                  </a:rPr>
                  <a:t>，</a:t>
                </a:r>
                <a:r>
                  <a:rPr lang="zh-CN" altLang="en-US" sz="2200" dirty="0"/>
                  <a:t>这正是我们在梯度下降中追求的</a:t>
                </a:r>
              </a:p>
            </p:txBody>
          </p:sp>
        </mc:Choice>
        <mc:Fallback xmlns="">
          <p:sp>
            <p:nvSpPr>
              <p:cNvPr id="8" name="TextBox 7">
                <a:extLst>
                  <a:ext uri="{FF2B5EF4-FFF2-40B4-BE49-F238E27FC236}">
                    <a16:creationId xmlns:a16="http://schemas.microsoft.com/office/drawing/2014/main" id="{7603CAFB-293E-484A-9FB4-DE76380E52D2}"/>
                  </a:ext>
                </a:extLst>
              </p:cNvPr>
              <p:cNvSpPr txBox="1">
                <a:spLocks noRot="1" noChangeAspect="1" noMove="1" noResize="1" noEditPoints="1" noAdjustHandles="1" noChangeArrowheads="1" noChangeShapeType="1" noTextEdit="1"/>
              </p:cNvSpPr>
              <p:nvPr/>
            </p:nvSpPr>
            <p:spPr>
              <a:xfrm>
                <a:off x="-114300" y="5394874"/>
                <a:ext cx="9372600" cy="491160"/>
              </a:xfrm>
              <a:prstGeom prst="rect">
                <a:avLst/>
              </a:prstGeom>
              <a:blipFill>
                <a:blip r:embed="rId8"/>
                <a:stretch>
                  <a:fillRect t="-8642" b="-11111"/>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1157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A6335-02AE-E987-49A6-ED273527C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7FB72-5EA0-678A-43E5-034339D9A37F}"/>
              </a:ext>
            </a:extLst>
          </p:cNvPr>
          <p:cNvSpPr>
            <a:spLocks noGrp="1"/>
          </p:cNvSpPr>
          <p:nvPr>
            <p:ph type="title"/>
          </p:nvPr>
        </p:nvSpPr>
        <p:spPr/>
        <p:txBody>
          <a:bodyPr/>
          <a:lstStyle/>
          <a:p>
            <a:r>
              <a:rPr lang="zh-CN" altLang="en-US" dirty="0">
                <a:ea typeface="ＭＳ Ｐゴシック" panose="020B0600070205080204" pitchFamily="34" charset="-128"/>
              </a:rPr>
              <a:t>手写邮政编码识别</a:t>
            </a:r>
            <a:endParaRPr lang="zh-CN" altLang="en-US" dirty="0"/>
          </a:p>
        </p:txBody>
      </p:sp>
      <p:sp>
        <p:nvSpPr>
          <p:cNvPr id="3" name="Content Placeholder 2">
            <a:extLst>
              <a:ext uri="{FF2B5EF4-FFF2-40B4-BE49-F238E27FC236}">
                <a16:creationId xmlns:a16="http://schemas.microsoft.com/office/drawing/2014/main" id="{8E3E1D18-ADC8-4302-1235-4964D996A5D5}"/>
              </a:ext>
            </a:extLst>
          </p:cNvPr>
          <p:cNvSpPr>
            <a:spLocks noGrp="1"/>
          </p:cNvSpPr>
          <p:nvPr>
            <p:ph idx="1"/>
          </p:nvPr>
        </p:nvSpPr>
        <p:spPr>
          <a:xfrm>
            <a:off x="762000" y="1600200"/>
            <a:ext cx="7772400" cy="5486400"/>
          </a:xfrm>
        </p:spPr>
        <p:txBody>
          <a:bodyPr>
            <a:normAutofit/>
          </a:bodyPr>
          <a:lstStyle/>
          <a:p>
            <a:r>
              <a:rPr lang="zh-CN" altLang="en-US" dirty="0"/>
              <a:t>了解了</a:t>
            </a:r>
            <a:r>
              <a:rPr lang="en-US" altLang="zh-CN" dirty="0"/>
              <a:t>Logistic Regression</a:t>
            </a:r>
          </a:p>
          <a:p>
            <a:pPr lvl="1"/>
            <a:r>
              <a:rPr lang="zh-CN" altLang="en-US" b="0" dirty="0"/>
              <a:t>我们可以开始进行手写邮政编码识别了？</a:t>
            </a:r>
            <a:endParaRPr lang="en-US" altLang="zh-CN" b="0" dirty="0"/>
          </a:p>
          <a:p>
            <a:r>
              <a:rPr lang="zh-CN" altLang="en-US" dirty="0"/>
              <a:t>等一下</a:t>
            </a:r>
            <a:endParaRPr lang="en-US" altLang="zh-CN" dirty="0"/>
          </a:p>
          <a:p>
            <a:pPr lvl="1"/>
            <a:r>
              <a:rPr lang="zh-CN" altLang="en-US" dirty="0"/>
              <a:t>线性分类器是两类分类器</a:t>
            </a:r>
            <a:endParaRPr lang="en-US" altLang="zh-CN" dirty="0"/>
          </a:p>
          <a:p>
            <a:pPr lvl="2"/>
            <a:r>
              <a:rPr lang="zh-CN" altLang="en-US" dirty="0"/>
              <a:t>可是手写邮政编码识别有</a:t>
            </a:r>
            <a:r>
              <a:rPr lang="en-US" altLang="zh-CN" dirty="0"/>
              <a:t>10</a:t>
            </a:r>
            <a:r>
              <a:rPr lang="zh-CN" altLang="en-US" dirty="0"/>
              <a:t>个类</a:t>
            </a:r>
            <a:endParaRPr lang="en-US" altLang="zh-CN" dirty="0"/>
          </a:p>
          <a:p>
            <a:r>
              <a:rPr lang="zh-CN" altLang="en-US" dirty="0"/>
              <a:t>用</a:t>
            </a:r>
            <a:r>
              <a:rPr lang="en-US" altLang="zh-CN" dirty="0"/>
              <a:t>Logistic Regression</a:t>
            </a:r>
            <a:r>
              <a:rPr lang="zh-CN" altLang="en-US" dirty="0"/>
              <a:t>进行多类分类</a:t>
            </a:r>
            <a:endParaRPr lang="en-US" altLang="zh-CN" dirty="0"/>
          </a:p>
          <a:p>
            <a:pPr lvl="1"/>
            <a:r>
              <a:rPr lang="zh-CN" altLang="en-US" dirty="0"/>
              <a:t>一对其余（</a:t>
            </a:r>
            <a:r>
              <a:rPr lang="en-US" altLang="zh-CN" dirty="0"/>
              <a:t>one vs. rest</a:t>
            </a:r>
            <a:r>
              <a:rPr lang="zh-CN" altLang="en-US" dirty="0"/>
              <a:t>）</a:t>
            </a:r>
            <a:endParaRPr lang="en-US" altLang="zh-CN" dirty="0"/>
          </a:p>
          <a:p>
            <a:pPr lvl="2"/>
            <a:r>
              <a:rPr lang="zh-CN" altLang="en-US" dirty="0"/>
              <a:t>为每一个类别训练一个两类分类器，分类时比较各个分类器给出的概率</a:t>
            </a:r>
            <a:endParaRPr lang="en-US" altLang="zh-CN" dirty="0"/>
          </a:p>
          <a:p>
            <a:pPr lvl="1"/>
            <a:r>
              <a:rPr lang="zh-CN" altLang="en-US" dirty="0"/>
              <a:t>另一个办法：</a:t>
            </a:r>
            <a:r>
              <a:rPr lang="en-US" altLang="zh-CN" dirty="0" err="1"/>
              <a:t>Softmax</a:t>
            </a:r>
            <a:endParaRPr lang="en-US" altLang="zh-CN" dirty="0"/>
          </a:p>
        </p:txBody>
      </p:sp>
    </p:spTree>
    <p:custDataLst>
      <p:tags r:id="rId1"/>
    </p:custDataLst>
    <p:extLst>
      <p:ext uri="{BB962C8B-B14F-4D97-AF65-F5344CB8AC3E}">
        <p14:creationId xmlns:p14="http://schemas.microsoft.com/office/powerpoint/2010/main" val="223678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ECB33-1513-D8C2-9E3B-F5DD59439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B01E7-FF87-A60A-AAFB-D0C9C8699DB9}"/>
              </a:ext>
            </a:extLst>
          </p:cNvPr>
          <p:cNvSpPr>
            <a:spLocks noGrp="1"/>
          </p:cNvSpPr>
          <p:nvPr>
            <p:ph type="title"/>
          </p:nvPr>
        </p:nvSpPr>
        <p:spPr/>
        <p:txBody>
          <a:bodyPr/>
          <a:lstStyle/>
          <a:p>
            <a:r>
              <a:rPr lang="en-US" altLang="zh-CN" dirty="0" err="1">
                <a:ea typeface="ＭＳ Ｐゴシック" panose="020B0600070205080204" pitchFamily="34" charset="-128"/>
              </a:rPr>
              <a:t>Softmax</a:t>
            </a:r>
            <a:endParaRPr lang="zh-CN" altLang="en-US" dirty="0"/>
          </a:p>
        </p:txBody>
      </p:sp>
      <p:sp>
        <p:nvSpPr>
          <p:cNvPr id="17" name="Oval 16">
            <a:extLst>
              <a:ext uri="{FF2B5EF4-FFF2-40B4-BE49-F238E27FC236}">
                <a16:creationId xmlns:a16="http://schemas.microsoft.com/office/drawing/2014/main" id="{BA421C29-AC5E-792A-4F1F-E18CF3FE4C65}"/>
              </a:ext>
            </a:extLst>
          </p:cNvPr>
          <p:cNvSpPr/>
          <p:nvPr/>
        </p:nvSpPr>
        <p:spPr bwMode="auto">
          <a:xfrm>
            <a:off x="5332866" y="2726463"/>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2F128CF8-6663-09E7-25BA-26DE9FE64CF7}"/>
              </a:ext>
            </a:extLst>
          </p:cNvPr>
          <p:cNvCxnSpPr>
            <a:cxnSpLocks/>
            <a:endCxn id="17" idx="2"/>
          </p:cNvCxnSpPr>
          <p:nvPr/>
        </p:nvCxnSpPr>
        <p:spPr bwMode="auto">
          <a:xfrm>
            <a:off x="2230437" y="2618626"/>
            <a:ext cx="3102429" cy="1840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0B093A23-4F0F-4348-C9A8-AC7941B58E1F}"/>
              </a:ext>
            </a:extLst>
          </p:cNvPr>
          <p:cNvCxnSpPr>
            <a:cxnSpLocks/>
            <a:endCxn id="17" idx="3"/>
          </p:cNvCxnSpPr>
          <p:nvPr/>
        </p:nvCxnSpPr>
        <p:spPr bwMode="auto">
          <a:xfrm flipV="1">
            <a:off x="2230437" y="2856545"/>
            <a:ext cx="3124747" cy="2732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BDAD09AC-FB6C-FB1B-0307-B128239CE08F}"/>
              </a:ext>
            </a:extLst>
          </p:cNvPr>
          <p:cNvCxnSpPr>
            <a:cxnSpLocks/>
            <a:endCxn id="17" idx="3"/>
          </p:cNvCxnSpPr>
          <p:nvPr/>
        </p:nvCxnSpPr>
        <p:spPr bwMode="auto">
          <a:xfrm flipV="1">
            <a:off x="2241323" y="2856545"/>
            <a:ext cx="3113861" cy="232666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DCEF424C-4028-BB8F-039E-A01C64C1D033}"/>
              </a:ext>
            </a:extLst>
          </p:cNvPr>
          <p:cNvCxnSpPr>
            <a:cxnSpLocks/>
            <a:stCxn id="17" idx="6"/>
          </p:cNvCxnSpPr>
          <p:nvPr/>
        </p:nvCxnSpPr>
        <p:spPr bwMode="auto">
          <a:xfrm>
            <a:off x="5485266" y="2802663"/>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99F485E1-5A11-48AC-66A8-4756273A439C}"/>
              </a:ext>
            </a:extLst>
          </p:cNvPr>
          <p:cNvSpPr txBox="1"/>
          <p:nvPr/>
        </p:nvSpPr>
        <p:spPr>
          <a:xfrm>
            <a:off x="2993570" y="3410748"/>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3FB2435F-D373-155E-7770-3597B23CE486}"/>
              </a:ext>
            </a:extLst>
          </p:cNvPr>
          <p:cNvGrpSpPr/>
          <p:nvPr/>
        </p:nvGrpSpPr>
        <p:grpSpPr>
          <a:xfrm>
            <a:off x="1066800" y="1840625"/>
            <a:ext cx="2209800" cy="3509578"/>
            <a:chOff x="1066800" y="1840625"/>
            <a:chExt cx="2209800" cy="3509578"/>
          </a:xfrm>
        </p:grpSpPr>
        <p:grpSp>
          <p:nvGrpSpPr>
            <p:cNvPr id="7" name="Group 6">
              <a:extLst>
                <a:ext uri="{FF2B5EF4-FFF2-40B4-BE49-F238E27FC236}">
                  <a16:creationId xmlns:a16="http://schemas.microsoft.com/office/drawing/2014/main" id="{E3E15AD6-C099-6A07-068D-5628900E71D1}"/>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5357E1E2-3C2E-A4EA-1D99-EE30CFBFD244}"/>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DAD3241E-6477-6A07-25ED-25A786F6F55B}"/>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EF951C7-5D23-F8E4-7A79-3062E6AB3122}"/>
                    </a:ext>
                  </a:extLst>
                </p:cNvPr>
                <p:cNvSpPr txBox="1"/>
                <p:nvPr/>
              </p:nvSpPr>
              <p:spPr>
                <a:xfrm>
                  <a:off x="1879940" y="2390790"/>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FEF951C7-5D23-F8E4-7A79-3062E6AB3122}"/>
                    </a:ext>
                  </a:extLst>
                </p:cNvPr>
                <p:cNvSpPr txBox="1">
                  <a:spLocks noRot="1" noChangeAspect="1" noMove="1" noResize="1" noEditPoints="1" noAdjustHandles="1" noChangeArrowheads="1" noChangeShapeType="1" noTextEdit="1"/>
                </p:cNvSpPr>
                <p:nvPr/>
              </p:nvSpPr>
              <p:spPr>
                <a:xfrm>
                  <a:off x="1879940" y="2390790"/>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94DB2A0-283E-03CA-E47E-038E5B5A74FB}"/>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6C65FC1-AB59-19DE-A9C1-01123F9DB5C3}"/>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CDCAEB7-5350-4A43-AE21-C8AD80677FE9}"/>
                  </a:ext>
                </a:extLst>
              </p:cNvPr>
              <p:cNvSpPr txBox="1"/>
              <p:nvPr/>
            </p:nvSpPr>
            <p:spPr>
              <a:xfrm>
                <a:off x="2956606" y="2255698"/>
                <a:ext cx="396194"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1</m:t>
                          </m:r>
                        </m:sub>
                        <m:sup>
                          <m:r>
                            <a:rPr lang="en-US" sz="1800" b="0" i="1" smtClean="0">
                              <a:latin typeface="Cambria Math" panose="02040503050406030204" pitchFamily="18" charset="0"/>
                            </a:rPr>
                            <m:t>(1)</m:t>
                          </m:r>
                        </m:sup>
                      </m:sSubSup>
                    </m:oMath>
                  </m:oMathPara>
                </a14:m>
                <a:endParaRPr lang="en-US" dirty="0"/>
              </a:p>
            </p:txBody>
          </p:sp>
        </mc:Choice>
        <mc:Fallback xmlns="">
          <p:sp>
            <p:nvSpPr>
              <p:cNvPr id="21" name="TextBox 20">
                <a:extLst>
                  <a:ext uri="{FF2B5EF4-FFF2-40B4-BE49-F238E27FC236}">
                    <a16:creationId xmlns:a16="http://schemas.microsoft.com/office/drawing/2014/main" id="{2CDCAEB7-5350-4A43-AE21-C8AD80677FE9}"/>
                  </a:ext>
                </a:extLst>
              </p:cNvPr>
              <p:cNvSpPr txBox="1">
                <a:spLocks noRot="1" noChangeAspect="1" noMove="1" noResize="1" noEditPoints="1" noAdjustHandles="1" noChangeArrowheads="1" noChangeShapeType="1" noTextEdit="1"/>
              </p:cNvSpPr>
              <p:nvPr/>
            </p:nvSpPr>
            <p:spPr>
              <a:xfrm>
                <a:off x="2956606" y="2255698"/>
                <a:ext cx="396194" cy="438262"/>
              </a:xfrm>
              <a:prstGeom prst="rect">
                <a:avLst/>
              </a:prstGeom>
              <a:blipFill>
                <a:blip r:embed="rId7"/>
                <a:stretch>
                  <a:fillRect r="-52308"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56ACB8F-8D58-EB1D-D3DC-7867A51A765B}"/>
                  </a:ext>
                </a:extLst>
              </p:cNvPr>
              <p:cNvSpPr txBox="1"/>
              <p:nvPr/>
            </p:nvSpPr>
            <p:spPr>
              <a:xfrm>
                <a:off x="2993570" y="2663215"/>
                <a:ext cx="350497"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2</m:t>
                          </m:r>
                        </m:sub>
                        <m:sup>
                          <m:r>
                            <a:rPr lang="en-US" sz="1800" b="0" i="1" smtClean="0">
                              <a:latin typeface="Cambria Math" panose="02040503050406030204" pitchFamily="18" charset="0"/>
                            </a:rPr>
                            <m:t>(1)</m:t>
                          </m:r>
                        </m:sup>
                      </m:sSubSup>
                    </m:oMath>
                  </m:oMathPara>
                </a14:m>
                <a:endParaRPr lang="en-US" dirty="0"/>
              </a:p>
            </p:txBody>
          </p:sp>
        </mc:Choice>
        <mc:Fallback xmlns="">
          <p:sp>
            <p:nvSpPr>
              <p:cNvPr id="28" name="TextBox 27">
                <a:extLst>
                  <a:ext uri="{FF2B5EF4-FFF2-40B4-BE49-F238E27FC236}">
                    <a16:creationId xmlns:a16="http://schemas.microsoft.com/office/drawing/2014/main" id="{156ACB8F-8D58-EB1D-D3DC-7867A51A765B}"/>
                  </a:ext>
                </a:extLst>
              </p:cNvPr>
              <p:cNvSpPr txBox="1">
                <a:spLocks noRot="1" noChangeAspect="1" noMove="1" noResize="1" noEditPoints="1" noAdjustHandles="1" noChangeArrowheads="1" noChangeShapeType="1" noTextEdit="1"/>
              </p:cNvSpPr>
              <p:nvPr/>
            </p:nvSpPr>
            <p:spPr>
              <a:xfrm>
                <a:off x="2993570" y="2663215"/>
                <a:ext cx="350497" cy="438262"/>
              </a:xfrm>
              <a:prstGeom prst="rect">
                <a:avLst/>
              </a:prstGeom>
              <a:blipFill>
                <a:blip r:embed="rId8"/>
                <a:stretch>
                  <a:fillRect r="-70690"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5A50580-E01C-0AB4-CB4F-9A027ADD3F05}"/>
                  </a:ext>
                </a:extLst>
              </p:cNvPr>
              <p:cNvSpPr txBox="1"/>
              <p:nvPr/>
            </p:nvSpPr>
            <p:spPr>
              <a:xfrm>
                <a:off x="2956606" y="4065600"/>
                <a:ext cx="350497"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𝑛</m:t>
                          </m:r>
                        </m:sub>
                        <m:sup>
                          <m:r>
                            <a:rPr lang="en-US" sz="1800" b="0" i="1" smtClean="0">
                              <a:latin typeface="Cambria Math" panose="02040503050406030204" pitchFamily="18" charset="0"/>
                            </a:rPr>
                            <m:t>(1)</m:t>
                          </m:r>
                        </m:sup>
                      </m:sSubSup>
                    </m:oMath>
                  </m:oMathPara>
                </a14:m>
                <a:endParaRPr lang="en-US" dirty="0"/>
              </a:p>
            </p:txBody>
          </p:sp>
        </mc:Choice>
        <mc:Fallback xmlns="">
          <p:sp>
            <p:nvSpPr>
              <p:cNvPr id="37" name="TextBox 36">
                <a:extLst>
                  <a:ext uri="{FF2B5EF4-FFF2-40B4-BE49-F238E27FC236}">
                    <a16:creationId xmlns:a16="http://schemas.microsoft.com/office/drawing/2014/main" id="{D5A50580-E01C-0AB4-CB4F-9A027ADD3F05}"/>
                  </a:ext>
                </a:extLst>
              </p:cNvPr>
              <p:cNvSpPr txBox="1">
                <a:spLocks noRot="1" noChangeAspect="1" noMove="1" noResize="1" noEditPoints="1" noAdjustHandles="1" noChangeArrowheads="1" noChangeShapeType="1" noTextEdit="1"/>
              </p:cNvSpPr>
              <p:nvPr/>
            </p:nvSpPr>
            <p:spPr>
              <a:xfrm>
                <a:off x="2956606" y="4065600"/>
                <a:ext cx="350497" cy="438262"/>
              </a:xfrm>
              <a:prstGeom prst="rect">
                <a:avLst/>
              </a:prstGeom>
              <a:blipFill>
                <a:blip r:embed="rId9"/>
                <a:stretch>
                  <a:fillRect r="-706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877CF46-A74D-5C68-05FF-CA6437C35B3B}"/>
                  </a:ext>
                </a:extLst>
              </p:cNvPr>
              <p:cNvSpPr txBox="1"/>
              <p:nvPr/>
            </p:nvSpPr>
            <p:spPr>
              <a:xfrm>
                <a:off x="5179935" y="2398296"/>
                <a:ext cx="350497"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𝑏</m:t>
                          </m:r>
                        </m:e>
                        <m:sup>
                          <m:r>
                            <a:rPr lang="en-US" i="1">
                              <a:latin typeface="Cambria Math" panose="02040503050406030204" pitchFamily="18" charset="0"/>
                            </a:rPr>
                            <m:t>(1)</m:t>
                          </m:r>
                        </m:sup>
                      </m:sSup>
                    </m:oMath>
                  </m:oMathPara>
                </a14:m>
                <a:endParaRPr lang="en-US" dirty="0"/>
              </a:p>
            </p:txBody>
          </p:sp>
        </mc:Choice>
        <mc:Fallback xmlns="">
          <p:sp>
            <p:nvSpPr>
              <p:cNvPr id="38" name="TextBox 37">
                <a:extLst>
                  <a:ext uri="{FF2B5EF4-FFF2-40B4-BE49-F238E27FC236}">
                    <a16:creationId xmlns:a16="http://schemas.microsoft.com/office/drawing/2014/main" id="{E877CF46-A74D-5C68-05FF-CA6437C35B3B}"/>
                  </a:ext>
                </a:extLst>
              </p:cNvPr>
              <p:cNvSpPr txBox="1">
                <a:spLocks noRot="1" noChangeAspect="1" noMove="1" noResize="1" noEditPoints="1" noAdjustHandles="1" noChangeArrowheads="1" noChangeShapeType="1" noTextEdit="1"/>
              </p:cNvSpPr>
              <p:nvPr/>
            </p:nvSpPr>
            <p:spPr>
              <a:xfrm>
                <a:off x="5179935" y="2398296"/>
                <a:ext cx="350497" cy="380810"/>
              </a:xfrm>
              <a:prstGeom prst="rect">
                <a:avLst/>
              </a:prstGeom>
              <a:blipFill>
                <a:blip r:embed="rId10"/>
                <a:stretch>
                  <a:fillRect r="-5614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7887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40" grpId="0"/>
      <p:bldP spid="21" grpId="0"/>
      <p:bldP spid="28" grpId="0"/>
      <p:bldP spid="37" grpId="0"/>
      <p:bldP spid="3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69D21-EA15-6A5F-C8D4-FB966C4D1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A4E76-597E-C754-A82B-B47E5862CA47}"/>
              </a:ext>
            </a:extLst>
          </p:cNvPr>
          <p:cNvSpPr>
            <a:spLocks noGrp="1"/>
          </p:cNvSpPr>
          <p:nvPr>
            <p:ph type="title"/>
          </p:nvPr>
        </p:nvSpPr>
        <p:spPr/>
        <p:txBody>
          <a:bodyPr/>
          <a:lstStyle/>
          <a:p>
            <a:r>
              <a:rPr lang="en-US" altLang="zh-CN" dirty="0" err="1">
                <a:ea typeface="ＭＳ Ｐゴシック" panose="020B0600070205080204" pitchFamily="34" charset="-128"/>
              </a:rPr>
              <a:t>Softmax</a:t>
            </a:r>
            <a:endParaRPr lang="zh-CN" altLang="en-US" dirty="0"/>
          </a:p>
        </p:txBody>
      </p:sp>
      <p:grpSp>
        <p:nvGrpSpPr>
          <p:cNvPr id="8" name="Group 7">
            <a:extLst>
              <a:ext uri="{FF2B5EF4-FFF2-40B4-BE49-F238E27FC236}">
                <a16:creationId xmlns:a16="http://schemas.microsoft.com/office/drawing/2014/main" id="{6AACF6C0-1066-B5F3-0DD3-14BFEA1FAD80}"/>
              </a:ext>
            </a:extLst>
          </p:cNvPr>
          <p:cNvGrpSpPr/>
          <p:nvPr/>
        </p:nvGrpSpPr>
        <p:grpSpPr>
          <a:xfrm>
            <a:off x="4380366" y="1828800"/>
            <a:ext cx="2209800" cy="2335886"/>
            <a:chOff x="5105400" y="1828800"/>
            <a:chExt cx="2209800" cy="2335886"/>
          </a:xfrm>
        </p:grpSpPr>
        <p:sp>
          <p:nvSpPr>
            <p:cNvPr id="17" name="Oval 16">
              <a:extLst>
                <a:ext uri="{FF2B5EF4-FFF2-40B4-BE49-F238E27FC236}">
                  <a16:creationId xmlns:a16="http://schemas.microsoft.com/office/drawing/2014/main" id="{7FD9F1B3-8133-6197-C631-8692C81D8370}"/>
                </a:ext>
              </a:extLst>
            </p:cNvPr>
            <p:cNvSpPr/>
            <p:nvPr/>
          </p:nvSpPr>
          <p:spPr bwMode="auto">
            <a:xfrm>
              <a:off x="6057900" y="2726463"/>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8" name="Oval 17">
              <a:extLst>
                <a:ext uri="{FF2B5EF4-FFF2-40B4-BE49-F238E27FC236}">
                  <a16:creationId xmlns:a16="http://schemas.microsoft.com/office/drawing/2014/main" id="{0BD433C5-FF12-CB02-AF31-91F6DBF86DA1}"/>
                </a:ext>
              </a:extLst>
            </p:cNvPr>
            <p:cNvSpPr/>
            <p:nvPr/>
          </p:nvSpPr>
          <p:spPr bwMode="auto">
            <a:xfrm>
              <a:off x="6057900" y="330442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3" name="TextBox 22">
              <a:extLst>
                <a:ext uri="{FF2B5EF4-FFF2-40B4-BE49-F238E27FC236}">
                  <a16:creationId xmlns:a16="http://schemas.microsoft.com/office/drawing/2014/main" id="{6F11D7A9-F149-5EEB-EF3B-E10E6FA34A49}"/>
                </a:ext>
              </a:extLst>
            </p:cNvPr>
            <p:cNvSpPr txBox="1"/>
            <p:nvPr/>
          </p:nvSpPr>
          <p:spPr>
            <a:xfrm>
              <a:off x="5105400" y="1828800"/>
              <a:ext cx="2209800" cy="430887"/>
            </a:xfrm>
            <a:prstGeom prst="rect">
              <a:avLst/>
            </a:prstGeom>
            <a:noFill/>
          </p:spPr>
          <p:txBody>
            <a:bodyPr wrap="square" rtlCol="0">
              <a:spAutoFit/>
            </a:bodyPr>
            <a:lstStyle/>
            <a:p>
              <a:pPr algn="ctr"/>
              <a:endParaRPr lang="zh-CN" altLang="en-US" sz="2200" dirty="0"/>
            </a:p>
          </p:txBody>
        </p:sp>
        <p:sp>
          <p:nvSpPr>
            <p:cNvPr id="29" name="TextBox 28">
              <a:extLst>
                <a:ext uri="{FF2B5EF4-FFF2-40B4-BE49-F238E27FC236}">
                  <a16:creationId xmlns:a16="http://schemas.microsoft.com/office/drawing/2014/main" id="{0F82B02C-FA82-74FF-D8A4-24157DFB6859}"/>
                </a:ext>
              </a:extLst>
            </p:cNvPr>
            <p:cNvSpPr txBox="1"/>
            <p:nvPr/>
          </p:nvSpPr>
          <p:spPr>
            <a:xfrm>
              <a:off x="5923392" y="3733799"/>
              <a:ext cx="738664" cy="430887"/>
            </a:xfrm>
            <a:prstGeom prst="rect">
              <a:avLst/>
            </a:prstGeom>
            <a:noFill/>
          </p:spPr>
          <p:txBody>
            <a:bodyPr vert="eaVert" wrap="square" rtlCol="0">
              <a:spAutoFit/>
            </a:bodyPr>
            <a:lstStyle/>
            <a:p>
              <a:endParaRPr lang="zh-CN" altLang="en-US" sz="3600" dirty="0"/>
            </a:p>
          </p:txBody>
        </p:sp>
      </p:grpSp>
      <p:cxnSp>
        <p:nvCxnSpPr>
          <p:cNvPr id="10" name="Straight Arrow Connector 9">
            <a:extLst>
              <a:ext uri="{FF2B5EF4-FFF2-40B4-BE49-F238E27FC236}">
                <a16:creationId xmlns:a16="http://schemas.microsoft.com/office/drawing/2014/main" id="{1ACFF5D6-515C-648C-54BC-99647E6C7083}"/>
              </a:ext>
            </a:extLst>
          </p:cNvPr>
          <p:cNvCxnSpPr>
            <a:cxnSpLocks/>
            <a:endCxn id="17" idx="2"/>
          </p:cNvCxnSpPr>
          <p:nvPr/>
        </p:nvCxnSpPr>
        <p:spPr bwMode="auto">
          <a:xfrm>
            <a:off x="2230437" y="2618626"/>
            <a:ext cx="3102429" cy="1840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E1592D10-141F-E1C2-9D3D-BA0EF57E9499}"/>
              </a:ext>
            </a:extLst>
          </p:cNvPr>
          <p:cNvCxnSpPr>
            <a:cxnSpLocks/>
            <a:endCxn id="17" idx="3"/>
          </p:cNvCxnSpPr>
          <p:nvPr/>
        </p:nvCxnSpPr>
        <p:spPr bwMode="auto">
          <a:xfrm flipV="1">
            <a:off x="2230437" y="2856545"/>
            <a:ext cx="3124747" cy="2732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75BA97A3-45AB-E0A7-8DAE-21898398FB36}"/>
              </a:ext>
            </a:extLst>
          </p:cNvPr>
          <p:cNvCxnSpPr>
            <a:cxnSpLocks/>
            <a:endCxn id="17" idx="3"/>
          </p:cNvCxnSpPr>
          <p:nvPr/>
        </p:nvCxnSpPr>
        <p:spPr bwMode="auto">
          <a:xfrm flipV="1">
            <a:off x="2241323" y="2856545"/>
            <a:ext cx="3113861" cy="232666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32192BDE-2413-E1C0-8200-5F447F7A110A}"/>
              </a:ext>
            </a:extLst>
          </p:cNvPr>
          <p:cNvCxnSpPr>
            <a:cxnSpLocks/>
            <a:stCxn id="17" idx="6"/>
          </p:cNvCxnSpPr>
          <p:nvPr/>
        </p:nvCxnSpPr>
        <p:spPr bwMode="auto">
          <a:xfrm>
            <a:off x="5485266" y="2802663"/>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83CD021F-E469-445F-0AB9-F4F2779B471B}"/>
              </a:ext>
            </a:extLst>
          </p:cNvPr>
          <p:cNvCxnSpPr>
            <a:cxnSpLocks/>
            <a:endCxn id="18" idx="2"/>
          </p:cNvCxnSpPr>
          <p:nvPr/>
        </p:nvCxnSpPr>
        <p:spPr bwMode="auto">
          <a:xfrm>
            <a:off x="2230437" y="2618626"/>
            <a:ext cx="3102429" cy="762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E47D8F2D-E581-A1D4-E97C-5C2D7682371E}"/>
              </a:ext>
            </a:extLst>
          </p:cNvPr>
          <p:cNvCxnSpPr>
            <a:cxnSpLocks/>
            <a:endCxn id="18" idx="2"/>
          </p:cNvCxnSpPr>
          <p:nvPr/>
        </p:nvCxnSpPr>
        <p:spPr bwMode="auto">
          <a:xfrm>
            <a:off x="2230437" y="3129806"/>
            <a:ext cx="3102429" cy="2508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B6A1E924-B9CF-13C1-2BDC-5D312B664BF1}"/>
              </a:ext>
            </a:extLst>
          </p:cNvPr>
          <p:cNvCxnSpPr>
            <a:cxnSpLocks/>
            <a:endCxn id="18" idx="2"/>
          </p:cNvCxnSpPr>
          <p:nvPr/>
        </p:nvCxnSpPr>
        <p:spPr bwMode="auto">
          <a:xfrm flipV="1">
            <a:off x="2241323" y="3380626"/>
            <a:ext cx="3091543" cy="18025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8D5BE5D3-0AA7-A399-CC2F-E0479E85A902}"/>
              </a:ext>
            </a:extLst>
          </p:cNvPr>
          <p:cNvSpPr txBox="1"/>
          <p:nvPr/>
        </p:nvSpPr>
        <p:spPr>
          <a:xfrm>
            <a:off x="3508351" y="3846241"/>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2" name="Straight Arrow Connector 41">
            <a:extLst>
              <a:ext uri="{FF2B5EF4-FFF2-40B4-BE49-F238E27FC236}">
                <a16:creationId xmlns:a16="http://schemas.microsoft.com/office/drawing/2014/main" id="{FE8143F1-F51D-98F2-8280-4652C3CB1724}"/>
              </a:ext>
            </a:extLst>
          </p:cNvPr>
          <p:cNvCxnSpPr>
            <a:cxnSpLocks/>
          </p:cNvCxnSpPr>
          <p:nvPr/>
        </p:nvCxnSpPr>
        <p:spPr bwMode="auto">
          <a:xfrm>
            <a:off x="5498872" y="3393740"/>
            <a:ext cx="25021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20" name="Group 19">
            <a:extLst>
              <a:ext uri="{FF2B5EF4-FFF2-40B4-BE49-F238E27FC236}">
                <a16:creationId xmlns:a16="http://schemas.microsoft.com/office/drawing/2014/main" id="{E0886948-9BED-AF40-BC49-29BA25186A93}"/>
              </a:ext>
            </a:extLst>
          </p:cNvPr>
          <p:cNvGrpSpPr/>
          <p:nvPr/>
        </p:nvGrpSpPr>
        <p:grpSpPr>
          <a:xfrm>
            <a:off x="1066800" y="1840625"/>
            <a:ext cx="2209800" cy="3509578"/>
            <a:chOff x="1066800" y="1840625"/>
            <a:chExt cx="2209800" cy="3509578"/>
          </a:xfrm>
        </p:grpSpPr>
        <p:grpSp>
          <p:nvGrpSpPr>
            <p:cNvPr id="7" name="Group 6">
              <a:extLst>
                <a:ext uri="{FF2B5EF4-FFF2-40B4-BE49-F238E27FC236}">
                  <a16:creationId xmlns:a16="http://schemas.microsoft.com/office/drawing/2014/main" id="{889FC000-B061-B747-5078-209C5E9911A8}"/>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95B453B4-F78A-EEC7-FABC-3581547468BA}"/>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D9499D2E-2406-0FDE-02B3-11AB51F196A0}"/>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1F35476-6A52-C404-5EDF-66B8B7E82E75}"/>
                    </a:ext>
                  </a:extLst>
                </p:cNvPr>
                <p:cNvSpPr txBox="1"/>
                <p:nvPr/>
              </p:nvSpPr>
              <p:spPr>
                <a:xfrm>
                  <a:off x="1879940" y="2390790"/>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21F35476-6A52-C404-5EDF-66B8B7E82E75}"/>
                    </a:ext>
                  </a:extLst>
                </p:cNvPr>
                <p:cNvSpPr txBox="1">
                  <a:spLocks noRot="1" noChangeAspect="1" noMove="1" noResize="1" noEditPoints="1" noAdjustHandles="1" noChangeArrowheads="1" noChangeShapeType="1" noTextEdit="1"/>
                </p:cNvSpPr>
                <p:nvPr/>
              </p:nvSpPr>
              <p:spPr>
                <a:xfrm>
                  <a:off x="1879940" y="2390790"/>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E02D18-6347-917C-4694-4D60AD483591}"/>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ADE02D18-6347-917C-4694-4D60AD483591}"/>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3CD945C-BB58-23B7-83D3-21FBD00682EE}"/>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3CD945C-BB58-23B7-83D3-21FBD00682EE}"/>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0153033-3723-1FE7-E211-6944041A7371}"/>
                  </a:ext>
                </a:extLst>
              </p:cNvPr>
              <p:cNvSpPr txBox="1"/>
              <p:nvPr/>
            </p:nvSpPr>
            <p:spPr>
              <a:xfrm>
                <a:off x="3508351" y="2591840"/>
                <a:ext cx="396194"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1</m:t>
                          </m:r>
                        </m:sub>
                        <m:sup>
                          <m:r>
                            <a:rPr lang="en-US" sz="1800" b="0" i="1" smtClean="0">
                              <a:latin typeface="Cambria Math" panose="02040503050406030204" pitchFamily="18" charset="0"/>
                            </a:rPr>
                            <m:t>(2)</m:t>
                          </m:r>
                        </m:sup>
                      </m:sSubSup>
                    </m:oMath>
                  </m:oMathPara>
                </a14:m>
                <a:endParaRPr lang="en-US" dirty="0"/>
              </a:p>
            </p:txBody>
          </p:sp>
        </mc:Choice>
        <mc:Fallback xmlns="">
          <p:sp>
            <p:nvSpPr>
              <p:cNvPr id="21" name="TextBox 20">
                <a:extLst>
                  <a:ext uri="{FF2B5EF4-FFF2-40B4-BE49-F238E27FC236}">
                    <a16:creationId xmlns:a16="http://schemas.microsoft.com/office/drawing/2014/main" id="{30153033-3723-1FE7-E211-6944041A7371}"/>
                  </a:ext>
                </a:extLst>
              </p:cNvPr>
              <p:cNvSpPr txBox="1">
                <a:spLocks noRot="1" noChangeAspect="1" noMove="1" noResize="1" noEditPoints="1" noAdjustHandles="1" noChangeArrowheads="1" noChangeShapeType="1" noTextEdit="1"/>
              </p:cNvSpPr>
              <p:nvPr/>
            </p:nvSpPr>
            <p:spPr>
              <a:xfrm>
                <a:off x="3508351" y="2591840"/>
                <a:ext cx="396194" cy="438262"/>
              </a:xfrm>
              <a:prstGeom prst="rect">
                <a:avLst/>
              </a:prstGeom>
              <a:blipFill>
                <a:blip r:embed="rId7"/>
                <a:stretch>
                  <a:fillRect r="-50769"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5CA010F-A435-9CC3-93DF-81DE9CFED775}"/>
                  </a:ext>
                </a:extLst>
              </p:cNvPr>
              <p:cNvSpPr txBox="1"/>
              <p:nvPr/>
            </p:nvSpPr>
            <p:spPr>
              <a:xfrm>
                <a:off x="3464166" y="3289478"/>
                <a:ext cx="350497"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2</m:t>
                          </m:r>
                        </m:sub>
                        <m:sup>
                          <m:r>
                            <a:rPr lang="en-US" sz="1800" b="0" i="1" smtClean="0">
                              <a:latin typeface="Cambria Math" panose="02040503050406030204" pitchFamily="18" charset="0"/>
                            </a:rPr>
                            <m:t>(2)</m:t>
                          </m:r>
                        </m:sup>
                      </m:sSubSup>
                    </m:oMath>
                  </m:oMathPara>
                </a14:m>
                <a:endParaRPr lang="en-US" dirty="0"/>
              </a:p>
            </p:txBody>
          </p:sp>
        </mc:Choice>
        <mc:Fallback xmlns="">
          <p:sp>
            <p:nvSpPr>
              <p:cNvPr id="28" name="TextBox 27">
                <a:extLst>
                  <a:ext uri="{FF2B5EF4-FFF2-40B4-BE49-F238E27FC236}">
                    <a16:creationId xmlns:a16="http://schemas.microsoft.com/office/drawing/2014/main" id="{F5CA010F-A435-9CC3-93DF-81DE9CFED775}"/>
                  </a:ext>
                </a:extLst>
              </p:cNvPr>
              <p:cNvSpPr txBox="1">
                <a:spLocks noRot="1" noChangeAspect="1" noMove="1" noResize="1" noEditPoints="1" noAdjustHandles="1" noChangeArrowheads="1" noChangeShapeType="1" noTextEdit="1"/>
              </p:cNvSpPr>
              <p:nvPr/>
            </p:nvSpPr>
            <p:spPr>
              <a:xfrm>
                <a:off x="3464166" y="3289478"/>
                <a:ext cx="350497" cy="438262"/>
              </a:xfrm>
              <a:prstGeom prst="rect">
                <a:avLst/>
              </a:prstGeom>
              <a:blipFill>
                <a:blip r:embed="rId8"/>
                <a:stretch>
                  <a:fillRect r="-70690"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EB836BD-D484-9E28-CE6F-B092F70CD1C7}"/>
                  </a:ext>
                </a:extLst>
              </p:cNvPr>
              <p:cNvSpPr txBox="1"/>
              <p:nvPr/>
            </p:nvSpPr>
            <p:spPr>
              <a:xfrm>
                <a:off x="3463602" y="4408521"/>
                <a:ext cx="350497"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𝑛</m:t>
                          </m:r>
                        </m:sub>
                        <m:sup>
                          <m:r>
                            <a:rPr lang="en-US" sz="1800" b="0" i="1" smtClean="0">
                              <a:latin typeface="Cambria Math" panose="02040503050406030204" pitchFamily="18" charset="0"/>
                            </a:rPr>
                            <m:t>(2)</m:t>
                          </m:r>
                        </m:sup>
                      </m:sSubSup>
                    </m:oMath>
                  </m:oMathPara>
                </a14:m>
                <a:endParaRPr lang="en-US" dirty="0"/>
              </a:p>
            </p:txBody>
          </p:sp>
        </mc:Choice>
        <mc:Fallback xmlns="">
          <p:sp>
            <p:nvSpPr>
              <p:cNvPr id="37" name="TextBox 36">
                <a:extLst>
                  <a:ext uri="{FF2B5EF4-FFF2-40B4-BE49-F238E27FC236}">
                    <a16:creationId xmlns:a16="http://schemas.microsoft.com/office/drawing/2014/main" id="{AEB836BD-D484-9E28-CE6F-B092F70CD1C7}"/>
                  </a:ext>
                </a:extLst>
              </p:cNvPr>
              <p:cNvSpPr txBox="1">
                <a:spLocks noRot="1" noChangeAspect="1" noMove="1" noResize="1" noEditPoints="1" noAdjustHandles="1" noChangeArrowheads="1" noChangeShapeType="1" noTextEdit="1"/>
              </p:cNvSpPr>
              <p:nvPr/>
            </p:nvSpPr>
            <p:spPr>
              <a:xfrm>
                <a:off x="3463602" y="4408521"/>
                <a:ext cx="350497" cy="438262"/>
              </a:xfrm>
              <a:prstGeom prst="rect">
                <a:avLst/>
              </a:prstGeom>
              <a:blipFill>
                <a:blip r:embed="rId9"/>
                <a:stretch>
                  <a:fillRect r="-706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9D663F8-2DA3-0A8D-ABF6-8221AB569389}"/>
                  </a:ext>
                </a:extLst>
              </p:cNvPr>
              <p:cNvSpPr txBox="1"/>
              <p:nvPr/>
            </p:nvSpPr>
            <p:spPr>
              <a:xfrm>
                <a:off x="5244977" y="2989676"/>
                <a:ext cx="350497"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𝑏</m:t>
                          </m:r>
                        </m:e>
                        <m:sup>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sup>
                      </m:sSup>
                    </m:oMath>
                  </m:oMathPara>
                </a14:m>
                <a:endParaRPr lang="en-US" dirty="0"/>
              </a:p>
            </p:txBody>
          </p:sp>
        </mc:Choice>
        <mc:Fallback xmlns="">
          <p:sp>
            <p:nvSpPr>
              <p:cNvPr id="38" name="TextBox 37">
                <a:extLst>
                  <a:ext uri="{FF2B5EF4-FFF2-40B4-BE49-F238E27FC236}">
                    <a16:creationId xmlns:a16="http://schemas.microsoft.com/office/drawing/2014/main" id="{D9D663F8-2DA3-0A8D-ABF6-8221AB569389}"/>
                  </a:ext>
                </a:extLst>
              </p:cNvPr>
              <p:cNvSpPr txBox="1">
                <a:spLocks noRot="1" noChangeAspect="1" noMove="1" noResize="1" noEditPoints="1" noAdjustHandles="1" noChangeArrowheads="1" noChangeShapeType="1" noTextEdit="1"/>
              </p:cNvSpPr>
              <p:nvPr/>
            </p:nvSpPr>
            <p:spPr>
              <a:xfrm>
                <a:off x="5244977" y="2989676"/>
                <a:ext cx="350497" cy="380810"/>
              </a:xfrm>
              <a:prstGeom prst="rect">
                <a:avLst/>
              </a:prstGeom>
              <a:blipFill>
                <a:blip r:embed="rId10"/>
                <a:stretch>
                  <a:fillRect r="-55172"/>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45718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err="1">
                <a:ea typeface="ＭＳ Ｐゴシック" panose="020B0600070205080204" pitchFamily="34" charset="-128"/>
              </a:rPr>
              <a:t>Softmax</a:t>
            </a:r>
            <a:endParaRPr lang="zh-CN" altLang="en-US" dirty="0"/>
          </a:p>
        </p:txBody>
      </p:sp>
      <p:sp>
        <p:nvSpPr>
          <p:cNvPr id="17" name="Oval 16">
            <a:extLst>
              <a:ext uri="{FF2B5EF4-FFF2-40B4-BE49-F238E27FC236}">
                <a16:creationId xmlns:a16="http://schemas.microsoft.com/office/drawing/2014/main" id="{DB19D7CF-20D2-439C-A6A7-6F6593CE48FB}"/>
              </a:ext>
            </a:extLst>
          </p:cNvPr>
          <p:cNvSpPr/>
          <p:nvPr/>
        </p:nvSpPr>
        <p:spPr bwMode="auto">
          <a:xfrm>
            <a:off x="5332866" y="2726463"/>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8" name="Oval 17">
            <a:extLst>
              <a:ext uri="{FF2B5EF4-FFF2-40B4-BE49-F238E27FC236}">
                <a16:creationId xmlns:a16="http://schemas.microsoft.com/office/drawing/2014/main" id="{DB05A700-1DBD-4DF0-A3B8-474DC31425FC}"/>
              </a:ext>
            </a:extLst>
          </p:cNvPr>
          <p:cNvSpPr/>
          <p:nvPr/>
        </p:nvSpPr>
        <p:spPr bwMode="auto">
          <a:xfrm>
            <a:off x="5332866" y="330442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DA48D8D8-4147-411E-AEF6-30A95A38A3C3}"/>
              </a:ext>
            </a:extLst>
          </p:cNvPr>
          <p:cNvSpPr/>
          <p:nvPr/>
        </p:nvSpPr>
        <p:spPr bwMode="auto">
          <a:xfrm>
            <a:off x="5321981" y="444279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3" name="TextBox 22">
            <a:extLst>
              <a:ext uri="{FF2B5EF4-FFF2-40B4-BE49-F238E27FC236}">
                <a16:creationId xmlns:a16="http://schemas.microsoft.com/office/drawing/2014/main" id="{C3CB7269-45DE-412E-9CA1-1EDC29E8E76F}"/>
              </a:ext>
            </a:extLst>
          </p:cNvPr>
          <p:cNvSpPr txBox="1"/>
          <p:nvPr/>
        </p:nvSpPr>
        <p:spPr>
          <a:xfrm>
            <a:off x="4380366" y="1828800"/>
            <a:ext cx="2209800" cy="430887"/>
          </a:xfrm>
          <a:prstGeom prst="rect">
            <a:avLst/>
          </a:prstGeom>
          <a:noFill/>
        </p:spPr>
        <p:txBody>
          <a:bodyPr wrap="square" rtlCol="0">
            <a:spAutoFit/>
          </a:bodyPr>
          <a:lstStyle/>
          <a:p>
            <a:pPr algn="ctr"/>
            <a:r>
              <a:rPr lang="zh-CN" altLang="en-US" sz="2200" dirty="0"/>
              <a:t>输出</a:t>
            </a:r>
          </a:p>
        </p:txBody>
      </p:sp>
      <p:sp>
        <p:nvSpPr>
          <p:cNvPr id="29" name="TextBox 28">
            <a:extLst>
              <a:ext uri="{FF2B5EF4-FFF2-40B4-BE49-F238E27FC236}">
                <a16:creationId xmlns:a16="http://schemas.microsoft.com/office/drawing/2014/main" id="{6D4CD088-DBF1-4098-9A0C-FFECDC2445D2}"/>
              </a:ext>
            </a:extLst>
          </p:cNvPr>
          <p:cNvSpPr txBox="1"/>
          <p:nvPr/>
        </p:nvSpPr>
        <p:spPr>
          <a:xfrm>
            <a:off x="5198358" y="3733799"/>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10" name="Straight Arrow Connector 9">
            <a:extLst>
              <a:ext uri="{FF2B5EF4-FFF2-40B4-BE49-F238E27FC236}">
                <a16:creationId xmlns:a16="http://schemas.microsoft.com/office/drawing/2014/main" id="{594545FB-AA7A-4D30-966A-C25F00259E82}"/>
              </a:ext>
            </a:extLst>
          </p:cNvPr>
          <p:cNvCxnSpPr>
            <a:cxnSpLocks/>
            <a:endCxn id="17" idx="2"/>
          </p:cNvCxnSpPr>
          <p:nvPr/>
        </p:nvCxnSpPr>
        <p:spPr bwMode="auto">
          <a:xfrm>
            <a:off x="2230437" y="2618626"/>
            <a:ext cx="3102429" cy="1840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C01FF7E8-D04C-4648-9CBB-D073ED6E902C}"/>
              </a:ext>
            </a:extLst>
          </p:cNvPr>
          <p:cNvCxnSpPr>
            <a:cxnSpLocks/>
            <a:endCxn id="17" idx="3"/>
          </p:cNvCxnSpPr>
          <p:nvPr/>
        </p:nvCxnSpPr>
        <p:spPr bwMode="auto">
          <a:xfrm flipV="1">
            <a:off x="2230437" y="2856545"/>
            <a:ext cx="3124747" cy="2732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F7780B09-EF63-49A7-8420-9B19710A3FF7}"/>
              </a:ext>
            </a:extLst>
          </p:cNvPr>
          <p:cNvCxnSpPr>
            <a:cxnSpLocks/>
            <a:endCxn id="17" idx="3"/>
          </p:cNvCxnSpPr>
          <p:nvPr/>
        </p:nvCxnSpPr>
        <p:spPr bwMode="auto">
          <a:xfrm flipV="1">
            <a:off x="2241323" y="2856545"/>
            <a:ext cx="3113861" cy="232666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BA9B9DD-3175-4A2A-A2DB-F1427FB5D393}"/>
              </a:ext>
            </a:extLst>
          </p:cNvPr>
          <p:cNvCxnSpPr>
            <a:cxnSpLocks/>
            <a:stCxn id="17" idx="6"/>
          </p:cNvCxnSpPr>
          <p:nvPr/>
        </p:nvCxnSpPr>
        <p:spPr bwMode="auto">
          <a:xfrm>
            <a:off x="5485266" y="2802663"/>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F6B0FD05-E51E-49F9-B829-5A7BB253429D}"/>
              </a:ext>
            </a:extLst>
          </p:cNvPr>
          <p:cNvCxnSpPr>
            <a:cxnSpLocks/>
            <a:endCxn id="18" idx="2"/>
          </p:cNvCxnSpPr>
          <p:nvPr/>
        </p:nvCxnSpPr>
        <p:spPr bwMode="auto">
          <a:xfrm>
            <a:off x="2230437" y="2618626"/>
            <a:ext cx="3102429" cy="762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63DD79A-CA35-498D-8A28-10F2446EEC06}"/>
              </a:ext>
            </a:extLst>
          </p:cNvPr>
          <p:cNvCxnSpPr>
            <a:cxnSpLocks/>
            <a:endCxn id="18" idx="2"/>
          </p:cNvCxnSpPr>
          <p:nvPr/>
        </p:nvCxnSpPr>
        <p:spPr bwMode="auto">
          <a:xfrm>
            <a:off x="2230437" y="3129806"/>
            <a:ext cx="3102429" cy="2508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CD9030E4-AFF6-4634-92D3-7341BC7076B1}"/>
              </a:ext>
            </a:extLst>
          </p:cNvPr>
          <p:cNvCxnSpPr>
            <a:cxnSpLocks/>
            <a:endCxn id="18" idx="2"/>
          </p:cNvCxnSpPr>
          <p:nvPr/>
        </p:nvCxnSpPr>
        <p:spPr bwMode="auto">
          <a:xfrm flipV="1">
            <a:off x="2241323" y="3380626"/>
            <a:ext cx="3091543" cy="18025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5F44DD87-0735-41A2-89AD-5BD3A6661BC8}"/>
              </a:ext>
            </a:extLst>
          </p:cNvPr>
          <p:cNvSpPr txBox="1"/>
          <p:nvPr/>
        </p:nvSpPr>
        <p:spPr>
          <a:xfrm>
            <a:off x="3502216" y="4312740"/>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2" name="Straight Arrow Connector 41">
            <a:extLst>
              <a:ext uri="{FF2B5EF4-FFF2-40B4-BE49-F238E27FC236}">
                <a16:creationId xmlns:a16="http://schemas.microsoft.com/office/drawing/2014/main" id="{63592012-1FFA-4F81-9AC9-741087E33B1F}"/>
              </a:ext>
            </a:extLst>
          </p:cNvPr>
          <p:cNvCxnSpPr>
            <a:cxnSpLocks/>
          </p:cNvCxnSpPr>
          <p:nvPr/>
        </p:nvCxnSpPr>
        <p:spPr bwMode="auto">
          <a:xfrm>
            <a:off x="5498872" y="3393740"/>
            <a:ext cx="25021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27DD912E-2A92-40F7-A3E2-D86657F237DA}"/>
              </a:ext>
            </a:extLst>
          </p:cNvPr>
          <p:cNvCxnSpPr>
            <a:cxnSpLocks/>
            <a:endCxn id="22" idx="2"/>
          </p:cNvCxnSpPr>
          <p:nvPr/>
        </p:nvCxnSpPr>
        <p:spPr bwMode="auto">
          <a:xfrm>
            <a:off x="2230437" y="2618626"/>
            <a:ext cx="3091544" cy="190037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35764DC8-DDD3-4F6D-80B7-67BCC21FE942}"/>
              </a:ext>
            </a:extLst>
          </p:cNvPr>
          <p:cNvCxnSpPr>
            <a:cxnSpLocks/>
            <a:endCxn id="22" idx="3"/>
          </p:cNvCxnSpPr>
          <p:nvPr/>
        </p:nvCxnSpPr>
        <p:spPr bwMode="auto">
          <a:xfrm>
            <a:off x="2208119" y="3183688"/>
            <a:ext cx="3136180" cy="138919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CFAEBA02-33E1-48EC-BD41-5F0423D701AF}"/>
              </a:ext>
            </a:extLst>
          </p:cNvPr>
          <p:cNvCxnSpPr>
            <a:cxnSpLocks/>
            <a:endCxn id="22" idx="3"/>
          </p:cNvCxnSpPr>
          <p:nvPr/>
        </p:nvCxnSpPr>
        <p:spPr bwMode="auto">
          <a:xfrm flipV="1">
            <a:off x="2241323" y="4572878"/>
            <a:ext cx="3102976" cy="6103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Straight Arrow Connector 35">
            <a:extLst>
              <a:ext uri="{FF2B5EF4-FFF2-40B4-BE49-F238E27FC236}">
                <a16:creationId xmlns:a16="http://schemas.microsoft.com/office/drawing/2014/main" id="{F4EB6942-19B2-43CD-B966-822CF2E9A3E5}"/>
              </a:ext>
            </a:extLst>
          </p:cNvPr>
          <p:cNvCxnSpPr>
            <a:cxnSpLocks/>
          </p:cNvCxnSpPr>
          <p:nvPr/>
        </p:nvCxnSpPr>
        <p:spPr bwMode="auto">
          <a:xfrm>
            <a:off x="5485266" y="4518996"/>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Rectangle 11">
            <a:extLst>
              <a:ext uri="{FF2B5EF4-FFF2-40B4-BE49-F238E27FC236}">
                <a16:creationId xmlns:a16="http://schemas.microsoft.com/office/drawing/2014/main" id="{A6B342BB-198C-4E80-8FC7-7BCB2ED8F252}"/>
              </a:ext>
            </a:extLst>
          </p:cNvPr>
          <p:cNvSpPr/>
          <p:nvPr/>
        </p:nvSpPr>
        <p:spPr bwMode="auto">
          <a:xfrm>
            <a:off x="5105400" y="2362200"/>
            <a:ext cx="2515734" cy="259239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grpSp>
        <p:nvGrpSpPr>
          <p:cNvPr id="20" name="Group 19">
            <a:extLst>
              <a:ext uri="{FF2B5EF4-FFF2-40B4-BE49-F238E27FC236}">
                <a16:creationId xmlns:a16="http://schemas.microsoft.com/office/drawing/2014/main" id="{A18D5267-558F-0C19-3FDF-E388687460E1}"/>
              </a:ext>
            </a:extLst>
          </p:cNvPr>
          <p:cNvGrpSpPr/>
          <p:nvPr/>
        </p:nvGrpSpPr>
        <p:grpSpPr>
          <a:xfrm>
            <a:off x="1066800" y="1840625"/>
            <a:ext cx="2209800" cy="3509578"/>
            <a:chOff x="1066800" y="1840625"/>
            <a:chExt cx="2209800" cy="3509578"/>
          </a:xfrm>
        </p:grpSpPr>
        <p:grpSp>
          <p:nvGrpSpPr>
            <p:cNvPr id="7" name="Group 6">
              <a:extLst>
                <a:ext uri="{FF2B5EF4-FFF2-40B4-BE49-F238E27FC236}">
                  <a16:creationId xmlns:a16="http://schemas.microsoft.com/office/drawing/2014/main" id="{4AD8A68E-0A42-40E9-97E9-5EAA24FDCE32}"/>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C266098F-C302-4078-8754-D4A3F101879A}"/>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78D064EA-180B-45F2-9C02-5E4A5B47DD84}"/>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EECCF9-8390-8C13-56DB-7F9A933FA2E0}"/>
                    </a:ext>
                  </a:extLst>
                </p:cNvPr>
                <p:cNvSpPr txBox="1"/>
                <p:nvPr/>
              </p:nvSpPr>
              <p:spPr>
                <a:xfrm>
                  <a:off x="1879940" y="2390790"/>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D4EECCF9-8390-8C13-56DB-7F9A933FA2E0}"/>
                    </a:ext>
                  </a:extLst>
                </p:cNvPr>
                <p:cNvSpPr txBox="1">
                  <a:spLocks noRot="1" noChangeAspect="1" noMove="1" noResize="1" noEditPoints="1" noAdjustHandles="1" noChangeArrowheads="1" noChangeShapeType="1" noTextEdit="1"/>
                </p:cNvSpPr>
                <p:nvPr/>
              </p:nvSpPr>
              <p:spPr>
                <a:xfrm>
                  <a:off x="1879940" y="2390790"/>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9D756AF-DE07-CFC7-1064-9FD8979397E4}"/>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39D756AF-DE07-CFC7-1064-9FD8979397E4}"/>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996AD3D-AFBB-5B5D-DF77-A4EED726125F}"/>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5996AD3D-AFBB-5B5D-DF77-A4EED726125F}"/>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2E2A62E-AD53-7D21-5F46-E2BDDD81AE98}"/>
                  </a:ext>
                </a:extLst>
              </p:cNvPr>
              <p:cNvSpPr txBox="1"/>
              <p:nvPr/>
            </p:nvSpPr>
            <p:spPr>
              <a:xfrm>
                <a:off x="3432456" y="3049589"/>
                <a:ext cx="396194"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1</m:t>
                          </m:r>
                        </m:sub>
                        <m:sup>
                          <m:r>
                            <a:rPr lang="en-US" sz="1800" b="0" i="1" smtClean="0">
                              <a:latin typeface="Cambria Math" panose="02040503050406030204" pitchFamily="18" charset="0"/>
                            </a:rPr>
                            <m:t>(</m:t>
                          </m:r>
                          <m:r>
                            <a:rPr lang="en-US" sz="1800" b="0" i="1" smtClean="0">
                              <a:latin typeface="Cambria Math" panose="02040503050406030204" pitchFamily="18" charset="0"/>
                            </a:rPr>
                            <m:t>𝑘</m:t>
                          </m:r>
                          <m:r>
                            <a:rPr lang="en-US" sz="1800" b="0" i="1" smtClean="0">
                              <a:latin typeface="Cambria Math" panose="02040503050406030204" pitchFamily="18" charset="0"/>
                            </a:rPr>
                            <m:t>)</m:t>
                          </m:r>
                        </m:sup>
                      </m:sSubSup>
                    </m:oMath>
                  </m:oMathPara>
                </a14:m>
                <a:endParaRPr lang="en-US" dirty="0"/>
              </a:p>
            </p:txBody>
          </p:sp>
        </mc:Choice>
        <mc:Fallback xmlns="">
          <p:sp>
            <p:nvSpPr>
              <p:cNvPr id="21" name="TextBox 20">
                <a:extLst>
                  <a:ext uri="{FF2B5EF4-FFF2-40B4-BE49-F238E27FC236}">
                    <a16:creationId xmlns:a16="http://schemas.microsoft.com/office/drawing/2014/main" id="{72E2A62E-AD53-7D21-5F46-E2BDDD81AE98}"/>
                  </a:ext>
                </a:extLst>
              </p:cNvPr>
              <p:cNvSpPr txBox="1">
                <a:spLocks noRot="1" noChangeAspect="1" noMove="1" noResize="1" noEditPoints="1" noAdjustHandles="1" noChangeArrowheads="1" noChangeShapeType="1" noTextEdit="1"/>
              </p:cNvSpPr>
              <p:nvPr/>
            </p:nvSpPr>
            <p:spPr>
              <a:xfrm>
                <a:off x="3432456" y="3049589"/>
                <a:ext cx="396194" cy="438262"/>
              </a:xfrm>
              <a:prstGeom prst="rect">
                <a:avLst/>
              </a:prstGeom>
              <a:blipFill>
                <a:blip r:embed="rId7"/>
                <a:stretch>
                  <a:fillRect r="-53846"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9CE0752-3B19-0D51-1A40-821BB11988C3}"/>
                  </a:ext>
                </a:extLst>
              </p:cNvPr>
              <p:cNvSpPr txBox="1"/>
              <p:nvPr/>
            </p:nvSpPr>
            <p:spPr>
              <a:xfrm>
                <a:off x="3421288" y="3458586"/>
                <a:ext cx="350497"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2</m:t>
                          </m:r>
                        </m:sub>
                        <m:sup>
                          <m:r>
                            <a:rPr lang="en-US" sz="1800" b="0" i="1" smtClean="0">
                              <a:latin typeface="Cambria Math" panose="02040503050406030204" pitchFamily="18" charset="0"/>
                            </a:rPr>
                            <m:t>(</m:t>
                          </m:r>
                          <m:r>
                            <a:rPr lang="en-US" sz="1800" b="0" i="1" smtClean="0">
                              <a:latin typeface="Cambria Math" panose="02040503050406030204" pitchFamily="18" charset="0"/>
                            </a:rPr>
                            <m:t>𝑘</m:t>
                          </m:r>
                          <m:r>
                            <a:rPr lang="en-US" sz="1800" b="0" i="1" smtClean="0">
                              <a:latin typeface="Cambria Math" panose="02040503050406030204" pitchFamily="18" charset="0"/>
                            </a:rPr>
                            <m:t>)</m:t>
                          </m:r>
                        </m:sup>
                      </m:sSubSup>
                    </m:oMath>
                  </m:oMathPara>
                </a14:m>
                <a:endParaRPr lang="en-US" dirty="0"/>
              </a:p>
            </p:txBody>
          </p:sp>
        </mc:Choice>
        <mc:Fallback xmlns="">
          <p:sp>
            <p:nvSpPr>
              <p:cNvPr id="28" name="TextBox 27">
                <a:extLst>
                  <a:ext uri="{FF2B5EF4-FFF2-40B4-BE49-F238E27FC236}">
                    <a16:creationId xmlns:a16="http://schemas.microsoft.com/office/drawing/2014/main" id="{09CE0752-3B19-0D51-1A40-821BB11988C3}"/>
                  </a:ext>
                </a:extLst>
              </p:cNvPr>
              <p:cNvSpPr txBox="1">
                <a:spLocks noRot="1" noChangeAspect="1" noMove="1" noResize="1" noEditPoints="1" noAdjustHandles="1" noChangeArrowheads="1" noChangeShapeType="1" noTextEdit="1"/>
              </p:cNvSpPr>
              <p:nvPr/>
            </p:nvSpPr>
            <p:spPr>
              <a:xfrm>
                <a:off x="3421288" y="3458586"/>
                <a:ext cx="350497" cy="438262"/>
              </a:xfrm>
              <a:prstGeom prst="rect">
                <a:avLst/>
              </a:prstGeom>
              <a:blipFill>
                <a:blip r:embed="rId8"/>
                <a:stretch>
                  <a:fillRect r="-72414" b="-2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48DAD8E-A472-00BE-BC03-882939C40C9E}"/>
                  </a:ext>
                </a:extLst>
              </p:cNvPr>
              <p:cNvSpPr txBox="1"/>
              <p:nvPr/>
            </p:nvSpPr>
            <p:spPr>
              <a:xfrm>
                <a:off x="3478153" y="4977664"/>
                <a:ext cx="350497" cy="438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𝑛</m:t>
                          </m:r>
                        </m:sub>
                        <m:sup>
                          <m:r>
                            <a:rPr lang="en-US" sz="1800" b="0" i="1" smtClean="0">
                              <a:latin typeface="Cambria Math" panose="02040503050406030204" pitchFamily="18" charset="0"/>
                            </a:rPr>
                            <m:t>(</m:t>
                          </m:r>
                          <m:r>
                            <a:rPr lang="en-US" sz="1800" b="0" i="1" smtClean="0">
                              <a:latin typeface="Cambria Math" panose="02040503050406030204" pitchFamily="18" charset="0"/>
                            </a:rPr>
                            <m:t>𝑘</m:t>
                          </m:r>
                          <m:r>
                            <a:rPr lang="en-US" sz="1800" b="0" i="1" smtClean="0">
                              <a:latin typeface="Cambria Math" panose="02040503050406030204" pitchFamily="18" charset="0"/>
                            </a:rPr>
                            <m:t>)</m:t>
                          </m:r>
                        </m:sup>
                      </m:sSubSup>
                    </m:oMath>
                  </m:oMathPara>
                </a14:m>
                <a:endParaRPr lang="en-US" dirty="0"/>
              </a:p>
            </p:txBody>
          </p:sp>
        </mc:Choice>
        <mc:Fallback xmlns="">
          <p:sp>
            <p:nvSpPr>
              <p:cNvPr id="37" name="TextBox 36">
                <a:extLst>
                  <a:ext uri="{FF2B5EF4-FFF2-40B4-BE49-F238E27FC236}">
                    <a16:creationId xmlns:a16="http://schemas.microsoft.com/office/drawing/2014/main" id="{248DAD8E-A472-00BE-BC03-882939C40C9E}"/>
                  </a:ext>
                </a:extLst>
              </p:cNvPr>
              <p:cNvSpPr txBox="1">
                <a:spLocks noRot="1" noChangeAspect="1" noMove="1" noResize="1" noEditPoints="1" noAdjustHandles="1" noChangeArrowheads="1" noChangeShapeType="1" noTextEdit="1"/>
              </p:cNvSpPr>
              <p:nvPr/>
            </p:nvSpPr>
            <p:spPr>
              <a:xfrm>
                <a:off x="3478153" y="4977664"/>
                <a:ext cx="350497" cy="438262"/>
              </a:xfrm>
              <a:prstGeom prst="rect">
                <a:avLst/>
              </a:prstGeom>
              <a:blipFill>
                <a:blip r:embed="rId9"/>
                <a:stretch>
                  <a:fillRect r="-736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27E2AD5-222B-DB70-F3EE-C62092797697}"/>
                  </a:ext>
                </a:extLst>
              </p:cNvPr>
              <p:cNvSpPr txBox="1"/>
              <p:nvPr/>
            </p:nvSpPr>
            <p:spPr>
              <a:xfrm>
                <a:off x="5203808" y="4119521"/>
                <a:ext cx="350497"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𝑏</m:t>
                          </m:r>
                        </m:e>
                        <m:sup>
                          <m:r>
                            <a:rPr lang="en-US" i="1">
                              <a:latin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m:t>
                          </m:r>
                        </m:sup>
                      </m:sSup>
                    </m:oMath>
                  </m:oMathPara>
                </a14:m>
                <a:endParaRPr lang="en-US" dirty="0"/>
              </a:p>
            </p:txBody>
          </p:sp>
        </mc:Choice>
        <mc:Fallback xmlns="">
          <p:sp>
            <p:nvSpPr>
              <p:cNvPr id="38" name="TextBox 37">
                <a:extLst>
                  <a:ext uri="{FF2B5EF4-FFF2-40B4-BE49-F238E27FC236}">
                    <a16:creationId xmlns:a16="http://schemas.microsoft.com/office/drawing/2014/main" id="{427E2AD5-222B-DB70-F3EE-C62092797697}"/>
                  </a:ext>
                </a:extLst>
              </p:cNvPr>
              <p:cNvSpPr txBox="1">
                <a:spLocks noRot="1" noChangeAspect="1" noMove="1" noResize="1" noEditPoints="1" noAdjustHandles="1" noChangeArrowheads="1" noChangeShapeType="1" noTextEdit="1"/>
              </p:cNvSpPr>
              <p:nvPr/>
            </p:nvSpPr>
            <p:spPr>
              <a:xfrm>
                <a:off x="5203808" y="4119521"/>
                <a:ext cx="350497" cy="380810"/>
              </a:xfrm>
              <a:prstGeom prst="rect">
                <a:avLst/>
              </a:prstGeom>
              <a:blipFill>
                <a:blip r:embed="rId10"/>
                <a:stretch>
                  <a:fillRect r="-59649"/>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628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2" grpId="0" animBg="1"/>
      <p:bldP spid="21" grpId="0"/>
      <p:bldP spid="28" grpId="0"/>
      <p:bldP spid="37" grpId="0"/>
      <p:bldP spid="3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err="1">
                <a:ea typeface="ＭＳ Ｐゴシック" panose="020B0600070205080204" pitchFamily="34" charset="-128"/>
              </a:rPr>
              <a:t>Softmax</a:t>
            </a:r>
            <a:endParaRPr lang="zh-CN" altLang="en-US" dirty="0"/>
          </a:p>
        </p:txBody>
      </p:sp>
      <p:sp>
        <p:nvSpPr>
          <p:cNvPr id="14" name="TextBox 13">
            <a:extLst>
              <a:ext uri="{FF2B5EF4-FFF2-40B4-BE49-F238E27FC236}">
                <a16:creationId xmlns:a16="http://schemas.microsoft.com/office/drawing/2014/main" id="{CA588C28-4E4B-4322-8D80-9EC5943E9F5E}"/>
              </a:ext>
            </a:extLst>
          </p:cNvPr>
          <p:cNvSpPr txBox="1"/>
          <p:nvPr/>
        </p:nvSpPr>
        <p:spPr>
          <a:xfrm>
            <a:off x="152400" y="5741313"/>
            <a:ext cx="8839200" cy="430887"/>
          </a:xfrm>
          <a:prstGeom prst="rect">
            <a:avLst/>
          </a:prstGeom>
          <a:noFill/>
        </p:spPr>
        <p:txBody>
          <a:bodyPr wrap="square" rtlCol="0">
            <a:spAutoFit/>
          </a:bodyPr>
          <a:lstStyle/>
          <a:p>
            <a:pPr algn="ctr"/>
            <a:r>
              <a:rPr lang="zh-CN" altLang="en-US" sz="2200" dirty="0"/>
              <a:t>首先应用一个负指数函数</a:t>
            </a:r>
          </a:p>
        </p:txBody>
      </p:sp>
      <p:grpSp>
        <p:nvGrpSpPr>
          <p:cNvPr id="8" name="Group 7">
            <a:extLst>
              <a:ext uri="{FF2B5EF4-FFF2-40B4-BE49-F238E27FC236}">
                <a16:creationId xmlns:a16="http://schemas.microsoft.com/office/drawing/2014/main" id="{15303700-BC36-4C2C-82A6-5869FC95CFCD}"/>
              </a:ext>
            </a:extLst>
          </p:cNvPr>
          <p:cNvGrpSpPr/>
          <p:nvPr/>
        </p:nvGrpSpPr>
        <p:grpSpPr>
          <a:xfrm>
            <a:off x="4380366" y="1828800"/>
            <a:ext cx="2209800" cy="2766396"/>
            <a:chOff x="5105400" y="1828800"/>
            <a:chExt cx="2209800" cy="2766396"/>
          </a:xfrm>
        </p:grpSpPr>
        <p:sp>
          <p:nvSpPr>
            <p:cNvPr id="17" name="Oval 16">
              <a:extLst>
                <a:ext uri="{FF2B5EF4-FFF2-40B4-BE49-F238E27FC236}">
                  <a16:creationId xmlns:a16="http://schemas.microsoft.com/office/drawing/2014/main" id="{DB19D7CF-20D2-439C-A6A7-6F6593CE48FB}"/>
                </a:ext>
              </a:extLst>
            </p:cNvPr>
            <p:cNvSpPr/>
            <p:nvPr/>
          </p:nvSpPr>
          <p:spPr bwMode="auto">
            <a:xfrm>
              <a:off x="6057900" y="2726463"/>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8" name="Oval 17">
              <a:extLst>
                <a:ext uri="{FF2B5EF4-FFF2-40B4-BE49-F238E27FC236}">
                  <a16:creationId xmlns:a16="http://schemas.microsoft.com/office/drawing/2014/main" id="{DB05A700-1DBD-4DF0-A3B8-474DC31425FC}"/>
                </a:ext>
              </a:extLst>
            </p:cNvPr>
            <p:cNvSpPr/>
            <p:nvPr/>
          </p:nvSpPr>
          <p:spPr bwMode="auto">
            <a:xfrm>
              <a:off x="6057900" y="330442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DA48D8D8-4147-411E-AEF6-30A95A38A3C3}"/>
                </a:ext>
              </a:extLst>
            </p:cNvPr>
            <p:cNvSpPr/>
            <p:nvPr/>
          </p:nvSpPr>
          <p:spPr bwMode="auto">
            <a:xfrm>
              <a:off x="6047015" y="444279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3" name="TextBox 22">
              <a:extLst>
                <a:ext uri="{FF2B5EF4-FFF2-40B4-BE49-F238E27FC236}">
                  <a16:creationId xmlns:a16="http://schemas.microsoft.com/office/drawing/2014/main" id="{C3CB7269-45DE-412E-9CA1-1EDC29E8E76F}"/>
                </a:ext>
              </a:extLst>
            </p:cNvPr>
            <p:cNvSpPr txBox="1"/>
            <p:nvPr/>
          </p:nvSpPr>
          <p:spPr>
            <a:xfrm>
              <a:off x="5105400" y="1828800"/>
              <a:ext cx="2209800" cy="430887"/>
            </a:xfrm>
            <a:prstGeom prst="rect">
              <a:avLst/>
            </a:prstGeom>
            <a:noFill/>
          </p:spPr>
          <p:txBody>
            <a:bodyPr wrap="square" rtlCol="0">
              <a:spAutoFit/>
            </a:bodyPr>
            <a:lstStyle/>
            <a:p>
              <a:pPr algn="ctr"/>
              <a:r>
                <a:rPr lang="zh-CN" altLang="en-US" sz="2200" dirty="0"/>
                <a:t>输出</a:t>
              </a:r>
            </a:p>
          </p:txBody>
        </p:sp>
        <p:sp>
          <p:nvSpPr>
            <p:cNvPr id="29" name="TextBox 28">
              <a:extLst>
                <a:ext uri="{FF2B5EF4-FFF2-40B4-BE49-F238E27FC236}">
                  <a16:creationId xmlns:a16="http://schemas.microsoft.com/office/drawing/2014/main" id="{6D4CD088-DBF1-4098-9A0C-FFECDC2445D2}"/>
                </a:ext>
              </a:extLst>
            </p:cNvPr>
            <p:cNvSpPr txBox="1"/>
            <p:nvPr/>
          </p:nvSpPr>
          <p:spPr>
            <a:xfrm>
              <a:off x="5923392" y="3733799"/>
              <a:ext cx="738664" cy="430887"/>
            </a:xfrm>
            <a:prstGeom prst="rect">
              <a:avLst/>
            </a:prstGeom>
            <a:noFill/>
          </p:spPr>
          <p:txBody>
            <a:bodyPr vert="eaVert" wrap="square" rtlCol="0">
              <a:spAutoFit/>
            </a:bodyPr>
            <a:lstStyle/>
            <a:p>
              <a:r>
                <a:rPr lang="en-US" altLang="zh-CN" sz="3600" dirty="0"/>
                <a:t>…</a:t>
              </a:r>
              <a:endParaRPr lang="zh-CN" altLang="en-US" sz="3600" dirty="0"/>
            </a:p>
          </p:txBody>
        </p:sp>
      </p:grpSp>
      <p:cxnSp>
        <p:nvCxnSpPr>
          <p:cNvPr id="10" name="Straight Arrow Connector 9">
            <a:extLst>
              <a:ext uri="{FF2B5EF4-FFF2-40B4-BE49-F238E27FC236}">
                <a16:creationId xmlns:a16="http://schemas.microsoft.com/office/drawing/2014/main" id="{594545FB-AA7A-4D30-966A-C25F00259E82}"/>
              </a:ext>
            </a:extLst>
          </p:cNvPr>
          <p:cNvCxnSpPr>
            <a:cxnSpLocks/>
            <a:endCxn id="17" idx="2"/>
          </p:cNvCxnSpPr>
          <p:nvPr/>
        </p:nvCxnSpPr>
        <p:spPr bwMode="auto">
          <a:xfrm>
            <a:off x="2230437" y="2618626"/>
            <a:ext cx="3102429" cy="1840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C01FF7E8-D04C-4648-9CBB-D073ED6E902C}"/>
              </a:ext>
            </a:extLst>
          </p:cNvPr>
          <p:cNvCxnSpPr>
            <a:cxnSpLocks/>
            <a:endCxn id="17" idx="3"/>
          </p:cNvCxnSpPr>
          <p:nvPr/>
        </p:nvCxnSpPr>
        <p:spPr bwMode="auto">
          <a:xfrm flipV="1">
            <a:off x="2230437" y="2856545"/>
            <a:ext cx="3124747" cy="2732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F7780B09-EF63-49A7-8420-9B19710A3FF7}"/>
              </a:ext>
            </a:extLst>
          </p:cNvPr>
          <p:cNvCxnSpPr>
            <a:cxnSpLocks/>
            <a:endCxn id="17" idx="3"/>
          </p:cNvCxnSpPr>
          <p:nvPr/>
        </p:nvCxnSpPr>
        <p:spPr bwMode="auto">
          <a:xfrm flipV="1">
            <a:off x="2241323" y="2856545"/>
            <a:ext cx="3113861" cy="232666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BA9B9DD-3175-4A2A-A2DB-F1427FB5D393}"/>
              </a:ext>
            </a:extLst>
          </p:cNvPr>
          <p:cNvCxnSpPr>
            <a:cxnSpLocks/>
            <a:stCxn id="17" idx="6"/>
          </p:cNvCxnSpPr>
          <p:nvPr/>
        </p:nvCxnSpPr>
        <p:spPr bwMode="auto">
          <a:xfrm>
            <a:off x="5485266" y="2802663"/>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F6B0FD05-E51E-49F9-B829-5A7BB253429D}"/>
              </a:ext>
            </a:extLst>
          </p:cNvPr>
          <p:cNvCxnSpPr>
            <a:cxnSpLocks/>
            <a:endCxn id="18" idx="2"/>
          </p:cNvCxnSpPr>
          <p:nvPr/>
        </p:nvCxnSpPr>
        <p:spPr bwMode="auto">
          <a:xfrm>
            <a:off x="2230437" y="2618626"/>
            <a:ext cx="3102429" cy="762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63DD79A-CA35-498D-8A28-10F2446EEC06}"/>
              </a:ext>
            </a:extLst>
          </p:cNvPr>
          <p:cNvCxnSpPr>
            <a:cxnSpLocks/>
            <a:endCxn id="18" idx="2"/>
          </p:cNvCxnSpPr>
          <p:nvPr/>
        </p:nvCxnSpPr>
        <p:spPr bwMode="auto">
          <a:xfrm>
            <a:off x="2230437" y="3129806"/>
            <a:ext cx="3102429" cy="2508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CD9030E4-AFF6-4634-92D3-7341BC7076B1}"/>
              </a:ext>
            </a:extLst>
          </p:cNvPr>
          <p:cNvCxnSpPr>
            <a:cxnSpLocks/>
            <a:endCxn id="18" idx="2"/>
          </p:cNvCxnSpPr>
          <p:nvPr/>
        </p:nvCxnSpPr>
        <p:spPr bwMode="auto">
          <a:xfrm flipV="1">
            <a:off x="2241323" y="3380626"/>
            <a:ext cx="3091543" cy="18025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5F44DD87-0735-41A2-89AD-5BD3A6661BC8}"/>
              </a:ext>
            </a:extLst>
          </p:cNvPr>
          <p:cNvSpPr txBox="1"/>
          <p:nvPr/>
        </p:nvSpPr>
        <p:spPr>
          <a:xfrm>
            <a:off x="3004888" y="3804434"/>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2" name="Straight Arrow Connector 41">
            <a:extLst>
              <a:ext uri="{FF2B5EF4-FFF2-40B4-BE49-F238E27FC236}">
                <a16:creationId xmlns:a16="http://schemas.microsoft.com/office/drawing/2014/main" id="{63592012-1FFA-4F81-9AC9-741087E33B1F}"/>
              </a:ext>
            </a:extLst>
          </p:cNvPr>
          <p:cNvCxnSpPr>
            <a:cxnSpLocks/>
          </p:cNvCxnSpPr>
          <p:nvPr/>
        </p:nvCxnSpPr>
        <p:spPr bwMode="auto">
          <a:xfrm>
            <a:off x="5498872" y="3393740"/>
            <a:ext cx="25021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27DD912E-2A92-40F7-A3E2-D86657F237DA}"/>
              </a:ext>
            </a:extLst>
          </p:cNvPr>
          <p:cNvCxnSpPr>
            <a:cxnSpLocks/>
            <a:endCxn id="22" idx="2"/>
          </p:cNvCxnSpPr>
          <p:nvPr/>
        </p:nvCxnSpPr>
        <p:spPr bwMode="auto">
          <a:xfrm>
            <a:off x="2230437" y="2618626"/>
            <a:ext cx="3091544" cy="190037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35764DC8-DDD3-4F6D-80B7-67BCC21FE942}"/>
              </a:ext>
            </a:extLst>
          </p:cNvPr>
          <p:cNvCxnSpPr>
            <a:cxnSpLocks/>
            <a:endCxn id="22" idx="3"/>
          </p:cNvCxnSpPr>
          <p:nvPr/>
        </p:nvCxnSpPr>
        <p:spPr bwMode="auto">
          <a:xfrm>
            <a:off x="2208119" y="3183688"/>
            <a:ext cx="3136180" cy="138919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CFAEBA02-33E1-48EC-BD41-5F0423D701AF}"/>
              </a:ext>
            </a:extLst>
          </p:cNvPr>
          <p:cNvCxnSpPr>
            <a:cxnSpLocks/>
            <a:endCxn id="22" idx="3"/>
          </p:cNvCxnSpPr>
          <p:nvPr/>
        </p:nvCxnSpPr>
        <p:spPr bwMode="auto">
          <a:xfrm flipV="1">
            <a:off x="2241323" y="4572878"/>
            <a:ext cx="3102976" cy="6103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Straight Arrow Connector 35">
            <a:extLst>
              <a:ext uri="{FF2B5EF4-FFF2-40B4-BE49-F238E27FC236}">
                <a16:creationId xmlns:a16="http://schemas.microsoft.com/office/drawing/2014/main" id="{F4EB6942-19B2-43CD-B966-822CF2E9A3E5}"/>
              </a:ext>
            </a:extLst>
          </p:cNvPr>
          <p:cNvCxnSpPr>
            <a:cxnSpLocks/>
          </p:cNvCxnSpPr>
          <p:nvPr/>
        </p:nvCxnSpPr>
        <p:spPr bwMode="auto">
          <a:xfrm>
            <a:off x="5485266" y="4518996"/>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Rectangle 11">
            <a:extLst>
              <a:ext uri="{FF2B5EF4-FFF2-40B4-BE49-F238E27FC236}">
                <a16:creationId xmlns:a16="http://schemas.microsoft.com/office/drawing/2014/main" id="{A6B342BB-198C-4E80-8FC7-7BCB2ED8F252}"/>
              </a:ext>
            </a:extLst>
          </p:cNvPr>
          <p:cNvSpPr/>
          <p:nvPr/>
        </p:nvSpPr>
        <p:spPr bwMode="auto">
          <a:xfrm>
            <a:off x="5105400" y="2362200"/>
            <a:ext cx="2515734" cy="259239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6436C84-FAE1-4239-8BDF-E131703AF671}"/>
                  </a:ext>
                </a:extLst>
              </p:cNvPr>
              <p:cNvSpPr txBox="1"/>
              <p:nvPr/>
            </p:nvSpPr>
            <p:spPr>
              <a:xfrm>
                <a:off x="4816656" y="2272152"/>
                <a:ext cx="3276600" cy="50674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(1)</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m:t>
                              </m:r>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1</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1</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38" name="TextBox 37">
                <a:extLst>
                  <a:ext uri="{FF2B5EF4-FFF2-40B4-BE49-F238E27FC236}">
                    <a16:creationId xmlns:a16="http://schemas.microsoft.com/office/drawing/2014/main" id="{06436C84-FAE1-4239-8BDF-E131703AF671}"/>
                  </a:ext>
                </a:extLst>
              </p:cNvPr>
              <p:cNvSpPr txBox="1">
                <a:spLocks noRot="1" noChangeAspect="1" noMove="1" noResize="1" noEditPoints="1" noAdjustHandles="1" noChangeArrowheads="1" noChangeShapeType="1" noTextEdit="1"/>
              </p:cNvSpPr>
              <p:nvPr/>
            </p:nvSpPr>
            <p:spPr>
              <a:xfrm>
                <a:off x="4816656" y="2272152"/>
                <a:ext cx="3276600" cy="50674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B651C34-EE90-4EB2-82FD-000F880F11F6}"/>
                  </a:ext>
                </a:extLst>
              </p:cNvPr>
              <p:cNvSpPr txBox="1"/>
              <p:nvPr/>
            </p:nvSpPr>
            <p:spPr>
              <a:xfrm>
                <a:off x="4785679" y="2837206"/>
                <a:ext cx="3276600" cy="50674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(2)</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m:t>
                              </m:r>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2</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39" name="TextBox 38">
                <a:extLst>
                  <a:ext uri="{FF2B5EF4-FFF2-40B4-BE49-F238E27FC236}">
                    <a16:creationId xmlns:a16="http://schemas.microsoft.com/office/drawing/2014/main" id="{AB651C34-EE90-4EB2-82FD-000F880F11F6}"/>
                  </a:ext>
                </a:extLst>
              </p:cNvPr>
              <p:cNvSpPr txBox="1">
                <a:spLocks noRot="1" noChangeAspect="1" noMove="1" noResize="1" noEditPoints="1" noAdjustHandles="1" noChangeArrowheads="1" noChangeShapeType="1" noTextEdit="1"/>
              </p:cNvSpPr>
              <p:nvPr/>
            </p:nvSpPr>
            <p:spPr>
              <a:xfrm>
                <a:off x="4785679" y="2837206"/>
                <a:ext cx="3276600" cy="50674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B7D0B53-CC11-44C8-BF81-83CF5010022B}"/>
                  </a:ext>
                </a:extLst>
              </p:cNvPr>
              <p:cNvSpPr txBox="1"/>
              <p:nvPr/>
            </p:nvSpPr>
            <p:spPr>
              <a:xfrm>
                <a:off x="4805770" y="4004118"/>
                <a:ext cx="3276600" cy="51571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𝑘</m:t>
                          </m:r>
                          <m:r>
                            <a:rPr lang="en-US" altLang="zh-CN" sz="2200" b="0" i="1" smtClean="0">
                              <a:latin typeface="Cambria Math" panose="02040503050406030204" pitchFamily="18" charset="0"/>
                            </a:rPr>
                            <m:t>)</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𝑘</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𝑘</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41" name="TextBox 40">
                <a:extLst>
                  <a:ext uri="{FF2B5EF4-FFF2-40B4-BE49-F238E27FC236}">
                    <a16:creationId xmlns:a16="http://schemas.microsoft.com/office/drawing/2014/main" id="{CB7D0B53-CC11-44C8-BF81-83CF5010022B}"/>
                  </a:ext>
                </a:extLst>
              </p:cNvPr>
              <p:cNvSpPr txBox="1">
                <a:spLocks noRot="1" noChangeAspect="1" noMove="1" noResize="1" noEditPoints="1" noAdjustHandles="1" noChangeArrowheads="1" noChangeShapeType="1" noTextEdit="1"/>
              </p:cNvSpPr>
              <p:nvPr/>
            </p:nvSpPr>
            <p:spPr>
              <a:xfrm>
                <a:off x="4805770" y="4004118"/>
                <a:ext cx="3276600" cy="515719"/>
              </a:xfrm>
              <a:prstGeom prst="rect">
                <a:avLst/>
              </a:prstGeom>
              <a:blipFill>
                <a:blip r:embed="rId8"/>
                <a:stretch>
                  <a:fillRect/>
                </a:stretch>
              </a:blipFill>
            </p:spPr>
            <p:txBody>
              <a:bodyPr/>
              <a:lstStyle/>
              <a:p>
                <a:r>
                  <a:rPr lang="zh-CN" altLang="en-US">
                    <a:noFill/>
                  </a:rPr>
                  <a:t> </a:t>
                </a:r>
              </a:p>
            </p:txBody>
          </p:sp>
        </mc:Fallback>
      </mc:AlternateContent>
      <p:sp>
        <p:nvSpPr>
          <p:cNvPr id="43" name="TextBox 42">
            <a:extLst>
              <a:ext uri="{FF2B5EF4-FFF2-40B4-BE49-F238E27FC236}">
                <a16:creationId xmlns:a16="http://schemas.microsoft.com/office/drawing/2014/main" id="{6959009F-46C3-428B-94F5-DF3A7E133B15}"/>
              </a:ext>
            </a:extLst>
          </p:cNvPr>
          <p:cNvSpPr txBox="1"/>
          <p:nvPr/>
        </p:nvSpPr>
        <p:spPr>
          <a:xfrm>
            <a:off x="6174899" y="3601962"/>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8" name="Group 27">
            <a:extLst>
              <a:ext uri="{FF2B5EF4-FFF2-40B4-BE49-F238E27FC236}">
                <a16:creationId xmlns:a16="http://schemas.microsoft.com/office/drawing/2014/main" id="{F17C1310-B8C2-03F6-49CD-5DD86F1E355F}"/>
              </a:ext>
            </a:extLst>
          </p:cNvPr>
          <p:cNvGrpSpPr/>
          <p:nvPr/>
        </p:nvGrpSpPr>
        <p:grpSpPr>
          <a:xfrm>
            <a:off x="1066800" y="1840625"/>
            <a:ext cx="2209800" cy="3509578"/>
            <a:chOff x="1066800" y="1840625"/>
            <a:chExt cx="2209800" cy="3509578"/>
          </a:xfrm>
        </p:grpSpPr>
        <p:grpSp>
          <p:nvGrpSpPr>
            <p:cNvPr id="37" name="Group 36">
              <a:extLst>
                <a:ext uri="{FF2B5EF4-FFF2-40B4-BE49-F238E27FC236}">
                  <a16:creationId xmlns:a16="http://schemas.microsoft.com/office/drawing/2014/main" id="{685B5C7C-3B91-4108-B86C-0D1E03BFF748}"/>
                </a:ext>
              </a:extLst>
            </p:cNvPr>
            <p:cNvGrpSpPr/>
            <p:nvPr/>
          </p:nvGrpSpPr>
          <p:grpSpPr>
            <a:xfrm>
              <a:off x="1066800" y="1840625"/>
              <a:ext cx="2209800" cy="2563547"/>
              <a:chOff x="1791834" y="1840625"/>
              <a:chExt cx="2209800" cy="2563547"/>
            </a:xfrm>
          </p:grpSpPr>
          <p:sp>
            <p:nvSpPr>
              <p:cNvPr id="47" name="TextBox 46">
                <a:extLst>
                  <a:ext uri="{FF2B5EF4-FFF2-40B4-BE49-F238E27FC236}">
                    <a16:creationId xmlns:a16="http://schemas.microsoft.com/office/drawing/2014/main" id="{5E12463D-8077-EA67-2F24-6C84F2117B3D}"/>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48" name="TextBox 47">
                <a:extLst>
                  <a:ext uri="{FF2B5EF4-FFF2-40B4-BE49-F238E27FC236}">
                    <a16:creationId xmlns:a16="http://schemas.microsoft.com/office/drawing/2014/main" id="{87861D65-F386-C8C5-87BB-3597E9D6A1EB}"/>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C919121-B848-A11B-0EE2-7B7B58588E38}"/>
                    </a:ext>
                  </a:extLst>
                </p:cNvPr>
                <p:cNvSpPr txBox="1"/>
                <p:nvPr/>
              </p:nvSpPr>
              <p:spPr>
                <a:xfrm>
                  <a:off x="1879940" y="2390790"/>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44" name="TextBox 43">
                  <a:extLst>
                    <a:ext uri="{FF2B5EF4-FFF2-40B4-BE49-F238E27FC236}">
                      <a16:creationId xmlns:a16="http://schemas.microsoft.com/office/drawing/2014/main" id="{EC919121-B848-A11B-0EE2-7B7B58588E38}"/>
                    </a:ext>
                  </a:extLst>
                </p:cNvPr>
                <p:cNvSpPr txBox="1">
                  <a:spLocks noRot="1" noChangeAspect="1" noMove="1" noResize="1" noEditPoints="1" noAdjustHandles="1" noChangeArrowheads="1" noChangeShapeType="1" noTextEdit="1"/>
                </p:cNvSpPr>
                <p:nvPr/>
              </p:nvSpPr>
              <p:spPr>
                <a:xfrm>
                  <a:off x="1879940" y="2390790"/>
                  <a:ext cx="396194"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9173003-6F47-DF9C-B1A3-3EA187E91B27}"/>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45" name="TextBox 44">
                  <a:extLst>
                    <a:ext uri="{FF2B5EF4-FFF2-40B4-BE49-F238E27FC236}">
                      <a16:creationId xmlns:a16="http://schemas.microsoft.com/office/drawing/2014/main" id="{D9173003-6F47-DF9C-B1A3-3EA187E91B27}"/>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E0E3954-38FD-749D-37CC-3C8ABD8B1C98}"/>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46" name="TextBox 45">
                  <a:extLst>
                    <a:ext uri="{FF2B5EF4-FFF2-40B4-BE49-F238E27FC236}">
                      <a16:creationId xmlns:a16="http://schemas.microsoft.com/office/drawing/2014/main" id="{FE0E3954-38FD-749D-37CC-3C8ABD8B1C98}"/>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11"/>
                  <a:stretch>
                    <a:fillRect/>
                  </a:stretch>
                </a:blipFill>
              </p:spPr>
              <p:txBody>
                <a:bodyPr/>
                <a:lstStyle/>
                <a:p>
                  <a:r>
                    <a:rPr lang="en-US">
                      <a:noFill/>
                    </a:rPr>
                    <a:t> </a:t>
                  </a:r>
                </a:p>
              </p:txBody>
            </p:sp>
          </mc:Fallback>
        </mc:AlternateContent>
      </p:grpSp>
    </p:spTree>
    <p:custDataLst>
      <p:tags r:id="rId1"/>
    </p:custDataLst>
    <p:extLst>
      <p:ext uri="{BB962C8B-B14F-4D97-AF65-F5344CB8AC3E}">
        <p14:creationId xmlns:p14="http://schemas.microsoft.com/office/powerpoint/2010/main" val="254813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p:bldP spid="4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err="1">
                <a:ea typeface="ＭＳ Ｐゴシック" panose="020B0600070205080204" pitchFamily="34" charset="-128"/>
              </a:rPr>
              <a:t>Softmax</a:t>
            </a:r>
            <a:endParaRPr lang="zh-CN" altLang="en-US" dirty="0"/>
          </a:p>
        </p:txBody>
      </p:sp>
      <p:grpSp>
        <p:nvGrpSpPr>
          <p:cNvPr id="8" name="Group 7">
            <a:extLst>
              <a:ext uri="{FF2B5EF4-FFF2-40B4-BE49-F238E27FC236}">
                <a16:creationId xmlns:a16="http://schemas.microsoft.com/office/drawing/2014/main" id="{15303700-BC36-4C2C-82A6-5869FC95CFCD}"/>
              </a:ext>
            </a:extLst>
          </p:cNvPr>
          <p:cNvGrpSpPr/>
          <p:nvPr/>
        </p:nvGrpSpPr>
        <p:grpSpPr>
          <a:xfrm>
            <a:off x="4380366" y="1828800"/>
            <a:ext cx="2209800" cy="2766396"/>
            <a:chOff x="5105400" y="1828800"/>
            <a:chExt cx="2209800" cy="2766396"/>
          </a:xfrm>
        </p:grpSpPr>
        <p:sp>
          <p:nvSpPr>
            <p:cNvPr id="17" name="Oval 16">
              <a:extLst>
                <a:ext uri="{FF2B5EF4-FFF2-40B4-BE49-F238E27FC236}">
                  <a16:creationId xmlns:a16="http://schemas.microsoft.com/office/drawing/2014/main" id="{DB19D7CF-20D2-439C-A6A7-6F6593CE48FB}"/>
                </a:ext>
              </a:extLst>
            </p:cNvPr>
            <p:cNvSpPr/>
            <p:nvPr/>
          </p:nvSpPr>
          <p:spPr bwMode="auto">
            <a:xfrm>
              <a:off x="6057900" y="2726463"/>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8" name="Oval 17">
              <a:extLst>
                <a:ext uri="{FF2B5EF4-FFF2-40B4-BE49-F238E27FC236}">
                  <a16:creationId xmlns:a16="http://schemas.microsoft.com/office/drawing/2014/main" id="{DB05A700-1DBD-4DF0-A3B8-474DC31425FC}"/>
                </a:ext>
              </a:extLst>
            </p:cNvPr>
            <p:cNvSpPr/>
            <p:nvPr/>
          </p:nvSpPr>
          <p:spPr bwMode="auto">
            <a:xfrm>
              <a:off x="6057900" y="330442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DA48D8D8-4147-411E-AEF6-30A95A38A3C3}"/>
                </a:ext>
              </a:extLst>
            </p:cNvPr>
            <p:cNvSpPr/>
            <p:nvPr/>
          </p:nvSpPr>
          <p:spPr bwMode="auto">
            <a:xfrm>
              <a:off x="6047015" y="444279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3" name="TextBox 22">
              <a:extLst>
                <a:ext uri="{FF2B5EF4-FFF2-40B4-BE49-F238E27FC236}">
                  <a16:creationId xmlns:a16="http://schemas.microsoft.com/office/drawing/2014/main" id="{C3CB7269-45DE-412E-9CA1-1EDC29E8E76F}"/>
                </a:ext>
              </a:extLst>
            </p:cNvPr>
            <p:cNvSpPr txBox="1"/>
            <p:nvPr/>
          </p:nvSpPr>
          <p:spPr>
            <a:xfrm>
              <a:off x="5105400" y="1828800"/>
              <a:ext cx="2209800" cy="430887"/>
            </a:xfrm>
            <a:prstGeom prst="rect">
              <a:avLst/>
            </a:prstGeom>
            <a:noFill/>
          </p:spPr>
          <p:txBody>
            <a:bodyPr wrap="square" rtlCol="0">
              <a:spAutoFit/>
            </a:bodyPr>
            <a:lstStyle/>
            <a:p>
              <a:pPr algn="ctr"/>
              <a:r>
                <a:rPr lang="zh-CN" altLang="en-US" sz="2200" dirty="0"/>
                <a:t>输出</a:t>
              </a:r>
            </a:p>
          </p:txBody>
        </p:sp>
        <p:sp>
          <p:nvSpPr>
            <p:cNvPr id="29" name="TextBox 28">
              <a:extLst>
                <a:ext uri="{FF2B5EF4-FFF2-40B4-BE49-F238E27FC236}">
                  <a16:creationId xmlns:a16="http://schemas.microsoft.com/office/drawing/2014/main" id="{6D4CD088-DBF1-4098-9A0C-FFECDC2445D2}"/>
                </a:ext>
              </a:extLst>
            </p:cNvPr>
            <p:cNvSpPr txBox="1"/>
            <p:nvPr/>
          </p:nvSpPr>
          <p:spPr>
            <a:xfrm>
              <a:off x="5923392" y="3733799"/>
              <a:ext cx="738664" cy="430887"/>
            </a:xfrm>
            <a:prstGeom prst="rect">
              <a:avLst/>
            </a:prstGeom>
            <a:noFill/>
          </p:spPr>
          <p:txBody>
            <a:bodyPr vert="eaVert" wrap="square" rtlCol="0">
              <a:spAutoFit/>
            </a:bodyPr>
            <a:lstStyle/>
            <a:p>
              <a:r>
                <a:rPr lang="en-US" altLang="zh-CN" sz="3600" dirty="0"/>
                <a:t>…</a:t>
              </a:r>
              <a:endParaRPr lang="zh-CN" altLang="en-US" sz="3600" dirty="0"/>
            </a:p>
          </p:txBody>
        </p:sp>
      </p:grpSp>
      <p:cxnSp>
        <p:nvCxnSpPr>
          <p:cNvPr id="10" name="Straight Arrow Connector 9">
            <a:extLst>
              <a:ext uri="{FF2B5EF4-FFF2-40B4-BE49-F238E27FC236}">
                <a16:creationId xmlns:a16="http://schemas.microsoft.com/office/drawing/2014/main" id="{594545FB-AA7A-4D30-966A-C25F00259E82}"/>
              </a:ext>
            </a:extLst>
          </p:cNvPr>
          <p:cNvCxnSpPr>
            <a:cxnSpLocks/>
            <a:endCxn id="17" idx="2"/>
          </p:cNvCxnSpPr>
          <p:nvPr/>
        </p:nvCxnSpPr>
        <p:spPr bwMode="auto">
          <a:xfrm>
            <a:off x="2230437" y="2618626"/>
            <a:ext cx="3102429" cy="1840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C01FF7E8-D04C-4648-9CBB-D073ED6E902C}"/>
              </a:ext>
            </a:extLst>
          </p:cNvPr>
          <p:cNvCxnSpPr>
            <a:cxnSpLocks/>
            <a:endCxn id="17" idx="3"/>
          </p:cNvCxnSpPr>
          <p:nvPr/>
        </p:nvCxnSpPr>
        <p:spPr bwMode="auto">
          <a:xfrm flipV="1">
            <a:off x="2230437" y="2856545"/>
            <a:ext cx="3124747" cy="2732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F7780B09-EF63-49A7-8420-9B19710A3FF7}"/>
              </a:ext>
            </a:extLst>
          </p:cNvPr>
          <p:cNvCxnSpPr>
            <a:cxnSpLocks/>
            <a:endCxn id="17" idx="3"/>
          </p:cNvCxnSpPr>
          <p:nvPr/>
        </p:nvCxnSpPr>
        <p:spPr bwMode="auto">
          <a:xfrm flipV="1">
            <a:off x="2241323" y="2856545"/>
            <a:ext cx="3113861" cy="232666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BA9B9DD-3175-4A2A-A2DB-F1427FB5D393}"/>
              </a:ext>
            </a:extLst>
          </p:cNvPr>
          <p:cNvCxnSpPr>
            <a:cxnSpLocks/>
            <a:stCxn id="17" idx="6"/>
          </p:cNvCxnSpPr>
          <p:nvPr/>
        </p:nvCxnSpPr>
        <p:spPr bwMode="auto">
          <a:xfrm>
            <a:off x="5485266" y="2802663"/>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F6B0FD05-E51E-49F9-B829-5A7BB253429D}"/>
              </a:ext>
            </a:extLst>
          </p:cNvPr>
          <p:cNvCxnSpPr>
            <a:cxnSpLocks/>
            <a:endCxn id="18" idx="2"/>
          </p:cNvCxnSpPr>
          <p:nvPr/>
        </p:nvCxnSpPr>
        <p:spPr bwMode="auto">
          <a:xfrm>
            <a:off x="2230437" y="2618626"/>
            <a:ext cx="3102429" cy="762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63DD79A-CA35-498D-8A28-10F2446EEC06}"/>
              </a:ext>
            </a:extLst>
          </p:cNvPr>
          <p:cNvCxnSpPr>
            <a:cxnSpLocks/>
            <a:endCxn id="18" idx="2"/>
          </p:cNvCxnSpPr>
          <p:nvPr/>
        </p:nvCxnSpPr>
        <p:spPr bwMode="auto">
          <a:xfrm>
            <a:off x="2230437" y="3129806"/>
            <a:ext cx="3102429" cy="2508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CD9030E4-AFF6-4634-92D3-7341BC7076B1}"/>
              </a:ext>
            </a:extLst>
          </p:cNvPr>
          <p:cNvCxnSpPr>
            <a:cxnSpLocks/>
            <a:endCxn id="18" idx="2"/>
          </p:cNvCxnSpPr>
          <p:nvPr/>
        </p:nvCxnSpPr>
        <p:spPr bwMode="auto">
          <a:xfrm flipV="1">
            <a:off x="2241323" y="3380626"/>
            <a:ext cx="3091543" cy="18025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5F44DD87-0735-41A2-89AD-5BD3A6661BC8}"/>
              </a:ext>
            </a:extLst>
          </p:cNvPr>
          <p:cNvSpPr txBox="1"/>
          <p:nvPr/>
        </p:nvSpPr>
        <p:spPr>
          <a:xfrm>
            <a:off x="3004888" y="3804434"/>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2" name="Straight Arrow Connector 41">
            <a:extLst>
              <a:ext uri="{FF2B5EF4-FFF2-40B4-BE49-F238E27FC236}">
                <a16:creationId xmlns:a16="http://schemas.microsoft.com/office/drawing/2014/main" id="{63592012-1FFA-4F81-9AC9-741087E33B1F}"/>
              </a:ext>
            </a:extLst>
          </p:cNvPr>
          <p:cNvCxnSpPr>
            <a:cxnSpLocks/>
          </p:cNvCxnSpPr>
          <p:nvPr/>
        </p:nvCxnSpPr>
        <p:spPr bwMode="auto">
          <a:xfrm>
            <a:off x="5498872" y="3393740"/>
            <a:ext cx="25021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27DD912E-2A92-40F7-A3E2-D86657F237DA}"/>
              </a:ext>
            </a:extLst>
          </p:cNvPr>
          <p:cNvCxnSpPr>
            <a:cxnSpLocks/>
            <a:endCxn id="22" idx="2"/>
          </p:cNvCxnSpPr>
          <p:nvPr/>
        </p:nvCxnSpPr>
        <p:spPr bwMode="auto">
          <a:xfrm>
            <a:off x="2230437" y="2618626"/>
            <a:ext cx="3091544" cy="190037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35764DC8-DDD3-4F6D-80B7-67BCC21FE942}"/>
              </a:ext>
            </a:extLst>
          </p:cNvPr>
          <p:cNvCxnSpPr>
            <a:cxnSpLocks/>
            <a:endCxn id="22" idx="3"/>
          </p:cNvCxnSpPr>
          <p:nvPr/>
        </p:nvCxnSpPr>
        <p:spPr bwMode="auto">
          <a:xfrm>
            <a:off x="2208119" y="3183688"/>
            <a:ext cx="3136180" cy="138919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CFAEBA02-33E1-48EC-BD41-5F0423D701AF}"/>
              </a:ext>
            </a:extLst>
          </p:cNvPr>
          <p:cNvCxnSpPr>
            <a:cxnSpLocks/>
            <a:endCxn id="22" idx="3"/>
          </p:cNvCxnSpPr>
          <p:nvPr/>
        </p:nvCxnSpPr>
        <p:spPr bwMode="auto">
          <a:xfrm flipV="1">
            <a:off x="2241323" y="4572878"/>
            <a:ext cx="3102976" cy="6103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Straight Arrow Connector 35">
            <a:extLst>
              <a:ext uri="{FF2B5EF4-FFF2-40B4-BE49-F238E27FC236}">
                <a16:creationId xmlns:a16="http://schemas.microsoft.com/office/drawing/2014/main" id="{F4EB6942-19B2-43CD-B966-822CF2E9A3E5}"/>
              </a:ext>
            </a:extLst>
          </p:cNvPr>
          <p:cNvCxnSpPr>
            <a:cxnSpLocks/>
          </p:cNvCxnSpPr>
          <p:nvPr/>
        </p:nvCxnSpPr>
        <p:spPr bwMode="auto">
          <a:xfrm>
            <a:off x="5485266" y="4518996"/>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Rectangle 11">
            <a:extLst>
              <a:ext uri="{FF2B5EF4-FFF2-40B4-BE49-F238E27FC236}">
                <a16:creationId xmlns:a16="http://schemas.microsoft.com/office/drawing/2014/main" id="{A6B342BB-198C-4E80-8FC7-7BCB2ED8F252}"/>
              </a:ext>
            </a:extLst>
          </p:cNvPr>
          <p:cNvSpPr/>
          <p:nvPr/>
        </p:nvSpPr>
        <p:spPr bwMode="auto">
          <a:xfrm>
            <a:off x="5105400" y="2362200"/>
            <a:ext cx="2515734" cy="259239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6436C84-FAE1-4239-8BDF-E131703AF671}"/>
                  </a:ext>
                </a:extLst>
              </p:cNvPr>
              <p:cNvSpPr txBox="1"/>
              <p:nvPr/>
            </p:nvSpPr>
            <p:spPr>
              <a:xfrm>
                <a:off x="4816656" y="2272152"/>
                <a:ext cx="3276600" cy="50674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(1)</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m:t>
                              </m:r>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1</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1</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38" name="TextBox 37">
                <a:extLst>
                  <a:ext uri="{FF2B5EF4-FFF2-40B4-BE49-F238E27FC236}">
                    <a16:creationId xmlns:a16="http://schemas.microsoft.com/office/drawing/2014/main" id="{06436C84-FAE1-4239-8BDF-E131703AF671}"/>
                  </a:ext>
                </a:extLst>
              </p:cNvPr>
              <p:cNvSpPr txBox="1">
                <a:spLocks noRot="1" noChangeAspect="1" noMove="1" noResize="1" noEditPoints="1" noAdjustHandles="1" noChangeArrowheads="1" noChangeShapeType="1" noTextEdit="1"/>
              </p:cNvSpPr>
              <p:nvPr/>
            </p:nvSpPr>
            <p:spPr>
              <a:xfrm>
                <a:off x="4816656" y="2272152"/>
                <a:ext cx="3276600" cy="50674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B651C34-EE90-4EB2-82FD-000F880F11F6}"/>
                  </a:ext>
                </a:extLst>
              </p:cNvPr>
              <p:cNvSpPr txBox="1"/>
              <p:nvPr/>
            </p:nvSpPr>
            <p:spPr>
              <a:xfrm>
                <a:off x="4785679" y="2837206"/>
                <a:ext cx="3276600" cy="50674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(2)</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m:t>
                              </m:r>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2</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39" name="TextBox 38">
                <a:extLst>
                  <a:ext uri="{FF2B5EF4-FFF2-40B4-BE49-F238E27FC236}">
                    <a16:creationId xmlns:a16="http://schemas.microsoft.com/office/drawing/2014/main" id="{AB651C34-EE90-4EB2-82FD-000F880F11F6}"/>
                  </a:ext>
                </a:extLst>
              </p:cNvPr>
              <p:cNvSpPr txBox="1">
                <a:spLocks noRot="1" noChangeAspect="1" noMove="1" noResize="1" noEditPoints="1" noAdjustHandles="1" noChangeArrowheads="1" noChangeShapeType="1" noTextEdit="1"/>
              </p:cNvSpPr>
              <p:nvPr/>
            </p:nvSpPr>
            <p:spPr>
              <a:xfrm>
                <a:off x="4785679" y="2837206"/>
                <a:ext cx="3276600" cy="50674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B7D0B53-CC11-44C8-BF81-83CF5010022B}"/>
                  </a:ext>
                </a:extLst>
              </p:cNvPr>
              <p:cNvSpPr txBox="1"/>
              <p:nvPr/>
            </p:nvSpPr>
            <p:spPr>
              <a:xfrm>
                <a:off x="4805770" y="4004118"/>
                <a:ext cx="3276600" cy="51571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𝑘</m:t>
                          </m:r>
                          <m:r>
                            <a:rPr lang="en-US" altLang="zh-CN" sz="2200" b="0" i="1" smtClean="0">
                              <a:latin typeface="Cambria Math" panose="02040503050406030204" pitchFamily="18" charset="0"/>
                            </a:rPr>
                            <m:t>)</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𝑘</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𝑘</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41" name="TextBox 40">
                <a:extLst>
                  <a:ext uri="{FF2B5EF4-FFF2-40B4-BE49-F238E27FC236}">
                    <a16:creationId xmlns:a16="http://schemas.microsoft.com/office/drawing/2014/main" id="{CB7D0B53-CC11-44C8-BF81-83CF5010022B}"/>
                  </a:ext>
                </a:extLst>
              </p:cNvPr>
              <p:cNvSpPr txBox="1">
                <a:spLocks noRot="1" noChangeAspect="1" noMove="1" noResize="1" noEditPoints="1" noAdjustHandles="1" noChangeArrowheads="1" noChangeShapeType="1" noTextEdit="1"/>
              </p:cNvSpPr>
              <p:nvPr/>
            </p:nvSpPr>
            <p:spPr>
              <a:xfrm>
                <a:off x="4805770" y="4004118"/>
                <a:ext cx="3276600" cy="51571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FF5F187-1CD5-432B-9499-923FBD3FBE06}"/>
                  </a:ext>
                </a:extLst>
              </p:cNvPr>
              <p:cNvSpPr txBox="1"/>
              <p:nvPr/>
            </p:nvSpPr>
            <p:spPr>
              <a:xfrm>
                <a:off x="8001000" y="1812069"/>
                <a:ext cx="1185136" cy="88562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(1)</m:t>
                              </m:r>
                            </m:sup>
                          </m:sSup>
                        </m:num>
                        <m:den>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𝑘</m:t>
                              </m:r>
                            </m:sup>
                            <m:e>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i="1">
                                      <a:latin typeface="Cambria Math" panose="02040503050406030204" pitchFamily="18" charset="0"/>
                                    </a:rPr>
                                    <m:t>𝑖</m:t>
                                  </m:r>
                                  <m:r>
                                    <a:rPr lang="en-US" altLang="zh-CN" sz="2200" i="1">
                                      <a:latin typeface="Cambria Math" panose="02040503050406030204" pitchFamily="18" charset="0"/>
                                    </a:rPr>
                                    <m:t>)</m:t>
                                  </m:r>
                                </m:sup>
                              </m:sSup>
                            </m:e>
                          </m:nary>
                        </m:den>
                      </m:f>
                    </m:oMath>
                  </m:oMathPara>
                </a14:m>
                <a:endParaRPr lang="zh-CN" altLang="en-US" sz="2200" dirty="0"/>
              </a:p>
            </p:txBody>
          </p:sp>
        </mc:Choice>
        <mc:Fallback xmlns="">
          <p:sp>
            <p:nvSpPr>
              <p:cNvPr id="37" name="TextBox 36">
                <a:extLst>
                  <a:ext uri="{FF2B5EF4-FFF2-40B4-BE49-F238E27FC236}">
                    <a16:creationId xmlns:a16="http://schemas.microsoft.com/office/drawing/2014/main" id="{7FF5F187-1CD5-432B-9499-923FBD3FBE06}"/>
                  </a:ext>
                </a:extLst>
              </p:cNvPr>
              <p:cNvSpPr txBox="1">
                <a:spLocks noRot="1" noChangeAspect="1" noMove="1" noResize="1" noEditPoints="1" noAdjustHandles="1" noChangeArrowheads="1" noChangeShapeType="1" noTextEdit="1"/>
              </p:cNvSpPr>
              <p:nvPr/>
            </p:nvSpPr>
            <p:spPr>
              <a:xfrm>
                <a:off x="8001000" y="1812069"/>
                <a:ext cx="1185136" cy="885627"/>
              </a:xfrm>
              <a:prstGeom prst="rect">
                <a:avLst/>
              </a:prstGeom>
              <a:blipFill>
                <a:blip r:embed="rId8"/>
                <a:stretch>
                  <a:fillRect/>
                </a:stretch>
              </a:blipFill>
            </p:spPr>
            <p:txBody>
              <a:bodyPr/>
              <a:lstStyle/>
              <a:p>
                <a:r>
                  <a:rPr lang="zh-CN" altLang="en-US">
                    <a:noFill/>
                  </a:rPr>
                  <a:t> </a:t>
                </a:r>
              </a:p>
            </p:txBody>
          </p:sp>
        </mc:Fallback>
      </mc:AlternateContent>
      <p:sp>
        <p:nvSpPr>
          <p:cNvPr id="44" name="TextBox 43">
            <a:extLst>
              <a:ext uri="{FF2B5EF4-FFF2-40B4-BE49-F238E27FC236}">
                <a16:creationId xmlns:a16="http://schemas.microsoft.com/office/drawing/2014/main" id="{21B3CFF2-F4A3-4BC4-A842-FB884C2299C3}"/>
              </a:ext>
            </a:extLst>
          </p:cNvPr>
          <p:cNvSpPr txBox="1"/>
          <p:nvPr/>
        </p:nvSpPr>
        <p:spPr>
          <a:xfrm>
            <a:off x="152400" y="5665113"/>
            <a:ext cx="8839200" cy="430887"/>
          </a:xfrm>
          <a:prstGeom prst="rect">
            <a:avLst/>
          </a:prstGeom>
          <a:noFill/>
        </p:spPr>
        <p:txBody>
          <a:bodyPr wrap="square" rtlCol="0">
            <a:spAutoFit/>
          </a:bodyPr>
          <a:lstStyle/>
          <a:p>
            <a:pPr algn="ctr"/>
            <a:r>
              <a:rPr lang="zh-CN" altLang="en-US" sz="2200" dirty="0"/>
              <a:t>将它们之和归一化为</a:t>
            </a:r>
            <a:r>
              <a:rPr lang="en-US" altLang="zh-CN" sz="2200" dirty="0"/>
              <a:t>1</a:t>
            </a:r>
            <a:endParaRPr lang="zh-CN" altLang="en-US" sz="2200" dirty="0"/>
          </a:p>
        </p:txBody>
      </p:sp>
      <p:sp>
        <p:nvSpPr>
          <p:cNvPr id="45" name="TextBox 44">
            <a:extLst>
              <a:ext uri="{FF2B5EF4-FFF2-40B4-BE49-F238E27FC236}">
                <a16:creationId xmlns:a16="http://schemas.microsoft.com/office/drawing/2014/main" id="{F0476C14-5CF3-41A2-88BC-19726C08C95C}"/>
              </a:ext>
            </a:extLst>
          </p:cNvPr>
          <p:cNvSpPr txBox="1"/>
          <p:nvPr/>
        </p:nvSpPr>
        <p:spPr>
          <a:xfrm>
            <a:off x="6174899" y="3601962"/>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5" name="Group 4">
            <a:extLst>
              <a:ext uri="{FF2B5EF4-FFF2-40B4-BE49-F238E27FC236}">
                <a16:creationId xmlns:a16="http://schemas.microsoft.com/office/drawing/2014/main" id="{777ECEDA-4585-03FB-60A8-B74DB209A492}"/>
              </a:ext>
            </a:extLst>
          </p:cNvPr>
          <p:cNvGrpSpPr/>
          <p:nvPr/>
        </p:nvGrpSpPr>
        <p:grpSpPr>
          <a:xfrm>
            <a:off x="1066800" y="1840625"/>
            <a:ext cx="2209800" cy="3509578"/>
            <a:chOff x="1066800" y="1840625"/>
            <a:chExt cx="2209800" cy="3509578"/>
          </a:xfrm>
        </p:grpSpPr>
        <p:grpSp>
          <p:nvGrpSpPr>
            <p:cNvPr id="9" name="Group 8">
              <a:extLst>
                <a:ext uri="{FF2B5EF4-FFF2-40B4-BE49-F238E27FC236}">
                  <a16:creationId xmlns:a16="http://schemas.microsoft.com/office/drawing/2014/main" id="{CBC5C3B4-25B5-6B50-FC54-6A4967C0DA71}"/>
                </a:ext>
              </a:extLst>
            </p:cNvPr>
            <p:cNvGrpSpPr/>
            <p:nvPr/>
          </p:nvGrpSpPr>
          <p:grpSpPr>
            <a:xfrm>
              <a:off x="1066800" y="1840625"/>
              <a:ext cx="2209800" cy="2563547"/>
              <a:chOff x="1791834" y="1840625"/>
              <a:chExt cx="2209800" cy="2563547"/>
            </a:xfrm>
          </p:grpSpPr>
          <p:sp>
            <p:nvSpPr>
              <p:cNvPr id="19" name="TextBox 18">
                <a:extLst>
                  <a:ext uri="{FF2B5EF4-FFF2-40B4-BE49-F238E27FC236}">
                    <a16:creationId xmlns:a16="http://schemas.microsoft.com/office/drawing/2014/main" id="{BF73A7FA-2A2B-D165-ED3F-B64CF1561880}"/>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20" name="TextBox 19">
                <a:extLst>
                  <a:ext uri="{FF2B5EF4-FFF2-40B4-BE49-F238E27FC236}">
                    <a16:creationId xmlns:a16="http://schemas.microsoft.com/office/drawing/2014/main" id="{98B5D3D1-75CA-23C7-BC0A-AAE5AA047436}"/>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8217100-3DF3-53F0-181B-531201D9ACBB}"/>
                    </a:ext>
                  </a:extLst>
                </p:cNvPr>
                <p:cNvSpPr txBox="1"/>
                <p:nvPr/>
              </p:nvSpPr>
              <p:spPr>
                <a:xfrm>
                  <a:off x="1879940" y="2390790"/>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11" name="TextBox 10">
                  <a:extLst>
                    <a:ext uri="{FF2B5EF4-FFF2-40B4-BE49-F238E27FC236}">
                      <a16:creationId xmlns:a16="http://schemas.microsoft.com/office/drawing/2014/main" id="{48217100-3DF3-53F0-181B-531201D9ACBB}"/>
                    </a:ext>
                  </a:extLst>
                </p:cNvPr>
                <p:cNvSpPr txBox="1">
                  <a:spLocks noRot="1" noChangeAspect="1" noMove="1" noResize="1" noEditPoints="1" noAdjustHandles="1" noChangeArrowheads="1" noChangeShapeType="1" noTextEdit="1"/>
                </p:cNvSpPr>
                <p:nvPr/>
              </p:nvSpPr>
              <p:spPr>
                <a:xfrm>
                  <a:off x="1879940" y="2390790"/>
                  <a:ext cx="396194"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5946D46-0EFB-0E7C-C376-FFCB56DFC946}"/>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3" name="TextBox 12">
                  <a:extLst>
                    <a:ext uri="{FF2B5EF4-FFF2-40B4-BE49-F238E27FC236}">
                      <a16:creationId xmlns:a16="http://schemas.microsoft.com/office/drawing/2014/main" id="{95946D46-0EFB-0E7C-C376-FFCB56DFC946}"/>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62C8CA0-4474-C67C-718F-76F7B66FA658}"/>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4" name="TextBox 13">
                  <a:extLst>
                    <a:ext uri="{FF2B5EF4-FFF2-40B4-BE49-F238E27FC236}">
                      <a16:creationId xmlns:a16="http://schemas.microsoft.com/office/drawing/2014/main" id="{162C8CA0-4474-C67C-718F-76F7B66FA658}"/>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11"/>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771085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err="1">
                <a:ea typeface="ＭＳ Ｐゴシック" panose="020B0600070205080204" pitchFamily="34" charset="-128"/>
              </a:rPr>
              <a:t>Softmax</a:t>
            </a:r>
            <a:endParaRPr lang="zh-CN" altLang="en-US" dirty="0"/>
          </a:p>
        </p:txBody>
      </p:sp>
      <p:grpSp>
        <p:nvGrpSpPr>
          <p:cNvPr id="8" name="Group 7">
            <a:extLst>
              <a:ext uri="{FF2B5EF4-FFF2-40B4-BE49-F238E27FC236}">
                <a16:creationId xmlns:a16="http://schemas.microsoft.com/office/drawing/2014/main" id="{15303700-BC36-4C2C-82A6-5869FC95CFCD}"/>
              </a:ext>
            </a:extLst>
          </p:cNvPr>
          <p:cNvGrpSpPr/>
          <p:nvPr/>
        </p:nvGrpSpPr>
        <p:grpSpPr>
          <a:xfrm>
            <a:off x="4380366" y="1828800"/>
            <a:ext cx="2209800" cy="2766396"/>
            <a:chOff x="5105400" y="1828800"/>
            <a:chExt cx="2209800" cy="2766396"/>
          </a:xfrm>
        </p:grpSpPr>
        <p:sp>
          <p:nvSpPr>
            <p:cNvPr id="17" name="Oval 16">
              <a:extLst>
                <a:ext uri="{FF2B5EF4-FFF2-40B4-BE49-F238E27FC236}">
                  <a16:creationId xmlns:a16="http://schemas.microsoft.com/office/drawing/2014/main" id="{DB19D7CF-20D2-439C-A6A7-6F6593CE48FB}"/>
                </a:ext>
              </a:extLst>
            </p:cNvPr>
            <p:cNvSpPr/>
            <p:nvPr/>
          </p:nvSpPr>
          <p:spPr bwMode="auto">
            <a:xfrm>
              <a:off x="6057900" y="2726463"/>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8" name="Oval 17">
              <a:extLst>
                <a:ext uri="{FF2B5EF4-FFF2-40B4-BE49-F238E27FC236}">
                  <a16:creationId xmlns:a16="http://schemas.microsoft.com/office/drawing/2014/main" id="{DB05A700-1DBD-4DF0-A3B8-474DC31425FC}"/>
                </a:ext>
              </a:extLst>
            </p:cNvPr>
            <p:cNvSpPr/>
            <p:nvPr/>
          </p:nvSpPr>
          <p:spPr bwMode="auto">
            <a:xfrm>
              <a:off x="6057900" y="330442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DA48D8D8-4147-411E-AEF6-30A95A38A3C3}"/>
                </a:ext>
              </a:extLst>
            </p:cNvPr>
            <p:cNvSpPr/>
            <p:nvPr/>
          </p:nvSpPr>
          <p:spPr bwMode="auto">
            <a:xfrm>
              <a:off x="6047015" y="444279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3" name="TextBox 22">
              <a:extLst>
                <a:ext uri="{FF2B5EF4-FFF2-40B4-BE49-F238E27FC236}">
                  <a16:creationId xmlns:a16="http://schemas.microsoft.com/office/drawing/2014/main" id="{C3CB7269-45DE-412E-9CA1-1EDC29E8E76F}"/>
                </a:ext>
              </a:extLst>
            </p:cNvPr>
            <p:cNvSpPr txBox="1"/>
            <p:nvPr/>
          </p:nvSpPr>
          <p:spPr>
            <a:xfrm>
              <a:off x="5105400" y="1828800"/>
              <a:ext cx="2209800" cy="430887"/>
            </a:xfrm>
            <a:prstGeom prst="rect">
              <a:avLst/>
            </a:prstGeom>
            <a:noFill/>
          </p:spPr>
          <p:txBody>
            <a:bodyPr wrap="square" rtlCol="0">
              <a:spAutoFit/>
            </a:bodyPr>
            <a:lstStyle/>
            <a:p>
              <a:pPr algn="ctr"/>
              <a:r>
                <a:rPr lang="zh-CN" altLang="en-US" sz="2200" dirty="0"/>
                <a:t>输出</a:t>
              </a:r>
            </a:p>
          </p:txBody>
        </p:sp>
        <p:sp>
          <p:nvSpPr>
            <p:cNvPr id="29" name="TextBox 28">
              <a:extLst>
                <a:ext uri="{FF2B5EF4-FFF2-40B4-BE49-F238E27FC236}">
                  <a16:creationId xmlns:a16="http://schemas.microsoft.com/office/drawing/2014/main" id="{6D4CD088-DBF1-4098-9A0C-FFECDC2445D2}"/>
                </a:ext>
              </a:extLst>
            </p:cNvPr>
            <p:cNvSpPr txBox="1"/>
            <p:nvPr/>
          </p:nvSpPr>
          <p:spPr>
            <a:xfrm>
              <a:off x="5923392" y="3733799"/>
              <a:ext cx="738664" cy="430887"/>
            </a:xfrm>
            <a:prstGeom prst="rect">
              <a:avLst/>
            </a:prstGeom>
            <a:noFill/>
          </p:spPr>
          <p:txBody>
            <a:bodyPr vert="eaVert" wrap="square" rtlCol="0">
              <a:spAutoFit/>
            </a:bodyPr>
            <a:lstStyle/>
            <a:p>
              <a:r>
                <a:rPr lang="en-US" altLang="zh-CN" sz="3600" dirty="0"/>
                <a:t>…</a:t>
              </a:r>
              <a:endParaRPr lang="zh-CN" altLang="en-US" sz="3600" dirty="0"/>
            </a:p>
          </p:txBody>
        </p:sp>
      </p:grpSp>
      <p:cxnSp>
        <p:nvCxnSpPr>
          <p:cNvPr id="10" name="Straight Arrow Connector 9">
            <a:extLst>
              <a:ext uri="{FF2B5EF4-FFF2-40B4-BE49-F238E27FC236}">
                <a16:creationId xmlns:a16="http://schemas.microsoft.com/office/drawing/2014/main" id="{594545FB-AA7A-4D30-966A-C25F00259E82}"/>
              </a:ext>
            </a:extLst>
          </p:cNvPr>
          <p:cNvCxnSpPr>
            <a:cxnSpLocks/>
            <a:endCxn id="17" idx="2"/>
          </p:cNvCxnSpPr>
          <p:nvPr/>
        </p:nvCxnSpPr>
        <p:spPr bwMode="auto">
          <a:xfrm>
            <a:off x="2230437" y="2618626"/>
            <a:ext cx="3102429" cy="1840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C01FF7E8-D04C-4648-9CBB-D073ED6E902C}"/>
              </a:ext>
            </a:extLst>
          </p:cNvPr>
          <p:cNvCxnSpPr>
            <a:cxnSpLocks/>
            <a:endCxn id="17" idx="3"/>
          </p:cNvCxnSpPr>
          <p:nvPr/>
        </p:nvCxnSpPr>
        <p:spPr bwMode="auto">
          <a:xfrm flipV="1">
            <a:off x="2230437" y="2856545"/>
            <a:ext cx="3124747" cy="2732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F7780B09-EF63-49A7-8420-9B19710A3FF7}"/>
              </a:ext>
            </a:extLst>
          </p:cNvPr>
          <p:cNvCxnSpPr>
            <a:cxnSpLocks/>
            <a:endCxn id="17" idx="3"/>
          </p:cNvCxnSpPr>
          <p:nvPr/>
        </p:nvCxnSpPr>
        <p:spPr bwMode="auto">
          <a:xfrm flipV="1">
            <a:off x="2241323" y="2856545"/>
            <a:ext cx="3113861" cy="232666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BA9B9DD-3175-4A2A-A2DB-F1427FB5D393}"/>
              </a:ext>
            </a:extLst>
          </p:cNvPr>
          <p:cNvCxnSpPr>
            <a:cxnSpLocks/>
            <a:stCxn id="17" idx="6"/>
          </p:cNvCxnSpPr>
          <p:nvPr/>
        </p:nvCxnSpPr>
        <p:spPr bwMode="auto">
          <a:xfrm>
            <a:off x="5485266" y="2802663"/>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F6B0FD05-E51E-49F9-B829-5A7BB253429D}"/>
              </a:ext>
            </a:extLst>
          </p:cNvPr>
          <p:cNvCxnSpPr>
            <a:cxnSpLocks/>
            <a:endCxn id="18" idx="2"/>
          </p:cNvCxnSpPr>
          <p:nvPr/>
        </p:nvCxnSpPr>
        <p:spPr bwMode="auto">
          <a:xfrm>
            <a:off x="2230437" y="2618626"/>
            <a:ext cx="3102429" cy="762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63DD79A-CA35-498D-8A28-10F2446EEC06}"/>
              </a:ext>
            </a:extLst>
          </p:cNvPr>
          <p:cNvCxnSpPr>
            <a:cxnSpLocks/>
            <a:endCxn id="18" idx="2"/>
          </p:cNvCxnSpPr>
          <p:nvPr/>
        </p:nvCxnSpPr>
        <p:spPr bwMode="auto">
          <a:xfrm>
            <a:off x="2230437" y="3129806"/>
            <a:ext cx="3102429" cy="2508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CD9030E4-AFF6-4634-92D3-7341BC7076B1}"/>
              </a:ext>
            </a:extLst>
          </p:cNvPr>
          <p:cNvCxnSpPr>
            <a:cxnSpLocks/>
            <a:endCxn id="18" idx="2"/>
          </p:cNvCxnSpPr>
          <p:nvPr/>
        </p:nvCxnSpPr>
        <p:spPr bwMode="auto">
          <a:xfrm flipV="1">
            <a:off x="2241323" y="3380626"/>
            <a:ext cx="3091543" cy="18025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5F44DD87-0735-41A2-89AD-5BD3A6661BC8}"/>
              </a:ext>
            </a:extLst>
          </p:cNvPr>
          <p:cNvSpPr txBox="1"/>
          <p:nvPr/>
        </p:nvSpPr>
        <p:spPr>
          <a:xfrm>
            <a:off x="3004888" y="3804434"/>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2" name="Straight Arrow Connector 41">
            <a:extLst>
              <a:ext uri="{FF2B5EF4-FFF2-40B4-BE49-F238E27FC236}">
                <a16:creationId xmlns:a16="http://schemas.microsoft.com/office/drawing/2014/main" id="{63592012-1FFA-4F81-9AC9-741087E33B1F}"/>
              </a:ext>
            </a:extLst>
          </p:cNvPr>
          <p:cNvCxnSpPr>
            <a:cxnSpLocks/>
          </p:cNvCxnSpPr>
          <p:nvPr/>
        </p:nvCxnSpPr>
        <p:spPr bwMode="auto">
          <a:xfrm>
            <a:off x="5498872" y="3393740"/>
            <a:ext cx="25021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27DD912E-2A92-40F7-A3E2-D86657F237DA}"/>
              </a:ext>
            </a:extLst>
          </p:cNvPr>
          <p:cNvCxnSpPr>
            <a:cxnSpLocks/>
            <a:endCxn id="22" idx="2"/>
          </p:cNvCxnSpPr>
          <p:nvPr/>
        </p:nvCxnSpPr>
        <p:spPr bwMode="auto">
          <a:xfrm>
            <a:off x="2230437" y="2618626"/>
            <a:ext cx="3091544" cy="190037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35764DC8-DDD3-4F6D-80B7-67BCC21FE942}"/>
              </a:ext>
            </a:extLst>
          </p:cNvPr>
          <p:cNvCxnSpPr>
            <a:cxnSpLocks/>
            <a:endCxn id="22" idx="3"/>
          </p:cNvCxnSpPr>
          <p:nvPr/>
        </p:nvCxnSpPr>
        <p:spPr bwMode="auto">
          <a:xfrm>
            <a:off x="2208119" y="3183688"/>
            <a:ext cx="3136180" cy="138919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CFAEBA02-33E1-48EC-BD41-5F0423D701AF}"/>
              </a:ext>
            </a:extLst>
          </p:cNvPr>
          <p:cNvCxnSpPr>
            <a:cxnSpLocks/>
            <a:endCxn id="22" idx="3"/>
          </p:cNvCxnSpPr>
          <p:nvPr/>
        </p:nvCxnSpPr>
        <p:spPr bwMode="auto">
          <a:xfrm flipV="1">
            <a:off x="2241323" y="4572878"/>
            <a:ext cx="3102976" cy="6103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Straight Arrow Connector 35">
            <a:extLst>
              <a:ext uri="{FF2B5EF4-FFF2-40B4-BE49-F238E27FC236}">
                <a16:creationId xmlns:a16="http://schemas.microsoft.com/office/drawing/2014/main" id="{F4EB6942-19B2-43CD-B966-822CF2E9A3E5}"/>
              </a:ext>
            </a:extLst>
          </p:cNvPr>
          <p:cNvCxnSpPr>
            <a:cxnSpLocks/>
          </p:cNvCxnSpPr>
          <p:nvPr/>
        </p:nvCxnSpPr>
        <p:spPr bwMode="auto">
          <a:xfrm>
            <a:off x="5485266" y="4518996"/>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Rectangle 11">
            <a:extLst>
              <a:ext uri="{FF2B5EF4-FFF2-40B4-BE49-F238E27FC236}">
                <a16:creationId xmlns:a16="http://schemas.microsoft.com/office/drawing/2014/main" id="{A6B342BB-198C-4E80-8FC7-7BCB2ED8F252}"/>
              </a:ext>
            </a:extLst>
          </p:cNvPr>
          <p:cNvSpPr/>
          <p:nvPr/>
        </p:nvSpPr>
        <p:spPr bwMode="auto">
          <a:xfrm>
            <a:off x="5105400" y="2362200"/>
            <a:ext cx="2515734" cy="259239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6436C84-FAE1-4239-8BDF-E131703AF671}"/>
                  </a:ext>
                </a:extLst>
              </p:cNvPr>
              <p:cNvSpPr txBox="1"/>
              <p:nvPr/>
            </p:nvSpPr>
            <p:spPr>
              <a:xfrm>
                <a:off x="4816656" y="2272152"/>
                <a:ext cx="3276600" cy="50674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(1)</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m:t>
                              </m:r>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1</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1</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38" name="TextBox 37">
                <a:extLst>
                  <a:ext uri="{FF2B5EF4-FFF2-40B4-BE49-F238E27FC236}">
                    <a16:creationId xmlns:a16="http://schemas.microsoft.com/office/drawing/2014/main" id="{06436C84-FAE1-4239-8BDF-E131703AF671}"/>
                  </a:ext>
                </a:extLst>
              </p:cNvPr>
              <p:cNvSpPr txBox="1">
                <a:spLocks noRot="1" noChangeAspect="1" noMove="1" noResize="1" noEditPoints="1" noAdjustHandles="1" noChangeArrowheads="1" noChangeShapeType="1" noTextEdit="1"/>
              </p:cNvSpPr>
              <p:nvPr/>
            </p:nvSpPr>
            <p:spPr>
              <a:xfrm>
                <a:off x="4816656" y="2272152"/>
                <a:ext cx="3276600" cy="50674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B651C34-EE90-4EB2-82FD-000F880F11F6}"/>
                  </a:ext>
                </a:extLst>
              </p:cNvPr>
              <p:cNvSpPr txBox="1"/>
              <p:nvPr/>
            </p:nvSpPr>
            <p:spPr>
              <a:xfrm>
                <a:off x="4785679" y="2837206"/>
                <a:ext cx="3276600" cy="50674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(2)</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m:t>
                              </m:r>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2</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39" name="TextBox 38">
                <a:extLst>
                  <a:ext uri="{FF2B5EF4-FFF2-40B4-BE49-F238E27FC236}">
                    <a16:creationId xmlns:a16="http://schemas.microsoft.com/office/drawing/2014/main" id="{AB651C34-EE90-4EB2-82FD-000F880F11F6}"/>
                  </a:ext>
                </a:extLst>
              </p:cNvPr>
              <p:cNvSpPr txBox="1">
                <a:spLocks noRot="1" noChangeAspect="1" noMove="1" noResize="1" noEditPoints="1" noAdjustHandles="1" noChangeArrowheads="1" noChangeShapeType="1" noTextEdit="1"/>
              </p:cNvSpPr>
              <p:nvPr/>
            </p:nvSpPr>
            <p:spPr>
              <a:xfrm>
                <a:off x="4785679" y="2837206"/>
                <a:ext cx="3276600" cy="50674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B7D0B53-CC11-44C8-BF81-83CF5010022B}"/>
                  </a:ext>
                </a:extLst>
              </p:cNvPr>
              <p:cNvSpPr txBox="1"/>
              <p:nvPr/>
            </p:nvSpPr>
            <p:spPr>
              <a:xfrm>
                <a:off x="4805770" y="4004118"/>
                <a:ext cx="3276600" cy="51571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𝑘</m:t>
                          </m:r>
                          <m:r>
                            <a:rPr lang="en-US" altLang="zh-CN" sz="2200" b="0" i="1" smtClean="0">
                              <a:latin typeface="Cambria Math" panose="02040503050406030204" pitchFamily="18" charset="0"/>
                            </a:rPr>
                            <m:t>)</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𝑘</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𝑘</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41" name="TextBox 40">
                <a:extLst>
                  <a:ext uri="{FF2B5EF4-FFF2-40B4-BE49-F238E27FC236}">
                    <a16:creationId xmlns:a16="http://schemas.microsoft.com/office/drawing/2014/main" id="{CB7D0B53-CC11-44C8-BF81-83CF5010022B}"/>
                  </a:ext>
                </a:extLst>
              </p:cNvPr>
              <p:cNvSpPr txBox="1">
                <a:spLocks noRot="1" noChangeAspect="1" noMove="1" noResize="1" noEditPoints="1" noAdjustHandles="1" noChangeArrowheads="1" noChangeShapeType="1" noTextEdit="1"/>
              </p:cNvSpPr>
              <p:nvPr/>
            </p:nvSpPr>
            <p:spPr>
              <a:xfrm>
                <a:off x="4805770" y="4004118"/>
                <a:ext cx="3276600" cy="51571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FF5F187-1CD5-432B-9499-923FBD3FBE06}"/>
                  </a:ext>
                </a:extLst>
              </p:cNvPr>
              <p:cNvSpPr txBox="1"/>
              <p:nvPr/>
            </p:nvSpPr>
            <p:spPr>
              <a:xfrm>
                <a:off x="8001000" y="1812069"/>
                <a:ext cx="1185136" cy="88562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(1)</m:t>
                              </m:r>
                            </m:sup>
                          </m:sSup>
                        </m:num>
                        <m:den>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𝑘</m:t>
                              </m:r>
                            </m:sup>
                            <m:e>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i="1">
                                      <a:latin typeface="Cambria Math" panose="02040503050406030204" pitchFamily="18" charset="0"/>
                                    </a:rPr>
                                    <m:t>𝑖</m:t>
                                  </m:r>
                                  <m:r>
                                    <a:rPr lang="en-US" altLang="zh-CN" sz="2200" i="1">
                                      <a:latin typeface="Cambria Math" panose="02040503050406030204" pitchFamily="18" charset="0"/>
                                    </a:rPr>
                                    <m:t>)</m:t>
                                  </m:r>
                                </m:sup>
                              </m:sSup>
                            </m:e>
                          </m:nary>
                        </m:den>
                      </m:f>
                    </m:oMath>
                  </m:oMathPara>
                </a14:m>
                <a:endParaRPr lang="zh-CN" altLang="en-US" sz="2200" dirty="0"/>
              </a:p>
            </p:txBody>
          </p:sp>
        </mc:Choice>
        <mc:Fallback xmlns="">
          <p:sp>
            <p:nvSpPr>
              <p:cNvPr id="37" name="TextBox 36">
                <a:extLst>
                  <a:ext uri="{FF2B5EF4-FFF2-40B4-BE49-F238E27FC236}">
                    <a16:creationId xmlns:a16="http://schemas.microsoft.com/office/drawing/2014/main" id="{7FF5F187-1CD5-432B-9499-923FBD3FBE06}"/>
                  </a:ext>
                </a:extLst>
              </p:cNvPr>
              <p:cNvSpPr txBox="1">
                <a:spLocks noRot="1" noChangeAspect="1" noMove="1" noResize="1" noEditPoints="1" noAdjustHandles="1" noChangeArrowheads="1" noChangeShapeType="1" noTextEdit="1"/>
              </p:cNvSpPr>
              <p:nvPr/>
            </p:nvSpPr>
            <p:spPr>
              <a:xfrm>
                <a:off x="8001000" y="1812069"/>
                <a:ext cx="1185136" cy="885627"/>
              </a:xfrm>
              <a:prstGeom prst="rect">
                <a:avLst/>
              </a:prstGeom>
              <a:blipFill>
                <a:blip r:embed="rId8"/>
                <a:stretch>
                  <a:fillRect/>
                </a:stretch>
              </a:blipFill>
            </p:spPr>
            <p:txBody>
              <a:bodyPr/>
              <a:lstStyle/>
              <a:p>
                <a:r>
                  <a:rPr lang="zh-CN" altLang="en-US">
                    <a:noFill/>
                  </a:rPr>
                  <a:t> </a:t>
                </a:r>
              </a:p>
            </p:txBody>
          </p:sp>
        </mc:Fallback>
      </mc:AlternateContent>
      <p:sp>
        <p:nvSpPr>
          <p:cNvPr id="44" name="TextBox 43">
            <a:extLst>
              <a:ext uri="{FF2B5EF4-FFF2-40B4-BE49-F238E27FC236}">
                <a16:creationId xmlns:a16="http://schemas.microsoft.com/office/drawing/2014/main" id="{21B3CFF2-F4A3-4BC4-A842-FB884C2299C3}"/>
              </a:ext>
            </a:extLst>
          </p:cNvPr>
          <p:cNvSpPr txBox="1"/>
          <p:nvPr/>
        </p:nvSpPr>
        <p:spPr>
          <a:xfrm>
            <a:off x="1123121" y="5588913"/>
            <a:ext cx="6902677" cy="430887"/>
          </a:xfrm>
          <a:prstGeom prst="rect">
            <a:avLst/>
          </a:prstGeom>
          <a:noFill/>
        </p:spPr>
        <p:txBody>
          <a:bodyPr wrap="square" rtlCol="0">
            <a:spAutoFit/>
          </a:bodyPr>
          <a:lstStyle/>
          <a:p>
            <a:pPr algn="ctr"/>
            <a:r>
              <a:rPr lang="zh-CN" altLang="en-US" sz="2200" dirty="0"/>
              <a:t>可以把输出看成一个概率值</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B575749-1953-4C08-9B70-7C1E554D4064}"/>
                  </a:ext>
                </a:extLst>
              </p:cNvPr>
              <p:cNvSpPr txBox="1"/>
              <p:nvPr/>
            </p:nvSpPr>
            <p:spPr>
              <a:xfrm>
                <a:off x="8029622" y="2694826"/>
                <a:ext cx="1185136" cy="88562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b="0" i="1" smtClean="0">
                                  <a:latin typeface="Cambria Math" panose="02040503050406030204" pitchFamily="18" charset="0"/>
                                </a:rPr>
                                <m:t>2</m:t>
                              </m:r>
                              <m:r>
                                <a:rPr lang="en-US" altLang="zh-CN" sz="2200" i="1">
                                  <a:latin typeface="Cambria Math" panose="02040503050406030204" pitchFamily="18" charset="0"/>
                                </a:rPr>
                                <m:t>)</m:t>
                              </m:r>
                            </m:sup>
                          </m:sSup>
                        </m:num>
                        <m:den>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𝑘</m:t>
                              </m:r>
                            </m:sup>
                            <m:e>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i="1">
                                      <a:latin typeface="Cambria Math" panose="02040503050406030204" pitchFamily="18" charset="0"/>
                                    </a:rPr>
                                    <m:t>𝑖</m:t>
                                  </m:r>
                                  <m:r>
                                    <a:rPr lang="en-US" altLang="zh-CN" sz="2200" i="1">
                                      <a:latin typeface="Cambria Math" panose="02040503050406030204" pitchFamily="18" charset="0"/>
                                    </a:rPr>
                                    <m:t>)</m:t>
                                  </m:r>
                                </m:sup>
                              </m:sSup>
                            </m:e>
                          </m:nary>
                        </m:den>
                      </m:f>
                    </m:oMath>
                  </m:oMathPara>
                </a14:m>
                <a:endParaRPr lang="zh-CN" altLang="en-US" sz="2200" dirty="0"/>
              </a:p>
            </p:txBody>
          </p:sp>
        </mc:Choice>
        <mc:Fallback xmlns="">
          <p:sp>
            <p:nvSpPr>
              <p:cNvPr id="43" name="TextBox 42">
                <a:extLst>
                  <a:ext uri="{FF2B5EF4-FFF2-40B4-BE49-F238E27FC236}">
                    <a16:creationId xmlns:a16="http://schemas.microsoft.com/office/drawing/2014/main" id="{3B575749-1953-4C08-9B70-7C1E554D4064}"/>
                  </a:ext>
                </a:extLst>
              </p:cNvPr>
              <p:cNvSpPr txBox="1">
                <a:spLocks noRot="1" noChangeAspect="1" noMove="1" noResize="1" noEditPoints="1" noAdjustHandles="1" noChangeArrowheads="1" noChangeShapeType="1" noTextEdit="1"/>
              </p:cNvSpPr>
              <p:nvPr/>
            </p:nvSpPr>
            <p:spPr>
              <a:xfrm>
                <a:off x="8029622" y="2694826"/>
                <a:ext cx="1185136" cy="885627"/>
              </a:xfrm>
              <a:prstGeom prst="rect">
                <a:avLst/>
              </a:prstGeom>
              <a:blipFill>
                <a:blip r:embed="rId9"/>
                <a:stretch>
                  <a:fillRect/>
                </a:stretch>
              </a:blipFill>
            </p:spPr>
            <p:txBody>
              <a:bodyPr/>
              <a:lstStyle/>
              <a:p>
                <a:r>
                  <a:rPr lang="zh-CN" altLang="en-US">
                    <a:noFill/>
                  </a:rPr>
                  <a:t> </a:t>
                </a:r>
              </a:p>
            </p:txBody>
          </p:sp>
        </mc:Fallback>
      </mc:AlternateContent>
      <p:sp>
        <p:nvSpPr>
          <p:cNvPr id="45" name="TextBox 44">
            <a:extLst>
              <a:ext uri="{FF2B5EF4-FFF2-40B4-BE49-F238E27FC236}">
                <a16:creationId xmlns:a16="http://schemas.microsoft.com/office/drawing/2014/main" id="{10A7B771-90F1-40F3-BBCF-9D38D5DD0A69}"/>
              </a:ext>
            </a:extLst>
          </p:cNvPr>
          <p:cNvSpPr txBox="1"/>
          <p:nvPr/>
        </p:nvSpPr>
        <p:spPr>
          <a:xfrm>
            <a:off x="6174899" y="3601962"/>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5" name="Group 4">
            <a:extLst>
              <a:ext uri="{FF2B5EF4-FFF2-40B4-BE49-F238E27FC236}">
                <a16:creationId xmlns:a16="http://schemas.microsoft.com/office/drawing/2014/main" id="{D63115C1-6B9D-6F3C-DAF3-4014D47F265D}"/>
              </a:ext>
            </a:extLst>
          </p:cNvPr>
          <p:cNvGrpSpPr/>
          <p:nvPr/>
        </p:nvGrpSpPr>
        <p:grpSpPr>
          <a:xfrm>
            <a:off x="1066800" y="1840625"/>
            <a:ext cx="2209800" cy="3509578"/>
            <a:chOff x="1066800" y="1840625"/>
            <a:chExt cx="2209800" cy="3509578"/>
          </a:xfrm>
        </p:grpSpPr>
        <p:grpSp>
          <p:nvGrpSpPr>
            <p:cNvPr id="9" name="Group 8">
              <a:extLst>
                <a:ext uri="{FF2B5EF4-FFF2-40B4-BE49-F238E27FC236}">
                  <a16:creationId xmlns:a16="http://schemas.microsoft.com/office/drawing/2014/main" id="{A55DFD51-D10F-E59C-3FE7-A47733D68CA8}"/>
                </a:ext>
              </a:extLst>
            </p:cNvPr>
            <p:cNvGrpSpPr/>
            <p:nvPr/>
          </p:nvGrpSpPr>
          <p:grpSpPr>
            <a:xfrm>
              <a:off x="1066800" y="1840625"/>
              <a:ext cx="2209800" cy="2563547"/>
              <a:chOff x="1791834" y="1840625"/>
              <a:chExt cx="2209800" cy="2563547"/>
            </a:xfrm>
          </p:grpSpPr>
          <p:sp>
            <p:nvSpPr>
              <p:cNvPr id="19" name="TextBox 18">
                <a:extLst>
                  <a:ext uri="{FF2B5EF4-FFF2-40B4-BE49-F238E27FC236}">
                    <a16:creationId xmlns:a16="http://schemas.microsoft.com/office/drawing/2014/main" id="{6114A799-D8B6-5B48-2137-8377F1CD7566}"/>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20" name="TextBox 19">
                <a:extLst>
                  <a:ext uri="{FF2B5EF4-FFF2-40B4-BE49-F238E27FC236}">
                    <a16:creationId xmlns:a16="http://schemas.microsoft.com/office/drawing/2014/main" id="{DA6A6B73-8341-0A15-A550-959D86E7EF05}"/>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558F444-49F8-7673-F42B-753F52D7E2AA}"/>
                    </a:ext>
                  </a:extLst>
                </p:cNvPr>
                <p:cNvSpPr txBox="1"/>
                <p:nvPr/>
              </p:nvSpPr>
              <p:spPr>
                <a:xfrm>
                  <a:off x="1879940" y="2390790"/>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11" name="TextBox 10">
                  <a:extLst>
                    <a:ext uri="{FF2B5EF4-FFF2-40B4-BE49-F238E27FC236}">
                      <a16:creationId xmlns:a16="http://schemas.microsoft.com/office/drawing/2014/main" id="{6558F444-49F8-7673-F42B-753F52D7E2AA}"/>
                    </a:ext>
                  </a:extLst>
                </p:cNvPr>
                <p:cNvSpPr txBox="1">
                  <a:spLocks noRot="1" noChangeAspect="1" noMove="1" noResize="1" noEditPoints="1" noAdjustHandles="1" noChangeArrowheads="1" noChangeShapeType="1" noTextEdit="1"/>
                </p:cNvSpPr>
                <p:nvPr/>
              </p:nvSpPr>
              <p:spPr>
                <a:xfrm>
                  <a:off x="1879940" y="2390790"/>
                  <a:ext cx="396194"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7A5FF6F-5CDB-C11D-05F9-E30596595EA8}"/>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3" name="TextBox 12">
                  <a:extLst>
                    <a:ext uri="{FF2B5EF4-FFF2-40B4-BE49-F238E27FC236}">
                      <a16:creationId xmlns:a16="http://schemas.microsoft.com/office/drawing/2014/main" id="{27A5FF6F-5CDB-C11D-05F9-E30596595EA8}"/>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96CCD81-D7A5-EE42-3338-3DC786FFA92F}"/>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4" name="TextBox 13">
                  <a:extLst>
                    <a:ext uri="{FF2B5EF4-FFF2-40B4-BE49-F238E27FC236}">
                      <a16:creationId xmlns:a16="http://schemas.microsoft.com/office/drawing/2014/main" id="{796CCD81-D7A5-EE42-3338-3DC786FFA92F}"/>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1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4230290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err="1">
                <a:ea typeface="ＭＳ Ｐゴシック" panose="020B0600070205080204" pitchFamily="34" charset="-128"/>
              </a:rPr>
              <a:t>Softmax</a:t>
            </a:r>
            <a:endParaRPr lang="zh-CN" altLang="en-US" dirty="0"/>
          </a:p>
        </p:txBody>
      </p:sp>
      <p:grpSp>
        <p:nvGrpSpPr>
          <p:cNvPr id="8" name="Group 7">
            <a:extLst>
              <a:ext uri="{FF2B5EF4-FFF2-40B4-BE49-F238E27FC236}">
                <a16:creationId xmlns:a16="http://schemas.microsoft.com/office/drawing/2014/main" id="{15303700-BC36-4C2C-82A6-5869FC95CFCD}"/>
              </a:ext>
            </a:extLst>
          </p:cNvPr>
          <p:cNvGrpSpPr/>
          <p:nvPr/>
        </p:nvGrpSpPr>
        <p:grpSpPr>
          <a:xfrm>
            <a:off x="4380366" y="1828800"/>
            <a:ext cx="2209800" cy="2766396"/>
            <a:chOff x="5105400" y="1828800"/>
            <a:chExt cx="2209800" cy="2766396"/>
          </a:xfrm>
        </p:grpSpPr>
        <p:sp>
          <p:nvSpPr>
            <p:cNvPr id="17" name="Oval 16">
              <a:extLst>
                <a:ext uri="{FF2B5EF4-FFF2-40B4-BE49-F238E27FC236}">
                  <a16:creationId xmlns:a16="http://schemas.microsoft.com/office/drawing/2014/main" id="{DB19D7CF-20D2-439C-A6A7-6F6593CE48FB}"/>
                </a:ext>
              </a:extLst>
            </p:cNvPr>
            <p:cNvSpPr/>
            <p:nvPr/>
          </p:nvSpPr>
          <p:spPr bwMode="auto">
            <a:xfrm>
              <a:off x="6057900" y="2726463"/>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8" name="Oval 17">
              <a:extLst>
                <a:ext uri="{FF2B5EF4-FFF2-40B4-BE49-F238E27FC236}">
                  <a16:creationId xmlns:a16="http://schemas.microsoft.com/office/drawing/2014/main" id="{DB05A700-1DBD-4DF0-A3B8-474DC31425FC}"/>
                </a:ext>
              </a:extLst>
            </p:cNvPr>
            <p:cNvSpPr/>
            <p:nvPr/>
          </p:nvSpPr>
          <p:spPr bwMode="auto">
            <a:xfrm>
              <a:off x="6057900" y="330442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DA48D8D8-4147-411E-AEF6-30A95A38A3C3}"/>
                </a:ext>
              </a:extLst>
            </p:cNvPr>
            <p:cNvSpPr/>
            <p:nvPr/>
          </p:nvSpPr>
          <p:spPr bwMode="auto">
            <a:xfrm>
              <a:off x="6047015" y="444279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3" name="TextBox 22">
              <a:extLst>
                <a:ext uri="{FF2B5EF4-FFF2-40B4-BE49-F238E27FC236}">
                  <a16:creationId xmlns:a16="http://schemas.microsoft.com/office/drawing/2014/main" id="{C3CB7269-45DE-412E-9CA1-1EDC29E8E76F}"/>
                </a:ext>
              </a:extLst>
            </p:cNvPr>
            <p:cNvSpPr txBox="1"/>
            <p:nvPr/>
          </p:nvSpPr>
          <p:spPr>
            <a:xfrm>
              <a:off x="5105400" y="1828800"/>
              <a:ext cx="2209800" cy="430887"/>
            </a:xfrm>
            <a:prstGeom prst="rect">
              <a:avLst/>
            </a:prstGeom>
            <a:noFill/>
          </p:spPr>
          <p:txBody>
            <a:bodyPr wrap="square" rtlCol="0">
              <a:spAutoFit/>
            </a:bodyPr>
            <a:lstStyle/>
            <a:p>
              <a:pPr algn="ctr"/>
              <a:r>
                <a:rPr lang="zh-CN" altLang="en-US" sz="2200" dirty="0"/>
                <a:t>输出</a:t>
              </a:r>
            </a:p>
          </p:txBody>
        </p:sp>
        <p:sp>
          <p:nvSpPr>
            <p:cNvPr id="29" name="TextBox 28">
              <a:extLst>
                <a:ext uri="{FF2B5EF4-FFF2-40B4-BE49-F238E27FC236}">
                  <a16:creationId xmlns:a16="http://schemas.microsoft.com/office/drawing/2014/main" id="{6D4CD088-DBF1-4098-9A0C-FFECDC2445D2}"/>
                </a:ext>
              </a:extLst>
            </p:cNvPr>
            <p:cNvSpPr txBox="1"/>
            <p:nvPr/>
          </p:nvSpPr>
          <p:spPr>
            <a:xfrm>
              <a:off x="5923392" y="3733799"/>
              <a:ext cx="738664" cy="430887"/>
            </a:xfrm>
            <a:prstGeom prst="rect">
              <a:avLst/>
            </a:prstGeom>
            <a:noFill/>
          </p:spPr>
          <p:txBody>
            <a:bodyPr vert="eaVert" wrap="square" rtlCol="0">
              <a:spAutoFit/>
            </a:bodyPr>
            <a:lstStyle/>
            <a:p>
              <a:r>
                <a:rPr lang="en-US" altLang="zh-CN" sz="3600" dirty="0"/>
                <a:t>…</a:t>
              </a:r>
              <a:endParaRPr lang="zh-CN" altLang="en-US" sz="3600" dirty="0"/>
            </a:p>
          </p:txBody>
        </p:sp>
      </p:grpSp>
      <p:cxnSp>
        <p:nvCxnSpPr>
          <p:cNvPr id="10" name="Straight Arrow Connector 9">
            <a:extLst>
              <a:ext uri="{FF2B5EF4-FFF2-40B4-BE49-F238E27FC236}">
                <a16:creationId xmlns:a16="http://schemas.microsoft.com/office/drawing/2014/main" id="{594545FB-AA7A-4D30-966A-C25F00259E82}"/>
              </a:ext>
            </a:extLst>
          </p:cNvPr>
          <p:cNvCxnSpPr>
            <a:cxnSpLocks/>
            <a:endCxn id="17" idx="2"/>
          </p:cNvCxnSpPr>
          <p:nvPr/>
        </p:nvCxnSpPr>
        <p:spPr bwMode="auto">
          <a:xfrm>
            <a:off x="2230437" y="2618626"/>
            <a:ext cx="3102429" cy="1840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C01FF7E8-D04C-4648-9CBB-D073ED6E902C}"/>
              </a:ext>
            </a:extLst>
          </p:cNvPr>
          <p:cNvCxnSpPr>
            <a:cxnSpLocks/>
            <a:endCxn id="17" idx="3"/>
          </p:cNvCxnSpPr>
          <p:nvPr/>
        </p:nvCxnSpPr>
        <p:spPr bwMode="auto">
          <a:xfrm flipV="1">
            <a:off x="2230437" y="2856545"/>
            <a:ext cx="3124747" cy="2732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F7780B09-EF63-49A7-8420-9B19710A3FF7}"/>
              </a:ext>
            </a:extLst>
          </p:cNvPr>
          <p:cNvCxnSpPr>
            <a:cxnSpLocks/>
            <a:endCxn id="17" idx="3"/>
          </p:cNvCxnSpPr>
          <p:nvPr/>
        </p:nvCxnSpPr>
        <p:spPr bwMode="auto">
          <a:xfrm flipV="1">
            <a:off x="2241323" y="2856545"/>
            <a:ext cx="3113861" cy="232666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4BA9B9DD-3175-4A2A-A2DB-F1427FB5D393}"/>
              </a:ext>
            </a:extLst>
          </p:cNvPr>
          <p:cNvCxnSpPr>
            <a:cxnSpLocks/>
            <a:stCxn id="17" idx="6"/>
          </p:cNvCxnSpPr>
          <p:nvPr/>
        </p:nvCxnSpPr>
        <p:spPr bwMode="auto">
          <a:xfrm>
            <a:off x="5485266" y="2802663"/>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Straight Arrow Connector 23">
            <a:extLst>
              <a:ext uri="{FF2B5EF4-FFF2-40B4-BE49-F238E27FC236}">
                <a16:creationId xmlns:a16="http://schemas.microsoft.com/office/drawing/2014/main" id="{F6B0FD05-E51E-49F9-B829-5A7BB253429D}"/>
              </a:ext>
            </a:extLst>
          </p:cNvPr>
          <p:cNvCxnSpPr>
            <a:cxnSpLocks/>
            <a:endCxn id="18" idx="2"/>
          </p:cNvCxnSpPr>
          <p:nvPr/>
        </p:nvCxnSpPr>
        <p:spPr bwMode="auto">
          <a:xfrm>
            <a:off x="2230437" y="2618626"/>
            <a:ext cx="3102429" cy="762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63DD79A-CA35-498D-8A28-10F2446EEC06}"/>
              </a:ext>
            </a:extLst>
          </p:cNvPr>
          <p:cNvCxnSpPr>
            <a:cxnSpLocks/>
            <a:endCxn id="18" idx="2"/>
          </p:cNvCxnSpPr>
          <p:nvPr/>
        </p:nvCxnSpPr>
        <p:spPr bwMode="auto">
          <a:xfrm>
            <a:off x="2230437" y="3129806"/>
            <a:ext cx="3102429" cy="25082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CD9030E4-AFF6-4634-92D3-7341BC7076B1}"/>
              </a:ext>
            </a:extLst>
          </p:cNvPr>
          <p:cNvCxnSpPr>
            <a:cxnSpLocks/>
            <a:endCxn id="18" idx="2"/>
          </p:cNvCxnSpPr>
          <p:nvPr/>
        </p:nvCxnSpPr>
        <p:spPr bwMode="auto">
          <a:xfrm flipV="1">
            <a:off x="2241323" y="3380626"/>
            <a:ext cx="3091543" cy="180258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5F44DD87-0735-41A2-89AD-5BD3A6661BC8}"/>
              </a:ext>
            </a:extLst>
          </p:cNvPr>
          <p:cNvSpPr txBox="1"/>
          <p:nvPr/>
        </p:nvSpPr>
        <p:spPr>
          <a:xfrm>
            <a:off x="3004888" y="3804434"/>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2" name="Straight Arrow Connector 41">
            <a:extLst>
              <a:ext uri="{FF2B5EF4-FFF2-40B4-BE49-F238E27FC236}">
                <a16:creationId xmlns:a16="http://schemas.microsoft.com/office/drawing/2014/main" id="{63592012-1FFA-4F81-9AC9-741087E33B1F}"/>
              </a:ext>
            </a:extLst>
          </p:cNvPr>
          <p:cNvCxnSpPr>
            <a:cxnSpLocks/>
          </p:cNvCxnSpPr>
          <p:nvPr/>
        </p:nvCxnSpPr>
        <p:spPr bwMode="auto">
          <a:xfrm>
            <a:off x="5498872" y="3393740"/>
            <a:ext cx="25021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27DD912E-2A92-40F7-A3E2-D86657F237DA}"/>
              </a:ext>
            </a:extLst>
          </p:cNvPr>
          <p:cNvCxnSpPr>
            <a:cxnSpLocks/>
            <a:endCxn id="22" idx="2"/>
          </p:cNvCxnSpPr>
          <p:nvPr/>
        </p:nvCxnSpPr>
        <p:spPr bwMode="auto">
          <a:xfrm>
            <a:off x="2230437" y="2618626"/>
            <a:ext cx="3091544" cy="190037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35764DC8-DDD3-4F6D-80B7-67BCC21FE942}"/>
              </a:ext>
            </a:extLst>
          </p:cNvPr>
          <p:cNvCxnSpPr>
            <a:cxnSpLocks/>
            <a:endCxn id="22" idx="3"/>
          </p:cNvCxnSpPr>
          <p:nvPr/>
        </p:nvCxnSpPr>
        <p:spPr bwMode="auto">
          <a:xfrm>
            <a:off x="2208119" y="3183688"/>
            <a:ext cx="3136180" cy="138919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CFAEBA02-33E1-48EC-BD41-5F0423D701AF}"/>
              </a:ext>
            </a:extLst>
          </p:cNvPr>
          <p:cNvCxnSpPr>
            <a:cxnSpLocks/>
            <a:endCxn id="22" idx="3"/>
          </p:cNvCxnSpPr>
          <p:nvPr/>
        </p:nvCxnSpPr>
        <p:spPr bwMode="auto">
          <a:xfrm flipV="1">
            <a:off x="2241323" y="4572878"/>
            <a:ext cx="3102976" cy="6103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Straight Arrow Connector 35">
            <a:extLst>
              <a:ext uri="{FF2B5EF4-FFF2-40B4-BE49-F238E27FC236}">
                <a16:creationId xmlns:a16="http://schemas.microsoft.com/office/drawing/2014/main" id="{F4EB6942-19B2-43CD-B966-822CF2E9A3E5}"/>
              </a:ext>
            </a:extLst>
          </p:cNvPr>
          <p:cNvCxnSpPr>
            <a:cxnSpLocks/>
          </p:cNvCxnSpPr>
          <p:nvPr/>
        </p:nvCxnSpPr>
        <p:spPr bwMode="auto">
          <a:xfrm>
            <a:off x="5485266" y="4518996"/>
            <a:ext cx="251573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Rectangle 11">
            <a:extLst>
              <a:ext uri="{FF2B5EF4-FFF2-40B4-BE49-F238E27FC236}">
                <a16:creationId xmlns:a16="http://schemas.microsoft.com/office/drawing/2014/main" id="{A6B342BB-198C-4E80-8FC7-7BCB2ED8F252}"/>
              </a:ext>
            </a:extLst>
          </p:cNvPr>
          <p:cNvSpPr/>
          <p:nvPr/>
        </p:nvSpPr>
        <p:spPr bwMode="auto">
          <a:xfrm>
            <a:off x="5105400" y="2362200"/>
            <a:ext cx="2515734" cy="259239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6436C84-FAE1-4239-8BDF-E131703AF671}"/>
                  </a:ext>
                </a:extLst>
              </p:cNvPr>
              <p:cNvSpPr txBox="1"/>
              <p:nvPr/>
            </p:nvSpPr>
            <p:spPr>
              <a:xfrm>
                <a:off x="4816656" y="2272152"/>
                <a:ext cx="3276600" cy="50674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(1)</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m:t>
                              </m:r>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1</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1</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38" name="TextBox 37">
                <a:extLst>
                  <a:ext uri="{FF2B5EF4-FFF2-40B4-BE49-F238E27FC236}">
                    <a16:creationId xmlns:a16="http://schemas.microsoft.com/office/drawing/2014/main" id="{06436C84-FAE1-4239-8BDF-E131703AF671}"/>
                  </a:ext>
                </a:extLst>
              </p:cNvPr>
              <p:cNvSpPr txBox="1">
                <a:spLocks noRot="1" noChangeAspect="1" noMove="1" noResize="1" noEditPoints="1" noAdjustHandles="1" noChangeArrowheads="1" noChangeShapeType="1" noTextEdit="1"/>
              </p:cNvSpPr>
              <p:nvPr/>
            </p:nvSpPr>
            <p:spPr>
              <a:xfrm>
                <a:off x="4816656" y="2272152"/>
                <a:ext cx="3276600" cy="50674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B651C34-EE90-4EB2-82FD-000F880F11F6}"/>
                  </a:ext>
                </a:extLst>
              </p:cNvPr>
              <p:cNvSpPr txBox="1"/>
              <p:nvPr/>
            </p:nvSpPr>
            <p:spPr>
              <a:xfrm>
                <a:off x="4785679" y="2837206"/>
                <a:ext cx="3276600" cy="50674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(2)</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m:t>
                              </m:r>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2</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2</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39" name="TextBox 38">
                <a:extLst>
                  <a:ext uri="{FF2B5EF4-FFF2-40B4-BE49-F238E27FC236}">
                    <a16:creationId xmlns:a16="http://schemas.microsoft.com/office/drawing/2014/main" id="{AB651C34-EE90-4EB2-82FD-000F880F11F6}"/>
                  </a:ext>
                </a:extLst>
              </p:cNvPr>
              <p:cNvSpPr txBox="1">
                <a:spLocks noRot="1" noChangeAspect="1" noMove="1" noResize="1" noEditPoints="1" noAdjustHandles="1" noChangeArrowheads="1" noChangeShapeType="1" noTextEdit="1"/>
              </p:cNvSpPr>
              <p:nvPr/>
            </p:nvSpPr>
            <p:spPr>
              <a:xfrm>
                <a:off x="4785679" y="2837206"/>
                <a:ext cx="3276600" cy="50674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B7D0B53-CC11-44C8-BF81-83CF5010022B}"/>
                  </a:ext>
                </a:extLst>
              </p:cNvPr>
              <p:cNvSpPr txBox="1"/>
              <p:nvPr/>
            </p:nvSpPr>
            <p:spPr>
              <a:xfrm>
                <a:off x="4805770" y="4004118"/>
                <a:ext cx="3276600" cy="51571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𝑔</m:t>
                          </m:r>
                        </m:e>
                        <m:sup>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𝑘</m:t>
                          </m:r>
                          <m:r>
                            <a:rPr lang="en-US" altLang="zh-CN" sz="2200" b="0" i="1" smtClean="0">
                              <a:latin typeface="Cambria Math" panose="02040503050406030204" pitchFamily="18" charset="0"/>
                            </a:rPr>
                            <m:t>)</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𝑒</m:t>
                          </m:r>
                        </m:e>
                        <m: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1" i="0" smtClean="0">
                                  <a:latin typeface="Cambria Math" panose="02040503050406030204" pitchFamily="18" charset="0"/>
                                </a:rPr>
                                <m:t>𝐰</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𝑘</m:t>
                                  </m:r>
                                </m:e>
                              </m:d>
                            </m:sup>
                          </m:sSup>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sSup>
                            <m:sSupPr>
                              <m:ctrlPr>
                                <a:rPr lang="en-US" altLang="zh-CN" sz="2200" b="0" i="1" smtClean="0">
                                  <a:latin typeface="Cambria Math" panose="02040503050406030204" pitchFamily="18" charset="0"/>
                                  <a:ea typeface="Cambria Math" panose="02040503050406030204" pitchFamily="18" charset="0"/>
                                </a:rPr>
                              </m:ctrlPr>
                            </m:sSupPr>
                            <m:e>
                              <m:r>
                                <a:rPr lang="en-US" altLang="zh-CN" sz="2200" b="0" i="1" smtClean="0">
                                  <a:latin typeface="Cambria Math" panose="02040503050406030204" pitchFamily="18" charset="0"/>
                                  <a:ea typeface="Cambria Math" panose="02040503050406030204" pitchFamily="18" charset="0"/>
                                </a:rPr>
                                <m:t>𝑏</m:t>
                              </m:r>
                            </m:e>
                            <m:sup>
                              <m:d>
                                <m:dPr>
                                  <m:ctrlPr>
                                    <a:rPr lang="en-US" altLang="zh-CN" sz="2200" b="0" i="1" smtClean="0">
                                      <a:latin typeface="Cambria Math" panose="02040503050406030204" pitchFamily="18" charset="0"/>
                                      <a:ea typeface="Cambria Math" panose="02040503050406030204" pitchFamily="18" charset="0"/>
                                    </a:rPr>
                                  </m:ctrlPr>
                                </m:dPr>
                                <m:e>
                                  <m:r>
                                    <a:rPr lang="en-US" altLang="zh-CN" sz="2200" b="0" i="1" smtClean="0">
                                      <a:latin typeface="Cambria Math" panose="02040503050406030204" pitchFamily="18" charset="0"/>
                                      <a:ea typeface="Cambria Math" panose="02040503050406030204" pitchFamily="18" charset="0"/>
                                    </a:rPr>
                                    <m:t>𝑘</m:t>
                                  </m:r>
                                </m:e>
                              </m:d>
                            </m:sup>
                          </m:sSup>
                          <m:r>
                            <a:rPr lang="en-US" altLang="zh-CN" sz="2200" b="0" i="1" smtClean="0">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41" name="TextBox 40">
                <a:extLst>
                  <a:ext uri="{FF2B5EF4-FFF2-40B4-BE49-F238E27FC236}">
                    <a16:creationId xmlns:a16="http://schemas.microsoft.com/office/drawing/2014/main" id="{CB7D0B53-CC11-44C8-BF81-83CF5010022B}"/>
                  </a:ext>
                </a:extLst>
              </p:cNvPr>
              <p:cNvSpPr txBox="1">
                <a:spLocks noRot="1" noChangeAspect="1" noMove="1" noResize="1" noEditPoints="1" noAdjustHandles="1" noChangeArrowheads="1" noChangeShapeType="1" noTextEdit="1"/>
              </p:cNvSpPr>
              <p:nvPr/>
            </p:nvSpPr>
            <p:spPr>
              <a:xfrm>
                <a:off x="4805770" y="4004118"/>
                <a:ext cx="3276600" cy="51571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FF5F187-1CD5-432B-9499-923FBD3FBE06}"/>
                  </a:ext>
                </a:extLst>
              </p:cNvPr>
              <p:cNvSpPr txBox="1"/>
              <p:nvPr/>
            </p:nvSpPr>
            <p:spPr>
              <a:xfrm>
                <a:off x="8001000" y="1812069"/>
                <a:ext cx="1185136" cy="88562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(1)</m:t>
                              </m:r>
                            </m:sup>
                          </m:sSup>
                        </m:num>
                        <m:den>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𝑘</m:t>
                              </m:r>
                            </m:sup>
                            <m:e>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i="1">
                                      <a:latin typeface="Cambria Math" panose="02040503050406030204" pitchFamily="18" charset="0"/>
                                    </a:rPr>
                                    <m:t>𝑖</m:t>
                                  </m:r>
                                  <m:r>
                                    <a:rPr lang="en-US" altLang="zh-CN" sz="2200" i="1">
                                      <a:latin typeface="Cambria Math" panose="02040503050406030204" pitchFamily="18" charset="0"/>
                                    </a:rPr>
                                    <m:t>)</m:t>
                                  </m:r>
                                </m:sup>
                              </m:sSup>
                            </m:e>
                          </m:nary>
                        </m:den>
                      </m:f>
                    </m:oMath>
                  </m:oMathPara>
                </a14:m>
                <a:endParaRPr lang="zh-CN" altLang="en-US" sz="2200" dirty="0"/>
              </a:p>
            </p:txBody>
          </p:sp>
        </mc:Choice>
        <mc:Fallback xmlns="">
          <p:sp>
            <p:nvSpPr>
              <p:cNvPr id="37" name="TextBox 36">
                <a:extLst>
                  <a:ext uri="{FF2B5EF4-FFF2-40B4-BE49-F238E27FC236}">
                    <a16:creationId xmlns:a16="http://schemas.microsoft.com/office/drawing/2014/main" id="{7FF5F187-1CD5-432B-9499-923FBD3FBE06}"/>
                  </a:ext>
                </a:extLst>
              </p:cNvPr>
              <p:cNvSpPr txBox="1">
                <a:spLocks noRot="1" noChangeAspect="1" noMove="1" noResize="1" noEditPoints="1" noAdjustHandles="1" noChangeArrowheads="1" noChangeShapeType="1" noTextEdit="1"/>
              </p:cNvSpPr>
              <p:nvPr/>
            </p:nvSpPr>
            <p:spPr>
              <a:xfrm>
                <a:off x="8001000" y="1812069"/>
                <a:ext cx="1185136" cy="88562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B575749-1953-4C08-9B70-7C1E554D4064}"/>
                  </a:ext>
                </a:extLst>
              </p:cNvPr>
              <p:cNvSpPr txBox="1"/>
              <p:nvPr/>
            </p:nvSpPr>
            <p:spPr>
              <a:xfrm>
                <a:off x="8029622" y="2694826"/>
                <a:ext cx="1185136" cy="88562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b="0" i="1" smtClean="0">
                                  <a:latin typeface="Cambria Math" panose="02040503050406030204" pitchFamily="18" charset="0"/>
                                </a:rPr>
                                <m:t>2</m:t>
                              </m:r>
                              <m:r>
                                <a:rPr lang="en-US" altLang="zh-CN" sz="2200" i="1">
                                  <a:latin typeface="Cambria Math" panose="02040503050406030204" pitchFamily="18" charset="0"/>
                                </a:rPr>
                                <m:t>)</m:t>
                              </m:r>
                            </m:sup>
                          </m:sSup>
                        </m:num>
                        <m:den>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𝑘</m:t>
                              </m:r>
                            </m:sup>
                            <m:e>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i="1">
                                      <a:latin typeface="Cambria Math" panose="02040503050406030204" pitchFamily="18" charset="0"/>
                                    </a:rPr>
                                    <m:t>𝑖</m:t>
                                  </m:r>
                                  <m:r>
                                    <a:rPr lang="en-US" altLang="zh-CN" sz="2200" i="1">
                                      <a:latin typeface="Cambria Math" panose="02040503050406030204" pitchFamily="18" charset="0"/>
                                    </a:rPr>
                                    <m:t>)</m:t>
                                  </m:r>
                                </m:sup>
                              </m:sSup>
                            </m:e>
                          </m:nary>
                        </m:den>
                      </m:f>
                    </m:oMath>
                  </m:oMathPara>
                </a14:m>
                <a:endParaRPr lang="zh-CN" altLang="en-US" sz="2200" dirty="0"/>
              </a:p>
            </p:txBody>
          </p:sp>
        </mc:Choice>
        <mc:Fallback xmlns="">
          <p:sp>
            <p:nvSpPr>
              <p:cNvPr id="43" name="TextBox 42">
                <a:extLst>
                  <a:ext uri="{FF2B5EF4-FFF2-40B4-BE49-F238E27FC236}">
                    <a16:creationId xmlns:a16="http://schemas.microsoft.com/office/drawing/2014/main" id="{3B575749-1953-4C08-9B70-7C1E554D4064}"/>
                  </a:ext>
                </a:extLst>
              </p:cNvPr>
              <p:cNvSpPr txBox="1">
                <a:spLocks noRot="1" noChangeAspect="1" noMove="1" noResize="1" noEditPoints="1" noAdjustHandles="1" noChangeArrowheads="1" noChangeShapeType="1" noTextEdit="1"/>
              </p:cNvSpPr>
              <p:nvPr/>
            </p:nvSpPr>
            <p:spPr>
              <a:xfrm>
                <a:off x="8029622" y="2694826"/>
                <a:ext cx="1185136" cy="88562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C602490A-EFA1-4CB3-91A7-F05EF67F756F}"/>
                  </a:ext>
                </a:extLst>
              </p:cNvPr>
              <p:cNvSpPr txBox="1"/>
              <p:nvPr/>
            </p:nvSpPr>
            <p:spPr>
              <a:xfrm>
                <a:off x="8044543" y="4053557"/>
                <a:ext cx="1185136" cy="88562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b="0" i="1" smtClean="0">
                                  <a:latin typeface="Cambria Math" panose="02040503050406030204" pitchFamily="18" charset="0"/>
                                </a:rPr>
                                <m:t>𝑘</m:t>
                              </m:r>
                              <m:r>
                                <a:rPr lang="en-US" altLang="zh-CN" sz="2200" i="1">
                                  <a:latin typeface="Cambria Math" panose="02040503050406030204" pitchFamily="18" charset="0"/>
                                </a:rPr>
                                <m:t>)</m:t>
                              </m:r>
                            </m:sup>
                          </m:sSup>
                        </m:num>
                        <m:den>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𝑘</m:t>
                              </m:r>
                            </m:sup>
                            <m:e>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𝑔</m:t>
                                  </m:r>
                                </m:e>
                                <m:sup>
                                  <m:r>
                                    <a:rPr lang="en-US" altLang="zh-CN" sz="2200" i="1">
                                      <a:latin typeface="Cambria Math" panose="02040503050406030204" pitchFamily="18" charset="0"/>
                                    </a:rPr>
                                    <m:t>(</m:t>
                                  </m:r>
                                  <m:r>
                                    <a:rPr lang="en-US" altLang="zh-CN" sz="2200" i="1">
                                      <a:latin typeface="Cambria Math" panose="02040503050406030204" pitchFamily="18" charset="0"/>
                                    </a:rPr>
                                    <m:t>𝑖</m:t>
                                  </m:r>
                                  <m:r>
                                    <a:rPr lang="en-US" altLang="zh-CN" sz="2200" i="1">
                                      <a:latin typeface="Cambria Math" panose="02040503050406030204" pitchFamily="18" charset="0"/>
                                    </a:rPr>
                                    <m:t>)</m:t>
                                  </m:r>
                                </m:sup>
                              </m:sSup>
                            </m:e>
                          </m:nary>
                        </m:den>
                      </m:f>
                    </m:oMath>
                  </m:oMathPara>
                </a14:m>
                <a:endParaRPr lang="zh-CN" altLang="en-US" sz="2200" dirty="0"/>
              </a:p>
            </p:txBody>
          </p:sp>
        </mc:Choice>
        <mc:Fallback xmlns="">
          <p:sp>
            <p:nvSpPr>
              <p:cNvPr id="45" name="TextBox 44">
                <a:extLst>
                  <a:ext uri="{FF2B5EF4-FFF2-40B4-BE49-F238E27FC236}">
                    <a16:creationId xmlns:a16="http://schemas.microsoft.com/office/drawing/2014/main" id="{C602490A-EFA1-4CB3-91A7-F05EF67F756F}"/>
                  </a:ext>
                </a:extLst>
              </p:cNvPr>
              <p:cNvSpPr txBox="1">
                <a:spLocks noRot="1" noChangeAspect="1" noMove="1" noResize="1" noEditPoints="1" noAdjustHandles="1" noChangeArrowheads="1" noChangeShapeType="1" noTextEdit="1"/>
              </p:cNvSpPr>
              <p:nvPr/>
            </p:nvSpPr>
            <p:spPr>
              <a:xfrm>
                <a:off x="8044543" y="4053557"/>
                <a:ext cx="1185136" cy="885627"/>
              </a:xfrm>
              <a:prstGeom prst="rect">
                <a:avLst/>
              </a:prstGeom>
              <a:blipFill>
                <a:blip r:embed="rId10"/>
                <a:stretch>
                  <a:fillRect/>
                </a:stretch>
              </a:blipFill>
            </p:spPr>
            <p:txBody>
              <a:bodyPr/>
              <a:lstStyle/>
              <a:p>
                <a:r>
                  <a:rPr lang="zh-CN" altLang="en-US">
                    <a:noFill/>
                  </a:rPr>
                  <a:t> </a:t>
                </a:r>
              </a:p>
            </p:txBody>
          </p:sp>
        </mc:Fallback>
      </mc:AlternateContent>
      <p:sp>
        <p:nvSpPr>
          <p:cNvPr id="46" name="TextBox 45">
            <a:extLst>
              <a:ext uri="{FF2B5EF4-FFF2-40B4-BE49-F238E27FC236}">
                <a16:creationId xmlns:a16="http://schemas.microsoft.com/office/drawing/2014/main" id="{B44DE1BD-99A2-458F-9CA9-0C0E13430764}"/>
              </a:ext>
            </a:extLst>
          </p:cNvPr>
          <p:cNvSpPr txBox="1"/>
          <p:nvPr/>
        </p:nvSpPr>
        <p:spPr>
          <a:xfrm>
            <a:off x="8201251" y="3684579"/>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47" name="TextBox 46">
            <a:extLst>
              <a:ext uri="{FF2B5EF4-FFF2-40B4-BE49-F238E27FC236}">
                <a16:creationId xmlns:a16="http://schemas.microsoft.com/office/drawing/2014/main" id="{849F1BA1-442C-4D3A-B4FB-5D9651D2E2AE}"/>
              </a:ext>
            </a:extLst>
          </p:cNvPr>
          <p:cNvSpPr txBox="1"/>
          <p:nvPr/>
        </p:nvSpPr>
        <p:spPr>
          <a:xfrm>
            <a:off x="6174899" y="3601962"/>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5" name="Group 4">
            <a:extLst>
              <a:ext uri="{FF2B5EF4-FFF2-40B4-BE49-F238E27FC236}">
                <a16:creationId xmlns:a16="http://schemas.microsoft.com/office/drawing/2014/main" id="{9AC26E44-B1D3-9515-7E96-91842243DB69}"/>
              </a:ext>
            </a:extLst>
          </p:cNvPr>
          <p:cNvGrpSpPr/>
          <p:nvPr/>
        </p:nvGrpSpPr>
        <p:grpSpPr>
          <a:xfrm>
            <a:off x="1066800" y="1840625"/>
            <a:ext cx="2209800" cy="3509578"/>
            <a:chOff x="1066800" y="1840625"/>
            <a:chExt cx="2209800" cy="3509578"/>
          </a:xfrm>
        </p:grpSpPr>
        <p:grpSp>
          <p:nvGrpSpPr>
            <p:cNvPr id="9" name="Group 8">
              <a:extLst>
                <a:ext uri="{FF2B5EF4-FFF2-40B4-BE49-F238E27FC236}">
                  <a16:creationId xmlns:a16="http://schemas.microsoft.com/office/drawing/2014/main" id="{145FF8B7-BC48-0330-239A-AD0C61D26100}"/>
                </a:ext>
              </a:extLst>
            </p:cNvPr>
            <p:cNvGrpSpPr/>
            <p:nvPr/>
          </p:nvGrpSpPr>
          <p:grpSpPr>
            <a:xfrm>
              <a:off x="1066800" y="1840625"/>
              <a:ext cx="2209800" cy="2563547"/>
              <a:chOff x="1791834" y="1840625"/>
              <a:chExt cx="2209800" cy="2563547"/>
            </a:xfrm>
          </p:grpSpPr>
          <p:sp>
            <p:nvSpPr>
              <p:cNvPr id="19" name="TextBox 18">
                <a:extLst>
                  <a:ext uri="{FF2B5EF4-FFF2-40B4-BE49-F238E27FC236}">
                    <a16:creationId xmlns:a16="http://schemas.microsoft.com/office/drawing/2014/main" id="{61E92A24-03E5-1375-7E6D-B170C0DAE120}"/>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20" name="TextBox 19">
                <a:extLst>
                  <a:ext uri="{FF2B5EF4-FFF2-40B4-BE49-F238E27FC236}">
                    <a16:creationId xmlns:a16="http://schemas.microsoft.com/office/drawing/2014/main" id="{1BEB1188-FCCE-4294-F632-2CBE82565954}"/>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7E90E05-4556-CF5C-C85D-EDF229E81E2D}"/>
                    </a:ext>
                  </a:extLst>
                </p:cNvPr>
                <p:cNvSpPr txBox="1"/>
                <p:nvPr/>
              </p:nvSpPr>
              <p:spPr>
                <a:xfrm>
                  <a:off x="1879940" y="2390790"/>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11" name="TextBox 10">
                  <a:extLst>
                    <a:ext uri="{FF2B5EF4-FFF2-40B4-BE49-F238E27FC236}">
                      <a16:creationId xmlns:a16="http://schemas.microsoft.com/office/drawing/2014/main" id="{A7E90E05-4556-CF5C-C85D-EDF229E81E2D}"/>
                    </a:ext>
                  </a:extLst>
                </p:cNvPr>
                <p:cNvSpPr txBox="1">
                  <a:spLocks noRot="1" noChangeAspect="1" noMove="1" noResize="1" noEditPoints="1" noAdjustHandles="1" noChangeArrowheads="1" noChangeShapeType="1" noTextEdit="1"/>
                </p:cNvSpPr>
                <p:nvPr/>
              </p:nvSpPr>
              <p:spPr>
                <a:xfrm>
                  <a:off x="1879940" y="2390790"/>
                  <a:ext cx="396194"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8002B60-948B-02D3-D660-5D33C1190904}"/>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3" name="TextBox 12">
                  <a:extLst>
                    <a:ext uri="{FF2B5EF4-FFF2-40B4-BE49-F238E27FC236}">
                      <a16:creationId xmlns:a16="http://schemas.microsoft.com/office/drawing/2014/main" id="{C8002B60-948B-02D3-D660-5D33C1190904}"/>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93EEF2C-04B0-0EE7-96DB-1F5DC7C87AEC}"/>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4" name="TextBox 13">
                  <a:extLst>
                    <a:ext uri="{FF2B5EF4-FFF2-40B4-BE49-F238E27FC236}">
                      <a16:creationId xmlns:a16="http://schemas.microsoft.com/office/drawing/2014/main" id="{493EEF2C-04B0-0EE7-96DB-1F5DC7C87AEC}"/>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13"/>
                  <a:stretch>
                    <a:fillRect/>
                  </a:stretch>
                </a:blipFill>
              </p:spPr>
              <p:txBody>
                <a:bodyPr/>
                <a:lstStyle/>
                <a:p>
                  <a:r>
                    <a:rPr lang="en-US">
                      <a:noFill/>
                    </a:rPr>
                    <a:t> </a:t>
                  </a:r>
                </a:p>
              </p:txBody>
            </p:sp>
          </mc:Fallback>
        </mc:AlternateContent>
      </p:grpSp>
      <p:sp>
        <p:nvSpPr>
          <p:cNvPr id="21" name="TextBox 20">
            <a:extLst>
              <a:ext uri="{FF2B5EF4-FFF2-40B4-BE49-F238E27FC236}">
                <a16:creationId xmlns:a16="http://schemas.microsoft.com/office/drawing/2014/main" id="{F747D6F7-3E4D-C0E3-1440-62DBD17AF725}"/>
              </a:ext>
            </a:extLst>
          </p:cNvPr>
          <p:cNvSpPr txBox="1"/>
          <p:nvPr/>
        </p:nvSpPr>
        <p:spPr>
          <a:xfrm>
            <a:off x="1123121" y="5588913"/>
            <a:ext cx="6902677" cy="430887"/>
          </a:xfrm>
          <a:prstGeom prst="rect">
            <a:avLst/>
          </a:prstGeom>
          <a:noFill/>
        </p:spPr>
        <p:txBody>
          <a:bodyPr wrap="square" rtlCol="0">
            <a:spAutoFit/>
          </a:bodyPr>
          <a:lstStyle/>
          <a:p>
            <a:pPr algn="ctr"/>
            <a:r>
              <a:rPr lang="zh-CN" altLang="en-US" sz="2200" dirty="0"/>
              <a:t>这样我们就得到了每一个类别的概率</a:t>
            </a:r>
          </a:p>
        </p:txBody>
      </p:sp>
    </p:spTree>
    <p:extLst>
      <p:ext uri="{BB962C8B-B14F-4D97-AF65-F5344CB8AC3E}">
        <p14:creationId xmlns:p14="http://schemas.microsoft.com/office/powerpoint/2010/main" val="28118786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E7E54-E704-47E8-EC4E-754EA5739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6150A-0755-DB35-E61A-B44BC578C0F5}"/>
              </a:ext>
            </a:extLst>
          </p:cNvPr>
          <p:cNvSpPr>
            <a:spLocks noGrp="1"/>
          </p:cNvSpPr>
          <p:nvPr>
            <p:ph type="title"/>
          </p:nvPr>
        </p:nvSpPr>
        <p:spPr/>
        <p:txBody>
          <a:bodyPr/>
          <a:lstStyle/>
          <a:p>
            <a:r>
              <a:rPr lang="zh-CN" altLang="en-US" dirty="0">
                <a:ea typeface="ＭＳ Ｐゴシック" panose="020B0600070205080204" pitchFamily="34" charset="-128"/>
              </a:rPr>
              <a:t>手写邮政编码识别的效果</a:t>
            </a:r>
            <a:endParaRPr lang="zh-CN" altLang="en-US" dirty="0"/>
          </a:p>
        </p:txBody>
      </p:sp>
      <p:sp>
        <p:nvSpPr>
          <p:cNvPr id="3" name="Content Placeholder 2">
            <a:extLst>
              <a:ext uri="{FF2B5EF4-FFF2-40B4-BE49-F238E27FC236}">
                <a16:creationId xmlns:a16="http://schemas.microsoft.com/office/drawing/2014/main" id="{C677AD1B-8499-6B2A-A38A-FF2E9CF8213C}"/>
              </a:ext>
            </a:extLst>
          </p:cNvPr>
          <p:cNvSpPr>
            <a:spLocks noGrp="1"/>
          </p:cNvSpPr>
          <p:nvPr>
            <p:ph idx="1"/>
          </p:nvPr>
        </p:nvSpPr>
        <p:spPr>
          <a:xfrm>
            <a:off x="762000" y="1600200"/>
            <a:ext cx="7772400" cy="5486400"/>
          </a:xfrm>
        </p:spPr>
        <p:txBody>
          <a:bodyPr>
            <a:normAutofit/>
          </a:bodyPr>
          <a:lstStyle/>
          <a:p>
            <a:r>
              <a:rPr lang="zh-CN" altLang="en-US" dirty="0"/>
              <a:t>使用</a:t>
            </a:r>
            <a:r>
              <a:rPr lang="en-US" altLang="zh-CN" dirty="0"/>
              <a:t>Logistic Regression</a:t>
            </a:r>
          </a:p>
          <a:p>
            <a:pPr lvl="1"/>
            <a:r>
              <a:rPr lang="zh-CN" altLang="en-US" dirty="0"/>
              <a:t>获得</a:t>
            </a:r>
            <a:r>
              <a:rPr lang="en-US" altLang="zh-CN" dirty="0"/>
              <a:t>91.6%</a:t>
            </a:r>
            <a:r>
              <a:rPr lang="zh-CN" altLang="en-US" dirty="0"/>
              <a:t>的准确率</a:t>
            </a:r>
            <a:endParaRPr lang="en-US" altLang="zh-CN" dirty="0"/>
          </a:p>
          <a:p>
            <a:pPr lvl="2"/>
            <a:r>
              <a:rPr lang="zh-CN" altLang="en-US" dirty="0"/>
              <a:t>最基础的线性分类模型获得还算不错的结果</a:t>
            </a:r>
            <a:endParaRPr lang="en-US" altLang="zh-CN" dirty="0"/>
          </a:p>
          <a:p>
            <a:r>
              <a:rPr lang="zh-CN" altLang="en-US" dirty="0"/>
              <a:t>当然这个分类问题并不难</a:t>
            </a:r>
            <a:endParaRPr lang="en-US" altLang="zh-CN" dirty="0"/>
          </a:p>
          <a:p>
            <a:pPr lvl="1"/>
            <a:r>
              <a:rPr lang="zh-CN" altLang="en-US" dirty="0"/>
              <a:t>用一些简单的非线性方法或者线性分类器的非线性改进可以获得更好的效果</a:t>
            </a:r>
            <a:endParaRPr lang="en-US" altLang="zh-CN" dirty="0"/>
          </a:p>
        </p:txBody>
      </p:sp>
    </p:spTree>
    <p:custDataLst>
      <p:tags r:id="rId1"/>
    </p:custDataLst>
    <p:extLst>
      <p:ext uri="{BB962C8B-B14F-4D97-AF65-F5344CB8AC3E}">
        <p14:creationId xmlns:p14="http://schemas.microsoft.com/office/powerpoint/2010/main" val="17820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再看另一个应用</a:t>
            </a:r>
            <a:endParaRPr lang="zh-CN" altLang="en-US" dirty="0"/>
          </a:p>
        </p:txBody>
      </p:sp>
      <p:sp>
        <p:nvSpPr>
          <p:cNvPr id="6" name="TextBox 5">
            <a:extLst>
              <a:ext uri="{FF2B5EF4-FFF2-40B4-BE49-F238E27FC236}">
                <a16:creationId xmlns:a16="http://schemas.microsoft.com/office/drawing/2014/main" id="{972CD429-892F-424E-9181-D325E9D29204}"/>
              </a:ext>
            </a:extLst>
          </p:cNvPr>
          <p:cNvSpPr txBox="1"/>
          <p:nvPr/>
        </p:nvSpPr>
        <p:spPr>
          <a:xfrm>
            <a:off x="1676400" y="1600200"/>
            <a:ext cx="5791200" cy="430887"/>
          </a:xfrm>
          <a:prstGeom prst="rect">
            <a:avLst/>
          </a:prstGeom>
          <a:noFill/>
        </p:spPr>
        <p:txBody>
          <a:bodyPr wrap="square" rtlCol="0">
            <a:spAutoFit/>
          </a:bodyPr>
          <a:lstStyle/>
          <a:p>
            <a:pPr algn="ctr"/>
            <a:r>
              <a:rPr lang="zh-CN" altLang="en-US" sz="2200" dirty="0"/>
              <a:t>作为名词的单词“</a:t>
            </a:r>
            <a:r>
              <a:rPr lang="en-US" altLang="zh-CN" sz="2200" dirty="0"/>
              <a:t>interest(s)</a:t>
            </a:r>
            <a:r>
              <a:rPr lang="zh-CN" altLang="en-US" sz="2200" dirty="0"/>
              <a:t>”</a:t>
            </a:r>
            <a:r>
              <a:rPr lang="en-US" altLang="zh-CN" sz="2200" dirty="0"/>
              <a:t> </a:t>
            </a:r>
            <a:endParaRPr lang="zh-CN" altLang="en-US" sz="2200" dirty="0"/>
          </a:p>
        </p:txBody>
      </p:sp>
      <p:graphicFrame>
        <p:nvGraphicFramePr>
          <p:cNvPr id="7" name="Table 6">
            <a:extLst>
              <a:ext uri="{FF2B5EF4-FFF2-40B4-BE49-F238E27FC236}">
                <a16:creationId xmlns:a16="http://schemas.microsoft.com/office/drawing/2014/main" id="{17B2D6CE-6B44-47C6-BEFB-1301C354C011}"/>
              </a:ext>
            </a:extLst>
          </p:cNvPr>
          <p:cNvGraphicFramePr>
            <a:graphicFrameLocks noGrp="1"/>
          </p:cNvGraphicFramePr>
          <p:nvPr>
            <p:extLst>
              <p:ext uri="{D42A27DB-BD31-4B8C-83A1-F6EECF244321}">
                <p14:modId xmlns:p14="http://schemas.microsoft.com/office/powerpoint/2010/main" val="4111289035"/>
              </p:ext>
            </p:extLst>
          </p:nvPr>
        </p:nvGraphicFramePr>
        <p:xfrm>
          <a:off x="1295400" y="2452439"/>
          <a:ext cx="6629400" cy="74168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3397545499"/>
                    </a:ext>
                  </a:extLst>
                </a:gridCol>
                <a:gridCol w="5257800">
                  <a:extLst>
                    <a:ext uri="{9D8B030D-6E8A-4147-A177-3AD203B41FA5}">
                      <a16:colId xmlns:a16="http://schemas.microsoft.com/office/drawing/2014/main" val="3345597284"/>
                    </a:ext>
                  </a:extLst>
                </a:gridCol>
              </a:tblGrid>
              <a:tr h="370840">
                <a:tc>
                  <a:txBody>
                    <a:bodyPr/>
                    <a:lstStyle/>
                    <a:p>
                      <a:r>
                        <a:rPr lang="zh-CN" altLang="en-US" dirty="0"/>
                        <a:t>词义</a:t>
                      </a:r>
                    </a:p>
                  </a:txBody>
                  <a:tcPr/>
                </a:tc>
                <a:tc>
                  <a:txBody>
                    <a:bodyPr/>
                    <a:lstStyle/>
                    <a:p>
                      <a:r>
                        <a:rPr lang="zh-CN" altLang="en-US" dirty="0"/>
                        <a:t>例句</a:t>
                      </a:r>
                    </a:p>
                  </a:txBody>
                  <a:tcPr/>
                </a:tc>
                <a:extLst>
                  <a:ext uri="{0D108BD9-81ED-4DB2-BD59-A6C34878D82A}">
                    <a16:rowId xmlns:a16="http://schemas.microsoft.com/office/drawing/2014/main" val="2287641297"/>
                  </a:ext>
                </a:extLst>
              </a:tr>
              <a:tr h="370840">
                <a:tc>
                  <a:txBody>
                    <a:bodyPr/>
                    <a:lstStyle/>
                    <a:p>
                      <a:r>
                        <a:rPr lang="zh-CN" altLang="en-US" dirty="0"/>
                        <a:t>兴趣</a:t>
                      </a:r>
                    </a:p>
                  </a:txBody>
                  <a:tcPr/>
                </a:tc>
                <a:tc>
                  <a:txBody>
                    <a:bodyPr/>
                    <a:lstStyle/>
                    <a:p>
                      <a:r>
                        <a:rPr lang="en-US" altLang="zh-CN" dirty="0"/>
                        <a:t>Reading is one of my interests</a:t>
                      </a:r>
                      <a:endParaRPr lang="zh-CN" altLang="en-US" dirty="0"/>
                    </a:p>
                  </a:txBody>
                  <a:tcPr/>
                </a:tc>
                <a:extLst>
                  <a:ext uri="{0D108BD9-81ED-4DB2-BD59-A6C34878D82A}">
                    <a16:rowId xmlns:a16="http://schemas.microsoft.com/office/drawing/2014/main" val="2810241105"/>
                  </a:ext>
                </a:extLst>
              </a:tr>
            </a:tbl>
          </a:graphicData>
        </a:graphic>
      </p:graphicFrame>
      <p:sp>
        <p:nvSpPr>
          <p:cNvPr id="8" name="TextBox 7">
            <a:extLst>
              <a:ext uri="{FF2B5EF4-FFF2-40B4-BE49-F238E27FC236}">
                <a16:creationId xmlns:a16="http://schemas.microsoft.com/office/drawing/2014/main" id="{7D4CC569-F2D5-468B-AD0E-4228FCD58553}"/>
              </a:ext>
            </a:extLst>
          </p:cNvPr>
          <p:cNvSpPr txBox="1"/>
          <p:nvPr/>
        </p:nvSpPr>
        <p:spPr>
          <a:xfrm>
            <a:off x="304800" y="4415457"/>
            <a:ext cx="8534400" cy="430887"/>
          </a:xfrm>
          <a:prstGeom prst="rect">
            <a:avLst/>
          </a:prstGeom>
          <a:noFill/>
        </p:spPr>
        <p:txBody>
          <a:bodyPr wrap="square" rtlCol="0">
            <a:spAutoFit/>
          </a:bodyPr>
          <a:lstStyle/>
          <a:p>
            <a:pPr algn="ctr"/>
            <a:r>
              <a:rPr lang="zh-CN" altLang="en-US" sz="2200" dirty="0"/>
              <a:t>问题：根据上下文确定词义</a:t>
            </a:r>
            <a:r>
              <a:rPr lang="en-US" altLang="zh-CN" sz="2200" dirty="0"/>
              <a:t> </a:t>
            </a:r>
            <a:endParaRPr lang="zh-CN" altLang="en-US" sz="2200" dirty="0"/>
          </a:p>
        </p:txBody>
      </p:sp>
      <p:graphicFrame>
        <p:nvGraphicFramePr>
          <p:cNvPr id="9" name="Table 8">
            <a:extLst>
              <a:ext uri="{FF2B5EF4-FFF2-40B4-BE49-F238E27FC236}">
                <a16:creationId xmlns:a16="http://schemas.microsoft.com/office/drawing/2014/main" id="{16B5CB25-DD92-467E-9C70-3EA988991CD8}"/>
              </a:ext>
            </a:extLst>
          </p:cNvPr>
          <p:cNvGraphicFramePr>
            <a:graphicFrameLocks noGrp="1"/>
          </p:cNvGraphicFramePr>
          <p:nvPr>
            <p:extLst>
              <p:ext uri="{D42A27DB-BD31-4B8C-83A1-F6EECF244321}">
                <p14:modId xmlns:p14="http://schemas.microsoft.com/office/powerpoint/2010/main" val="3374438146"/>
              </p:ext>
            </p:extLst>
          </p:nvPr>
        </p:nvGraphicFramePr>
        <p:xfrm>
          <a:off x="1296000" y="2451100"/>
          <a:ext cx="6629400" cy="185420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3397545499"/>
                    </a:ext>
                  </a:extLst>
                </a:gridCol>
                <a:gridCol w="5257800">
                  <a:extLst>
                    <a:ext uri="{9D8B030D-6E8A-4147-A177-3AD203B41FA5}">
                      <a16:colId xmlns:a16="http://schemas.microsoft.com/office/drawing/2014/main" val="3345597284"/>
                    </a:ext>
                  </a:extLst>
                </a:gridCol>
              </a:tblGrid>
              <a:tr h="370840">
                <a:tc>
                  <a:txBody>
                    <a:bodyPr/>
                    <a:lstStyle/>
                    <a:p>
                      <a:r>
                        <a:rPr lang="zh-CN" altLang="en-US" dirty="0"/>
                        <a:t>词义</a:t>
                      </a:r>
                    </a:p>
                  </a:txBody>
                  <a:tcPr/>
                </a:tc>
                <a:tc>
                  <a:txBody>
                    <a:bodyPr/>
                    <a:lstStyle/>
                    <a:p>
                      <a:r>
                        <a:rPr lang="zh-CN" altLang="en-US" dirty="0"/>
                        <a:t>例句</a:t>
                      </a:r>
                    </a:p>
                  </a:txBody>
                  <a:tcPr/>
                </a:tc>
                <a:extLst>
                  <a:ext uri="{0D108BD9-81ED-4DB2-BD59-A6C34878D82A}">
                    <a16:rowId xmlns:a16="http://schemas.microsoft.com/office/drawing/2014/main" val="2287641297"/>
                  </a:ext>
                </a:extLst>
              </a:tr>
              <a:tr h="370840">
                <a:tc>
                  <a:txBody>
                    <a:bodyPr/>
                    <a:lstStyle/>
                    <a:p>
                      <a:r>
                        <a:rPr lang="zh-CN" altLang="en-US" dirty="0"/>
                        <a:t>兴趣</a:t>
                      </a:r>
                    </a:p>
                  </a:txBody>
                  <a:tcPr/>
                </a:tc>
                <a:tc>
                  <a:txBody>
                    <a:bodyPr/>
                    <a:lstStyle/>
                    <a:p>
                      <a:r>
                        <a:rPr lang="en-US" altLang="zh-CN" dirty="0"/>
                        <a:t>Reading is one of my interests</a:t>
                      </a:r>
                      <a:endParaRPr lang="zh-CN" altLang="en-US" dirty="0"/>
                    </a:p>
                  </a:txBody>
                  <a:tcPr/>
                </a:tc>
                <a:extLst>
                  <a:ext uri="{0D108BD9-81ED-4DB2-BD59-A6C34878D82A}">
                    <a16:rowId xmlns:a16="http://schemas.microsoft.com/office/drawing/2014/main" val="2810241105"/>
                  </a:ext>
                </a:extLst>
              </a:tr>
              <a:tr h="370840">
                <a:tc>
                  <a:txBody>
                    <a:bodyPr/>
                    <a:lstStyle/>
                    <a:p>
                      <a:r>
                        <a:rPr lang="zh-CN" altLang="en-US" dirty="0"/>
                        <a:t>利益</a:t>
                      </a:r>
                    </a:p>
                  </a:txBody>
                  <a:tcPr/>
                </a:tc>
                <a:tc>
                  <a:txBody>
                    <a:bodyPr/>
                    <a:lstStyle/>
                    <a:p>
                      <a:r>
                        <a:rPr lang="en-US" altLang="zh-CN" dirty="0"/>
                        <a:t>In this case, my interests conflict with yours</a:t>
                      </a:r>
                      <a:endParaRPr lang="zh-CN" altLang="en-US" dirty="0"/>
                    </a:p>
                  </a:txBody>
                  <a:tcPr/>
                </a:tc>
                <a:extLst>
                  <a:ext uri="{0D108BD9-81ED-4DB2-BD59-A6C34878D82A}">
                    <a16:rowId xmlns:a16="http://schemas.microsoft.com/office/drawing/2014/main" val="2578355194"/>
                  </a:ext>
                </a:extLst>
              </a:tr>
              <a:tr h="370840">
                <a:tc>
                  <a:txBody>
                    <a:bodyPr/>
                    <a:lstStyle/>
                    <a:p>
                      <a:r>
                        <a:rPr lang="zh-CN" altLang="en-US" dirty="0"/>
                        <a:t>利息</a:t>
                      </a:r>
                    </a:p>
                  </a:txBody>
                  <a:tcPr/>
                </a:tc>
                <a:tc>
                  <a:txBody>
                    <a:bodyPr/>
                    <a:lstStyle/>
                    <a:p>
                      <a:r>
                        <a:rPr lang="en-US" altLang="zh-CN" dirty="0"/>
                        <a:t>The Fed cut interest rates again</a:t>
                      </a:r>
                      <a:endParaRPr lang="zh-CN" altLang="en-US" dirty="0"/>
                    </a:p>
                  </a:txBody>
                  <a:tcPr/>
                </a:tc>
                <a:extLst>
                  <a:ext uri="{0D108BD9-81ED-4DB2-BD59-A6C34878D82A}">
                    <a16:rowId xmlns:a16="http://schemas.microsoft.com/office/drawing/2014/main" val="1571403356"/>
                  </a:ext>
                </a:extLst>
              </a:tr>
              <a:tr h="370840">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208305240"/>
                  </a:ext>
                </a:extLst>
              </a:tr>
            </a:tbl>
          </a:graphicData>
        </a:graphic>
      </p:graphicFrame>
      <p:graphicFrame>
        <p:nvGraphicFramePr>
          <p:cNvPr id="10" name="Table 9">
            <a:extLst>
              <a:ext uri="{FF2B5EF4-FFF2-40B4-BE49-F238E27FC236}">
                <a16:creationId xmlns:a16="http://schemas.microsoft.com/office/drawing/2014/main" id="{5E38A031-F31A-4436-8F82-115F664151EA}"/>
              </a:ext>
            </a:extLst>
          </p:cNvPr>
          <p:cNvGraphicFramePr>
            <a:graphicFrameLocks noGrp="1"/>
          </p:cNvGraphicFramePr>
          <p:nvPr>
            <p:extLst>
              <p:ext uri="{D42A27DB-BD31-4B8C-83A1-F6EECF244321}">
                <p14:modId xmlns:p14="http://schemas.microsoft.com/office/powerpoint/2010/main" val="1803262440"/>
              </p:ext>
            </p:extLst>
          </p:nvPr>
        </p:nvGraphicFramePr>
        <p:xfrm>
          <a:off x="1295400" y="2453640"/>
          <a:ext cx="6629400" cy="1112520"/>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3397545499"/>
                    </a:ext>
                  </a:extLst>
                </a:gridCol>
                <a:gridCol w="5257800">
                  <a:extLst>
                    <a:ext uri="{9D8B030D-6E8A-4147-A177-3AD203B41FA5}">
                      <a16:colId xmlns:a16="http://schemas.microsoft.com/office/drawing/2014/main" val="3345597284"/>
                    </a:ext>
                  </a:extLst>
                </a:gridCol>
              </a:tblGrid>
              <a:tr h="370840">
                <a:tc>
                  <a:txBody>
                    <a:bodyPr/>
                    <a:lstStyle/>
                    <a:p>
                      <a:r>
                        <a:rPr lang="zh-CN" altLang="en-US" dirty="0"/>
                        <a:t>词义</a:t>
                      </a:r>
                    </a:p>
                  </a:txBody>
                  <a:tcPr>
                    <a:solidFill>
                      <a:schemeClr val="bg1"/>
                    </a:solidFill>
                  </a:tcPr>
                </a:tc>
                <a:tc>
                  <a:txBody>
                    <a:bodyPr/>
                    <a:lstStyle/>
                    <a:p>
                      <a:r>
                        <a:rPr lang="zh-CN" altLang="en-US" dirty="0"/>
                        <a:t>例句</a:t>
                      </a:r>
                    </a:p>
                  </a:txBody>
                  <a:tcPr>
                    <a:solidFill>
                      <a:schemeClr val="bg1"/>
                    </a:solidFill>
                  </a:tcPr>
                </a:tc>
                <a:extLst>
                  <a:ext uri="{0D108BD9-81ED-4DB2-BD59-A6C34878D82A}">
                    <a16:rowId xmlns:a16="http://schemas.microsoft.com/office/drawing/2014/main" val="2287641297"/>
                  </a:ext>
                </a:extLst>
              </a:tr>
              <a:tr h="370840">
                <a:tc>
                  <a:txBody>
                    <a:bodyPr/>
                    <a:lstStyle/>
                    <a:p>
                      <a:r>
                        <a:rPr lang="zh-CN" altLang="en-US" dirty="0"/>
                        <a:t>兴趣</a:t>
                      </a:r>
                    </a:p>
                  </a:txBody>
                  <a:tcPr>
                    <a:solidFill>
                      <a:schemeClr val="bg1"/>
                    </a:solidFill>
                  </a:tcPr>
                </a:tc>
                <a:tc>
                  <a:txBody>
                    <a:bodyPr/>
                    <a:lstStyle/>
                    <a:p>
                      <a:r>
                        <a:rPr lang="en-US" altLang="zh-CN" dirty="0"/>
                        <a:t>Reading is one of my interests</a:t>
                      </a:r>
                      <a:endParaRPr lang="zh-CN" altLang="en-US" dirty="0"/>
                    </a:p>
                  </a:txBody>
                  <a:tcPr>
                    <a:solidFill>
                      <a:schemeClr val="bg1"/>
                    </a:solidFill>
                  </a:tcPr>
                </a:tc>
                <a:extLst>
                  <a:ext uri="{0D108BD9-81ED-4DB2-BD59-A6C34878D82A}">
                    <a16:rowId xmlns:a16="http://schemas.microsoft.com/office/drawing/2014/main" val="2810241105"/>
                  </a:ext>
                </a:extLst>
              </a:tr>
              <a:tr h="370840">
                <a:tc>
                  <a:txBody>
                    <a:bodyPr/>
                    <a:lstStyle/>
                    <a:p>
                      <a:r>
                        <a:rPr lang="zh-CN" altLang="en-US" dirty="0"/>
                        <a:t>利益</a:t>
                      </a:r>
                    </a:p>
                  </a:txBody>
                  <a:tcPr>
                    <a:solidFill>
                      <a:schemeClr val="bg1"/>
                    </a:solidFill>
                  </a:tcPr>
                </a:tc>
                <a:tc>
                  <a:txBody>
                    <a:bodyPr/>
                    <a:lstStyle/>
                    <a:p>
                      <a:r>
                        <a:rPr lang="en-US" altLang="zh-CN" dirty="0"/>
                        <a:t>In this case, my interests conflict with yours</a:t>
                      </a:r>
                      <a:endParaRPr lang="zh-CN" altLang="en-US" dirty="0"/>
                    </a:p>
                  </a:txBody>
                  <a:tcPr>
                    <a:solidFill>
                      <a:schemeClr val="bg1"/>
                    </a:solidFill>
                  </a:tcPr>
                </a:tc>
                <a:extLst>
                  <a:ext uri="{0D108BD9-81ED-4DB2-BD59-A6C34878D82A}">
                    <a16:rowId xmlns:a16="http://schemas.microsoft.com/office/drawing/2014/main" val="2578355194"/>
                  </a:ext>
                </a:extLst>
              </a:tr>
            </a:tbl>
          </a:graphicData>
        </a:graphic>
      </p:graphicFrame>
    </p:spTree>
    <p:custDataLst>
      <p:tags r:id="rId1"/>
    </p:custDataLst>
    <p:extLst>
      <p:ext uri="{BB962C8B-B14F-4D97-AF65-F5344CB8AC3E}">
        <p14:creationId xmlns:p14="http://schemas.microsoft.com/office/powerpoint/2010/main" val="79962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数据</a:t>
            </a:r>
            <a:endParaRPr lang="zh-CN" altLang="en-US" dirty="0"/>
          </a:p>
        </p:txBody>
      </p:sp>
      <p:sp>
        <p:nvSpPr>
          <p:cNvPr id="6" name="TextBox 5">
            <a:extLst>
              <a:ext uri="{FF2B5EF4-FFF2-40B4-BE49-F238E27FC236}">
                <a16:creationId xmlns:a16="http://schemas.microsoft.com/office/drawing/2014/main" id="{972CD429-892F-424E-9181-D325E9D29204}"/>
              </a:ext>
            </a:extLst>
          </p:cNvPr>
          <p:cNvSpPr txBox="1"/>
          <p:nvPr/>
        </p:nvSpPr>
        <p:spPr>
          <a:xfrm>
            <a:off x="876671" y="1602438"/>
            <a:ext cx="7390657" cy="430887"/>
          </a:xfrm>
          <a:prstGeom prst="rect">
            <a:avLst/>
          </a:prstGeom>
          <a:noFill/>
        </p:spPr>
        <p:txBody>
          <a:bodyPr wrap="square" rtlCol="0">
            <a:spAutoFit/>
          </a:bodyPr>
          <a:lstStyle/>
          <a:p>
            <a:pPr algn="ctr"/>
            <a:r>
              <a:rPr lang="zh-CN" altLang="en-US" sz="2200" dirty="0"/>
              <a:t>来自</a:t>
            </a:r>
            <a:r>
              <a:rPr lang="en-US" altLang="zh-CN" sz="2200" dirty="0"/>
              <a:t>1989</a:t>
            </a:r>
            <a:r>
              <a:rPr lang="zh-CN" altLang="en-US" sz="2200" dirty="0"/>
              <a:t>年华尔街日报</a:t>
            </a:r>
          </a:p>
        </p:txBody>
      </p:sp>
      <p:sp>
        <p:nvSpPr>
          <p:cNvPr id="11" name="TextBox 10">
            <a:extLst>
              <a:ext uri="{FF2B5EF4-FFF2-40B4-BE49-F238E27FC236}">
                <a16:creationId xmlns:a16="http://schemas.microsoft.com/office/drawing/2014/main" id="{ABC661E0-AC3C-4FDA-853D-57CE7635B1D3}"/>
              </a:ext>
            </a:extLst>
          </p:cNvPr>
          <p:cNvSpPr txBox="1"/>
          <p:nvPr/>
        </p:nvSpPr>
        <p:spPr>
          <a:xfrm>
            <a:off x="914398" y="2211513"/>
            <a:ext cx="7315201" cy="1446550"/>
          </a:xfrm>
          <a:prstGeom prst="rect">
            <a:avLst/>
          </a:prstGeom>
          <a:noFill/>
        </p:spPr>
        <p:txBody>
          <a:bodyPr wrap="square" rtlCol="0">
            <a:spAutoFit/>
          </a:bodyPr>
          <a:lstStyle/>
          <a:p>
            <a:pPr algn="ctr"/>
            <a:r>
              <a:rPr lang="zh-CN" altLang="en-US" sz="2200" dirty="0"/>
              <a:t>示例</a:t>
            </a:r>
            <a:endParaRPr lang="en-US" altLang="zh-CN" sz="2200" dirty="0"/>
          </a:p>
          <a:p>
            <a:pPr algn="ctr"/>
            <a:r>
              <a:rPr lang="en-US" altLang="zh-CN" sz="2200" dirty="0"/>
              <a:t>last/JJ month/NN ,/, judge/NP curry/NP set/VBD the/DT </a:t>
            </a:r>
            <a:r>
              <a:rPr lang="en-US" altLang="zh-CN" sz="2200" dirty="0">
                <a:highlight>
                  <a:srgbClr val="FFFF00"/>
                </a:highlight>
              </a:rPr>
              <a:t>interest/NN</a:t>
            </a:r>
            <a:r>
              <a:rPr lang="en-US" altLang="zh-CN" sz="2200" dirty="0"/>
              <a:t> rate/NN on/IN the/DT refund/NN at/IN 9/AB %/NN ./. </a:t>
            </a:r>
            <a:endParaRPr lang="zh-CN" altLang="en-US" sz="2200" dirty="0"/>
          </a:p>
        </p:txBody>
      </p:sp>
      <p:sp>
        <p:nvSpPr>
          <p:cNvPr id="12" name="TextBox 11">
            <a:extLst>
              <a:ext uri="{FF2B5EF4-FFF2-40B4-BE49-F238E27FC236}">
                <a16:creationId xmlns:a16="http://schemas.microsoft.com/office/drawing/2014/main" id="{80223C34-8F84-41D3-B86C-38C119EEB624}"/>
              </a:ext>
            </a:extLst>
          </p:cNvPr>
          <p:cNvSpPr txBox="1"/>
          <p:nvPr/>
        </p:nvSpPr>
        <p:spPr>
          <a:xfrm>
            <a:off x="876668" y="3836251"/>
            <a:ext cx="7390657" cy="430887"/>
          </a:xfrm>
          <a:prstGeom prst="rect">
            <a:avLst/>
          </a:prstGeom>
          <a:noFill/>
        </p:spPr>
        <p:txBody>
          <a:bodyPr wrap="square" rtlCol="0">
            <a:spAutoFit/>
          </a:bodyPr>
          <a:lstStyle/>
          <a:p>
            <a:pPr algn="ctr"/>
            <a:r>
              <a:rPr lang="zh-CN" altLang="en-US" sz="2200" dirty="0"/>
              <a:t>六种词义</a:t>
            </a:r>
          </a:p>
        </p:txBody>
      </p:sp>
      <p:sp>
        <p:nvSpPr>
          <p:cNvPr id="14" name="TextBox 13">
            <a:extLst>
              <a:ext uri="{FF2B5EF4-FFF2-40B4-BE49-F238E27FC236}">
                <a16:creationId xmlns:a16="http://schemas.microsoft.com/office/drawing/2014/main" id="{35349927-8306-45D6-BA56-3B5D996F7200}"/>
              </a:ext>
            </a:extLst>
          </p:cNvPr>
          <p:cNvSpPr txBox="1"/>
          <p:nvPr/>
        </p:nvSpPr>
        <p:spPr>
          <a:xfrm>
            <a:off x="876668" y="4365214"/>
            <a:ext cx="7390657" cy="430887"/>
          </a:xfrm>
          <a:prstGeom prst="rect">
            <a:avLst/>
          </a:prstGeom>
          <a:noFill/>
        </p:spPr>
        <p:txBody>
          <a:bodyPr wrap="square" rtlCol="0">
            <a:spAutoFit/>
          </a:bodyPr>
          <a:lstStyle/>
          <a:p>
            <a:pPr algn="ctr"/>
            <a:r>
              <a:rPr lang="zh-CN" altLang="en-US" sz="2200" dirty="0"/>
              <a:t>词性已被标注</a:t>
            </a:r>
          </a:p>
        </p:txBody>
      </p:sp>
    </p:spTree>
    <p:custDataLst>
      <p:tags r:id="rId1"/>
    </p:custDataLst>
    <p:extLst>
      <p:ext uri="{BB962C8B-B14F-4D97-AF65-F5344CB8AC3E}">
        <p14:creationId xmlns:p14="http://schemas.microsoft.com/office/powerpoint/2010/main" val="329467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C3AF5-E302-3B58-DF78-870B908FF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4DFB3-9325-9217-1E2A-5F08FABBC9B4}"/>
              </a:ext>
            </a:extLst>
          </p:cNvPr>
          <p:cNvSpPr>
            <a:spLocks noGrp="1"/>
          </p:cNvSpPr>
          <p:nvPr>
            <p:ph type="title"/>
          </p:nvPr>
        </p:nvSpPr>
        <p:spPr>
          <a:xfrm>
            <a:off x="1122363" y="457200"/>
            <a:ext cx="7869237" cy="914400"/>
          </a:xfrm>
        </p:spPr>
        <p:txBody>
          <a:bodyPr/>
          <a:lstStyle/>
          <a:p>
            <a:r>
              <a:rPr lang="en-US" altLang="zh-CN" dirty="0">
                <a:ea typeface="ＭＳ Ｐゴシック" panose="020B0600070205080204" pitchFamily="34" charset="-128"/>
              </a:rPr>
              <a:t>Logistic Regression</a:t>
            </a:r>
            <a:r>
              <a:rPr lang="zh-CN" altLang="en-US" dirty="0">
                <a:ea typeface="ＭＳ Ｐゴシック" panose="020B0600070205080204" pitchFamily="34" charset="-128"/>
              </a:rPr>
              <a:t>用于词义消歧</a:t>
            </a:r>
            <a:endParaRPr lang="zh-CN" altLang="en-US" dirty="0"/>
          </a:p>
        </p:txBody>
      </p:sp>
      <p:sp>
        <p:nvSpPr>
          <p:cNvPr id="3" name="Content Placeholder 2">
            <a:extLst>
              <a:ext uri="{FF2B5EF4-FFF2-40B4-BE49-F238E27FC236}">
                <a16:creationId xmlns:a16="http://schemas.microsoft.com/office/drawing/2014/main" id="{F5495483-EC10-46C4-C7D2-6BC241C385DA}"/>
              </a:ext>
            </a:extLst>
          </p:cNvPr>
          <p:cNvSpPr>
            <a:spLocks noGrp="1"/>
          </p:cNvSpPr>
          <p:nvPr>
            <p:ph idx="1"/>
          </p:nvPr>
        </p:nvSpPr>
        <p:spPr>
          <a:xfrm>
            <a:off x="762000" y="1600200"/>
            <a:ext cx="7772400" cy="5486400"/>
          </a:xfrm>
        </p:spPr>
        <p:txBody>
          <a:bodyPr>
            <a:normAutofit/>
          </a:bodyPr>
          <a:lstStyle/>
          <a:p>
            <a:r>
              <a:rPr lang="zh-CN" altLang="en-US" dirty="0"/>
              <a:t>这个问题</a:t>
            </a:r>
            <a:endParaRPr lang="en-US" altLang="zh-CN" dirty="0"/>
          </a:p>
          <a:p>
            <a:pPr lvl="1"/>
            <a:r>
              <a:rPr lang="zh-CN" altLang="en-US" dirty="0"/>
              <a:t>在不借助于外力（例如大规模文本的预训练）的条件下更难一些</a:t>
            </a:r>
            <a:endParaRPr lang="en-US" altLang="zh-CN" dirty="0"/>
          </a:p>
          <a:p>
            <a:r>
              <a:rPr lang="zh-CN" altLang="en-US" dirty="0"/>
              <a:t>应用</a:t>
            </a:r>
            <a:r>
              <a:rPr lang="en-US" altLang="zh-CN" dirty="0"/>
              <a:t>Logistic Regression</a:t>
            </a:r>
          </a:p>
          <a:p>
            <a:pPr lvl="1"/>
            <a:r>
              <a:rPr lang="zh-CN" altLang="en-US" dirty="0"/>
              <a:t>等一下，我们怎么定义输入？</a:t>
            </a:r>
            <a:endParaRPr lang="en-US" altLang="zh-CN" dirty="0"/>
          </a:p>
          <a:p>
            <a:pPr lvl="2"/>
            <a:r>
              <a:rPr lang="zh-CN" altLang="en-US" dirty="0"/>
              <a:t>原始的一条数据是一个不定长的句子</a:t>
            </a:r>
            <a:endParaRPr lang="en-US" altLang="zh-CN" dirty="0"/>
          </a:p>
          <a:p>
            <a:pPr lvl="2"/>
            <a:r>
              <a:rPr lang="zh-CN" altLang="en-US" dirty="0"/>
              <a:t>线性分类器只能处理固定</a:t>
            </a:r>
            <a:r>
              <a:rPr lang="en-US" altLang="zh-CN" dirty="0"/>
              <a:t>n</a:t>
            </a:r>
            <a:r>
              <a:rPr lang="zh-CN" altLang="en-US" dirty="0"/>
              <a:t>个属性</a:t>
            </a:r>
            <a:endParaRPr lang="en-US" altLang="zh-CN" dirty="0"/>
          </a:p>
          <a:p>
            <a:pPr lvl="1"/>
            <a:r>
              <a:rPr lang="zh-CN" altLang="en-US" dirty="0"/>
              <a:t>让我们来做一个变换</a:t>
            </a:r>
            <a:endParaRPr lang="en-US" altLang="zh-CN" dirty="0"/>
          </a:p>
          <a:p>
            <a:endParaRPr lang="en-US" altLang="zh-CN" dirty="0"/>
          </a:p>
        </p:txBody>
      </p:sp>
    </p:spTree>
    <p:custDataLst>
      <p:tags r:id="rId1"/>
    </p:custDataLst>
    <p:extLst>
      <p:ext uri="{BB962C8B-B14F-4D97-AF65-F5344CB8AC3E}">
        <p14:creationId xmlns:p14="http://schemas.microsoft.com/office/powerpoint/2010/main" val="189341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变换输入 </a:t>
            </a:r>
            <a:r>
              <a:rPr lang="en-US" altLang="zh-CN" dirty="0">
                <a:ea typeface="ＭＳ Ｐゴシック" panose="020B0600070205080204" pitchFamily="34" charset="-128"/>
              </a:rPr>
              <a:t>(1)</a:t>
            </a:r>
            <a:endParaRPr lang="zh-CN" altLang="en-US" dirty="0"/>
          </a:p>
        </p:txBody>
      </p:sp>
      <p:sp>
        <p:nvSpPr>
          <p:cNvPr id="6" name="TextBox 5">
            <a:extLst>
              <a:ext uri="{FF2B5EF4-FFF2-40B4-BE49-F238E27FC236}">
                <a16:creationId xmlns:a16="http://schemas.microsoft.com/office/drawing/2014/main" id="{87B84A7A-6C5F-4EAC-B042-07935771EEA9}"/>
              </a:ext>
            </a:extLst>
          </p:cNvPr>
          <p:cNvSpPr txBox="1"/>
          <p:nvPr/>
        </p:nvSpPr>
        <p:spPr>
          <a:xfrm>
            <a:off x="685798" y="1582798"/>
            <a:ext cx="7772399" cy="430887"/>
          </a:xfrm>
          <a:prstGeom prst="rect">
            <a:avLst/>
          </a:prstGeom>
          <a:noFill/>
        </p:spPr>
        <p:txBody>
          <a:bodyPr wrap="square" rtlCol="0">
            <a:spAutoFit/>
          </a:bodyPr>
          <a:lstStyle/>
          <a:p>
            <a:pPr algn="ctr"/>
            <a:r>
              <a:rPr lang="zh-CN" altLang="en-US" sz="2200" dirty="0"/>
              <a:t>创建一本“字典”，为每个独一无二的“词”赋予一个下标</a:t>
            </a:r>
          </a:p>
        </p:txBody>
      </p:sp>
      <p:sp>
        <p:nvSpPr>
          <p:cNvPr id="7" name="TextBox 6">
            <a:extLst>
              <a:ext uri="{FF2B5EF4-FFF2-40B4-BE49-F238E27FC236}">
                <a16:creationId xmlns:a16="http://schemas.microsoft.com/office/drawing/2014/main" id="{8525F7E3-6188-440D-90A4-AABA9FFD5CA9}"/>
              </a:ext>
            </a:extLst>
          </p:cNvPr>
          <p:cNvSpPr txBox="1"/>
          <p:nvPr/>
        </p:nvSpPr>
        <p:spPr>
          <a:xfrm>
            <a:off x="876670" y="2438400"/>
            <a:ext cx="7390657" cy="3785652"/>
          </a:xfrm>
          <a:prstGeom prst="rect">
            <a:avLst/>
          </a:prstGeom>
          <a:noFill/>
        </p:spPr>
        <p:txBody>
          <a:bodyPr wrap="square" rtlCol="0">
            <a:spAutoFit/>
          </a:bodyPr>
          <a:lstStyle/>
          <a:p>
            <a:pPr algn="ctr"/>
            <a:r>
              <a:rPr lang="en-US" altLang="zh-CN" sz="2000" dirty="0"/>
              <a:t>yields/NNS</a:t>
            </a:r>
            <a:r>
              <a:rPr lang="en-US" altLang="zh-CN" sz="2000" dirty="0">
                <a:latin typeface="等线" panose="02010600030101010101" pitchFamily="2" charset="-122"/>
                <a:ea typeface="等线" panose="02010600030101010101" pitchFamily="2" charset="-122"/>
              </a:rPr>
              <a:t> →</a:t>
            </a:r>
            <a:r>
              <a:rPr lang="en-US" altLang="zh-CN" sz="2000" dirty="0"/>
              <a:t> 0,</a:t>
            </a:r>
          </a:p>
          <a:p>
            <a:pPr algn="ctr"/>
            <a:r>
              <a:rPr lang="en-US" altLang="zh-CN" sz="2000" dirty="0"/>
              <a:t>on/IN </a:t>
            </a:r>
            <a:r>
              <a:rPr lang="en-US" altLang="zh-CN" sz="2000" dirty="0">
                <a:latin typeface="等线" panose="02010600030101010101" pitchFamily="2" charset="-122"/>
                <a:ea typeface="等线" panose="02010600030101010101" pitchFamily="2" charset="-122"/>
              </a:rPr>
              <a:t>→</a:t>
            </a:r>
            <a:r>
              <a:rPr lang="en-US" altLang="zh-CN" sz="2000" dirty="0"/>
              <a:t> 1,</a:t>
            </a:r>
          </a:p>
          <a:p>
            <a:pPr algn="ctr"/>
            <a:r>
              <a:rPr lang="en-US" altLang="zh-CN" sz="2000" dirty="0"/>
              <a:t>money-market/JJ </a:t>
            </a:r>
            <a:r>
              <a:rPr lang="en-US" altLang="zh-CN" sz="2000" dirty="0">
                <a:latin typeface="等线" panose="02010600030101010101" pitchFamily="2" charset="-122"/>
                <a:ea typeface="等线" panose="02010600030101010101" pitchFamily="2" charset="-122"/>
              </a:rPr>
              <a:t>→</a:t>
            </a:r>
            <a:r>
              <a:rPr lang="en-US" altLang="zh-CN" sz="2000" dirty="0"/>
              <a:t> 2,</a:t>
            </a:r>
          </a:p>
          <a:p>
            <a:pPr algn="ctr"/>
            <a:r>
              <a:rPr lang="en-US" altLang="zh-CN" sz="2000" dirty="0"/>
              <a:t>…</a:t>
            </a:r>
          </a:p>
          <a:p>
            <a:pPr algn="ctr"/>
            <a:r>
              <a:rPr lang="en-US" altLang="zh-CN" sz="2000" dirty="0"/>
              <a:t>,/, </a:t>
            </a:r>
            <a:r>
              <a:rPr lang="en-US" altLang="zh-CN" sz="2000" dirty="0">
                <a:latin typeface="等线" panose="02010600030101010101" pitchFamily="2" charset="-122"/>
                <a:ea typeface="等线" panose="02010600030101010101" pitchFamily="2" charset="-122"/>
              </a:rPr>
              <a:t>→</a:t>
            </a:r>
            <a:r>
              <a:rPr lang="en-US" altLang="zh-CN" sz="2000" dirty="0"/>
              <a:t> 8</a:t>
            </a:r>
          </a:p>
          <a:p>
            <a:pPr algn="ctr"/>
            <a:r>
              <a:rPr lang="en-US" altLang="zh-CN" sz="2000" dirty="0"/>
              <a:t>…</a:t>
            </a:r>
          </a:p>
          <a:p>
            <a:pPr algn="ctr"/>
            <a:r>
              <a:rPr lang="en-US" altLang="zh-CN" sz="2000" dirty="0"/>
              <a:t>last/JJ </a:t>
            </a:r>
            <a:r>
              <a:rPr lang="en-US" altLang="zh-CN" sz="2000" dirty="0">
                <a:latin typeface="等线" panose="02010600030101010101" pitchFamily="2" charset="-122"/>
                <a:ea typeface="等线" panose="02010600030101010101" pitchFamily="2" charset="-122"/>
              </a:rPr>
              <a:t>→</a:t>
            </a:r>
            <a:r>
              <a:rPr lang="en-US" altLang="zh-CN" sz="2000" dirty="0"/>
              <a:t> 104,</a:t>
            </a:r>
            <a:r>
              <a:rPr lang="zh-CN" altLang="en-US" sz="2000" dirty="0"/>
              <a:t> </a:t>
            </a:r>
            <a:endParaRPr lang="en-US" altLang="zh-CN" sz="2000" dirty="0"/>
          </a:p>
          <a:p>
            <a:pPr algn="ctr"/>
            <a:r>
              <a:rPr lang="en-US" altLang="zh-CN" sz="2000" dirty="0"/>
              <a:t>month/NN </a:t>
            </a:r>
            <a:r>
              <a:rPr lang="en-US" altLang="zh-CN" sz="2000" dirty="0">
                <a:latin typeface="等线" panose="02010600030101010101" pitchFamily="2" charset="-122"/>
                <a:ea typeface="等线" panose="02010600030101010101" pitchFamily="2" charset="-122"/>
              </a:rPr>
              <a:t>→</a:t>
            </a:r>
            <a:r>
              <a:rPr lang="en-US" altLang="zh-CN" sz="2000" dirty="0"/>
              <a:t> 105, </a:t>
            </a:r>
          </a:p>
          <a:p>
            <a:pPr algn="ctr"/>
            <a:r>
              <a:rPr lang="en-US" altLang="zh-CN" sz="2000" dirty="0"/>
              <a:t>judge/NP </a:t>
            </a:r>
            <a:r>
              <a:rPr lang="en-US" altLang="zh-CN" sz="2000" dirty="0">
                <a:latin typeface="等线" panose="02010600030101010101" pitchFamily="2" charset="-122"/>
                <a:ea typeface="等线" panose="02010600030101010101" pitchFamily="2" charset="-122"/>
              </a:rPr>
              <a:t>→</a:t>
            </a:r>
            <a:r>
              <a:rPr lang="en-US" altLang="zh-CN" sz="2000" dirty="0"/>
              <a:t> 106,</a:t>
            </a:r>
          </a:p>
          <a:p>
            <a:pPr algn="ctr"/>
            <a:r>
              <a:rPr lang="en-US" altLang="zh-CN" sz="2000" dirty="0"/>
              <a:t>curry/NP </a:t>
            </a:r>
            <a:r>
              <a:rPr lang="en-US" altLang="zh-CN" sz="2000" dirty="0">
                <a:latin typeface="等线" panose="02010600030101010101" pitchFamily="2" charset="-122"/>
                <a:ea typeface="等线" panose="02010600030101010101" pitchFamily="2" charset="-122"/>
              </a:rPr>
              <a:t>→</a:t>
            </a:r>
            <a:r>
              <a:rPr lang="en-US" altLang="zh-CN" sz="2000" dirty="0"/>
              <a:t> 107,</a:t>
            </a:r>
          </a:p>
          <a:p>
            <a:pPr algn="ctr"/>
            <a:r>
              <a:rPr lang="en-US" altLang="zh-CN" sz="2000" dirty="0"/>
              <a:t>…</a:t>
            </a:r>
          </a:p>
          <a:p>
            <a:pPr algn="ctr"/>
            <a:r>
              <a:rPr lang="en-US" altLang="zh-CN" sz="2000" dirty="0">
                <a:latin typeface="+mn-lt"/>
                <a:ea typeface="等线" panose="02010600030101010101" pitchFamily="2" charset="-122"/>
              </a:rPr>
              <a:t>cent/NN </a:t>
            </a:r>
            <a:r>
              <a:rPr lang="en-US" altLang="zh-CN" sz="2000" dirty="0">
                <a:latin typeface="等线" panose="02010600030101010101" pitchFamily="2" charset="-122"/>
                <a:ea typeface="等线" panose="02010600030101010101" pitchFamily="2" charset="-122"/>
              </a:rPr>
              <a:t>→</a:t>
            </a:r>
            <a:r>
              <a:rPr lang="en-US" altLang="zh-CN" sz="2000" dirty="0"/>
              <a:t> 9019</a:t>
            </a:r>
            <a:endParaRPr lang="zh-CN" altLang="en-US" sz="2200" dirty="0"/>
          </a:p>
        </p:txBody>
      </p:sp>
    </p:spTree>
    <p:custDataLst>
      <p:tags r:id="rId1"/>
    </p:custDataLst>
    <p:extLst>
      <p:ext uri="{BB962C8B-B14F-4D97-AF65-F5344CB8AC3E}">
        <p14:creationId xmlns:p14="http://schemas.microsoft.com/office/powerpoint/2010/main" val="215833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变换输入 </a:t>
            </a:r>
            <a:r>
              <a:rPr lang="en-US" altLang="zh-CN" dirty="0">
                <a:ea typeface="ＭＳ Ｐゴシック" panose="020B0600070205080204" pitchFamily="34" charset="-128"/>
              </a:rPr>
              <a:t>(2)</a:t>
            </a:r>
            <a:endParaRPr lang="zh-CN" altLang="en-US" dirty="0"/>
          </a:p>
        </p:txBody>
      </p:sp>
      <p:sp>
        <p:nvSpPr>
          <p:cNvPr id="7" name="TextBox 6">
            <a:extLst>
              <a:ext uri="{FF2B5EF4-FFF2-40B4-BE49-F238E27FC236}">
                <a16:creationId xmlns:a16="http://schemas.microsoft.com/office/drawing/2014/main" id="{8525F7E3-6188-440D-90A4-AABA9FFD5CA9}"/>
              </a:ext>
            </a:extLst>
          </p:cNvPr>
          <p:cNvSpPr txBox="1"/>
          <p:nvPr/>
        </p:nvSpPr>
        <p:spPr>
          <a:xfrm>
            <a:off x="0" y="1802548"/>
            <a:ext cx="2704730" cy="3477875"/>
          </a:xfrm>
          <a:prstGeom prst="rect">
            <a:avLst/>
          </a:prstGeom>
          <a:noFill/>
        </p:spPr>
        <p:txBody>
          <a:bodyPr wrap="square" rtlCol="0">
            <a:spAutoFit/>
          </a:bodyPr>
          <a:lstStyle/>
          <a:p>
            <a:pPr algn="ctr"/>
            <a:r>
              <a:rPr lang="zh-CN" altLang="en-US" sz="2200" b="1" dirty="0"/>
              <a:t>字典</a:t>
            </a:r>
            <a:endParaRPr lang="en-US" altLang="zh-CN" sz="2200" b="1" dirty="0"/>
          </a:p>
          <a:p>
            <a:pPr algn="ctr"/>
            <a:r>
              <a:rPr lang="en-US" altLang="zh-CN" sz="2200" dirty="0"/>
              <a:t>…</a:t>
            </a:r>
          </a:p>
          <a:p>
            <a:pPr algn="ctr"/>
            <a:r>
              <a:rPr lang="en-US" altLang="zh-CN" sz="2200" dirty="0"/>
              <a:t>,/, </a:t>
            </a:r>
            <a:r>
              <a:rPr lang="en-US" altLang="zh-CN" sz="2200" dirty="0">
                <a:latin typeface="等线" panose="02010600030101010101" pitchFamily="2" charset="-122"/>
                <a:ea typeface="等线" panose="02010600030101010101" pitchFamily="2" charset="-122"/>
              </a:rPr>
              <a:t>→</a:t>
            </a:r>
            <a:r>
              <a:rPr lang="en-US" altLang="zh-CN" sz="2200" dirty="0"/>
              <a:t> 8</a:t>
            </a:r>
          </a:p>
          <a:p>
            <a:pPr algn="ctr"/>
            <a:r>
              <a:rPr lang="en-US" altLang="zh-CN" sz="2200" dirty="0"/>
              <a:t>…</a:t>
            </a:r>
          </a:p>
          <a:p>
            <a:pPr algn="ctr"/>
            <a:r>
              <a:rPr lang="en-US" altLang="zh-CN" sz="2200" dirty="0"/>
              <a:t>last/JJ </a:t>
            </a:r>
            <a:r>
              <a:rPr lang="en-US" altLang="zh-CN" sz="2200" dirty="0">
                <a:latin typeface="等线" panose="02010600030101010101" pitchFamily="2" charset="-122"/>
                <a:ea typeface="等线" panose="02010600030101010101" pitchFamily="2" charset="-122"/>
              </a:rPr>
              <a:t>→</a:t>
            </a:r>
            <a:r>
              <a:rPr lang="en-US" altLang="zh-CN" sz="2200" dirty="0"/>
              <a:t> 104,</a:t>
            </a:r>
            <a:r>
              <a:rPr lang="zh-CN" altLang="en-US" sz="2200" dirty="0"/>
              <a:t> </a:t>
            </a:r>
            <a:endParaRPr lang="en-US" altLang="zh-CN" sz="2200" dirty="0"/>
          </a:p>
          <a:p>
            <a:pPr algn="ctr"/>
            <a:r>
              <a:rPr lang="en-US" altLang="zh-CN" sz="2200" dirty="0"/>
              <a:t>month/NN </a:t>
            </a:r>
            <a:r>
              <a:rPr lang="en-US" altLang="zh-CN" sz="2200" dirty="0">
                <a:latin typeface="等线" panose="02010600030101010101" pitchFamily="2" charset="-122"/>
                <a:ea typeface="等线" panose="02010600030101010101" pitchFamily="2" charset="-122"/>
              </a:rPr>
              <a:t>→</a:t>
            </a:r>
            <a:r>
              <a:rPr lang="en-US" altLang="zh-CN" sz="2200" dirty="0"/>
              <a:t> 105, </a:t>
            </a:r>
          </a:p>
          <a:p>
            <a:pPr algn="ctr"/>
            <a:r>
              <a:rPr lang="en-US" altLang="zh-CN" sz="2200" dirty="0"/>
              <a:t>judge/NP </a:t>
            </a:r>
            <a:r>
              <a:rPr lang="en-US" altLang="zh-CN" sz="2200" dirty="0">
                <a:latin typeface="等线" panose="02010600030101010101" pitchFamily="2" charset="-122"/>
                <a:ea typeface="等线" panose="02010600030101010101" pitchFamily="2" charset="-122"/>
              </a:rPr>
              <a:t>→</a:t>
            </a:r>
            <a:r>
              <a:rPr lang="en-US" altLang="zh-CN" sz="2200" dirty="0"/>
              <a:t> 106,</a:t>
            </a:r>
          </a:p>
          <a:p>
            <a:pPr algn="ctr"/>
            <a:r>
              <a:rPr lang="en-US" altLang="zh-CN" sz="2200" dirty="0"/>
              <a:t>curry/NP </a:t>
            </a:r>
            <a:r>
              <a:rPr lang="en-US" altLang="zh-CN" sz="2200" dirty="0">
                <a:latin typeface="等线" panose="02010600030101010101" pitchFamily="2" charset="-122"/>
                <a:ea typeface="等线" panose="02010600030101010101" pitchFamily="2" charset="-122"/>
              </a:rPr>
              <a:t>→</a:t>
            </a:r>
            <a:r>
              <a:rPr lang="en-US" altLang="zh-CN" sz="2200" dirty="0"/>
              <a:t> 107,</a:t>
            </a:r>
          </a:p>
          <a:p>
            <a:pPr algn="ctr"/>
            <a:r>
              <a:rPr lang="en-US" altLang="zh-CN" sz="2200" dirty="0"/>
              <a:t>…</a:t>
            </a:r>
          </a:p>
          <a:p>
            <a:pPr algn="ctr"/>
            <a:r>
              <a:rPr lang="en-US" altLang="zh-CN" sz="2200" dirty="0"/>
              <a:t>cent/NN</a:t>
            </a:r>
            <a:r>
              <a:rPr lang="en-US" altLang="zh-CN" sz="2200" dirty="0">
                <a:latin typeface="等线" panose="02010600030101010101" pitchFamily="2" charset="-122"/>
                <a:ea typeface="等线" panose="02010600030101010101" pitchFamily="2" charset="-122"/>
              </a:rPr>
              <a:t> →</a:t>
            </a:r>
            <a:r>
              <a:rPr lang="en-US" altLang="zh-CN" sz="2200" dirty="0"/>
              <a:t> 9019</a:t>
            </a:r>
            <a:endParaRPr lang="zh-CN" altLang="en-US" sz="2200" dirty="0"/>
          </a:p>
        </p:txBody>
      </p:sp>
      <p:sp>
        <p:nvSpPr>
          <p:cNvPr id="8" name="TextBox 7">
            <a:extLst>
              <a:ext uri="{FF2B5EF4-FFF2-40B4-BE49-F238E27FC236}">
                <a16:creationId xmlns:a16="http://schemas.microsoft.com/office/drawing/2014/main" id="{E923D727-2455-4C31-991C-6A7DE0FFC49D}"/>
              </a:ext>
            </a:extLst>
          </p:cNvPr>
          <p:cNvSpPr txBox="1"/>
          <p:nvPr/>
        </p:nvSpPr>
        <p:spPr>
          <a:xfrm>
            <a:off x="2438400" y="1924883"/>
            <a:ext cx="6324600" cy="430887"/>
          </a:xfrm>
          <a:prstGeom prst="rect">
            <a:avLst/>
          </a:prstGeom>
          <a:noFill/>
        </p:spPr>
        <p:txBody>
          <a:bodyPr wrap="square" rtlCol="0">
            <a:spAutoFit/>
          </a:bodyPr>
          <a:lstStyle/>
          <a:p>
            <a:pPr algn="ctr"/>
            <a:r>
              <a:rPr lang="en-US" altLang="zh-CN" sz="2200" dirty="0"/>
              <a:t>last/JJ month/NN ,/, judge/NP curry/NP … </a:t>
            </a:r>
            <a:endParaRPr lang="zh-CN" altLang="en-US" sz="2200" dirty="0"/>
          </a:p>
        </p:txBody>
      </p:sp>
      <p:sp>
        <p:nvSpPr>
          <p:cNvPr id="9" name="TextBox 8">
            <a:extLst>
              <a:ext uri="{FF2B5EF4-FFF2-40B4-BE49-F238E27FC236}">
                <a16:creationId xmlns:a16="http://schemas.microsoft.com/office/drawing/2014/main" id="{51A0A3C5-83BD-4B4B-B273-9564E1BDFDA6}"/>
              </a:ext>
            </a:extLst>
          </p:cNvPr>
          <p:cNvSpPr txBox="1"/>
          <p:nvPr/>
        </p:nvSpPr>
        <p:spPr>
          <a:xfrm>
            <a:off x="2971800" y="4772263"/>
            <a:ext cx="1092572" cy="430887"/>
          </a:xfrm>
          <a:prstGeom prst="rect">
            <a:avLst/>
          </a:prstGeom>
          <a:noFill/>
        </p:spPr>
        <p:txBody>
          <a:bodyPr wrap="square" rtlCol="0">
            <a:spAutoFit/>
          </a:bodyPr>
          <a:lstStyle/>
          <a:p>
            <a:pPr algn="ctr"/>
            <a:r>
              <a:rPr lang="zh-CN" altLang="en-US" sz="2200" dirty="0"/>
              <a:t>下标</a:t>
            </a:r>
          </a:p>
        </p:txBody>
      </p:sp>
      <p:graphicFrame>
        <p:nvGraphicFramePr>
          <p:cNvPr id="5" name="Table 4">
            <a:extLst>
              <a:ext uri="{FF2B5EF4-FFF2-40B4-BE49-F238E27FC236}">
                <a16:creationId xmlns:a16="http://schemas.microsoft.com/office/drawing/2014/main" id="{5FCD0B53-1B05-4146-9F01-1F8ED1AD0745}"/>
              </a:ext>
            </a:extLst>
          </p:cNvPr>
          <p:cNvGraphicFramePr>
            <a:graphicFrameLocks noGrp="1"/>
          </p:cNvGraphicFramePr>
          <p:nvPr/>
        </p:nvGraphicFramePr>
        <p:xfrm>
          <a:off x="4064372" y="4114800"/>
          <a:ext cx="4457328" cy="609600"/>
        </p:xfrm>
        <a:graphic>
          <a:graphicData uri="http://schemas.openxmlformats.org/drawingml/2006/table">
            <a:tbl>
              <a:tblPr firstRow="1" bandRow="1">
                <a:tableStyleId>{5940675A-B579-460E-94D1-54222C63F5DA}</a:tableStyleId>
              </a:tblPr>
              <a:tblGrid>
                <a:gridCol w="557166">
                  <a:extLst>
                    <a:ext uri="{9D8B030D-6E8A-4147-A177-3AD203B41FA5}">
                      <a16:colId xmlns:a16="http://schemas.microsoft.com/office/drawing/2014/main" val="2884683681"/>
                    </a:ext>
                  </a:extLst>
                </a:gridCol>
                <a:gridCol w="557166">
                  <a:extLst>
                    <a:ext uri="{9D8B030D-6E8A-4147-A177-3AD203B41FA5}">
                      <a16:colId xmlns:a16="http://schemas.microsoft.com/office/drawing/2014/main" val="3657632391"/>
                    </a:ext>
                  </a:extLst>
                </a:gridCol>
                <a:gridCol w="557166">
                  <a:extLst>
                    <a:ext uri="{9D8B030D-6E8A-4147-A177-3AD203B41FA5}">
                      <a16:colId xmlns:a16="http://schemas.microsoft.com/office/drawing/2014/main" val="7069473"/>
                    </a:ext>
                  </a:extLst>
                </a:gridCol>
                <a:gridCol w="557166">
                  <a:extLst>
                    <a:ext uri="{9D8B030D-6E8A-4147-A177-3AD203B41FA5}">
                      <a16:colId xmlns:a16="http://schemas.microsoft.com/office/drawing/2014/main" val="2681662511"/>
                    </a:ext>
                  </a:extLst>
                </a:gridCol>
                <a:gridCol w="557166">
                  <a:extLst>
                    <a:ext uri="{9D8B030D-6E8A-4147-A177-3AD203B41FA5}">
                      <a16:colId xmlns:a16="http://schemas.microsoft.com/office/drawing/2014/main" val="4204260062"/>
                    </a:ext>
                  </a:extLst>
                </a:gridCol>
                <a:gridCol w="557166">
                  <a:extLst>
                    <a:ext uri="{9D8B030D-6E8A-4147-A177-3AD203B41FA5}">
                      <a16:colId xmlns:a16="http://schemas.microsoft.com/office/drawing/2014/main" val="3318160584"/>
                    </a:ext>
                  </a:extLst>
                </a:gridCol>
                <a:gridCol w="557166">
                  <a:extLst>
                    <a:ext uri="{9D8B030D-6E8A-4147-A177-3AD203B41FA5}">
                      <a16:colId xmlns:a16="http://schemas.microsoft.com/office/drawing/2014/main" val="2431958249"/>
                    </a:ext>
                  </a:extLst>
                </a:gridCol>
                <a:gridCol w="557166">
                  <a:extLst>
                    <a:ext uri="{9D8B030D-6E8A-4147-A177-3AD203B41FA5}">
                      <a16:colId xmlns:a16="http://schemas.microsoft.com/office/drawing/2014/main" val="3217763711"/>
                    </a:ext>
                  </a:extLst>
                </a:gridCol>
              </a:tblGrid>
              <a:tr h="609600">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extLst>
                  <a:ext uri="{0D108BD9-81ED-4DB2-BD59-A6C34878D82A}">
                    <a16:rowId xmlns:a16="http://schemas.microsoft.com/office/drawing/2014/main" val="3906628554"/>
                  </a:ext>
                </a:extLst>
              </a:tr>
            </a:tbl>
          </a:graphicData>
        </a:graphic>
      </p:graphicFrame>
      <p:sp>
        <p:nvSpPr>
          <p:cNvPr id="10" name="TextBox 9">
            <a:extLst>
              <a:ext uri="{FF2B5EF4-FFF2-40B4-BE49-F238E27FC236}">
                <a16:creationId xmlns:a16="http://schemas.microsoft.com/office/drawing/2014/main" id="{881CF2EA-CC61-49AA-871F-5F24F9E9E3C4}"/>
              </a:ext>
            </a:extLst>
          </p:cNvPr>
          <p:cNvSpPr txBox="1"/>
          <p:nvPr/>
        </p:nvSpPr>
        <p:spPr>
          <a:xfrm>
            <a:off x="5715000" y="4877436"/>
            <a:ext cx="571500" cy="382032"/>
          </a:xfrm>
          <a:prstGeom prst="rect">
            <a:avLst/>
          </a:prstGeom>
          <a:noFill/>
        </p:spPr>
        <p:txBody>
          <a:bodyPr wrap="square" rtlCol="0">
            <a:spAutoFit/>
          </a:bodyPr>
          <a:lstStyle/>
          <a:p>
            <a:pPr algn="ctr"/>
            <a:r>
              <a:rPr lang="en-US" altLang="zh-CN" dirty="0"/>
              <a:t>104</a:t>
            </a:r>
            <a:endParaRPr lang="zh-CN" altLang="en-US" dirty="0"/>
          </a:p>
        </p:txBody>
      </p:sp>
      <p:sp>
        <p:nvSpPr>
          <p:cNvPr id="12" name="TextBox 11">
            <a:extLst>
              <a:ext uri="{FF2B5EF4-FFF2-40B4-BE49-F238E27FC236}">
                <a16:creationId xmlns:a16="http://schemas.microsoft.com/office/drawing/2014/main" id="{C9C9A254-648F-4354-8447-ACF99ABEA271}"/>
              </a:ext>
            </a:extLst>
          </p:cNvPr>
          <p:cNvSpPr txBox="1"/>
          <p:nvPr/>
        </p:nvSpPr>
        <p:spPr>
          <a:xfrm>
            <a:off x="6286500" y="4877436"/>
            <a:ext cx="571500" cy="382032"/>
          </a:xfrm>
          <a:prstGeom prst="rect">
            <a:avLst/>
          </a:prstGeom>
          <a:noFill/>
        </p:spPr>
        <p:txBody>
          <a:bodyPr wrap="square" rtlCol="0">
            <a:spAutoFit/>
          </a:bodyPr>
          <a:lstStyle/>
          <a:p>
            <a:pPr algn="ctr"/>
            <a:r>
              <a:rPr lang="en-US" altLang="zh-CN" dirty="0"/>
              <a:t>105</a:t>
            </a:r>
            <a:endParaRPr lang="zh-CN" altLang="en-US" dirty="0"/>
          </a:p>
        </p:txBody>
      </p:sp>
      <p:sp>
        <p:nvSpPr>
          <p:cNvPr id="13" name="TextBox 12">
            <a:extLst>
              <a:ext uri="{FF2B5EF4-FFF2-40B4-BE49-F238E27FC236}">
                <a16:creationId xmlns:a16="http://schemas.microsoft.com/office/drawing/2014/main" id="{1568EE06-C291-48A8-A02D-82305DF2F2AF}"/>
              </a:ext>
            </a:extLst>
          </p:cNvPr>
          <p:cNvSpPr txBox="1"/>
          <p:nvPr/>
        </p:nvSpPr>
        <p:spPr>
          <a:xfrm>
            <a:off x="6832600" y="4877436"/>
            <a:ext cx="571500" cy="382032"/>
          </a:xfrm>
          <a:prstGeom prst="rect">
            <a:avLst/>
          </a:prstGeom>
          <a:noFill/>
        </p:spPr>
        <p:txBody>
          <a:bodyPr wrap="square" rtlCol="0">
            <a:spAutoFit/>
          </a:bodyPr>
          <a:lstStyle/>
          <a:p>
            <a:pPr algn="ctr"/>
            <a:r>
              <a:rPr lang="en-US" altLang="zh-CN" dirty="0"/>
              <a:t>106</a:t>
            </a:r>
            <a:endParaRPr lang="zh-CN" altLang="en-US" dirty="0"/>
          </a:p>
        </p:txBody>
      </p:sp>
      <p:sp>
        <p:nvSpPr>
          <p:cNvPr id="14" name="TextBox 13">
            <a:extLst>
              <a:ext uri="{FF2B5EF4-FFF2-40B4-BE49-F238E27FC236}">
                <a16:creationId xmlns:a16="http://schemas.microsoft.com/office/drawing/2014/main" id="{9759045A-3272-42AA-81AF-20B949013BD8}"/>
              </a:ext>
            </a:extLst>
          </p:cNvPr>
          <p:cNvSpPr txBox="1"/>
          <p:nvPr/>
        </p:nvSpPr>
        <p:spPr>
          <a:xfrm>
            <a:off x="7365628" y="4877436"/>
            <a:ext cx="571500" cy="382032"/>
          </a:xfrm>
          <a:prstGeom prst="rect">
            <a:avLst/>
          </a:prstGeom>
          <a:noFill/>
        </p:spPr>
        <p:txBody>
          <a:bodyPr wrap="square" rtlCol="0">
            <a:spAutoFit/>
          </a:bodyPr>
          <a:lstStyle/>
          <a:p>
            <a:pPr algn="ctr"/>
            <a:r>
              <a:rPr lang="en-US" altLang="zh-CN" dirty="0"/>
              <a:t>107</a:t>
            </a:r>
            <a:endParaRPr lang="zh-CN" altLang="en-US" dirty="0"/>
          </a:p>
        </p:txBody>
      </p:sp>
      <p:sp>
        <p:nvSpPr>
          <p:cNvPr id="15" name="TextBox 14">
            <a:extLst>
              <a:ext uri="{FF2B5EF4-FFF2-40B4-BE49-F238E27FC236}">
                <a16:creationId xmlns:a16="http://schemas.microsoft.com/office/drawing/2014/main" id="{98B04BB9-69D7-420F-AC10-263A658BF756}"/>
              </a:ext>
            </a:extLst>
          </p:cNvPr>
          <p:cNvSpPr txBox="1"/>
          <p:nvPr/>
        </p:nvSpPr>
        <p:spPr>
          <a:xfrm>
            <a:off x="4597030" y="4898391"/>
            <a:ext cx="571500" cy="382032"/>
          </a:xfrm>
          <a:prstGeom prst="rect">
            <a:avLst/>
          </a:prstGeom>
          <a:noFill/>
        </p:spPr>
        <p:txBody>
          <a:bodyPr wrap="square" rtlCol="0">
            <a:spAutoFit/>
          </a:bodyPr>
          <a:lstStyle/>
          <a:p>
            <a:pPr algn="ctr"/>
            <a:r>
              <a:rPr lang="en-US" altLang="zh-CN" dirty="0"/>
              <a:t>8</a:t>
            </a:r>
            <a:endParaRPr lang="zh-CN" altLang="en-US" dirty="0"/>
          </a:p>
        </p:txBody>
      </p:sp>
      <p:sp>
        <p:nvSpPr>
          <p:cNvPr id="16" name="TextBox 15">
            <a:extLst>
              <a:ext uri="{FF2B5EF4-FFF2-40B4-BE49-F238E27FC236}">
                <a16:creationId xmlns:a16="http://schemas.microsoft.com/office/drawing/2014/main" id="{9465DA1D-CEE4-42C4-B7BB-6056EF7B0847}"/>
              </a:ext>
            </a:extLst>
          </p:cNvPr>
          <p:cNvSpPr txBox="1"/>
          <p:nvPr/>
        </p:nvSpPr>
        <p:spPr>
          <a:xfrm>
            <a:off x="3276042" y="2735759"/>
            <a:ext cx="5550086" cy="769441"/>
          </a:xfrm>
          <a:prstGeom prst="rect">
            <a:avLst/>
          </a:prstGeom>
          <a:noFill/>
        </p:spPr>
        <p:txBody>
          <a:bodyPr wrap="square" rtlCol="0">
            <a:spAutoFit/>
          </a:bodyPr>
          <a:lstStyle/>
          <a:p>
            <a:pPr algn="ctr"/>
            <a:r>
              <a:rPr lang="zh-CN" altLang="en-US" sz="2200" dirty="0"/>
              <a:t>变换成一个固定长度为</a:t>
            </a:r>
            <a:r>
              <a:rPr lang="en-US" altLang="zh-CN" sz="2200" dirty="0"/>
              <a:t>9020</a:t>
            </a:r>
            <a:r>
              <a:rPr lang="zh-CN" altLang="en-US" sz="2200" dirty="0"/>
              <a:t>的向量（数组），每一个元素缺省值填</a:t>
            </a:r>
            <a:r>
              <a:rPr lang="en-US" altLang="zh-CN" sz="2200" dirty="0"/>
              <a:t>0</a:t>
            </a:r>
            <a:endParaRPr lang="zh-CN" altLang="en-US" sz="2200" dirty="0"/>
          </a:p>
        </p:txBody>
      </p:sp>
      <p:sp>
        <p:nvSpPr>
          <p:cNvPr id="17" name="TextBox 16">
            <a:extLst>
              <a:ext uri="{FF2B5EF4-FFF2-40B4-BE49-F238E27FC236}">
                <a16:creationId xmlns:a16="http://schemas.microsoft.com/office/drawing/2014/main" id="{59BA1501-4DAE-4150-BD9B-20FBF68759AB}"/>
              </a:ext>
            </a:extLst>
          </p:cNvPr>
          <p:cNvSpPr txBox="1"/>
          <p:nvPr/>
        </p:nvSpPr>
        <p:spPr>
          <a:xfrm>
            <a:off x="4038600"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8" name="TextBox 17">
            <a:extLst>
              <a:ext uri="{FF2B5EF4-FFF2-40B4-BE49-F238E27FC236}">
                <a16:creationId xmlns:a16="http://schemas.microsoft.com/office/drawing/2014/main" id="{3A748A39-3774-495B-B9D2-48C936D8D67C}"/>
              </a:ext>
            </a:extLst>
          </p:cNvPr>
          <p:cNvSpPr txBox="1"/>
          <p:nvPr/>
        </p:nvSpPr>
        <p:spPr>
          <a:xfrm>
            <a:off x="5194302"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9" name="TextBox 18">
            <a:extLst>
              <a:ext uri="{FF2B5EF4-FFF2-40B4-BE49-F238E27FC236}">
                <a16:creationId xmlns:a16="http://schemas.microsoft.com/office/drawing/2014/main" id="{098B498E-71F9-4F22-A56D-0089ECFEEFFD}"/>
              </a:ext>
            </a:extLst>
          </p:cNvPr>
          <p:cNvSpPr txBox="1"/>
          <p:nvPr/>
        </p:nvSpPr>
        <p:spPr>
          <a:xfrm>
            <a:off x="7962900" y="4898391"/>
            <a:ext cx="571500" cy="369332"/>
          </a:xfrm>
          <a:prstGeom prst="rect">
            <a:avLst/>
          </a:prstGeom>
          <a:noFill/>
        </p:spPr>
        <p:txBody>
          <a:bodyPr wrap="square" rtlCol="0">
            <a:spAutoFit/>
          </a:bodyPr>
          <a:lstStyle/>
          <a:p>
            <a:pPr algn="ctr"/>
            <a:r>
              <a:rPr lang="en-US" altLang="zh-CN" dirty="0"/>
              <a:t>…</a:t>
            </a:r>
            <a:endParaRPr lang="zh-CN" altLang="en-US" dirty="0"/>
          </a:p>
        </p:txBody>
      </p:sp>
    </p:spTree>
    <p:custDataLst>
      <p:tags r:id="rId1"/>
    </p:custDataLst>
    <p:extLst>
      <p:ext uri="{BB962C8B-B14F-4D97-AF65-F5344CB8AC3E}">
        <p14:creationId xmlns:p14="http://schemas.microsoft.com/office/powerpoint/2010/main" val="347317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3" grpId="0"/>
      <p:bldP spid="14" grpId="0"/>
      <p:bldP spid="15" grpId="0"/>
      <p:bldP spid="16" grpId="0"/>
      <p:bldP spid="17" grpId="0"/>
      <p:bldP spid="18" grpId="0"/>
      <p:bldP spid="1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变换输入 </a:t>
            </a:r>
            <a:r>
              <a:rPr lang="en-US" altLang="zh-CN" dirty="0">
                <a:ea typeface="ＭＳ Ｐゴシック" panose="020B0600070205080204" pitchFamily="34" charset="-128"/>
              </a:rPr>
              <a:t>(2)</a:t>
            </a:r>
            <a:endParaRPr lang="zh-CN" altLang="en-US" dirty="0"/>
          </a:p>
        </p:txBody>
      </p:sp>
      <p:sp>
        <p:nvSpPr>
          <p:cNvPr id="7" name="TextBox 6">
            <a:extLst>
              <a:ext uri="{FF2B5EF4-FFF2-40B4-BE49-F238E27FC236}">
                <a16:creationId xmlns:a16="http://schemas.microsoft.com/office/drawing/2014/main" id="{8525F7E3-6188-440D-90A4-AABA9FFD5CA9}"/>
              </a:ext>
            </a:extLst>
          </p:cNvPr>
          <p:cNvSpPr txBox="1"/>
          <p:nvPr/>
        </p:nvSpPr>
        <p:spPr>
          <a:xfrm>
            <a:off x="0" y="1802548"/>
            <a:ext cx="2704730" cy="3477875"/>
          </a:xfrm>
          <a:prstGeom prst="rect">
            <a:avLst/>
          </a:prstGeom>
          <a:noFill/>
        </p:spPr>
        <p:txBody>
          <a:bodyPr wrap="square" rtlCol="0">
            <a:spAutoFit/>
          </a:bodyPr>
          <a:lstStyle/>
          <a:p>
            <a:pPr algn="ctr"/>
            <a:r>
              <a:rPr lang="zh-CN" altLang="en-US" sz="2200" b="1" dirty="0"/>
              <a:t>字典</a:t>
            </a:r>
            <a:endParaRPr lang="en-US" altLang="zh-CN" sz="2200" b="1" dirty="0"/>
          </a:p>
          <a:p>
            <a:pPr algn="ctr"/>
            <a:r>
              <a:rPr lang="en-US" altLang="zh-CN" sz="2200" dirty="0"/>
              <a:t>…</a:t>
            </a:r>
          </a:p>
          <a:p>
            <a:pPr algn="ctr"/>
            <a:r>
              <a:rPr lang="en-US" altLang="zh-CN" sz="2200" dirty="0"/>
              <a:t>,/, </a:t>
            </a:r>
            <a:r>
              <a:rPr lang="en-US" altLang="zh-CN" sz="2200" dirty="0">
                <a:latin typeface="等线" panose="02010600030101010101" pitchFamily="2" charset="-122"/>
                <a:ea typeface="等线" panose="02010600030101010101" pitchFamily="2" charset="-122"/>
              </a:rPr>
              <a:t>→</a:t>
            </a:r>
            <a:r>
              <a:rPr lang="en-US" altLang="zh-CN" sz="2200" dirty="0"/>
              <a:t> 8</a:t>
            </a:r>
          </a:p>
          <a:p>
            <a:pPr algn="ctr"/>
            <a:r>
              <a:rPr lang="en-US" altLang="zh-CN" sz="2200" dirty="0"/>
              <a:t>…</a:t>
            </a:r>
          </a:p>
          <a:p>
            <a:pPr algn="ctr"/>
            <a:r>
              <a:rPr lang="en-US" altLang="zh-CN" sz="2200" dirty="0"/>
              <a:t>last/JJ </a:t>
            </a:r>
            <a:r>
              <a:rPr lang="en-US" altLang="zh-CN" sz="2200" dirty="0">
                <a:latin typeface="等线" panose="02010600030101010101" pitchFamily="2" charset="-122"/>
                <a:ea typeface="等线" panose="02010600030101010101" pitchFamily="2" charset="-122"/>
              </a:rPr>
              <a:t>→</a:t>
            </a:r>
            <a:r>
              <a:rPr lang="en-US" altLang="zh-CN" sz="2200" dirty="0"/>
              <a:t> 104,</a:t>
            </a:r>
            <a:r>
              <a:rPr lang="zh-CN" altLang="en-US" sz="2200" dirty="0"/>
              <a:t> </a:t>
            </a:r>
            <a:endParaRPr lang="en-US" altLang="zh-CN" sz="2200" dirty="0"/>
          </a:p>
          <a:p>
            <a:pPr algn="ctr"/>
            <a:r>
              <a:rPr lang="en-US" altLang="zh-CN" sz="2200" dirty="0"/>
              <a:t>month/NN </a:t>
            </a:r>
            <a:r>
              <a:rPr lang="en-US" altLang="zh-CN" sz="2200" dirty="0">
                <a:latin typeface="等线" panose="02010600030101010101" pitchFamily="2" charset="-122"/>
                <a:ea typeface="等线" panose="02010600030101010101" pitchFamily="2" charset="-122"/>
              </a:rPr>
              <a:t>→</a:t>
            </a:r>
            <a:r>
              <a:rPr lang="en-US" altLang="zh-CN" sz="2200" dirty="0"/>
              <a:t> 105, </a:t>
            </a:r>
          </a:p>
          <a:p>
            <a:pPr algn="ctr"/>
            <a:r>
              <a:rPr lang="en-US" altLang="zh-CN" sz="2200" dirty="0"/>
              <a:t>judge/NP </a:t>
            </a:r>
            <a:r>
              <a:rPr lang="en-US" altLang="zh-CN" sz="2200" dirty="0">
                <a:latin typeface="等线" panose="02010600030101010101" pitchFamily="2" charset="-122"/>
                <a:ea typeface="等线" panose="02010600030101010101" pitchFamily="2" charset="-122"/>
              </a:rPr>
              <a:t>→</a:t>
            </a:r>
            <a:r>
              <a:rPr lang="en-US" altLang="zh-CN" sz="2200" dirty="0"/>
              <a:t> 106,</a:t>
            </a:r>
          </a:p>
          <a:p>
            <a:pPr algn="ctr"/>
            <a:r>
              <a:rPr lang="en-US" altLang="zh-CN" sz="2200" dirty="0"/>
              <a:t>curry/NP </a:t>
            </a:r>
            <a:r>
              <a:rPr lang="en-US" altLang="zh-CN" sz="2200" dirty="0">
                <a:latin typeface="等线" panose="02010600030101010101" pitchFamily="2" charset="-122"/>
                <a:ea typeface="等线" panose="02010600030101010101" pitchFamily="2" charset="-122"/>
              </a:rPr>
              <a:t>→</a:t>
            </a:r>
            <a:r>
              <a:rPr lang="en-US" altLang="zh-CN" sz="2200" dirty="0"/>
              <a:t> 107,</a:t>
            </a:r>
          </a:p>
          <a:p>
            <a:pPr algn="ctr"/>
            <a:r>
              <a:rPr lang="en-US" altLang="zh-CN" sz="2200" dirty="0"/>
              <a:t>…</a:t>
            </a:r>
          </a:p>
          <a:p>
            <a:pPr algn="ctr"/>
            <a:r>
              <a:rPr lang="en-US" altLang="zh-CN" sz="2200" dirty="0"/>
              <a:t>cent/NN</a:t>
            </a:r>
            <a:r>
              <a:rPr lang="en-US" altLang="zh-CN" sz="2200" dirty="0">
                <a:latin typeface="等线" panose="02010600030101010101" pitchFamily="2" charset="-122"/>
                <a:ea typeface="等线" panose="02010600030101010101" pitchFamily="2" charset="-122"/>
              </a:rPr>
              <a:t> →</a:t>
            </a:r>
            <a:r>
              <a:rPr lang="en-US" altLang="zh-CN" sz="2200" dirty="0"/>
              <a:t> 9019</a:t>
            </a:r>
            <a:endParaRPr lang="zh-CN" altLang="en-US" sz="2200" dirty="0"/>
          </a:p>
        </p:txBody>
      </p:sp>
      <p:sp>
        <p:nvSpPr>
          <p:cNvPr id="8" name="TextBox 7">
            <a:extLst>
              <a:ext uri="{FF2B5EF4-FFF2-40B4-BE49-F238E27FC236}">
                <a16:creationId xmlns:a16="http://schemas.microsoft.com/office/drawing/2014/main" id="{E923D727-2455-4C31-991C-6A7DE0FFC49D}"/>
              </a:ext>
            </a:extLst>
          </p:cNvPr>
          <p:cNvSpPr txBox="1"/>
          <p:nvPr/>
        </p:nvSpPr>
        <p:spPr>
          <a:xfrm>
            <a:off x="2438400" y="1924883"/>
            <a:ext cx="6324600" cy="430887"/>
          </a:xfrm>
          <a:prstGeom prst="rect">
            <a:avLst/>
          </a:prstGeom>
          <a:noFill/>
        </p:spPr>
        <p:txBody>
          <a:bodyPr wrap="square" rtlCol="0">
            <a:spAutoFit/>
          </a:bodyPr>
          <a:lstStyle/>
          <a:p>
            <a:pPr algn="ctr"/>
            <a:r>
              <a:rPr lang="en-US" altLang="zh-CN" sz="2200" dirty="0"/>
              <a:t>last/JJ month/NN ,/, judge/NP curry/NP … </a:t>
            </a:r>
            <a:endParaRPr lang="zh-CN" altLang="en-US" sz="2200" dirty="0"/>
          </a:p>
        </p:txBody>
      </p:sp>
      <p:sp>
        <p:nvSpPr>
          <p:cNvPr id="9" name="TextBox 8">
            <a:extLst>
              <a:ext uri="{FF2B5EF4-FFF2-40B4-BE49-F238E27FC236}">
                <a16:creationId xmlns:a16="http://schemas.microsoft.com/office/drawing/2014/main" id="{51A0A3C5-83BD-4B4B-B273-9564E1BDFDA6}"/>
              </a:ext>
            </a:extLst>
          </p:cNvPr>
          <p:cNvSpPr txBox="1"/>
          <p:nvPr/>
        </p:nvSpPr>
        <p:spPr>
          <a:xfrm>
            <a:off x="2971800" y="4772263"/>
            <a:ext cx="1092572" cy="430887"/>
          </a:xfrm>
          <a:prstGeom prst="rect">
            <a:avLst/>
          </a:prstGeom>
          <a:noFill/>
        </p:spPr>
        <p:txBody>
          <a:bodyPr wrap="square" rtlCol="0">
            <a:spAutoFit/>
          </a:bodyPr>
          <a:lstStyle/>
          <a:p>
            <a:pPr algn="ctr"/>
            <a:r>
              <a:rPr lang="zh-CN" altLang="en-US" sz="2200" dirty="0"/>
              <a:t>下标</a:t>
            </a:r>
          </a:p>
        </p:txBody>
      </p:sp>
      <p:graphicFrame>
        <p:nvGraphicFramePr>
          <p:cNvPr id="5" name="Table 4">
            <a:extLst>
              <a:ext uri="{FF2B5EF4-FFF2-40B4-BE49-F238E27FC236}">
                <a16:creationId xmlns:a16="http://schemas.microsoft.com/office/drawing/2014/main" id="{5FCD0B53-1B05-4146-9F01-1F8ED1AD0745}"/>
              </a:ext>
            </a:extLst>
          </p:cNvPr>
          <p:cNvGraphicFramePr>
            <a:graphicFrameLocks noGrp="1"/>
          </p:cNvGraphicFramePr>
          <p:nvPr/>
        </p:nvGraphicFramePr>
        <p:xfrm>
          <a:off x="4064372" y="4114800"/>
          <a:ext cx="4457328" cy="609600"/>
        </p:xfrm>
        <a:graphic>
          <a:graphicData uri="http://schemas.openxmlformats.org/drawingml/2006/table">
            <a:tbl>
              <a:tblPr firstRow="1" bandRow="1">
                <a:tableStyleId>{5940675A-B579-460E-94D1-54222C63F5DA}</a:tableStyleId>
              </a:tblPr>
              <a:tblGrid>
                <a:gridCol w="557166">
                  <a:extLst>
                    <a:ext uri="{9D8B030D-6E8A-4147-A177-3AD203B41FA5}">
                      <a16:colId xmlns:a16="http://schemas.microsoft.com/office/drawing/2014/main" val="2884683681"/>
                    </a:ext>
                  </a:extLst>
                </a:gridCol>
                <a:gridCol w="557166">
                  <a:extLst>
                    <a:ext uri="{9D8B030D-6E8A-4147-A177-3AD203B41FA5}">
                      <a16:colId xmlns:a16="http://schemas.microsoft.com/office/drawing/2014/main" val="3657632391"/>
                    </a:ext>
                  </a:extLst>
                </a:gridCol>
                <a:gridCol w="557166">
                  <a:extLst>
                    <a:ext uri="{9D8B030D-6E8A-4147-A177-3AD203B41FA5}">
                      <a16:colId xmlns:a16="http://schemas.microsoft.com/office/drawing/2014/main" val="7069473"/>
                    </a:ext>
                  </a:extLst>
                </a:gridCol>
                <a:gridCol w="557166">
                  <a:extLst>
                    <a:ext uri="{9D8B030D-6E8A-4147-A177-3AD203B41FA5}">
                      <a16:colId xmlns:a16="http://schemas.microsoft.com/office/drawing/2014/main" val="2681662511"/>
                    </a:ext>
                  </a:extLst>
                </a:gridCol>
                <a:gridCol w="557166">
                  <a:extLst>
                    <a:ext uri="{9D8B030D-6E8A-4147-A177-3AD203B41FA5}">
                      <a16:colId xmlns:a16="http://schemas.microsoft.com/office/drawing/2014/main" val="4204260062"/>
                    </a:ext>
                  </a:extLst>
                </a:gridCol>
                <a:gridCol w="557166">
                  <a:extLst>
                    <a:ext uri="{9D8B030D-6E8A-4147-A177-3AD203B41FA5}">
                      <a16:colId xmlns:a16="http://schemas.microsoft.com/office/drawing/2014/main" val="3318160584"/>
                    </a:ext>
                  </a:extLst>
                </a:gridCol>
                <a:gridCol w="557166">
                  <a:extLst>
                    <a:ext uri="{9D8B030D-6E8A-4147-A177-3AD203B41FA5}">
                      <a16:colId xmlns:a16="http://schemas.microsoft.com/office/drawing/2014/main" val="2431958249"/>
                    </a:ext>
                  </a:extLst>
                </a:gridCol>
                <a:gridCol w="557166">
                  <a:extLst>
                    <a:ext uri="{9D8B030D-6E8A-4147-A177-3AD203B41FA5}">
                      <a16:colId xmlns:a16="http://schemas.microsoft.com/office/drawing/2014/main" val="3217763711"/>
                    </a:ext>
                  </a:extLst>
                </a:gridCol>
              </a:tblGrid>
              <a:tr h="609600">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extLst>
                  <a:ext uri="{0D108BD9-81ED-4DB2-BD59-A6C34878D82A}">
                    <a16:rowId xmlns:a16="http://schemas.microsoft.com/office/drawing/2014/main" val="3906628554"/>
                  </a:ext>
                </a:extLst>
              </a:tr>
            </a:tbl>
          </a:graphicData>
        </a:graphic>
      </p:graphicFrame>
      <p:sp>
        <p:nvSpPr>
          <p:cNvPr id="10" name="TextBox 9">
            <a:extLst>
              <a:ext uri="{FF2B5EF4-FFF2-40B4-BE49-F238E27FC236}">
                <a16:creationId xmlns:a16="http://schemas.microsoft.com/office/drawing/2014/main" id="{881CF2EA-CC61-49AA-871F-5F24F9E9E3C4}"/>
              </a:ext>
            </a:extLst>
          </p:cNvPr>
          <p:cNvSpPr txBox="1"/>
          <p:nvPr/>
        </p:nvSpPr>
        <p:spPr>
          <a:xfrm>
            <a:off x="5715000" y="4877436"/>
            <a:ext cx="571500" cy="382032"/>
          </a:xfrm>
          <a:prstGeom prst="rect">
            <a:avLst/>
          </a:prstGeom>
          <a:noFill/>
        </p:spPr>
        <p:txBody>
          <a:bodyPr wrap="square" rtlCol="0">
            <a:spAutoFit/>
          </a:bodyPr>
          <a:lstStyle/>
          <a:p>
            <a:pPr algn="ctr"/>
            <a:r>
              <a:rPr lang="en-US" altLang="zh-CN" dirty="0"/>
              <a:t>104</a:t>
            </a:r>
            <a:endParaRPr lang="zh-CN" altLang="en-US" dirty="0"/>
          </a:p>
        </p:txBody>
      </p:sp>
      <p:sp>
        <p:nvSpPr>
          <p:cNvPr id="12" name="TextBox 11">
            <a:extLst>
              <a:ext uri="{FF2B5EF4-FFF2-40B4-BE49-F238E27FC236}">
                <a16:creationId xmlns:a16="http://schemas.microsoft.com/office/drawing/2014/main" id="{C9C9A254-648F-4354-8447-ACF99ABEA271}"/>
              </a:ext>
            </a:extLst>
          </p:cNvPr>
          <p:cNvSpPr txBox="1"/>
          <p:nvPr/>
        </p:nvSpPr>
        <p:spPr>
          <a:xfrm>
            <a:off x="6286500" y="4877436"/>
            <a:ext cx="571500" cy="382032"/>
          </a:xfrm>
          <a:prstGeom prst="rect">
            <a:avLst/>
          </a:prstGeom>
          <a:noFill/>
        </p:spPr>
        <p:txBody>
          <a:bodyPr wrap="square" rtlCol="0">
            <a:spAutoFit/>
          </a:bodyPr>
          <a:lstStyle/>
          <a:p>
            <a:pPr algn="ctr"/>
            <a:r>
              <a:rPr lang="en-US" altLang="zh-CN" dirty="0"/>
              <a:t>105</a:t>
            </a:r>
            <a:endParaRPr lang="zh-CN" altLang="en-US" dirty="0"/>
          </a:p>
        </p:txBody>
      </p:sp>
      <p:sp>
        <p:nvSpPr>
          <p:cNvPr id="13" name="TextBox 12">
            <a:extLst>
              <a:ext uri="{FF2B5EF4-FFF2-40B4-BE49-F238E27FC236}">
                <a16:creationId xmlns:a16="http://schemas.microsoft.com/office/drawing/2014/main" id="{1568EE06-C291-48A8-A02D-82305DF2F2AF}"/>
              </a:ext>
            </a:extLst>
          </p:cNvPr>
          <p:cNvSpPr txBox="1"/>
          <p:nvPr/>
        </p:nvSpPr>
        <p:spPr>
          <a:xfrm>
            <a:off x="6832600" y="4877436"/>
            <a:ext cx="571500" cy="382032"/>
          </a:xfrm>
          <a:prstGeom prst="rect">
            <a:avLst/>
          </a:prstGeom>
          <a:noFill/>
        </p:spPr>
        <p:txBody>
          <a:bodyPr wrap="square" rtlCol="0">
            <a:spAutoFit/>
          </a:bodyPr>
          <a:lstStyle/>
          <a:p>
            <a:pPr algn="ctr"/>
            <a:r>
              <a:rPr lang="en-US" altLang="zh-CN" dirty="0"/>
              <a:t>106</a:t>
            </a:r>
            <a:endParaRPr lang="zh-CN" altLang="en-US" dirty="0"/>
          </a:p>
        </p:txBody>
      </p:sp>
      <p:sp>
        <p:nvSpPr>
          <p:cNvPr id="14" name="TextBox 13">
            <a:extLst>
              <a:ext uri="{FF2B5EF4-FFF2-40B4-BE49-F238E27FC236}">
                <a16:creationId xmlns:a16="http://schemas.microsoft.com/office/drawing/2014/main" id="{9759045A-3272-42AA-81AF-20B949013BD8}"/>
              </a:ext>
            </a:extLst>
          </p:cNvPr>
          <p:cNvSpPr txBox="1"/>
          <p:nvPr/>
        </p:nvSpPr>
        <p:spPr>
          <a:xfrm>
            <a:off x="7365628" y="4877436"/>
            <a:ext cx="571500" cy="382032"/>
          </a:xfrm>
          <a:prstGeom prst="rect">
            <a:avLst/>
          </a:prstGeom>
          <a:noFill/>
        </p:spPr>
        <p:txBody>
          <a:bodyPr wrap="square" rtlCol="0">
            <a:spAutoFit/>
          </a:bodyPr>
          <a:lstStyle/>
          <a:p>
            <a:pPr algn="ctr"/>
            <a:r>
              <a:rPr lang="en-US" altLang="zh-CN" dirty="0"/>
              <a:t>107</a:t>
            </a:r>
            <a:endParaRPr lang="zh-CN" altLang="en-US" dirty="0"/>
          </a:p>
        </p:txBody>
      </p:sp>
      <p:sp>
        <p:nvSpPr>
          <p:cNvPr id="15" name="TextBox 14">
            <a:extLst>
              <a:ext uri="{FF2B5EF4-FFF2-40B4-BE49-F238E27FC236}">
                <a16:creationId xmlns:a16="http://schemas.microsoft.com/office/drawing/2014/main" id="{98B04BB9-69D7-420F-AC10-263A658BF756}"/>
              </a:ext>
            </a:extLst>
          </p:cNvPr>
          <p:cNvSpPr txBox="1"/>
          <p:nvPr/>
        </p:nvSpPr>
        <p:spPr>
          <a:xfrm>
            <a:off x="4597030" y="4898391"/>
            <a:ext cx="571500" cy="382032"/>
          </a:xfrm>
          <a:prstGeom prst="rect">
            <a:avLst/>
          </a:prstGeom>
          <a:noFill/>
        </p:spPr>
        <p:txBody>
          <a:bodyPr wrap="square" rtlCol="0">
            <a:spAutoFit/>
          </a:bodyPr>
          <a:lstStyle/>
          <a:p>
            <a:pPr algn="ctr"/>
            <a:r>
              <a:rPr lang="en-US" altLang="zh-CN" dirty="0"/>
              <a:t>8</a:t>
            </a:r>
            <a:endParaRPr lang="zh-CN" altLang="en-US" dirty="0"/>
          </a:p>
        </p:txBody>
      </p:sp>
      <p:sp>
        <p:nvSpPr>
          <p:cNvPr id="17" name="TextBox 16">
            <a:extLst>
              <a:ext uri="{FF2B5EF4-FFF2-40B4-BE49-F238E27FC236}">
                <a16:creationId xmlns:a16="http://schemas.microsoft.com/office/drawing/2014/main" id="{59BA1501-4DAE-4150-BD9B-20FBF68759AB}"/>
              </a:ext>
            </a:extLst>
          </p:cNvPr>
          <p:cNvSpPr txBox="1"/>
          <p:nvPr/>
        </p:nvSpPr>
        <p:spPr>
          <a:xfrm>
            <a:off x="4038600"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8" name="TextBox 17">
            <a:extLst>
              <a:ext uri="{FF2B5EF4-FFF2-40B4-BE49-F238E27FC236}">
                <a16:creationId xmlns:a16="http://schemas.microsoft.com/office/drawing/2014/main" id="{3A748A39-3774-495B-B9D2-48C936D8D67C}"/>
              </a:ext>
            </a:extLst>
          </p:cNvPr>
          <p:cNvSpPr txBox="1"/>
          <p:nvPr/>
        </p:nvSpPr>
        <p:spPr>
          <a:xfrm>
            <a:off x="5194302"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9" name="TextBox 18">
            <a:extLst>
              <a:ext uri="{FF2B5EF4-FFF2-40B4-BE49-F238E27FC236}">
                <a16:creationId xmlns:a16="http://schemas.microsoft.com/office/drawing/2014/main" id="{098B498E-71F9-4F22-A56D-0089ECFEEFFD}"/>
              </a:ext>
            </a:extLst>
          </p:cNvPr>
          <p:cNvSpPr txBox="1"/>
          <p:nvPr/>
        </p:nvSpPr>
        <p:spPr>
          <a:xfrm>
            <a:off x="7962900" y="4898391"/>
            <a:ext cx="571500" cy="369332"/>
          </a:xfrm>
          <a:prstGeom prst="rect">
            <a:avLst/>
          </a:prstGeom>
          <a:noFill/>
        </p:spPr>
        <p:txBody>
          <a:bodyPr wrap="square" rtlCol="0">
            <a:spAutoFit/>
          </a:bodyPr>
          <a:lstStyle/>
          <a:p>
            <a:pPr algn="ctr"/>
            <a:r>
              <a:rPr lang="en-US" altLang="zh-CN" dirty="0"/>
              <a:t>…</a:t>
            </a:r>
            <a:endParaRPr lang="zh-CN" altLang="en-US" dirty="0"/>
          </a:p>
        </p:txBody>
      </p:sp>
      <p:cxnSp>
        <p:nvCxnSpPr>
          <p:cNvPr id="6" name="Straight Arrow Connector 5">
            <a:extLst>
              <a:ext uri="{FF2B5EF4-FFF2-40B4-BE49-F238E27FC236}">
                <a16:creationId xmlns:a16="http://schemas.microsoft.com/office/drawing/2014/main" id="{F2149BA7-6A6E-46F1-B281-19199196458E}"/>
              </a:ext>
            </a:extLst>
          </p:cNvPr>
          <p:cNvCxnSpPr/>
          <p:nvPr/>
        </p:nvCxnSpPr>
        <p:spPr bwMode="auto">
          <a:xfrm flipH="1">
            <a:off x="1122363" y="2355770"/>
            <a:ext cx="2078037" cy="8446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921B8A07-0D50-46D6-8FC9-40EE90F563E3}"/>
              </a:ext>
            </a:extLst>
          </p:cNvPr>
          <p:cNvCxnSpPr>
            <a:cxnSpLocks/>
          </p:cNvCxnSpPr>
          <p:nvPr/>
        </p:nvCxnSpPr>
        <p:spPr bwMode="auto">
          <a:xfrm>
            <a:off x="2362200" y="3352800"/>
            <a:ext cx="3505200"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9E3FFEE1-F9D3-48C7-89CA-29AA853C4120}"/>
              </a:ext>
            </a:extLst>
          </p:cNvPr>
          <p:cNvSpPr txBox="1"/>
          <p:nvPr/>
        </p:nvSpPr>
        <p:spPr>
          <a:xfrm>
            <a:off x="5715000" y="4267200"/>
            <a:ext cx="571500" cy="382032"/>
          </a:xfrm>
          <a:prstGeom prst="rect">
            <a:avLst/>
          </a:prstGeom>
          <a:noFill/>
        </p:spPr>
        <p:txBody>
          <a:bodyPr wrap="square" rtlCol="0">
            <a:spAutoFit/>
          </a:bodyPr>
          <a:lstStyle/>
          <a:p>
            <a:pPr algn="ctr"/>
            <a:r>
              <a:rPr lang="en-US" altLang="zh-CN" dirty="0"/>
              <a:t>1</a:t>
            </a:r>
            <a:endParaRPr lang="zh-CN" altLang="en-US" dirty="0"/>
          </a:p>
        </p:txBody>
      </p:sp>
    </p:spTree>
    <p:custDataLst>
      <p:tags r:id="rId1"/>
    </p:custDataLst>
    <p:extLst>
      <p:ext uri="{BB962C8B-B14F-4D97-AF65-F5344CB8AC3E}">
        <p14:creationId xmlns:p14="http://schemas.microsoft.com/office/powerpoint/2010/main" val="1711031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变换输入 </a:t>
            </a:r>
            <a:r>
              <a:rPr lang="en-US" altLang="zh-CN" dirty="0">
                <a:ea typeface="ＭＳ Ｐゴシック" panose="020B0600070205080204" pitchFamily="34" charset="-128"/>
              </a:rPr>
              <a:t>(2)</a:t>
            </a:r>
            <a:endParaRPr lang="zh-CN" altLang="en-US" dirty="0"/>
          </a:p>
        </p:txBody>
      </p:sp>
      <p:sp>
        <p:nvSpPr>
          <p:cNvPr id="7" name="TextBox 6">
            <a:extLst>
              <a:ext uri="{FF2B5EF4-FFF2-40B4-BE49-F238E27FC236}">
                <a16:creationId xmlns:a16="http://schemas.microsoft.com/office/drawing/2014/main" id="{8525F7E3-6188-440D-90A4-AABA9FFD5CA9}"/>
              </a:ext>
            </a:extLst>
          </p:cNvPr>
          <p:cNvSpPr txBox="1"/>
          <p:nvPr/>
        </p:nvSpPr>
        <p:spPr>
          <a:xfrm>
            <a:off x="0" y="1802548"/>
            <a:ext cx="2704730" cy="3477875"/>
          </a:xfrm>
          <a:prstGeom prst="rect">
            <a:avLst/>
          </a:prstGeom>
          <a:noFill/>
        </p:spPr>
        <p:txBody>
          <a:bodyPr wrap="square" rtlCol="0">
            <a:spAutoFit/>
          </a:bodyPr>
          <a:lstStyle/>
          <a:p>
            <a:pPr algn="ctr"/>
            <a:r>
              <a:rPr lang="zh-CN" altLang="en-US" sz="2200" b="1" dirty="0"/>
              <a:t>字典</a:t>
            </a:r>
            <a:endParaRPr lang="en-US" altLang="zh-CN" sz="2200" b="1" dirty="0"/>
          </a:p>
          <a:p>
            <a:pPr algn="ctr"/>
            <a:r>
              <a:rPr lang="en-US" altLang="zh-CN" sz="2200" dirty="0"/>
              <a:t>…</a:t>
            </a:r>
          </a:p>
          <a:p>
            <a:pPr algn="ctr"/>
            <a:r>
              <a:rPr lang="en-US" altLang="zh-CN" sz="2200" dirty="0"/>
              <a:t>,/, </a:t>
            </a:r>
            <a:r>
              <a:rPr lang="en-US" altLang="zh-CN" sz="2200" dirty="0">
                <a:latin typeface="等线" panose="02010600030101010101" pitchFamily="2" charset="-122"/>
                <a:ea typeface="等线" panose="02010600030101010101" pitchFamily="2" charset="-122"/>
              </a:rPr>
              <a:t>→</a:t>
            </a:r>
            <a:r>
              <a:rPr lang="en-US" altLang="zh-CN" sz="2200" dirty="0"/>
              <a:t> 8</a:t>
            </a:r>
          </a:p>
          <a:p>
            <a:pPr algn="ctr"/>
            <a:r>
              <a:rPr lang="en-US" altLang="zh-CN" sz="2200" dirty="0"/>
              <a:t>…</a:t>
            </a:r>
          </a:p>
          <a:p>
            <a:pPr algn="ctr"/>
            <a:r>
              <a:rPr lang="en-US" altLang="zh-CN" sz="2200" dirty="0"/>
              <a:t>last/JJ </a:t>
            </a:r>
            <a:r>
              <a:rPr lang="en-US" altLang="zh-CN" sz="2200" dirty="0">
                <a:latin typeface="等线" panose="02010600030101010101" pitchFamily="2" charset="-122"/>
                <a:ea typeface="等线" panose="02010600030101010101" pitchFamily="2" charset="-122"/>
              </a:rPr>
              <a:t>→</a:t>
            </a:r>
            <a:r>
              <a:rPr lang="en-US" altLang="zh-CN" sz="2200" dirty="0"/>
              <a:t> 104,</a:t>
            </a:r>
            <a:r>
              <a:rPr lang="zh-CN" altLang="en-US" sz="2200" dirty="0"/>
              <a:t> </a:t>
            </a:r>
            <a:endParaRPr lang="en-US" altLang="zh-CN" sz="2200" dirty="0"/>
          </a:p>
          <a:p>
            <a:pPr algn="ctr"/>
            <a:r>
              <a:rPr lang="en-US" altLang="zh-CN" sz="2200" dirty="0"/>
              <a:t>month/NN </a:t>
            </a:r>
            <a:r>
              <a:rPr lang="en-US" altLang="zh-CN" sz="2200" dirty="0">
                <a:latin typeface="等线" panose="02010600030101010101" pitchFamily="2" charset="-122"/>
                <a:ea typeface="等线" panose="02010600030101010101" pitchFamily="2" charset="-122"/>
              </a:rPr>
              <a:t>→</a:t>
            </a:r>
            <a:r>
              <a:rPr lang="en-US" altLang="zh-CN" sz="2200" dirty="0"/>
              <a:t> 105, </a:t>
            </a:r>
          </a:p>
          <a:p>
            <a:pPr algn="ctr"/>
            <a:r>
              <a:rPr lang="en-US" altLang="zh-CN" sz="2200" dirty="0"/>
              <a:t>judge/NP </a:t>
            </a:r>
            <a:r>
              <a:rPr lang="en-US" altLang="zh-CN" sz="2200" dirty="0">
                <a:latin typeface="等线" panose="02010600030101010101" pitchFamily="2" charset="-122"/>
                <a:ea typeface="等线" panose="02010600030101010101" pitchFamily="2" charset="-122"/>
              </a:rPr>
              <a:t>→</a:t>
            </a:r>
            <a:r>
              <a:rPr lang="en-US" altLang="zh-CN" sz="2200" dirty="0"/>
              <a:t> 106,</a:t>
            </a:r>
          </a:p>
          <a:p>
            <a:pPr algn="ctr"/>
            <a:r>
              <a:rPr lang="en-US" altLang="zh-CN" sz="2200" dirty="0"/>
              <a:t>curry/NP </a:t>
            </a:r>
            <a:r>
              <a:rPr lang="en-US" altLang="zh-CN" sz="2200" dirty="0">
                <a:latin typeface="等线" panose="02010600030101010101" pitchFamily="2" charset="-122"/>
                <a:ea typeface="等线" panose="02010600030101010101" pitchFamily="2" charset="-122"/>
              </a:rPr>
              <a:t>→</a:t>
            </a:r>
            <a:r>
              <a:rPr lang="en-US" altLang="zh-CN" sz="2200" dirty="0"/>
              <a:t> 107,</a:t>
            </a:r>
          </a:p>
          <a:p>
            <a:pPr algn="ctr"/>
            <a:r>
              <a:rPr lang="en-US" altLang="zh-CN" sz="2200" dirty="0"/>
              <a:t>…</a:t>
            </a:r>
          </a:p>
          <a:p>
            <a:pPr algn="ctr"/>
            <a:r>
              <a:rPr lang="en-US" altLang="zh-CN" sz="2200" dirty="0"/>
              <a:t>cent/NN</a:t>
            </a:r>
            <a:r>
              <a:rPr lang="en-US" altLang="zh-CN" sz="2200" dirty="0">
                <a:latin typeface="等线" panose="02010600030101010101" pitchFamily="2" charset="-122"/>
                <a:ea typeface="等线" panose="02010600030101010101" pitchFamily="2" charset="-122"/>
              </a:rPr>
              <a:t> →</a:t>
            </a:r>
            <a:r>
              <a:rPr lang="en-US" altLang="zh-CN" sz="2200" dirty="0"/>
              <a:t> 9019</a:t>
            </a:r>
            <a:endParaRPr lang="zh-CN" altLang="en-US" sz="2200" dirty="0"/>
          </a:p>
        </p:txBody>
      </p:sp>
      <p:sp>
        <p:nvSpPr>
          <p:cNvPr id="8" name="TextBox 7">
            <a:extLst>
              <a:ext uri="{FF2B5EF4-FFF2-40B4-BE49-F238E27FC236}">
                <a16:creationId xmlns:a16="http://schemas.microsoft.com/office/drawing/2014/main" id="{E923D727-2455-4C31-991C-6A7DE0FFC49D}"/>
              </a:ext>
            </a:extLst>
          </p:cNvPr>
          <p:cNvSpPr txBox="1"/>
          <p:nvPr/>
        </p:nvSpPr>
        <p:spPr>
          <a:xfrm>
            <a:off x="2438400" y="1924883"/>
            <a:ext cx="6324600" cy="430887"/>
          </a:xfrm>
          <a:prstGeom prst="rect">
            <a:avLst/>
          </a:prstGeom>
          <a:noFill/>
        </p:spPr>
        <p:txBody>
          <a:bodyPr wrap="square" rtlCol="0">
            <a:spAutoFit/>
          </a:bodyPr>
          <a:lstStyle/>
          <a:p>
            <a:pPr algn="ctr"/>
            <a:r>
              <a:rPr lang="en-US" altLang="zh-CN" sz="2200" dirty="0"/>
              <a:t>last/JJ month/NN ,/, judge/NP curry/NP … </a:t>
            </a:r>
            <a:endParaRPr lang="zh-CN" altLang="en-US" sz="2200" dirty="0"/>
          </a:p>
        </p:txBody>
      </p:sp>
      <p:sp>
        <p:nvSpPr>
          <p:cNvPr id="9" name="TextBox 8">
            <a:extLst>
              <a:ext uri="{FF2B5EF4-FFF2-40B4-BE49-F238E27FC236}">
                <a16:creationId xmlns:a16="http://schemas.microsoft.com/office/drawing/2014/main" id="{51A0A3C5-83BD-4B4B-B273-9564E1BDFDA6}"/>
              </a:ext>
            </a:extLst>
          </p:cNvPr>
          <p:cNvSpPr txBox="1"/>
          <p:nvPr/>
        </p:nvSpPr>
        <p:spPr>
          <a:xfrm>
            <a:off x="2971800" y="4772263"/>
            <a:ext cx="1092572" cy="430887"/>
          </a:xfrm>
          <a:prstGeom prst="rect">
            <a:avLst/>
          </a:prstGeom>
          <a:noFill/>
        </p:spPr>
        <p:txBody>
          <a:bodyPr wrap="square" rtlCol="0">
            <a:spAutoFit/>
          </a:bodyPr>
          <a:lstStyle/>
          <a:p>
            <a:pPr algn="ctr"/>
            <a:r>
              <a:rPr lang="zh-CN" altLang="en-US" sz="2200" dirty="0"/>
              <a:t>下标</a:t>
            </a:r>
          </a:p>
        </p:txBody>
      </p:sp>
      <p:graphicFrame>
        <p:nvGraphicFramePr>
          <p:cNvPr id="5" name="Table 4">
            <a:extLst>
              <a:ext uri="{FF2B5EF4-FFF2-40B4-BE49-F238E27FC236}">
                <a16:creationId xmlns:a16="http://schemas.microsoft.com/office/drawing/2014/main" id="{5FCD0B53-1B05-4146-9F01-1F8ED1AD0745}"/>
              </a:ext>
            </a:extLst>
          </p:cNvPr>
          <p:cNvGraphicFramePr>
            <a:graphicFrameLocks noGrp="1"/>
          </p:cNvGraphicFramePr>
          <p:nvPr/>
        </p:nvGraphicFramePr>
        <p:xfrm>
          <a:off x="4064372" y="4114800"/>
          <a:ext cx="4457328" cy="609600"/>
        </p:xfrm>
        <a:graphic>
          <a:graphicData uri="http://schemas.openxmlformats.org/drawingml/2006/table">
            <a:tbl>
              <a:tblPr firstRow="1" bandRow="1">
                <a:tableStyleId>{5940675A-B579-460E-94D1-54222C63F5DA}</a:tableStyleId>
              </a:tblPr>
              <a:tblGrid>
                <a:gridCol w="557166">
                  <a:extLst>
                    <a:ext uri="{9D8B030D-6E8A-4147-A177-3AD203B41FA5}">
                      <a16:colId xmlns:a16="http://schemas.microsoft.com/office/drawing/2014/main" val="2884683681"/>
                    </a:ext>
                  </a:extLst>
                </a:gridCol>
                <a:gridCol w="557166">
                  <a:extLst>
                    <a:ext uri="{9D8B030D-6E8A-4147-A177-3AD203B41FA5}">
                      <a16:colId xmlns:a16="http://schemas.microsoft.com/office/drawing/2014/main" val="3657632391"/>
                    </a:ext>
                  </a:extLst>
                </a:gridCol>
                <a:gridCol w="557166">
                  <a:extLst>
                    <a:ext uri="{9D8B030D-6E8A-4147-A177-3AD203B41FA5}">
                      <a16:colId xmlns:a16="http://schemas.microsoft.com/office/drawing/2014/main" val="7069473"/>
                    </a:ext>
                  </a:extLst>
                </a:gridCol>
                <a:gridCol w="557166">
                  <a:extLst>
                    <a:ext uri="{9D8B030D-6E8A-4147-A177-3AD203B41FA5}">
                      <a16:colId xmlns:a16="http://schemas.microsoft.com/office/drawing/2014/main" val="2681662511"/>
                    </a:ext>
                  </a:extLst>
                </a:gridCol>
                <a:gridCol w="557166">
                  <a:extLst>
                    <a:ext uri="{9D8B030D-6E8A-4147-A177-3AD203B41FA5}">
                      <a16:colId xmlns:a16="http://schemas.microsoft.com/office/drawing/2014/main" val="4204260062"/>
                    </a:ext>
                  </a:extLst>
                </a:gridCol>
                <a:gridCol w="557166">
                  <a:extLst>
                    <a:ext uri="{9D8B030D-6E8A-4147-A177-3AD203B41FA5}">
                      <a16:colId xmlns:a16="http://schemas.microsoft.com/office/drawing/2014/main" val="3318160584"/>
                    </a:ext>
                  </a:extLst>
                </a:gridCol>
                <a:gridCol w="557166">
                  <a:extLst>
                    <a:ext uri="{9D8B030D-6E8A-4147-A177-3AD203B41FA5}">
                      <a16:colId xmlns:a16="http://schemas.microsoft.com/office/drawing/2014/main" val="2431958249"/>
                    </a:ext>
                  </a:extLst>
                </a:gridCol>
                <a:gridCol w="557166">
                  <a:extLst>
                    <a:ext uri="{9D8B030D-6E8A-4147-A177-3AD203B41FA5}">
                      <a16:colId xmlns:a16="http://schemas.microsoft.com/office/drawing/2014/main" val="3217763711"/>
                    </a:ext>
                  </a:extLst>
                </a:gridCol>
              </a:tblGrid>
              <a:tr h="609600">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extLst>
                  <a:ext uri="{0D108BD9-81ED-4DB2-BD59-A6C34878D82A}">
                    <a16:rowId xmlns:a16="http://schemas.microsoft.com/office/drawing/2014/main" val="3906628554"/>
                  </a:ext>
                </a:extLst>
              </a:tr>
            </a:tbl>
          </a:graphicData>
        </a:graphic>
      </p:graphicFrame>
      <p:sp>
        <p:nvSpPr>
          <p:cNvPr id="10" name="TextBox 9">
            <a:extLst>
              <a:ext uri="{FF2B5EF4-FFF2-40B4-BE49-F238E27FC236}">
                <a16:creationId xmlns:a16="http://schemas.microsoft.com/office/drawing/2014/main" id="{881CF2EA-CC61-49AA-871F-5F24F9E9E3C4}"/>
              </a:ext>
            </a:extLst>
          </p:cNvPr>
          <p:cNvSpPr txBox="1"/>
          <p:nvPr/>
        </p:nvSpPr>
        <p:spPr>
          <a:xfrm>
            <a:off x="5715000" y="4877436"/>
            <a:ext cx="571500" cy="382032"/>
          </a:xfrm>
          <a:prstGeom prst="rect">
            <a:avLst/>
          </a:prstGeom>
          <a:noFill/>
        </p:spPr>
        <p:txBody>
          <a:bodyPr wrap="square" rtlCol="0">
            <a:spAutoFit/>
          </a:bodyPr>
          <a:lstStyle/>
          <a:p>
            <a:pPr algn="ctr"/>
            <a:r>
              <a:rPr lang="en-US" altLang="zh-CN" dirty="0"/>
              <a:t>104</a:t>
            </a:r>
            <a:endParaRPr lang="zh-CN" altLang="en-US" dirty="0"/>
          </a:p>
        </p:txBody>
      </p:sp>
      <p:sp>
        <p:nvSpPr>
          <p:cNvPr id="12" name="TextBox 11">
            <a:extLst>
              <a:ext uri="{FF2B5EF4-FFF2-40B4-BE49-F238E27FC236}">
                <a16:creationId xmlns:a16="http://schemas.microsoft.com/office/drawing/2014/main" id="{C9C9A254-648F-4354-8447-ACF99ABEA271}"/>
              </a:ext>
            </a:extLst>
          </p:cNvPr>
          <p:cNvSpPr txBox="1"/>
          <p:nvPr/>
        </p:nvSpPr>
        <p:spPr>
          <a:xfrm>
            <a:off x="6286500" y="4877436"/>
            <a:ext cx="571500" cy="382032"/>
          </a:xfrm>
          <a:prstGeom prst="rect">
            <a:avLst/>
          </a:prstGeom>
          <a:noFill/>
        </p:spPr>
        <p:txBody>
          <a:bodyPr wrap="square" rtlCol="0">
            <a:spAutoFit/>
          </a:bodyPr>
          <a:lstStyle/>
          <a:p>
            <a:pPr algn="ctr"/>
            <a:r>
              <a:rPr lang="en-US" altLang="zh-CN" dirty="0"/>
              <a:t>105</a:t>
            </a:r>
            <a:endParaRPr lang="zh-CN" altLang="en-US" dirty="0"/>
          </a:p>
        </p:txBody>
      </p:sp>
      <p:sp>
        <p:nvSpPr>
          <p:cNvPr id="13" name="TextBox 12">
            <a:extLst>
              <a:ext uri="{FF2B5EF4-FFF2-40B4-BE49-F238E27FC236}">
                <a16:creationId xmlns:a16="http://schemas.microsoft.com/office/drawing/2014/main" id="{1568EE06-C291-48A8-A02D-82305DF2F2AF}"/>
              </a:ext>
            </a:extLst>
          </p:cNvPr>
          <p:cNvSpPr txBox="1"/>
          <p:nvPr/>
        </p:nvSpPr>
        <p:spPr>
          <a:xfrm>
            <a:off x="6832600" y="4877436"/>
            <a:ext cx="571500" cy="382032"/>
          </a:xfrm>
          <a:prstGeom prst="rect">
            <a:avLst/>
          </a:prstGeom>
          <a:noFill/>
        </p:spPr>
        <p:txBody>
          <a:bodyPr wrap="square" rtlCol="0">
            <a:spAutoFit/>
          </a:bodyPr>
          <a:lstStyle/>
          <a:p>
            <a:pPr algn="ctr"/>
            <a:r>
              <a:rPr lang="en-US" altLang="zh-CN" dirty="0"/>
              <a:t>106</a:t>
            </a:r>
            <a:endParaRPr lang="zh-CN" altLang="en-US" dirty="0"/>
          </a:p>
        </p:txBody>
      </p:sp>
      <p:sp>
        <p:nvSpPr>
          <p:cNvPr id="14" name="TextBox 13">
            <a:extLst>
              <a:ext uri="{FF2B5EF4-FFF2-40B4-BE49-F238E27FC236}">
                <a16:creationId xmlns:a16="http://schemas.microsoft.com/office/drawing/2014/main" id="{9759045A-3272-42AA-81AF-20B949013BD8}"/>
              </a:ext>
            </a:extLst>
          </p:cNvPr>
          <p:cNvSpPr txBox="1"/>
          <p:nvPr/>
        </p:nvSpPr>
        <p:spPr>
          <a:xfrm>
            <a:off x="7365628" y="4877436"/>
            <a:ext cx="571500" cy="382032"/>
          </a:xfrm>
          <a:prstGeom prst="rect">
            <a:avLst/>
          </a:prstGeom>
          <a:noFill/>
        </p:spPr>
        <p:txBody>
          <a:bodyPr wrap="square" rtlCol="0">
            <a:spAutoFit/>
          </a:bodyPr>
          <a:lstStyle/>
          <a:p>
            <a:pPr algn="ctr"/>
            <a:r>
              <a:rPr lang="en-US" altLang="zh-CN" dirty="0"/>
              <a:t>107</a:t>
            </a:r>
            <a:endParaRPr lang="zh-CN" altLang="en-US" dirty="0"/>
          </a:p>
        </p:txBody>
      </p:sp>
      <p:sp>
        <p:nvSpPr>
          <p:cNvPr id="15" name="TextBox 14">
            <a:extLst>
              <a:ext uri="{FF2B5EF4-FFF2-40B4-BE49-F238E27FC236}">
                <a16:creationId xmlns:a16="http://schemas.microsoft.com/office/drawing/2014/main" id="{98B04BB9-69D7-420F-AC10-263A658BF756}"/>
              </a:ext>
            </a:extLst>
          </p:cNvPr>
          <p:cNvSpPr txBox="1"/>
          <p:nvPr/>
        </p:nvSpPr>
        <p:spPr>
          <a:xfrm>
            <a:off x="4597030" y="4898391"/>
            <a:ext cx="571500" cy="382032"/>
          </a:xfrm>
          <a:prstGeom prst="rect">
            <a:avLst/>
          </a:prstGeom>
          <a:noFill/>
        </p:spPr>
        <p:txBody>
          <a:bodyPr wrap="square" rtlCol="0">
            <a:spAutoFit/>
          </a:bodyPr>
          <a:lstStyle/>
          <a:p>
            <a:pPr algn="ctr"/>
            <a:r>
              <a:rPr lang="en-US" altLang="zh-CN" dirty="0"/>
              <a:t>8</a:t>
            </a:r>
            <a:endParaRPr lang="zh-CN" altLang="en-US" dirty="0"/>
          </a:p>
        </p:txBody>
      </p:sp>
      <p:sp>
        <p:nvSpPr>
          <p:cNvPr id="17" name="TextBox 16">
            <a:extLst>
              <a:ext uri="{FF2B5EF4-FFF2-40B4-BE49-F238E27FC236}">
                <a16:creationId xmlns:a16="http://schemas.microsoft.com/office/drawing/2014/main" id="{59BA1501-4DAE-4150-BD9B-20FBF68759AB}"/>
              </a:ext>
            </a:extLst>
          </p:cNvPr>
          <p:cNvSpPr txBox="1"/>
          <p:nvPr/>
        </p:nvSpPr>
        <p:spPr>
          <a:xfrm>
            <a:off x="4038600"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8" name="TextBox 17">
            <a:extLst>
              <a:ext uri="{FF2B5EF4-FFF2-40B4-BE49-F238E27FC236}">
                <a16:creationId xmlns:a16="http://schemas.microsoft.com/office/drawing/2014/main" id="{3A748A39-3774-495B-B9D2-48C936D8D67C}"/>
              </a:ext>
            </a:extLst>
          </p:cNvPr>
          <p:cNvSpPr txBox="1"/>
          <p:nvPr/>
        </p:nvSpPr>
        <p:spPr>
          <a:xfrm>
            <a:off x="5194302"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9" name="TextBox 18">
            <a:extLst>
              <a:ext uri="{FF2B5EF4-FFF2-40B4-BE49-F238E27FC236}">
                <a16:creationId xmlns:a16="http://schemas.microsoft.com/office/drawing/2014/main" id="{098B498E-71F9-4F22-A56D-0089ECFEEFFD}"/>
              </a:ext>
            </a:extLst>
          </p:cNvPr>
          <p:cNvSpPr txBox="1"/>
          <p:nvPr/>
        </p:nvSpPr>
        <p:spPr>
          <a:xfrm>
            <a:off x="7962900" y="4898391"/>
            <a:ext cx="571500" cy="369332"/>
          </a:xfrm>
          <a:prstGeom prst="rect">
            <a:avLst/>
          </a:prstGeom>
          <a:noFill/>
        </p:spPr>
        <p:txBody>
          <a:bodyPr wrap="square" rtlCol="0">
            <a:spAutoFit/>
          </a:bodyPr>
          <a:lstStyle/>
          <a:p>
            <a:pPr algn="ctr"/>
            <a:r>
              <a:rPr lang="en-US" altLang="zh-CN" dirty="0"/>
              <a:t>…</a:t>
            </a:r>
            <a:endParaRPr lang="zh-CN" altLang="en-US" dirty="0"/>
          </a:p>
        </p:txBody>
      </p:sp>
      <p:cxnSp>
        <p:nvCxnSpPr>
          <p:cNvPr id="6" name="Straight Arrow Connector 5">
            <a:extLst>
              <a:ext uri="{FF2B5EF4-FFF2-40B4-BE49-F238E27FC236}">
                <a16:creationId xmlns:a16="http://schemas.microsoft.com/office/drawing/2014/main" id="{F2149BA7-6A6E-46F1-B281-19199196458E}"/>
              </a:ext>
            </a:extLst>
          </p:cNvPr>
          <p:cNvCxnSpPr>
            <a:cxnSpLocks/>
          </p:cNvCxnSpPr>
          <p:nvPr/>
        </p:nvCxnSpPr>
        <p:spPr bwMode="auto">
          <a:xfrm flipH="1">
            <a:off x="1122363" y="2355770"/>
            <a:ext cx="3144837" cy="12256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921B8A07-0D50-46D6-8FC9-40EE90F563E3}"/>
              </a:ext>
            </a:extLst>
          </p:cNvPr>
          <p:cNvCxnSpPr>
            <a:cxnSpLocks/>
          </p:cNvCxnSpPr>
          <p:nvPr/>
        </p:nvCxnSpPr>
        <p:spPr bwMode="auto">
          <a:xfrm>
            <a:off x="2438400" y="3657600"/>
            <a:ext cx="4000872" cy="57530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9E3FFEE1-F9D3-48C7-89CA-29AA853C4120}"/>
              </a:ext>
            </a:extLst>
          </p:cNvPr>
          <p:cNvSpPr txBox="1"/>
          <p:nvPr/>
        </p:nvSpPr>
        <p:spPr>
          <a:xfrm>
            <a:off x="5715000" y="4267200"/>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5" name="TextBox 24">
            <a:extLst>
              <a:ext uri="{FF2B5EF4-FFF2-40B4-BE49-F238E27FC236}">
                <a16:creationId xmlns:a16="http://schemas.microsoft.com/office/drawing/2014/main" id="{5BB12A23-0216-46F7-9CF6-48B8F2E0B61B}"/>
              </a:ext>
            </a:extLst>
          </p:cNvPr>
          <p:cNvSpPr txBox="1"/>
          <p:nvPr/>
        </p:nvSpPr>
        <p:spPr>
          <a:xfrm>
            <a:off x="6286500" y="4251048"/>
            <a:ext cx="571500" cy="382032"/>
          </a:xfrm>
          <a:prstGeom prst="rect">
            <a:avLst/>
          </a:prstGeom>
          <a:noFill/>
        </p:spPr>
        <p:txBody>
          <a:bodyPr wrap="square" rtlCol="0">
            <a:spAutoFit/>
          </a:bodyPr>
          <a:lstStyle/>
          <a:p>
            <a:pPr algn="ctr"/>
            <a:r>
              <a:rPr lang="en-US" altLang="zh-CN" dirty="0"/>
              <a:t>1</a:t>
            </a:r>
            <a:endParaRPr lang="zh-CN" altLang="en-US" dirty="0"/>
          </a:p>
        </p:txBody>
      </p:sp>
    </p:spTree>
    <p:custDataLst>
      <p:tags r:id="rId1"/>
    </p:custDataLst>
    <p:extLst>
      <p:ext uri="{BB962C8B-B14F-4D97-AF65-F5344CB8AC3E}">
        <p14:creationId xmlns:p14="http://schemas.microsoft.com/office/powerpoint/2010/main" val="1617663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变换输入 </a:t>
            </a:r>
            <a:r>
              <a:rPr lang="en-US" altLang="zh-CN" dirty="0">
                <a:ea typeface="ＭＳ Ｐゴシック" panose="020B0600070205080204" pitchFamily="34" charset="-128"/>
              </a:rPr>
              <a:t>(2)</a:t>
            </a:r>
            <a:endParaRPr lang="zh-CN" altLang="en-US" dirty="0"/>
          </a:p>
        </p:txBody>
      </p:sp>
      <p:sp>
        <p:nvSpPr>
          <p:cNvPr id="7" name="TextBox 6">
            <a:extLst>
              <a:ext uri="{FF2B5EF4-FFF2-40B4-BE49-F238E27FC236}">
                <a16:creationId xmlns:a16="http://schemas.microsoft.com/office/drawing/2014/main" id="{8525F7E3-6188-440D-90A4-AABA9FFD5CA9}"/>
              </a:ext>
            </a:extLst>
          </p:cNvPr>
          <p:cNvSpPr txBox="1"/>
          <p:nvPr/>
        </p:nvSpPr>
        <p:spPr>
          <a:xfrm>
            <a:off x="0" y="1802548"/>
            <a:ext cx="2704730" cy="3477875"/>
          </a:xfrm>
          <a:prstGeom prst="rect">
            <a:avLst/>
          </a:prstGeom>
          <a:noFill/>
        </p:spPr>
        <p:txBody>
          <a:bodyPr wrap="square" rtlCol="0">
            <a:spAutoFit/>
          </a:bodyPr>
          <a:lstStyle/>
          <a:p>
            <a:pPr algn="ctr"/>
            <a:r>
              <a:rPr lang="zh-CN" altLang="en-US" sz="2200" b="1" dirty="0"/>
              <a:t>字典</a:t>
            </a:r>
            <a:endParaRPr lang="en-US" altLang="zh-CN" sz="2200" b="1" dirty="0"/>
          </a:p>
          <a:p>
            <a:pPr algn="ctr"/>
            <a:r>
              <a:rPr lang="en-US" altLang="zh-CN" sz="2200" dirty="0"/>
              <a:t>…</a:t>
            </a:r>
          </a:p>
          <a:p>
            <a:pPr algn="ctr"/>
            <a:r>
              <a:rPr lang="en-US" altLang="zh-CN" sz="2200" dirty="0"/>
              <a:t>,/, </a:t>
            </a:r>
            <a:r>
              <a:rPr lang="en-US" altLang="zh-CN" sz="2200" dirty="0">
                <a:latin typeface="等线" panose="02010600030101010101" pitchFamily="2" charset="-122"/>
                <a:ea typeface="等线" panose="02010600030101010101" pitchFamily="2" charset="-122"/>
              </a:rPr>
              <a:t>→</a:t>
            </a:r>
            <a:r>
              <a:rPr lang="en-US" altLang="zh-CN" sz="2200" dirty="0"/>
              <a:t> 8</a:t>
            </a:r>
          </a:p>
          <a:p>
            <a:pPr algn="ctr"/>
            <a:r>
              <a:rPr lang="en-US" altLang="zh-CN" sz="2200" dirty="0"/>
              <a:t>…</a:t>
            </a:r>
          </a:p>
          <a:p>
            <a:pPr algn="ctr"/>
            <a:r>
              <a:rPr lang="en-US" altLang="zh-CN" sz="2200" dirty="0"/>
              <a:t>last/JJ </a:t>
            </a:r>
            <a:r>
              <a:rPr lang="en-US" altLang="zh-CN" sz="2200" dirty="0">
                <a:latin typeface="等线" panose="02010600030101010101" pitchFamily="2" charset="-122"/>
                <a:ea typeface="等线" panose="02010600030101010101" pitchFamily="2" charset="-122"/>
              </a:rPr>
              <a:t>→</a:t>
            </a:r>
            <a:r>
              <a:rPr lang="en-US" altLang="zh-CN" sz="2200" dirty="0"/>
              <a:t> 104,</a:t>
            </a:r>
            <a:r>
              <a:rPr lang="zh-CN" altLang="en-US" sz="2200" dirty="0"/>
              <a:t> </a:t>
            </a:r>
            <a:endParaRPr lang="en-US" altLang="zh-CN" sz="2200" dirty="0"/>
          </a:p>
          <a:p>
            <a:pPr algn="ctr"/>
            <a:r>
              <a:rPr lang="en-US" altLang="zh-CN" sz="2200" dirty="0"/>
              <a:t>month/NN </a:t>
            </a:r>
            <a:r>
              <a:rPr lang="en-US" altLang="zh-CN" sz="2200" dirty="0">
                <a:latin typeface="等线" panose="02010600030101010101" pitchFamily="2" charset="-122"/>
                <a:ea typeface="等线" panose="02010600030101010101" pitchFamily="2" charset="-122"/>
              </a:rPr>
              <a:t>→</a:t>
            </a:r>
            <a:r>
              <a:rPr lang="en-US" altLang="zh-CN" sz="2200" dirty="0"/>
              <a:t> 105, </a:t>
            </a:r>
          </a:p>
          <a:p>
            <a:pPr algn="ctr"/>
            <a:r>
              <a:rPr lang="en-US" altLang="zh-CN" sz="2200" dirty="0"/>
              <a:t>judge/NP </a:t>
            </a:r>
            <a:r>
              <a:rPr lang="en-US" altLang="zh-CN" sz="2200" dirty="0">
                <a:latin typeface="等线" panose="02010600030101010101" pitchFamily="2" charset="-122"/>
                <a:ea typeface="等线" panose="02010600030101010101" pitchFamily="2" charset="-122"/>
              </a:rPr>
              <a:t>→</a:t>
            </a:r>
            <a:r>
              <a:rPr lang="en-US" altLang="zh-CN" sz="2200" dirty="0"/>
              <a:t> 106,</a:t>
            </a:r>
          </a:p>
          <a:p>
            <a:pPr algn="ctr"/>
            <a:r>
              <a:rPr lang="en-US" altLang="zh-CN" sz="2200" dirty="0"/>
              <a:t>curry/NP </a:t>
            </a:r>
            <a:r>
              <a:rPr lang="en-US" altLang="zh-CN" sz="2200" dirty="0">
                <a:latin typeface="等线" panose="02010600030101010101" pitchFamily="2" charset="-122"/>
                <a:ea typeface="等线" panose="02010600030101010101" pitchFamily="2" charset="-122"/>
              </a:rPr>
              <a:t>→</a:t>
            </a:r>
            <a:r>
              <a:rPr lang="en-US" altLang="zh-CN" sz="2200" dirty="0"/>
              <a:t> 107,</a:t>
            </a:r>
          </a:p>
          <a:p>
            <a:pPr algn="ctr"/>
            <a:r>
              <a:rPr lang="en-US" altLang="zh-CN" sz="2200" dirty="0"/>
              <a:t>…</a:t>
            </a:r>
          </a:p>
          <a:p>
            <a:pPr algn="ctr"/>
            <a:r>
              <a:rPr lang="en-US" altLang="zh-CN" sz="2200" dirty="0"/>
              <a:t>cent/NN</a:t>
            </a:r>
            <a:r>
              <a:rPr lang="en-US" altLang="zh-CN" sz="2200" dirty="0">
                <a:latin typeface="等线" panose="02010600030101010101" pitchFamily="2" charset="-122"/>
                <a:ea typeface="等线" panose="02010600030101010101" pitchFamily="2" charset="-122"/>
              </a:rPr>
              <a:t> →</a:t>
            </a:r>
            <a:r>
              <a:rPr lang="en-US" altLang="zh-CN" sz="2200" dirty="0"/>
              <a:t> 9019</a:t>
            </a:r>
            <a:endParaRPr lang="zh-CN" altLang="en-US" sz="2200" dirty="0"/>
          </a:p>
        </p:txBody>
      </p:sp>
      <p:sp>
        <p:nvSpPr>
          <p:cNvPr id="8" name="TextBox 7">
            <a:extLst>
              <a:ext uri="{FF2B5EF4-FFF2-40B4-BE49-F238E27FC236}">
                <a16:creationId xmlns:a16="http://schemas.microsoft.com/office/drawing/2014/main" id="{E923D727-2455-4C31-991C-6A7DE0FFC49D}"/>
              </a:ext>
            </a:extLst>
          </p:cNvPr>
          <p:cNvSpPr txBox="1"/>
          <p:nvPr/>
        </p:nvSpPr>
        <p:spPr>
          <a:xfrm>
            <a:off x="2438400" y="1924883"/>
            <a:ext cx="6324600" cy="430887"/>
          </a:xfrm>
          <a:prstGeom prst="rect">
            <a:avLst/>
          </a:prstGeom>
          <a:noFill/>
        </p:spPr>
        <p:txBody>
          <a:bodyPr wrap="square" rtlCol="0">
            <a:spAutoFit/>
          </a:bodyPr>
          <a:lstStyle/>
          <a:p>
            <a:pPr algn="ctr"/>
            <a:r>
              <a:rPr lang="en-US" altLang="zh-CN" sz="2200" dirty="0"/>
              <a:t>last/JJ month/NN ,/, judge/NP curry/NP … </a:t>
            </a:r>
            <a:endParaRPr lang="zh-CN" altLang="en-US" sz="2200" dirty="0"/>
          </a:p>
        </p:txBody>
      </p:sp>
      <p:sp>
        <p:nvSpPr>
          <p:cNvPr id="9" name="TextBox 8">
            <a:extLst>
              <a:ext uri="{FF2B5EF4-FFF2-40B4-BE49-F238E27FC236}">
                <a16:creationId xmlns:a16="http://schemas.microsoft.com/office/drawing/2014/main" id="{51A0A3C5-83BD-4B4B-B273-9564E1BDFDA6}"/>
              </a:ext>
            </a:extLst>
          </p:cNvPr>
          <p:cNvSpPr txBox="1"/>
          <p:nvPr/>
        </p:nvSpPr>
        <p:spPr>
          <a:xfrm>
            <a:off x="2971800" y="4772263"/>
            <a:ext cx="1092572" cy="430887"/>
          </a:xfrm>
          <a:prstGeom prst="rect">
            <a:avLst/>
          </a:prstGeom>
          <a:noFill/>
        </p:spPr>
        <p:txBody>
          <a:bodyPr wrap="square" rtlCol="0">
            <a:spAutoFit/>
          </a:bodyPr>
          <a:lstStyle/>
          <a:p>
            <a:pPr algn="ctr"/>
            <a:r>
              <a:rPr lang="zh-CN" altLang="en-US" sz="2200" dirty="0"/>
              <a:t>下标</a:t>
            </a:r>
          </a:p>
        </p:txBody>
      </p:sp>
      <p:graphicFrame>
        <p:nvGraphicFramePr>
          <p:cNvPr id="5" name="Table 4">
            <a:extLst>
              <a:ext uri="{FF2B5EF4-FFF2-40B4-BE49-F238E27FC236}">
                <a16:creationId xmlns:a16="http://schemas.microsoft.com/office/drawing/2014/main" id="{5FCD0B53-1B05-4146-9F01-1F8ED1AD0745}"/>
              </a:ext>
            </a:extLst>
          </p:cNvPr>
          <p:cNvGraphicFramePr>
            <a:graphicFrameLocks noGrp="1"/>
          </p:cNvGraphicFramePr>
          <p:nvPr/>
        </p:nvGraphicFramePr>
        <p:xfrm>
          <a:off x="4064372" y="4114800"/>
          <a:ext cx="4457328" cy="609600"/>
        </p:xfrm>
        <a:graphic>
          <a:graphicData uri="http://schemas.openxmlformats.org/drawingml/2006/table">
            <a:tbl>
              <a:tblPr firstRow="1" bandRow="1">
                <a:tableStyleId>{5940675A-B579-460E-94D1-54222C63F5DA}</a:tableStyleId>
              </a:tblPr>
              <a:tblGrid>
                <a:gridCol w="557166">
                  <a:extLst>
                    <a:ext uri="{9D8B030D-6E8A-4147-A177-3AD203B41FA5}">
                      <a16:colId xmlns:a16="http://schemas.microsoft.com/office/drawing/2014/main" val="2884683681"/>
                    </a:ext>
                  </a:extLst>
                </a:gridCol>
                <a:gridCol w="557166">
                  <a:extLst>
                    <a:ext uri="{9D8B030D-6E8A-4147-A177-3AD203B41FA5}">
                      <a16:colId xmlns:a16="http://schemas.microsoft.com/office/drawing/2014/main" val="3657632391"/>
                    </a:ext>
                  </a:extLst>
                </a:gridCol>
                <a:gridCol w="557166">
                  <a:extLst>
                    <a:ext uri="{9D8B030D-6E8A-4147-A177-3AD203B41FA5}">
                      <a16:colId xmlns:a16="http://schemas.microsoft.com/office/drawing/2014/main" val="7069473"/>
                    </a:ext>
                  </a:extLst>
                </a:gridCol>
                <a:gridCol w="557166">
                  <a:extLst>
                    <a:ext uri="{9D8B030D-6E8A-4147-A177-3AD203B41FA5}">
                      <a16:colId xmlns:a16="http://schemas.microsoft.com/office/drawing/2014/main" val="2681662511"/>
                    </a:ext>
                  </a:extLst>
                </a:gridCol>
                <a:gridCol w="557166">
                  <a:extLst>
                    <a:ext uri="{9D8B030D-6E8A-4147-A177-3AD203B41FA5}">
                      <a16:colId xmlns:a16="http://schemas.microsoft.com/office/drawing/2014/main" val="4204260062"/>
                    </a:ext>
                  </a:extLst>
                </a:gridCol>
                <a:gridCol w="557166">
                  <a:extLst>
                    <a:ext uri="{9D8B030D-6E8A-4147-A177-3AD203B41FA5}">
                      <a16:colId xmlns:a16="http://schemas.microsoft.com/office/drawing/2014/main" val="3318160584"/>
                    </a:ext>
                  </a:extLst>
                </a:gridCol>
                <a:gridCol w="557166">
                  <a:extLst>
                    <a:ext uri="{9D8B030D-6E8A-4147-A177-3AD203B41FA5}">
                      <a16:colId xmlns:a16="http://schemas.microsoft.com/office/drawing/2014/main" val="2431958249"/>
                    </a:ext>
                  </a:extLst>
                </a:gridCol>
                <a:gridCol w="557166">
                  <a:extLst>
                    <a:ext uri="{9D8B030D-6E8A-4147-A177-3AD203B41FA5}">
                      <a16:colId xmlns:a16="http://schemas.microsoft.com/office/drawing/2014/main" val="3217763711"/>
                    </a:ext>
                  </a:extLst>
                </a:gridCol>
              </a:tblGrid>
              <a:tr h="609600">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extLst>
                  <a:ext uri="{0D108BD9-81ED-4DB2-BD59-A6C34878D82A}">
                    <a16:rowId xmlns:a16="http://schemas.microsoft.com/office/drawing/2014/main" val="3906628554"/>
                  </a:ext>
                </a:extLst>
              </a:tr>
            </a:tbl>
          </a:graphicData>
        </a:graphic>
      </p:graphicFrame>
      <p:sp>
        <p:nvSpPr>
          <p:cNvPr id="10" name="TextBox 9">
            <a:extLst>
              <a:ext uri="{FF2B5EF4-FFF2-40B4-BE49-F238E27FC236}">
                <a16:creationId xmlns:a16="http://schemas.microsoft.com/office/drawing/2014/main" id="{881CF2EA-CC61-49AA-871F-5F24F9E9E3C4}"/>
              </a:ext>
            </a:extLst>
          </p:cNvPr>
          <p:cNvSpPr txBox="1"/>
          <p:nvPr/>
        </p:nvSpPr>
        <p:spPr>
          <a:xfrm>
            <a:off x="5715000" y="4877436"/>
            <a:ext cx="571500" cy="382032"/>
          </a:xfrm>
          <a:prstGeom prst="rect">
            <a:avLst/>
          </a:prstGeom>
          <a:noFill/>
        </p:spPr>
        <p:txBody>
          <a:bodyPr wrap="square" rtlCol="0">
            <a:spAutoFit/>
          </a:bodyPr>
          <a:lstStyle/>
          <a:p>
            <a:pPr algn="ctr"/>
            <a:r>
              <a:rPr lang="en-US" altLang="zh-CN" dirty="0"/>
              <a:t>104</a:t>
            </a:r>
            <a:endParaRPr lang="zh-CN" altLang="en-US" dirty="0"/>
          </a:p>
        </p:txBody>
      </p:sp>
      <p:sp>
        <p:nvSpPr>
          <p:cNvPr id="12" name="TextBox 11">
            <a:extLst>
              <a:ext uri="{FF2B5EF4-FFF2-40B4-BE49-F238E27FC236}">
                <a16:creationId xmlns:a16="http://schemas.microsoft.com/office/drawing/2014/main" id="{C9C9A254-648F-4354-8447-ACF99ABEA271}"/>
              </a:ext>
            </a:extLst>
          </p:cNvPr>
          <p:cNvSpPr txBox="1"/>
          <p:nvPr/>
        </p:nvSpPr>
        <p:spPr>
          <a:xfrm>
            <a:off x="6286500" y="4877436"/>
            <a:ext cx="571500" cy="382032"/>
          </a:xfrm>
          <a:prstGeom prst="rect">
            <a:avLst/>
          </a:prstGeom>
          <a:noFill/>
        </p:spPr>
        <p:txBody>
          <a:bodyPr wrap="square" rtlCol="0">
            <a:spAutoFit/>
          </a:bodyPr>
          <a:lstStyle/>
          <a:p>
            <a:pPr algn="ctr"/>
            <a:r>
              <a:rPr lang="en-US" altLang="zh-CN" dirty="0"/>
              <a:t>105</a:t>
            </a:r>
            <a:endParaRPr lang="zh-CN" altLang="en-US" dirty="0"/>
          </a:p>
        </p:txBody>
      </p:sp>
      <p:sp>
        <p:nvSpPr>
          <p:cNvPr id="13" name="TextBox 12">
            <a:extLst>
              <a:ext uri="{FF2B5EF4-FFF2-40B4-BE49-F238E27FC236}">
                <a16:creationId xmlns:a16="http://schemas.microsoft.com/office/drawing/2014/main" id="{1568EE06-C291-48A8-A02D-82305DF2F2AF}"/>
              </a:ext>
            </a:extLst>
          </p:cNvPr>
          <p:cNvSpPr txBox="1"/>
          <p:nvPr/>
        </p:nvSpPr>
        <p:spPr>
          <a:xfrm>
            <a:off x="6832600" y="4877436"/>
            <a:ext cx="571500" cy="382032"/>
          </a:xfrm>
          <a:prstGeom prst="rect">
            <a:avLst/>
          </a:prstGeom>
          <a:noFill/>
        </p:spPr>
        <p:txBody>
          <a:bodyPr wrap="square" rtlCol="0">
            <a:spAutoFit/>
          </a:bodyPr>
          <a:lstStyle/>
          <a:p>
            <a:pPr algn="ctr"/>
            <a:r>
              <a:rPr lang="en-US" altLang="zh-CN" dirty="0"/>
              <a:t>106</a:t>
            </a:r>
            <a:endParaRPr lang="zh-CN" altLang="en-US" dirty="0"/>
          </a:p>
        </p:txBody>
      </p:sp>
      <p:sp>
        <p:nvSpPr>
          <p:cNvPr id="14" name="TextBox 13">
            <a:extLst>
              <a:ext uri="{FF2B5EF4-FFF2-40B4-BE49-F238E27FC236}">
                <a16:creationId xmlns:a16="http://schemas.microsoft.com/office/drawing/2014/main" id="{9759045A-3272-42AA-81AF-20B949013BD8}"/>
              </a:ext>
            </a:extLst>
          </p:cNvPr>
          <p:cNvSpPr txBox="1"/>
          <p:nvPr/>
        </p:nvSpPr>
        <p:spPr>
          <a:xfrm>
            <a:off x="7365628" y="4877436"/>
            <a:ext cx="571500" cy="382032"/>
          </a:xfrm>
          <a:prstGeom prst="rect">
            <a:avLst/>
          </a:prstGeom>
          <a:noFill/>
        </p:spPr>
        <p:txBody>
          <a:bodyPr wrap="square" rtlCol="0">
            <a:spAutoFit/>
          </a:bodyPr>
          <a:lstStyle/>
          <a:p>
            <a:pPr algn="ctr"/>
            <a:r>
              <a:rPr lang="en-US" altLang="zh-CN" dirty="0"/>
              <a:t>107</a:t>
            </a:r>
            <a:endParaRPr lang="zh-CN" altLang="en-US" dirty="0"/>
          </a:p>
        </p:txBody>
      </p:sp>
      <p:sp>
        <p:nvSpPr>
          <p:cNvPr id="15" name="TextBox 14">
            <a:extLst>
              <a:ext uri="{FF2B5EF4-FFF2-40B4-BE49-F238E27FC236}">
                <a16:creationId xmlns:a16="http://schemas.microsoft.com/office/drawing/2014/main" id="{98B04BB9-69D7-420F-AC10-263A658BF756}"/>
              </a:ext>
            </a:extLst>
          </p:cNvPr>
          <p:cNvSpPr txBox="1"/>
          <p:nvPr/>
        </p:nvSpPr>
        <p:spPr>
          <a:xfrm>
            <a:off x="4597030" y="4898391"/>
            <a:ext cx="571500" cy="382032"/>
          </a:xfrm>
          <a:prstGeom prst="rect">
            <a:avLst/>
          </a:prstGeom>
          <a:noFill/>
        </p:spPr>
        <p:txBody>
          <a:bodyPr wrap="square" rtlCol="0">
            <a:spAutoFit/>
          </a:bodyPr>
          <a:lstStyle/>
          <a:p>
            <a:pPr algn="ctr"/>
            <a:r>
              <a:rPr lang="en-US" altLang="zh-CN" dirty="0"/>
              <a:t>8</a:t>
            </a:r>
            <a:endParaRPr lang="zh-CN" altLang="en-US" dirty="0"/>
          </a:p>
        </p:txBody>
      </p:sp>
      <p:sp>
        <p:nvSpPr>
          <p:cNvPr id="17" name="TextBox 16">
            <a:extLst>
              <a:ext uri="{FF2B5EF4-FFF2-40B4-BE49-F238E27FC236}">
                <a16:creationId xmlns:a16="http://schemas.microsoft.com/office/drawing/2014/main" id="{59BA1501-4DAE-4150-BD9B-20FBF68759AB}"/>
              </a:ext>
            </a:extLst>
          </p:cNvPr>
          <p:cNvSpPr txBox="1"/>
          <p:nvPr/>
        </p:nvSpPr>
        <p:spPr>
          <a:xfrm>
            <a:off x="4038600"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8" name="TextBox 17">
            <a:extLst>
              <a:ext uri="{FF2B5EF4-FFF2-40B4-BE49-F238E27FC236}">
                <a16:creationId xmlns:a16="http://schemas.microsoft.com/office/drawing/2014/main" id="{3A748A39-3774-495B-B9D2-48C936D8D67C}"/>
              </a:ext>
            </a:extLst>
          </p:cNvPr>
          <p:cNvSpPr txBox="1"/>
          <p:nvPr/>
        </p:nvSpPr>
        <p:spPr>
          <a:xfrm>
            <a:off x="5194302"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9" name="TextBox 18">
            <a:extLst>
              <a:ext uri="{FF2B5EF4-FFF2-40B4-BE49-F238E27FC236}">
                <a16:creationId xmlns:a16="http://schemas.microsoft.com/office/drawing/2014/main" id="{098B498E-71F9-4F22-A56D-0089ECFEEFFD}"/>
              </a:ext>
            </a:extLst>
          </p:cNvPr>
          <p:cNvSpPr txBox="1"/>
          <p:nvPr/>
        </p:nvSpPr>
        <p:spPr>
          <a:xfrm>
            <a:off x="7962900" y="4898391"/>
            <a:ext cx="571500" cy="369332"/>
          </a:xfrm>
          <a:prstGeom prst="rect">
            <a:avLst/>
          </a:prstGeom>
          <a:noFill/>
        </p:spPr>
        <p:txBody>
          <a:bodyPr wrap="square" rtlCol="0">
            <a:spAutoFit/>
          </a:bodyPr>
          <a:lstStyle/>
          <a:p>
            <a:pPr algn="ctr"/>
            <a:r>
              <a:rPr lang="en-US" altLang="zh-CN" dirty="0"/>
              <a:t>…</a:t>
            </a:r>
            <a:endParaRPr lang="zh-CN" altLang="en-US" dirty="0"/>
          </a:p>
        </p:txBody>
      </p:sp>
      <p:cxnSp>
        <p:nvCxnSpPr>
          <p:cNvPr id="6" name="Straight Arrow Connector 5">
            <a:extLst>
              <a:ext uri="{FF2B5EF4-FFF2-40B4-BE49-F238E27FC236}">
                <a16:creationId xmlns:a16="http://schemas.microsoft.com/office/drawing/2014/main" id="{F2149BA7-6A6E-46F1-B281-19199196458E}"/>
              </a:ext>
            </a:extLst>
          </p:cNvPr>
          <p:cNvCxnSpPr>
            <a:cxnSpLocks/>
          </p:cNvCxnSpPr>
          <p:nvPr/>
        </p:nvCxnSpPr>
        <p:spPr bwMode="auto">
          <a:xfrm flipH="1">
            <a:off x="1122363" y="2312074"/>
            <a:ext cx="4357689" cy="2176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921B8A07-0D50-46D6-8FC9-40EE90F563E3}"/>
              </a:ext>
            </a:extLst>
          </p:cNvPr>
          <p:cNvCxnSpPr>
            <a:cxnSpLocks/>
          </p:cNvCxnSpPr>
          <p:nvPr/>
        </p:nvCxnSpPr>
        <p:spPr bwMode="auto">
          <a:xfrm>
            <a:off x="1905000" y="2722581"/>
            <a:ext cx="2952380" cy="150370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9E3FFEE1-F9D3-48C7-89CA-29AA853C4120}"/>
              </a:ext>
            </a:extLst>
          </p:cNvPr>
          <p:cNvSpPr txBox="1"/>
          <p:nvPr/>
        </p:nvSpPr>
        <p:spPr>
          <a:xfrm>
            <a:off x="5715000" y="4267200"/>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5" name="TextBox 24">
            <a:extLst>
              <a:ext uri="{FF2B5EF4-FFF2-40B4-BE49-F238E27FC236}">
                <a16:creationId xmlns:a16="http://schemas.microsoft.com/office/drawing/2014/main" id="{5BB12A23-0216-46F7-9CF6-48B8F2E0B61B}"/>
              </a:ext>
            </a:extLst>
          </p:cNvPr>
          <p:cNvSpPr txBox="1"/>
          <p:nvPr/>
        </p:nvSpPr>
        <p:spPr>
          <a:xfrm>
            <a:off x="6286500" y="4251048"/>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1" name="TextBox 20">
            <a:extLst>
              <a:ext uri="{FF2B5EF4-FFF2-40B4-BE49-F238E27FC236}">
                <a16:creationId xmlns:a16="http://schemas.microsoft.com/office/drawing/2014/main" id="{2A9823A3-A3DE-47CB-84D1-B8F800912298}"/>
              </a:ext>
            </a:extLst>
          </p:cNvPr>
          <p:cNvSpPr txBox="1"/>
          <p:nvPr/>
        </p:nvSpPr>
        <p:spPr>
          <a:xfrm>
            <a:off x="4571630" y="4267200"/>
            <a:ext cx="571500" cy="382032"/>
          </a:xfrm>
          <a:prstGeom prst="rect">
            <a:avLst/>
          </a:prstGeom>
          <a:noFill/>
        </p:spPr>
        <p:txBody>
          <a:bodyPr wrap="square" rtlCol="0">
            <a:spAutoFit/>
          </a:bodyPr>
          <a:lstStyle/>
          <a:p>
            <a:pPr algn="ctr"/>
            <a:r>
              <a:rPr lang="en-US" altLang="zh-CN" dirty="0"/>
              <a:t>1</a:t>
            </a:r>
            <a:endParaRPr lang="zh-CN" altLang="en-US" dirty="0"/>
          </a:p>
        </p:txBody>
      </p:sp>
    </p:spTree>
    <p:custDataLst>
      <p:tags r:id="rId1"/>
    </p:custDataLst>
    <p:extLst>
      <p:ext uri="{BB962C8B-B14F-4D97-AF65-F5344CB8AC3E}">
        <p14:creationId xmlns:p14="http://schemas.microsoft.com/office/powerpoint/2010/main" val="35384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变换输入 </a:t>
            </a:r>
            <a:r>
              <a:rPr lang="en-US" altLang="zh-CN" dirty="0">
                <a:ea typeface="ＭＳ Ｐゴシック" panose="020B0600070205080204" pitchFamily="34" charset="-128"/>
              </a:rPr>
              <a:t>(2)</a:t>
            </a:r>
            <a:endParaRPr lang="zh-CN" altLang="en-US" dirty="0"/>
          </a:p>
        </p:txBody>
      </p:sp>
      <p:sp>
        <p:nvSpPr>
          <p:cNvPr id="7" name="TextBox 6">
            <a:extLst>
              <a:ext uri="{FF2B5EF4-FFF2-40B4-BE49-F238E27FC236}">
                <a16:creationId xmlns:a16="http://schemas.microsoft.com/office/drawing/2014/main" id="{8525F7E3-6188-440D-90A4-AABA9FFD5CA9}"/>
              </a:ext>
            </a:extLst>
          </p:cNvPr>
          <p:cNvSpPr txBox="1"/>
          <p:nvPr/>
        </p:nvSpPr>
        <p:spPr>
          <a:xfrm>
            <a:off x="0" y="1802548"/>
            <a:ext cx="2704730" cy="3477875"/>
          </a:xfrm>
          <a:prstGeom prst="rect">
            <a:avLst/>
          </a:prstGeom>
          <a:noFill/>
        </p:spPr>
        <p:txBody>
          <a:bodyPr wrap="square" rtlCol="0">
            <a:spAutoFit/>
          </a:bodyPr>
          <a:lstStyle/>
          <a:p>
            <a:pPr algn="ctr"/>
            <a:r>
              <a:rPr lang="zh-CN" altLang="en-US" sz="2200" b="1" dirty="0"/>
              <a:t>字典</a:t>
            </a:r>
            <a:endParaRPr lang="en-US" altLang="zh-CN" sz="2200" b="1" dirty="0"/>
          </a:p>
          <a:p>
            <a:pPr algn="ctr"/>
            <a:r>
              <a:rPr lang="en-US" altLang="zh-CN" sz="2200" dirty="0"/>
              <a:t>…</a:t>
            </a:r>
          </a:p>
          <a:p>
            <a:pPr algn="ctr"/>
            <a:r>
              <a:rPr lang="en-US" altLang="zh-CN" sz="2200" dirty="0"/>
              <a:t>,/, </a:t>
            </a:r>
            <a:r>
              <a:rPr lang="en-US" altLang="zh-CN" sz="2200" dirty="0">
                <a:latin typeface="等线" panose="02010600030101010101" pitchFamily="2" charset="-122"/>
                <a:ea typeface="等线" panose="02010600030101010101" pitchFamily="2" charset="-122"/>
              </a:rPr>
              <a:t>→</a:t>
            </a:r>
            <a:r>
              <a:rPr lang="en-US" altLang="zh-CN" sz="2200" dirty="0"/>
              <a:t> 8</a:t>
            </a:r>
          </a:p>
          <a:p>
            <a:pPr algn="ctr"/>
            <a:r>
              <a:rPr lang="en-US" altLang="zh-CN" sz="2200" dirty="0"/>
              <a:t>…</a:t>
            </a:r>
          </a:p>
          <a:p>
            <a:pPr algn="ctr"/>
            <a:r>
              <a:rPr lang="en-US" altLang="zh-CN" sz="2200" dirty="0"/>
              <a:t>last/JJ </a:t>
            </a:r>
            <a:r>
              <a:rPr lang="en-US" altLang="zh-CN" sz="2200" dirty="0">
                <a:latin typeface="等线" panose="02010600030101010101" pitchFamily="2" charset="-122"/>
                <a:ea typeface="等线" panose="02010600030101010101" pitchFamily="2" charset="-122"/>
              </a:rPr>
              <a:t>→</a:t>
            </a:r>
            <a:r>
              <a:rPr lang="en-US" altLang="zh-CN" sz="2200" dirty="0"/>
              <a:t> 104,</a:t>
            </a:r>
            <a:r>
              <a:rPr lang="zh-CN" altLang="en-US" sz="2200" dirty="0"/>
              <a:t> </a:t>
            </a:r>
            <a:endParaRPr lang="en-US" altLang="zh-CN" sz="2200" dirty="0"/>
          </a:p>
          <a:p>
            <a:pPr algn="ctr"/>
            <a:r>
              <a:rPr lang="en-US" altLang="zh-CN" sz="2200" dirty="0"/>
              <a:t>month/NN </a:t>
            </a:r>
            <a:r>
              <a:rPr lang="en-US" altLang="zh-CN" sz="2200" dirty="0">
                <a:latin typeface="等线" panose="02010600030101010101" pitchFamily="2" charset="-122"/>
                <a:ea typeface="等线" panose="02010600030101010101" pitchFamily="2" charset="-122"/>
              </a:rPr>
              <a:t>→</a:t>
            </a:r>
            <a:r>
              <a:rPr lang="en-US" altLang="zh-CN" sz="2200" dirty="0"/>
              <a:t> 105, </a:t>
            </a:r>
          </a:p>
          <a:p>
            <a:pPr algn="ctr"/>
            <a:r>
              <a:rPr lang="en-US" altLang="zh-CN" sz="2200" dirty="0"/>
              <a:t>judge/NP </a:t>
            </a:r>
            <a:r>
              <a:rPr lang="en-US" altLang="zh-CN" sz="2200" dirty="0">
                <a:latin typeface="等线" panose="02010600030101010101" pitchFamily="2" charset="-122"/>
                <a:ea typeface="等线" panose="02010600030101010101" pitchFamily="2" charset="-122"/>
              </a:rPr>
              <a:t>→</a:t>
            </a:r>
            <a:r>
              <a:rPr lang="en-US" altLang="zh-CN" sz="2200" dirty="0"/>
              <a:t> 106,</a:t>
            </a:r>
          </a:p>
          <a:p>
            <a:pPr algn="ctr"/>
            <a:r>
              <a:rPr lang="en-US" altLang="zh-CN" sz="2200" dirty="0"/>
              <a:t>curry/NP </a:t>
            </a:r>
            <a:r>
              <a:rPr lang="en-US" altLang="zh-CN" sz="2200" dirty="0">
                <a:latin typeface="等线" panose="02010600030101010101" pitchFamily="2" charset="-122"/>
                <a:ea typeface="等线" panose="02010600030101010101" pitchFamily="2" charset="-122"/>
              </a:rPr>
              <a:t>→</a:t>
            </a:r>
            <a:r>
              <a:rPr lang="en-US" altLang="zh-CN" sz="2200" dirty="0"/>
              <a:t> 107,</a:t>
            </a:r>
          </a:p>
          <a:p>
            <a:pPr algn="ctr"/>
            <a:r>
              <a:rPr lang="en-US" altLang="zh-CN" sz="2200" dirty="0"/>
              <a:t>…</a:t>
            </a:r>
          </a:p>
          <a:p>
            <a:pPr algn="ctr"/>
            <a:r>
              <a:rPr lang="en-US" altLang="zh-CN" sz="2200" dirty="0"/>
              <a:t>cent/NN</a:t>
            </a:r>
            <a:r>
              <a:rPr lang="en-US" altLang="zh-CN" sz="2200" dirty="0">
                <a:latin typeface="等线" panose="02010600030101010101" pitchFamily="2" charset="-122"/>
                <a:ea typeface="等线" panose="02010600030101010101" pitchFamily="2" charset="-122"/>
              </a:rPr>
              <a:t> →</a:t>
            </a:r>
            <a:r>
              <a:rPr lang="en-US" altLang="zh-CN" sz="2200" dirty="0"/>
              <a:t> 9019</a:t>
            </a:r>
            <a:endParaRPr lang="zh-CN" altLang="en-US" sz="2200" dirty="0"/>
          </a:p>
        </p:txBody>
      </p:sp>
      <p:sp>
        <p:nvSpPr>
          <p:cNvPr id="8" name="TextBox 7">
            <a:extLst>
              <a:ext uri="{FF2B5EF4-FFF2-40B4-BE49-F238E27FC236}">
                <a16:creationId xmlns:a16="http://schemas.microsoft.com/office/drawing/2014/main" id="{E923D727-2455-4C31-991C-6A7DE0FFC49D}"/>
              </a:ext>
            </a:extLst>
          </p:cNvPr>
          <p:cNvSpPr txBox="1"/>
          <p:nvPr/>
        </p:nvSpPr>
        <p:spPr>
          <a:xfrm>
            <a:off x="2438400" y="1924883"/>
            <a:ext cx="6324600" cy="430887"/>
          </a:xfrm>
          <a:prstGeom prst="rect">
            <a:avLst/>
          </a:prstGeom>
          <a:noFill/>
        </p:spPr>
        <p:txBody>
          <a:bodyPr wrap="square" rtlCol="0">
            <a:spAutoFit/>
          </a:bodyPr>
          <a:lstStyle/>
          <a:p>
            <a:pPr algn="ctr"/>
            <a:r>
              <a:rPr lang="en-US" altLang="zh-CN" sz="2200" dirty="0"/>
              <a:t>last/JJ month/NN ,/, judge/NP curry/NP … </a:t>
            </a:r>
            <a:endParaRPr lang="zh-CN" altLang="en-US" sz="2200" dirty="0"/>
          </a:p>
        </p:txBody>
      </p:sp>
      <p:sp>
        <p:nvSpPr>
          <p:cNvPr id="9" name="TextBox 8">
            <a:extLst>
              <a:ext uri="{FF2B5EF4-FFF2-40B4-BE49-F238E27FC236}">
                <a16:creationId xmlns:a16="http://schemas.microsoft.com/office/drawing/2014/main" id="{51A0A3C5-83BD-4B4B-B273-9564E1BDFDA6}"/>
              </a:ext>
            </a:extLst>
          </p:cNvPr>
          <p:cNvSpPr txBox="1"/>
          <p:nvPr/>
        </p:nvSpPr>
        <p:spPr>
          <a:xfrm>
            <a:off x="2971800" y="4772263"/>
            <a:ext cx="1092572" cy="769441"/>
          </a:xfrm>
          <a:prstGeom prst="rect">
            <a:avLst/>
          </a:prstGeom>
          <a:noFill/>
        </p:spPr>
        <p:txBody>
          <a:bodyPr wrap="square" rtlCol="0">
            <a:spAutoFit/>
          </a:bodyPr>
          <a:lstStyle/>
          <a:p>
            <a:pPr algn="ctr"/>
            <a:r>
              <a:rPr lang="en-US" altLang="zh-CN" sz="2200" dirty="0"/>
              <a:t>Index</a:t>
            </a:r>
          </a:p>
          <a:p>
            <a:pPr algn="ctr"/>
            <a:r>
              <a:rPr lang="zh-CN" altLang="en-US" sz="2200" dirty="0"/>
              <a:t>下标</a:t>
            </a:r>
          </a:p>
        </p:txBody>
      </p:sp>
      <p:graphicFrame>
        <p:nvGraphicFramePr>
          <p:cNvPr id="5" name="Table 4">
            <a:extLst>
              <a:ext uri="{FF2B5EF4-FFF2-40B4-BE49-F238E27FC236}">
                <a16:creationId xmlns:a16="http://schemas.microsoft.com/office/drawing/2014/main" id="{5FCD0B53-1B05-4146-9F01-1F8ED1AD0745}"/>
              </a:ext>
            </a:extLst>
          </p:cNvPr>
          <p:cNvGraphicFramePr>
            <a:graphicFrameLocks noGrp="1"/>
          </p:cNvGraphicFramePr>
          <p:nvPr/>
        </p:nvGraphicFramePr>
        <p:xfrm>
          <a:off x="4064372" y="4114800"/>
          <a:ext cx="4457328" cy="609600"/>
        </p:xfrm>
        <a:graphic>
          <a:graphicData uri="http://schemas.openxmlformats.org/drawingml/2006/table">
            <a:tbl>
              <a:tblPr firstRow="1" bandRow="1">
                <a:tableStyleId>{5940675A-B579-460E-94D1-54222C63F5DA}</a:tableStyleId>
              </a:tblPr>
              <a:tblGrid>
                <a:gridCol w="557166">
                  <a:extLst>
                    <a:ext uri="{9D8B030D-6E8A-4147-A177-3AD203B41FA5}">
                      <a16:colId xmlns:a16="http://schemas.microsoft.com/office/drawing/2014/main" val="2884683681"/>
                    </a:ext>
                  </a:extLst>
                </a:gridCol>
                <a:gridCol w="557166">
                  <a:extLst>
                    <a:ext uri="{9D8B030D-6E8A-4147-A177-3AD203B41FA5}">
                      <a16:colId xmlns:a16="http://schemas.microsoft.com/office/drawing/2014/main" val="3657632391"/>
                    </a:ext>
                  </a:extLst>
                </a:gridCol>
                <a:gridCol w="557166">
                  <a:extLst>
                    <a:ext uri="{9D8B030D-6E8A-4147-A177-3AD203B41FA5}">
                      <a16:colId xmlns:a16="http://schemas.microsoft.com/office/drawing/2014/main" val="7069473"/>
                    </a:ext>
                  </a:extLst>
                </a:gridCol>
                <a:gridCol w="557166">
                  <a:extLst>
                    <a:ext uri="{9D8B030D-6E8A-4147-A177-3AD203B41FA5}">
                      <a16:colId xmlns:a16="http://schemas.microsoft.com/office/drawing/2014/main" val="2681662511"/>
                    </a:ext>
                  </a:extLst>
                </a:gridCol>
                <a:gridCol w="557166">
                  <a:extLst>
                    <a:ext uri="{9D8B030D-6E8A-4147-A177-3AD203B41FA5}">
                      <a16:colId xmlns:a16="http://schemas.microsoft.com/office/drawing/2014/main" val="4204260062"/>
                    </a:ext>
                  </a:extLst>
                </a:gridCol>
                <a:gridCol w="557166">
                  <a:extLst>
                    <a:ext uri="{9D8B030D-6E8A-4147-A177-3AD203B41FA5}">
                      <a16:colId xmlns:a16="http://schemas.microsoft.com/office/drawing/2014/main" val="3318160584"/>
                    </a:ext>
                  </a:extLst>
                </a:gridCol>
                <a:gridCol w="557166">
                  <a:extLst>
                    <a:ext uri="{9D8B030D-6E8A-4147-A177-3AD203B41FA5}">
                      <a16:colId xmlns:a16="http://schemas.microsoft.com/office/drawing/2014/main" val="2431958249"/>
                    </a:ext>
                  </a:extLst>
                </a:gridCol>
                <a:gridCol w="557166">
                  <a:extLst>
                    <a:ext uri="{9D8B030D-6E8A-4147-A177-3AD203B41FA5}">
                      <a16:colId xmlns:a16="http://schemas.microsoft.com/office/drawing/2014/main" val="3217763711"/>
                    </a:ext>
                  </a:extLst>
                </a:gridCol>
              </a:tblGrid>
              <a:tr h="609600">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extLst>
                  <a:ext uri="{0D108BD9-81ED-4DB2-BD59-A6C34878D82A}">
                    <a16:rowId xmlns:a16="http://schemas.microsoft.com/office/drawing/2014/main" val="3906628554"/>
                  </a:ext>
                </a:extLst>
              </a:tr>
            </a:tbl>
          </a:graphicData>
        </a:graphic>
      </p:graphicFrame>
      <p:sp>
        <p:nvSpPr>
          <p:cNvPr id="10" name="TextBox 9">
            <a:extLst>
              <a:ext uri="{FF2B5EF4-FFF2-40B4-BE49-F238E27FC236}">
                <a16:creationId xmlns:a16="http://schemas.microsoft.com/office/drawing/2014/main" id="{881CF2EA-CC61-49AA-871F-5F24F9E9E3C4}"/>
              </a:ext>
            </a:extLst>
          </p:cNvPr>
          <p:cNvSpPr txBox="1"/>
          <p:nvPr/>
        </p:nvSpPr>
        <p:spPr>
          <a:xfrm>
            <a:off x="5715000" y="4877436"/>
            <a:ext cx="571500" cy="382032"/>
          </a:xfrm>
          <a:prstGeom prst="rect">
            <a:avLst/>
          </a:prstGeom>
          <a:noFill/>
        </p:spPr>
        <p:txBody>
          <a:bodyPr wrap="square" rtlCol="0">
            <a:spAutoFit/>
          </a:bodyPr>
          <a:lstStyle/>
          <a:p>
            <a:pPr algn="ctr"/>
            <a:r>
              <a:rPr lang="en-US" altLang="zh-CN" dirty="0"/>
              <a:t>104</a:t>
            </a:r>
            <a:endParaRPr lang="zh-CN" altLang="en-US" dirty="0"/>
          </a:p>
        </p:txBody>
      </p:sp>
      <p:sp>
        <p:nvSpPr>
          <p:cNvPr id="12" name="TextBox 11">
            <a:extLst>
              <a:ext uri="{FF2B5EF4-FFF2-40B4-BE49-F238E27FC236}">
                <a16:creationId xmlns:a16="http://schemas.microsoft.com/office/drawing/2014/main" id="{C9C9A254-648F-4354-8447-ACF99ABEA271}"/>
              </a:ext>
            </a:extLst>
          </p:cNvPr>
          <p:cNvSpPr txBox="1"/>
          <p:nvPr/>
        </p:nvSpPr>
        <p:spPr>
          <a:xfrm>
            <a:off x="6286500" y="4877436"/>
            <a:ext cx="571500" cy="382032"/>
          </a:xfrm>
          <a:prstGeom prst="rect">
            <a:avLst/>
          </a:prstGeom>
          <a:noFill/>
        </p:spPr>
        <p:txBody>
          <a:bodyPr wrap="square" rtlCol="0">
            <a:spAutoFit/>
          </a:bodyPr>
          <a:lstStyle/>
          <a:p>
            <a:pPr algn="ctr"/>
            <a:r>
              <a:rPr lang="en-US" altLang="zh-CN" dirty="0"/>
              <a:t>105</a:t>
            </a:r>
            <a:endParaRPr lang="zh-CN" altLang="en-US" dirty="0"/>
          </a:p>
        </p:txBody>
      </p:sp>
      <p:sp>
        <p:nvSpPr>
          <p:cNvPr id="13" name="TextBox 12">
            <a:extLst>
              <a:ext uri="{FF2B5EF4-FFF2-40B4-BE49-F238E27FC236}">
                <a16:creationId xmlns:a16="http://schemas.microsoft.com/office/drawing/2014/main" id="{1568EE06-C291-48A8-A02D-82305DF2F2AF}"/>
              </a:ext>
            </a:extLst>
          </p:cNvPr>
          <p:cNvSpPr txBox="1"/>
          <p:nvPr/>
        </p:nvSpPr>
        <p:spPr>
          <a:xfrm>
            <a:off x="6832600" y="4877436"/>
            <a:ext cx="571500" cy="382032"/>
          </a:xfrm>
          <a:prstGeom prst="rect">
            <a:avLst/>
          </a:prstGeom>
          <a:noFill/>
        </p:spPr>
        <p:txBody>
          <a:bodyPr wrap="square" rtlCol="0">
            <a:spAutoFit/>
          </a:bodyPr>
          <a:lstStyle/>
          <a:p>
            <a:pPr algn="ctr"/>
            <a:r>
              <a:rPr lang="en-US" altLang="zh-CN" dirty="0"/>
              <a:t>106</a:t>
            </a:r>
            <a:endParaRPr lang="zh-CN" altLang="en-US" dirty="0"/>
          </a:p>
        </p:txBody>
      </p:sp>
      <p:sp>
        <p:nvSpPr>
          <p:cNvPr id="14" name="TextBox 13">
            <a:extLst>
              <a:ext uri="{FF2B5EF4-FFF2-40B4-BE49-F238E27FC236}">
                <a16:creationId xmlns:a16="http://schemas.microsoft.com/office/drawing/2014/main" id="{9759045A-3272-42AA-81AF-20B949013BD8}"/>
              </a:ext>
            </a:extLst>
          </p:cNvPr>
          <p:cNvSpPr txBox="1"/>
          <p:nvPr/>
        </p:nvSpPr>
        <p:spPr>
          <a:xfrm>
            <a:off x="7365628" y="4877436"/>
            <a:ext cx="571500" cy="382032"/>
          </a:xfrm>
          <a:prstGeom prst="rect">
            <a:avLst/>
          </a:prstGeom>
          <a:noFill/>
        </p:spPr>
        <p:txBody>
          <a:bodyPr wrap="square" rtlCol="0">
            <a:spAutoFit/>
          </a:bodyPr>
          <a:lstStyle/>
          <a:p>
            <a:pPr algn="ctr"/>
            <a:r>
              <a:rPr lang="en-US" altLang="zh-CN" dirty="0"/>
              <a:t>107</a:t>
            </a:r>
            <a:endParaRPr lang="zh-CN" altLang="en-US" dirty="0"/>
          </a:p>
        </p:txBody>
      </p:sp>
      <p:sp>
        <p:nvSpPr>
          <p:cNvPr id="15" name="TextBox 14">
            <a:extLst>
              <a:ext uri="{FF2B5EF4-FFF2-40B4-BE49-F238E27FC236}">
                <a16:creationId xmlns:a16="http://schemas.microsoft.com/office/drawing/2014/main" id="{98B04BB9-69D7-420F-AC10-263A658BF756}"/>
              </a:ext>
            </a:extLst>
          </p:cNvPr>
          <p:cNvSpPr txBox="1"/>
          <p:nvPr/>
        </p:nvSpPr>
        <p:spPr>
          <a:xfrm>
            <a:off x="4597030" y="4898391"/>
            <a:ext cx="571500" cy="382032"/>
          </a:xfrm>
          <a:prstGeom prst="rect">
            <a:avLst/>
          </a:prstGeom>
          <a:noFill/>
        </p:spPr>
        <p:txBody>
          <a:bodyPr wrap="square" rtlCol="0">
            <a:spAutoFit/>
          </a:bodyPr>
          <a:lstStyle/>
          <a:p>
            <a:pPr algn="ctr"/>
            <a:r>
              <a:rPr lang="en-US" altLang="zh-CN" dirty="0"/>
              <a:t>8</a:t>
            </a:r>
            <a:endParaRPr lang="zh-CN" altLang="en-US" dirty="0"/>
          </a:p>
        </p:txBody>
      </p:sp>
      <p:sp>
        <p:nvSpPr>
          <p:cNvPr id="17" name="TextBox 16">
            <a:extLst>
              <a:ext uri="{FF2B5EF4-FFF2-40B4-BE49-F238E27FC236}">
                <a16:creationId xmlns:a16="http://schemas.microsoft.com/office/drawing/2014/main" id="{59BA1501-4DAE-4150-BD9B-20FBF68759AB}"/>
              </a:ext>
            </a:extLst>
          </p:cNvPr>
          <p:cNvSpPr txBox="1"/>
          <p:nvPr/>
        </p:nvSpPr>
        <p:spPr>
          <a:xfrm>
            <a:off x="4038600"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8" name="TextBox 17">
            <a:extLst>
              <a:ext uri="{FF2B5EF4-FFF2-40B4-BE49-F238E27FC236}">
                <a16:creationId xmlns:a16="http://schemas.microsoft.com/office/drawing/2014/main" id="{3A748A39-3774-495B-B9D2-48C936D8D67C}"/>
              </a:ext>
            </a:extLst>
          </p:cNvPr>
          <p:cNvSpPr txBox="1"/>
          <p:nvPr/>
        </p:nvSpPr>
        <p:spPr>
          <a:xfrm>
            <a:off x="5194302"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9" name="TextBox 18">
            <a:extLst>
              <a:ext uri="{FF2B5EF4-FFF2-40B4-BE49-F238E27FC236}">
                <a16:creationId xmlns:a16="http://schemas.microsoft.com/office/drawing/2014/main" id="{098B498E-71F9-4F22-A56D-0089ECFEEFFD}"/>
              </a:ext>
            </a:extLst>
          </p:cNvPr>
          <p:cNvSpPr txBox="1"/>
          <p:nvPr/>
        </p:nvSpPr>
        <p:spPr>
          <a:xfrm>
            <a:off x="7962900" y="4898391"/>
            <a:ext cx="571500" cy="369332"/>
          </a:xfrm>
          <a:prstGeom prst="rect">
            <a:avLst/>
          </a:prstGeom>
          <a:noFill/>
        </p:spPr>
        <p:txBody>
          <a:bodyPr wrap="square" rtlCol="0">
            <a:spAutoFit/>
          </a:bodyPr>
          <a:lstStyle/>
          <a:p>
            <a:pPr algn="ctr"/>
            <a:r>
              <a:rPr lang="en-US" altLang="zh-CN" dirty="0"/>
              <a:t>…</a:t>
            </a:r>
            <a:endParaRPr lang="zh-CN" altLang="en-US" dirty="0"/>
          </a:p>
        </p:txBody>
      </p:sp>
      <p:cxnSp>
        <p:nvCxnSpPr>
          <p:cNvPr id="6" name="Straight Arrow Connector 5">
            <a:extLst>
              <a:ext uri="{FF2B5EF4-FFF2-40B4-BE49-F238E27FC236}">
                <a16:creationId xmlns:a16="http://schemas.microsoft.com/office/drawing/2014/main" id="{F2149BA7-6A6E-46F1-B281-19199196458E}"/>
              </a:ext>
            </a:extLst>
          </p:cNvPr>
          <p:cNvCxnSpPr>
            <a:cxnSpLocks/>
          </p:cNvCxnSpPr>
          <p:nvPr/>
        </p:nvCxnSpPr>
        <p:spPr bwMode="auto">
          <a:xfrm flipH="1">
            <a:off x="990600" y="2355770"/>
            <a:ext cx="5029200" cy="16066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921B8A07-0D50-46D6-8FC9-40EE90F563E3}"/>
              </a:ext>
            </a:extLst>
          </p:cNvPr>
          <p:cNvCxnSpPr>
            <a:cxnSpLocks/>
          </p:cNvCxnSpPr>
          <p:nvPr/>
        </p:nvCxnSpPr>
        <p:spPr bwMode="auto">
          <a:xfrm>
            <a:off x="2438400" y="3962400"/>
            <a:ext cx="4679950" cy="2569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9E3FFEE1-F9D3-48C7-89CA-29AA853C4120}"/>
              </a:ext>
            </a:extLst>
          </p:cNvPr>
          <p:cNvSpPr txBox="1"/>
          <p:nvPr/>
        </p:nvSpPr>
        <p:spPr>
          <a:xfrm>
            <a:off x="5715000" y="4267200"/>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5" name="TextBox 24">
            <a:extLst>
              <a:ext uri="{FF2B5EF4-FFF2-40B4-BE49-F238E27FC236}">
                <a16:creationId xmlns:a16="http://schemas.microsoft.com/office/drawing/2014/main" id="{5BB12A23-0216-46F7-9CF6-48B8F2E0B61B}"/>
              </a:ext>
            </a:extLst>
          </p:cNvPr>
          <p:cNvSpPr txBox="1"/>
          <p:nvPr/>
        </p:nvSpPr>
        <p:spPr>
          <a:xfrm>
            <a:off x="6286500" y="4251048"/>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1" name="TextBox 20">
            <a:extLst>
              <a:ext uri="{FF2B5EF4-FFF2-40B4-BE49-F238E27FC236}">
                <a16:creationId xmlns:a16="http://schemas.microsoft.com/office/drawing/2014/main" id="{2A9823A3-A3DE-47CB-84D1-B8F800912298}"/>
              </a:ext>
            </a:extLst>
          </p:cNvPr>
          <p:cNvSpPr txBox="1"/>
          <p:nvPr/>
        </p:nvSpPr>
        <p:spPr>
          <a:xfrm>
            <a:off x="4571630" y="4267200"/>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6" name="TextBox 25">
            <a:extLst>
              <a:ext uri="{FF2B5EF4-FFF2-40B4-BE49-F238E27FC236}">
                <a16:creationId xmlns:a16="http://schemas.microsoft.com/office/drawing/2014/main" id="{AA61B760-1913-48D4-B155-08A70F204B7B}"/>
              </a:ext>
            </a:extLst>
          </p:cNvPr>
          <p:cNvSpPr txBox="1"/>
          <p:nvPr/>
        </p:nvSpPr>
        <p:spPr>
          <a:xfrm>
            <a:off x="6858000" y="4251048"/>
            <a:ext cx="571500" cy="382032"/>
          </a:xfrm>
          <a:prstGeom prst="rect">
            <a:avLst/>
          </a:prstGeom>
          <a:noFill/>
        </p:spPr>
        <p:txBody>
          <a:bodyPr wrap="square" rtlCol="0">
            <a:spAutoFit/>
          </a:bodyPr>
          <a:lstStyle/>
          <a:p>
            <a:pPr algn="ctr"/>
            <a:r>
              <a:rPr lang="en-US" altLang="zh-CN" dirty="0"/>
              <a:t>1</a:t>
            </a:r>
            <a:endParaRPr lang="zh-CN" altLang="en-US" dirty="0"/>
          </a:p>
        </p:txBody>
      </p:sp>
    </p:spTree>
    <p:custDataLst>
      <p:tags r:id="rId1"/>
    </p:custDataLst>
    <p:extLst>
      <p:ext uri="{BB962C8B-B14F-4D97-AF65-F5344CB8AC3E}">
        <p14:creationId xmlns:p14="http://schemas.microsoft.com/office/powerpoint/2010/main" val="426329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变换输入 </a:t>
            </a:r>
            <a:r>
              <a:rPr lang="en-US" altLang="zh-CN" dirty="0">
                <a:ea typeface="ＭＳ Ｐゴシック" panose="020B0600070205080204" pitchFamily="34" charset="-128"/>
              </a:rPr>
              <a:t>(2)</a:t>
            </a:r>
            <a:endParaRPr lang="zh-CN" altLang="en-US" dirty="0"/>
          </a:p>
        </p:txBody>
      </p:sp>
      <p:sp>
        <p:nvSpPr>
          <p:cNvPr id="7" name="TextBox 6">
            <a:extLst>
              <a:ext uri="{FF2B5EF4-FFF2-40B4-BE49-F238E27FC236}">
                <a16:creationId xmlns:a16="http://schemas.microsoft.com/office/drawing/2014/main" id="{8525F7E3-6188-440D-90A4-AABA9FFD5CA9}"/>
              </a:ext>
            </a:extLst>
          </p:cNvPr>
          <p:cNvSpPr txBox="1"/>
          <p:nvPr/>
        </p:nvSpPr>
        <p:spPr>
          <a:xfrm>
            <a:off x="0" y="1802548"/>
            <a:ext cx="2704730" cy="3477875"/>
          </a:xfrm>
          <a:prstGeom prst="rect">
            <a:avLst/>
          </a:prstGeom>
          <a:noFill/>
        </p:spPr>
        <p:txBody>
          <a:bodyPr wrap="square" rtlCol="0">
            <a:spAutoFit/>
          </a:bodyPr>
          <a:lstStyle/>
          <a:p>
            <a:pPr algn="ctr"/>
            <a:r>
              <a:rPr lang="zh-CN" altLang="en-US" sz="2200" b="1" dirty="0"/>
              <a:t>字典</a:t>
            </a:r>
            <a:endParaRPr lang="en-US" altLang="zh-CN" sz="2200" b="1" dirty="0"/>
          </a:p>
          <a:p>
            <a:pPr algn="ctr"/>
            <a:r>
              <a:rPr lang="en-US" altLang="zh-CN" sz="2200" dirty="0"/>
              <a:t>…</a:t>
            </a:r>
          </a:p>
          <a:p>
            <a:pPr algn="ctr"/>
            <a:r>
              <a:rPr lang="en-US" altLang="zh-CN" sz="2200" dirty="0"/>
              <a:t>,/, </a:t>
            </a:r>
            <a:r>
              <a:rPr lang="en-US" altLang="zh-CN" sz="2200" dirty="0">
                <a:latin typeface="等线" panose="02010600030101010101" pitchFamily="2" charset="-122"/>
                <a:ea typeface="等线" panose="02010600030101010101" pitchFamily="2" charset="-122"/>
              </a:rPr>
              <a:t>→</a:t>
            </a:r>
            <a:r>
              <a:rPr lang="en-US" altLang="zh-CN" sz="2200" dirty="0"/>
              <a:t> 8</a:t>
            </a:r>
          </a:p>
          <a:p>
            <a:pPr algn="ctr"/>
            <a:r>
              <a:rPr lang="en-US" altLang="zh-CN" sz="2200" dirty="0"/>
              <a:t>…</a:t>
            </a:r>
          </a:p>
          <a:p>
            <a:pPr algn="ctr"/>
            <a:r>
              <a:rPr lang="en-US" altLang="zh-CN" sz="2200" dirty="0"/>
              <a:t>last/JJ </a:t>
            </a:r>
            <a:r>
              <a:rPr lang="en-US" altLang="zh-CN" sz="2200" dirty="0">
                <a:latin typeface="等线" panose="02010600030101010101" pitchFamily="2" charset="-122"/>
                <a:ea typeface="等线" panose="02010600030101010101" pitchFamily="2" charset="-122"/>
              </a:rPr>
              <a:t>→</a:t>
            </a:r>
            <a:r>
              <a:rPr lang="en-US" altLang="zh-CN" sz="2200" dirty="0"/>
              <a:t> 104,</a:t>
            </a:r>
            <a:r>
              <a:rPr lang="zh-CN" altLang="en-US" sz="2200" dirty="0"/>
              <a:t> </a:t>
            </a:r>
            <a:endParaRPr lang="en-US" altLang="zh-CN" sz="2200" dirty="0"/>
          </a:p>
          <a:p>
            <a:pPr algn="ctr"/>
            <a:r>
              <a:rPr lang="en-US" altLang="zh-CN" sz="2200" dirty="0"/>
              <a:t>month/NN </a:t>
            </a:r>
            <a:r>
              <a:rPr lang="en-US" altLang="zh-CN" sz="2200" dirty="0">
                <a:latin typeface="等线" panose="02010600030101010101" pitchFamily="2" charset="-122"/>
                <a:ea typeface="等线" panose="02010600030101010101" pitchFamily="2" charset="-122"/>
              </a:rPr>
              <a:t>→</a:t>
            </a:r>
            <a:r>
              <a:rPr lang="en-US" altLang="zh-CN" sz="2200" dirty="0"/>
              <a:t> 105, </a:t>
            </a:r>
          </a:p>
          <a:p>
            <a:pPr algn="ctr"/>
            <a:r>
              <a:rPr lang="en-US" altLang="zh-CN" sz="2200" dirty="0"/>
              <a:t>judge/NP </a:t>
            </a:r>
            <a:r>
              <a:rPr lang="en-US" altLang="zh-CN" sz="2200" dirty="0">
                <a:latin typeface="等线" panose="02010600030101010101" pitchFamily="2" charset="-122"/>
                <a:ea typeface="等线" panose="02010600030101010101" pitchFamily="2" charset="-122"/>
              </a:rPr>
              <a:t>→</a:t>
            </a:r>
            <a:r>
              <a:rPr lang="en-US" altLang="zh-CN" sz="2200" dirty="0"/>
              <a:t> 106,</a:t>
            </a:r>
          </a:p>
          <a:p>
            <a:pPr algn="ctr"/>
            <a:r>
              <a:rPr lang="en-US" altLang="zh-CN" sz="2200" dirty="0"/>
              <a:t>curry/NP </a:t>
            </a:r>
            <a:r>
              <a:rPr lang="en-US" altLang="zh-CN" sz="2200" dirty="0">
                <a:latin typeface="等线" panose="02010600030101010101" pitchFamily="2" charset="-122"/>
                <a:ea typeface="等线" panose="02010600030101010101" pitchFamily="2" charset="-122"/>
              </a:rPr>
              <a:t>→</a:t>
            </a:r>
            <a:r>
              <a:rPr lang="en-US" altLang="zh-CN" sz="2200" dirty="0"/>
              <a:t> 107,</a:t>
            </a:r>
          </a:p>
          <a:p>
            <a:pPr algn="ctr"/>
            <a:r>
              <a:rPr lang="en-US" altLang="zh-CN" sz="2200" dirty="0"/>
              <a:t>…</a:t>
            </a:r>
          </a:p>
          <a:p>
            <a:pPr algn="ctr"/>
            <a:r>
              <a:rPr lang="en-US" altLang="zh-CN" sz="2200" dirty="0"/>
              <a:t>cent/NN</a:t>
            </a:r>
            <a:r>
              <a:rPr lang="en-US" altLang="zh-CN" sz="2200" dirty="0">
                <a:latin typeface="等线" panose="02010600030101010101" pitchFamily="2" charset="-122"/>
                <a:ea typeface="等线" panose="02010600030101010101" pitchFamily="2" charset="-122"/>
              </a:rPr>
              <a:t> →</a:t>
            </a:r>
            <a:r>
              <a:rPr lang="en-US" altLang="zh-CN" sz="2200" dirty="0"/>
              <a:t> 9019</a:t>
            </a:r>
            <a:endParaRPr lang="zh-CN" altLang="en-US" sz="2200" dirty="0"/>
          </a:p>
        </p:txBody>
      </p:sp>
      <p:sp>
        <p:nvSpPr>
          <p:cNvPr id="8" name="TextBox 7">
            <a:extLst>
              <a:ext uri="{FF2B5EF4-FFF2-40B4-BE49-F238E27FC236}">
                <a16:creationId xmlns:a16="http://schemas.microsoft.com/office/drawing/2014/main" id="{E923D727-2455-4C31-991C-6A7DE0FFC49D}"/>
              </a:ext>
            </a:extLst>
          </p:cNvPr>
          <p:cNvSpPr txBox="1"/>
          <p:nvPr/>
        </p:nvSpPr>
        <p:spPr>
          <a:xfrm>
            <a:off x="2438400" y="1924883"/>
            <a:ext cx="6324600" cy="430887"/>
          </a:xfrm>
          <a:prstGeom prst="rect">
            <a:avLst/>
          </a:prstGeom>
          <a:noFill/>
        </p:spPr>
        <p:txBody>
          <a:bodyPr wrap="square" rtlCol="0">
            <a:spAutoFit/>
          </a:bodyPr>
          <a:lstStyle/>
          <a:p>
            <a:pPr algn="ctr"/>
            <a:r>
              <a:rPr lang="en-US" altLang="zh-CN" sz="2200" dirty="0"/>
              <a:t>last/JJ month/NN ,/, judge/NP curry/NP … </a:t>
            </a:r>
            <a:endParaRPr lang="zh-CN" altLang="en-US" sz="2200" dirty="0"/>
          </a:p>
        </p:txBody>
      </p:sp>
      <p:sp>
        <p:nvSpPr>
          <p:cNvPr id="9" name="TextBox 8">
            <a:extLst>
              <a:ext uri="{FF2B5EF4-FFF2-40B4-BE49-F238E27FC236}">
                <a16:creationId xmlns:a16="http://schemas.microsoft.com/office/drawing/2014/main" id="{51A0A3C5-83BD-4B4B-B273-9564E1BDFDA6}"/>
              </a:ext>
            </a:extLst>
          </p:cNvPr>
          <p:cNvSpPr txBox="1"/>
          <p:nvPr/>
        </p:nvSpPr>
        <p:spPr>
          <a:xfrm>
            <a:off x="2971800" y="4772263"/>
            <a:ext cx="1092572" cy="430887"/>
          </a:xfrm>
          <a:prstGeom prst="rect">
            <a:avLst/>
          </a:prstGeom>
          <a:noFill/>
        </p:spPr>
        <p:txBody>
          <a:bodyPr wrap="square" rtlCol="0">
            <a:spAutoFit/>
          </a:bodyPr>
          <a:lstStyle/>
          <a:p>
            <a:pPr algn="ctr"/>
            <a:r>
              <a:rPr lang="zh-CN" altLang="en-US" sz="2200" dirty="0"/>
              <a:t>下标</a:t>
            </a:r>
          </a:p>
        </p:txBody>
      </p:sp>
      <p:graphicFrame>
        <p:nvGraphicFramePr>
          <p:cNvPr id="5" name="Table 4">
            <a:extLst>
              <a:ext uri="{FF2B5EF4-FFF2-40B4-BE49-F238E27FC236}">
                <a16:creationId xmlns:a16="http://schemas.microsoft.com/office/drawing/2014/main" id="{5FCD0B53-1B05-4146-9F01-1F8ED1AD0745}"/>
              </a:ext>
            </a:extLst>
          </p:cNvPr>
          <p:cNvGraphicFramePr>
            <a:graphicFrameLocks noGrp="1"/>
          </p:cNvGraphicFramePr>
          <p:nvPr/>
        </p:nvGraphicFramePr>
        <p:xfrm>
          <a:off x="4064372" y="4114800"/>
          <a:ext cx="4457328" cy="609600"/>
        </p:xfrm>
        <a:graphic>
          <a:graphicData uri="http://schemas.openxmlformats.org/drawingml/2006/table">
            <a:tbl>
              <a:tblPr firstRow="1" bandRow="1">
                <a:tableStyleId>{5940675A-B579-460E-94D1-54222C63F5DA}</a:tableStyleId>
              </a:tblPr>
              <a:tblGrid>
                <a:gridCol w="557166">
                  <a:extLst>
                    <a:ext uri="{9D8B030D-6E8A-4147-A177-3AD203B41FA5}">
                      <a16:colId xmlns:a16="http://schemas.microsoft.com/office/drawing/2014/main" val="2884683681"/>
                    </a:ext>
                  </a:extLst>
                </a:gridCol>
                <a:gridCol w="557166">
                  <a:extLst>
                    <a:ext uri="{9D8B030D-6E8A-4147-A177-3AD203B41FA5}">
                      <a16:colId xmlns:a16="http://schemas.microsoft.com/office/drawing/2014/main" val="3657632391"/>
                    </a:ext>
                  </a:extLst>
                </a:gridCol>
                <a:gridCol w="557166">
                  <a:extLst>
                    <a:ext uri="{9D8B030D-6E8A-4147-A177-3AD203B41FA5}">
                      <a16:colId xmlns:a16="http://schemas.microsoft.com/office/drawing/2014/main" val="7069473"/>
                    </a:ext>
                  </a:extLst>
                </a:gridCol>
                <a:gridCol w="557166">
                  <a:extLst>
                    <a:ext uri="{9D8B030D-6E8A-4147-A177-3AD203B41FA5}">
                      <a16:colId xmlns:a16="http://schemas.microsoft.com/office/drawing/2014/main" val="2681662511"/>
                    </a:ext>
                  </a:extLst>
                </a:gridCol>
                <a:gridCol w="557166">
                  <a:extLst>
                    <a:ext uri="{9D8B030D-6E8A-4147-A177-3AD203B41FA5}">
                      <a16:colId xmlns:a16="http://schemas.microsoft.com/office/drawing/2014/main" val="4204260062"/>
                    </a:ext>
                  </a:extLst>
                </a:gridCol>
                <a:gridCol w="557166">
                  <a:extLst>
                    <a:ext uri="{9D8B030D-6E8A-4147-A177-3AD203B41FA5}">
                      <a16:colId xmlns:a16="http://schemas.microsoft.com/office/drawing/2014/main" val="3318160584"/>
                    </a:ext>
                  </a:extLst>
                </a:gridCol>
                <a:gridCol w="557166">
                  <a:extLst>
                    <a:ext uri="{9D8B030D-6E8A-4147-A177-3AD203B41FA5}">
                      <a16:colId xmlns:a16="http://schemas.microsoft.com/office/drawing/2014/main" val="2431958249"/>
                    </a:ext>
                  </a:extLst>
                </a:gridCol>
                <a:gridCol w="557166">
                  <a:extLst>
                    <a:ext uri="{9D8B030D-6E8A-4147-A177-3AD203B41FA5}">
                      <a16:colId xmlns:a16="http://schemas.microsoft.com/office/drawing/2014/main" val="3217763711"/>
                    </a:ext>
                  </a:extLst>
                </a:gridCol>
              </a:tblGrid>
              <a:tr h="609600">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tc>
                  <a:txBody>
                    <a:bodyPr/>
                    <a:lstStyle/>
                    <a:p>
                      <a:pPr algn="ctr"/>
                      <a:r>
                        <a:rPr lang="en-US" altLang="zh-CN" dirty="0"/>
                        <a:t>…</a:t>
                      </a:r>
                      <a:endParaRPr lang="zh-CN" altLang="en-US" dirty="0"/>
                    </a:p>
                  </a:txBody>
                  <a:tcPr anchor="ctr"/>
                </a:tc>
                <a:extLst>
                  <a:ext uri="{0D108BD9-81ED-4DB2-BD59-A6C34878D82A}">
                    <a16:rowId xmlns:a16="http://schemas.microsoft.com/office/drawing/2014/main" val="3906628554"/>
                  </a:ext>
                </a:extLst>
              </a:tr>
            </a:tbl>
          </a:graphicData>
        </a:graphic>
      </p:graphicFrame>
      <p:sp>
        <p:nvSpPr>
          <p:cNvPr id="10" name="TextBox 9">
            <a:extLst>
              <a:ext uri="{FF2B5EF4-FFF2-40B4-BE49-F238E27FC236}">
                <a16:creationId xmlns:a16="http://schemas.microsoft.com/office/drawing/2014/main" id="{881CF2EA-CC61-49AA-871F-5F24F9E9E3C4}"/>
              </a:ext>
            </a:extLst>
          </p:cNvPr>
          <p:cNvSpPr txBox="1"/>
          <p:nvPr/>
        </p:nvSpPr>
        <p:spPr>
          <a:xfrm>
            <a:off x="5715000" y="4877436"/>
            <a:ext cx="571500" cy="382032"/>
          </a:xfrm>
          <a:prstGeom prst="rect">
            <a:avLst/>
          </a:prstGeom>
          <a:noFill/>
        </p:spPr>
        <p:txBody>
          <a:bodyPr wrap="square" rtlCol="0">
            <a:spAutoFit/>
          </a:bodyPr>
          <a:lstStyle/>
          <a:p>
            <a:pPr algn="ctr"/>
            <a:r>
              <a:rPr lang="en-US" altLang="zh-CN" dirty="0"/>
              <a:t>104</a:t>
            </a:r>
            <a:endParaRPr lang="zh-CN" altLang="en-US" dirty="0"/>
          </a:p>
        </p:txBody>
      </p:sp>
      <p:sp>
        <p:nvSpPr>
          <p:cNvPr id="12" name="TextBox 11">
            <a:extLst>
              <a:ext uri="{FF2B5EF4-FFF2-40B4-BE49-F238E27FC236}">
                <a16:creationId xmlns:a16="http://schemas.microsoft.com/office/drawing/2014/main" id="{C9C9A254-648F-4354-8447-ACF99ABEA271}"/>
              </a:ext>
            </a:extLst>
          </p:cNvPr>
          <p:cNvSpPr txBox="1"/>
          <p:nvPr/>
        </p:nvSpPr>
        <p:spPr>
          <a:xfrm>
            <a:off x="6286500" y="4877436"/>
            <a:ext cx="571500" cy="382032"/>
          </a:xfrm>
          <a:prstGeom prst="rect">
            <a:avLst/>
          </a:prstGeom>
          <a:noFill/>
        </p:spPr>
        <p:txBody>
          <a:bodyPr wrap="square" rtlCol="0">
            <a:spAutoFit/>
          </a:bodyPr>
          <a:lstStyle/>
          <a:p>
            <a:pPr algn="ctr"/>
            <a:r>
              <a:rPr lang="en-US" altLang="zh-CN" dirty="0"/>
              <a:t>105</a:t>
            </a:r>
            <a:endParaRPr lang="zh-CN" altLang="en-US" dirty="0"/>
          </a:p>
        </p:txBody>
      </p:sp>
      <p:sp>
        <p:nvSpPr>
          <p:cNvPr id="13" name="TextBox 12">
            <a:extLst>
              <a:ext uri="{FF2B5EF4-FFF2-40B4-BE49-F238E27FC236}">
                <a16:creationId xmlns:a16="http://schemas.microsoft.com/office/drawing/2014/main" id="{1568EE06-C291-48A8-A02D-82305DF2F2AF}"/>
              </a:ext>
            </a:extLst>
          </p:cNvPr>
          <p:cNvSpPr txBox="1"/>
          <p:nvPr/>
        </p:nvSpPr>
        <p:spPr>
          <a:xfrm>
            <a:off x="6832600" y="4877436"/>
            <a:ext cx="571500" cy="382032"/>
          </a:xfrm>
          <a:prstGeom prst="rect">
            <a:avLst/>
          </a:prstGeom>
          <a:noFill/>
        </p:spPr>
        <p:txBody>
          <a:bodyPr wrap="square" rtlCol="0">
            <a:spAutoFit/>
          </a:bodyPr>
          <a:lstStyle/>
          <a:p>
            <a:pPr algn="ctr"/>
            <a:r>
              <a:rPr lang="en-US" altLang="zh-CN" dirty="0"/>
              <a:t>106</a:t>
            </a:r>
            <a:endParaRPr lang="zh-CN" altLang="en-US" dirty="0"/>
          </a:p>
        </p:txBody>
      </p:sp>
      <p:sp>
        <p:nvSpPr>
          <p:cNvPr id="14" name="TextBox 13">
            <a:extLst>
              <a:ext uri="{FF2B5EF4-FFF2-40B4-BE49-F238E27FC236}">
                <a16:creationId xmlns:a16="http://schemas.microsoft.com/office/drawing/2014/main" id="{9759045A-3272-42AA-81AF-20B949013BD8}"/>
              </a:ext>
            </a:extLst>
          </p:cNvPr>
          <p:cNvSpPr txBox="1"/>
          <p:nvPr/>
        </p:nvSpPr>
        <p:spPr>
          <a:xfrm>
            <a:off x="7365628" y="4877436"/>
            <a:ext cx="571500" cy="382032"/>
          </a:xfrm>
          <a:prstGeom prst="rect">
            <a:avLst/>
          </a:prstGeom>
          <a:noFill/>
        </p:spPr>
        <p:txBody>
          <a:bodyPr wrap="square" rtlCol="0">
            <a:spAutoFit/>
          </a:bodyPr>
          <a:lstStyle/>
          <a:p>
            <a:pPr algn="ctr"/>
            <a:r>
              <a:rPr lang="en-US" altLang="zh-CN" dirty="0"/>
              <a:t>107</a:t>
            </a:r>
            <a:endParaRPr lang="zh-CN" altLang="en-US" dirty="0"/>
          </a:p>
        </p:txBody>
      </p:sp>
      <p:sp>
        <p:nvSpPr>
          <p:cNvPr id="15" name="TextBox 14">
            <a:extLst>
              <a:ext uri="{FF2B5EF4-FFF2-40B4-BE49-F238E27FC236}">
                <a16:creationId xmlns:a16="http://schemas.microsoft.com/office/drawing/2014/main" id="{98B04BB9-69D7-420F-AC10-263A658BF756}"/>
              </a:ext>
            </a:extLst>
          </p:cNvPr>
          <p:cNvSpPr txBox="1"/>
          <p:nvPr/>
        </p:nvSpPr>
        <p:spPr>
          <a:xfrm>
            <a:off x="4597030" y="4898391"/>
            <a:ext cx="571500" cy="382032"/>
          </a:xfrm>
          <a:prstGeom prst="rect">
            <a:avLst/>
          </a:prstGeom>
          <a:noFill/>
        </p:spPr>
        <p:txBody>
          <a:bodyPr wrap="square" rtlCol="0">
            <a:spAutoFit/>
          </a:bodyPr>
          <a:lstStyle/>
          <a:p>
            <a:pPr algn="ctr"/>
            <a:r>
              <a:rPr lang="en-US" altLang="zh-CN" dirty="0"/>
              <a:t>8</a:t>
            </a:r>
            <a:endParaRPr lang="zh-CN" altLang="en-US" dirty="0"/>
          </a:p>
        </p:txBody>
      </p:sp>
      <p:sp>
        <p:nvSpPr>
          <p:cNvPr id="17" name="TextBox 16">
            <a:extLst>
              <a:ext uri="{FF2B5EF4-FFF2-40B4-BE49-F238E27FC236}">
                <a16:creationId xmlns:a16="http://schemas.microsoft.com/office/drawing/2014/main" id="{59BA1501-4DAE-4150-BD9B-20FBF68759AB}"/>
              </a:ext>
            </a:extLst>
          </p:cNvPr>
          <p:cNvSpPr txBox="1"/>
          <p:nvPr/>
        </p:nvSpPr>
        <p:spPr>
          <a:xfrm>
            <a:off x="4038600"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8" name="TextBox 17">
            <a:extLst>
              <a:ext uri="{FF2B5EF4-FFF2-40B4-BE49-F238E27FC236}">
                <a16:creationId xmlns:a16="http://schemas.microsoft.com/office/drawing/2014/main" id="{3A748A39-3774-495B-B9D2-48C936D8D67C}"/>
              </a:ext>
            </a:extLst>
          </p:cNvPr>
          <p:cNvSpPr txBox="1"/>
          <p:nvPr/>
        </p:nvSpPr>
        <p:spPr>
          <a:xfrm>
            <a:off x="5194302" y="4876800"/>
            <a:ext cx="571500" cy="369332"/>
          </a:xfrm>
          <a:prstGeom prst="rect">
            <a:avLst/>
          </a:prstGeom>
          <a:noFill/>
        </p:spPr>
        <p:txBody>
          <a:bodyPr wrap="square" rtlCol="0">
            <a:spAutoFit/>
          </a:bodyPr>
          <a:lstStyle/>
          <a:p>
            <a:pPr algn="ctr"/>
            <a:r>
              <a:rPr lang="en-US" altLang="zh-CN" dirty="0"/>
              <a:t>…</a:t>
            </a:r>
            <a:endParaRPr lang="zh-CN" altLang="en-US" dirty="0"/>
          </a:p>
        </p:txBody>
      </p:sp>
      <p:sp>
        <p:nvSpPr>
          <p:cNvPr id="19" name="TextBox 18">
            <a:extLst>
              <a:ext uri="{FF2B5EF4-FFF2-40B4-BE49-F238E27FC236}">
                <a16:creationId xmlns:a16="http://schemas.microsoft.com/office/drawing/2014/main" id="{098B498E-71F9-4F22-A56D-0089ECFEEFFD}"/>
              </a:ext>
            </a:extLst>
          </p:cNvPr>
          <p:cNvSpPr txBox="1"/>
          <p:nvPr/>
        </p:nvSpPr>
        <p:spPr>
          <a:xfrm>
            <a:off x="7962900" y="4898391"/>
            <a:ext cx="571500" cy="369332"/>
          </a:xfrm>
          <a:prstGeom prst="rect">
            <a:avLst/>
          </a:prstGeom>
          <a:noFill/>
        </p:spPr>
        <p:txBody>
          <a:bodyPr wrap="square" rtlCol="0">
            <a:spAutoFit/>
          </a:bodyPr>
          <a:lstStyle/>
          <a:p>
            <a:pPr algn="ctr"/>
            <a:r>
              <a:rPr lang="en-US" altLang="zh-CN" dirty="0"/>
              <a:t>…</a:t>
            </a:r>
            <a:endParaRPr lang="zh-CN" altLang="en-US" dirty="0"/>
          </a:p>
        </p:txBody>
      </p:sp>
      <p:cxnSp>
        <p:nvCxnSpPr>
          <p:cNvPr id="6" name="Straight Arrow Connector 5">
            <a:extLst>
              <a:ext uri="{FF2B5EF4-FFF2-40B4-BE49-F238E27FC236}">
                <a16:creationId xmlns:a16="http://schemas.microsoft.com/office/drawing/2014/main" id="{F2149BA7-6A6E-46F1-B281-19199196458E}"/>
              </a:ext>
            </a:extLst>
          </p:cNvPr>
          <p:cNvCxnSpPr>
            <a:cxnSpLocks/>
          </p:cNvCxnSpPr>
          <p:nvPr/>
        </p:nvCxnSpPr>
        <p:spPr bwMode="auto">
          <a:xfrm flipH="1">
            <a:off x="990600" y="2286000"/>
            <a:ext cx="6438900" cy="19812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921B8A07-0D50-46D6-8FC9-40EE90F563E3}"/>
              </a:ext>
            </a:extLst>
          </p:cNvPr>
          <p:cNvCxnSpPr>
            <a:cxnSpLocks/>
          </p:cNvCxnSpPr>
          <p:nvPr/>
        </p:nvCxnSpPr>
        <p:spPr bwMode="auto">
          <a:xfrm>
            <a:off x="2438400" y="4343400"/>
            <a:ext cx="51054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9E3FFEE1-F9D3-48C7-89CA-29AA853C4120}"/>
              </a:ext>
            </a:extLst>
          </p:cNvPr>
          <p:cNvSpPr txBox="1"/>
          <p:nvPr/>
        </p:nvSpPr>
        <p:spPr>
          <a:xfrm>
            <a:off x="5715000" y="4267200"/>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5" name="TextBox 24">
            <a:extLst>
              <a:ext uri="{FF2B5EF4-FFF2-40B4-BE49-F238E27FC236}">
                <a16:creationId xmlns:a16="http://schemas.microsoft.com/office/drawing/2014/main" id="{5BB12A23-0216-46F7-9CF6-48B8F2E0B61B}"/>
              </a:ext>
            </a:extLst>
          </p:cNvPr>
          <p:cNvSpPr txBox="1"/>
          <p:nvPr/>
        </p:nvSpPr>
        <p:spPr>
          <a:xfrm>
            <a:off x="6286500" y="4251048"/>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1" name="TextBox 20">
            <a:extLst>
              <a:ext uri="{FF2B5EF4-FFF2-40B4-BE49-F238E27FC236}">
                <a16:creationId xmlns:a16="http://schemas.microsoft.com/office/drawing/2014/main" id="{2A9823A3-A3DE-47CB-84D1-B8F800912298}"/>
              </a:ext>
            </a:extLst>
          </p:cNvPr>
          <p:cNvSpPr txBox="1"/>
          <p:nvPr/>
        </p:nvSpPr>
        <p:spPr>
          <a:xfrm>
            <a:off x="4571630" y="4267200"/>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6" name="TextBox 25">
            <a:extLst>
              <a:ext uri="{FF2B5EF4-FFF2-40B4-BE49-F238E27FC236}">
                <a16:creationId xmlns:a16="http://schemas.microsoft.com/office/drawing/2014/main" id="{AA61B760-1913-48D4-B155-08A70F204B7B}"/>
              </a:ext>
            </a:extLst>
          </p:cNvPr>
          <p:cNvSpPr txBox="1"/>
          <p:nvPr/>
        </p:nvSpPr>
        <p:spPr>
          <a:xfrm>
            <a:off x="6858000" y="4251048"/>
            <a:ext cx="571500" cy="382032"/>
          </a:xfrm>
          <a:prstGeom prst="rect">
            <a:avLst/>
          </a:prstGeom>
          <a:noFill/>
        </p:spPr>
        <p:txBody>
          <a:bodyPr wrap="square" rtlCol="0">
            <a:spAutoFit/>
          </a:bodyPr>
          <a:lstStyle/>
          <a:p>
            <a:pPr algn="ctr"/>
            <a:r>
              <a:rPr lang="en-US" altLang="zh-CN" dirty="0"/>
              <a:t>1</a:t>
            </a:r>
            <a:endParaRPr lang="zh-CN" altLang="en-US" dirty="0"/>
          </a:p>
        </p:txBody>
      </p:sp>
      <p:sp>
        <p:nvSpPr>
          <p:cNvPr id="27" name="TextBox 26">
            <a:extLst>
              <a:ext uri="{FF2B5EF4-FFF2-40B4-BE49-F238E27FC236}">
                <a16:creationId xmlns:a16="http://schemas.microsoft.com/office/drawing/2014/main" id="{59C86168-DAA8-4F19-B172-6A89A0F3E30F}"/>
              </a:ext>
            </a:extLst>
          </p:cNvPr>
          <p:cNvSpPr txBox="1"/>
          <p:nvPr/>
        </p:nvSpPr>
        <p:spPr>
          <a:xfrm>
            <a:off x="7404100" y="4228068"/>
            <a:ext cx="571500" cy="382032"/>
          </a:xfrm>
          <a:prstGeom prst="rect">
            <a:avLst/>
          </a:prstGeom>
          <a:noFill/>
        </p:spPr>
        <p:txBody>
          <a:bodyPr wrap="square" rtlCol="0">
            <a:spAutoFit/>
          </a:bodyPr>
          <a:lstStyle/>
          <a:p>
            <a:pPr algn="ctr"/>
            <a:r>
              <a:rPr lang="en-US" altLang="zh-CN" dirty="0"/>
              <a:t>1</a:t>
            </a:r>
            <a:endParaRPr lang="zh-CN" altLang="en-US" dirty="0"/>
          </a:p>
        </p:txBody>
      </p:sp>
    </p:spTree>
    <p:custDataLst>
      <p:tags r:id="rId1"/>
    </p:custDataLst>
    <p:extLst>
      <p:ext uri="{BB962C8B-B14F-4D97-AF65-F5344CB8AC3E}">
        <p14:creationId xmlns:p14="http://schemas.microsoft.com/office/powerpoint/2010/main" val="346597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EB71A-E605-EDBE-8494-4B098C206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BE332-3407-BFCB-9AA0-90B9017EFF6B}"/>
              </a:ext>
            </a:extLst>
          </p:cNvPr>
          <p:cNvSpPr>
            <a:spLocks noGrp="1"/>
          </p:cNvSpPr>
          <p:nvPr>
            <p:ph type="title"/>
          </p:nvPr>
        </p:nvSpPr>
        <p:spPr>
          <a:xfrm>
            <a:off x="1122363" y="457200"/>
            <a:ext cx="7869237" cy="914400"/>
          </a:xfrm>
        </p:spPr>
        <p:txBody>
          <a:bodyPr/>
          <a:lstStyle/>
          <a:p>
            <a:r>
              <a:rPr lang="en-US" altLang="zh-CN" dirty="0">
                <a:ea typeface="ＭＳ Ｐゴシック" panose="020B0600070205080204" pitchFamily="34" charset="-128"/>
              </a:rPr>
              <a:t>Ensemble Learning</a:t>
            </a:r>
            <a:endParaRPr lang="zh-CN" altLang="en-US" dirty="0"/>
          </a:p>
        </p:txBody>
      </p:sp>
      <p:sp>
        <p:nvSpPr>
          <p:cNvPr id="3" name="Content Placeholder 2">
            <a:extLst>
              <a:ext uri="{FF2B5EF4-FFF2-40B4-BE49-F238E27FC236}">
                <a16:creationId xmlns:a16="http://schemas.microsoft.com/office/drawing/2014/main" id="{671ED5F5-13AA-5CD0-E1AE-C1D2C3C64AF0}"/>
              </a:ext>
            </a:extLst>
          </p:cNvPr>
          <p:cNvSpPr>
            <a:spLocks noGrp="1"/>
          </p:cNvSpPr>
          <p:nvPr>
            <p:ph idx="1"/>
          </p:nvPr>
        </p:nvSpPr>
        <p:spPr>
          <a:xfrm>
            <a:off x="762000" y="1600200"/>
            <a:ext cx="7772400" cy="5486400"/>
          </a:xfrm>
        </p:spPr>
        <p:txBody>
          <a:bodyPr>
            <a:normAutofit/>
          </a:bodyPr>
          <a:lstStyle/>
          <a:p>
            <a:r>
              <a:rPr lang="zh-CN" altLang="en-US" dirty="0"/>
              <a:t>经过输入的变换和重新定义</a:t>
            </a:r>
            <a:endParaRPr lang="en-US" altLang="zh-CN" dirty="0"/>
          </a:p>
          <a:p>
            <a:pPr lvl="1"/>
            <a:r>
              <a:rPr lang="zh-CN" altLang="en-US" dirty="0"/>
              <a:t>我们可以应用</a:t>
            </a:r>
            <a:r>
              <a:rPr lang="en-US" altLang="zh-CN" dirty="0"/>
              <a:t>logistic regression</a:t>
            </a:r>
            <a:r>
              <a:rPr lang="zh-CN" altLang="en-US" dirty="0"/>
              <a:t>了</a:t>
            </a:r>
            <a:endParaRPr lang="en-US" altLang="zh-CN" dirty="0"/>
          </a:p>
          <a:p>
            <a:r>
              <a:rPr lang="zh-CN" altLang="en-US" dirty="0"/>
              <a:t>但我们更进一步</a:t>
            </a:r>
            <a:endParaRPr lang="en-US" altLang="zh-CN" dirty="0"/>
          </a:p>
          <a:p>
            <a:pPr lvl="1"/>
            <a:r>
              <a:rPr lang="zh-CN" altLang="en-US" dirty="0"/>
              <a:t>输入的变换丢失了上下</a:t>
            </a:r>
            <a:r>
              <a:rPr lang="zh-CN" altLang="en-US"/>
              <a:t>文词序</a:t>
            </a:r>
            <a:endParaRPr lang="en-US" altLang="zh-CN" dirty="0"/>
          </a:p>
          <a:p>
            <a:pPr lvl="2"/>
            <a:r>
              <a:rPr lang="zh-CN" altLang="en-US" dirty="0"/>
              <a:t>例如某个上下文词离</a:t>
            </a:r>
            <a:r>
              <a:rPr lang="en-US" altLang="zh-CN" dirty="0"/>
              <a:t>interest</a:t>
            </a:r>
            <a:r>
              <a:rPr lang="zh-CN" altLang="en-US" dirty="0"/>
              <a:t>多远</a:t>
            </a:r>
            <a:endParaRPr lang="en-US" altLang="zh-CN" dirty="0"/>
          </a:p>
          <a:p>
            <a:pPr lvl="1"/>
            <a:r>
              <a:rPr lang="zh-CN" altLang="en-US" dirty="0"/>
              <a:t>有些邻近的词的组合对分类更有指示性</a:t>
            </a:r>
            <a:endParaRPr lang="en-US" altLang="zh-CN" dirty="0"/>
          </a:p>
          <a:p>
            <a:pPr lvl="1"/>
            <a:r>
              <a:rPr lang="zh-CN" altLang="en-US" dirty="0"/>
              <a:t>有些有意义的组合则是远距离的搭配</a:t>
            </a:r>
            <a:endParaRPr lang="en-US" altLang="zh-CN" dirty="0"/>
          </a:p>
          <a:p>
            <a:r>
              <a:rPr lang="en-US" altLang="zh-CN" dirty="0"/>
              <a:t>Ensemble Learning</a:t>
            </a:r>
          </a:p>
          <a:p>
            <a:pPr lvl="1"/>
            <a:r>
              <a:rPr lang="zh-CN" altLang="en-US" dirty="0"/>
              <a:t>训练出具有不同侧重点的、互补的分类器</a:t>
            </a:r>
            <a:endParaRPr lang="en-US" altLang="zh-CN" dirty="0"/>
          </a:p>
          <a:p>
            <a:pPr lvl="1"/>
            <a:r>
              <a:rPr lang="zh-CN" altLang="en-US" dirty="0"/>
              <a:t>将它们综合起来使用</a:t>
            </a:r>
            <a:endParaRPr lang="en-US" altLang="zh-CN" dirty="0"/>
          </a:p>
          <a:p>
            <a:pPr lvl="2"/>
            <a:endParaRPr lang="en-US" altLang="zh-CN" dirty="0"/>
          </a:p>
          <a:p>
            <a:endParaRPr lang="en-US" altLang="zh-CN" dirty="0"/>
          </a:p>
        </p:txBody>
      </p:sp>
    </p:spTree>
    <p:custDataLst>
      <p:tags r:id="rId1"/>
    </p:custDataLst>
    <p:extLst>
      <p:ext uri="{BB962C8B-B14F-4D97-AF65-F5344CB8AC3E}">
        <p14:creationId xmlns:p14="http://schemas.microsoft.com/office/powerpoint/2010/main" val="122659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br>
              <a:rPr lang="en-US" altLang="zh-CN" dirty="0">
                <a:ea typeface="ＭＳ Ｐゴシック" panose="020B0600070205080204" pitchFamily="34" charset="-128"/>
              </a:rPr>
            </a:br>
            <a:r>
              <a:rPr lang="zh-CN" altLang="en-US" dirty="0">
                <a:ea typeface="ＭＳ Ｐゴシック" panose="020B0600070205080204" pitchFamily="34" charset="-128"/>
              </a:rPr>
              <a:t>不同的上下文大小</a:t>
            </a:r>
            <a:endParaRPr lang="zh-CN" altLang="en-US" dirty="0"/>
          </a:p>
        </p:txBody>
      </p:sp>
      <p:sp>
        <p:nvSpPr>
          <p:cNvPr id="6" name="Rectangle 5">
            <a:extLst>
              <a:ext uri="{FF2B5EF4-FFF2-40B4-BE49-F238E27FC236}">
                <a16:creationId xmlns:a16="http://schemas.microsoft.com/office/drawing/2014/main" id="{75711130-DB5B-4364-B5C1-FA44D94FE1F3}"/>
              </a:ext>
            </a:extLst>
          </p:cNvPr>
          <p:cNvSpPr/>
          <p:nvPr/>
        </p:nvSpPr>
        <p:spPr>
          <a:xfrm>
            <a:off x="228600" y="1981200"/>
            <a:ext cx="8686800" cy="369332"/>
          </a:xfrm>
          <a:prstGeom prst="rect">
            <a:avLst/>
          </a:prstGeom>
        </p:spPr>
        <p:txBody>
          <a:bodyPr wrap="square">
            <a:spAutoFit/>
          </a:bodyPr>
          <a:lstStyle/>
          <a:p>
            <a:pPr algn="ctr"/>
            <a:r>
              <a:rPr lang="en-US" altLang="zh-CN" dirty="0"/>
              <a:t>…</a:t>
            </a:r>
            <a:r>
              <a:rPr lang="zh-CN" altLang="en-US" dirty="0"/>
              <a:t> to indicate declining </a:t>
            </a:r>
            <a:r>
              <a:rPr lang="zh-CN" altLang="en-US" dirty="0">
                <a:solidFill>
                  <a:srgbClr val="FF0000"/>
                </a:solidFill>
              </a:rPr>
              <a:t>interest</a:t>
            </a:r>
            <a:r>
              <a:rPr lang="zh-CN" altLang="en-US" dirty="0"/>
              <a:t> rates because they permit portfolio managers </a:t>
            </a:r>
            <a:r>
              <a:rPr lang="en-US" altLang="zh-CN" dirty="0"/>
              <a:t>…</a:t>
            </a:r>
            <a:endParaRPr lang="zh-CN" altLang="en-US" dirty="0"/>
          </a:p>
        </p:txBody>
      </p:sp>
      <p:cxnSp>
        <p:nvCxnSpPr>
          <p:cNvPr id="8" name="Straight Arrow Connector 7">
            <a:extLst>
              <a:ext uri="{FF2B5EF4-FFF2-40B4-BE49-F238E27FC236}">
                <a16:creationId xmlns:a16="http://schemas.microsoft.com/office/drawing/2014/main" id="{457824CA-6A29-402A-868E-8AD6C84A4FBB}"/>
              </a:ext>
            </a:extLst>
          </p:cNvPr>
          <p:cNvCxnSpPr/>
          <p:nvPr/>
        </p:nvCxnSpPr>
        <p:spPr bwMode="auto">
          <a:xfrm>
            <a:off x="2133600" y="2590800"/>
            <a:ext cx="1905000" cy="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D06865F-02E3-453F-A4D6-EEC5D2CACD18}"/>
                  </a:ext>
                </a:extLst>
              </p:cNvPr>
              <p:cNvSpPr txBox="1"/>
              <p:nvPr/>
            </p:nvSpPr>
            <p:spPr>
              <a:xfrm>
                <a:off x="-76200" y="2957732"/>
                <a:ext cx="9296400" cy="769441"/>
              </a:xfrm>
              <a:prstGeom prst="rect">
                <a:avLst/>
              </a:prstGeom>
              <a:noFill/>
            </p:spPr>
            <p:txBody>
              <a:bodyPr wrap="square" rtlCol="0">
                <a:spAutoFit/>
              </a:bodyPr>
              <a:lstStyle/>
              <a:p>
                <a:pPr algn="ctr"/>
                <a:endParaRPr lang="en-US" altLang="zh-CN" sz="2200" dirty="0"/>
              </a:p>
              <a:p>
                <a:pPr algn="ctr"/>
                <a:r>
                  <a:rPr lang="zh-CN" altLang="en-US" sz="2200" dirty="0"/>
                  <a:t>短上下文，例如</a:t>
                </a:r>
                <a14:m>
                  <m:oMath xmlns:m="http://schemas.openxmlformats.org/officeDocument/2006/math">
                    <m:r>
                      <a:rPr lang="en-US" altLang="zh-CN" sz="2200" i="1">
                        <a:latin typeface="Cambria Math" panose="02040503050406030204" pitchFamily="18" charset="0"/>
                        <a:ea typeface="Cambria Math" panose="02040503050406030204" pitchFamily="18" charset="0"/>
                      </a:rPr>
                      <m:t>±1</m:t>
                    </m:r>
                  </m:oMath>
                </a14:m>
                <a:r>
                  <a:rPr lang="zh-CN" altLang="en-US" sz="2200" dirty="0"/>
                  <a:t>窗口强调邻近搭配</a:t>
                </a:r>
              </a:p>
            </p:txBody>
          </p:sp>
        </mc:Choice>
        <mc:Fallback xmlns="">
          <p:sp>
            <p:nvSpPr>
              <p:cNvPr id="9" name="TextBox 8">
                <a:extLst>
                  <a:ext uri="{FF2B5EF4-FFF2-40B4-BE49-F238E27FC236}">
                    <a16:creationId xmlns:a16="http://schemas.microsoft.com/office/drawing/2014/main" id="{5D06865F-02E3-453F-A4D6-EEC5D2CACD18}"/>
                  </a:ext>
                </a:extLst>
              </p:cNvPr>
              <p:cNvSpPr txBox="1">
                <a:spLocks noRot="1" noChangeAspect="1" noMove="1" noResize="1" noEditPoints="1" noAdjustHandles="1" noChangeArrowheads="1" noChangeShapeType="1" noTextEdit="1"/>
              </p:cNvSpPr>
              <p:nvPr/>
            </p:nvSpPr>
            <p:spPr>
              <a:xfrm>
                <a:off x="-76200" y="2957732"/>
                <a:ext cx="9296400" cy="769441"/>
              </a:xfrm>
              <a:prstGeom prst="rect">
                <a:avLst/>
              </a:prstGeom>
              <a:blipFill>
                <a:blip r:embed="rId3"/>
                <a:stretch>
                  <a:fillRect b="-12698"/>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C588482E-D2E8-477B-9B09-C5B52946A08E}"/>
              </a:ext>
            </a:extLst>
          </p:cNvPr>
          <p:cNvSpPr/>
          <p:nvPr/>
        </p:nvSpPr>
        <p:spPr>
          <a:xfrm>
            <a:off x="230400" y="1980000"/>
            <a:ext cx="8686800" cy="369332"/>
          </a:xfrm>
          <a:prstGeom prst="rect">
            <a:avLst/>
          </a:prstGeom>
          <a:solidFill>
            <a:schemeClr val="bg1"/>
          </a:solidFill>
        </p:spPr>
        <p:txBody>
          <a:bodyPr wrap="square">
            <a:spAutoFit/>
          </a:bodyPr>
          <a:lstStyle/>
          <a:p>
            <a:pPr algn="ctr"/>
            <a:r>
              <a:rPr lang="en-US" altLang="zh-CN" dirty="0"/>
              <a:t>…</a:t>
            </a:r>
            <a:r>
              <a:rPr lang="zh-CN" altLang="en-US" dirty="0"/>
              <a:t> to indicate </a:t>
            </a:r>
            <a:r>
              <a:rPr lang="zh-CN" altLang="en-US" dirty="0">
                <a:solidFill>
                  <a:srgbClr val="00B050"/>
                </a:solidFill>
              </a:rPr>
              <a:t>declining </a:t>
            </a:r>
            <a:r>
              <a:rPr lang="zh-CN" altLang="en-US" dirty="0">
                <a:solidFill>
                  <a:srgbClr val="FF0000"/>
                </a:solidFill>
              </a:rPr>
              <a:t>interest</a:t>
            </a:r>
            <a:r>
              <a:rPr lang="zh-CN" altLang="en-US" dirty="0"/>
              <a:t> </a:t>
            </a:r>
            <a:r>
              <a:rPr lang="zh-CN" altLang="en-US" dirty="0">
                <a:solidFill>
                  <a:srgbClr val="00B050"/>
                </a:solidFill>
              </a:rPr>
              <a:t>rates </a:t>
            </a:r>
            <a:r>
              <a:rPr lang="zh-CN" altLang="en-US" dirty="0"/>
              <a:t>because they permit portfolio managers </a:t>
            </a:r>
            <a:r>
              <a:rPr lang="en-US" altLang="zh-CN" dirty="0"/>
              <a:t>…</a:t>
            </a:r>
            <a:endParaRPr lang="zh-CN" altLang="en-US" dirty="0"/>
          </a:p>
        </p:txBody>
      </p:sp>
    </p:spTree>
    <p:custDataLst>
      <p:tags r:id="rId1"/>
    </p:custDataLst>
    <p:extLst>
      <p:ext uri="{BB962C8B-B14F-4D97-AF65-F5344CB8AC3E}">
        <p14:creationId xmlns:p14="http://schemas.microsoft.com/office/powerpoint/2010/main" val="179019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Different Context Size</a:t>
            </a:r>
            <a:br>
              <a:rPr lang="en-US" altLang="zh-CN" dirty="0">
                <a:ea typeface="ＭＳ Ｐゴシック" panose="020B0600070205080204" pitchFamily="34" charset="-128"/>
              </a:rPr>
            </a:br>
            <a:r>
              <a:rPr lang="zh-CN" altLang="en-US" dirty="0">
                <a:ea typeface="ＭＳ Ｐゴシック" panose="020B0600070205080204" pitchFamily="34" charset="-128"/>
              </a:rPr>
              <a:t>不同的上下文大小</a:t>
            </a:r>
            <a:endParaRPr lang="zh-CN" altLang="en-US" dirty="0"/>
          </a:p>
        </p:txBody>
      </p:sp>
      <p:sp>
        <p:nvSpPr>
          <p:cNvPr id="6" name="Rectangle 5">
            <a:extLst>
              <a:ext uri="{FF2B5EF4-FFF2-40B4-BE49-F238E27FC236}">
                <a16:creationId xmlns:a16="http://schemas.microsoft.com/office/drawing/2014/main" id="{75711130-DB5B-4364-B5C1-FA44D94FE1F3}"/>
              </a:ext>
            </a:extLst>
          </p:cNvPr>
          <p:cNvSpPr/>
          <p:nvPr/>
        </p:nvSpPr>
        <p:spPr>
          <a:xfrm>
            <a:off x="228600" y="1981200"/>
            <a:ext cx="8686800" cy="369332"/>
          </a:xfrm>
          <a:prstGeom prst="rect">
            <a:avLst/>
          </a:prstGeom>
        </p:spPr>
        <p:txBody>
          <a:bodyPr wrap="square">
            <a:spAutoFit/>
          </a:bodyPr>
          <a:lstStyle/>
          <a:p>
            <a:pPr algn="ctr"/>
            <a:r>
              <a:rPr lang="en-US" altLang="zh-CN" dirty="0"/>
              <a:t>…</a:t>
            </a:r>
            <a:r>
              <a:rPr lang="zh-CN" altLang="en-US" dirty="0"/>
              <a:t> to indicate declining </a:t>
            </a:r>
            <a:r>
              <a:rPr lang="zh-CN" altLang="en-US" dirty="0">
                <a:solidFill>
                  <a:srgbClr val="FF0000"/>
                </a:solidFill>
              </a:rPr>
              <a:t>interest</a:t>
            </a:r>
            <a:r>
              <a:rPr lang="zh-CN" altLang="en-US" dirty="0"/>
              <a:t> rates because they permit portfolio managers </a:t>
            </a:r>
            <a:r>
              <a:rPr lang="en-US" altLang="zh-CN" dirty="0"/>
              <a:t>…</a:t>
            </a:r>
            <a:endParaRPr lang="zh-CN" altLang="en-US" dirty="0"/>
          </a:p>
        </p:txBody>
      </p:sp>
      <p:cxnSp>
        <p:nvCxnSpPr>
          <p:cNvPr id="8" name="Straight Arrow Connector 7">
            <a:extLst>
              <a:ext uri="{FF2B5EF4-FFF2-40B4-BE49-F238E27FC236}">
                <a16:creationId xmlns:a16="http://schemas.microsoft.com/office/drawing/2014/main" id="{457824CA-6A29-402A-868E-8AD6C84A4FBB}"/>
              </a:ext>
            </a:extLst>
          </p:cNvPr>
          <p:cNvCxnSpPr>
            <a:cxnSpLocks/>
          </p:cNvCxnSpPr>
          <p:nvPr/>
        </p:nvCxnSpPr>
        <p:spPr bwMode="auto">
          <a:xfrm>
            <a:off x="304800" y="2590800"/>
            <a:ext cx="8458200" cy="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0" name="Rectangle 9">
            <a:extLst>
              <a:ext uri="{FF2B5EF4-FFF2-40B4-BE49-F238E27FC236}">
                <a16:creationId xmlns:a16="http://schemas.microsoft.com/office/drawing/2014/main" id="{C588482E-D2E8-477B-9B09-C5B52946A08E}"/>
              </a:ext>
            </a:extLst>
          </p:cNvPr>
          <p:cNvSpPr/>
          <p:nvPr/>
        </p:nvSpPr>
        <p:spPr>
          <a:xfrm>
            <a:off x="230400" y="1980000"/>
            <a:ext cx="8686800" cy="369332"/>
          </a:xfrm>
          <a:prstGeom prst="rect">
            <a:avLst/>
          </a:prstGeom>
          <a:solidFill>
            <a:schemeClr val="bg1"/>
          </a:solidFill>
        </p:spPr>
        <p:txBody>
          <a:bodyPr wrap="square">
            <a:spAutoFit/>
          </a:bodyPr>
          <a:lstStyle/>
          <a:p>
            <a:pPr algn="ctr"/>
            <a:r>
              <a:rPr lang="en-US" altLang="zh-CN" dirty="0"/>
              <a:t>…</a:t>
            </a:r>
            <a:r>
              <a:rPr lang="zh-CN" altLang="en-US" dirty="0"/>
              <a:t> to indicate declining</a:t>
            </a:r>
            <a:r>
              <a:rPr lang="zh-CN" altLang="en-US" dirty="0">
                <a:solidFill>
                  <a:srgbClr val="00B050"/>
                </a:solidFill>
              </a:rPr>
              <a:t> </a:t>
            </a:r>
            <a:r>
              <a:rPr lang="zh-CN" altLang="en-US" dirty="0">
                <a:solidFill>
                  <a:srgbClr val="FF0000"/>
                </a:solidFill>
              </a:rPr>
              <a:t>interest</a:t>
            </a:r>
            <a:r>
              <a:rPr lang="zh-CN" altLang="en-US" dirty="0"/>
              <a:t> rates</a:t>
            </a:r>
            <a:r>
              <a:rPr lang="zh-CN" altLang="en-US" dirty="0">
                <a:solidFill>
                  <a:srgbClr val="00B050"/>
                </a:solidFill>
              </a:rPr>
              <a:t> </a:t>
            </a:r>
            <a:r>
              <a:rPr lang="zh-CN" altLang="en-US" dirty="0"/>
              <a:t>because they permit </a:t>
            </a:r>
            <a:r>
              <a:rPr lang="zh-CN" altLang="en-US" dirty="0">
                <a:solidFill>
                  <a:srgbClr val="00B050"/>
                </a:solidFill>
              </a:rPr>
              <a:t>portfolio</a:t>
            </a:r>
            <a:r>
              <a:rPr lang="zh-CN" altLang="en-US" dirty="0"/>
              <a:t> managers </a:t>
            </a:r>
            <a:r>
              <a:rPr lang="en-US" altLang="zh-CN" dirty="0"/>
              <a:t>…</a:t>
            </a:r>
            <a:endParaRPr lang="zh-CN" altLang="en-US" dirty="0"/>
          </a:p>
        </p:txBody>
      </p:sp>
      <p:sp>
        <p:nvSpPr>
          <p:cNvPr id="11" name="TextBox 10">
            <a:extLst>
              <a:ext uri="{FF2B5EF4-FFF2-40B4-BE49-F238E27FC236}">
                <a16:creationId xmlns:a16="http://schemas.microsoft.com/office/drawing/2014/main" id="{D9500C6C-C747-44B4-8CA9-B025C837DD31}"/>
              </a:ext>
            </a:extLst>
          </p:cNvPr>
          <p:cNvSpPr txBox="1"/>
          <p:nvPr/>
        </p:nvSpPr>
        <p:spPr>
          <a:xfrm>
            <a:off x="-76200" y="2959200"/>
            <a:ext cx="9296400" cy="769441"/>
          </a:xfrm>
          <a:prstGeom prst="rect">
            <a:avLst/>
          </a:prstGeom>
          <a:noFill/>
        </p:spPr>
        <p:txBody>
          <a:bodyPr wrap="square" rtlCol="0">
            <a:spAutoFit/>
          </a:bodyPr>
          <a:lstStyle/>
          <a:p>
            <a:pPr algn="ctr"/>
            <a:r>
              <a:rPr lang="en-US" altLang="zh-CN" sz="2200" dirty="0"/>
              <a:t>Long context, e.g., full context contains long-distance dependencies</a:t>
            </a:r>
          </a:p>
          <a:p>
            <a:pPr algn="ctr"/>
            <a:r>
              <a:rPr lang="zh-CN" altLang="en-US" sz="2200" dirty="0"/>
              <a:t>长上下文，例如完整的上下文，包含了长距离依存关系</a:t>
            </a:r>
          </a:p>
        </p:txBody>
      </p:sp>
    </p:spTree>
    <p:custDataLst>
      <p:tags r:id="rId1"/>
    </p:custDataLst>
    <p:extLst>
      <p:ext uri="{BB962C8B-B14F-4D97-AF65-F5344CB8AC3E}">
        <p14:creationId xmlns:p14="http://schemas.microsoft.com/office/powerpoint/2010/main" val="35374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br>
              <a:rPr lang="en-US" altLang="zh-CN" dirty="0">
                <a:ea typeface="ＭＳ Ｐゴシック" panose="020B0600070205080204" pitchFamily="34" charset="-128"/>
              </a:rPr>
            </a:br>
            <a:r>
              <a:rPr lang="zh-CN" altLang="en-US" dirty="0">
                <a:ea typeface="ＭＳ Ｐゴシック" panose="020B0600070205080204" pitchFamily="34" charset="-128"/>
              </a:rPr>
              <a:t>不同的上下文大小</a:t>
            </a:r>
            <a:endParaRPr lang="zh-CN" altLang="en-US" dirty="0"/>
          </a:p>
        </p:txBody>
      </p:sp>
      <p:sp>
        <p:nvSpPr>
          <p:cNvPr id="6" name="Rectangle 5">
            <a:extLst>
              <a:ext uri="{FF2B5EF4-FFF2-40B4-BE49-F238E27FC236}">
                <a16:creationId xmlns:a16="http://schemas.microsoft.com/office/drawing/2014/main" id="{75711130-DB5B-4364-B5C1-FA44D94FE1F3}"/>
              </a:ext>
            </a:extLst>
          </p:cNvPr>
          <p:cNvSpPr/>
          <p:nvPr/>
        </p:nvSpPr>
        <p:spPr>
          <a:xfrm>
            <a:off x="228600" y="1981200"/>
            <a:ext cx="8686800" cy="369332"/>
          </a:xfrm>
          <a:prstGeom prst="rect">
            <a:avLst/>
          </a:prstGeom>
        </p:spPr>
        <p:txBody>
          <a:bodyPr wrap="square">
            <a:spAutoFit/>
          </a:bodyPr>
          <a:lstStyle/>
          <a:p>
            <a:pPr algn="ctr"/>
            <a:r>
              <a:rPr lang="en-US" altLang="zh-CN" dirty="0"/>
              <a:t>…</a:t>
            </a:r>
            <a:r>
              <a:rPr lang="zh-CN" altLang="en-US" dirty="0"/>
              <a:t> to indicate declining </a:t>
            </a:r>
            <a:r>
              <a:rPr lang="zh-CN" altLang="en-US" dirty="0">
                <a:solidFill>
                  <a:srgbClr val="FF0000"/>
                </a:solidFill>
              </a:rPr>
              <a:t>interest</a:t>
            </a:r>
            <a:r>
              <a:rPr lang="zh-CN" altLang="en-US" dirty="0"/>
              <a:t> rates because they permit portfolio managers </a:t>
            </a:r>
            <a:r>
              <a:rPr lang="en-US" altLang="zh-CN" dirty="0"/>
              <a:t>…</a:t>
            </a:r>
            <a:endParaRPr lang="zh-CN" altLang="en-US" dirty="0"/>
          </a:p>
        </p:txBody>
      </p:sp>
      <p:cxnSp>
        <p:nvCxnSpPr>
          <p:cNvPr id="8" name="Straight Arrow Connector 7">
            <a:extLst>
              <a:ext uri="{FF2B5EF4-FFF2-40B4-BE49-F238E27FC236}">
                <a16:creationId xmlns:a16="http://schemas.microsoft.com/office/drawing/2014/main" id="{457824CA-6A29-402A-868E-8AD6C84A4FBB}"/>
              </a:ext>
            </a:extLst>
          </p:cNvPr>
          <p:cNvCxnSpPr/>
          <p:nvPr/>
        </p:nvCxnSpPr>
        <p:spPr bwMode="auto">
          <a:xfrm>
            <a:off x="2133600" y="2590800"/>
            <a:ext cx="1905000" cy="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0" name="Rectangle 9">
            <a:extLst>
              <a:ext uri="{FF2B5EF4-FFF2-40B4-BE49-F238E27FC236}">
                <a16:creationId xmlns:a16="http://schemas.microsoft.com/office/drawing/2014/main" id="{C588482E-D2E8-477B-9B09-C5B52946A08E}"/>
              </a:ext>
            </a:extLst>
          </p:cNvPr>
          <p:cNvSpPr/>
          <p:nvPr/>
        </p:nvSpPr>
        <p:spPr>
          <a:xfrm>
            <a:off x="230400" y="1980000"/>
            <a:ext cx="8686800" cy="369332"/>
          </a:xfrm>
          <a:prstGeom prst="rect">
            <a:avLst/>
          </a:prstGeom>
          <a:solidFill>
            <a:schemeClr val="bg1"/>
          </a:solidFill>
        </p:spPr>
        <p:txBody>
          <a:bodyPr wrap="square">
            <a:spAutoFit/>
          </a:bodyPr>
          <a:lstStyle/>
          <a:p>
            <a:pPr algn="ctr"/>
            <a:r>
              <a:rPr lang="en-US" altLang="zh-CN" dirty="0"/>
              <a:t>…</a:t>
            </a:r>
            <a:r>
              <a:rPr lang="zh-CN" altLang="en-US" dirty="0"/>
              <a:t> to indicate declining</a:t>
            </a:r>
            <a:r>
              <a:rPr lang="zh-CN" altLang="en-US" dirty="0">
                <a:solidFill>
                  <a:srgbClr val="00B050"/>
                </a:solidFill>
              </a:rPr>
              <a:t> </a:t>
            </a:r>
            <a:r>
              <a:rPr lang="zh-CN" altLang="en-US" dirty="0">
                <a:solidFill>
                  <a:srgbClr val="FF0000"/>
                </a:solidFill>
              </a:rPr>
              <a:t>interest</a:t>
            </a:r>
            <a:r>
              <a:rPr lang="zh-CN" altLang="en-US" dirty="0"/>
              <a:t> rates</a:t>
            </a:r>
            <a:r>
              <a:rPr lang="zh-CN" altLang="en-US" dirty="0">
                <a:solidFill>
                  <a:srgbClr val="00B050"/>
                </a:solidFill>
              </a:rPr>
              <a:t> </a:t>
            </a:r>
            <a:r>
              <a:rPr lang="zh-CN" altLang="en-US" dirty="0"/>
              <a:t>because they permit portfolio managers </a:t>
            </a:r>
            <a:r>
              <a:rPr lang="en-US" altLang="zh-CN" dirty="0"/>
              <a:t>…</a:t>
            </a:r>
            <a:endParaRPr lang="zh-CN" altLang="en-US" dirty="0"/>
          </a:p>
        </p:txBody>
      </p:sp>
      <p:cxnSp>
        <p:nvCxnSpPr>
          <p:cNvPr id="11" name="Straight Arrow Connector 10">
            <a:extLst>
              <a:ext uri="{FF2B5EF4-FFF2-40B4-BE49-F238E27FC236}">
                <a16:creationId xmlns:a16="http://schemas.microsoft.com/office/drawing/2014/main" id="{E68C8685-FDDA-4B70-AF91-ADFAE10A1677}"/>
              </a:ext>
            </a:extLst>
          </p:cNvPr>
          <p:cNvCxnSpPr>
            <a:cxnSpLocks/>
          </p:cNvCxnSpPr>
          <p:nvPr/>
        </p:nvCxnSpPr>
        <p:spPr bwMode="auto">
          <a:xfrm>
            <a:off x="685800" y="3124200"/>
            <a:ext cx="4876800" cy="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2" name="Straight Arrow Connector 11">
            <a:extLst>
              <a:ext uri="{FF2B5EF4-FFF2-40B4-BE49-F238E27FC236}">
                <a16:creationId xmlns:a16="http://schemas.microsoft.com/office/drawing/2014/main" id="{C2271D80-B3F0-4831-B7DF-02442765342F}"/>
              </a:ext>
            </a:extLst>
          </p:cNvPr>
          <p:cNvCxnSpPr>
            <a:cxnSpLocks/>
          </p:cNvCxnSpPr>
          <p:nvPr/>
        </p:nvCxnSpPr>
        <p:spPr bwMode="auto">
          <a:xfrm>
            <a:off x="228600" y="4191000"/>
            <a:ext cx="8686800" cy="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4" name="TextBox 13">
            <a:extLst>
              <a:ext uri="{FF2B5EF4-FFF2-40B4-BE49-F238E27FC236}">
                <a16:creationId xmlns:a16="http://schemas.microsoft.com/office/drawing/2014/main" id="{02A186E5-3477-400A-BA62-3B33EABB7972}"/>
              </a:ext>
            </a:extLst>
          </p:cNvPr>
          <p:cNvSpPr txBox="1"/>
          <p:nvPr/>
        </p:nvSpPr>
        <p:spPr>
          <a:xfrm>
            <a:off x="2895600" y="3468417"/>
            <a:ext cx="677108" cy="668155"/>
          </a:xfrm>
          <a:prstGeom prst="rect">
            <a:avLst/>
          </a:prstGeom>
          <a:noFill/>
        </p:spPr>
        <p:txBody>
          <a:bodyPr vert="eaVert" wrap="square" rtlCol="0">
            <a:spAutoFit/>
          </a:bodyPr>
          <a:lstStyle/>
          <a:p>
            <a:r>
              <a:rPr lang="en-US" altLang="zh-CN" sz="3200" dirty="0"/>
              <a:t>…</a:t>
            </a:r>
            <a:endParaRPr lang="zh-CN" altLang="en-US" sz="32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30404EE-3627-47A4-822E-CE19AA343D76}"/>
                  </a:ext>
                </a:extLst>
              </p:cNvPr>
              <p:cNvSpPr txBox="1"/>
              <p:nvPr/>
            </p:nvSpPr>
            <p:spPr>
              <a:xfrm>
                <a:off x="1485900" y="4495800"/>
                <a:ext cx="6172200" cy="769441"/>
              </a:xfrm>
              <a:prstGeom prst="rect">
                <a:avLst/>
              </a:prstGeom>
              <a:noFill/>
            </p:spPr>
            <p:txBody>
              <a:bodyPr wrap="square" rtlCol="0">
                <a:spAutoFit/>
              </a:bodyPr>
              <a:lstStyle/>
              <a:p>
                <a:pPr algn="ctr"/>
                <a:r>
                  <a:rPr lang="zh-CN" altLang="en-US" sz="2200" dirty="0"/>
                  <a:t>从不同的上下文大小</a:t>
                </a:r>
                <a:r>
                  <a:rPr lang="en-US" altLang="zh-CN" sz="2200" dirty="0"/>
                  <a:t>(</a:t>
                </a:r>
                <a14:m>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1,</m:t>
                    </m:r>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3,</m:t>
                    </m:r>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5,</m:t>
                    </m:r>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7,</m:t>
                    </m:r>
                    <m:r>
                      <a:rPr lang="en-US" altLang="zh-CN" sz="2200" i="1">
                        <a:latin typeface="Cambria Math" panose="02040503050406030204" pitchFamily="18" charset="0"/>
                        <a:ea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m:t>
                    </m:r>
                  </m:oMath>
                </a14:m>
                <a:r>
                  <a:rPr lang="en-US" altLang="zh-CN" sz="2200" dirty="0"/>
                  <a:t>)</a:t>
                </a:r>
                <a:r>
                  <a:rPr lang="zh-CN" altLang="en-US" sz="2200" dirty="0"/>
                  <a:t>的训练数据中学习到不同的分类器，让它们一起投票</a:t>
                </a:r>
              </a:p>
            </p:txBody>
          </p:sp>
        </mc:Choice>
        <mc:Fallback xmlns="">
          <p:sp>
            <p:nvSpPr>
              <p:cNvPr id="15" name="TextBox 14">
                <a:extLst>
                  <a:ext uri="{FF2B5EF4-FFF2-40B4-BE49-F238E27FC236}">
                    <a16:creationId xmlns:a16="http://schemas.microsoft.com/office/drawing/2014/main" id="{130404EE-3627-47A4-822E-CE19AA343D76}"/>
                  </a:ext>
                </a:extLst>
              </p:cNvPr>
              <p:cNvSpPr txBox="1">
                <a:spLocks noRot="1" noChangeAspect="1" noMove="1" noResize="1" noEditPoints="1" noAdjustHandles="1" noChangeArrowheads="1" noChangeShapeType="1" noTextEdit="1"/>
              </p:cNvSpPr>
              <p:nvPr/>
            </p:nvSpPr>
            <p:spPr>
              <a:xfrm>
                <a:off x="1485900" y="4495800"/>
                <a:ext cx="6172200" cy="769441"/>
              </a:xfrm>
              <a:prstGeom prst="rect">
                <a:avLst/>
              </a:prstGeom>
              <a:blipFill>
                <a:blip r:embed="rId3"/>
                <a:stretch>
                  <a:fillRect l="-494" t="-8730" r="-395" b="-11905"/>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33BF6ED6-C92F-4DCB-A185-8E59B2493A4F}"/>
              </a:ext>
            </a:extLst>
          </p:cNvPr>
          <p:cNvSpPr txBox="1"/>
          <p:nvPr/>
        </p:nvSpPr>
        <p:spPr>
          <a:xfrm>
            <a:off x="-76200" y="1557636"/>
            <a:ext cx="9296400" cy="430887"/>
          </a:xfrm>
          <a:prstGeom prst="rect">
            <a:avLst/>
          </a:prstGeom>
          <a:noFill/>
        </p:spPr>
        <p:txBody>
          <a:bodyPr wrap="square" rtlCol="0">
            <a:spAutoFit/>
          </a:bodyPr>
          <a:lstStyle/>
          <a:p>
            <a:pPr algn="ctr"/>
            <a:r>
              <a:rPr lang="zh-CN" altLang="en-US" sz="2200" dirty="0"/>
              <a:t>选取不同的上下文大小</a:t>
            </a:r>
          </a:p>
        </p:txBody>
      </p:sp>
      <p:sp>
        <p:nvSpPr>
          <p:cNvPr id="3" name="TextBox 2">
            <a:extLst>
              <a:ext uri="{FF2B5EF4-FFF2-40B4-BE49-F238E27FC236}">
                <a16:creationId xmlns:a16="http://schemas.microsoft.com/office/drawing/2014/main" id="{102BBAD2-9118-87EE-894A-B6AC4728593C}"/>
              </a:ext>
            </a:extLst>
          </p:cNvPr>
          <p:cNvSpPr txBox="1"/>
          <p:nvPr/>
        </p:nvSpPr>
        <p:spPr>
          <a:xfrm>
            <a:off x="685800" y="5486400"/>
            <a:ext cx="7772400" cy="769441"/>
          </a:xfrm>
          <a:prstGeom prst="rect">
            <a:avLst/>
          </a:prstGeom>
          <a:noFill/>
        </p:spPr>
        <p:txBody>
          <a:bodyPr wrap="square" rtlCol="0">
            <a:spAutoFit/>
          </a:bodyPr>
          <a:lstStyle/>
          <a:p>
            <a:pPr algn="ctr"/>
            <a:r>
              <a:rPr lang="zh-CN" altLang="en-US" sz="2200" dirty="0"/>
              <a:t>别忘了</a:t>
            </a:r>
            <a:r>
              <a:rPr lang="en-US" altLang="zh-CN" sz="2200" dirty="0"/>
              <a:t>logistic regression</a:t>
            </a:r>
            <a:r>
              <a:rPr lang="zh-CN" altLang="en-US" sz="2200" dirty="0"/>
              <a:t>输出了类别的概率，我们可以轻而易举地将来自于不同分类器中的同一个类别的概率综合起来</a:t>
            </a:r>
          </a:p>
        </p:txBody>
      </p:sp>
    </p:spTree>
    <p:custDataLst>
      <p:tags r:id="rId1"/>
    </p:custDataLst>
    <p:extLst>
      <p:ext uri="{BB962C8B-B14F-4D97-AF65-F5344CB8AC3E}">
        <p14:creationId xmlns:p14="http://schemas.microsoft.com/office/powerpoint/2010/main" val="46149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结果</a:t>
            </a:r>
            <a:endParaRPr lang="zh-CN" altLang="en-US" dirty="0"/>
          </a:p>
        </p:txBody>
      </p:sp>
      <p:graphicFrame>
        <p:nvGraphicFramePr>
          <p:cNvPr id="5" name="Table 4">
            <a:extLst>
              <a:ext uri="{FF2B5EF4-FFF2-40B4-BE49-F238E27FC236}">
                <a16:creationId xmlns:a16="http://schemas.microsoft.com/office/drawing/2014/main" id="{CF8DCACA-3997-4650-991A-926E46401CA2}"/>
              </a:ext>
            </a:extLst>
          </p:cNvPr>
          <p:cNvGraphicFramePr>
            <a:graphicFrameLocks noGrp="1"/>
          </p:cNvGraphicFramePr>
          <p:nvPr>
            <p:extLst>
              <p:ext uri="{D42A27DB-BD31-4B8C-83A1-F6EECF244321}">
                <p14:modId xmlns:p14="http://schemas.microsoft.com/office/powerpoint/2010/main" val="143075447"/>
              </p:ext>
            </p:extLst>
          </p:nvPr>
        </p:nvGraphicFramePr>
        <p:xfrm>
          <a:off x="1028700" y="1823720"/>
          <a:ext cx="6972300" cy="1828800"/>
        </p:xfrm>
        <a:graphic>
          <a:graphicData uri="http://schemas.openxmlformats.org/drawingml/2006/table">
            <a:tbl>
              <a:tblPr firstRow="1" bandRow="1">
                <a:tableStyleId>{D27102A9-8310-4765-A935-A1911B00CA55}</a:tableStyleId>
              </a:tblPr>
              <a:tblGrid>
                <a:gridCol w="4815919">
                  <a:extLst>
                    <a:ext uri="{9D8B030D-6E8A-4147-A177-3AD203B41FA5}">
                      <a16:colId xmlns:a16="http://schemas.microsoft.com/office/drawing/2014/main" val="1065155212"/>
                    </a:ext>
                  </a:extLst>
                </a:gridCol>
                <a:gridCol w="2156381">
                  <a:extLst>
                    <a:ext uri="{9D8B030D-6E8A-4147-A177-3AD203B41FA5}">
                      <a16:colId xmlns:a16="http://schemas.microsoft.com/office/drawing/2014/main" val="3861532805"/>
                    </a:ext>
                  </a:extLst>
                </a:gridCol>
              </a:tblGrid>
              <a:tr h="370840">
                <a:tc>
                  <a:txBody>
                    <a:bodyPr/>
                    <a:lstStyle/>
                    <a:p>
                      <a:r>
                        <a:rPr lang="zh-CN" altLang="en-US" sz="2400" dirty="0"/>
                        <a:t>方法</a:t>
                      </a:r>
                    </a:p>
                  </a:txBody>
                  <a:tcPr anchor="ctr"/>
                </a:tc>
                <a:tc>
                  <a:txBody>
                    <a:bodyPr/>
                    <a:lstStyle/>
                    <a:p>
                      <a:pPr algn="ctr"/>
                      <a:r>
                        <a:rPr lang="zh-CN" altLang="en-US" sz="2400" dirty="0"/>
                        <a:t>准确率</a:t>
                      </a:r>
                    </a:p>
                  </a:txBody>
                  <a:tcPr anchor="ctr"/>
                </a:tc>
                <a:extLst>
                  <a:ext uri="{0D108BD9-81ED-4DB2-BD59-A6C34878D82A}">
                    <a16:rowId xmlns:a16="http://schemas.microsoft.com/office/drawing/2014/main" val="1689843995"/>
                  </a:ext>
                </a:extLst>
              </a:tr>
              <a:tr h="370840">
                <a:tc>
                  <a:txBody>
                    <a:bodyPr/>
                    <a:lstStyle/>
                    <a:p>
                      <a:r>
                        <a:rPr lang="zh-CN" altLang="en-US" sz="2400" dirty="0"/>
                        <a:t>感知器</a:t>
                      </a:r>
                    </a:p>
                  </a:txBody>
                  <a:tcPr anchor="ctr"/>
                </a:tc>
                <a:tc>
                  <a:txBody>
                    <a:bodyPr/>
                    <a:lstStyle/>
                    <a:p>
                      <a:pPr algn="ctr"/>
                      <a:r>
                        <a:rPr lang="en-US" altLang="zh-CN" sz="2400" dirty="0">
                          <a:solidFill>
                            <a:schemeClr val="tx1"/>
                          </a:solidFill>
                        </a:rPr>
                        <a:t>83.6%</a:t>
                      </a:r>
                      <a:endParaRPr lang="zh-CN" altLang="en-US" sz="2400" dirty="0">
                        <a:solidFill>
                          <a:schemeClr val="tx1"/>
                        </a:solidFill>
                      </a:endParaRPr>
                    </a:p>
                  </a:txBody>
                  <a:tcPr anchor="ctr"/>
                </a:tc>
                <a:extLst>
                  <a:ext uri="{0D108BD9-81ED-4DB2-BD59-A6C34878D82A}">
                    <a16:rowId xmlns:a16="http://schemas.microsoft.com/office/drawing/2014/main" val="1455740654"/>
                  </a:ext>
                </a:extLst>
              </a:tr>
              <a:tr h="370840">
                <a:tc>
                  <a:txBody>
                    <a:bodyPr/>
                    <a:lstStyle/>
                    <a:p>
                      <a:r>
                        <a:rPr lang="en-US" altLang="zh-CN" sz="2400" dirty="0"/>
                        <a:t>Logistic regression</a:t>
                      </a:r>
                      <a:endParaRPr lang="zh-CN" altLang="en-US" sz="2400" dirty="0"/>
                    </a:p>
                  </a:txBody>
                  <a:tcPr anchor="ctr"/>
                </a:tc>
                <a:tc>
                  <a:txBody>
                    <a:bodyPr/>
                    <a:lstStyle/>
                    <a:p>
                      <a:pPr algn="ctr"/>
                      <a:r>
                        <a:rPr lang="en-US" altLang="zh-CN" sz="2400" b="0" dirty="0">
                          <a:solidFill>
                            <a:schemeClr val="tx1"/>
                          </a:solidFill>
                        </a:rPr>
                        <a:t>85.0%</a:t>
                      </a:r>
                      <a:endParaRPr lang="zh-CN" altLang="en-US" sz="2400" b="0" dirty="0">
                        <a:solidFill>
                          <a:schemeClr val="tx1"/>
                        </a:solidFill>
                      </a:endParaRPr>
                    </a:p>
                  </a:txBody>
                  <a:tcPr anchor="ctr"/>
                </a:tc>
                <a:extLst>
                  <a:ext uri="{0D108BD9-81ED-4DB2-BD59-A6C34878D82A}">
                    <a16:rowId xmlns:a16="http://schemas.microsoft.com/office/drawing/2014/main" val="2084487154"/>
                  </a:ext>
                </a:extLst>
              </a:tr>
              <a:tr h="370840">
                <a:tc>
                  <a:txBody>
                    <a:bodyPr/>
                    <a:lstStyle/>
                    <a:p>
                      <a:r>
                        <a:rPr lang="en-US" altLang="zh-CN" sz="2400" dirty="0"/>
                        <a:t>Logistic regression ensemble</a:t>
                      </a:r>
                      <a:endParaRPr lang="zh-CN" altLang="en-US" sz="2400" dirty="0"/>
                    </a:p>
                  </a:txBody>
                  <a:tcPr anchor="ctr"/>
                </a:tc>
                <a:tc>
                  <a:txBody>
                    <a:bodyPr/>
                    <a:lstStyle/>
                    <a:p>
                      <a:pPr algn="ctr"/>
                      <a:r>
                        <a:rPr lang="en-US" altLang="zh-CN" sz="2400" b="1" dirty="0">
                          <a:solidFill>
                            <a:srgbClr val="00B050"/>
                          </a:solidFill>
                        </a:rPr>
                        <a:t>89.5%</a:t>
                      </a:r>
                      <a:endParaRPr lang="zh-CN" altLang="en-US" sz="2400" b="1" dirty="0">
                        <a:solidFill>
                          <a:srgbClr val="00B050"/>
                        </a:solidFill>
                      </a:endParaRPr>
                    </a:p>
                  </a:txBody>
                  <a:tcPr anchor="ctr"/>
                </a:tc>
                <a:extLst>
                  <a:ext uri="{0D108BD9-81ED-4DB2-BD59-A6C34878D82A}">
                    <a16:rowId xmlns:a16="http://schemas.microsoft.com/office/drawing/2014/main" val="329151572"/>
                  </a:ext>
                </a:extLst>
              </a:tr>
            </a:tbl>
          </a:graphicData>
        </a:graphic>
      </p:graphicFrame>
    </p:spTree>
    <p:extLst>
      <p:ext uri="{BB962C8B-B14F-4D97-AF65-F5344CB8AC3E}">
        <p14:creationId xmlns:p14="http://schemas.microsoft.com/office/powerpoint/2010/main" val="142479901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7DC74-367E-D617-C663-915457B68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A376F-D6B9-336E-A136-B1DB4A768185}"/>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今天的总结</a:t>
            </a:r>
          </a:p>
        </p:txBody>
      </p:sp>
      <p:sp>
        <p:nvSpPr>
          <p:cNvPr id="3" name="Content Placeholder 2">
            <a:extLst>
              <a:ext uri="{FF2B5EF4-FFF2-40B4-BE49-F238E27FC236}">
                <a16:creationId xmlns:a16="http://schemas.microsoft.com/office/drawing/2014/main" id="{B8F16F10-AC6F-5F84-1A11-E64CD8EE8BD2}"/>
              </a:ext>
            </a:extLst>
          </p:cNvPr>
          <p:cNvSpPr>
            <a:spLocks noGrp="1"/>
          </p:cNvSpPr>
          <p:nvPr>
            <p:ph idx="1"/>
          </p:nvPr>
        </p:nvSpPr>
        <p:spPr>
          <a:xfrm>
            <a:off x="762000" y="1600200"/>
            <a:ext cx="7772400" cy="5257800"/>
          </a:xfrm>
        </p:spPr>
        <p:txBody>
          <a:bodyPr>
            <a:normAutofit/>
          </a:bodyPr>
          <a:lstStyle/>
          <a:p>
            <a:r>
              <a:rPr lang="zh-CN" altLang="en-US" dirty="0"/>
              <a:t>线性分类器</a:t>
            </a:r>
            <a:endParaRPr lang="en-US" altLang="zh-CN" dirty="0"/>
          </a:p>
          <a:p>
            <a:pPr lvl="1"/>
            <a:r>
              <a:rPr lang="zh-CN" altLang="en-US" dirty="0"/>
              <a:t>用权重和偏向将数据归入预先定义的类别</a:t>
            </a:r>
            <a:endParaRPr lang="en-US" altLang="zh-CN" dirty="0"/>
          </a:p>
          <a:p>
            <a:pPr lvl="2"/>
            <a:r>
              <a:rPr lang="zh-CN" altLang="en-US" dirty="0"/>
              <a:t>归纳学习中一种简单的预设分类器类型</a:t>
            </a:r>
            <a:endParaRPr lang="en-US" altLang="zh-CN" dirty="0"/>
          </a:p>
          <a:p>
            <a:pPr lvl="1"/>
            <a:r>
              <a:rPr lang="en-US" altLang="zh-CN" dirty="0"/>
              <a:t>Logistic regression</a:t>
            </a:r>
            <a:r>
              <a:rPr lang="zh-CN" altLang="en-US" dirty="0"/>
              <a:t>还能给出概率</a:t>
            </a:r>
            <a:endParaRPr lang="en-US" altLang="zh-CN" dirty="0"/>
          </a:p>
          <a:p>
            <a:r>
              <a:rPr lang="zh-CN" altLang="en-US" dirty="0"/>
              <a:t>学习方法</a:t>
            </a:r>
            <a:endParaRPr lang="en-US" altLang="zh-CN" dirty="0"/>
          </a:p>
          <a:p>
            <a:pPr lvl="1"/>
            <a:r>
              <a:rPr lang="zh-CN" altLang="en-US" dirty="0"/>
              <a:t>感</a:t>
            </a:r>
            <a:r>
              <a:rPr lang="zh-CN" altLang="en-US"/>
              <a:t>知器算法</a:t>
            </a:r>
            <a:endParaRPr lang="en-US" altLang="zh-CN" dirty="0"/>
          </a:p>
          <a:p>
            <a:pPr lvl="1"/>
            <a:r>
              <a:rPr lang="en-US" altLang="zh-CN" dirty="0"/>
              <a:t>Logistic regression</a:t>
            </a:r>
            <a:r>
              <a:rPr lang="zh-CN" altLang="en-US" dirty="0"/>
              <a:t>用基于梯度下降的极大似然估计</a:t>
            </a:r>
            <a:endParaRPr lang="en-US" altLang="zh-CN" dirty="0"/>
          </a:p>
          <a:p>
            <a:r>
              <a:rPr lang="zh-CN" altLang="en-US" dirty="0"/>
              <a:t>和上次一样：灵活应用能得到好效果</a:t>
            </a:r>
            <a:endParaRPr lang="en-US" altLang="zh-CN" dirty="0"/>
          </a:p>
        </p:txBody>
      </p:sp>
    </p:spTree>
    <p:extLst>
      <p:ext uri="{BB962C8B-B14F-4D97-AF65-F5344CB8AC3E}">
        <p14:creationId xmlns:p14="http://schemas.microsoft.com/office/powerpoint/2010/main" val="26464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ctrTitle"/>
          </p:nvPr>
        </p:nvSpPr>
        <p:spPr>
          <a:xfrm>
            <a:off x="685800" y="2057400"/>
            <a:ext cx="7772400" cy="914400"/>
          </a:xfrm>
        </p:spPr>
        <p:txBody>
          <a:bodyPr anchor="t"/>
          <a:lstStyle/>
          <a:p>
            <a:pPr algn="ctr" eaLnBrk="1" hangingPunct="1">
              <a:spcBef>
                <a:spcPts val="600"/>
              </a:spcBef>
            </a:pPr>
            <a:r>
              <a:rPr lang="en-US" altLang="ja-JP" b="1" dirty="0">
                <a:ea typeface="ＭＳ Ｐゴシック" panose="020B0600070205080204" pitchFamily="34" charset="-128"/>
              </a:rPr>
              <a:t>The End</a:t>
            </a:r>
            <a:endParaRPr lang="en-US" altLang="zh-CN" b="1" dirty="0">
              <a:ea typeface="SimSun" panose="02010600030101010101" pitchFamily="2" charset="-122"/>
            </a:endParaRPr>
          </a:p>
        </p:txBody>
      </p:sp>
      <p:sp>
        <p:nvSpPr>
          <p:cNvPr id="5" name="TextBox 4">
            <a:extLst>
              <a:ext uri="{FF2B5EF4-FFF2-40B4-BE49-F238E27FC236}">
                <a16:creationId xmlns:a16="http://schemas.microsoft.com/office/drawing/2014/main" id="{82F3BC4D-1554-A405-8A94-8DB7765461DD}"/>
              </a:ext>
            </a:extLst>
          </p:cNvPr>
          <p:cNvSpPr txBox="1"/>
          <p:nvPr/>
        </p:nvSpPr>
        <p:spPr>
          <a:xfrm>
            <a:off x="1181100" y="2738735"/>
            <a:ext cx="6781800" cy="461665"/>
          </a:xfrm>
          <a:prstGeom prst="rect">
            <a:avLst/>
          </a:prstGeom>
          <a:noFill/>
        </p:spPr>
        <p:txBody>
          <a:bodyPr wrap="square">
            <a:spAutoFit/>
          </a:bodyPr>
          <a:lstStyle/>
          <a:p>
            <a:pPr algn="ctr"/>
            <a:r>
              <a:rPr lang="zh-CN" altLang="en-US" sz="2400" b="1" dirty="0">
                <a:solidFill>
                  <a:schemeClr val="tx1"/>
                </a:solidFill>
                <a:latin typeface="Microsoft YaHei Light" panose="020B0502040204020203" pitchFamily="34" charset="-122"/>
                <a:ea typeface="Microsoft YaHei Light" panose="020B0502040204020203" pitchFamily="34" charset="-122"/>
              </a:rPr>
              <a:t>如需第</a:t>
            </a:r>
            <a:r>
              <a:rPr lang="zh-CN" altLang="en-US" sz="2400" b="1" dirty="0">
                <a:latin typeface="Microsoft YaHei Light" panose="020B0502040204020203" pitchFamily="34" charset="-122"/>
                <a:ea typeface="Microsoft YaHei Light" panose="020B0502040204020203" pitchFamily="34" charset="-122"/>
              </a:rPr>
              <a:t>二</a:t>
            </a:r>
            <a:r>
              <a:rPr lang="zh-CN" altLang="en-US" sz="2400" b="1" dirty="0">
                <a:solidFill>
                  <a:schemeClr val="tx1"/>
                </a:solidFill>
                <a:latin typeface="Microsoft YaHei Light" panose="020B0502040204020203" pitchFamily="34" charset="-122"/>
                <a:ea typeface="Microsoft YaHei Light" panose="020B0502040204020203" pitchFamily="34" charset="-122"/>
              </a:rPr>
              <a:t>讲的课件，可扫描以下二维码下载</a:t>
            </a:r>
            <a:endParaRPr lang="en-US" sz="2400" dirty="0"/>
          </a:p>
        </p:txBody>
      </p:sp>
      <p:pic>
        <p:nvPicPr>
          <p:cNvPr id="3" name="Picture 2">
            <a:extLst>
              <a:ext uri="{FF2B5EF4-FFF2-40B4-BE49-F238E27FC236}">
                <a16:creationId xmlns:a16="http://schemas.microsoft.com/office/drawing/2014/main" id="{25D5306B-2414-85F8-0457-F584B53E69C6}"/>
              </a:ext>
            </a:extLst>
          </p:cNvPr>
          <p:cNvPicPr>
            <a:picLocks noChangeAspect="1"/>
          </p:cNvPicPr>
          <p:nvPr/>
        </p:nvPicPr>
        <p:blipFill>
          <a:blip r:embed="rId3"/>
          <a:stretch>
            <a:fillRect/>
          </a:stretch>
        </p:blipFill>
        <p:spPr>
          <a:xfrm>
            <a:off x="3097324" y="3429000"/>
            <a:ext cx="2949352" cy="2949352"/>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0.1|0.2"/>
</p:tagLst>
</file>

<file path=ppt/tags/tag2.xml><?xml version="1.0" encoding="utf-8"?>
<p:tagLst xmlns:a="http://schemas.openxmlformats.org/drawingml/2006/main" xmlns:r="http://schemas.openxmlformats.org/officeDocument/2006/relationships" xmlns:p="http://schemas.openxmlformats.org/presentationml/2006/main">
  <p:tag name="TIMING" val="|0.1|0.2"/>
</p:tagLst>
</file>

<file path=ppt/tags/tag3.xml><?xml version="1.0" encoding="utf-8"?>
<p:tagLst xmlns:a="http://schemas.openxmlformats.org/drawingml/2006/main" xmlns:r="http://schemas.openxmlformats.org/officeDocument/2006/relationships" xmlns:p="http://schemas.openxmlformats.org/presentationml/2006/main">
  <p:tag name="TIMING" val="|0.1|0.2"/>
</p:tagLst>
</file>

<file path=ppt/tags/tag4.xml><?xml version="1.0" encoding="utf-8"?>
<p:tagLst xmlns:a="http://schemas.openxmlformats.org/drawingml/2006/main" xmlns:r="http://schemas.openxmlformats.org/officeDocument/2006/relationships" xmlns:p="http://schemas.openxmlformats.org/presentationml/2006/main">
  <p:tag name="TIMING" val="|5.4|21.7|0.3|0.4|0.3|0.3|0.2|0.3|71.6"/>
</p:tagLst>
</file>

<file path=ppt/tags/tag5.xml><?xml version="1.0" encoding="utf-8"?>
<p:tagLst xmlns:a="http://schemas.openxmlformats.org/drawingml/2006/main" xmlns:r="http://schemas.openxmlformats.org/officeDocument/2006/relationships" xmlns:p="http://schemas.openxmlformats.org/presentationml/2006/main">
  <p:tag name="TIMING" val="|0.8|17.7|3.2"/>
</p:tagLst>
</file>

<file path=ppt/tags/tag6.xml><?xml version="1.0" encoding="utf-8"?>
<p:tagLst xmlns:a="http://schemas.openxmlformats.org/drawingml/2006/main" xmlns:r="http://schemas.openxmlformats.org/officeDocument/2006/relationships" xmlns:p="http://schemas.openxmlformats.org/presentationml/2006/main">
  <p:tag name="TIMING" val="|1.1|8.1|3|54.8"/>
</p:tagLst>
</file>

<file path=ppt/tags/tag7.xml><?xml version="1.0" encoding="utf-8"?>
<p:tagLst xmlns:a="http://schemas.openxmlformats.org/drawingml/2006/main" xmlns:r="http://schemas.openxmlformats.org/officeDocument/2006/relationships" xmlns:p="http://schemas.openxmlformats.org/presentationml/2006/main">
  <p:tag name="TIMING" val="|15.5|18.7|4.9|2.3|8.5|4.7|1.5|1|8.5"/>
</p:tagLst>
</file>

<file path=ppt/tags/tag8.xml><?xml version="1.0" encoding="utf-8"?>
<p:tagLst xmlns:a="http://schemas.openxmlformats.org/drawingml/2006/main" xmlns:r="http://schemas.openxmlformats.org/officeDocument/2006/relationships" xmlns:p="http://schemas.openxmlformats.org/presentationml/2006/main">
  <p:tag name="TIMING" val="|15.5|18.7|4.9|2.3|8.5|4.7|1.5|1|8.5"/>
</p:tagLst>
</file>

<file path=ppt/tags/tag9.xml><?xml version="1.0" encoding="utf-8"?>
<p:tagLst xmlns:a="http://schemas.openxmlformats.org/drawingml/2006/main" xmlns:r="http://schemas.openxmlformats.org/officeDocument/2006/relationships" xmlns:p="http://schemas.openxmlformats.org/presentationml/2006/main">
  <p:tag name="TIMING" val="|15.5|18.7|4.9|2.3|8.5|4.7|1.5|1|8.5"/>
</p:tagLst>
</file>

<file path=ppt/tags/tag10.xml><?xml version="1.0" encoding="utf-8"?>
<p:tagLst xmlns:a="http://schemas.openxmlformats.org/drawingml/2006/main" xmlns:r="http://schemas.openxmlformats.org/officeDocument/2006/relationships" xmlns:p="http://schemas.openxmlformats.org/presentationml/2006/main">
  <p:tag name="TIMING" val="|15.5|18.7|4.9|2.3|8.5|4.7|1.5|1|8.5"/>
</p:tagLst>
</file>

<file path=ppt/tags/tag11.xml><?xml version="1.0" encoding="utf-8"?>
<p:tagLst xmlns:a="http://schemas.openxmlformats.org/drawingml/2006/main" xmlns:r="http://schemas.openxmlformats.org/officeDocument/2006/relationships" xmlns:p="http://schemas.openxmlformats.org/presentationml/2006/main">
  <p:tag name="TIMING" val="|1|0.7|0.3|0.5"/>
</p:tagLst>
</file>

<file path=ppt/tags/tag12.xml><?xml version="1.0" encoding="utf-8"?>
<p:tagLst xmlns:a="http://schemas.openxmlformats.org/drawingml/2006/main" xmlns:r="http://schemas.openxmlformats.org/officeDocument/2006/relationships" xmlns:p="http://schemas.openxmlformats.org/presentationml/2006/main">
  <p:tag name="TIMING" val="|17.4|19.1|7.5|8.3|5.8"/>
</p:tagLst>
</file>

<file path=ppt/tags/tag13.xml><?xml version="1.0" encoding="utf-8"?>
<p:tagLst xmlns:a="http://schemas.openxmlformats.org/drawingml/2006/main" xmlns:r="http://schemas.openxmlformats.org/officeDocument/2006/relationships" xmlns:p="http://schemas.openxmlformats.org/presentationml/2006/main">
  <p:tag name="TIMING" val="|0.6|27.7"/>
</p:tagLst>
</file>

<file path=ppt/tags/tag14.xml><?xml version="1.0" encoding="utf-8"?>
<p:tagLst xmlns:a="http://schemas.openxmlformats.org/drawingml/2006/main" xmlns:r="http://schemas.openxmlformats.org/officeDocument/2006/relationships" xmlns:p="http://schemas.openxmlformats.org/presentationml/2006/main">
  <p:tag name="TIMING" val="|0|0.3|0.1|0.2|0.4"/>
</p:tagLst>
</file>

<file path=ppt/tags/tag15.xml><?xml version="1.0" encoding="utf-8"?>
<p:tagLst xmlns:a="http://schemas.openxmlformats.org/drawingml/2006/main" xmlns:r="http://schemas.openxmlformats.org/officeDocument/2006/relationships" xmlns:p="http://schemas.openxmlformats.org/presentationml/2006/main">
  <p:tag name="TIMING" val="|1|0.7|0.3|0.5"/>
</p:tagLst>
</file>

<file path=ppt/tags/tag16.xml><?xml version="1.0" encoding="utf-8"?>
<p:tagLst xmlns:a="http://schemas.openxmlformats.org/drawingml/2006/main" xmlns:r="http://schemas.openxmlformats.org/officeDocument/2006/relationships" xmlns:p="http://schemas.openxmlformats.org/presentationml/2006/main">
  <p:tag name="TIMING" val="|0.5|57.2|10|4|1.3"/>
</p:tagLst>
</file>

<file path=ppt/tags/tag17.xml><?xml version="1.0" encoding="utf-8"?>
<p:tagLst xmlns:a="http://schemas.openxmlformats.org/drawingml/2006/main" xmlns:r="http://schemas.openxmlformats.org/officeDocument/2006/relationships" xmlns:p="http://schemas.openxmlformats.org/presentationml/2006/main">
  <p:tag name="TIMING" val="|1.1|0.8|4|0.2"/>
</p:tagLst>
</file>

<file path=ppt/tags/tag18.xml><?xml version="1.0" encoding="utf-8"?>
<p:tagLst xmlns:a="http://schemas.openxmlformats.org/drawingml/2006/main" xmlns:r="http://schemas.openxmlformats.org/officeDocument/2006/relationships" xmlns:p="http://schemas.openxmlformats.org/presentationml/2006/main">
  <p:tag name="TIMING" val="|0.5|10.4"/>
</p:tagLst>
</file>

<file path=ppt/tags/tag19.xml><?xml version="1.0" encoding="utf-8"?>
<p:tagLst xmlns:a="http://schemas.openxmlformats.org/drawingml/2006/main" xmlns:r="http://schemas.openxmlformats.org/officeDocument/2006/relationships" xmlns:p="http://schemas.openxmlformats.org/presentationml/2006/main">
  <p:tag name="TIMING" val="|0.8"/>
</p:tagLst>
</file>

<file path=ppt/tags/tag20.xml><?xml version="1.0" encoding="utf-8"?>
<p:tagLst xmlns:a="http://schemas.openxmlformats.org/drawingml/2006/main" xmlns:r="http://schemas.openxmlformats.org/officeDocument/2006/relationships" xmlns:p="http://schemas.openxmlformats.org/presentationml/2006/main">
  <p:tag name="TIMING" val="|1.4|51|88.1"/>
</p:tagLst>
</file>

<file path=ppt/tags/tag21.xml><?xml version="1.0" encoding="utf-8"?>
<p:tagLst xmlns:a="http://schemas.openxmlformats.org/drawingml/2006/main" xmlns:r="http://schemas.openxmlformats.org/officeDocument/2006/relationships" xmlns:p="http://schemas.openxmlformats.org/presentationml/2006/main">
  <p:tag name="TIMING" val="|0.5|1.7"/>
</p:tagLst>
</file>

<file path=ppt/tags/tag22.xml><?xml version="1.0" encoding="utf-8"?>
<p:tagLst xmlns:a="http://schemas.openxmlformats.org/drawingml/2006/main" xmlns:r="http://schemas.openxmlformats.org/officeDocument/2006/relationships" xmlns:p="http://schemas.openxmlformats.org/presentationml/2006/main">
  <p:tag name="TIMING" val="|0.7|26.3|0.9"/>
</p:tagLst>
</file>

<file path=ppt/tags/tag23.xml><?xml version="1.0" encoding="utf-8"?>
<p:tagLst xmlns:a="http://schemas.openxmlformats.org/drawingml/2006/main" xmlns:r="http://schemas.openxmlformats.org/officeDocument/2006/relationships" xmlns:p="http://schemas.openxmlformats.org/presentationml/2006/main">
  <p:tag name="TIMING" val="|0.6|0.3|0.6"/>
</p:tagLst>
</file>

<file path=ppt/tags/tag24.xml><?xml version="1.0" encoding="utf-8"?>
<p:tagLst xmlns:a="http://schemas.openxmlformats.org/drawingml/2006/main" xmlns:r="http://schemas.openxmlformats.org/officeDocument/2006/relationships" xmlns:p="http://schemas.openxmlformats.org/presentationml/2006/main">
  <p:tag name="TIMING" val="|0.3|0.2|0.3"/>
</p:tagLst>
</file>

<file path=ppt/tags/tag25.xml><?xml version="1.0" encoding="utf-8"?>
<p:tagLst xmlns:a="http://schemas.openxmlformats.org/drawingml/2006/main" xmlns:r="http://schemas.openxmlformats.org/officeDocument/2006/relationships" xmlns:p="http://schemas.openxmlformats.org/presentationml/2006/main">
  <p:tag name="TIMING" val="|0.4|68.4"/>
</p:tagLst>
</file>

<file path=ppt/tags/tag26.xml><?xml version="1.0" encoding="utf-8"?>
<p:tagLst xmlns:a="http://schemas.openxmlformats.org/drawingml/2006/main" xmlns:r="http://schemas.openxmlformats.org/officeDocument/2006/relationships" xmlns:p="http://schemas.openxmlformats.org/presentationml/2006/main">
  <p:tag name="TIMING" val="|1|0.7|0.3|0.5"/>
</p:tagLst>
</file>

<file path=ppt/tags/tag27.xml><?xml version="1.0" encoding="utf-8"?>
<p:tagLst xmlns:a="http://schemas.openxmlformats.org/drawingml/2006/main" xmlns:r="http://schemas.openxmlformats.org/officeDocument/2006/relationships" xmlns:p="http://schemas.openxmlformats.org/presentationml/2006/main">
  <p:tag name="TIMING" val="|2.2|16.9|12.3"/>
</p:tagLst>
</file>

<file path=ppt/tags/tag28.xml><?xml version="1.0" encoding="utf-8"?>
<p:tagLst xmlns:a="http://schemas.openxmlformats.org/drawingml/2006/main" xmlns:r="http://schemas.openxmlformats.org/officeDocument/2006/relationships" xmlns:p="http://schemas.openxmlformats.org/presentationml/2006/main">
  <p:tag name="TIMING" val="|0.4|0.4|0.4|27.8|0.5|0.5"/>
</p:tagLst>
</file>

<file path=ppt/tags/tag29.xml><?xml version="1.0" encoding="utf-8"?>
<p:tagLst xmlns:a="http://schemas.openxmlformats.org/drawingml/2006/main" xmlns:r="http://schemas.openxmlformats.org/officeDocument/2006/relationships" xmlns:p="http://schemas.openxmlformats.org/presentationml/2006/main">
  <p:tag name="TIMING" val="|0.4|0.4"/>
</p:tagLst>
</file>

<file path=ppt/tags/tag30.xml><?xml version="1.0" encoding="utf-8"?>
<p:tagLst xmlns:a="http://schemas.openxmlformats.org/drawingml/2006/main" xmlns:r="http://schemas.openxmlformats.org/officeDocument/2006/relationships" xmlns:p="http://schemas.openxmlformats.org/presentationml/2006/main">
  <p:tag name="TIMING" val="|0.4|0.4"/>
</p:tagLst>
</file>

<file path=ppt/tags/tag31.xml><?xml version="1.0" encoding="utf-8"?>
<p:tagLst xmlns:a="http://schemas.openxmlformats.org/drawingml/2006/main" xmlns:r="http://schemas.openxmlformats.org/officeDocument/2006/relationships" xmlns:p="http://schemas.openxmlformats.org/presentationml/2006/main">
  <p:tag name="TIMING" val="|0|0.8|0.4|0.4|11.9|6.3"/>
</p:tagLst>
</file>

<file path=ppt/tags/tag32.xml><?xml version="1.0" encoding="utf-8"?>
<p:tagLst xmlns:a="http://schemas.openxmlformats.org/drawingml/2006/main" xmlns:r="http://schemas.openxmlformats.org/officeDocument/2006/relationships" xmlns:p="http://schemas.openxmlformats.org/presentationml/2006/main">
  <p:tag name="TIMING" val="|0.4|8.6|7.7|3.7"/>
</p:tagLst>
</file>

<file path=ppt/tags/tag33.xml><?xml version="1.0" encoding="utf-8"?>
<p:tagLst xmlns:a="http://schemas.openxmlformats.org/drawingml/2006/main" xmlns:r="http://schemas.openxmlformats.org/officeDocument/2006/relationships" xmlns:p="http://schemas.openxmlformats.org/presentationml/2006/main">
  <p:tag name="TIMING" val="|0.8|0.5|42.3|11.7"/>
</p:tagLst>
</file>

<file path=ppt/tags/tag34.xml><?xml version="1.0" encoding="utf-8"?>
<p:tagLst xmlns:a="http://schemas.openxmlformats.org/drawingml/2006/main" xmlns:r="http://schemas.openxmlformats.org/officeDocument/2006/relationships" xmlns:p="http://schemas.openxmlformats.org/presentationml/2006/main">
  <p:tag name="TIMING" val="|10|10.3|0.3|0.4|0.4"/>
</p:tagLst>
</file>

<file path=ppt/tags/tag35.xml><?xml version="1.0" encoding="utf-8"?>
<p:tagLst xmlns:a="http://schemas.openxmlformats.org/drawingml/2006/main" xmlns:r="http://schemas.openxmlformats.org/officeDocument/2006/relationships" xmlns:p="http://schemas.openxmlformats.org/presentationml/2006/main">
  <p:tag name="TIMING" val="|0.5|6.9|1.7|22.8|9.1"/>
</p:tagLst>
</file>

<file path=ppt/tags/tag36.xml><?xml version="1.0" encoding="utf-8"?>
<p:tagLst xmlns:a="http://schemas.openxmlformats.org/drawingml/2006/main" xmlns:r="http://schemas.openxmlformats.org/officeDocument/2006/relationships" xmlns:p="http://schemas.openxmlformats.org/presentationml/2006/main">
  <p:tag name="TIMING" val="|0.3|0.1|0.6|0.7|0.6"/>
</p:tagLst>
</file>

<file path=ppt/tags/tag37.xml><?xml version="1.0" encoding="utf-8"?>
<p:tagLst xmlns:a="http://schemas.openxmlformats.org/drawingml/2006/main" xmlns:r="http://schemas.openxmlformats.org/officeDocument/2006/relationships" xmlns:p="http://schemas.openxmlformats.org/presentationml/2006/main">
  <p:tag name="TIMING" val="|0.1|0.3|0.2"/>
</p:tagLst>
</file>

<file path=ppt/tags/tag38.xml><?xml version="1.0" encoding="utf-8"?>
<p:tagLst xmlns:a="http://schemas.openxmlformats.org/drawingml/2006/main" xmlns:r="http://schemas.openxmlformats.org/officeDocument/2006/relationships" xmlns:p="http://schemas.openxmlformats.org/presentationml/2006/main">
  <p:tag name="TIMING" val="|4.1|0.3|0.4|0.3|0.4|0.4"/>
</p:tagLst>
</file>

<file path=ppt/tags/tag39.xml><?xml version="1.0" encoding="utf-8"?>
<p:tagLst xmlns:a="http://schemas.openxmlformats.org/drawingml/2006/main" xmlns:r="http://schemas.openxmlformats.org/officeDocument/2006/relationships" xmlns:p="http://schemas.openxmlformats.org/presentationml/2006/main">
  <p:tag name="TIMING" val="|0.8|0.3|0.1"/>
</p:tagLst>
</file>

<file path=ppt/tags/tag40.xml><?xml version="1.0" encoding="utf-8"?>
<p:tagLst xmlns:a="http://schemas.openxmlformats.org/drawingml/2006/main" xmlns:r="http://schemas.openxmlformats.org/officeDocument/2006/relationships" xmlns:p="http://schemas.openxmlformats.org/presentationml/2006/main">
  <p:tag name="TIMING" val="|0.4"/>
</p:tagLst>
</file>

<file path=ppt/tags/tag41.xml><?xml version="1.0" encoding="utf-8"?>
<p:tagLst xmlns:a="http://schemas.openxmlformats.org/drawingml/2006/main" xmlns:r="http://schemas.openxmlformats.org/officeDocument/2006/relationships" xmlns:p="http://schemas.openxmlformats.org/presentationml/2006/main">
  <p:tag name="TIMING" val="|0.3|0.3|0.2"/>
</p:tagLst>
</file>

<file path=ppt/tags/tag42.xml><?xml version="1.0" encoding="utf-8"?>
<p:tagLst xmlns:a="http://schemas.openxmlformats.org/drawingml/2006/main" xmlns:r="http://schemas.openxmlformats.org/officeDocument/2006/relationships" xmlns:p="http://schemas.openxmlformats.org/presentationml/2006/main">
  <p:tag name="TIMING" val="|0.5|0.2|0.2|0.7"/>
</p:tagLst>
</file>

<file path=ppt/tags/tag43.xml><?xml version="1.0" encoding="utf-8"?>
<p:tagLst xmlns:a="http://schemas.openxmlformats.org/drawingml/2006/main" xmlns:r="http://schemas.openxmlformats.org/officeDocument/2006/relationships" xmlns:p="http://schemas.openxmlformats.org/presentationml/2006/main">
  <p:tag name="TIMING" val="|0.5|0.2|0.2|0.7"/>
</p:tagLst>
</file>

<file path=ppt/tags/tag44.xml><?xml version="1.0" encoding="utf-8"?>
<p:tagLst xmlns:a="http://schemas.openxmlformats.org/drawingml/2006/main" xmlns:r="http://schemas.openxmlformats.org/officeDocument/2006/relationships" xmlns:p="http://schemas.openxmlformats.org/presentationml/2006/main">
  <p:tag name="TIMING" val="|0.5|0.2|0.2|0.7"/>
</p:tagLst>
</file>

<file path=ppt/tags/tag45.xml><?xml version="1.0" encoding="utf-8"?>
<p:tagLst xmlns:a="http://schemas.openxmlformats.org/drawingml/2006/main" xmlns:r="http://schemas.openxmlformats.org/officeDocument/2006/relationships" xmlns:p="http://schemas.openxmlformats.org/presentationml/2006/main">
  <p:tag name="TIMING" val="|1.4|0.2"/>
</p:tagLst>
</file>

<file path=ppt/tags/tag46.xml><?xml version="1.0" encoding="utf-8"?>
<p:tagLst xmlns:a="http://schemas.openxmlformats.org/drawingml/2006/main" xmlns:r="http://schemas.openxmlformats.org/officeDocument/2006/relationships" xmlns:p="http://schemas.openxmlformats.org/presentationml/2006/main">
  <p:tag name="TIMING" val="|0.6|0.4"/>
</p:tagLst>
</file>

<file path=ppt/tags/tag47.xml><?xml version="1.0" encoding="utf-8"?>
<p:tagLst xmlns:a="http://schemas.openxmlformats.org/drawingml/2006/main" xmlns:r="http://schemas.openxmlformats.org/officeDocument/2006/relationships" xmlns:p="http://schemas.openxmlformats.org/presentationml/2006/main">
  <p:tag name="TIMING" val="|0.5|0.4|0.4|0.3|8.5"/>
</p:tagLst>
</file>

<file path=ppt/tags/tag48.xml><?xml version="1.0" encoding="utf-8"?>
<p:tagLst xmlns:a="http://schemas.openxmlformats.org/drawingml/2006/main" xmlns:r="http://schemas.openxmlformats.org/officeDocument/2006/relationships" xmlns:p="http://schemas.openxmlformats.org/presentationml/2006/main">
  <p:tag name="TIMING" val="|0.7|0.4"/>
</p:tagLst>
</file>

<file path=ppt/tags/tag49.xml><?xml version="1.0" encoding="utf-8"?>
<p:tagLst xmlns:a="http://schemas.openxmlformats.org/drawingml/2006/main" xmlns:r="http://schemas.openxmlformats.org/officeDocument/2006/relationships" xmlns:p="http://schemas.openxmlformats.org/presentationml/2006/main">
  <p:tag name="TIMING" val="|0.6"/>
</p:tagLst>
</file>

<file path=ppt/tags/tag50.xml><?xml version="1.0" encoding="utf-8"?>
<p:tagLst xmlns:a="http://schemas.openxmlformats.org/drawingml/2006/main" xmlns:r="http://schemas.openxmlformats.org/officeDocument/2006/relationships" xmlns:p="http://schemas.openxmlformats.org/presentationml/2006/main">
  <p:tag name="TIMING" val="|3.2|0.7|0.5|3.7"/>
</p:tagLst>
</file>

<file path=ppt/tags/tag51.xml><?xml version="1.0" encoding="utf-8"?>
<p:tagLst xmlns:a="http://schemas.openxmlformats.org/drawingml/2006/main" xmlns:r="http://schemas.openxmlformats.org/officeDocument/2006/relationships" xmlns:p="http://schemas.openxmlformats.org/presentationml/2006/main">
  <p:tag name="TIMING" val="|0.2|0.8|20|0.2"/>
</p:tagLst>
</file>

<file path=ppt/tags/tag52.xml><?xml version="1.0" encoding="utf-8"?>
<p:tagLst xmlns:a="http://schemas.openxmlformats.org/drawingml/2006/main" xmlns:r="http://schemas.openxmlformats.org/officeDocument/2006/relationships" xmlns:p="http://schemas.openxmlformats.org/presentationml/2006/main">
  <p:tag name="TIMING" val="|0.4|21"/>
</p:tagLst>
</file>

<file path=ppt/tags/tag53.xml><?xml version="1.0" encoding="utf-8"?>
<p:tagLst xmlns:a="http://schemas.openxmlformats.org/drawingml/2006/main" xmlns:r="http://schemas.openxmlformats.org/officeDocument/2006/relationships" xmlns:p="http://schemas.openxmlformats.org/presentationml/2006/main">
  <p:tag name="TIMING" val="|0.5|1.4"/>
</p:tagLst>
</file>

<file path=ppt/tags/tag54.xml><?xml version="1.0" encoding="utf-8"?>
<p:tagLst xmlns:a="http://schemas.openxmlformats.org/drawingml/2006/main" xmlns:r="http://schemas.openxmlformats.org/officeDocument/2006/relationships" xmlns:p="http://schemas.openxmlformats.org/presentationml/2006/main">
  <p:tag name="TIMING" val="|0.3"/>
</p:tagLst>
</file>

<file path=ppt/tags/tag55.xml><?xml version="1.0" encoding="utf-8"?>
<p:tagLst xmlns:a="http://schemas.openxmlformats.org/drawingml/2006/main" xmlns:r="http://schemas.openxmlformats.org/officeDocument/2006/relationships" xmlns:p="http://schemas.openxmlformats.org/presentationml/2006/main">
  <p:tag name="TIMING" val="|0.2|0.3|0.2|0.1|0.2|0.3|22.8|0.9"/>
</p:tagLst>
</file>

<file path=ppt/tags/tag56.xml><?xml version="1.0" encoding="utf-8"?>
<p:tagLst xmlns:a="http://schemas.openxmlformats.org/drawingml/2006/main" xmlns:r="http://schemas.openxmlformats.org/officeDocument/2006/relationships" xmlns:p="http://schemas.openxmlformats.org/presentationml/2006/main">
  <p:tag name="TIMING" val="|0.3|0.1|0.6|0.7|0.6"/>
</p:tagLst>
</file>

<file path=ppt/tags/tag57.xml><?xml version="1.0" encoding="utf-8"?>
<p:tagLst xmlns:a="http://schemas.openxmlformats.org/drawingml/2006/main" xmlns:r="http://schemas.openxmlformats.org/officeDocument/2006/relationships" xmlns:p="http://schemas.openxmlformats.org/presentationml/2006/main">
  <p:tag name="TIMING" val="|0.8|0.3|0.3|3.7|0.3|0.3"/>
</p:tagLst>
</file>

<file path=ppt/tags/tag58.xml><?xml version="1.0" encoding="utf-8"?>
<p:tagLst xmlns:a="http://schemas.openxmlformats.org/drawingml/2006/main" xmlns:r="http://schemas.openxmlformats.org/officeDocument/2006/relationships" xmlns:p="http://schemas.openxmlformats.org/presentationml/2006/main">
  <p:tag name="TIMING" val="|0.4"/>
</p:tagLst>
</file>

<file path=ppt/tags/tag59.xml><?xml version="1.0" encoding="utf-8"?>
<p:tagLst xmlns:a="http://schemas.openxmlformats.org/drawingml/2006/main" xmlns:r="http://schemas.openxmlformats.org/officeDocument/2006/relationships" xmlns:p="http://schemas.openxmlformats.org/presentationml/2006/main">
  <p:tag name="TIMING" val="|0.4"/>
</p:tagLst>
</file>

<file path=ppt/tags/tag60.xml><?xml version="1.0" encoding="utf-8"?>
<p:tagLst xmlns:a="http://schemas.openxmlformats.org/drawingml/2006/main" xmlns:r="http://schemas.openxmlformats.org/officeDocument/2006/relationships" xmlns:p="http://schemas.openxmlformats.org/presentationml/2006/main">
  <p:tag name="TIMING" val="|0.3|0.1|0.6|0.7|0.6"/>
</p:tagLst>
</file>

<file path=ppt/tags/tag61.xml><?xml version="1.0" encoding="utf-8"?>
<p:tagLst xmlns:a="http://schemas.openxmlformats.org/drawingml/2006/main" xmlns:r="http://schemas.openxmlformats.org/officeDocument/2006/relationships" xmlns:p="http://schemas.openxmlformats.org/presentationml/2006/main">
  <p:tag name="TIMING" val="|17.2|87.2|16.4|9.6"/>
</p:tagLst>
</file>

<file path=ppt/tags/tag62.xml><?xml version="1.0" encoding="utf-8"?>
<p:tagLst xmlns:a="http://schemas.openxmlformats.org/drawingml/2006/main" xmlns:r="http://schemas.openxmlformats.org/officeDocument/2006/relationships" xmlns:p="http://schemas.openxmlformats.org/presentationml/2006/main">
  <p:tag name="TIMING" val="|8.9|21.7"/>
</p:tagLst>
</file>

<file path=ppt/tags/tag63.xml><?xml version="1.0" encoding="utf-8"?>
<p:tagLst xmlns:a="http://schemas.openxmlformats.org/drawingml/2006/main" xmlns:r="http://schemas.openxmlformats.org/officeDocument/2006/relationships" xmlns:p="http://schemas.openxmlformats.org/presentationml/2006/main">
  <p:tag name="TIMING" val="|6.9|23.2|36.3|61.9"/>
</p:tagLst>
</file>

<file path=ppt/tags/tag64.xml><?xml version="1.0" encoding="utf-8"?>
<p:tagLst xmlns:a="http://schemas.openxmlformats.org/drawingml/2006/main" xmlns:r="http://schemas.openxmlformats.org/officeDocument/2006/relationships" xmlns:p="http://schemas.openxmlformats.org/presentationml/2006/main">
  <p:tag name="TIMING" val="|6.6|19.1|355.2|30.9|87.3"/>
</p:tagLst>
</file>

<file path=ppt/tags/tag65.xml><?xml version="1.0" encoding="utf-8"?>
<p:tagLst xmlns:a="http://schemas.openxmlformats.org/drawingml/2006/main" xmlns:r="http://schemas.openxmlformats.org/officeDocument/2006/relationships" xmlns:p="http://schemas.openxmlformats.org/presentationml/2006/main">
  <p:tag name="TIMING" val="|0.4|21.8|90.9|30.4"/>
</p:tagLst>
</file>

<file path=ppt/tags/tag66.xml><?xml version="1.0" encoding="utf-8"?>
<p:tagLst xmlns:a="http://schemas.openxmlformats.org/drawingml/2006/main" xmlns:r="http://schemas.openxmlformats.org/officeDocument/2006/relationships" xmlns:p="http://schemas.openxmlformats.org/presentationml/2006/main">
  <p:tag name="TIMING" val="|0.3|0.1|0.6|0.7|0.6"/>
</p:tagLst>
</file>

<file path=ppt/tags/tag67.xml><?xml version="1.0" encoding="utf-8"?>
<p:tagLst xmlns:a="http://schemas.openxmlformats.org/drawingml/2006/main" xmlns:r="http://schemas.openxmlformats.org/officeDocument/2006/relationships" xmlns:p="http://schemas.openxmlformats.org/presentationml/2006/main">
  <p:tag name="TIMING" val="|0.4|4.2"/>
</p:tagLst>
</file>

<file path=ppt/tags/tag68.xml><?xml version="1.0" encoding="utf-8"?>
<p:tagLst xmlns:a="http://schemas.openxmlformats.org/drawingml/2006/main" xmlns:r="http://schemas.openxmlformats.org/officeDocument/2006/relationships" xmlns:p="http://schemas.openxmlformats.org/presentationml/2006/main">
  <p:tag name="TIMING" val="|0.4|4.2"/>
</p:tagLst>
</file>

<file path=ppt/tags/tag69.xml><?xml version="1.0" encoding="utf-8"?>
<p:tagLst xmlns:a="http://schemas.openxmlformats.org/drawingml/2006/main" xmlns:r="http://schemas.openxmlformats.org/officeDocument/2006/relationships" xmlns:p="http://schemas.openxmlformats.org/presentationml/2006/main">
  <p:tag name="TIMING" val="|0.4|4.2"/>
</p:tagLst>
</file>

<file path=ppt/tags/tag70.xml><?xml version="1.0" encoding="utf-8"?>
<p:tagLst xmlns:a="http://schemas.openxmlformats.org/drawingml/2006/main" xmlns:r="http://schemas.openxmlformats.org/officeDocument/2006/relationships" xmlns:p="http://schemas.openxmlformats.org/presentationml/2006/main">
  <p:tag name="TIMING" val="|0.4|0.4"/>
</p:tagLst>
</file>

<file path=ppt/tags/tag71.xml><?xml version="1.0" encoding="utf-8"?>
<p:tagLst xmlns:a="http://schemas.openxmlformats.org/drawingml/2006/main" xmlns:r="http://schemas.openxmlformats.org/officeDocument/2006/relationships" xmlns:p="http://schemas.openxmlformats.org/presentationml/2006/main">
  <p:tag name="TIMING" val="|0.3|0.1|0.6|0.7|0.6"/>
</p:tagLst>
</file>

<file path=ppt/tags/tag72.xml><?xml version="1.0" encoding="utf-8"?>
<p:tagLst xmlns:a="http://schemas.openxmlformats.org/drawingml/2006/main" xmlns:r="http://schemas.openxmlformats.org/officeDocument/2006/relationships" xmlns:p="http://schemas.openxmlformats.org/presentationml/2006/main">
  <p:tag name="TIMING" val="|12.9|24.5|0.3|0.4|0.2"/>
</p:tagLst>
</file>

<file path=ppt/tags/tag73.xml><?xml version="1.0" encoding="utf-8"?>
<p:tagLst xmlns:a="http://schemas.openxmlformats.org/drawingml/2006/main" xmlns:r="http://schemas.openxmlformats.org/officeDocument/2006/relationships" xmlns:p="http://schemas.openxmlformats.org/presentationml/2006/main">
  <p:tag name="TIMING" val="|78.2|10.1|9"/>
</p:tagLst>
</file>

<file path=ppt/tags/tag74.xml><?xml version="1.0" encoding="utf-8"?>
<p:tagLst xmlns:a="http://schemas.openxmlformats.org/drawingml/2006/main" xmlns:r="http://schemas.openxmlformats.org/officeDocument/2006/relationships" xmlns:p="http://schemas.openxmlformats.org/presentationml/2006/main">
  <p:tag name="TIMING" val="|0.3|0.1|0.6|0.7|0.6"/>
</p:tagLst>
</file>

<file path=ppt/tags/tag75.xml><?xml version="1.0" encoding="utf-8"?>
<p:tagLst xmlns:a="http://schemas.openxmlformats.org/drawingml/2006/main" xmlns:r="http://schemas.openxmlformats.org/officeDocument/2006/relationships" xmlns:p="http://schemas.openxmlformats.org/presentationml/2006/main">
  <p:tag name="TIMING" val="|0.4|0.3"/>
</p:tagLst>
</file>

<file path=ppt/tags/tag76.xml><?xml version="1.0" encoding="utf-8"?>
<p:tagLst xmlns:a="http://schemas.openxmlformats.org/drawingml/2006/main" xmlns:r="http://schemas.openxmlformats.org/officeDocument/2006/relationships" xmlns:p="http://schemas.openxmlformats.org/presentationml/2006/main">
  <p:tag name="TIMING" val="|0.4|0.2|0.1"/>
</p:tagLst>
</file>

<file path=ppt/tags/tag77.xml><?xml version="1.0" encoding="utf-8"?>
<p:tagLst xmlns:a="http://schemas.openxmlformats.org/drawingml/2006/main" xmlns:r="http://schemas.openxmlformats.org/officeDocument/2006/relationships" xmlns:p="http://schemas.openxmlformats.org/presentationml/2006/main">
  <p:tag name="TIMING" val="|0.4"/>
</p:tagLst>
</file>

<file path=ppt/tags/tag78.xml><?xml version="1.0" encoding="utf-8"?>
<p:tagLst xmlns:a="http://schemas.openxmlformats.org/drawingml/2006/main" xmlns:r="http://schemas.openxmlformats.org/officeDocument/2006/relationships" xmlns:p="http://schemas.openxmlformats.org/presentationml/2006/main">
  <p:tag name="TIMING" val="|0.1"/>
</p:tagLst>
</file>

<file path=ppt/tags/tag79.xml><?xml version="1.0" encoding="utf-8"?>
<p:tagLst xmlns:a="http://schemas.openxmlformats.org/drawingml/2006/main" xmlns:r="http://schemas.openxmlformats.org/officeDocument/2006/relationships" xmlns:p="http://schemas.openxmlformats.org/presentationml/2006/main">
  <p:tag name="TIMING" val="|0.2"/>
</p:tagLst>
</file>

<file path=ppt/tags/tag80.xml><?xml version="1.0" encoding="utf-8"?>
<p:tagLst xmlns:a="http://schemas.openxmlformats.org/drawingml/2006/main" xmlns:r="http://schemas.openxmlformats.org/officeDocument/2006/relationships" xmlns:p="http://schemas.openxmlformats.org/presentationml/2006/main">
  <p:tag name="TIMING" val="|0.2"/>
</p:tagLst>
</file>

<file path=ppt/tags/tag81.xml><?xml version="1.0" encoding="utf-8"?>
<p:tagLst xmlns:a="http://schemas.openxmlformats.org/drawingml/2006/main" xmlns:r="http://schemas.openxmlformats.org/officeDocument/2006/relationships" xmlns:p="http://schemas.openxmlformats.org/presentationml/2006/main">
  <p:tag name="TIMING" val="|0.4"/>
</p:tagLst>
</file>

<file path=ppt/tags/tag82.xml><?xml version="1.0" encoding="utf-8"?>
<p:tagLst xmlns:a="http://schemas.openxmlformats.org/drawingml/2006/main" xmlns:r="http://schemas.openxmlformats.org/officeDocument/2006/relationships" xmlns:p="http://schemas.openxmlformats.org/presentationml/2006/main">
  <p:tag name="TIMING" val="|0.3|0.1|0.6|0.7|0.6"/>
</p:tagLst>
</file>

<file path=ppt/tags/tag83.xml><?xml version="1.0" encoding="utf-8"?>
<p:tagLst xmlns:a="http://schemas.openxmlformats.org/drawingml/2006/main" xmlns:r="http://schemas.openxmlformats.org/officeDocument/2006/relationships" xmlns:p="http://schemas.openxmlformats.org/presentationml/2006/main">
  <p:tag name="TIMING" val="|25.1|24.1"/>
</p:tagLst>
</file>

<file path=ppt/tags/tag84.xml><?xml version="1.0" encoding="utf-8"?>
<p:tagLst xmlns:a="http://schemas.openxmlformats.org/drawingml/2006/main" xmlns:r="http://schemas.openxmlformats.org/officeDocument/2006/relationships" xmlns:p="http://schemas.openxmlformats.org/presentationml/2006/main">
  <p:tag name="TIMING" val="|8.2"/>
</p:tagLst>
</file>

<file path=ppt/tags/tag85.xml><?xml version="1.0" encoding="utf-8"?>
<p:tagLst xmlns:a="http://schemas.openxmlformats.org/drawingml/2006/main" xmlns:r="http://schemas.openxmlformats.org/officeDocument/2006/relationships" xmlns:p="http://schemas.openxmlformats.org/presentationml/2006/main">
  <p:tag name="TIMING" val="|3.8|0.5|128.8"/>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13945</TotalTime>
  <Words>6743</Words>
  <Application>Microsoft Office PowerPoint</Application>
  <PresentationFormat>On-screen Show (4:3)</PresentationFormat>
  <Paragraphs>1255</Paragraphs>
  <Slides>98</Slides>
  <Notes>42</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98</vt:i4>
      </vt:variant>
    </vt:vector>
  </HeadingPairs>
  <TitlesOfParts>
    <vt:vector size="113" baseType="lpstr">
      <vt:lpstr>Microsoft YaHei Light</vt:lpstr>
      <vt:lpstr>MS PGothic</vt:lpstr>
      <vt:lpstr>MS PGothic</vt:lpstr>
      <vt:lpstr>SimSun</vt:lpstr>
      <vt:lpstr>SimSun</vt:lpstr>
      <vt:lpstr>等线</vt:lpstr>
      <vt:lpstr>Arial</vt:lpstr>
      <vt:lpstr>Cambria Math</vt:lpstr>
      <vt:lpstr>Comic Sans MS</vt:lpstr>
      <vt:lpstr>Tahoma</vt:lpstr>
      <vt:lpstr>Times New Roman</vt:lpstr>
      <vt:lpstr>Trebuchet MS</vt:lpstr>
      <vt:lpstr>Wingdings</vt:lpstr>
      <vt:lpstr>Blends</vt:lpstr>
      <vt:lpstr>Equation</vt:lpstr>
      <vt:lpstr>第一讲的课件</vt:lpstr>
      <vt:lpstr>机器学习课程第二讲 基础分类模型： Logistic Regression</vt:lpstr>
      <vt:lpstr>从名称开始</vt:lpstr>
      <vt:lpstr>从名称开始</vt:lpstr>
      <vt:lpstr>并非错乱：来自课程大纲</vt:lpstr>
      <vt:lpstr>稍作调整</vt:lpstr>
      <vt:lpstr>稍作调整</vt:lpstr>
      <vt:lpstr>稍作调整</vt:lpstr>
      <vt:lpstr>从实例开始</vt:lpstr>
      <vt:lpstr>分类</vt:lpstr>
      <vt:lpstr>机器学习中的常见问题 (1)</vt:lpstr>
      <vt:lpstr>机器学习中的常见问题 (2)</vt:lpstr>
      <vt:lpstr>机器学习中的常见问题 (3)</vt:lpstr>
      <vt:lpstr>机器学习中的常见问题 (3)</vt:lpstr>
      <vt:lpstr>机器学习中的常见问题 (3)</vt:lpstr>
      <vt:lpstr>分类器</vt:lpstr>
      <vt:lpstr>定义输入（USPS数据集） (1)</vt:lpstr>
      <vt:lpstr>定义输入（USPS数据集） (2)</vt:lpstr>
      <vt:lpstr>定义输出（USPS数据集）</vt:lpstr>
      <vt:lpstr>分类任务的评价指标</vt:lpstr>
      <vt:lpstr>最原始的学习：死记硬背的学习 （Rote Learning）</vt:lpstr>
      <vt:lpstr>说明用例</vt:lpstr>
      <vt:lpstr>弱点 (1)</vt:lpstr>
      <vt:lpstr>弱点 (2)</vt:lpstr>
      <vt:lpstr>复杂度 (1)</vt:lpstr>
      <vt:lpstr>复杂度 (1)</vt:lpstr>
      <vt:lpstr>复杂度 (2)</vt:lpstr>
      <vt:lpstr>复杂度 (2)</vt:lpstr>
      <vt:lpstr>复杂度 (2)</vt:lpstr>
      <vt:lpstr>复杂度 (2)</vt:lpstr>
      <vt:lpstr>归纳学习的一般模式</vt:lpstr>
      <vt:lpstr>预设：线性分类器</vt:lpstr>
      <vt:lpstr>二维的示例</vt:lpstr>
      <vt:lpstr>二维的示例</vt:lpstr>
      <vt:lpstr>这不是线性回归</vt:lpstr>
      <vt:lpstr>线性分类器</vt:lpstr>
      <vt:lpstr>生物学的视角</vt:lpstr>
      <vt:lpstr>作为神经细胞的线性分类器</vt:lpstr>
      <vt:lpstr>怎么学？</vt:lpstr>
      <vt:lpstr> 感知器算法</vt:lpstr>
      <vt:lpstr>批量学习</vt:lpstr>
      <vt:lpstr>感知器的替代品</vt:lpstr>
      <vt:lpstr>Logistic Regression</vt:lpstr>
      <vt:lpstr>分类</vt:lpstr>
      <vt:lpstr>分类</vt:lpstr>
      <vt:lpstr>学习</vt:lpstr>
      <vt:lpstr>极大似然估计</vt:lpstr>
      <vt:lpstr>极大似然估计</vt:lpstr>
      <vt:lpstr>极大似然估计</vt:lpstr>
      <vt:lpstr>极大似然估计</vt:lpstr>
      <vt:lpstr> 极大似然估计</vt:lpstr>
      <vt:lpstr>变换</vt:lpstr>
      <vt:lpstr>变换</vt:lpstr>
      <vt:lpstr>变换</vt:lpstr>
      <vt:lpstr>调整</vt:lpstr>
      <vt:lpstr>学习问题</vt:lpstr>
      <vt:lpstr>如何学习</vt:lpstr>
      <vt:lpstr>如何学习</vt:lpstr>
      <vt:lpstr>如何学习</vt:lpstr>
      <vt:lpstr>如何学习</vt:lpstr>
      <vt:lpstr>如何学习</vt:lpstr>
      <vt:lpstr>如何学习</vt:lpstr>
      <vt:lpstr>梯度</vt:lpstr>
      <vt:lpstr>梯度计算 (1)</vt:lpstr>
      <vt:lpstr>梯度计算 (2)</vt:lpstr>
      <vt:lpstr>梯度计算 (3)</vt:lpstr>
      <vt:lpstr>用于分类的回归函数</vt:lpstr>
      <vt:lpstr>一种间距</vt:lpstr>
      <vt:lpstr>一种间距</vt:lpstr>
      <vt:lpstr>一种间距</vt:lpstr>
      <vt:lpstr>数学定理</vt:lpstr>
      <vt:lpstr>错误上界</vt:lpstr>
      <vt:lpstr>手写邮政编码识别</vt:lpstr>
      <vt:lpstr>Softmax</vt:lpstr>
      <vt:lpstr>Softmax</vt:lpstr>
      <vt:lpstr>Softmax</vt:lpstr>
      <vt:lpstr>Softmax</vt:lpstr>
      <vt:lpstr>Softmax</vt:lpstr>
      <vt:lpstr>Softmax</vt:lpstr>
      <vt:lpstr>Softmax</vt:lpstr>
      <vt:lpstr>手写邮政编码识别的效果</vt:lpstr>
      <vt:lpstr>再看另一个应用</vt:lpstr>
      <vt:lpstr>数据</vt:lpstr>
      <vt:lpstr>Logistic Regression用于词义消歧</vt:lpstr>
      <vt:lpstr>变换输入 (1)</vt:lpstr>
      <vt:lpstr>变换输入 (2)</vt:lpstr>
      <vt:lpstr>变换输入 (2)</vt:lpstr>
      <vt:lpstr>变换输入 (2)</vt:lpstr>
      <vt:lpstr>变换输入 (2)</vt:lpstr>
      <vt:lpstr>变换输入 (2)</vt:lpstr>
      <vt:lpstr>变换输入 (2)</vt:lpstr>
      <vt:lpstr>Ensemble Learning</vt:lpstr>
      <vt:lpstr> 不同的上下文大小</vt:lpstr>
      <vt:lpstr>Different Context Size 不同的上下文大小</vt:lpstr>
      <vt:lpstr> 不同的上下文大小</vt:lpstr>
      <vt:lpstr>结果</vt:lpstr>
      <vt:lpstr>今天的总结</vt:lpstr>
      <vt:lpstr>The End</vt:lpstr>
    </vt:vector>
  </TitlesOfParts>
  <Company>Children's Computer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1. General Introduction</dc:title>
  <dc:creator>Cong Li</dc:creator>
  <cp:keywords>CTPClassification=CTP_NT</cp:keywords>
  <cp:lastModifiedBy>Li, Cong</cp:lastModifiedBy>
  <cp:revision>1188</cp:revision>
  <dcterms:created xsi:type="dcterms:W3CDTF">2003-03-13T01:36:43Z</dcterms:created>
  <dcterms:modified xsi:type="dcterms:W3CDTF">2025-03-15T04:11:32Z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c0c0107d-b9fb-42c2-8cad-18a954c0a4de</vt:lpwstr>
  </property>
  <property fmtid="{D5CDD505-2E9C-101B-9397-08002B2CF9AE}" pid="3" name="CTP_TimeStamp">
    <vt:lpwstr>2020-08-17 11:43:15Z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ies>
</file>